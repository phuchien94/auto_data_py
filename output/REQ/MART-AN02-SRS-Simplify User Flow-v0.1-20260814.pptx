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C_0.xml" ContentType="application/vnd.ms-powerpoint.comments+xml"/>
  <Override PartName="/ppt/comments/modernComment_127_0.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75"/>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24016930-D0D1-09EA-5C37-E99E473A65E8}" name="Bui Thi Loan" initials="BL" userId="S::ldcc.loanbui@lotte.vn::939201f7-2538-4a30-8873-efc291823376"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D06501-F884-182C-ECB5-5EC5C5934222}" v="7" dt="2026-08-16T09:54:35.090"/>
    <p1510:client id="{5B2331F7-82E4-B6AB-8268-99366E7ED983}" v="1" dt="2026-08-16T12:37:58.723"/>
    <p1510:client id="{92254D4B-0AEE-18E8-F990-7B1198839958}" v="624" dt="2026-08-17T08:41:48.3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theme" Target="theme/theme1.xml"/><Relationship Id="rId8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comments/modernComment_10C_0.xml><?xml version="1.0" encoding="utf-8"?>
<p188:cmLst xmlns:a="http://schemas.openxmlformats.org/drawingml/2006/main" xmlns:r="http://schemas.openxmlformats.org/officeDocument/2006/relationships" xmlns:p188="http://schemas.microsoft.com/office/powerpoint/2018/8/main">
  <p188:cm id="{AC1FBC01-062D-4B83-ABAF-B81F9B4B6BDE}" authorId="{24016930-D0D1-09EA-5C37-E99E473A65E8}" created="2026-08-16T09:54:35.090">
    <pc:sldMkLst xmlns:pc="http://schemas.microsoft.com/office/powerpoint/2013/main/command">
      <pc:docMk/>
      <pc:sldMk cId="0" sldId="268"/>
    </pc:sldMkLst>
    <p188:txBody>
      <a:bodyPr/>
      <a:lstStyle/>
      <a:p>
        <a:r>
          <a:rPr lang="en-US"/>
          <a:t>Phần này đang mở open question với Nguyệt</a:t>
        </a:r>
      </a:p>
    </p188:txBody>
  </p188:cm>
</p188:cmLst>
</file>

<file path=ppt/comments/modernComment_127_0.xml><?xml version="1.0" encoding="utf-8"?>
<p188:cmLst xmlns:a="http://schemas.openxmlformats.org/drawingml/2006/main" xmlns:r="http://schemas.openxmlformats.org/officeDocument/2006/relationships" xmlns:p188="http://schemas.microsoft.com/office/powerpoint/2018/8/main">
  <p188:cm id="{5D880D22-2D78-48EE-B58D-156B3935F290}" authorId="{24016930-D0D1-09EA-5C37-E99E473A65E8}" created="2026-08-17T08:35:17.962">
    <pc:sldMkLst xmlns:pc="http://schemas.microsoft.com/office/powerpoint/2013/main/command">
      <pc:docMk/>
      <pc:sldMk cId="0" sldId="295"/>
    </pc:sldMkLst>
    <p188:txBody>
      <a:bodyPr/>
      <a:lstStyle/>
      <a:p>
        <a:r>
          <a:rPr lang="en-US"/>
          <a:t>Cần update lại:
1. Location allowed gồm 2 list:
- List store phục vụ địa chỉ của user, default chọn store gần nhất
- List all store có filter theo 3 miền Bắc, Trung, Nam
2. Location denied gồm 1 list:
- List all store có filter theo 3 miền Bắc, Trung, Nam
3. Lưu ý:
- Mỗi store gồm: tên store, địa chỉ của store
- Location denied: Cần thêm function cho phép user cho phép truy cập vị trí lại nếu muốn</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175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microsoft.com/office/2018/10/relationships/comments" Target="../comments/modernComment_10C_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microsoft.com/office/2018/10/relationships/comments" Target="../comments/modernComment_127_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그림 3">
            <a:extLst>
              <a:ext uri="{FF2B5EF4-FFF2-40B4-BE49-F238E27FC236}">
                <a16:creationId xmlns:a16="http://schemas.microsoft.com/office/drawing/2014/main" id="{8421178D-8D55-E504-FF75-8FEFD90D187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304123" y="494"/>
            <a:ext cx="9906000" cy="6858000"/>
          </a:xfrm>
          <a:prstGeom prst="rect">
            <a:avLst/>
          </a:prstGeom>
        </p:spPr>
      </p:pic>
      <p:sp>
        <p:nvSpPr>
          <p:cNvPr id="15" name="Text 13"/>
          <p:cNvSpPr/>
          <p:nvPr/>
        </p:nvSpPr>
        <p:spPr>
          <a:xfrm>
            <a:off x="411480" y="1188720"/>
            <a:ext cx="8229600" cy="1005840"/>
          </a:xfrm>
          <a:prstGeom prst="rect">
            <a:avLst/>
          </a:prstGeom>
          <a:noFill/>
          <a:ln/>
        </p:spPr>
        <p:txBody>
          <a:bodyPr wrap="square" lIns="0" tIns="0" rIns="0" bIns="0" rtlCol="0" anchor="ctr"/>
          <a:lstStyle/>
          <a:p>
            <a:pPr marL="0" indent="0">
              <a:buNone/>
            </a:pPr>
            <a:r>
              <a:rPr lang="en-US" sz="4000">
                <a:solidFill>
                  <a:srgbClr val="1A1A1A"/>
                </a:solidFill>
                <a:latin typeface="Arial Black" pitchFamily="34" charset="0"/>
                <a:ea typeface="Arial Black" pitchFamily="34" charset="-122"/>
                <a:cs typeface="Arial Black" pitchFamily="34" charset="-120"/>
              </a:rPr>
              <a:t>Requirement Specification</a:t>
            </a:r>
            <a:endParaRPr lang="en-US" sz="5800"/>
          </a:p>
        </p:txBody>
      </p:sp>
      <p:sp>
        <p:nvSpPr>
          <p:cNvPr id="16" name="Text 14"/>
          <p:cNvSpPr/>
          <p:nvPr/>
        </p:nvSpPr>
        <p:spPr>
          <a:xfrm>
            <a:off x="411480" y="2377440"/>
            <a:ext cx="8229600" cy="384048"/>
          </a:xfrm>
          <a:prstGeom prst="rect">
            <a:avLst/>
          </a:prstGeom>
          <a:noFill/>
          <a:ln/>
        </p:spPr>
        <p:txBody>
          <a:bodyPr wrap="square" lIns="0" tIns="0" rIns="0" bIns="0" rtlCol="0" anchor="ctr"/>
          <a:lstStyle/>
          <a:p>
            <a:pPr marL="0" indent="0">
              <a:buNone/>
            </a:pPr>
            <a:r>
              <a:rPr lang="en-US" b="1">
                <a:solidFill>
                  <a:srgbClr val="333333"/>
                </a:solidFill>
                <a:latin typeface="Arial" pitchFamily="34" charset="0"/>
                <a:ea typeface="Arial" pitchFamily="34" charset="-122"/>
                <a:cs typeface="Arial" pitchFamily="34" charset="-120"/>
              </a:rPr>
              <a:t>Project:  </a:t>
            </a:r>
            <a:r>
              <a:rPr b="0">
                <a:solidFill>
                  <a:srgbClr val="333333"/>
                </a:solidFill>
              </a:rPr>
              <a:t>LOTTE MART VN Online Renewal 2026</a:t>
            </a:r>
            <a:endParaRPr lang="en-US" b="1"/>
          </a:p>
        </p:txBody>
      </p:sp>
      <p:sp>
        <p:nvSpPr>
          <p:cNvPr id="17" name="Text 15"/>
          <p:cNvSpPr/>
          <p:nvPr/>
        </p:nvSpPr>
        <p:spPr>
          <a:xfrm>
            <a:off x="411480" y="2779776"/>
            <a:ext cx="8229600" cy="320040"/>
          </a:xfrm>
          <a:prstGeom prst="rect">
            <a:avLst/>
          </a:prstGeom>
          <a:noFill/>
          <a:ln/>
        </p:spPr>
        <p:txBody>
          <a:bodyPr wrap="square" lIns="0" tIns="0" rIns="0" bIns="0" rtlCol="0" anchor="ctr"/>
          <a:lstStyle/>
          <a:p>
            <a:pPr marL="0" indent="0">
              <a:buNone/>
            </a:pPr>
            <a:r>
              <a:rPr lang="en-US" sz="1200" b="1">
                <a:solidFill>
                  <a:srgbClr val="888888"/>
                </a:solidFill>
              </a:rPr>
              <a:t>Module:  </a:t>
            </a:r>
            <a:r>
              <a:rPr lang="en-US" sz="1200" b="0">
                <a:solidFill>
                  <a:srgbClr val="333333"/>
                </a:solidFill>
              </a:rPr>
              <a:t>Simplify User Flow  —  Onboarding to Checkout</a:t>
            </a:r>
            <a:endParaRPr lang="en-US" sz="1200"/>
          </a:p>
        </p:txBody>
      </p:sp>
      <p:sp>
        <p:nvSpPr>
          <p:cNvPr id="18" name="Text 16"/>
          <p:cNvSpPr/>
          <p:nvPr/>
        </p:nvSpPr>
        <p:spPr>
          <a:xfrm>
            <a:off x="411480" y="3749040"/>
            <a:ext cx="8229600" cy="256032"/>
          </a:xfrm>
          <a:prstGeom prst="rect">
            <a:avLst/>
          </a:prstGeom>
          <a:noFill/>
          <a:ln/>
        </p:spPr>
        <p:txBody>
          <a:bodyPr wrap="square" lIns="0" tIns="0" rIns="0" bIns="0" rtlCol="0" anchor="ctr"/>
          <a:lstStyle/>
          <a:p>
            <a:pPr marL="0" indent="0">
              <a:buNone/>
            </a:pPr>
            <a:r>
              <a:rPr lang="en-US" sz="1200" b="1">
                <a:solidFill>
                  <a:srgbClr val="888888"/>
                </a:solidFill>
              </a:rPr>
              <a:t>Doc. ID:  </a:t>
            </a:r>
            <a:r>
              <a:rPr lang="en-US" sz="1200" b="0">
                <a:solidFill>
                  <a:srgbClr val="333333"/>
                </a:solidFill>
              </a:rPr>
              <a:t>MART-AN02-SRS-Simplify User Flow-v0.1-20260814</a:t>
            </a:r>
            <a:endParaRPr lang="en-US" sz="1200"/>
          </a:p>
        </p:txBody>
      </p:sp>
      <p:sp>
        <p:nvSpPr>
          <p:cNvPr id="19" name="Text 17"/>
          <p:cNvSpPr/>
          <p:nvPr/>
        </p:nvSpPr>
        <p:spPr>
          <a:xfrm>
            <a:off x="411480" y="4041648"/>
            <a:ext cx="6400800" cy="256032"/>
          </a:xfrm>
          <a:prstGeom prst="rect">
            <a:avLst/>
          </a:prstGeom>
          <a:noFill/>
          <a:ln/>
        </p:spPr>
        <p:txBody>
          <a:bodyPr wrap="square" lIns="0" tIns="0" rIns="0" bIns="0" rtlCol="0" anchor="ctr"/>
          <a:lstStyle/>
          <a:p>
            <a:pPr marL="0" indent="0">
              <a:buNone/>
            </a:pPr>
            <a:r>
              <a:rPr lang="en-US" sz="1200" b="1">
                <a:solidFill>
                  <a:srgbClr val="888888"/>
                </a:solidFill>
              </a:rPr>
              <a:t>Step / Phase:  </a:t>
            </a:r>
            <a:r>
              <a:rPr lang="en-US" sz="1200" b="0">
                <a:solidFill>
                  <a:srgbClr val="333333"/>
                </a:solidFill>
              </a:rPr>
              <a:t>Analysis (AN)  —  Requirements Definition</a:t>
            </a:r>
            <a:endParaRPr lang="en-US" sz="1200"/>
          </a:p>
        </p:txBody>
      </p:sp>
      <p:sp>
        <p:nvSpPr>
          <p:cNvPr id="26" name="Text 24"/>
          <p:cNvSpPr/>
          <p:nvPr/>
        </p:nvSpPr>
        <p:spPr>
          <a:xfrm>
            <a:off x="10131552" y="5943600"/>
            <a:ext cx="347472" cy="347472"/>
          </a:xfrm>
          <a:prstGeom prst="rect">
            <a:avLst/>
          </a:prstGeom>
          <a:noFill/>
          <a:ln/>
        </p:spPr>
        <p:txBody>
          <a:bodyPr wrap="square" lIns="0" tIns="0" rIns="0" bIns="0" rtlCol="0" anchor="ctr"/>
          <a:lstStyle/>
          <a:p>
            <a:pPr marL="0" indent="0" algn="ctr">
              <a:buNone/>
            </a:pPr>
            <a:endParaRPr lang="en-US" sz="1100"/>
          </a:p>
        </p:txBody>
      </p:sp>
      <p:sp>
        <p:nvSpPr>
          <p:cNvPr id="28" name="Shape 26"/>
          <p:cNvSpPr/>
          <p:nvPr/>
        </p:nvSpPr>
        <p:spPr>
          <a:xfrm>
            <a:off x="0" y="6821424"/>
            <a:ext cx="12161520" cy="0"/>
          </a:xfrm>
          <a:prstGeom prst="line">
            <a:avLst/>
          </a:prstGeom>
          <a:noFill/>
          <a:ln w="25400">
            <a:solidFill>
              <a:srgbClr val="C8102E"/>
            </a:solidFill>
            <a:prstDash val="solid"/>
          </a:ln>
        </p:spPr>
        <p:txBody>
          <a:bodyPr/>
          <a:lstStyle/>
          <a:p>
            <a:endParaRPr lang="en-VN"/>
          </a:p>
        </p:txBody>
      </p:sp>
      <p:pic>
        <p:nvPicPr>
          <p:cNvPr id="34" name="그림 2">
            <a:extLst>
              <a:ext uri="{FF2B5EF4-FFF2-40B4-BE49-F238E27FC236}">
                <a16:creationId xmlns:a16="http://schemas.microsoft.com/office/drawing/2014/main" id="{AFB4C7F7-8865-F423-974B-62B8FB7B206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1480" y="5894397"/>
            <a:ext cx="1750952" cy="450246"/>
          </a:xfrm>
          <a:prstGeom prst="rect">
            <a:avLst/>
          </a:prstGeom>
        </p:spPr>
      </p:pic>
      <p:sp>
        <p:nvSpPr>
          <p:cNvPr id="35" name="Text 17">
            <a:extLst>
              <a:ext uri="{FF2B5EF4-FFF2-40B4-BE49-F238E27FC236}">
                <a16:creationId xmlns:a16="http://schemas.microsoft.com/office/drawing/2014/main" id="{9C5BFCB5-33A6-57A7-8E5C-932C8661A030}"/>
              </a:ext>
            </a:extLst>
          </p:cNvPr>
          <p:cNvSpPr/>
          <p:nvPr/>
        </p:nvSpPr>
        <p:spPr>
          <a:xfrm>
            <a:off x="411480" y="4334256"/>
            <a:ext cx="6400800" cy="256032"/>
          </a:xfrm>
          <a:prstGeom prst="rect">
            <a:avLst/>
          </a:prstGeom>
          <a:noFill/>
          <a:ln/>
        </p:spPr>
        <p:txBody>
          <a:bodyPr wrap="square" lIns="0" tIns="0" rIns="0" bIns="0" rtlCol="0" anchor="ctr"/>
          <a:lstStyle/>
          <a:p>
            <a:pPr marL="0" indent="0">
              <a:buNone/>
            </a:pPr>
            <a:r>
              <a:rPr lang="en-US" sz="1200" b="1">
                <a:solidFill>
                  <a:srgbClr val="888888"/>
                </a:solidFill>
              </a:rPr>
              <a:t>Version:  </a:t>
            </a:r>
            <a:r>
              <a:rPr lang="en-US" sz="1200" b="0">
                <a:solidFill>
                  <a:srgbClr val="333333"/>
                </a:solidFill>
              </a:rPr>
              <a:t>0.1   (Draft for review)</a:t>
            </a:r>
            <a:endParaRPr lang="en-US" sz="1200"/>
          </a:p>
        </p:txBody>
      </p:sp>
      <p:sp>
        <p:nvSpPr>
          <p:cNvPr id="36" name="TextBox 35"/>
          <p:cNvSpPr txBox="1"/>
          <p:nvPr/>
        </p:nvSpPr>
        <p:spPr>
          <a:xfrm>
            <a:off x="411480" y="3200400"/>
            <a:ext cx="7315200" cy="411480"/>
          </a:xfrm>
          <a:prstGeom prst="rect">
            <a:avLst/>
          </a:prstGeom>
          <a:noFill/>
        </p:spPr>
        <p:txBody>
          <a:bodyPr wrap="square" lIns="0" tIns="0" rIns="0" bIns="0" anchor="ctr">
            <a:spAutoFit/>
          </a:bodyPr>
          <a:lstStyle/>
          <a:p>
            <a:pPr marL="0" indent="0" algn="l">
              <a:buNone/>
            </a:pPr>
            <a:r>
              <a:rPr sz="1000" b="0" i="0">
                <a:solidFill>
                  <a:srgbClr val="555555"/>
                </a:solidFill>
              </a:rPr>
              <a:t>Process Flows  ·  Functional Requirements  ·  Screen Specifications  ·  Business Rules</a:t>
            </a:r>
          </a:p>
        </p:txBody>
      </p:sp>
      <p:sp>
        <p:nvSpPr>
          <p:cNvPr id="37" name="Rectangle 36"/>
          <p:cNvSpPr/>
          <p:nvPr/>
        </p:nvSpPr>
        <p:spPr>
          <a:xfrm>
            <a:off x="411480" y="3520440"/>
            <a:ext cx="1005840" cy="274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Document Overview &amp; History</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1</a:t>
            </a:r>
          </a:p>
        </p:txBody>
      </p:sp>
      <p:sp>
        <p:nvSpPr>
          <p:cNvPr id="9" name="Rectangle 8"/>
          <p:cNvSpPr/>
          <p:nvPr/>
        </p:nvSpPr>
        <p:spPr>
          <a:xfrm>
            <a:off x="274320" y="713232"/>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402336" y="713232"/>
            <a:ext cx="5358384" cy="256032"/>
          </a:xfrm>
          <a:prstGeom prst="rect">
            <a:avLst/>
          </a:prstGeom>
          <a:noFill/>
        </p:spPr>
        <p:txBody>
          <a:bodyPr wrap="square" lIns="0" tIns="0" rIns="0" bIns="0" anchor="ctr">
            <a:spAutoFit/>
          </a:bodyPr>
          <a:lstStyle/>
          <a:p>
            <a:pPr marL="0" indent="0" algn="l">
              <a:buNone/>
            </a:pPr>
            <a:r>
              <a:rPr sz="1000" b="1" i="0">
                <a:solidFill>
                  <a:srgbClr val="1E2F6E"/>
                </a:solidFill>
              </a:rPr>
              <a:t>Document Overview</a:t>
            </a:r>
          </a:p>
        </p:txBody>
      </p:sp>
      <p:graphicFrame>
        <p:nvGraphicFramePr>
          <p:cNvPr id="11" name="Table 10"/>
          <p:cNvGraphicFramePr>
            <a:graphicFrameLocks noGrp="1"/>
          </p:cNvGraphicFramePr>
          <p:nvPr/>
        </p:nvGraphicFramePr>
        <p:xfrm>
          <a:off x="274320" y="1024128"/>
          <a:ext cx="11612880" cy="1600200"/>
        </p:xfrm>
        <a:graphic>
          <a:graphicData uri="http://schemas.openxmlformats.org/drawingml/2006/table">
            <a:tbl>
              <a:tblPr/>
              <a:tblGrid>
                <a:gridCol w="1600200">
                  <a:extLst>
                    <a:ext uri="{9D8B030D-6E8A-4147-A177-3AD203B41FA5}">
                      <a16:colId xmlns:a16="http://schemas.microsoft.com/office/drawing/2014/main" val="20000"/>
                    </a:ext>
                  </a:extLst>
                </a:gridCol>
                <a:gridCol w="10012680">
                  <a:extLst>
                    <a:ext uri="{9D8B030D-6E8A-4147-A177-3AD203B41FA5}">
                      <a16:colId xmlns:a16="http://schemas.microsoft.com/office/drawing/2014/main" val="20001"/>
                    </a:ext>
                  </a:extLst>
                </a:gridCol>
              </a:tblGrid>
              <a:tr h="228600">
                <a:tc>
                  <a:txBody>
                    <a:bodyPr/>
                    <a:lstStyle/>
                    <a:p>
                      <a:pPr marL="0" indent="0" algn="l">
                        <a:buNone/>
                      </a:pPr>
                      <a:r>
                        <a:rPr sz="800" b="1" i="0">
                          <a:solidFill>
                            <a:srgbClr val="FFFFFF"/>
                          </a:solidFill>
                        </a:rPr>
                        <a:t>PROJECT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l">
                        <a:buNone/>
                      </a:pPr>
                      <a:r>
                        <a:rPr sz="800" b="0" i="0">
                          <a:solidFill>
                            <a:srgbClr val="222222"/>
                          </a:solidFill>
                        </a:rPr>
                        <a:t>LOTTE MART VN ONLINE RENEWAL 2026  (Lotte Innovate Vietnam)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0"/>
                  </a:ext>
                </a:extLst>
              </a:tr>
              <a:tr h="228600">
                <a:tc>
                  <a:txBody>
                    <a:bodyPr/>
                    <a:lstStyle/>
                    <a:p>
                      <a:pPr marL="0" indent="0" algn="l">
                        <a:buNone/>
                      </a:pPr>
                      <a:r>
                        <a:rPr sz="800" b="1" i="0">
                          <a:solidFill>
                            <a:srgbClr val="FFFFFF"/>
                          </a:solidFill>
                        </a:rPr>
                        <a:t>SYSTEM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l">
                        <a:buNone/>
                      </a:pPr>
                      <a:r>
                        <a:rPr sz="800" b="0" i="0">
                          <a:solidFill>
                            <a:srgbClr val="222222"/>
                          </a:solidFill>
                        </a:rPr>
                        <a:t>Lottemart.vn  —  Mobile App &amp; Responsive Web  (Customer front-end)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28600">
                <a:tc>
                  <a:txBody>
                    <a:bodyPr/>
                    <a:lstStyle/>
                    <a:p>
                      <a:pPr marL="0" indent="0" algn="l">
                        <a:buNone/>
                      </a:pPr>
                      <a:r>
                        <a:rPr sz="800" b="1" i="0">
                          <a:solidFill>
                            <a:srgbClr val="FFFFFF"/>
                          </a:solidFill>
                        </a:rPr>
                        <a:t>STEP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l">
                        <a:buNone/>
                      </a:pPr>
                      <a:r>
                        <a:rPr sz="800" b="0" i="0">
                          <a:solidFill>
                            <a:srgbClr val="222222"/>
                          </a:solidFill>
                        </a:rPr>
                        <a:t>ANALYSIS (AN)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2"/>
                  </a:ext>
                </a:extLst>
              </a:tr>
              <a:tr h="228600">
                <a:tc>
                  <a:txBody>
                    <a:bodyPr/>
                    <a:lstStyle/>
                    <a:p>
                      <a:pPr marL="0" indent="0" algn="l">
                        <a:buNone/>
                      </a:pPr>
                      <a:r>
                        <a:rPr sz="800" b="1" i="0">
                          <a:solidFill>
                            <a:srgbClr val="FFFFFF"/>
                          </a:solidFill>
                        </a:rPr>
                        <a:t>TASK</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l">
                        <a:buNone/>
                      </a:pPr>
                      <a:r>
                        <a:rPr sz="800" b="0" i="0">
                          <a:solidFill>
                            <a:srgbClr val="222222"/>
                          </a:solidFill>
                        </a:rPr>
                        <a:t>REQUIREMENTS DEFINITION  —  Simplify User Flow (Onboarding → 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28600">
                <a:tc>
                  <a:txBody>
                    <a:bodyPr/>
                    <a:lstStyle/>
                    <a:p>
                      <a:pPr marL="0" indent="0" algn="l">
                        <a:buNone/>
                      </a:pPr>
                      <a:r>
                        <a:rPr sz="800" b="1" i="0">
                          <a:solidFill>
                            <a:srgbClr val="FFFFFF"/>
                          </a:solidFill>
                        </a:rPr>
                        <a:t>NAME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l">
                        <a:buNone/>
                      </a:pPr>
                      <a:r>
                        <a:rPr sz="800" b="0" i="0">
                          <a:solidFill>
                            <a:srgbClr val="222222"/>
                          </a:solidFill>
                        </a:rPr>
                        <a:t>REQUIREMENT SPECIFICATION  —  SIMPLIFY USER FLOW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4"/>
                  </a:ext>
                </a:extLst>
              </a:tr>
              <a:tr h="228600">
                <a:tc>
                  <a:txBody>
                    <a:bodyPr/>
                    <a:lstStyle/>
                    <a:p>
                      <a:pPr marL="0" indent="0" algn="l">
                        <a:buNone/>
                      </a:pPr>
                      <a:r>
                        <a:rPr sz="800" b="1" i="0">
                          <a:solidFill>
                            <a:srgbClr val="FFFFFF"/>
                          </a:solidFill>
                        </a:rPr>
                        <a:t>SOURCE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l">
                        <a:buNone/>
                      </a:pPr>
                      <a:r>
                        <a:rPr sz="800" b="0" i="0">
                          <a:solidFill>
                            <a:srgbClr val="222222"/>
                          </a:solidFill>
                        </a:rPr>
                        <a:t>MART-AN02-BRD-Simplify User Flow-v0.1-20260813  ·  UX/BA design session  ·  New-Checkout-Flow-20260813.png  ·  QnA-SimplifyCheckout-Flow.xlsx  ·  Figma “Checkout Flow - Review”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228600">
                <a:tc>
                  <a:txBody>
                    <a:bodyPr/>
                    <a:lstStyle/>
                    <a:p>
                      <a:pPr marL="0" indent="0" algn="l">
                        <a:buNone/>
                      </a:pPr>
                      <a:r>
                        <a:rPr sz="800" b="1" i="0">
                          <a:solidFill>
                            <a:srgbClr val="FFFFFF"/>
                          </a:solidFill>
                        </a:rPr>
                        <a:t>VERSION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l">
                        <a:buNone/>
                      </a:pPr>
                      <a:r>
                        <a:rPr sz="800" b="0" i="0">
                          <a:solidFill>
                            <a:srgbClr val="222222"/>
                          </a:solidFill>
                        </a:rPr>
                        <a:t>0.1  (Draft for review — not baselined)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12" name="Rectangle 11"/>
          <p:cNvSpPr/>
          <p:nvPr/>
        </p:nvSpPr>
        <p:spPr>
          <a:xfrm>
            <a:off x="274320" y="274320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 name="TextBox 12"/>
          <p:cNvSpPr txBox="1"/>
          <p:nvPr/>
        </p:nvSpPr>
        <p:spPr>
          <a:xfrm>
            <a:off x="402336" y="2743200"/>
            <a:ext cx="5358384" cy="256032"/>
          </a:xfrm>
          <a:prstGeom prst="rect">
            <a:avLst/>
          </a:prstGeom>
          <a:noFill/>
        </p:spPr>
        <p:txBody>
          <a:bodyPr wrap="square" lIns="0" tIns="0" rIns="0" bIns="0" anchor="ctr">
            <a:spAutoFit/>
          </a:bodyPr>
          <a:lstStyle/>
          <a:p>
            <a:pPr marL="0" indent="0" algn="l">
              <a:buNone/>
            </a:pPr>
            <a:r>
              <a:rPr sz="1000" b="1" i="0">
                <a:solidFill>
                  <a:srgbClr val="1E2F6E"/>
                </a:solidFill>
              </a:rPr>
              <a:t>Document History</a:t>
            </a:r>
          </a:p>
        </p:txBody>
      </p:sp>
      <p:graphicFrame>
        <p:nvGraphicFramePr>
          <p:cNvPr id="14" name="Table 13"/>
          <p:cNvGraphicFramePr>
            <a:graphicFrameLocks noGrp="1"/>
          </p:cNvGraphicFramePr>
          <p:nvPr>
            <p:extLst>
              <p:ext uri="{D42A27DB-BD31-4B8C-83A1-F6EECF244321}">
                <p14:modId xmlns:p14="http://schemas.microsoft.com/office/powerpoint/2010/main" val="920208292"/>
              </p:ext>
            </p:extLst>
          </p:nvPr>
        </p:nvGraphicFramePr>
        <p:xfrm>
          <a:off x="274320" y="3054096"/>
          <a:ext cx="11612880" cy="1444752"/>
        </p:xfrm>
        <a:graphic>
          <a:graphicData uri="http://schemas.openxmlformats.org/drawingml/2006/table">
            <a:tbl>
              <a:tblPr/>
              <a:tblGrid>
                <a:gridCol w="45720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73152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tblGrid>
              <a:tr h="228600">
                <a:tc>
                  <a:txBody>
                    <a:bodyPr/>
                    <a:lstStyle/>
                    <a:p>
                      <a:pPr marL="0" indent="0" algn="ctr">
                        <a:buNone/>
                      </a:pPr>
                      <a:r>
                        <a:rPr sz="8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800" b="1" i="0">
                          <a:solidFill>
                            <a:srgbClr val="FFFFFF"/>
                          </a:solidFill>
                        </a:rPr>
                        <a:t>Ver.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800" b="1" i="0">
                          <a:solidFill>
                            <a:srgbClr val="FFFFFF"/>
                          </a:solidFill>
                        </a:rPr>
                        <a:t>Date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800" b="1" i="0">
                          <a:solidFill>
                            <a:srgbClr val="FFFFFF"/>
                          </a:solidFill>
                        </a:rPr>
                        <a:t>Content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800" b="1" i="0">
                          <a:solidFill>
                            <a:srgbClr val="FFFFFF"/>
                          </a:solidFill>
                        </a:rPr>
                        <a:t>Author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800" b="1" i="0">
                          <a:solidFill>
                            <a:srgbClr val="FFFFFF"/>
                          </a:solidFill>
                        </a:rPr>
                        <a:t>Confirm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594360">
                <a:tc>
                  <a:txBody>
                    <a:bodyPr/>
                    <a:lstStyle/>
                    <a:p>
                      <a:pPr marL="0" indent="0" algn="ctr">
                        <a:buNone/>
                      </a:pPr>
                      <a:r>
                        <a:rPr sz="8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800" b="0" i="0">
                          <a:solidFill>
                            <a:srgbClr val="222222"/>
                          </a:solidFill>
                        </a:rPr>
                        <a:t>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800" b="0" i="0">
                          <a:solidFill>
                            <a:srgbClr val="222222"/>
                          </a:solidFill>
                        </a:rPr>
                        <a:t>2026.08.14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800" b="0" i="0">
                          <a:solidFill>
                            <a:srgbClr val="222222"/>
                          </a:solidFill>
                        </a:rPr>
                        <a:t>Initial creation — converted MART-AN02-BRD v0.1 into a full requirement specification: 10 process flows, 54 functional requirements, 46 business rules, 26 screen specifications, traceability matrix.</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lang="en-US" sz="800" b="0" i="0">
                          <a:solidFill>
                            <a:srgbClr val="222222"/>
                          </a:solidFill>
                        </a:rPr>
                        <a:t>LI</a:t>
                      </a:r>
                      <a:r>
                        <a:rPr sz="800" b="0" i="0">
                          <a:solidFill>
                            <a:srgbClr val="222222"/>
                          </a:solidFill>
                        </a:rPr>
                        <a:t> BA Team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800" b="0" i="0">
                          <a:solidFill>
                            <a:srgbClr val="222222"/>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28600">
                <a:tc>
                  <a:txBody>
                    <a:bodyPr/>
                    <a:lstStyle/>
                    <a:p>
                      <a:pPr marL="0" indent="0" algn="ctr">
                        <a:buNone/>
                      </a:pPr>
                      <a:r>
                        <a:rPr sz="8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28600">
                <a:tc>
                  <a:txBody>
                    <a:bodyPr/>
                    <a:lstStyle/>
                    <a:p>
                      <a:pPr marL="0" indent="0" algn="ctr">
                        <a:buNone/>
                      </a:pPr>
                      <a:r>
                        <a:rPr sz="8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15" name="Rectangle 14"/>
          <p:cNvSpPr/>
          <p:nvPr/>
        </p:nvSpPr>
        <p:spPr>
          <a:xfrm>
            <a:off x="274320" y="493776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402336" y="4937760"/>
            <a:ext cx="5358384" cy="256032"/>
          </a:xfrm>
          <a:prstGeom prst="rect">
            <a:avLst/>
          </a:prstGeom>
          <a:noFill/>
        </p:spPr>
        <p:txBody>
          <a:bodyPr wrap="square" lIns="0" tIns="0" rIns="0" bIns="0" anchor="ctr">
            <a:spAutoFit/>
          </a:bodyPr>
          <a:lstStyle/>
          <a:p>
            <a:pPr marL="0" indent="0" algn="l">
              <a:buNone/>
            </a:pPr>
            <a:r>
              <a:rPr sz="1000" b="1" i="0">
                <a:solidFill>
                  <a:srgbClr val="1E2F6E"/>
                </a:solidFill>
              </a:rPr>
              <a:t>Approval</a:t>
            </a:r>
          </a:p>
        </p:txBody>
      </p:sp>
      <p:graphicFrame>
        <p:nvGraphicFramePr>
          <p:cNvPr id="17" name="Table 16"/>
          <p:cNvGraphicFramePr>
            <a:graphicFrameLocks noGrp="1"/>
          </p:cNvGraphicFramePr>
          <p:nvPr/>
        </p:nvGraphicFramePr>
        <p:xfrm>
          <a:off x="274320" y="5248656"/>
          <a:ext cx="11612880" cy="1161288"/>
        </p:xfrm>
        <a:graphic>
          <a:graphicData uri="http://schemas.openxmlformats.org/drawingml/2006/table">
            <a:tbl>
              <a:tblPr/>
              <a:tblGrid>
                <a:gridCol w="256032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tblGrid>
              <a:tr h="228600">
                <a:tc>
                  <a:txBody>
                    <a:bodyPr/>
                    <a:lstStyle/>
                    <a:p>
                      <a:pPr marL="0" indent="0" algn="ctr">
                        <a:buNone/>
                      </a:pPr>
                      <a:r>
                        <a:rPr sz="800" b="1" i="0">
                          <a:solidFill>
                            <a:srgbClr val="FFFFFF"/>
                          </a:solidFill>
                        </a:rPr>
                        <a:t>Role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800" b="1" i="0">
                          <a:solidFill>
                            <a:srgbClr val="FFFFFF"/>
                          </a:solidFill>
                        </a:rPr>
                        <a:t>Name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800" b="1" i="0">
                          <a:solidFill>
                            <a:srgbClr val="FFFFFF"/>
                          </a:solidFill>
                        </a:rPr>
                        <a:t>Organisation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800" b="1" i="0">
                          <a:solidFill>
                            <a:srgbClr val="FFFFFF"/>
                          </a:solidFill>
                        </a:rPr>
                        <a:t>Signature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800" b="1" i="0">
                          <a:solidFill>
                            <a:srgbClr val="FFFFFF"/>
                          </a:solidFill>
                        </a:rPr>
                        <a:t>Date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28600">
                <a:tc>
                  <a:txBody>
                    <a:bodyPr/>
                    <a:lstStyle/>
                    <a:p>
                      <a:pPr marL="0" indent="0" algn="l">
                        <a:buNone/>
                      </a:pPr>
                      <a:r>
                        <a:rPr sz="800" b="0" i="0">
                          <a:solidFill>
                            <a:srgbClr val="222222"/>
                          </a:solidFill>
                        </a:rPr>
                        <a:t>Business Analyst / PM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800" b="0" i="0">
                          <a:solidFill>
                            <a:srgbClr val="222222"/>
                          </a:solidFill>
                        </a:rPr>
                        <a:t>Thai Bao Ngoc</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800" b="0" i="0">
                          <a:solidFill>
                            <a:srgbClr val="222222"/>
                          </a:solidFill>
                        </a:rPr>
                        <a:t>Lotte Innovate Vietnam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28600">
                <a:tc>
                  <a:txBody>
                    <a:bodyPr/>
                    <a:lstStyle/>
                    <a:p>
                      <a:pPr marL="0" indent="0" algn="l">
                        <a:buNone/>
                      </a:pPr>
                      <a:r>
                        <a:rPr sz="800" b="0" i="0">
                          <a:solidFill>
                            <a:srgbClr val="222222"/>
                          </a:solidFill>
                        </a:rPr>
                        <a:t>Product Owner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800" b="0" i="0">
                          <a:solidFill>
                            <a:srgbClr val="222222"/>
                          </a:solidFill>
                        </a:rPr>
                        <a:t>LOTTE MART VN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28600">
                <a:tc>
                  <a:txBody>
                    <a:bodyPr/>
                    <a:lstStyle/>
                    <a:p>
                      <a:pPr marL="0" indent="0" algn="l">
                        <a:buNone/>
                      </a:pPr>
                      <a:r>
                        <a:rPr sz="800" b="0" i="0">
                          <a:solidFill>
                            <a:srgbClr val="222222"/>
                          </a:solidFill>
                        </a:rPr>
                        <a:t>Reviewer / Design Lead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800" b="0" i="0">
                          <a:solidFill>
                            <a:srgbClr val="222222"/>
                          </a:solidFill>
                        </a:rPr>
                        <a:t>Lotte Innovate Vietnam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How to Read This Specification</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2</a:t>
            </a:r>
          </a:p>
        </p:txBody>
      </p:sp>
      <p:sp>
        <p:nvSpPr>
          <p:cNvPr id="9" name="TextBox 8"/>
          <p:cNvSpPr txBox="1"/>
          <p:nvPr/>
        </p:nvSpPr>
        <p:spPr>
          <a:xfrm>
            <a:off x="274320" y="621792"/>
            <a:ext cx="11612880" cy="256032"/>
          </a:xfrm>
          <a:prstGeom prst="rect">
            <a:avLst/>
          </a:prstGeom>
          <a:noFill/>
        </p:spPr>
        <p:txBody>
          <a:bodyPr wrap="square" lIns="0" tIns="0" rIns="0" bIns="0" anchor="ctr">
            <a:spAutoFit/>
          </a:bodyPr>
          <a:lstStyle/>
          <a:p>
            <a:pPr marL="0" indent="0" algn="l">
              <a:buNone/>
            </a:pPr>
            <a:r>
              <a:rPr sz="900" b="0" i="0">
                <a:solidFill>
                  <a:srgbClr val="555555"/>
                </a:solidFill>
              </a:rPr>
              <a:t>The document is organised in six parts. Screen specification slides follow the standard 3-zone storyboard layout so they can be handed to Design and Development without re-interpretation.</a:t>
            </a:r>
          </a:p>
        </p:txBody>
      </p:sp>
      <p:sp>
        <p:nvSpPr>
          <p:cNvPr id="10" name="Rectangle 9"/>
          <p:cNvSpPr/>
          <p:nvPr/>
        </p:nvSpPr>
        <p:spPr>
          <a:xfrm>
            <a:off x="274320" y="960120"/>
            <a:ext cx="5029200" cy="173736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 name="Rectangle 10"/>
          <p:cNvSpPr/>
          <p:nvPr/>
        </p:nvSpPr>
        <p:spPr>
          <a:xfrm>
            <a:off x="342900" y="1028700"/>
            <a:ext cx="4892040" cy="18288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Rectangle 11"/>
          <p:cNvSpPr/>
          <p:nvPr/>
        </p:nvSpPr>
        <p:spPr>
          <a:xfrm>
            <a:off x="342900" y="1028700"/>
            <a:ext cx="27432" cy="18288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 name="TextBox 12"/>
          <p:cNvSpPr txBox="1"/>
          <p:nvPr/>
        </p:nvSpPr>
        <p:spPr>
          <a:xfrm>
            <a:off x="411480" y="1028700"/>
            <a:ext cx="4754880" cy="182880"/>
          </a:xfrm>
          <a:prstGeom prst="rect">
            <a:avLst/>
          </a:prstGeom>
          <a:noFill/>
        </p:spPr>
        <p:txBody>
          <a:bodyPr wrap="square" lIns="0" tIns="0" rIns="0" bIns="0" anchor="ctr">
            <a:spAutoFit/>
          </a:bodyPr>
          <a:lstStyle/>
          <a:p>
            <a:pPr marL="0" indent="0" algn="l">
              <a:buNone/>
            </a:pPr>
            <a:r>
              <a:rPr sz="600" b="1" i="0">
                <a:solidFill>
                  <a:srgbClr val="FFFFFF"/>
                </a:solidFill>
              </a:rPr>
              <a:t>Module  |  REQ ID  |  Screen ID  |  Screen Name  |  Author</a:t>
            </a:r>
          </a:p>
        </p:txBody>
      </p:sp>
      <p:sp>
        <p:nvSpPr>
          <p:cNvPr id="14" name="Rectangle 13"/>
          <p:cNvSpPr/>
          <p:nvPr/>
        </p:nvSpPr>
        <p:spPr>
          <a:xfrm>
            <a:off x="342900" y="1257300"/>
            <a:ext cx="2743200" cy="1097280"/>
          </a:xfrm>
          <a:prstGeom prst="rect">
            <a:avLst/>
          </a:prstGeom>
          <a:solidFill>
            <a:srgbClr val="F6F7F8"/>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TextBox 14"/>
          <p:cNvSpPr txBox="1"/>
          <p:nvPr/>
        </p:nvSpPr>
        <p:spPr>
          <a:xfrm>
            <a:off x="342900" y="1257300"/>
            <a:ext cx="2743200" cy="1097280"/>
          </a:xfrm>
          <a:prstGeom prst="rect">
            <a:avLst/>
          </a:prstGeom>
          <a:noFill/>
        </p:spPr>
        <p:txBody>
          <a:bodyPr wrap="square" lIns="0" tIns="0" rIns="0" bIns="0" anchor="ctr">
            <a:spAutoFit/>
          </a:bodyPr>
          <a:lstStyle/>
          <a:p>
            <a:pPr marL="0" indent="0" algn="ctr">
              <a:buNone/>
            </a:pPr>
            <a:r>
              <a:rPr sz="700" b="0" i="0">
                <a:solidFill>
                  <a:srgbClr val="AAAAAA"/>
                </a:solidFill>
              </a:rPr>
              <a:t>Wireframe</a:t>
            </a:r>
          </a:p>
          <a:p>
            <a:pPr marL="0" indent="0" algn="ctr">
              <a:buNone/>
            </a:pPr>
            <a:r>
              <a:rPr sz="700" b="0" i="0">
                <a:solidFill>
                  <a:srgbClr val="AAAAAA"/>
                </a:solidFill>
              </a:rPr>
              <a:t>(numbered markers →)</a:t>
            </a:r>
          </a:p>
        </p:txBody>
      </p:sp>
      <p:sp>
        <p:nvSpPr>
          <p:cNvPr id="16" name="Oval 15"/>
          <p:cNvSpPr/>
          <p:nvPr/>
        </p:nvSpPr>
        <p:spPr>
          <a:xfrm>
            <a:off x="2971800" y="1371600"/>
            <a:ext cx="137160" cy="13716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TextBox 16"/>
          <p:cNvSpPr txBox="1"/>
          <p:nvPr/>
        </p:nvSpPr>
        <p:spPr>
          <a:xfrm>
            <a:off x="2971800" y="1371600"/>
            <a:ext cx="137160" cy="137160"/>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18" name="Oval 17"/>
          <p:cNvSpPr/>
          <p:nvPr/>
        </p:nvSpPr>
        <p:spPr>
          <a:xfrm>
            <a:off x="2971800" y="1600200"/>
            <a:ext cx="137160" cy="13716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9" name="TextBox 18"/>
          <p:cNvSpPr txBox="1"/>
          <p:nvPr/>
        </p:nvSpPr>
        <p:spPr>
          <a:xfrm>
            <a:off x="2971800" y="1600200"/>
            <a:ext cx="137160" cy="137160"/>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20" name="Oval 19"/>
          <p:cNvSpPr/>
          <p:nvPr/>
        </p:nvSpPr>
        <p:spPr>
          <a:xfrm>
            <a:off x="2971800" y="1828800"/>
            <a:ext cx="137160" cy="13716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1" name="TextBox 20"/>
          <p:cNvSpPr txBox="1"/>
          <p:nvPr/>
        </p:nvSpPr>
        <p:spPr>
          <a:xfrm>
            <a:off x="2971800" y="1828800"/>
            <a:ext cx="137160" cy="137160"/>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22" name="Oval 21"/>
          <p:cNvSpPr/>
          <p:nvPr/>
        </p:nvSpPr>
        <p:spPr>
          <a:xfrm>
            <a:off x="2971800" y="2057400"/>
            <a:ext cx="137160" cy="13716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TextBox 22"/>
          <p:cNvSpPr txBox="1"/>
          <p:nvPr/>
        </p:nvSpPr>
        <p:spPr>
          <a:xfrm>
            <a:off x="2971800" y="2057400"/>
            <a:ext cx="137160" cy="137160"/>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24" name="Rectangle 23"/>
          <p:cNvSpPr/>
          <p:nvPr/>
        </p:nvSpPr>
        <p:spPr>
          <a:xfrm>
            <a:off x="3246120" y="1257300"/>
            <a:ext cx="1920240" cy="1097280"/>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5" name="Rectangle 24"/>
          <p:cNvSpPr/>
          <p:nvPr/>
        </p:nvSpPr>
        <p:spPr>
          <a:xfrm>
            <a:off x="3291840" y="1303020"/>
            <a:ext cx="1828800" cy="137160"/>
          </a:xfrm>
          <a:prstGeom prst="rect">
            <a:avLst/>
          </a:prstGeom>
          <a:solidFill>
            <a:srgbClr val="1E2F6E"/>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6" name="Rectangle 25"/>
          <p:cNvSpPr/>
          <p:nvPr/>
        </p:nvSpPr>
        <p:spPr>
          <a:xfrm>
            <a:off x="3291840" y="1504188"/>
            <a:ext cx="1828800" cy="13716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7" name="Rectangle 26"/>
          <p:cNvSpPr/>
          <p:nvPr/>
        </p:nvSpPr>
        <p:spPr>
          <a:xfrm>
            <a:off x="3291840" y="1705356"/>
            <a:ext cx="1828800" cy="13716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Rectangle 27"/>
          <p:cNvSpPr/>
          <p:nvPr/>
        </p:nvSpPr>
        <p:spPr>
          <a:xfrm>
            <a:off x="3291840" y="1906524"/>
            <a:ext cx="1828800" cy="13716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9" name="Rectangle 28"/>
          <p:cNvSpPr/>
          <p:nvPr/>
        </p:nvSpPr>
        <p:spPr>
          <a:xfrm>
            <a:off x="3291840" y="2107692"/>
            <a:ext cx="1828800" cy="13716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0" name="TextBox 29"/>
          <p:cNvSpPr txBox="1"/>
          <p:nvPr/>
        </p:nvSpPr>
        <p:spPr>
          <a:xfrm>
            <a:off x="3291840" y="1303020"/>
            <a:ext cx="1828800" cy="137160"/>
          </a:xfrm>
          <a:prstGeom prst="rect">
            <a:avLst/>
          </a:prstGeom>
          <a:noFill/>
        </p:spPr>
        <p:txBody>
          <a:bodyPr wrap="square" lIns="0" tIns="0" rIns="0" bIns="0" anchor="ctr">
            <a:spAutoFit/>
          </a:bodyPr>
          <a:lstStyle/>
          <a:p>
            <a:pPr marL="0" indent="0" algn="ctr">
              <a:buNone/>
            </a:pPr>
            <a:r>
              <a:rPr sz="500" b="1" i="0">
                <a:solidFill>
                  <a:srgbClr val="FFFFFF"/>
                </a:solidFill>
              </a:rPr>
              <a:t>No. | Item | Description</a:t>
            </a:r>
          </a:p>
        </p:txBody>
      </p:sp>
      <p:sp>
        <p:nvSpPr>
          <p:cNvPr id="31" name="Rectangle 30"/>
          <p:cNvSpPr/>
          <p:nvPr/>
        </p:nvSpPr>
        <p:spPr>
          <a:xfrm>
            <a:off x="342900" y="2423160"/>
            <a:ext cx="4892040" cy="182880"/>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411480" y="2423160"/>
            <a:ext cx="4754880" cy="182880"/>
          </a:xfrm>
          <a:prstGeom prst="rect">
            <a:avLst/>
          </a:prstGeom>
          <a:noFill/>
        </p:spPr>
        <p:txBody>
          <a:bodyPr wrap="square" lIns="0" tIns="0" rIns="0" bIns="0" anchor="ctr">
            <a:spAutoFit/>
          </a:bodyPr>
          <a:lstStyle/>
          <a:p>
            <a:pPr marL="0" indent="0" algn="l">
              <a:buNone/>
            </a:pPr>
            <a:r>
              <a:rPr sz="550" b="0" i="0">
                <a:solidFill>
                  <a:srgbClr val="6B6800"/>
                </a:solidFill>
              </a:rPr>
              <a:t>Remarks / Comments  —  open issues and cross-references</a:t>
            </a:r>
          </a:p>
        </p:txBody>
      </p:sp>
      <p:sp>
        <p:nvSpPr>
          <p:cNvPr id="33" name="TextBox 32"/>
          <p:cNvSpPr txBox="1"/>
          <p:nvPr/>
        </p:nvSpPr>
        <p:spPr>
          <a:xfrm>
            <a:off x="274320" y="2743200"/>
            <a:ext cx="5029200" cy="182880"/>
          </a:xfrm>
          <a:prstGeom prst="rect">
            <a:avLst/>
          </a:prstGeom>
          <a:noFill/>
        </p:spPr>
        <p:txBody>
          <a:bodyPr wrap="square" lIns="0" tIns="0" rIns="0" bIns="0" anchor="ctr">
            <a:spAutoFit/>
          </a:bodyPr>
          <a:lstStyle/>
          <a:p>
            <a:pPr marL="0" indent="0" algn="ctr">
              <a:buNone/>
            </a:pPr>
            <a:r>
              <a:rPr sz="650" b="0" i="1">
                <a:solidFill>
                  <a:srgbClr val="AAAAAA"/>
                </a:solidFill>
              </a:rPr>
              <a:t>Miniature of a screen-specification slide — the layout every screen in Part 5 follows.</a:t>
            </a:r>
          </a:p>
        </p:txBody>
      </p:sp>
      <p:sp>
        <p:nvSpPr>
          <p:cNvPr id="34" name="Rectangle 33"/>
          <p:cNvSpPr/>
          <p:nvPr/>
        </p:nvSpPr>
        <p:spPr>
          <a:xfrm>
            <a:off x="274320" y="2971800"/>
            <a:ext cx="5029200" cy="50292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5" name="Rectangle 34"/>
          <p:cNvSpPr/>
          <p:nvPr/>
        </p:nvSpPr>
        <p:spPr>
          <a:xfrm>
            <a:off x="274320" y="2971800"/>
            <a:ext cx="64008" cy="50292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TextBox 35"/>
          <p:cNvSpPr txBox="1"/>
          <p:nvPr/>
        </p:nvSpPr>
        <p:spPr>
          <a:xfrm>
            <a:off x="457200" y="2999232"/>
            <a:ext cx="4754880" cy="192024"/>
          </a:xfrm>
          <a:prstGeom prst="rect">
            <a:avLst/>
          </a:prstGeom>
          <a:noFill/>
        </p:spPr>
        <p:txBody>
          <a:bodyPr wrap="square" lIns="0" tIns="0" rIns="0" bIns="0" anchor="ctr">
            <a:spAutoFit/>
          </a:bodyPr>
          <a:lstStyle/>
          <a:p>
            <a:pPr marL="0" indent="0" algn="l">
              <a:buNone/>
            </a:pPr>
            <a:r>
              <a:rPr sz="850" b="1" i="0">
                <a:solidFill>
                  <a:srgbClr val="1E2F6E"/>
                </a:solidFill>
              </a:rPr>
              <a:t>HEADER BAR</a:t>
            </a:r>
          </a:p>
        </p:txBody>
      </p:sp>
      <p:sp>
        <p:nvSpPr>
          <p:cNvPr id="37" name="TextBox 36"/>
          <p:cNvSpPr txBox="1"/>
          <p:nvPr/>
        </p:nvSpPr>
        <p:spPr>
          <a:xfrm>
            <a:off x="457200" y="3200400"/>
            <a:ext cx="4754880" cy="237744"/>
          </a:xfrm>
          <a:prstGeom prst="rect">
            <a:avLst/>
          </a:prstGeom>
          <a:noFill/>
        </p:spPr>
        <p:txBody>
          <a:bodyPr wrap="square" lIns="0" tIns="0" rIns="0" bIns="0" anchor="t">
            <a:spAutoFit/>
          </a:bodyPr>
          <a:lstStyle/>
          <a:p>
            <a:pPr marL="0" indent="0" algn="l">
              <a:buNone/>
            </a:pPr>
            <a:r>
              <a:rPr sz="700" b="0" i="0">
                <a:solidFill>
                  <a:srgbClr val="555555"/>
                </a:solidFill>
              </a:rPr>
              <a:t>Module  |  REQ ID  |  Screen ID  |  Screen Name  |  Author — locates the slide inside the requirement set.</a:t>
            </a:r>
          </a:p>
        </p:txBody>
      </p:sp>
      <p:sp>
        <p:nvSpPr>
          <p:cNvPr id="38" name="Rectangle 37"/>
          <p:cNvSpPr/>
          <p:nvPr/>
        </p:nvSpPr>
        <p:spPr>
          <a:xfrm>
            <a:off x="274320" y="3520440"/>
            <a:ext cx="5029200" cy="6858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Rectangle 38"/>
          <p:cNvSpPr/>
          <p:nvPr/>
        </p:nvSpPr>
        <p:spPr>
          <a:xfrm>
            <a:off x="274320" y="3520440"/>
            <a:ext cx="64008" cy="6858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TextBox 39"/>
          <p:cNvSpPr txBox="1"/>
          <p:nvPr/>
        </p:nvSpPr>
        <p:spPr>
          <a:xfrm>
            <a:off x="457200" y="3547872"/>
            <a:ext cx="4754880" cy="192024"/>
          </a:xfrm>
          <a:prstGeom prst="rect">
            <a:avLst/>
          </a:prstGeom>
          <a:noFill/>
        </p:spPr>
        <p:txBody>
          <a:bodyPr wrap="square" lIns="0" tIns="0" rIns="0" bIns="0" anchor="ctr">
            <a:spAutoFit/>
          </a:bodyPr>
          <a:lstStyle/>
          <a:p>
            <a:pPr marL="0" indent="0" algn="l">
              <a:buNone/>
            </a:pPr>
            <a:r>
              <a:rPr sz="850" b="1" i="0">
                <a:solidFill>
                  <a:srgbClr val="1E2F6E"/>
                </a:solidFill>
              </a:rPr>
              <a:t>LEFT ZONE  —  Screen Wireframe</a:t>
            </a:r>
          </a:p>
        </p:txBody>
      </p:sp>
      <p:sp>
        <p:nvSpPr>
          <p:cNvPr id="41" name="TextBox 40"/>
          <p:cNvSpPr txBox="1"/>
          <p:nvPr/>
        </p:nvSpPr>
        <p:spPr>
          <a:xfrm>
            <a:off x="457200" y="3749040"/>
            <a:ext cx="4754880" cy="420624"/>
          </a:xfrm>
          <a:prstGeom prst="rect">
            <a:avLst/>
          </a:prstGeom>
          <a:noFill/>
        </p:spPr>
        <p:txBody>
          <a:bodyPr wrap="square" lIns="0" tIns="0" rIns="0" bIns="0" anchor="t">
            <a:spAutoFit/>
          </a:bodyPr>
          <a:lstStyle/>
          <a:p>
            <a:pPr marL="0" indent="0" algn="l">
              <a:buNone/>
            </a:pPr>
            <a:r>
              <a:rPr sz="700" b="0" i="0">
                <a:solidFill>
                  <a:srgbClr val="555555"/>
                </a:solidFill>
              </a:rPr>
              <a:t>Low-fidelity wireframe of the screen state. Numbered red circles mark each component specified. Structure and behaviour only — visual design is owned by DE02 Design System and the Figma “Checkout Flow - Review” file.</a:t>
            </a:r>
          </a:p>
        </p:txBody>
      </p:sp>
      <p:sp>
        <p:nvSpPr>
          <p:cNvPr id="42" name="Rectangle 41"/>
          <p:cNvSpPr/>
          <p:nvPr/>
        </p:nvSpPr>
        <p:spPr>
          <a:xfrm>
            <a:off x="274320" y="4251960"/>
            <a:ext cx="5029200" cy="6858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3" name="Rectangle 42"/>
          <p:cNvSpPr/>
          <p:nvPr/>
        </p:nvSpPr>
        <p:spPr>
          <a:xfrm>
            <a:off x="274320" y="4251960"/>
            <a:ext cx="64008" cy="6858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4" name="TextBox 43"/>
          <p:cNvSpPr txBox="1"/>
          <p:nvPr/>
        </p:nvSpPr>
        <p:spPr>
          <a:xfrm>
            <a:off x="457200" y="4279392"/>
            <a:ext cx="4754880" cy="192024"/>
          </a:xfrm>
          <a:prstGeom prst="rect">
            <a:avLst/>
          </a:prstGeom>
          <a:noFill/>
        </p:spPr>
        <p:txBody>
          <a:bodyPr wrap="square" lIns="0" tIns="0" rIns="0" bIns="0" anchor="ctr">
            <a:spAutoFit/>
          </a:bodyPr>
          <a:lstStyle/>
          <a:p>
            <a:pPr marL="0" indent="0" algn="l">
              <a:buNone/>
            </a:pPr>
            <a:r>
              <a:rPr sz="850" b="1" i="0">
                <a:solidFill>
                  <a:srgbClr val="1E2F6E"/>
                </a:solidFill>
              </a:rPr>
              <a:t>RIGHT ZONE  —  Description Table</a:t>
            </a:r>
          </a:p>
        </p:txBody>
      </p:sp>
      <p:sp>
        <p:nvSpPr>
          <p:cNvPr id="45" name="TextBox 44"/>
          <p:cNvSpPr txBox="1"/>
          <p:nvPr/>
        </p:nvSpPr>
        <p:spPr>
          <a:xfrm>
            <a:off x="457200" y="4480560"/>
            <a:ext cx="4754880" cy="420624"/>
          </a:xfrm>
          <a:prstGeom prst="rect">
            <a:avLst/>
          </a:prstGeom>
          <a:noFill/>
        </p:spPr>
        <p:txBody>
          <a:bodyPr wrap="square" lIns="0" tIns="0" rIns="0" bIns="0" anchor="t">
            <a:spAutoFit/>
          </a:bodyPr>
          <a:lstStyle/>
          <a:p>
            <a:pPr marL="0" indent="0" algn="l">
              <a:buNone/>
            </a:pPr>
            <a:r>
              <a:rPr sz="700" b="0" i="0">
                <a:solidFill>
                  <a:srgbClr val="555555"/>
                </a:solidFill>
              </a:rPr>
              <a:t>No. / Item / Description. One row per annotation number, covering UI behaviour, validation, navigation and the governing rule. Rule references (BRL-xx) point back to Part 4.</a:t>
            </a:r>
          </a:p>
        </p:txBody>
      </p:sp>
      <p:sp>
        <p:nvSpPr>
          <p:cNvPr id="46" name="Rectangle 45"/>
          <p:cNvSpPr/>
          <p:nvPr/>
        </p:nvSpPr>
        <p:spPr>
          <a:xfrm>
            <a:off x="274320" y="4983480"/>
            <a:ext cx="5029200" cy="4572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Rectangle 46"/>
          <p:cNvSpPr/>
          <p:nvPr/>
        </p:nvSpPr>
        <p:spPr>
          <a:xfrm>
            <a:off x="274320" y="498348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8" name="TextBox 47"/>
          <p:cNvSpPr txBox="1"/>
          <p:nvPr/>
        </p:nvSpPr>
        <p:spPr>
          <a:xfrm>
            <a:off x="457200" y="5010912"/>
            <a:ext cx="4754880" cy="192024"/>
          </a:xfrm>
          <a:prstGeom prst="rect">
            <a:avLst/>
          </a:prstGeom>
          <a:noFill/>
        </p:spPr>
        <p:txBody>
          <a:bodyPr wrap="square" lIns="0" tIns="0" rIns="0" bIns="0" anchor="ctr">
            <a:spAutoFit/>
          </a:bodyPr>
          <a:lstStyle/>
          <a:p>
            <a:pPr marL="0" indent="0" algn="l">
              <a:buNone/>
            </a:pPr>
            <a:r>
              <a:rPr sz="850" b="1" i="0">
                <a:solidFill>
                  <a:srgbClr val="1E2F6E"/>
                </a:solidFill>
              </a:rPr>
              <a:t>BOTTOM ZONE  —  Remarks</a:t>
            </a:r>
          </a:p>
        </p:txBody>
      </p:sp>
      <p:sp>
        <p:nvSpPr>
          <p:cNvPr id="49" name="TextBox 48"/>
          <p:cNvSpPr txBox="1"/>
          <p:nvPr/>
        </p:nvSpPr>
        <p:spPr>
          <a:xfrm>
            <a:off x="457200" y="5212080"/>
            <a:ext cx="4754880" cy="192024"/>
          </a:xfrm>
          <a:prstGeom prst="rect">
            <a:avLst/>
          </a:prstGeom>
          <a:noFill/>
        </p:spPr>
        <p:txBody>
          <a:bodyPr wrap="square" lIns="0" tIns="0" rIns="0" bIns="0" anchor="t">
            <a:spAutoFit/>
          </a:bodyPr>
          <a:lstStyle/>
          <a:p>
            <a:pPr marL="0" indent="0" algn="l">
              <a:buNone/>
            </a:pPr>
            <a:r>
              <a:rPr sz="700" b="0" i="0">
                <a:solidFill>
                  <a:srgbClr val="555555"/>
                </a:solidFill>
              </a:rPr>
              <a:t>Open issues, assumptions and cross-references for that screen.</a:t>
            </a:r>
          </a:p>
        </p:txBody>
      </p:sp>
      <p:sp>
        <p:nvSpPr>
          <p:cNvPr id="50" name="Rectangle 49"/>
          <p:cNvSpPr/>
          <p:nvPr/>
        </p:nvSpPr>
        <p:spPr>
          <a:xfrm>
            <a:off x="5577840" y="969264"/>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1" name="TextBox 50"/>
          <p:cNvSpPr txBox="1"/>
          <p:nvPr/>
        </p:nvSpPr>
        <p:spPr>
          <a:xfrm>
            <a:off x="5705856" y="969264"/>
            <a:ext cx="6272784" cy="256032"/>
          </a:xfrm>
          <a:prstGeom prst="rect">
            <a:avLst/>
          </a:prstGeom>
          <a:noFill/>
        </p:spPr>
        <p:txBody>
          <a:bodyPr wrap="square" lIns="0" tIns="0" rIns="0" bIns="0" anchor="ctr">
            <a:spAutoFit/>
          </a:bodyPr>
          <a:lstStyle/>
          <a:p>
            <a:pPr marL="0" indent="0" algn="l">
              <a:buNone/>
            </a:pPr>
            <a:r>
              <a:rPr sz="1000" b="1" i="0">
                <a:solidFill>
                  <a:srgbClr val="1E2F6E"/>
                </a:solidFill>
              </a:rPr>
              <a:t>Identifier Convention</a:t>
            </a:r>
          </a:p>
        </p:txBody>
      </p:sp>
      <p:graphicFrame>
        <p:nvGraphicFramePr>
          <p:cNvPr id="52" name="Table 51"/>
          <p:cNvGraphicFramePr>
            <a:graphicFrameLocks noGrp="1"/>
          </p:cNvGraphicFramePr>
          <p:nvPr/>
        </p:nvGraphicFramePr>
        <p:xfrm>
          <a:off x="5577840" y="1280160"/>
          <a:ext cx="6400800" cy="1828800"/>
        </p:xfrm>
        <a:graphic>
          <a:graphicData uri="http://schemas.openxmlformats.org/drawingml/2006/table">
            <a:tbl>
              <a:tblPr/>
              <a:tblGrid>
                <a:gridCol w="21031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228600">
                <a:tc>
                  <a:txBody>
                    <a:bodyPr/>
                    <a:lstStyle/>
                    <a:p>
                      <a:pPr marL="0" indent="0" algn="ctr">
                        <a:buNone/>
                      </a:pPr>
                      <a:r>
                        <a:rPr sz="700" b="1" i="0">
                          <a:solidFill>
                            <a:srgbClr val="FFFFFF"/>
                          </a:solidFill>
                        </a:rPr>
                        <a:t>Prefix</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Applies to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Example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28600">
                <a:tc>
                  <a:txBody>
                    <a:bodyPr/>
                    <a:lstStyle/>
                    <a:p>
                      <a:pPr marL="0" indent="0" algn="l">
                        <a:buNone/>
                      </a:pPr>
                      <a:r>
                        <a:rPr sz="700" b="0" i="0">
                          <a:solidFill>
                            <a:srgbClr val="222222"/>
                          </a:solidFill>
                        </a:rPr>
                        <a:t>PF-nn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Process flow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PF-06  Cart — Delivery branch</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28600">
                <a:tc>
                  <a:txBody>
                    <a:bodyPr/>
                    <a:lstStyle/>
                    <a:p>
                      <a:pPr marL="0" indent="0" algn="l">
                        <a:buNone/>
                      </a:pPr>
                      <a:r>
                        <a:rPr sz="700" b="0" i="0">
                          <a:solidFill>
                            <a:srgbClr val="222222"/>
                          </a:solidFill>
                        </a:rPr>
                        <a:t>ONB / HP / SU / LI / CT / CO -nn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Functional requirement, by module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CT-05  Select products for 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28600">
                <a:tc>
                  <a:txBody>
                    <a:bodyPr/>
                    <a:lstStyle/>
                    <a:p>
                      <a:pPr marL="0" indent="0" algn="l">
                        <a:buNone/>
                      </a:pPr>
                      <a:r>
                        <a:rPr sz="700" b="0" i="0">
                          <a:solidFill>
                            <a:srgbClr val="222222"/>
                          </a:solidFill>
                        </a:rPr>
                        <a:t>BR-nn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Business requirement (why)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BR-02  Login enforced at 2 points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28600">
                <a:tc>
                  <a:txBody>
                    <a:bodyPr/>
                    <a:lstStyle/>
                    <a:p>
                      <a:pPr marL="0" indent="0" algn="l">
                        <a:buNone/>
                      </a:pPr>
                      <a:r>
                        <a:rPr sz="700" b="0" i="0">
                          <a:solidFill>
                            <a:srgbClr val="222222"/>
                          </a:solidFill>
                        </a:rPr>
                        <a:t>BRL-nn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Business rule (how it computes)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BRL-12  60-Minute service radius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228600">
                <a:tc>
                  <a:txBody>
                    <a:bodyPr/>
                    <a:lstStyle/>
                    <a:p>
                      <a:pPr marL="0" indent="0" algn="l">
                        <a:buNone/>
                      </a:pPr>
                      <a:r>
                        <a:rPr sz="700" b="0" i="0">
                          <a:solidFill>
                            <a:srgbClr val="222222"/>
                          </a:solidFill>
                        </a:rPr>
                        <a:t>SCR-xxx-nn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Screen specification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SCR-CRT-01  Cart — Standard Delivery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228600">
                <a:tc>
                  <a:txBody>
                    <a:bodyPr/>
                    <a:lstStyle/>
                    <a:p>
                      <a:pPr marL="0" indent="0" algn="l">
                        <a:buNone/>
                      </a:pPr>
                      <a:r>
                        <a:rPr sz="700" b="0" i="0">
                          <a:solidFill>
                            <a:srgbClr val="222222"/>
                          </a:solidFill>
                        </a:rPr>
                        <a:t>NFR-nn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Non-functional requirement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NFR-01  OTP / PIN attempt limit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228600">
                <a:tc>
                  <a:txBody>
                    <a:bodyPr/>
                    <a:lstStyle/>
                    <a:p>
                      <a:pPr marL="0" indent="0" algn="l">
                        <a:buNone/>
                      </a:pPr>
                      <a:r>
                        <a:rPr sz="700" b="0" i="0">
                          <a:solidFill>
                            <a:srgbClr val="222222"/>
                          </a:solidFill>
                        </a:rPr>
                        <a:t>OQ-nn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Open question / assumption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OQ-01  Address rule on store change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53" name="Rectangle 52"/>
          <p:cNvSpPr/>
          <p:nvPr/>
        </p:nvSpPr>
        <p:spPr>
          <a:xfrm>
            <a:off x="5577840" y="320040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4" name="TextBox 53"/>
          <p:cNvSpPr txBox="1"/>
          <p:nvPr/>
        </p:nvSpPr>
        <p:spPr>
          <a:xfrm>
            <a:off x="5705856" y="3200400"/>
            <a:ext cx="6272784" cy="256032"/>
          </a:xfrm>
          <a:prstGeom prst="rect">
            <a:avLst/>
          </a:prstGeom>
          <a:noFill/>
        </p:spPr>
        <p:txBody>
          <a:bodyPr wrap="square" lIns="0" tIns="0" rIns="0" bIns="0" anchor="ctr">
            <a:spAutoFit/>
          </a:bodyPr>
          <a:lstStyle/>
          <a:p>
            <a:pPr marL="0" indent="0" algn="l">
              <a:buNone/>
            </a:pPr>
            <a:r>
              <a:rPr sz="1000" b="1" i="0">
                <a:solidFill>
                  <a:srgbClr val="1E2F6E"/>
                </a:solidFill>
              </a:rPr>
              <a:t>Annotation Legend</a:t>
            </a:r>
          </a:p>
        </p:txBody>
      </p:sp>
      <p:graphicFrame>
        <p:nvGraphicFramePr>
          <p:cNvPr id="55" name="Table 54"/>
          <p:cNvGraphicFramePr>
            <a:graphicFrameLocks noGrp="1"/>
          </p:cNvGraphicFramePr>
          <p:nvPr/>
        </p:nvGraphicFramePr>
        <p:xfrm>
          <a:off x="5577840" y="3511296"/>
          <a:ext cx="6400800" cy="1828800"/>
        </p:xfrm>
        <a:graphic>
          <a:graphicData uri="http://schemas.openxmlformats.org/drawingml/2006/table">
            <a:tbl>
              <a:tblPr/>
              <a:tblGrid>
                <a:gridCol w="173736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tblGrid>
              <a:tr h="228600">
                <a:tc>
                  <a:txBody>
                    <a:bodyPr/>
                    <a:lstStyle/>
                    <a:p>
                      <a:pPr marL="0" indent="0" algn="ctr">
                        <a:buNone/>
                      </a:pPr>
                      <a:r>
                        <a:rPr sz="700" b="1" i="0">
                          <a:solidFill>
                            <a:srgbClr val="FFFFFF"/>
                          </a:solidFill>
                        </a:rPr>
                        <a:t>Symbol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Meaning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28600">
                <a:tc>
                  <a:txBody>
                    <a:bodyPr/>
                    <a:lstStyle/>
                    <a:p>
                      <a:pPr marL="0" indent="0" algn="l">
                        <a:buNone/>
                      </a:pPr>
                      <a:r>
                        <a:rPr sz="700" b="0" i="0">
                          <a:solidFill>
                            <a:srgbClr val="222222"/>
                          </a:solidFill>
                        </a:rPr>
                        <a:t>①</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Annotation marker — matches a row in the Description table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28600">
                <a:tc>
                  <a:txBody>
                    <a:bodyPr/>
                    <a:lstStyle/>
                    <a:p>
                      <a:pPr marL="0" indent="0" algn="l">
                        <a:buNone/>
                      </a:pPr>
                      <a:r>
                        <a:rPr sz="700" b="0" i="0">
                          <a:solidFill>
                            <a:srgbClr val="222222"/>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Mandatory field / mandatory step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28600">
                <a:tc>
                  <a:txBody>
                    <a:bodyPr/>
                    <a:lstStyle/>
                    <a:p>
                      <a:pPr marL="0" indent="0" algn="l">
                        <a:buNone/>
                      </a:pPr>
                      <a:r>
                        <a:rPr sz="700" b="0" i="0">
                          <a:solidFill>
                            <a:srgbClr val="222222"/>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Dropdown, selector or bottom sheet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28600">
                <a:tc>
                  <a:txBody>
                    <a:bodyPr/>
                    <a:lstStyle/>
                    <a:p>
                      <a:pPr marL="0" indent="0" algn="l">
                        <a:buNone/>
                      </a:pPr>
                      <a:r>
                        <a:rPr sz="700" b="0" i="0">
                          <a:solidFill>
                            <a:srgbClr val="222222"/>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Validation rule or system constraint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228600">
                <a:tc>
                  <a:txBody>
                    <a:bodyPr/>
                    <a:lstStyle/>
                    <a:p>
                      <a:pPr marL="0" indent="0" algn="l">
                        <a:buNone/>
                      </a:pPr>
                      <a:r>
                        <a:rPr sz="700" b="0" i="0">
                          <a:solidFill>
                            <a:srgbClr val="222222"/>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Navigation to another screen or flow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228600">
                <a:tc>
                  <a:txBody>
                    <a:bodyPr/>
                    <a:lstStyle/>
                    <a:p>
                      <a:pPr marL="0" indent="0" algn="l">
                        <a:buNone/>
                      </a:pPr>
                      <a:r>
                        <a:rPr sz="700" b="0" i="0">
                          <a:solidFill>
                            <a:srgbClr val="222222"/>
                          </a:solidFill>
                        </a:rPr>
                        <a:t>● Guest / ● Member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State the rule applies to (logged-out / logged-in)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228600">
                <a:tc>
                  <a:txBody>
                    <a:bodyPr/>
                    <a:lstStyle/>
                    <a:p>
                      <a:pPr marL="0" indent="0" algn="l">
                        <a:buNone/>
                      </a:pPr>
                      <a:r>
                        <a:rPr sz="700" b="0" i="0">
                          <a:solidFill>
                            <a:srgbClr val="222222"/>
                          </a:solidFill>
                        </a:rPr>
                        <a:t>TBC</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Not yet confirmed by LOTTE MART — see Part 6, Open Questions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56" name="TextBox 55"/>
          <p:cNvSpPr txBox="1"/>
          <p:nvPr/>
        </p:nvSpPr>
        <p:spPr>
          <a:xfrm>
            <a:off x="5577840" y="5486400"/>
            <a:ext cx="6400800" cy="384048"/>
          </a:xfrm>
          <a:prstGeom prst="rect">
            <a:avLst/>
          </a:prstGeom>
          <a:noFill/>
        </p:spPr>
        <p:txBody>
          <a:bodyPr wrap="square" lIns="0" tIns="0" rIns="0" bIns="0" anchor="t">
            <a:spAutoFit/>
          </a:bodyPr>
          <a:lstStyle/>
          <a:p>
            <a:pPr marL="0" indent="0" algn="l">
              <a:buNone/>
            </a:pPr>
            <a:r>
              <a:rPr sz="700" b="0" i="1">
                <a:solidFill>
                  <a:srgbClr val="888888"/>
                </a:solidFill>
              </a:rPr>
              <a:t>Reading order for a reviewer: Part 2 (flows) answers “what happens”, Part 4 (rules) answers “why / how much”, Part 5 (screens) answers “what the customer sees”. Every screen row cites the rule that drives 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Table of Contents</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3</a:t>
            </a:r>
          </a:p>
        </p:txBody>
      </p:sp>
      <p:sp>
        <p:nvSpPr>
          <p:cNvPr id="9" name="Rectangle 8"/>
          <p:cNvSpPr/>
          <p:nvPr/>
        </p:nvSpPr>
        <p:spPr>
          <a:xfrm>
            <a:off x="274320" y="850000"/>
            <a:ext cx="3749040" cy="22860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Rectangle 9"/>
          <p:cNvSpPr/>
          <p:nvPr/>
        </p:nvSpPr>
        <p:spPr>
          <a:xfrm>
            <a:off x="274320" y="850000"/>
            <a:ext cx="3749040" cy="4572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 name="TextBox 10"/>
          <p:cNvSpPr txBox="1"/>
          <p:nvPr/>
        </p:nvSpPr>
        <p:spPr>
          <a:xfrm>
            <a:off x="457200" y="987160"/>
            <a:ext cx="3383280" cy="228600"/>
          </a:xfrm>
          <a:prstGeom prst="rect">
            <a:avLst/>
          </a:prstGeom>
          <a:noFill/>
        </p:spPr>
        <p:txBody>
          <a:bodyPr wrap="square" lIns="0" tIns="0" rIns="0" bIns="0" anchor="ctr">
            <a:spAutoFit/>
          </a:bodyPr>
          <a:lstStyle/>
          <a:p>
            <a:pPr marL="0" indent="0" algn="l">
              <a:buNone/>
            </a:pPr>
            <a:r>
              <a:rPr sz="800" b="1" i="0">
                <a:solidFill>
                  <a:srgbClr val="C8102E"/>
                </a:solidFill>
              </a:rPr>
              <a:t>PART 1</a:t>
            </a:r>
          </a:p>
        </p:txBody>
      </p:sp>
      <p:sp>
        <p:nvSpPr>
          <p:cNvPr id="12" name="TextBox 11"/>
          <p:cNvSpPr txBox="1"/>
          <p:nvPr/>
        </p:nvSpPr>
        <p:spPr>
          <a:xfrm>
            <a:off x="457200" y="1206616"/>
            <a:ext cx="3383280" cy="320040"/>
          </a:xfrm>
          <a:prstGeom prst="rect">
            <a:avLst/>
          </a:prstGeom>
          <a:noFill/>
        </p:spPr>
        <p:txBody>
          <a:bodyPr wrap="square" lIns="0" tIns="0" rIns="0" bIns="0" anchor="ctr">
            <a:spAutoFit/>
          </a:bodyPr>
          <a:lstStyle/>
          <a:p>
            <a:pPr marL="0" indent="0" algn="l">
              <a:buNone/>
            </a:pPr>
            <a:r>
              <a:rPr sz="1300" b="1" i="0">
                <a:solidFill>
                  <a:srgbClr val="1E2F6E"/>
                </a:solidFill>
              </a:rPr>
              <a:t>Context &amp; Scope</a:t>
            </a:r>
          </a:p>
        </p:txBody>
      </p:sp>
      <p:sp>
        <p:nvSpPr>
          <p:cNvPr id="13" name="Oval 12"/>
          <p:cNvSpPr/>
          <p:nvPr/>
        </p:nvSpPr>
        <p:spPr>
          <a:xfrm>
            <a:off x="457200" y="1677532"/>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594360" y="1608952"/>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Purpose, scope and out-of-scope</a:t>
            </a:r>
          </a:p>
        </p:txBody>
      </p:sp>
      <p:sp>
        <p:nvSpPr>
          <p:cNvPr id="15" name="Oval 14"/>
          <p:cNvSpPr/>
          <p:nvPr/>
        </p:nvSpPr>
        <p:spPr>
          <a:xfrm>
            <a:off x="457200" y="1924420"/>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594360" y="1855840"/>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Actors &amp; stakeholders</a:t>
            </a:r>
          </a:p>
        </p:txBody>
      </p:sp>
      <p:sp>
        <p:nvSpPr>
          <p:cNvPr id="17" name="Oval 16"/>
          <p:cNvSpPr/>
          <p:nvPr/>
        </p:nvSpPr>
        <p:spPr>
          <a:xfrm>
            <a:off x="457200" y="2171308"/>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594360" y="2102728"/>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Definitions &amp; acronyms</a:t>
            </a:r>
          </a:p>
        </p:txBody>
      </p:sp>
      <p:sp>
        <p:nvSpPr>
          <p:cNvPr id="19" name="Oval 18"/>
          <p:cNvSpPr/>
          <p:nvPr/>
        </p:nvSpPr>
        <p:spPr>
          <a:xfrm>
            <a:off x="457200" y="2418196"/>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594360" y="2349616"/>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Module map &amp; requirement architecture</a:t>
            </a:r>
          </a:p>
        </p:txBody>
      </p:sp>
      <p:sp>
        <p:nvSpPr>
          <p:cNvPr id="21" name="TextBox 20"/>
          <p:cNvSpPr txBox="1"/>
          <p:nvPr/>
        </p:nvSpPr>
        <p:spPr>
          <a:xfrm>
            <a:off x="457200" y="2861680"/>
            <a:ext cx="3383280" cy="182880"/>
          </a:xfrm>
          <a:prstGeom prst="rect">
            <a:avLst/>
          </a:prstGeom>
          <a:noFill/>
        </p:spPr>
        <p:txBody>
          <a:bodyPr wrap="square" lIns="0" tIns="0" rIns="0" bIns="0" anchor="ctr">
            <a:spAutoFit/>
          </a:bodyPr>
          <a:lstStyle/>
          <a:p>
            <a:pPr marL="0" indent="0" algn="l">
              <a:buNone/>
            </a:pPr>
            <a:r>
              <a:rPr sz="650" b="1" i="0">
                <a:solidFill>
                  <a:srgbClr val="AAAAAA"/>
                </a:solidFill>
              </a:rPr>
              <a:t>4 slides</a:t>
            </a:r>
          </a:p>
        </p:txBody>
      </p:sp>
      <p:sp>
        <p:nvSpPr>
          <p:cNvPr id="22" name="Rectangle 21"/>
          <p:cNvSpPr/>
          <p:nvPr/>
        </p:nvSpPr>
        <p:spPr>
          <a:xfrm>
            <a:off x="4206240" y="850000"/>
            <a:ext cx="3749040" cy="22860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4206240" y="850000"/>
            <a:ext cx="3749040" cy="4572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4389120" y="987160"/>
            <a:ext cx="3383280" cy="228600"/>
          </a:xfrm>
          <a:prstGeom prst="rect">
            <a:avLst/>
          </a:prstGeom>
          <a:noFill/>
        </p:spPr>
        <p:txBody>
          <a:bodyPr wrap="square" lIns="0" tIns="0" rIns="0" bIns="0" anchor="ctr">
            <a:spAutoFit/>
          </a:bodyPr>
          <a:lstStyle/>
          <a:p>
            <a:pPr marL="0" indent="0" algn="l">
              <a:buNone/>
            </a:pPr>
            <a:r>
              <a:rPr sz="800" b="1" i="0">
                <a:solidFill>
                  <a:srgbClr val="C8102E"/>
                </a:solidFill>
              </a:rPr>
              <a:t>PART 2</a:t>
            </a:r>
          </a:p>
        </p:txBody>
      </p:sp>
      <p:sp>
        <p:nvSpPr>
          <p:cNvPr id="25" name="TextBox 24"/>
          <p:cNvSpPr txBox="1"/>
          <p:nvPr/>
        </p:nvSpPr>
        <p:spPr>
          <a:xfrm>
            <a:off x="4389120" y="1206616"/>
            <a:ext cx="3383280" cy="320040"/>
          </a:xfrm>
          <a:prstGeom prst="rect">
            <a:avLst/>
          </a:prstGeom>
          <a:noFill/>
        </p:spPr>
        <p:txBody>
          <a:bodyPr wrap="square" lIns="0" tIns="0" rIns="0" bIns="0" anchor="ctr">
            <a:spAutoFit/>
          </a:bodyPr>
          <a:lstStyle/>
          <a:p>
            <a:pPr marL="0" indent="0" algn="l">
              <a:buNone/>
            </a:pPr>
            <a:r>
              <a:rPr sz="1300" b="1" i="0">
                <a:solidFill>
                  <a:srgbClr val="1E2F6E"/>
                </a:solidFill>
              </a:rPr>
              <a:t>Process Flows</a:t>
            </a:r>
          </a:p>
        </p:txBody>
      </p:sp>
      <p:sp>
        <p:nvSpPr>
          <p:cNvPr id="26" name="Oval 25"/>
          <p:cNvSpPr/>
          <p:nvPr/>
        </p:nvSpPr>
        <p:spPr>
          <a:xfrm>
            <a:off x="4389120" y="1677532"/>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7" name="TextBox 26"/>
          <p:cNvSpPr txBox="1"/>
          <p:nvPr/>
        </p:nvSpPr>
        <p:spPr>
          <a:xfrm>
            <a:off x="4526280" y="1608952"/>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Master end-to-end flow (PF-01)</a:t>
            </a:r>
          </a:p>
        </p:txBody>
      </p:sp>
      <p:sp>
        <p:nvSpPr>
          <p:cNvPr id="28" name="Oval 27"/>
          <p:cNvSpPr/>
          <p:nvPr/>
        </p:nvSpPr>
        <p:spPr>
          <a:xfrm>
            <a:off x="4389120" y="1924420"/>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9" name="TextBox 28"/>
          <p:cNvSpPr txBox="1"/>
          <p:nvPr/>
        </p:nvSpPr>
        <p:spPr>
          <a:xfrm>
            <a:off x="4526280" y="1855840"/>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Onboarding, Homepage, Login gate (PF-02 – PF-04)</a:t>
            </a:r>
          </a:p>
        </p:txBody>
      </p:sp>
      <p:sp>
        <p:nvSpPr>
          <p:cNvPr id="30" name="Oval 29"/>
          <p:cNvSpPr/>
          <p:nvPr/>
        </p:nvSpPr>
        <p:spPr>
          <a:xfrm>
            <a:off x="4389120" y="2171308"/>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TextBox 30"/>
          <p:cNvSpPr txBox="1"/>
          <p:nvPr/>
        </p:nvSpPr>
        <p:spPr>
          <a:xfrm>
            <a:off x="4526280" y="2102728"/>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Signup &amp; Login (PF-05 – PF-06)</a:t>
            </a:r>
          </a:p>
        </p:txBody>
      </p:sp>
      <p:sp>
        <p:nvSpPr>
          <p:cNvPr id="32" name="Oval 31"/>
          <p:cNvSpPr/>
          <p:nvPr/>
        </p:nvSpPr>
        <p:spPr>
          <a:xfrm>
            <a:off x="4389120" y="2418196"/>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3" name="TextBox 32"/>
          <p:cNvSpPr txBox="1"/>
          <p:nvPr/>
        </p:nvSpPr>
        <p:spPr>
          <a:xfrm>
            <a:off x="4526280" y="2349616"/>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Cart delivery / pickup / store change (PF-07 – PF-09)</a:t>
            </a:r>
          </a:p>
        </p:txBody>
      </p:sp>
      <p:sp>
        <p:nvSpPr>
          <p:cNvPr id="34" name="Oval 33"/>
          <p:cNvSpPr/>
          <p:nvPr/>
        </p:nvSpPr>
        <p:spPr>
          <a:xfrm>
            <a:off x="4389120" y="2665084"/>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5" name="TextBox 34"/>
          <p:cNvSpPr txBox="1"/>
          <p:nvPr/>
        </p:nvSpPr>
        <p:spPr>
          <a:xfrm>
            <a:off x="4526280" y="2596504"/>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Checkout (PF-10)</a:t>
            </a:r>
          </a:p>
        </p:txBody>
      </p:sp>
      <p:sp>
        <p:nvSpPr>
          <p:cNvPr id="36" name="TextBox 35"/>
          <p:cNvSpPr txBox="1"/>
          <p:nvPr/>
        </p:nvSpPr>
        <p:spPr>
          <a:xfrm>
            <a:off x="4389120" y="2861680"/>
            <a:ext cx="3383280" cy="182880"/>
          </a:xfrm>
          <a:prstGeom prst="rect">
            <a:avLst/>
          </a:prstGeom>
          <a:noFill/>
        </p:spPr>
        <p:txBody>
          <a:bodyPr wrap="square" lIns="0" tIns="0" rIns="0" bIns="0" anchor="ctr">
            <a:spAutoFit/>
          </a:bodyPr>
          <a:lstStyle/>
          <a:p>
            <a:pPr marL="0" indent="0" algn="l">
              <a:buNone/>
            </a:pPr>
            <a:r>
              <a:rPr sz="650" b="1" i="0">
                <a:solidFill>
                  <a:srgbClr val="AAAAAA"/>
                </a:solidFill>
              </a:rPr>
              <a:t>11 slides</a:t>
            </a:r>
          </a:p>
        </p:txBody>
      </p:sp>
      <p:sp>
        <p:nvSpPr>
          <p:cNvPr id="37" name="Rectangle 36"/>
          <p:cNvSpPr/>
          <p:nvPr/>
        </p:nvSpPr>
        <p:spPr>
          <a:xfrm>
            <a:off x="8138160" y="850000"/>
            <a:ext cx="3749040" cy="22860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Rectangle 37"/>
          <p:cNvSpPr/>
          <p:nvPr/>
        </p:nvSpPr>
        <p:spPr>
          <a:xfrm>
            <a:off x="8138160" y="850000"/>
            <a:ext cx="3749040" cy="4572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TextBox 38"/>
          <p:cNvSpPr txBox="1"/>
          <p:nvPr/>
        </p:nvSpPr>
        <p:spPr>
          <a:xfrm>
            <a:off x="8321040" y="987160"/>
            <a:ext cx="3383280" cy="228600"/>
          </a:xfrm>
          <a:prstGeom prst="rect">
            <a:avLst/>
          </a:prstGeom>
          <a:noFill/>
        </p:spPr>
        <p:txBody>
          <a:bodyPr wrap="square" lIns="0" tIns="0" rIns="0" bIns="0" anchor="ctr">
            <a:spAutoFit/>
          </a:bodyPr>
          <a:lstStyle/>
          <a:p>
            <a:pPr marL="0" indent="0" algn="l">
              <a:buNone/>
            </a:pPr>
            <a:r>
              <a:rPr sz="800" b="1" i="0">
                <a:solidFill>
                  <a:srgbClr val="C8102E"/>
                </a:solidFill>
              </a:rPr>
              <a:t>PART 3</a:t>
            </a:r>
          </a:p>
        </p:txBody>
      </p:sp>
      <p:sp>
        <p:nvSpPr>
          <p:cNvPr id="40" name="TextBox 39"/>
          <p:cNvSpPr txBox="1"/>
          <p:nvPr/>
        </p:nvSpPr>
        <p:spPr>
          <a:xfrm>
            <a:off x="8321040" y="1206616"/>
            <a:ext cx="3383280" cy="320040"/>
          </a:xfrm>
          <a:prstGeom prst="rect">
            <a:avLst/>
          </a:prstGeom>
          <a:noFill/>
        </p:spPr>
        <p:txBody>
          <a:bodyPr wrap="square" lIns="0" tIns="0" rIns="0" bIns="0" anchor="ctr">
            <a:spAutoFit/>
          </a:bodyPr>
          <a:lstStyle/>
          <a:p>
            <a:pPr marL="0" indent="0" algn="l">
              <a:buNone/>
            </a:pPr>
            <a:r>
              <a:rPr sz="1300" b="1" i="0">
                <a:solidFill>
                  <a:srgbClr val="1E2F6E"/>
                </a:solidFill>
              </a:rPr>
              <a:t>Functional Requirements</a:t>
            </a:r>
          </a:p>
        </p:txBody>
      </p:sp>
      <p:sp>
        <p:nvSpPr>
          <p:cNvPr id="41" name="Oval 40"/>
          <p:cNvSpPr/>
          <p:nvPr/>
        </p:nvSpPr>
        <p:spPr>
          <a:xfrm>
            <a:off x="8321040" y="1677532"/>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TextBox 41"/>
          <p:cNvSpPr txBox="1"/>
          <p:nvPr/>
        </p:nvSpPr>
        <p:spPr>
          <a:xfrm>
            <a:off x="8458200" y="1608952"/>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Onboarding (ONB-01 – 07)</a:t>
            </a:r>
          </a:p>
        </p:txBody>
      </p:sp>
      <p:sp>
        <p:nvSpPr>
          <p:cNvPr id="43" name="Oval 42"/>
          <p:cNvSpPr/>
          <p:nvPr/>
        </p:nvSpPr>
        <p:spPr>
          <a:xfrm>
            <a:off x="8321040" y="1924420"/>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4" name="TextBox 43"/>
          <p:cNvSpPr txBox="1"/>
          <p:nvPr/>
        </p:nvSpPr>
        <p:spPr>
          <a:xfrm>
            <a:off x="8458200" y="1855840"/>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Homepage (HP-01 – 10)</a:t>
            </a:r>
          </a:p>
        </p:txBody>
      </p:sp>
      <p:sp>
        <p:nvSpPr>
          <p:cNvPr id="45" name="Oval 44"/>
          <p:cNvSpPr/>
          <p:nvPr/>
        </p:nvSpPr>
        <p:spPr>
          <a:xfrm>
            <a:off x="8321040" y="2171308"/>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TextBox 45"/>
          <p:cNvSpPr txBox="1"/>
          <p:nvPr/>
        </p:nvSpPr>
        <p:spPr>
          <a:xfrm>
            <a:off x="8458200" y="2102728"/>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Signup &amp; Login (SU-01 – 09, LI-01 – 07)</a:t>
            </a:r>
          </a:p>
        </p:txBody>
      </p:sp>
      <p:sp>
        <p:nvSpPr>
          <p:cNvPr id="47" name="Oval 46"/>
          <p:cNvSpPr/>
          <p:nvPr/>
        </p:nvSpPr>
        <p:spPr>
          <a:xfrm>
            <a:off x="8321040" y="2418196"/>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8" name="TextBox 47"/>
          <p:cNvSpPr txBox="1"/>
          <p:nvPr/>
        </p:nvSpPr>
        <p:spPr>
          <a:xfrm>
            <a:off x="8458200" y="2349616"/>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Cart (CT-01 – 11)</a:t>
            </a:r>
          </a:p>
        </p:txBody>
      </p:sp>
      <p:sp>
        <p:nvSpPr>
          <p:cNvPr id="49" name="Oval 48"/>
          <p:cNvSpPr/>
          <p:nvPr/>
        </p:nvSpPr>
        <p:spPr>
          <a:xfrm>
            <a:off x="8321040" y="2665084"/>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TextBox 49"/>
          <p:cNvSpPr txBox="1"/>
          <p:nvPr/>
        </p:nvSpPr>
        <p:spPr>
          <a:xfrm>
            <a:off x="8458200" y="2596504"/>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Checkout (CO-01 – 10)</a:t>
            </a:r>
          </a:p>
        </p:txBody>
      </p:sp>
      <p:sp>
        <p:nvSpPr>
          <p:cNvPr id="51" name="TextBox 50"/>
          <p:cNvSpPr txBox="1"/>
          <p:nvPr/>
        </p:nvSpPr>
        <p:spPr>
          <a:xfrm>
            <a:off x="8321040" y="2861680"/>
            <a:ext cx="3383280" cy="182880"/>
          </a:xfrm>
          <a:prstGeom prst="rect">
            <a:avLst/>
          </a:prstGeom>
          <a:noFill/>
        </p:spPr>
        <p:txBody>
          <a:bodyPr wrap="square" lIns="0" tIns="0" rIns="0" bIns="0" anchor="ctr">
            <a:spAutoFit/>
          </a:bodyPr>
          <a:lstStyle/>
          <a:p>
            <a:pPr marL="0" indent="0" algn="l">
              <a:buNone/>
            </a:pPr>
            <a:r>
              <a:rPr sz="650" b="1" i="0">
                <a:solidFill>
                  <a:srgbClr val="AAAAAA"/>
                </a:solidFill>
              </a:rPr>
              <a:t>7 slides</a:t>
            </a:r>
          </a:p>
        </p:txBody>
      </p:sp>
      <p:sp>
        <p:nvSpPr>
          <p:cNvPr id="52" name="Rectangle 51"/>
          <p:cNvSpPr/>
          <p:nvPr/>
        </p:nvSpPr>
        <p:spPr>
          <a:xfrm>
            <a:off x="274320" y="3410320"/>
            <a:ext cx="3749040" cy="22860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Rectangle 52"/>
          <p:cNvSpPr/>
          <p:nvPr/>
        </p:nvSpPr>
        <p:spPr>
          <a:xfrm>
            <a:off x="274320" y="3410320"/>
            <a:ext cx="3749040" cy="4572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4" name="TextBox 53"/>
          <p:cNvSpPr txBox="1"/>
          <p:nvPr/>
        </p:nvSpPr>
        <p:spPr>
          <a:xfrm>
            <a:off x="457200" y="3547480"/>
            <a:ext cx="3383280" cy="228600"/>
          </a:xfrm>
          <a:prstGeom prst="rect">
            <a:avLst/>
          </a:prstGeom>
          <a:noFill/>
        </p:spPr>
        <p:txBody>
          <a:bodyPr wrap="square" lIns="0" tIns="0" rIns="0" bIns="0" anchor="ctr">
            <a:spAutoFit/>
          </a:bodyPr>
          <a:lstStyle/>
          <a:p>
            <a:pPr marL="0" indent="0" algn="l">
              <a:buNone/>
            </a:pPr>
            <a:r>
              <a:rPr sz="800" b="1" i="0">
                <a:solidFill>
                  <a:srgbClr val="C8102E"/>
                </a:solidFill>
              </a:rPr>
              <a:t>PART 4</a:t>
            </a:r>
          </a:p>
        </p:txBody>
      </p:sp>
      <p:sp>
        <p:nvSpPr>
          <p:cNvPr id="55" name="TextBox 54"/>
          <p:cNvSpPr txBox="1"/>
          <p:nvPr/>
        </p:nvSpPr>
        <p:spPr>
          <a:xfrm>
            <a:off x="457200" y="3766936"/>
            <a:ext cx="3383280" cy="320040"/>
          </a:xfrm>
          <a:prstGeom prst="rect">
            <a:avLst/>
          </a:prstGeom>
          <a:noFill/>
        </p:spPr>
        <p:txBody>
          <a:bodyPr wrap="square" lIns="0" tIns="0" rIns="0" bIns="0" anchor="ctr">
            <a:spAutoFit/>
          </a:bodyPr>
          <a:lstStyle/>
          <a:p>
            <a:pPr marL="0" indent="0" algn="l">
              <a:buNone/>
            </a:pPr>
            <a:r>
              <a:rPr sz="1300" b="1" i="0">
                <a:solidFill>
                  <a:srgbClr val="1E2F6E"/>
                </a:solidFill>
              </a:rPr>
              <a:t>Business Rules</a:t>
            </a:r>
          </a:p>
        </p:txBody>
      </p:sp>
      <p:sp>
        <p:nvSpPr>
          <p:cNvPr id="56" name="Oval 55"/>
          <p:cNvSpPr/>
          <p:nvPr/>
        </p:nvSpPr>
        <p:spPr>
          <a:xfrm>
            <a:off x="457200" y="4237852"/>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7" name="TextBox 56"/>
          <p:cNvSpPr txBox="1"/>
          <p:nvPr/>
        </p:nvSpPr>
        <p:spPr>
          <a:xfrm>
            <a:off x="594360" y="4169272"/>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Business requirements BR-01 – BR-12</a:t>
            </a:r>
          </a:p>
        </p:txBody>
      </p:sp>
      <p:sp>
        <p:nvSpPr>
          <p:cNvPr id="58" name="Oval 57"/>
          <p:cNvSpPr/>
          <p:nvPr/>
        </p:nvSpPr>
        <p:spPr>
          <a:xfrm>
            <a:off x="457200" y="4484740"/>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9" name="TextBox 58"/>
          <p:cNvSpPr txBox="1"/>
          <p:nvPr/>
        </p:nvSpPr>
        <p:spPr>
          <a:xfrm>
            <a:off x="594360" y="4416160"/>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Access, authentication &amp; session rules</a:t>
            </a:r>
          </a:p>
        </p:txBody>
      </p:sp>
      <p:sp>
        <p:nvSpPr>
          <p:cNvPr id="60" name="Oval 59"/>
          <p:cNvSpPr/>
          <p:nvPr/>
        </p:nvSpPr>
        <p:spPr>
          <a:xfrm>
            <a:off x="457200" y="4731628"/>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1" name="TextBox 60"/>
          <p:cNvSpPr txBox="1"/>
          <p:nvPr/>
        </p:nvSpPr>
        <p:spPr>
          <a:xfrm>
            <a:off x="594360" y="4663048"/>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Store, address &amp; service-zone rules</a:t>
            </a:r>
          </a:p>
        </p:txBody>
      </p:sp>
      <p:sp>
        <p:nvSpPr>
          <p:cNvPr id="62" name="Oval 61"/>
          <p:cNvSpPr/>
          <p:nvPr/>
        </p:nvSpPr>
        <p:spPr>
          <a:xfrm>
            <a:off x="457200" y="4978516"/>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3" name="TextBox 62"/>
          <p:cNvSpPr txBox="1"/>
          <p:nvPr/>
        </p:nvSpPr>
        <p:spPr>
          <a:xfrm>
            <a:off x="594360" y="4909936"/>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Delivery, slot, bulky &amp; fee rules</a:t>
            </a:r>
          </a:p>
        </p:txBody>
      </p:sp>
      <p:sp>
        <p:nvSpPr>
          <p:cNvPr id="64" name="Oval 63"/>
          <p:cNvSpPr/>
          <p:nvPr/>
        </p:nvSpPr>
        <p:spPr>
          <a:xfrm>
            <a:off x="457200" y="5225404"/>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5" name="TextBox 64"/>
          <p:cNvSpPr txBox="1"/>
          <p:nvPr/>
        </p:nvSpPr>
        <p:spPr>
          <a:xfrm>
            <a:off x="594360" y="5156824"/>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Cart, promotion &amp; checkout rules</a:t>
            </a:r>
          </a:p>
        </p:txBody>
      </p:sp>
      <p:sp>
        <p:nvSpPr>
          <p:cNvPr id="66" name="TextBox 65"/>
          <p:cNvSpPr txBox="1"/>
          <p:nvPr/>
        </p:nvSpPr>
        <p:spPr>
          <a:xfrm>
            <a:off x="457200" y="5422000"/>
            <a:ext cx="3383280" cy="182880"/>
          </a:xfrm>
          <a:prstGeom prst="rect">
            <a:avLst/>
          </a:prstGeom>
          <a:noFill/>
        </p:spPr>
        <p:txBody>
          <a:bodyPr wrap="square" lIns="0" tIns="0" rIns="0" bIns="0" anchor="ctr">
            <a:spAutoFit/>
          </a:bodyPr>
          <a:lstStyle/>
          <a:p>
            <a:pPr marL="0" indent="0" algn="l">
              <a:buNone/>
            </a:pPr>
            <a:r>
              <a:rPr sz="650" b="1" i="0">
                <a:solidFill>
                  <a:srgbClr val="AAAAAA"/>
                </a:solidFill>
              </a:rPr>
              <a:t>8 slides</a:t>
            </a:r>
          </a:p>
        </p:txBody>
      </p:sp>
      <p:sp>
        <p:nvSpPr>
          <p:cNvPr id="67" name="Rectangle 66"/>
          <p:cNvSpPr/>
          <p:nvPr/>
        </p:nvSpPr>
        <p:spPr>
          <a:xfrm>
            <a:off x="4206240" y="3410320"/>
            <a:ext cx="3749040" cy="22860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8" name="Rectangle 67"/>
          <p:cNvSpPr/>
          <p:nvPr/>
        </p:nvSpPr>
        <p:spPr>
          <a:xfrm>
            <a:off x="4206240" y="3410320"/>
            <a:ext cx="3749040" cy="4572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9" name="TextBox 68"/>
          <p:cNvSpPr txBox="1"/>
          <p:nvPr/>
        </p:nvSpPr>
        <p:spPr>
          <a:xfrm>
            <a:off x="4389120" y="3547480"/>
            <a:ext cx="3383280" cy="228600"/>
          </a:xfrm>
          <a:prstGeom prst="rect">
            <a:avLst/>
          </a:prstGeom>
          <a:noFill/>
        </p:spPr>
        <p:txBody>
          <a:bodyPr wrap="square" lIns="0" tIns="0" rIns="0" bIns="0" anchor="ctr">
            <a:spAutoFit/>
          </a:bodyPr>
          <a:lstStyle/>
          <a:p>
            <a:pPr marL="0" indent="0" algn="l">
              <a:buNone/>
            </a:pPr>
            <a:r>
              <a:rPr sz="800" b="1" i="0">
                <a:solidFill>
                  <a:srgbClr val="C8102E"/>
                </a:solidFill>
              </a:rPr>
              <a:t>PART 5</a:t>
            </a:r>
          </a:p>
        </p:txBody>
      </p:sp>
      <p:sp>
        <p:nvSpPr>
          <p:cNvPr id="70" name="TextBox 69"/>
          <p:cNvSpPr txBox="1"/>
          <p:nvPr/>
        </p:nvSpPr>
        <p:spPr>
          <a:xfrm>
            <a:off x="4389120" y="3766936"/>
            <a:ext cx="3383280" cy="320040"/>
          </a:xfrm>
          <a:prstGeom prst="rect">
            <a:avLst/>
          </a:prstGeom>
          <a:noFill/>
        </p:spPr>
        <p:txBody>
          <a:bodyPr wrap="square" lIns="0" tIns="0" rIns="0" bIns="0" anchor="ctr">
            <a:spAutoFit/>
          </a:bodyPr>
          <a:lstStyle/>
          <a:p>
            <a:pPr marL="0" indent="0" algn="l">
              <a:buNone/>
            </a:pPr>
            <a:r>
              <a:rPr sz="1300" b="1" i="0">
                <a:solidFill>
                  <a:srgbClr val="1E2F6E"/>
                </a:solidFill>
              </a:rPr>
              <a:t>Screen Specifications</a:t>
            </a:r>
          </a:p>
        </p:txBody>
      </p:sp>
      <p:sp>
        <p:nvSpPr>
          <p:cNvPr id="71" name="Oval 70"/>
          <p:cNvSpPr/>
          <p:nvPr/>
        </p:nvSpPr>
        <p:spPr>
          <a:xfrm>
            <a:off x="4389120" y="4237852"/>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2" name="TextBox 71"/>
          <p:cNvSpPr txBox="1"/>
          <p:nvPr/>
        </p:nvSpPr>
        <p:spPr>
          <a:xfrm>
            <a:off x="4526280" y="4169272"/>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Screen inventory (26 screens)</a:t>
            </a:r>
          </a:p>
        </p:txBody>
      </p:sp>
      <p:sp>
        <p:nvSpPr>
          <p:cNvPr id="73" name="Oval 72"/>
          <p:cNvSpPr/>
          <p:nvPr/>
        </p:nvSpPr>
        <p:spPr>
          <a:xfrm>
            <a:off x="4389120" y="4484740"/>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TextBox 73"/>
          <p:cNvSpPr txBox="1"/>
          <p:nvPr/>
        </p:nvSpPr>
        <p:spPr>
          <a:xfrm>
            <a:off x="4526280" y="4416160"/>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Onboarding &amp; Homepage screens</a:t>
            </a:r>
          </a:p>
        </p:txBody>
      </p:sp>
      <p:sp>
        <p:nvSpPr>
          <p:cNvPr id="75" name="Oval 74"/>
          <p:cNvSpPr/>
          <p:nvPr/>
        </p:nvSpPr>
        <p:spPr>
          <a:xfrm>
            <a:off x="4389120" y="4731628"/>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6" name="TextBox 75"/>
          <p:cNvSpPr txBox="1"/>
          <p:nvPr/>
        </p:nvSpPr>
        <p:spPr>
          <a:xfrm>
            <a:off x="4526280" y="4663048"/>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Signup &amp; Login screens</a:t>
            </a:r>
          </a:p>
        </p:txBody>
      </p:sp>
      <p:sp>
        <p:nvSpPr>
          <p:cNvPr id="77" name="Oval 76"/>
          <p:cNvSpPr/>
          <p:nvPr/>
        </p:nvSpPr>
        <p:spPr>
          <a:xfrm>
            <a:off x="4389120" y="4978516"/>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8" name="TextBox 77"/>
          <p:cNvSpPr txBox="1"/>
          <p:nvPr/>
        </p:nvSpPr>
        <p:spPr>
          <a:xfrm>
            <a:off x="4526280" y="4909936"/>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Cart screens</a:t>
            </a:r>
          </a:p>
        </p:txBody>
      </p:sp>
      <p:sp>
        <p:nvSpPr>
          <p:cNvPr id="79" name="Oval 78"/>
          <p:cNvSpPr/>
          <p:nvPr/>
        </p:nvSpPr>
        <p:spPr>
          <a:xfrm>
            <a:off x="4389120" y="5225404"/>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0" name="TextBox 79"/>
          <p:cNvSpPr txBox="1"/>
          <p:nvPr/>
        </p:nvSpPr>
        <p:spPr>
          <a:xfrm>
            <a:off x="4526280" y="5156824"/>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Checkout screens</a:t>
            </a:r>
          </a:p>
        </p:txBody>
      </p:sp>
      <p:sp>
        <p:nvSpPr>
          <p:cNvPr id="81" name="TextBox 80"/>
          <p:cNvSpPr txBox="1"/>
          <p:nvPr/>
        </p:nvSpPr>
        <p:spPr>
          <a:xfrm>
            <a:off x="4389120" y="5422000"/>
            <a:ext cx="3383280" cy="182880"/>
          </a:xfrm>
          <a:prstGeom prst="rect">
            <a:avLst/>
          </a:prstGeom>
          <a:noFill/>
        </p:spPr>
        <p:txBody>
          <a:bodyPr wrap="square" lIns="0" tIns="0" rIns="0" bIns="0" anchor="ctr">
            <a:spAutoFit/>
          </a:bodyPr>
          <a:lstStyle/>
          <a:p>
            <a:pPr marL="0" indent="0" algn="l">
              <a:buNone/>
            </a:pPr>
            <a:r>
              <a:rPr sz="650" b="1" i="0">
                <a:solidFill>
                  <a:srgbClr val="AAAAAA"/>
                </a:solidFill>
              </a:rPr>
              <a:t>28 slides</a:t>
            </a:r>
          </a:p>
        </p:txBody>
      </p:sp>
      <p:sp>
        <p:nvSpPr>
          <p:cNvPr id="82" name="Rectangle 81"/>
          <p:cNvSpPr/>
          <p:nvPr/>
        </p:nvSpPr>
        <p:spPr>
          <a:xfrm>
            <a:off x="8138160" y="3410320"/>
            <a:ext cx="3749040" cy="22860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Rectangle 82"/>
          <p:cNvSpPr/>
          <p:nvPr/>
        </p:nvSpPr>
        <p:spPr>
          <a:xfrm>
            <a:off x="8138160" y="3410320"/>
            <a:ext cx="3749040" cy="4572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4" name="TextBox 83"/>
          <p:cNvSpPr txBox="1"/>
          <p:nvPr/>
        </p:nvSpPr>
        <p:spPr>
          <a:xfrm>
            <a:off x="8321040" y="3547480"/>
            <a:ext cx="3383280" cy="228600"/>
          </a:xfrm>
          <a:prstGeom prst="rect">
            <a:avLst/>
          </a:prstGeom>
          <a:noFill/>
        </p:spPr>
        <p:txBody>
          <a:bodyPr wrap="square" lIns="0" tIns="0" rIns="0" bIns="0" anchor="ctr">
            <a:spAutoFit/>
          </a:bodyPr>
          <a:lstStyle/>
          <a:p>
            <a:pPr marL="0" indent="0" algn="l">
              <a:buNone/>
            </a:pPr>
            <a:r>
              <a:rPr sz="800" b="1" i="0">
                <a:solidFill>
                  <a:srgbClr val="C8102E"/>
                </a:solidFill>
              </a:rPr>
              <a:t>PART 6</a:t>
            </a:r>
          </a:p>
        </p:txBody>
      </p:sp>
      <p:sp>
        <p:nvSpPr>
          <p:cNvPr id="85" name="TextBox 84"/>
          <p:cNvSpPr txBox="1"/>
          <p:nvPr/>
        </p:nvSpPr>
        <p:spPr>
          <a:xfrm>
            <a:off x="8321040" y="3766936"/>
            <a:ext cx="3383280" cy="320040"/>
          </a:xfrm>
          <a:prstGeom prst="rect">
            <a:avLst/>
          </a:prstGeom>
          <a:noFill/>
        </p:spPr>
        <p:txBody>
          <a:bodyPr wrap="square" lIns="0" tIns="0" rIns="0" bIns="0" anchor="ctr">
            <a:spAutoFit/>
          </a:bodyPr>
          <a:lstStyle/>
          <a:p>
            <a:pPr marL="0" indent="0" algn="l">
              <a:buNone/>
            </a:pPr>
            <a:r>
              <a:rPr sz="1300" b="1" i="0">
                <a:solidFill>
                  <a:srgbClr val="1E2F6E"/>
                </a:solidFill>
              </a:rPr>
              <a:t>Quality, Risk &amp; Traceability</a:t>
            </a:r>
          </a:p>
        </p:txBody>
      </p:sp>
      <p:sp>
        <p:nvSpPr>
          <p:cNvPr id="86" name="Oval 85"/>
          <p:cNvSpPr/>
          <p:nvPr/>
        </p:nvSpPr>
        <p:spPr>
          <a:xfrm>
            <a:off x="8321040" y="4237852"/>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7" name="TextBox 86"/>
          <p:cNvSpPr txBox="1"/>
          <p:nvPr/>
        </p:nvSpPr>
        <p:spPr>
          <a:xfrm>
            <a:off x="8458200" y="4169272"/>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Non-functional requirements</a:t>
            </a:r>
          </a:p>
        </p:txBody>
      </p:sp>
      <p:sp>
        <p:nvSpPr>
          <p:cNvPr id="88" name="Oval 87"/>
          <p:cNvSpPr/>
          <p:nvPr/>
        </p:nvSpPr>
        <p:spPr>
          <a:xfrm>
            <a:off x="8321040" y="4484740"/>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9" name="TextBox 88"/>
          <p:cNvSpPr txBox="1"/>
          <p:nvPr/>
        </p:nvSpPr>
        <p:spPr>
          <a:xfrm>
            <a:off x="8458200" y="4416160"/>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Assumptions &amp; open questions (OQ-01 – 26)</a:t>
            </a:r>
          </a:p>
        </p:txBody>
      </p:sp>
      <p:sp>
        <p:nvSpPr>
          <p:cNvPr id="90" name="Oval 89"/>
          <p:cNvSpPr/>
          <p:nvPr/>
        </p:nvSpPr>
        <p:spPr>
          <a:xfrm>
            <a:off x="8321040" y="4731628"/>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1" name="TextBox 90"/>
          <p:cNvSpPr txBox="1"/>
          <p:nvPr/>
        </p:nvSpPr>
        <p:spPr>
          <a:xfrm>
            <a:off x="8458200" y="4663048"/>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As-Is gaps → To-Be improvements</a:t>
            </a:r>
          </a:p>
        </p:txBody>
      </p:sp>
      <p:sp>
        <p:nvSpPr>
          <p:cNvPr id="92" name="Oval 91"/>
          <p:cNvSpPr/>
          <p:nvPr/>
        </p:nvSpPr>
        <p:spPr>
          <a:xfrm>
            <a:off x="8321040" y="4978516"/>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3" name="TextBox 92"/>
          <p:cNvSpPr txBox="1"/>
          <p:nvPr/>
        </p:nvSpPr>
        <p:spPr>
          <a:xfrm>
            <a:off x="8458200" y="4909936"/>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Traceability matrix</a:t>
            </a:r>
          </a:p>
        </p:txBody>
      </p:sp>
      <p:sp>
        <p:nvSpPr>
          <p:cNvPr id="94" name="TextBox 93"/>
          <p:cNvSpPr txBox="1"/>
          <p:nvPr/>
        </p:nvSpPr>
        <p:spPr>
          <a:xfrm>
            <a:off x="8321040" y="5422000"/>
            <a:ext cx="3383280" cy="182880"/>
          </a:xfrm>
          <a:prstGeom prst="rect">
            <a:avLst/>
          </a:prstGeom>
          <a:noFill/>
        </p:spPr>
        <p:txBody>
          <a:bodyPr wrap="square" lIns="0" tIns="0" rIns="0" bIns="0" anchor="ctr">
            <a:spAutoFit/>
          </a:bodyPr>
          <a:lstStyle/>
          <a:p>
            <a:pPr marL="0" indent="0" algn="l">
              <a:buNone/>
            </a:pPr>
            <a:r>
              <a:rPr sz="650" b="1" i="0">
                <a:solidFill>
                  <a:srgbClr val="AAAAAA"/>
                </a:solidFill>
              </a:rPr>
              <a:t>6 slides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1  ·  Purpose, Scope &amp; Out of Scope</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4</a:t>
            </a:r>
          </a:p>
        </p:txBody>
      </p:sp>
      <p:sp>
        <p:nvSpPr>
          <p:cNvPr id="9" name="Rectangle 8"/>
          <p:cNvSpPr/>
          <p:nvPr/>
        </p:nvSpPr>
        <p:spPr>
          <a:xfrm>
            <a:off x="274320" y="68580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402336" y="685800"/>
            <a:ext cx="6000000" cy="256032"/>
          </a:xfrm>
          <a:prstGeom prst="rect">
            <a:avLst/>
          </a:prstGeom>
          <a:noFill/>
        </p:spPr>
        <p:txBody>
          <a:bodyPr wrap="square" lIns="0" tIns="0" rIns="0" bIns="0" anchor="ctr">
            <a:spAutoFit/>
          </a:bodyPr>
          <a:lstStyle/>
          <a:p>
            <a:pPr marL="0" indent="0" algn="l">
              <a:buNone/>
            </a:pPr>
            <a:r>
              <a:rPr sz="1000" b="1" i="0">
                <a:solidFill>
                  <a:srgbClr val="1E2F6E"/>
                </a:solidFill>
              </a:rPr>
              <a:t>Purpose</a:t>
            </a:r>
          </a:p>
        </p:txBody>
      </p:sp>
      <p:sp>
        <p:nvSpPr>
          <p:cNvPr id="11" name="TextBox 10"/>
          <p:cNvSpPr txBox="1"/>
          <p:nvPr/>
        </p:nvSpPr>
        <p:spPr>
          <a:xfrm>
            <a:off x="402336" y="960120"/>
            <a:ext cx="5486400" cy="800000"/>
          </a:xfrm>
          <a:prstGeom prst="rect">
            <a:avLst/>
          </a:prstGeom>
          <a:noFill/>
        </p:spPr>
        <p:txBody>
          <a:bodyPr wrap="square" lIns="0" tIns="0" rIns="0" bIns="0" anchor="t">
            <a:spAutoFit/>
          </a:bodyPr>
          <a:lstStyle/>
          <a:p>
            <a:pPr marL="0" indent="0" algn="l">
              <a:buNone/>
            </a:pPr>
            <a:r>
              <a:rPr sz="850" b="0" i="0">
                <a:solidFill>
                  <a:srgbClr val="555555"/>
                </a:solidFill>
              </a:rPr>
              <a:t>Specify the complete customer user flow of the Simplify User Flow feature — from first app launch (Onboarding) to a successfully placed order (Checkout) — as a single reference for Product, Design and Development, replacing the As-Is flow that bundles several decisions into one step and confuses the customer.</a:t>
            </a:r>
          </a:p>
        </p:txBody>
      </p:sp>
      <p:sp>
        <p:nvSpPr>
          <p:cNvPr id="12" name="Rectangle 11"/>
          <p:cNvSpPr/>
          <p:nvPr/>
        </p:nvSpPr>
        <p:spPr>
          <a:xfrm>
            <a:off x="274320" y="192024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 name="TextBox 12"/>
          <p:cNvSpPr txBox="1"/>
          <p:nvPr/>
        </p:nvSpPr>
        <p:spPr>
          <a:xfrm>
            <a:off x="402336" y="1920240"/>
            <a:ext cx="6000000" cy="256032"/>
          </a:xfrm>
          <a:prstGeom prst="rect">
            <a:avLst/>
          </a:prstGeom>
          <a:noFill/>
        </p:spPr>
        <p:txBody>
          <a:bodyPr wrap="square" lIns="0" tIns="0" rIns="0" bIns="0" anchor="ctr">
            <a:spAutoFit/>
          </a:bodyPr>
          <a:lstStyle/>
          <a:p>
            <a:pPr marL="0" indent="0" algn="l">
              <a:buNone/>
            </a:pPr>
            <a:r>
              <a:rPr sz="1000" b="1" i="0">
                <a:solidFill>
                  <a:srgbClr val="1E2F6E"/>
                </a:solidFill>
              </a:rPr>
              <a:t>Design principle carried through every flow</a:t>
            </a:r>
          </a:p>
        </p:txBody>
      </p:sp>
      <p:sp>
        <p:nvSpPr>
          <p:cNvPr id="14" name="Rectangle 13"/>
          <p:cNvSpPr/>
          <p:nvPr/>
        </p:nvSpPr>
        <p:spPr>
          <a:xfrm>
            <a:off x="402336" y="2194560"/>
            <a:ext cx="5486400" cy="640080"/>
          </a:xfrm>
          <a:prstGeom prst="rect">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TextBox 14"/>
          <p:cNvSpPr txBox="1"/>
          <p:nvPr/>
        </p:nvSpPr>
        <p:spPr>
          <a:xfrm>
            <a:off x="548640" y="2194560"/>
            <a:ext cx="5212080" cy="640080"/>
          </a:xfrm>
          <a:prstGeom prst="rect">
            <a:avLst/>
          </a:prstGeom>
          <a:noFill/>
        </p:spPr>
        <p:txBody>
          <a:bodyPr wrap="square" lIns="0" tIns="0" rIns="0" bIns="0" anchor="ctr">
            <a:spAutoFit/>
          </a:bodyPr>
          <a:lstStyle/>
          <a:p>
            <a:pPr marL="0" indent="0" algn="l">
              <a:buNone/>
            </a:pPr>
            <a:r>
              <a:rPr sz="800" b="1" i="0">
                <a:solidFill>
                  <a:srgbClr val="8A1520"/>
                </a:solidFill>
              </a:rPr>
              <a:t>Ask for information only at the moment it is needed. Store selection is mandatory from Onboarding (price, stock and promotion all depend on it). Login is enforced only when purchase intent is expressed — at Add to Cart or on entering the Cart.</a:t>
            </a:r>
          </a:p>
        </p:txBody>
      </p:sp>
      <p:sp>
        <p:nvSpPr>
          <p:cNvPr id="16" name="Rectangle 15"/>
          <p:cNvSpPr/>
          <p:nvPr/>
        </p:nvSpPr>
        <p:spPr>
          <a:xfrm>
            <a:off x="274320" y="301752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TextBox 16"/>
          <p:cNvSpPr txBox="1"/>
          <p:nvPr/>
        </p:nvSpPr>
        <p:spPr>
          <a:xfrm>
            <a:off x="402336" y="3017520"/>
            <a:ext cx="6000000" cy="256032"/>
          </a:xfrm>
          <a:prstGeom prst="rect">
            <a:avLst/>
          </a:prstGeom>
          <a:noFill/>
        </p:spPr>
        <p:txBody>
          <a:bodyPr wrap="square" lIns="0" tIns="0" rIns="0" bIns="0" anchor="ctr">
            <a:spAutoFit/>
          </a:bodyPr>
          <a:lstStyle/>
          <a:p>
            <a:pPr marL="0" indent="0" algn="l">
              <a:buNone/>
            </a:pPr>
            <a:r>
              <a:rPr sz="1000" b="1" i="0">
                <a:solidFill>
                  <a:srgbClr val="1E2F6E"/>
                </a:solidFill>
              </a:rPr>
              <a:t>In scope  —  6 sequential flows</a:t>
            </a:r>
          </a:p>
        </p:txBody>
      </p:sp>
      <p:graphicFrame>
        <p:nvGraphicFramePr>
          <p:cNvPr id="18" name="Table 17"/>
          <p:cNvGraphicFramePr>
            <a:graphicFrameLocks noGrp="1"/>
          </p:cNvGraphicFramePr>
          <p:nvPr/>
        </p:nvGraphicFramePr>
        <p:xfrm>
          <a:off x="402336" y="3291840"/>
          <a:ext cx="5943600" cy="1910784"/>
        </p:xfrm>
        <a:graphic>
          <a:graphicData uri="http://schemas.openxmlformats.org/drawingml/2006/table">
            <a:tbl>
              <a:tblPr/>
              <a:tblGrid>
                <a:gridCol w="2743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210000">
                <a:tc>
                  <a:txBody>
                    <a:bodyPr/>
                    <a:lstStyle/>
                    <a:p>
                      <a:pPr marL="0" indent="0" algn="ctr">
                        <a:buNone/>
                      </a:pPr>
                      <a:r>
                        <a:rPr sz="700" b="1" i="0">
                          <a:solidFill>
                            <a:srgbClr val="FFFFFF"/>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Flow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Coverage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83464">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Onboarding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Language, permissions, mandatory store selection, intro screens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83464">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Homepage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Header (store / address / ETA), address creation, service-zone resolution, store &amp; address change, logout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83464">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Login gate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Add to Cart and Cart entry as the two enforced login points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83464">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Signup / Login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Phone + OTP (Zalo / SMS), 6-digit PIN, biometrics, profile, resume of the original action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283464">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Delivery / Pickup selection, service &amp; slot rules, product management, promotions, coupons, out-of-stock handling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283464">
                <a:tc>
                  <a:txBody>
                    <a:bodyPr/>
                    <a:lstStyle/>
                    <a:p>
                      <a:pPr marL="0" indent="0" algn="ctr">
                        <a:buNone/>
                      </a:pPr>
                      <a:r>
                        <a:rPr sz="7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Locked order review, gift card, points, payment method, VAT invoice, place order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bl>
          </a:graphicData>
        </a:graphic>
      </p:graphicFrame>
      <p:sp>
        <p:nvSpPr>
          <p:cNvPr id="19" name="Rectangle 18"/>
          <p:cNvSpPr/>
          <p:nvPr/>
        </p:nvSpPr>
        <p:spPr>
          <a:xfrm>
            <a:off x="6400800" y="68580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6528816" y="685800"/>
            <a:ext cx="5400000" cy="256032"/>
          </a:xfrm>
          <a:prstGeom prst="rect">
            <a:avLst/>
          </a:prstGeom>
          <a:noFill/>
        </p:spPr>
        <p:txBody>
          <a:bodyPr wrap="square" lIns="0" tIns="0" rIns="0" bIns="0" anchor="ctr">
            <a:spAutoFit/>
          </a:bodyPr>
          <a:lstStyle/>
          <a:p>
            <a:pPr marL="0" indent="0" algn="l">
              <a:buNone/>
            </a:pPr>
            <a:r>
              <a:rPr sz="1000" b="1" i="0">
                <a:solidFill>
                  <a:srgbClr val="1E2F6E"/>
                </a:solidFill>
              </a:rPr>
              <a:t>Out of scope</a:t>
            </a:r>
          </a:p>
        </p:txBody>
      </p:sp>
      <p:graphicFrame>
        <p:nvGraphicFramePr>
          <p:cNvPr id="21" name="Table 20"/>
          <p:cNvGraphicFramePr>
            <a:graphicFrameLocks noGrp="1"/>
          </p:cNvGraphicFramePr>
          <p:nvPr/>
        </p:nvGraphicFramePr>
        <p:xfrm>
          <a:off x="6400800" y="960120"/>
          <a:ext cx="5486400" cy="2194248"/>
        </p:xfrm>
        <a:graphic>
          <a:graphicData uri="http://schemas.openxmlformats.org/drawingml/2006/table">
            <a:tbl>
              <a:tblPr/>
              <a:tblGrid>
                <a:gridCol w="25603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210000">
                <a:tc>
                  <a:txBody>
                    <a:bodyPr/>
                    <a:lstStyle/>
                    <a:p>
                      <a:pPr marL="0" indent="0" algn="ctr">
                        <a:buNone/>
                      </a:pPr>
                      <a:r>
                        <a:rPr sz="700" b="1" i="0">
                          <a:solidFill>
                            <a:srgbClr val="FFFFFF"/>
                          </a:solidFill>
                        </a:rPr>
                        <a:t>Area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Reason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83464">
                <a:tc>
                  <a:txBody>
                    <a:bodyPr/>
                    <a:lstStyle/>
                    <a:p>
                      <a:pPr marL="0" indent="0" algn="l">
                        <a:buNone/>
                      </a:pPr>
                      <a:r>
                        <a:rPr sz="700" b="0" i="0">
                          <a:solidFill>
                            <a:srgbClr val="222222"/>
                          </a:solidFill>
                        </a:rPr>
                        <a:t>Post-order fulfilment (picking, packing, dispatch)</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Owned by OMS / DMS workstream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83464">
                <a:tc>
                  <a:txBody>
                    <a:bodyPr/>
                    <a:lstStyle/>
                    <a:p>
                      <a:pPr marL="0" indent="0" algn="l">
                        <a:buNone/>
                      </a:pPr>
                      <a:r>
                        <a:rPr sz="700" b="0" i="0">
                          <a:solidFill>
                            <a:srgbClr val="222222"/>
                          </a:solidFill>
                        </a:rPr>
                        <a:t>Order tracking &amp; delivery status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Separate module (AN-Order Management)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83464">
                <a:tc>
                  <a:txBody>
                    <a:bodyPr/>
                    <a:lstStyle/>
                    <a:p>
                      <a:pPr marL="0" indent="0" algn="l">
                        <a:buNone/>
                      </a:pPr>
                      <a:r>
                        <a:rPr sz="700" b="0" i="0">
                          <a:solidFill>
                            <a:srgbClr val="222222"/>
                          </a:solidFill>
                        </a:rPr>
                        <a:t>Customer service, returns, refunds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Separate module — no dependency on this flow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83464">
                <a:tc>
                  <a:txBody>
                    <a:bodyPr/>
                    <a:lstStyle/>
                    <a:p>
                      <a:pPr marL="0" indent="0" algn="l">
                        <a:buNone/>
                      </a:pPr>
                      <a:r>
                        <a:rPr sz="700" b="0" i="0">
                          <a:solidFill>
                            <a:srgbClr val="222222"/>
                          </a:solidFill>
                        </a:rPr>
                        <a:t>Product listing / PDP / search &amp; category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Covered by the Homepage and Product Card deliverables (DE02 / DE03)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283464">
                <a:tc>
                  <a:txBody>
                    <a:bodyPr/>
                    <a:lstStyle/>
                    <a:p>
                      <a:pPr marL="0" indent="0" algn="l">
                        <a:buNone/>
                      </a:pPr>
                      <a:r>
                        <a:rPr sz="700" b="0" i="0">
                          <a:solidFill>
                            <a:srgbClr val="222222"/>
                          </a:solidFill>
                        </a:rPr>
                        <a:t>Recommendation engine behaviour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Covered by DE05 Recommendation Strategy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283464">
                <a:tc>
                  <a:txBody>
                    <a:bodyPr/>
                    <a:lstStyle/>
                    <a:p>
                      <a:pPr marL="0" indent="0" algn="l">
                        <a:buNone/>
                      </a:pPr>
                      <a:r>
                        <a:rPr sz="700" b="0" i="0">
                          <a:solidFill>
                            <a:srgbClr val="222222"/>
                          </a:solidFill>
                        </a:rPr>
                        <a:t>Loyalty tier &amp; point accrual calculation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Consumed here, defined in the membership workstream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283464">
                <a:tc>
                  <a:txBody>
                    <a:bodyPr/>
                    <a:lstStyle/>
                    <a:p>
                      <a:pPr marL="0" indent="0" algn="l">
                        <a:buNone/>
                      </a:pPr>
                      <a:r>
                        <a:rPr sz="700" b="0" i="0">
                          <a:solidFill>
                            <a:srgbClr val="222222"/>
                          </a:solidFill>
                        </a:rPr>
                        <a:t>Back-office configuration screens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Store radius, slot capacity and thresholds are consumed as configuration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22" name="Rectangle 21"/>
          <p:cNvSpPr/>
          <p:nvPr/>
        </p:nvSpPr>
        <p:spPr>
          <a:xfrm>
            <a:off x="6400800" y="329184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TextBox 22"/>
          <p:cNvSpPr txBox="1"/>
          <p:nvPr/>
        </p:nvSpPr>
        <p:spPr>
          <a:xfrm>
            <a:off x="6528816" y="3291840"/>
            <a:ext cx="5400000" cy="256032"/>
          </a:xfrm>
          <a:prstGeom prst="rect">
            <a:avLst/>
          </a:prstGeom>
          <a:noFill/>
        </p:spPr>
        <p:txBody>
          <a:bodyPr wrap="square" lIns="0" tIns="0" rIns="0" bIns="0" anchor="ctr">
            <a:spAutoFit/>
          </a:bodyPr>
          <a:lstStyle/>
          <a:p>
            <a:pPr marL="0" indent="0" algn="l">
              <a:buNone/>
            </a:pPr>
            <a:r>
              <a:rPr sz="1000" b="1" i="0">
                <a:solidFill>
                  <a:srgbClr val="1E2F6E"/>
                </a:solidFill>
              </a:rPr>
              <a:t>Business objectives &amp; success metrics</a:t>
            </a:r>
          </a:p>
        </p:txBody>
      </p:sp>
      <p:graphicFrame>
        <p:nvGraphicFramePr>
          <p:cNvPr id="24" name="Table 23"/>
          <p:cNvGraphicFramePr>
            <a:graphicFrameLocks noGrp="1"/>
          </p:cNvGraphicFramePr>
          <p:nvPr/>
        </p:nvGraphicFramePr>
        <p:xfrm>
          <a:off x="6400800" y="3566160"/>
          <a:ext cx="5486400" cy="1343856"/>
        </p:xfrm>
        <a:graphic>
          <a:graphicData uri="http://schemas.openxmlformats.org/drawingml/2006/table">
            <a:tbl>
              <a:tblPr/>
              <a:tblGrid>
                <a:gridCol w="155448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210000">
                <a:tc>
                  <a:txBody>
                    <a:bodyPr/>
                    <a:lstStyle/>
                    <a:p>
                      <a:pPr marL="0" indent="0" algn="ctr">
                        <a:buNone/>
                      </a:pPr>
                      <a:r>
                        <a:rPr sz="700" b="1" i="0">
                          <a:solidFill>
                            <a:srgbClr val="FFFFFF"/>
                          </a:solidFill>
                        </a:rPr>
                        <a:t>Objective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Target metric</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83464">
                <a:tc>
                  <a:txBody>
                    <a:bodyPr/>
                    <a:lstStyle/>
                    <a:p>
                      <a:pPr marL="0" indent="0" algn="l">
                        <a:buNone/>
                      </a:pPr>
                      <a:r>
                        <a:rPr sz="700" b="0" i="0">
                          <a:solidFill>
                            <a:srgbClr val="222222"/>
                          </a:solidFill>
                        </a:rPr>
                        <a:t>Reduce checkout friction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Fewer forced decisions per step; login only at purchase intent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TBC</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83464">
                <a:tc>
                  <a:txBody>
                    <a:bodyPr/>
                    <a:lstStyle/>
                    <a:p>
                      <a:pPr marL="0" indent="0" algn="l">
                        <a:buNone/>
                      </a:pPr>
                      <a:r>
                        <a:rPr sz="700" b="0" i="0">
                          <a:solidFill>
                            <a:srgbClr val="222222"/>
                          </a:solidFill>
                        </a:rPr>
                        <a:t>Set correct delivery expectation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Service, store, slot and fee resolved from the address before the 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TBC</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83464">
                <a:tc>
                  <a:txBody>
                    <a:bodyPr/>
                    <a:lstStyle/>
                    <a:p>
                      <a:pPr marL="0" indent="0" algn="l">
                        <a:buNone/>
                      </a:pPr>
                      <a:r>
                        <a:rPr sz="700" b="0" i="0">
                          <a:solidFill>
                            <a:srgbClr val="222222"/>
                          </a:solidFill>
                        </a:rPr>
                        <a:t>Increase basket value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Freeship progress, PwP and refill surfaced inside the 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TBC</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83464">
                <a:tc>
                  <a:txBody>
                    <a:bodyPr/>
                    <a:lstStyle/>
                    <a:p>
                      <a:pPr marL="0" indent="0" algn="l">
                        <a:buNone/>
                      </a:pPr>
                      <a:r>
                        <a:rPr sz="700" b="0" i="0">
                          <a:solidFill>
                            <a:srgbClr val="222222"/>
                          </a:solidFill>
                        </a:rPr>
                        <a:t>Protect transaction integrity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Order locked at Checkout; every order tied to an authenticated account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TBC</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bl>
          </a:graphicData>
        </a:graphic>
      </p:graphicFrame>
      <p:sp>
        <p:nvSpPr>
          <p:cNvPr id="25" name="TextBox 24"/>
          <p:cNvSpPr txBox="1"/>
          <p:nvPr/>
        </p:nvSpPr>
        <p:spPr>
          <a:xfrm>
            <a:off x="6400800" y="4937760"/>
            <a:ext cx="5486400" cy="320040"/>
          </a:xfrm>
          <a:prstGeom prst="rect">
            <a:avLst/>
          </a:prstGeom>
          <a:noFill/>
        </p:spPr>
        <p:txBody>
          <a:bodyPr wrap="square" lIns="0" tIns="0" rIns="0" bIns="0" anchor="t">
            <a:spAutoFit/>
          </a:bodyPr>
          <a:lstStyle/>
          <a:p>
            <a:pPr marL="0" indent="0" algn="l">
              <a:buNone/>
            </a:pPr>
            <a:r>
              <a:rPr sz="700" b="0" i="1">
                <a:solidFill>
                  <a:srgbClr val="6B6800"/>
                </a:solidFill>
              </a:rPr>
              <a:t>⚠  Objectives and target metrics are not yet agreed with LOTTE MART. They are carried as OQ-27 and must be set before this specification is baselined.</a:t>
            </a:r>
          </a:p>
        </p:txBody>
      </p:sp>
      <p:sp>
        <p:nvSpPr>
          <p:cNvPr id="26" name="Rectangle 25"/>
          <p:cNvSpPr/>
          <p:nvPr/>
        </p:nvSpPr>
        <p:spPr>
          <a:xfrm>
            <a:off x="274320" y="5321808"/>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7" name="TextBox 26"/>
          <p:cNvSpPr txBox="1"/>
          <p:nvPr/>
        </p:nvSpPr>
        <p:spPr>
          <a:xfrm>
            <a:off x="402336" y="5321808"/>
            <a:ext cx="11612880" cy="256032"/>
          </a:xfrm>
          <a:prstGeom prst="rect">
            <a:avLst/>
          </a:prstGeom>
          <a:noFill/>
        </p:spPr>
        <p:txBody>
          <a:bodyPr wrap="square" lIns="0" tIns="0" rIns="0" bIns="0" anchor="ctr">
            <a:spAutoFit/>
          </a:bodyPr>
          <a:lstStyle/>
          <a:p>
            <a:pPr marL="0" indent="0" algn="l">
              <a:buNone/>
            </a:pPr>
            <a:r>
              <a:rPr sz="1000" b="1" i="0">
                <a:solidFill>
                  <a:srgbClr val="1E2F6E"/>
                </a:solidFill>
              </a:rPr>
              <a:t>Scope boundaries this specification assumes</a:t>
            </a:r>
          </a:p>
        </p:txBody>
      </p:sp>
      <p:sp>
        <p:nvSpPr>
          <p:cNvPr id="28" name="Rectangle 27"/>
          <p:cNvSpPr/>
          <p:nvPr/>
        </p:nvSpPr>
        <p:spPr>
          <a:xfrm>
            <a:off x="274320" y="5623560"/>
            <a:ext cx="3840480" cy="59436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9" name="TextBox 28"/>
          <p:cNvSpPr txBox="1"/>
          <p:nvPr/>
        </p:nvSpPr>
        <p:spPr>
          <a:xfrm>
            <a:off x="411480" y="5669280"/>
            <a:ext cx="3566160" cy="182880"/>
          </a:xfrm>
          <a:prstGeom prst="rect">
            <a:avLst/>
          </a:prstGeom>
          <a:noFill/>
        </p:spPr>
        <p:txBody>
          <a:bodyPr wrap="square" lIns="0" tIns="0" rIns="0" bIns="0" anchor="ctr">
            <a:spAutoFit/>
          </a:bodyPr>
          <a:lstStyle/>
          <a:p>
            <a:pPr marL="0" indent="0" algn="l">
              <a:buNone/>
            </a:pPr>
            <a:r>
              <a:rPr sz="750" b="1" i="0">
                <a:solidFill>
                  <a:srgbClr val="1E2F6E"/>
                </a:solidFill>
              </a:rPr>
              <a:t>Channel</a:t>
            </a:r>
          </a:p>
        </p:txBody>
      </p:sp>
      <p:sp>
        <p:nvSpPr>
          <p:cNvPr id="30" name="TextBox 29"/>
          <p:cNvSpPr txBox="1"/>
          <p:nvPr/>
        </p:nvSpPr>
        <p:spPr>
          <a:xfrm>
            <a:off x="411480" y="5852160"/>
            <a:ext cx="3566160" cy="320040"/>
          </a:xfrm>
          <a:prstGeom prst="rect">
            <a:avLst/>
          </a:prstGeom>
          <a:noFill/>
        </p:spPr>
        <p:txBody>
          <a:bodyPr wrap="square" lIns="0" tIns="0" rIns="0" bIns="0" anchor="t">
            <a:spAutoFit/>
          </a:bodyPr>
          <a:lstStyle/>
          <a:p>
            <a:pPr marL="0" indent="0" algn="l">
              <a:buNone/>
            </a:pPr>
            <a:r>
              <a:rPr sz="680" b="0" i="0">
                <a:solidFill>
                  <a:srgbClr val="555555"/>
                </a:solidFill>
              </a:rPr>
              <a:t>Mobile app is the primary target. Responsive web follows the same rules unless a rule is marked app-only — biometrics and system permission popups.</a:t>
            </a:r>
          </a:p>
        </p:txBody>
      </p:sp>
      <p:sp>
        <p:nvSpPr>
          <p:cNvPr id="31" name="Rectangle 30"/>
          <p:cNvSpPr/>
          <p:nvPr/>
        </p:nvSpPr>
        <p:spPr>
          <a:xfrm>
            <a:off x="4206240" y="5623560"/>
            <a:ext cx="3840480" cy="59436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4343400" y="5669280"/>
            <a:ext cx="3566160" cy="182880"/>
          </a:xfrm>
          <a:prstGeom prst="rect">
            <a:avLst/>
          </a:prstGeom>
          <a:noFill/>
        </p:spPr>
        <p:txBody>
          <a:bodyPr wrap="square" lIns="0" tIns="0" rIns="0" bIns="0" anchor="ctr">
            <a:spAutoFit/>
          </a:bodyPr>
          <a:lstStyle/>
          <a:p>
            <a:pPr marL="0" indent="0" algn="l">
              <a:buNone/>
            </a:pPr>
            <a:r>
              <a:rPr sz="750" b="1" i="0">
                <a:solidFill>
                  <a:srgbClr val="1E2F6E"/>
                </a:solidFill>
              </a:rPr>
              <a:t>Market</a:t>
            </a:r>
          </a:p>
        </p:txBody>
      </p:sp>
      <p:sp>
        <p:nvSpPr>
          <p:cNvPr id="33" name="TextBox 32"/>
          <p:cNvSpPr txBox="1"/>
          <p:nvPr/>
        </p:nvSpPr>
        <p:spPr>
          <a:xfrm>
            <a:off x="4343400" y="5852160"/>
            <a:ext cx="3566160" cy="320040"/>
          </a:xfrm>
          <a:prstGeom prst="rect">
            <a:avLst/>
          </a:prstGeom>
          <a:noFill/>
        </p:spPr>
        <p:txBody>
          <a:bodyPr wrap="square" lIns="0" tIns="0" rIns="0" bIns="0" anchor="t">
            <a:spAutoFit/>
          </a:bodyPr>
          <a:lstStyle/>
          <a:p>
            <a:pPr marL="0" indent="0" algn="l">
              <a:buNone/>
            </a:pPr>
            <a:r>
              <a:rPr sz="680" b="0" i="0">
                <a:solidFill>
                  <a:srgbClr val="555555"/>
                </a:solidFill>
              </a:rPr>
              <a:t>Vietnam only. Phone-number identity, Zalo-first OTP and VND pricing are assumed in every flow.</a:t>
            </a:r>
          </a:p>
        </p:txBody>
      </p:sp>
      <p:sp>
        <p:nvSpPr>
          <p:cNvPr id="34" name="Rectangle 33"/>
          <p:cNvSpPr/>
          <p:nvPr/>
        </p:nvSpPr>
        <p:spPr>
          <a:xfrm>
            <a:off x="8138160" y="5623560"/>
            <a:ext cx="3840480" cy="59436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5" name="TextBox 34"/>
          <p:cNvSpPr txBox="1"/>
          <p:nvPr/>
        </p:nvSpPr>
        <p:spPr>
          <a:xfrm>
            <a:off x="8275320" y="5669280"/>
            <a:ext cx="3566160" cy="182880"/>
          </a:xfrm>
          <a:prstGeom prst="rect">
            <a:avLst/>
          </a:prstGeom>
          <a:noFill/>
        </p:spPr>
        <p:txBody>
          <a:bodyPr wrap="square" lIns="0" tIns="0" rIns="0" bIns="0" anchor="ctr">
            <a:spAutoFit/>
          </a:bodyPr>
          <a:lstStyle/>
          <a:p>
            <a:pPr marL="0" indent="0" algn="l">
              <a:buNone/>
            </a:pPr>
            <a:r>
              <a:rPr sz="750" b="1" i="0">
                <a:solidFill>
                  <a:srgbClr val="1E2F6E"/>
                </a:solidFill>
              </a:rPr>
              <a:t>Configuration</a:t>
            </a:r>
          </a:p>
        </p:txBody>
      </p:sp>
      <p:sp>
        <p:nvSpPr>
          <p:cNvPr id="36" name="TextBox 35"/>
          <p:cNvSpPr txBox="1"/>
          <p:nvPr/>
        </p:nvSpPr>
        <p:spPr>
          <a:xfrm>
            <a:off x="8275320" y="5852160"/>
            <a:ext cx="3566160" cy="320040"/>
          </a:xfrm>
          <a:prstGeom prst="rect">
            <a:avLst/>
          </a:prstGeom>
          <a:noFill/>
        </p:spPr>
        <p:txBody>
          <a:bodyPr wrap="square" lIns="0" tIns="0" rIns="0" bIns="0" anchor="t">
            <a:spAutoFit/>
          </a:bodyPr>
          <a:lstStyle/>
          <a:p>
            <a:pPr marL="0" indent="0" algn="l">
              <a:buNone/>
            </a:pPr>
            <a:r>
              <a:rPr sz="680" b="0" i="0">
                <a:solidFill>
                  <a:srgbClr val="555555"/>
                </a:solidFill>
              </a:rPr>
              <a:t>Service radii, slot capacity, warning thresholds and Next-day areas are per-store configuration, not hard-coded logic.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1  ·  Actors &amp; Stakeholders</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5</a:t>
            </a:r>
          </a:p>
        </p:txBody>
      </p:sp>
      <p:sp>
        <p:nvSpPr>
          <p:cNvPr id="9" name="Rectangle 8"/>
          <p:cNvSpPr/>
          <p:nvPr/>
        </p:nvSpPr>
        <p:spPr>
          <a:xfrm>
            <a:off x="274320" y="68580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402336" y="685800"/>
            <a:ext cx="6000000" cy="256032"/>
          </a:xfrm>
          <a:prstGeom prst="rect">
            <a:avLst/>
          </a:prstGeom>
          <a:noFill/>
        </p:spPr>
        <p:txBody>
          <a:bodyPr wrap="square" lIns="0" tIns="0" rIns="0" bIns="0" anchor="ctr">
            <a:spAutoFit/>
          </a:bodyPr>
          <a:lstStyle/>
          <a:p>
            <a:pPr marL="0" indent="0" algn="l">
              <a:buNone/>
            </a:pPr>
            <a:r>
              <a:rPr sz="1000" b="1" i="0">
                <a:solidFill>
                  <a:srgbClr val="1E2F6E"/>
                </a:solidFill>
              </a:rPr>
              <a:t>System actors</a:t>
            </a:r>
          </a:p>
        </p:txBody>
      </p:sp>
      <p:graphicFrame>
        <p:nvGraphicFramePr>
          <p:cNvPr id="11" name="Table 10"/>
          <p:cNvGraphicFramePr>
            <a:graphicFrameLocks noGrp="1"/>
          </p:cNvGraphicFramePr>
          <p:nvPr/>
        </p:nvGraphicFramePr>
        <p:xfrm>
          <a:off x="274320" y="960120"/>
          <a:ext cx="11613480" cy="3136080"/>
        </p:xfrm>
        <a:graphic>
          <a:graphicData uri="http://schemas.openxmlformats.org/drawingml/2006/table">
            <a:tbl>
              <a:tblPr/>
              <a:tblGrid>
                <a:gridCol w="59436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5760720">
                  <a:extLst>
                    <a:ext uri="{9D8B030D-6E8A-4147-A177-3AD203B41FA5}">
                      <a16:colId xmlns:a16="http://schemas.microsoft.com/office/drawing/2014/main" val="20003"/>
                    </a:ext>
                  </a:extLst>
                </a:gridCol>
                <a:gridCol w="2240880">
                  <a:extLst>
                    <a:ext uri="{9D8B030D-6E8A-4147-A177-3AD203B41FA5}">
                      <a16:colId xmlns:a16="http://schemas.microsoft.com/office/drawing/2014/main" val="20004"/>
                    </a:ext>
                  </a:extLst>
                </a:gridCol>
              </a:tblGrid>
              <a:tr h="210000">
                <a:tc>
                  <a:txBody>
                    <a:bodyPr/>
                    <a:lstStyle/>
                    <a:p>
                      <a:pPr marL="0" indent="0" algn="ctr">
                        <a:buNone/>
                      </a:pPr>
                      <a:r>
                        <a:rPr sz="700" b="1" i="0">
                          <a:solidFill>
                            <a:srgbClr val="FFFFFF"/>
                          </a:solidFill>
                        </a:rPr>
                        <a:t>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Actor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Type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Role in the flow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Enters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365760">
                <a:tc>
                  <a:txBody>
                    <a:bodyPr/>
                    <a:lstStyle/>
                    <a:p>
                      <a:pPr marL="0" indent="0" algn="ctr">
                        <a:buNone/>
                      </a:pPr>
                      <a:r>
                        <a:rPr sz="700" b="0" i="0">
                          <a:solidFill>
                            <a:srgbClr val="222222"/>
                          </a:solidFill>
                        </a:rPr>
                        <a:t>AC-01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Guest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Human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Unauthenticated visitor. Browses the Homepage and product pages, may create a locally-stored delivery address. Cannot add to cart or open the 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Onboarding → Homepage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365760">
                <a:tc>
                  <a:txBody>
                    <a:bodyPr/>
                    <a:lstStyle/>
                    <a:p>
                      <a:pPr marL="0" indent="0" algn="ctr">
                        <a:buNone/>
                      </a:pPr>
                      <a:r>
                        <a:rPr sz="700" b="0" i="0">
                          <a:solidFill>
                            <a:srgbClr val="222222"/>
                          </a:solidFill>
                        </a:rPr>
                        <a:t>AC-02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Member (Customer)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Human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Authenticated customer. Owns the cart, saved addresses, coupons, points and membership tier. Places the order.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Signup / Login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365760">
                <a:tc>
                  <a:txBody>
                    <a:bodyPr/>
                    <a:lstStyle/>
                    <a:p>
                      <a:pPr marL="0" indent="0" algn="ctr">
                        <a:buNone/>
                      </a:pPr>
                      <a:r>
                        <a:rPr sz="700" b="0" i="0">
                          <a:solidFill>
                            <a:srgbClr val="222222"/>
                          </a:solidFill>
                        </a:rPr>
                        <a:t>AC-03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LOTTE MART Store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Organisation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Serving store. Determines product catalogue, price, stock, promotion, service radius and slot capacity.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Onboarding (mandatory selection)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365760">
                <a:tc>
                  <a:txBody>
                    <a:bodyPr/>
                    <a:lstStyle/>
                    <a:p>
                      <a:pPr marL="0" indent="0" algn="ctr">
                        <a:buNone/>
                      </a:pPr>
                      <a:r>
                        <a:rPr sz="700" b="0" i="0">
                          <a:solidFill>
                            <a:srgbClr val="222222"/>
                          </a:solidFill>
                        </a:rPr>
                        <a:t>AC-04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Store Operations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Human (internal)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Marks orders “ready for delivery”, which releases capacity and re-opens slots.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Cart (indirect — slot availability)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365760">
                <a:tc>
                  <a:txBody>
                    <a:bodyPr/>
                    <a:lstStyle/>
                    <a:p>
                      <a:pPr marL="0" indent="0" algn="ctr">
                        <a:buNone/>
                      </a:pPr>
                      <a:r>
                        <a:rPr sz="700" b="0" i="0">
                          <a:solidFill>
                            <a:srgbClr val="222222"/>
                          </a:solidFill>
                        </a:rPr>
                        <a:t>AC-05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Delivery Partner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External system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Executes 60-Minute / Standard / Next-day delivery, including locker drop-off.</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Post-order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365760">
                <a:tc>
                  <a:txBody>
                    <a:bodyPr/>
                    <a:lstStyle/>
                    <a:p>
                      <a:pPr marL="0" indent="0" algn="ctr">
                        <a:buNone/>
                      </a:pPr>
                      <a:r>
                        <a:rPr sz="700" b="0" i="0">
                          <a:solidFill>
                            <a:srgbClr val="222222"/>
                          </a:solidFill>
                        </a:rPr>
                        <a:t>AC-06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Zalo OTP / SMS Gateway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External system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Delivers the one-time password. Zalo is the default channel, SMS the manual alternative.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Signup / Login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365760">
                <a:tc>
                  <a:txBody>
                    <a:bodyPr/>
                    <a:lstStyle/>
                    <a:p>
                      <a:pPr marL="0" indent="0" algn="ctr">
                        <a:buNone/>
                      </a:pPr>
                      <a:r>
                        <a:rPr sz="700" b="0" i="0">
                          <a:solidFill>
                            <a:srgbClr val="222222"/>
                          </a:solidFill>
                        </a:rPr>
                        <a:t>AC-07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Payment &amp; BNPL Providers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External system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MoMo, ZaloPay, card, BNPL, GotIt / gift card redemption.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365760">
                <a:tc>
                  <a:txBody>
                    <a:bodyPr/>
                    <a:lstStyle/>
                    <a:p>
                      <a:pPr marL="0" indent="0" algn="ctr">
                        <a:buNone/>
                      </a:pPr>
                      <a:r>
                        <a:rPr sz="700" b="0" i="0">
                          <a:solidFill>
                            <a:srgbClr val="222222"/>
                          </a:solidFill>
                        </a:rPr>
                        <a:t>AC-08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OMS / DMS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Internal system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Order capture, slot capacity, Next-day date configuration (owner TBC — OQ-12).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Cart / 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bl>
          </a:graphicData>
        </a:graphic>
      </p:graphicFrame>
      <p:sp>
        <p:nvSpPr>
          <p:cNvPr id="12" name="Rectangle 11"/>
          <p:cNvSpPr/>
          <p:nvPr/>
        </p:nvSpPr>
        <p:spPr>
          <a:xfrm>
            <a:off x="274320" y="429768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 name="TextBox 12"/>
          <p:cNvSpPr txBox="1"/>
          <p:nvPr/>
        </p:nvSpPr>
        <p:spPr>
          <a:xfrm>
            <a:off x="402336" y="4297680"/>
            <a:ext cx="6000000" cy="256032"/>
          </a:xfrm>
          <a:prstGeom prst="rect">
            <a:avLst/>
          </a:prstGeom>
          <a:noFill/>
        </p:spPr>
        <p:txBody>
          <a:bodyPr wrap="square" lIns="0" tIns="0" rIns="0" bIns="0" anchor="ctr">
            <a:spAutoFit/>
          </a:bodyPr>
          <a:lstStyle/>
          <a:p>
            <a:pPr marL="0" indent="0" algn="l">
              <a:buNone/>
            </a:pPr>
            <a:r>
              <a:rPr sz="1000" b="1" i="0">
                <a:solidFill>
                  <a:srgbClr val="1E2F6E"/>
                </a:solidFill>
              </a:rPr>
              <a:t>Decision stakeholders (approval required before baseline)</a:t>
            </a:r>
          </a:p>
        </p:txBody>
      </p:sp>
      <p:graphicFrame>
        <p:nvGraphicFramePr>
          <p:cNvPr id="14" name="Table 13"/>
          <p:cNvGraphicFramePr>
            <a:graphicFrameLocks noGrp="1"/>
          </p:cNvGraphicFramePr>
          <p:nvPr/>
        </p:nvGraphicFramePr>
        <p:xfrm>
          <a:off x="274320" y="4572000"/>
          <a:ext cx="11612880" cy="1627320"/>
        </p:xfrm>
        <a:graphic>
          <a:graphicData uri="http://schemas.openxmlformats.org/drawingml/2006/table">
            <a:tbl>
              <a:tblPr/>
              <a:tblGrid>
                <a:gridCol w="292608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210000">
                <a:tc>
                  <a:txBody>
                    <a:bodyPr/>
                    <a:lstStyle/>
                    <a:p>
                      <a:pPr marL="0" indent="0" algn="ctr">
                        <a:buNone/>
                      </a:pPr>
                      <a:r>
                        <a:rPr sz="750" b="1" i="0">
                          <a:solidFill>
                            <a:srgbClr val="FFFFFF"/>
                          </a:solidFill>
                        </a:rPr>
                        <a:t>Stakeholder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Decides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83464">
                <a:tc>
                  <a:txBody>
                    <a:bodyPr/>
                    <a:lstStyle/>
                    <a:p>
                      <a:pPr marL="0" indent="0" algn="l">
                        <a:buNone/>
                      </a:pPr>
                      <a:r>
                        <a:rPr sz="750" b="0" i="0">
                          <a:solidFill>
                            <a:srgbClr val="222222"/>
                          </a:solidFill>
                        </a:rPr>
                        <a:t>LOTTE MART VN (Business)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Business objectives &amp; metrics, promotion catalogue, carton fee, VAT rules, locker policy, Next-day coverage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83464">
                <a:tc>
                  <a:txBody>
                    <a:bodyPr/>
                    <a:lstStyle/>
                    <a:p>
                      <a:pPr marL="0" indent="0" algn="l">
                        <a:buNone/>
                      </a:pPr>
                      <a:r>
                        <a:rPr sz="750" b="0" i="0">
                          <a:solidFill>
                            <a:srgbClr val="222222"/>
                          </a:solidFill>
                        </a:rPr>
                        <a:t>Product Owner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Requirement priority (Must / Should), open-question resolution, release scope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83464">
                <a:tc>
                  <a:txBody>
                    <a:bodyPr/>
                    <a:lstStyle/>
                    <a:p>
                      <a:pPr marL="0" indent="0" algn="l">
                        <a:buNone/>
                      </a:pPr>
                      <a:r>
                        <a:rPr sz="750" b="0" i="0">
                          <a:solidFill>
                            <a:srgbClr val="222222"/>
                          </a:solidFill>
                        </a:rPr>
                        <a:t>Security / Dev</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OTP &amp; PIN attempt limits, biometric ticket model, session expiry handling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83464">
                <a:tc>
                  <a:txBody>
                    <a:bodyPr/>
                    <a:lstStyle/>
                    <a:p>
                      <a:pPr marL="0" indent="0" algn="l">
                        <a:buNone/>
                      </a:pPr>
                      <a:r>
                        <a:rPr sz="750" b="0" i="0">
                          <a:solidFill>
                            <a:srgbClr val="222222"/>
                          </a:solidFill>
                        </a:rPr>
                        <a:t>Design (Lollypop / internal)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Wireframe to high-fidelity conversion, combined warning-screen UX (OQ-25)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283464">
                <a:tc>
                  <a:txBody>
                    <a:bodyPr/>
                    <a:lstStyle/>
                    <a:p>
                      <a:pPr marL="0" indent="0" algn="l">
                        <a:buNone/>
                      </a:pPr>
                      <a:r>
                        <a:rPr sz="750" b="0" i="0">
                          <a:solidFill>
                            <a:srgbClr val="222222"/>
                          </a:solidFill>
                        </a:rPr>
                        <a:t>SI / Infrastructure team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Map-drawn service areas replacing radius rules, slot capacity engine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1  ·  Definitions &amp; Acronyms</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6</a:t>
            </a:r>
          </a:p>
        </p:txBody>
      </p:sp>
      <p:graphicFrame>
        <p:nvGraphicFramePr>
          <p:cNvPr id="9" name="Table 8"/>
          <p:cNvGraphicFramePr>
            <a:graphicFrameLocks noGrp="1"/>
          </p:cNvGraphicFramePr>
          <p:nvPr/>
        </p:nvGraphicFramePr>
        <p:xfrm>
          <a:off x="274320" y="750000"/>
          <a:ext cx="5669280" cy="3831024"/>
        </p:xfrm>
        <a:graphic>
          <a:graphicData uri="http://schemas.openxmlformats.org/drawingml/2006/table">
            <a:tbl>
              <a:tblPr/>
              <a:tblGrid>
                <a:gridCol w="118872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tblGrid>
              <a:tr h="210000">
                <a:tc>
                  <a:txBody>
                    <a:bodyPr/>
                    <a:lstStyle/>
                    <a:p>
                      <a:pPr marL="0" indent="0" algn="ctr">
                        <a:buNone/>
                      </a:pPr>
                      <a:r>
                        <a:rPr sz="750" b="1" i="0">
                          <a:solidFill>
                            <a:srgbClr val="FFFFFF"/>
                          </a:solidFill>
                        </a:rPr>
                        <a:t>Term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Meaning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329184">
                <a:tc>
                  <a:txBody>
                    <a:bodyPr/>
                    <a:lstStyle/>
                    <a:p>
                      <a:pPr marL="0" indent="0" algn="l">
                        <a:buNone/>
                      </a:pPr>
                      <a:r>
                        <a:rPr sz="750" b="0" i="0">
                          <a:solidFill>
                            <a:srgbClr val="222222"/>
                          </a:solidFill>
                        </a:rPr>
                        <a:t>BNPL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Buy Now Pay Later — deferred-payment method offered by a partner provider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sz="750" b="0" i="0">
                          <a:solidFill>
                            <a:srgbClr val="222222"/>
                          </a:solidFill>
                        </a:rPr>
                        <a:t>PwP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Purchase with Purchase — buy-with-deal promotion unlocked by basket value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329184">
                <a:tc>
                  <a:txBody>
                    <a:bodyPr/>
                    <a:lstStyle/>
                    <a:p>
                      <a:pPr marL="0" indent="0" algn="l">
                        <a:buNone/>
                      </a:pPr>
                      <a:r>
                        <a:rPr sz="750" b="0" i="0">
                          <a:solidFill>
                            <a:srgbClr val="222222"/>
                          </a:solidFill>
                        </a:rPr>
                        <a:t>OTP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One-Time Password — single-use verification code delivered by Zalo or SMS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329184">
                <a:tc>
                  <a:txBody>
                    <a:bodyPr/>
                    <a:lstStyle/>
                    <a:p>
                      <a:pPr marL="0" indent="0" algn="l">
                        <a:buNone/>
                      </a:pPr>
                      <a:r>
                        <a:rPr sz="750" b="0" i="0">
                          <a:solidFill>
                            <a:srgbClr val="222222"/>
                          </a:solidFill>
                        </a:rPr>
                        <a:t>PIN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6-digit code used for fast re-authentication after the first signup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329184">
                <a:tc>
                  <a:txBody>
                    <a:bodyPr/>
                    <a:lstStyle/>
                    <a:p>
                      <a:pPr marL="0" indent="0" algn="l">
                        <a:buNone/>
                      </a:pPr>
                      <a:r>
                        <a:rPr sz="750" b="0" i="0">
                          <a:solidFill>
                            <a:srgbClr val="222222"/>
                          </a:solidFill>
                        </a:rPr>
                        <a:t>Biometric</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Face ID or fingerprint authentication held on the device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329184">
                <a:tc>
                  <a:txBody>
                    <a:bodyPr/>
                    <a:lstStyle/>
                    <a:p>
                      <a:pPr marL="0" indent="0" algn="l">
                        <a:buNone/>
                      </a:pPr>
                      <a:r>
                        <a:rPr sz="750" b="0" i="0">
                          <a:solidFill>
                            <a:srgbClr val="222222"/>
                          </a:solidFill>
                        </a:rPr>
                        <a:t>60-Minute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Express delivery service, 3–5 km radius depending on store configuration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329184">
                <a:tc>
                  <a:txBody>
                    <a:bodyPr/>
                    <a:lstStyle/>
                    <a:p>
                      <a:pPr marL="0" indent="0" algn="l">
                        <a:buNone/>
                      </a:pPr>
                      <a:r>
                        <a:rPr sz="750" b="0" i="0">
                          <a:solidFill>
                            <a:srgbClr val="222222"/>
                          </a:solidFill>
                        </a:rPr>
                        <a:t>Standard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Standard same-day / scheduled delivery, 10–15 km depending on store configuration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329184">
                <a:tc>
                  <a:txBody>
                    <a:bodyPr/>
                    <a:lstStyle/>
                    <a:p>
                      <a:pPr marL="0" indent="0" algn="l">
                        <a:buNone/>
                      </a:pPr>
                      <a:r>
                        <a:rPr sz="750" b="0" i="0">
                          <a:solidFill>
                            <a:srgbClr val="222222"/>
                          </a:solidFill>
                        </a:rPr>
                        <a:t>Next-day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Long-distance delivery service configured by ward / area (formerly “Nationwide”)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r h="329184">
                <a:tc>
                  <a:txBody>
                    <a:bodyPr/>
                    <a:lstStyle/>
                    <a:p>
                      <a:pPr marL="0" indent="0" algn="l">
                        <a:buNone/>
                      </a:pPr>
                      <a:r>
                        <a:rPr sz="750" b="0" i="0">
                          <a:solidFill>
                            <a:srgbClr val="222222"/>
                          </a:solidFill>
                        </a:rPr>
                        <a:t>Pickup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Customer collects the order at a LOTTE MART store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9"/>
                  </a:ext>
                </a:extLst>
              </a:tr>
              <a:tr h="329184">
                <a:tc>
                  <a:txBody>
                    <a:bodyPr/>
                    <a:lstStyle/>
                    <a:p>
                      <a:pPr marL="0" indent="0" algn="l">
                        <a:buNone/>
                      </a:pPr>
                      <a:r>
                        <a:rPr sz="750" b="0" i="0">
                          <a:solidFill>
                            <a:srgbClr val="222222"/>
                          </a:solidFill>
                        </a:rPr>
                        <a:t>Bulky Order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Order whose total weight exceeds 15 kg, or that contains at least one item labelled “bulky”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10"/>
                  </a:ext>
                </a:extLst>
              </a:tr>
              <a:tr h="329184">
                <a:tc>
                  <a:txBody>
                    <a:bodyPr/>
                    <a:lstStyle/>
                    <a:p>
                      <a:pPr marL="0" indent="0" algn="l">
                        <a:buNone/>
                      </a:pPr>
                      <a:r>
                        <a:rPr sz="750" b="0" i="0">
                          <a:solidFill>
                            <a:srgbClr val="222222"/>
                          </a:solidFill>
                        </a:rPr>
                        <a:t>Freeship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Free delivery, granted by order threshold or by a delivery coupon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11"/>
                  </a:ext>
                </a:extLst>
              </a:tr>
            </a:tbl>
          </a:graphicData>
        </a:graphic>
      </p:graphicFrame>
      <p:graphicFrame>
        <p:nvGraphicFramePr>
          <p:cNvPr id="10" name="Table 9"/>
          <p:cNvGraphicFramePr>
            <a:graphicFrameLocks noGrp="1"/>
          </p:cNvGraphicFramePr>
          <p:nvPr/>
        </p:nvGraphicFramePr>
        <p:xfrm>
          <a:off x="6217920" y="750000"/>
          <a:ext cx="5669280" cy="3831024"/>
        </p:xfrm>
        <a:graphic>
          <a:graphicData uri="http://schemas.openxmlformats.org/drawingml/2006/table">
            <a:tbl>
              <a:tblPr/>
              <a:tblGrid>
                <a:gridCol w="128016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tblGrid>
              <a:tr h="210000">
                <a:tc>
                  <a:txBody>
                    <a:bodyPr/>
                    <a:lstStyle/>
                    <a:p>
                      <a:pPr marL="0" indent="0" algn="ctr">
                        <a:buNone/>
                      </a:pPr>
                      <a:r>
                        <a:rPr sz="750" b="1" i="0">
                          <a:solidFill>
                            <a:srgbClr val="FFFFFF"/>
                          </a:solidFill>
                        </a:rPr>
                        <a:t>Term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Meaning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329184">
                <a:tc>
                  <a:txBody>
                    <a:bodyPr/>
                    <a:lstStyle/>
                    <a:p>
                      <a:pPr marL="0" indent="0" algn="l">
                        <a:buNone/>
                      </a:pPr>
                      <a:r>
                        <a:rPr sz="750" b="0" i="0">
                          <a:solidFill>
                            <a:srgbClr val="222222"/>
                          </a:solidFill>
                        </a:rPr>
                        <a:t>Serving Store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The LOTTE MART store that fulfils the order — drives catalogue, price, stock and slots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sz="750" b="0" i="0">
                          <a:solidFill>
                            <a:srgbClr val="222222"/>
                          </a:solidFill>
                        </a:rPr>
                        <a:t>Service zone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Mutually exclusive area class around a store that determines which delivery services are available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329184">
                <a:tc>
                  <a:txBody>
                    <a:bodyPr/>
                    <a:lstStyle/>
                    <a:p>
                      <a:pPr marL="0" indent="0" algn="l">
                        <a:buNone/>
                      </a:pPr>
                      <a:r>
                        <a:rPr sz="750" b="0" i="0">
                          <a:solidFill>
                            <a:srgbClr val="222222"/>
                          </a:solidFill>
                        </a:rPr>
                        <a:t>Slot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A bookable delivery or pickup time window with finite capacity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329184">
                <a:tc>
                  <a:txBody>
                    <a:bodyPr/>
                    <a:lstStyle/>
                    <a:p>
                      <a:pPr marL="0" indent="0" algn="l">
                        <a:buNone/>
                      </a:pPr>
                      <a:r>
                        <a:rPr sz="750" b="0" i="0">
                          <a:solidFill>
                            <a:srgbClr val="222222"/>
                          </a:solidFill>
                        </a:rPr>
                        <a:t>T+2 / 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Earliest selectable delivery day: 2 days for a standard order, 4 days for a bulky order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329184">
                <a:tc>
                  <a:txBody>
                    <a:bodyPr/>
                    <a:lstStyle/>
                    <a:p>
                      <a:pPr marL="0" indent="0" algn="l">
                        <a:buNone/>
                      </a:pPr>
                      <a:r>
                        <a:rPr sz="750" b="0" i="0">
                          <a:solidFill>
                            <a:srgbClr val="222222"/>
                          </a:solidFill>
                        </a:rPr>
                        <a:t>Locker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Cabinet used for self-collection; near-home lockers belong to Delivery, in-store lockers to Pickup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329184">
                <a:tc>
                  <a:txBody>
                    <a:bodyPr/>
                    <a:lstStyle/>
                    <a:p>
                      <a:pPr marL="0" indent="0" algn="l">
                        <a:buNone/>
                      </a:pPr>
                      <a:r>
                        <a:rPr sz="750" b="0" i="0">
                          <a:solidFill>
                            <a:srgbClr val="222222"/>
                          </a:solidFill>
                        </a:rPr>
                        <a:t>GotIt / Gift Card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Voucher code redeemable against the order total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329184">
                <a:tc>
                  <a:txBody>
                    <a:bodyPr/>
                    <a:lstStyle/>
                    <a:p>
                      <a:pPr marL="0" indent="0" algn="l">
                        <a:buNone/>
                      </a:pPr>
                      <a:r>
                        <a:rPr sz="750" b="0" i="0">
                          <a:solidFill>
                            <a:srgbClr val="222222"/>
                          </a:solidFill>
                        </a:rPr>
                        <a:t>VAT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Value-added tax invoice requested at 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329184">
                <a:tc>
                  <a:txBody>
                    <a:bodyPr/>
                    <a:lstStyle/>
                    <a:p>
                      <a:pPr marL="0" indent="0" algn="l">
                        <a:buNone/>
                      </a:pPr>
                      <a:r>
                        <a:rPr sz="750" b="0" i="0">
                          <a:solidFill>
                            <a:srgbClr val="222222"/>
                          </a:solidFill>
                        </a:rPr>
                        <a:t>what3words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Three-word geolocation format offered as an optional address attribute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r h="329184">
                <a:tc>
                  <a:txBody>
                    <a:bodyPr/>
                    <a:lstStyle/>
                    <a:p>
                      <a:pPr marL="0" indent="0" algn="l">
                        <a:buNone/>
                      </a:pPr>
                      <a:r>
                        <a:rPr sz="750" b="0" i="0">
                          <a:solidFill>
                            <a:srgbClr val="222222"/>
                          </a:solidFill>
                        </a:rPr>
                        <a:t>SKU</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Stock Keeping Unit — product identity used for price and stock</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9"/>
                  </a:ext>
                </a:extLst>
              </a:tr>
              <a:tr h="329184">
                <a:tc>
                  <a:txBody>
                    <a:bodyPr/>
                    <a:lstStyle/>
                    <a:p>
                      <a:pPr marL="0" indent="0" algn="l">
                        <a:buNone/>
                      </a:pPr>
                      <a:r>
                        <a:rPr sz="750" b="0" i="0">
                          <a:solidFill>
                            <a:srgbClr val="222222"/>
                          </a:solidFill>
                        </a:rPr>
                        <a:t>CTKM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Chương trình khuyến mãi — promotion programme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10"/>
                  </a:ext>
                </a:extLst>
              </a:tr>
              <a:tr h="329184">
                <a:tc>
                  <a:txBody>
                    <a:bodyPr/>
                    <a:lstStyle/>
                    <a:p>
                      <a:pPr marL="0" indent="0" algn="l">
                        <a:buNone/>
                      </a:pPr>
                      <a:r>
                        <a:rPr sz="750" b="0" i="0">
                          <a:solidFill>
                            <a:srgbClr val="222222"/>
                          </a:solidFill>
                        </a:rPr>
                        <a:t>Resume action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Re-execution of the action that triggered login (add to cart / open cart) once authentication succeeds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11"/>
                  </a:ext>
                </a:extLst>
              </a:tr>
            </a:tbl>
          </a:graphicData>
        </a:graphic>
      </p:graphicFrame>
      <p:sp>
        <p:nvSpPr>
          <p:cNvPr id="11" name="Rectangle 10"/>
          <p:cNvSpPr/>
          <p:nvPr/>
        </p:nvSpPr>
        <p:spPr>
          <a:xfrm>
            <a:off x="274320" y="493776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402336" y="4937760"/>
            <a:ext cx="11612880" cy="256032"/>
          </a:xfrm>
          <a:prstGeom prst="rect">
            <a:avLst/>
          </a:prstGeom>
          <a:noFill/>
        </p:spPr>
        <p:txBody>
          <a:bodyPr wrap="square" lIns="0" tIns="0" rIns="0" bIns="0" anchor="ctr">
            <a:spAutoFit/>
          </a:bodyPr>
          <a:lstStyle/>
          <a:p>
            <a:pPr marL="0" indent="0" algn="l">
              <a:buNone/>
            </a:pPr>
            <a:r>
              <a:rPr sz="1000" b="1" i="0">
                <a:solidFill>
                  <a:srgbClr val="1E2F6E"/>
                </a:solidFill>
              </a:rPr>
              <a:t>Terminology that changes in To-Be</a:t>
            </a:r>
          </a:p>
        </p:txBody>
      </p:sp>
      <p:sp>
        <p:nvSpPr>
          <p:cNvPr id="13" name="Rectangle 12"/>
          <p:cNvSpPr/>
          <p:nvPr/>
        </p:nvSpPr>
        <p:spPr>
          <a:xfrm>
            <a:off x="274320" y="5257800"/>
            <a:ext cx="3840480" cy="6858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274320" y="5257800"/>
            <a:ext cx="36576" cy="6858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TextBox 14"/>
          <p:cNvSpPr txBox="1"/>
          <p:nvPr/>
        </p:nvSpPr>
        <p:spPr>
          <a:xfrm>
            <a:off x="411480" y="5303520"/>
            <a:ext cx="3566160" cy="192024"/>
          </a:xfrm>
          <a:prstGeom prst="rect">
            <a:avLst/>
          </a:prstGeom>
          <a:noFill/>
        </p:spPr>
        <p:txBody>
          <a:bodyPr wrap="square" lIns="0" tIns="0" rIns="0" bIns="0" anchor="ctr">
            <a:spAutoFit/>
          </a:bodyPr>
          <a:lstStyle/>
          <a:p>
            <a:pPr marL="0" indent="0" algn="l">
              <a:buNone/>
            </a:pPr>
            <a:r>
              <a:rPr sz="800" b="1" i="0">
                <a:solidFill>
                  <a:srgbClr val="1E2F6E"/>
                </a:solidFill>
              </a:rPr>
              <a:t>“Nationwide”  →  “Next-day”</a:t>
            </a:r>
          </a:p>
        </p:txBody>
      </p:sp>
      <p:sp>
        <p:nvSpPr>
          <p:cNvPr id="16" name="TextBox 15"/>
          <p:cNvSpPr txBox="1"/>
          <p:nvPr/>
        </p:nvSpPr>
        <p:spPr>
          <a:xfrm>
            <a:off x="411480" y="5505450"/>
            <a:ext cx="3566160" cy="402336"/>
          </a:xfrm>
          <a:prstGeom prst="rect">
            <a:avLst/>
          </a:prstGeom>
          <a:noFill/>
        </p:spPr>
        <p:txBody>
          <a:bodyPr wrap="square" lIns="0" tIns="0" rIns="0" bIns="0" anchor="t">
            <a:spAutoFit/>
          </a:bodyPr>
          <a:lstStyle/>
          <a:p>
            <a:pPr marL="0" indent="0" algn="l">
              <a:buNone/>
            </a:pPr>
            <a:r>
              <a:rPr sz="680" b="0" i="0">
                <a:solidFill>
                  <a:srgbClr val="555555"/>
                </a:solidFill>
              </a:rPr>
              <a:t>The old name implies coverage everywhere; the service is configured per area. Renamed in customer-facing copy and throughout this specification.</a:t>
            </a:r>
          </a:p>
        </p:txBody>
      </p:sp>
      <p:sp>
        <p:nvSpPr>
          <p:cNvPr id="17" name="Rectangle 16"/>
          <p:cNvSpPr/>
          <p:nvPr/>
        </p:nvSpPr>
        <p:spPr>
          <a:xfrm>
            <a:off x="4206240" y="5257800"/>
            <a:ext cx="3840480" cy="6858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Rectangle 17"/>
          <p:cNvSpPr/>
          <p:nvPr/>
        </p:nvSpPr>
        <p:spPr>
          <a:xfrm>
            <a:off x="4206240" y="5257800"/>
            <a:ext cx="36576" cy="6858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9" name="TextBox 18"/>
          <p:cNvSpPr txBox="1"/>
          <p:nvPr/>
        </p:nvSpPr>
        <p:spPr>
          <a:xfrm>
            <a:off x="4343400" y="5303520"/>
            <a:ext cx="3566160" cy="192024"/>
          </a:xfrm>
          <a:prstGeom prst="rect">
            <a:avLst/>
          </a:prstGeom>
          <a:noFill/>
        </p:spPr>
        <p:txBody>
          <a:bodyPr wrap="square" lIns="0" tIns="0" rIns="0" bIns="0" anchor="ctr">
            <a:spAutoFit/>
          </a:bodyPr>
          <a:lstStyle/>
          <a:p>
            <a:pPr marL="0" indent="0" algn="l">
              <a:buNone/>
            </a:pPr>
            <a:r>
              <a:rPr sz="800" b="1" i="0">
                <a:solidFill>
                  <a:srgbClr val="1E2F6E"/>
                </a:solidFill>
              </a:rPr>
              <a:t>“Delivery time”  →  “Estimated delivery time”</a:t>
            </a:r>
          </a:p>
        </p:txBody>
      </p:sp>
      <p:sp>
        <p:nvSpPr>
          <p:cNvPr id="20" name="TextBox 19"/>
          <p:cNvSpPr txBox="1"/>
          <p:nvPr/>
        </p:nvSpPr>
        <p:spPr>
          <a:xfrm>
            <a:off x="4343400" y="5505450"/>
            <a:ext cx="3566160" cy="402336"/>
          </a:xfrm>
          <a:prstGeom prst="rect">
            <a:avLst/>
          </a:prstGeom>
          <a:noFill/>
        </p:spPr>
        <p:txBody>
          <a:bodyPr wrap="square" lIns="0" tIns="0" rIns="0" bIns="0" anchor="t">
            <a:spAutoFit/>
          </a:bodyPr>
          <a:lstStyle/>
          <a:p>
            <a:pPr marL="0" indent="0" algn="l">
              <a:buNone/>
            </a:pPr>
            <a:r>
              <a:rPr sz="680" b="0" i="0">
                <a:solidFill>
                  <a:srgbClr val="555555"/>
                </a:solidFill>
              </a:rPr>
              <a:t>The header value is an estimate resolved from store and address, not a commitment. Where it cannot be resolved, nothing is shown at all.</a:t>
            </a:r>
          </a:p>
        </p:txBody>
      </p:sp>
      <p:sp>
        <p:nvSpPr>
          <p:cNvPr id="21" name="Rectangle 20"/>
          <p:cNvSpPr/>
          <p:nvPr/>
        </p:nvSpPr>
        <p:spPr>
          <a:xfrm>
            <a:off x="8138160" y="5257800"/>
            <a:ext cx="3840480" cy="6858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Rectangle 21"/>
          <p:cNvSpPr/>
          <p:nvPr/>
        </p:nvSpPr>
        <p:spPr>
          <a:xfrm>
            <a:off x="8138160" y="5257800"/>
            <a:ext cx="36576" cy="6858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TextBox 22"/>
          <p:cNvSpPr txBox="1"/>
          <p:nvPr/>
        </p:nvSpPr>
        <p:spPr>
          <a:xfrm>
            <a:off x="8275320" y="5303520"/>
            <a:ext cx="3566160" cy="192024"/>
          </a:xfrm>
          <a:prstGeom prst="rect">
            <a:avLst/>
          </a:prstGeom>
          <a:noFill/>
        </p:spPr>
        <p:txBody>
          <a:bodyPr wrap="square" lIns="0" tIns="0" rIns="0" bIns="0" anchor="ctr">
            <a:spAutoFit/>
          </a:bodyPr>
          <a:lstStyle/>
          <a:p>
            <a:pPr marL="0" indent="0" algn="l">
              <a:buNone/>
            </a:pPr>
            <a:r>
              <a:rPr sz="800" b="1" i="0">
                <a:solidFill>
                  <a:srgbClr val="1E2F6E"/>
                </a:solidFill>
              </a:rPr>
              <a:t>“Store”  →  “Serving store”</a:t>
            </a:r>
          </a:p>
        </p:txBody>
      </p:sp>
      <p:sp>
        <p:nvSpPr>
          <p:cNvPr id="24" name="TextBox 23"/>
          <p:cNvSpPr txBox="1"/>
          <p:nvPr/>
        </p:nvSpPr>
        <p:spPr>
          <a:xfrm>
            <a:off x="8275320" y="5505450"/>
            <a:ext cx="3566160" cy="402336"/>
          </a:xfrm>
          <a:prstGeom prst="rect">
            <a:avLst/>
          </a:prstGeom>
          <a:noFill/>
        </p:spPr>
        <p:txBody>
          <a:bodyPr wrap="square" lIns="0" tIns="0" rIns="0" bIns="0" anchor="t">
            <a:spAutoFit/>
          </a:bodyPr>
          <a:lstStyle/>
          <a:p>
            <a:pPr marL="0" indent="0" algn="l">
              <a:buNone/>
            </a:pPr>
            <a:r>
              <a:rPr sz="680" b="0" i="0">
                <a:solidFill>
                  <a:srgbClr val="555555"/>
                </a:solidFill>
              </a:rPr>
              <a:t>Distinguishes the store fulfilling the order from the store registered against the membership account at signup.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1  ·  Module Map &amp; Requirement Architecture</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7</a:t>
            </a:r>
          </a:p>
        </p:txBody>
      </p:sp>
      <p:sp>
        <p:nvSpPr>
          <p:cNvPr id="9" name="TextBox 8"/>
          <p:cNvSpPr txBox="1"/>
          <p:nvPr/>
        </p:nvSpPr>
        <p:spPr>
          <a:xfrm>
            <a:off x="274320" y="621792"/>
            <a:ext cx="11612880" cy="228600"/>
          </a:xfrm>
          <a:prstGeom prst="rect">
            <a:avLst/>
          </a:prstGeom>
          <a:noFill/>
        </p:spPr>
        <p:txBody>
          <a:bodyPr wrap="square" lIns="0" tIns="0" rIns="0" bIns="0" anchor="ctr">
            <a:spAutoFit/>
          </a:bodyPr>
          <a:lstStyle/>
          <a:p>
            <a:pPr marL="0" indent="0" algn="l">
              <a:buNone/>
            </a:pPr>
            <a:r>
              <a:rPr sz="850" b="0" i="0">
                <a:solidFill>
                  <a:srgbClr val="555555"/>
                </a:solidFill>
              </a:rPr>
              <a:t>Six business areas, in customer-journey order. Every functional requirement, screen and rule in this document belongs to exactly one of them.</a:t>
            </a:r>
          </a:p>
        </p:txBody>
      </p:sp>
      <p:sp>
        <p:nvSpPr>
          <p:cNvPr id="10" name="Rounded Rectangle 9"/>
          <p:cNvSpPr/>
          <p:nvPr/>
        </p:nvSpPr>
        <p:spPr>
          <a:xfrm>
            <a:off x="274320" y="1005840"/>
            <a:ext cx="1828800" cy="1188720"/>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 name="Rectangle 10"/>
          <p:cNvSpPr/>
          <p:nvPr/>
        </p:nvSpPr>
        <p:spPr>
          <a:xfrm>
            <a:off x="274320" y="1005840"/>
            <a:ext cx="1828800" cy="18288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274320" y="1005840"/>
            <a:ext cx="1828800" cy="182880"/>
          </a:xfrm>
          <a:prstGeom prst="rect">
            <a:avLst/>
          </a:prstGeom>
          <a:noFill/>
        </p:spPr>
        <p:txBody>
          <a:bodyPr wrap="square" lIns="0" tIns="0" rIns="0" bIns="0" anchor="ctr">
            <a:spAutoFit/>
          </a:bodyPr>
          <a:lstStyle/>
          <a:p>
            <a:pPr marL="0" indent="0" algn="ctr">
              <a:buNone/>
            </a:pPr>
            <a:r>
              <a:rPr sz="800" b="1" i="0">
                <a:solidFill>
                  <a:srgbClr val="FFFFFF"/>
                </a:solidFill>
              </a:rPr>
              <a:t>ONB</a:t>
            </a:r>
          </a:p>
        </p:txBody>
      </p:sp>
      <p:sp>
        <p:nvSpPr>
          <p:cNvPr id="13" name="TextBox 12"/>
          <p:cNvSpPr txBox="1"/>
          <p:nvPr/>
        </p:nvSpPr>
        <p:spPr>
          <a:xfrm>
            <a:off x="365760" y="1234440"/>
            <a:ext cx="1645920" cy="256032"/>
          </a:xfrm>
          <a:prstGeom prst="rect">
            <a:avLst/>
          </a:prstGeom>
          <a:noFill/>
        </p:spPr>
        <p:txBody>
          <a:bodyPr wrap="square" lIns="0" tIns="0" rIns="0" bIns="0" anchor="ctr">
            <a:spAutoFit/>
          </a:bodyPr>
          <a:lstStyle/>
          <a:p>
            <a:pPr marL="0" indent="0" algn="ctr">
              <a:buNone/>
            </a:pPr>
            <a:r>
              <a:rPr sz="1050" b="1" i="0">
                <a:solidFill>
                  <a:srgbClr val="1E2F6E"/>
                </a:solidFill>
              </a:rPr>
              <a:t>Onboarding</a:t>
            </a:r>
          </a:p>
        </p:txBody>
      </p:sp>
      <p:sp>
        <p:nvSpPr>
          <p:cNvPr id="14" name="TextBox 13"/>
          <p:cNvSpPr txBox="1"/>
          <p:nvPr/>
        </p:nvSpPr>
        <p:spPr>
          <a:xfrm>
            <a:off x="365760" y="1508760"/>
            <a:ext cx="1645920" cy="182880"/>
          </a:xfrm>
          <a:prstGeom prst="rect">
            <a:avLst/>
          </a:prstGeom>
          <a:noFill/>
        </p:spPr>
        <p:txBody>
          <a:bodyPr wrap="square" lIns="0" tIns="0" rIns="0" bIns="0" anchor="ctr">
            <a:spAutoFit/>
          </a:bodyPr>
          <a:lstStyle/>
          <a:p>
            <a:pPr marL="0" indent="0" algn="ctr">
              <a:buNone/>
            </a:pPr>
            <a:r>
              <a:rPr sz="700" b="1" i="0">
                <a:solidFill>
                  <a:srgbClr val="C8102E"/>
                </a:solidFill>
              </a:rPr>
              <a:t>7 FR</a:t>
            </a:r>
            <a:r>
              <a:rPr sz="700" b="0" i="0">
                <a:solidFill>
                  <a:srgbClr val="AAAAAA"/>
                </a:solidFill>
              </a:rPr>
              <a:t>   ·   </a:t>
            </a:r>
            <a:r>
              <a:rPr sz="700" b="1" i="0">
                <a:solidFill>
                  <a:srgbClr val="3D5298"/>
                </a:solidFill>
              </a:rPr>
              <a:t>4 screens</a:t>
            </a:r>
          </a:p>
        </p:txBody>
      </p:sp>
      <p:sp>
        <p:nvSpPr>
          <p:cNvPr id="15" name="TextBox 14"/>
          <p:cNvSpPr txBox="1"/>
          <p:nvPr/>
        </p:nvSpPr>
        <p:spPr>
          <a:xfrm>
            <a:off x="365760" y="1737360"/>
            <a:ext cx="1645920" cy="411480"/>
          </a:xfrm>
          <a:prstGeom prst="rect">
            <a:avLst/>
          </a:prstGeom>
          <a:noFill/>
        </p:spPr>
        <p:txBody>
          <a:bodyPr wrap="square" lIns="0" tIns="0" rIns="0" bIns="0" anchor="t">
            <a:spAutoFit/>
          </a:bodyPr>
          <a:lstStyle/>
          <a:p>
            <a:pPr marL="0" indent="0" algn="ctr">
              <a:buNone/>
            </a:pPr>
            <a:r>
              <a:rPr sz="650" b="0" i="0">
                <a:solidFill>
                  <a:srgbClr val="888888"/>
                </a:solidFill>
              </a:rPr>
              <a:t>Language, permissions, store selection</a:t>
            </a:r>
          </a:p>
        </p:txBody>
      </p:sp>
      <p:cxnSp>
        <p:nvCxnSpPr>
          <p:cNvPr id="16" name="Connector 15"/>
          <p:cNvCxnSpPr/>
          <p:nvPr/>
        </p:nvCxnSpPr>
        <p:spPr>
          <a:xfrm>
            <a:off x="2121408" y="1600200"/>
            <a:ext cx="100584" cy="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240280" y="1005840"/>
            <a:ext cx="1828800" cy="1188720"/>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Rectangle 17"/>
          <p:cNvSpPr/>
          <p:nvPr/>
        </p:nvSpPr>
        <p:spPr>
          <a:xfrm>
            <a:off x="2240280" y="1005840"/>
            <a:ext cx="1828800" cy="18288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9" name="TextBox 18"/>
          <p:cNvSpPr txBox="1"/>
          <p:nvPr/>
        </p:nvSpPr>
        <p:spPr>
          <a:xfrm>
            <a:off x="2240280" y="1005840"/>
            <a:ext cx="1828800" cy="182880"/>
          </a:xfrm>
          <a:prstGeom prst="rect">
            <a:avLst/>
          </a:prstGeom>
          <a:noFill/>
        </p:spPr>
        <p:txBody>
          <a:bodyPr wrap="square" lIns="0" tIns="0" rIns="0" bIns="0" anchor="ctr">
            <a:spAutoFit/>
          </a:bodyPr>
          <a:lstStyle/>
          <a:p>
            <a:pPr marL="0" indent="0" algn="ctr">
              <a:buNone/>
            </a:pPr>
            <a:r>
              <a:rPr sz="800" b="1" i="0">
                <a:solidFill>
                  <a:srgbClr val="FFFFFF"/>
                </a:solidFill>
              </a:rPr>
              <a:t>HP</a:t>
            </a:r>
          </a:p>
        </p:txBody>
      </p:sp>
      <p:sp>
        <p:nvSpPr>
          <p:cNvPr id="20" name="TextBox 19"/>
          <p:cNvSpPr txBox="1"/>
          <p:nvPr/>
        </p:nvSpPr>
        <p:spPr>
          <a:xfrm>
            <a:off x="2331720" y="1234440"/>
            <a:ext cx="1645920" cy="256032"/>
          </a:xfrm>
          <a:prstGeom prst="rect">
            <a:avLst/>
          </a:prstGeom>
          <a:noFill/>
        </p:spPr>
        <p:txBody>
          <a:bodyPr wrap="square" lIns="0" tIns="0" rIns="0" bIns="0" anchor="ctr">
            <a:spAutoFit/>
          </a:bodyPr>
          <a:lstStyle/>
          <a:p>
            <a:pPr marL="0" indent="0" algn="ctr">
              <a:buNone/>
            </a:pPr>
            <a:r>
              <a:rPr sz="1050" b="1" i="0">
                <a:solidFill>
                  <a:srgbClr val="1E2F6E"/>
                </a:solidFill>
              </a:rPr>
              <a:t>Homepage</a:t>
            </a:r>
          </a:p>
        </p:txBody>
      </p:sp>
      <p:sp>
        <p:nvSpPr>
          <p:cNvPr id="21" name="TextBox 20"/>
          <p:cNvSpPr txBox="1"/>
          <p:nvPr/>
        </p:nvSpPr>
        <p:spPr>
          <a:xfrm>
            <a:off x="2331720" y="1508760"/>
            <a:ext cx="1645920" cy="182880"/>
          </a:xfrm>
          <a:prstGeom prst="rect">
            <a:avLst/>
          </a:prstGeom>
          <a:noFill/>
        </p:spPr>
        <p:txBody>
          <a:bodyPr wrap="square" lIns="0" tIns="0" rIns="0" bIns="0" anchor="ctr">
            <a:spAutoFit/>
          </a:bodyPr>
          <a:lstStyle/>
          <a:p>
            <a:pPr marL="0" indent="0" algn="ctr">
              <a:buNone/>
            </a:pPr>
            <a:r>
              <a:rPr sz="700" b="1" i="0">
                <a:solidFill>
                  <a:srgbClr val="C8102E"/>
                </a:solidFill>
              </a:rPr>
              <a:t>10 FR</a:t>
            </a:r>
            <a:r>
              <a:rPr sz="700" b="0" i="0">
                <a:solidFill>
                  <a:srgbClr val="AAAAAA"/>
                </a:solidFill>
              </a:rPr>
              <a:t>   ·   </a:t>
            </a:r>
            <a:r>
              <a:rPr sz="700" b="1" i="0">
                <a:solidFill>
                  <a:srgbClr val="3D5298"/>
                </a:solidFill>
              </a:rPr>
              <a:t>6 screens</a:t>
            </a:r>
          </a:p>
        </p:txBody>
      </p:sp>
      <p:sp>
        <p:nvSpPr>
          <p:cNvPr id="22" name="TextBox 21"/>
          <p:cNvSpPr txBox="1"/>
          <p:nvPr/>
        </p:nvSpPr>
        <p:spPr>
          <a:xfrm>
            <a:off x="2331720" y="1737360"/>
            <a:ext cx="1645920" cy="411480"/>
          </a:xfrm>
          <a:prstGeom prst="rect">
            <a:avLst/>
          </a:prstGeom>
          <a:noFill/>
        </p:spPr>
        <p:txBody>
          <a:bodyPr wrap="square" lIns="0" tIns="0" rIns="0" bIns="0" anchor="t">
            <a:spAutoFit/>
          </a:bodyPr>
          <a:lstStyle/>
          <a:p>
            <a:pPr marL="0" indent="0" algn="ctr">
              <a:buNone/>
            </a:pPr>
            <a:r>
              <a:rPr sz="650" b="0" i="0">
                <a:solidFill>
                  <a:srgbClr val="888888"/>
                </a:solidFill>
              </a:rPr>
              <a:t>Header context, address, ETA, store change</a:t>
            </a:r>
          </a:p>
        </p:txBody>
      </p:sp>
      <p:cxnSp>
        <p:nvCxnSpPr>
          <p:cNvPr id="23" name="Connector 22"/>
          <p:cNvCxnSpPr/>
          <p:nvPr/>
        </p:nvCxnSpPr>
        <p:spPr>
          <a:xfrm>
            <a:off x="4087368" y="1600200"/>
            <a:ext cx="100584" cy="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206240" y="1005840"/>
            <a:ext cx="1828800" cy="1188720"/>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5" name="Rectangle 24"/>
          <p:cNvSpPr/>
          <p:nvPr/>
        </p:nvSpPr>
        <p:spPr>
          <a:xfrm>
            <a:off x="4206240" y="1005840"/>
            <a:ext cx="1828800" cy="18288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6" name="TextBox 25"/>
          <p:cNvSpPr txBox="1"/>
          <p:nvPr/>
        </p:nvSpPr>
        <p:spPr>
          <a:xfrm>
            <a:off x="4206240" y="1005840"/>
            <a:ext cx="1828800" cy="182880"/>
          </a:xfrm>
          <a:prstGeom prst="rect">
            <a:avLst/>
          </a:prstGeom>
          <a:noFill/>
        </p:spPr>
        <p:txBody>
          <a:bodyPr wrap="square" lIns="0" tIns="0" rIns="0" bIns="0" anchor="ctr">
            <a:spAutoFit/>
          </a:bodyPr>
          <a:lstStyle/>
          <a:p>
            <a:pPr marL="0" indent="0" algn="ctr">
              <a:buNone/>
            </a:pPr>
            <a:r>
              <a:rPr sz="800" b="1" i="0">
                <a:solidFill>
                  <a:srgbClr val="FFFFFF"/>
                </a:solidFill>
              </a:rPr>
              <a:t>SU</a:t>
            </a:r>
          </a:p>
        </p:txBody>
      </p:sp>
      <p:sp>
        <p:nvSpPr>
          <p:cNvPr id="27" name="TextBox 26"/>
          <p:cNvSpPr txBox="1"/>
          <p:nvPr/>
        </p:nvSpPr>
        <p:spPr>
          <a:xfrm>
            <a:off x="4297680" y="1234440"/>
            <a:ext cx="1645920" cy="256032"/>
          </a:xfrm>
          <a:prstGeom prst="rect">
            <a:avLst/>
          </a:prstGeom>
          <a:noFill/>
        </p:spPr>
        <p:txBody>
          <a:bodyPr wrap="square" lIns="0" tIns="0" rIns="0" bIns="0" anchor="ctr">
            <a:spAutoFit/>
          </a:bodyPr>
          <a:lstStyle/>
          <a:p>
            <a:pPr marL="0" indent="0" algn="ctr">
              <a:buNone/>
            </a:pPr>
            <a:r>
              <a:rPr sz="1050" b="1" i="0">
                <a:solidFill>
                  <a:srgbClr val="1E2F6E"/>
                </a:solidFill>
              </a:rPr>
              <a:t>Signup</a:t>
            </a:r>
          </a:p>
        </p:txBody>
      </p:sp>
      <p:sp>
        <p:nvSpPr>
          <p:cNvPr id="28" name="TextBox 27"/>
          <p:cNvSpPr txBox="1"/>
          <p:nvPr/>
        </p:nvSpPr>
        <p:spPr>
          <a:xfrm>
            <a:off x="4297680" y="1508760"/>
            <a:ext cx="1645920" cy="182880"/>
          </a:xfrm>
          <a:prstGeom prst="rect">
            <a:avLst/>
          </a:prstGeom>
          <a:noFill/>
        </p:spPr>
        <p:txBody>
          <a:bodyPr wrap="square" lIns="0" tIns="0" rIns="0" bIns="0" anchor="ctr">
            <a:spAutoFit/>
          </a:bodyPr>
          <a:lstStyle/>
          <a:p>
            <a:pPr marL="0" indent="0" algn="ctr">
              <a:buNone/>
            </a:pPr>
            <a:r>
              <a:rPr sz="700" b="1" i="0">
                <a:solidFill>
                  <a:srgbClr val="C8102E"/>
                </a:solidFill>
              </a:rPr>
              <a:t>9 FR</a:t>
            </a:r>
            <a:r>
              <a:rPr sz="700" b="0" i="0">
                <a:solidFill>
                  <a:srgbClr val="AAAAAA"/>
                </a:solidFill>
              </a:rPr>
              <a:t>   ·   </a:t>
            </a:r>
            <a:r>
              <a:rPr sz="700" b="1" i="0">
                <a:solidFill>
                  <a:srgbClr val="3D5298"/>
                </a:solidFill>
              </a:rPr>
              <a:t>4 screens</a:t>
            </a:r>
          </a:p>
        </p:txBody>
      </p:sp>
      <p:sp>
        <p:nvSpPr>
          <p:cNvPr id="29" name="TextBox 28"/>
          <p:cNvSpPr txBox="1"/>
          <p:nvPr/>
        </p:nvSpPr>
        <p:spPr>
          <a:xfrm>
            <a:off x="4297680" y="1737360"/>
            <a:ext cx="1645920" cy="411480"/>
          </a:xfrm>
          <a:prstGeom prst="rect">
            <a:avLst/>
          </a:prstGeom>
          <a:noFill/>
        </p:spPr>
        <p:txBody>
          <a:bodyPr wrap="square" lIns="0" tIns="0" rIns="0" bIns="0" anchor="t">
            <a:spAutoFit/>
          </a:bodyPr>
          <a:lstStyle/>
          <a:p>
            <a:pPr marL="0" indent="0" algn="ctr">
              <a:buNone/>
            </a:pPr>
            <a:r>
              <a:rPr sz="650" b="0" i="0">
                <a:solidFill>
                  <a:srgbClr val="888888"/>
                </a:solidFill>
              </a:rPr>
              <a:t>Phone, OTP, PIN, profile, resume</a:t>
            </a:r>
          </a:p>
        </p:txBody>
      </p:sp>
      <p:cxnSp>
        <p:nvCxnSpPr>
          <p:cNvPr id="30" name="Connector 29"/>
          <p:cNvCxnSpPr/>
          <p:nvPr/>
        </p:nvCxnSpPr>
        <p:spPr>
          <a:xfrm>
            <a:off x="6053328" y="1600200"/>
            <a:ext cx="100584" cy="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172200" y="1005840"/>
            <a:ext cx="1828800" cy="1188720"/>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Rectangle 31"/>
          <p:cNvSpPr/>
          <p:nvPr/>
        </p:nvSpPr>
        <p:spPr>
          <a:xfrm>
            <a:off x="6172200" y="1005840"/>
            <a:ext cx="1828800" cy="18288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3" name="TextBox 32"/>
          <p:cNvSpPr txBox="1"/>
          <p:nvPr/>
        </p:nvSpPr>
        <p:spPr>
          <a:xfrm>
            <a:off x="6172200" y="1005840"/>
            <a:ext cx="1828800" cy="182880"/>
          </a:xfrm>
          <a:prstGeom prst="rect">
            <a:avLst/>
          </a:prstGeom>
          <a:noFill/>
        </p:spPr>
        <p:txBody>
          <a:bodyPr wrap="square" lIns="0" tIns="0" rIns="0" bIns="0" anchor="ctr">
            <a:spAutoFit/>
          </a:bodyPr>
          <a:lstStyle/>
          <a:p>
            <a:pPr marL="0" indent="0" algn="ctr">
              <a:buNone/>
            </a:pPr>
            <a:r>
              <a:rPr sz="800" b="1" i="0">
                <a:solidFill>
                  <a:srgbClr val="FFFFFF"/>
                </a:solidFill>
              </a:rPr>
              <a:t>LI</a:t>
            </a:r>
          </a:p>
        </p:txBody>
      </p:sp>
      <p:sp>
        <p:nvSpPr>
          <p:cNvPr id="34" name="TextBox 33"/>
          <p:cNvSpPr txBox="1"/>
          <p:nvPr/>
        </p:nvSpPr>
        <p:spPr>
          <a:xfrm>
            <a:off x="6263640" y="1234440"/>
            <a:ext cx="1645920" cy="256032"/>
          </a:xfrm>
          <a:prstGeom prst="rect">
            <a:avLst/>
          </a:prstGeom>
          <a:noFill/>
        </p:spPr>
        <p:txBody>
          <a:bodyPr wrap="square" lIns="0" tIns="0" rIns="0" bIns="0" anchor="ctr">
            <a:spAutoFit/>
          </a:bodyPr>
          <a:lstStyle/>
          <a:p>
            <a:pPr marL="0" indent="0" algn="ctr">
              <a:buNone/>
            </a:pPr>
            <a:r>
              <a:rPr sz="1050" b="1" i="0">
                <a:solidFill>
                  <a:srgbClr val="1E2F6E"/>
                </a:solidFill>
              </a:rPr>
              <a:t>Login</a:t>
            </a:r>
          </a:p>
        </p:txBody>
      </p:sp>
      <p:sp>
        <p:nvSpPr>
          <p:cNvPr id="35" name="TextBox 34"/>
          <p:cNvSpPr txBox="1"/>
          <p:nvPr/>
        </p:nvSpPr>
        <p:spPr>
          <a:xfrm>
            <a:off x="6263640" y="1508760"/>
            <a:ext cx="1645920" cy="182880"/>
          </a:xfrm>
          <a:prstGeom prst="rect">
            <a:avLst/>
          </a:prstGeom>
          <a:noFill/>
        </p:spPr>
        <p:txBody>
          <a:bodyPr wrap="square" lIns="0" tIns="0" rIns="0" bIns="0" anchor="ctr">
            <a:spAutoFit/>
          </a:bodyPr>
          <a:lstStyle/>
          <a:p>
            <a:pPr marL="0" indent="0" algn="ctr">
              <a:buNone/>
            </a:pPr>
            <a:r>
              <a:rPr sz="700" b="1" i="0">
                <a:solidFill>
                  <a:srgbClr val="C8102E"/>
                </a:solidFill>
              </a:rPr>
              <a:t>7 FR</a:t>
            </a:r>
            <a:r>
              <a:rPr sz="700" b="0" i="0">
                <a:solidFill>
                  <a:srgbClr val="AAAAAA"/>
                </a:solidFill>
              </a:rPr>
              <a:t>   ·   </a:t>
            </a:r>
            <a:r>
              <a:rPr sz="700" b="1" i="0">
                <a:solidFill>
                  <a:srgbClr val="3D5298"/>
                </a:solidFill>
              </a:rPr>
              <a:t>3 screens</a:t>
            </a:r>
          </a:p>
        </p:txBody>
      </p:sp>
      <p:sp>
        <p:nvSpPr>
          <p:cNvPr id="36" name="TextBox 35"/>
          <p:cNvSpPr txBox="1"/>
          <p:nvPr/>
        </p:nvSpPr>
        <p:spPr>
          <a:xfrm>
            <a:off x="6263640" y="1737360"/>
            <a:ext cx="1645920" cy="411480"/>
          </a:xfrm>
          <a:prstGeom prst="rect">
            <a:avLst/>
          </a:prstGeom>
          <a:noFill/>
        </p:spPr>
        <p:txBody>
          <a:bodyPr wrap="square" lIns="0" tIns="0" rIns="0" bIns="0" anchor="t">
            <a:spAutoFit/>
          </a:bodyPr>
          <a:lstStyle/>
          <a:p>
            <a:pPr marL="0" indent="0" algn="ctr">
              <a:buNone/>
            </a:pPr>
            <a:r>
              <a:rPr sz="650" b="0" i="0">
                <a:solidFill>
                  <a:srgbClr val="888888"/>
                </a:solidFill>
              </a:rPr>
              <a:t>Biometric → PIN → OTP fallback</a:t>
            </a:r>
          </a:p>
        </p:txBody>
      </p:sp>
      <p:cxnSp>
        <p:nvCxnSpPr>
          <p:cNvPr id="37" name="Connector 36"/>
          <p:cNvCxnSpPr/>
          <p:nvPr/>
        </p:nvCxnSpPr>
        <p:spPr>
          <a:xfrm>
            <a:off x="8019288" y="1600200"/>
            <a:ext cx="100584" cy="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8138160" y="1005840"/>
            <a:ext cx="1828800" cy="1188720"/>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Rectangle 38"/>
          <p:cNvSpPr/>
          <p:nvPr/>
        </p:nvSpPr>
        <p:spPr>
          <a:xfrm>
            <a:off x="8138160" y="1005840"/>
            <a:ext cx="1828800" cy="18288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TextBox 39"/>
          <p:cNvSpPr txBox="1"/>
          <p:nvPr/>
        </p:nvSpPr>
        <p:spPr>
          <a:xfrm>
            <a:off x="8138160" y="1005840"/>
            <a:ext cx="1828800" cy="182880"/>
          </a:xfrm>
          <a:prstGeom prst="rect">
            <a:avLst/>
          </a:prstGeom>
          <a:noFill/>
        </p:spPr>
        <p:txBody>
          <a:bodyPr wrap="square" lIns="0" tIns="0" rIns="0" bIns="0" anchor="ctr">
            <a:spAutoFit/>
          </a:bodyPr>
          <a:lstStyle/>
          <a:p>
            <a:pPr marL="0" indent="0" algn="ctr">
              <a:buNone/>
            </a:pPr>
            <a:r>
              <a:rPr sz="800" b="1" i="0">
                <a:solidFill>
                  <a:srgbClr val="FFFFFF"/>
                </a:solidFill>
              </a:rPr>
              <a:t>CT</a:t>
            </a:r>
          </a:p>
        </p:txBody>
      </p:sp>
      <p:sp>
        <p:nvSpPr>
          <p:cNvPr id="41" name="TextBox 40"/>
          <p:cNvSpPr txBox="1"/>
          <p:nvPr/>
        </p:nvSpPr>
        <p:spPr>
          <a:xfrm>
            <a:off x="8229600" y="1234440"/>
            <a:ext cx="1645920" cy="256032"/>
          </a:xfrm>
          <a:prstGeom prst="rect">
            <a:avLst/>
          </a:prstGeom>
          <a:noFill/>
        </p:spPr>
        <p:txBody>
          <a:bodyPr wrap="square" lIns="0" tIns="0" rIns="0" bIns="0" anchor="ctr">
            <a:spAutoFit/>
          </a:bodyPr>
          <a:lstStyle/>
          <a:p>
            <a:pPr marL="0" indent="0" algn="ctr">
              <a:buNone/>
            </a:pPr>
            <a:r>
              <a:rPr sz="1050" b="1" i="0">
                <a:solidFill>
                  <a:srgbClr val="1E2F6E"/>
                </a:solidFill>
              </a:rPr>
              <a:t>Cart</a:t>
            </a:r>
          </a:p>
        </p:txBody>
      </p:sp>
      <p:sp>
        <p:nvSpPr>
          <p:cNvPr id="42" name="TextBox 41"/>
          <p:cNvSpPr txBox="1"/>
          <p:nvPr/>
        </p:nvSpPr>
        <p:spPr>
          <a:xfrm>
            <a:off x="8229600" y="1508760"/>
            <a:ext cx="1645920" cy="182880"/>
          </a:xfrm>
          <a:prstGeom prst="rect">
            <a:avLst/>
          </a:prstGeom>
          <a:noFill/>
        </p:spPr>
        <p:txBody>
          <a:bodyPr wrap="square" lIns="0" tIns="0" rIns="0" bIns="0" anchor="ctr">
            <a:spAutoFit/>
          </a:bodyPr>
          <a:lstStyle/>
          <a:p>
            <a:pPr marL="0" indent="0" algn="ctr">
              <a:buNone/>
            </a:pPr>
            <a:r>
              <a:rPr sz="700" b="1" i="0">
                <a:solidFill>
                  <a:srgbClr val="C8102E"/>
                </a:solidFill>
              </a:rPr>
              <a:t>11 FR</a:t>
            </a:r>
            <a:r>
              <a:rPr sz="700" b="0" i="0">
                <a:solidFill>
                  <a:srgbClr val="AAAAAA"/>
                </a:solidFill>
              </a:rPr>
              <a:t>   ·   </a:t>
            </a:r>
            <a:r>
              <a:rPr sz="700" b="1" i="0">
                <a:solidFill>
                  <a:srgbClr val="3D5298"/>
                </a:solidFill>
              </a:rPr>
              <a:t>6 screens</a:t>
            </a:r>
          </a:p>
        </p:txBody>
      </p:sp>
      <p:sp>
        <p:nvSpPr>
          <p:cNvPr id="43" name="TextBox 42"/>
          <p:cNvSpPr txBox="1"/>
          <p:nvPr/>
        </p:nvSpPr>
        <p:spPr>
          <a:xfrm>
            <a:off x="8229600" y="1737360"/>
            <a:ext cx="1645920" cy="411480"/>
          </a:xfrm>
          <a:prstGeom prst="rect">
            <a:avLst/>
          </a:prstGeom>
          <a:noFill/>
        </p:spPr>
        <p:txBody>
          <a:bodyPr wrap="square" lIns="0" tIns="0" rIns="0" bIns="0" anchor="t">
            <a:spAutoFit/>
          </a:bodyPr>
          <a:lstStyle/>
          <a:p>
            <a:pPr marL="0" indent="0" algn="ctr">
              <a:buNone/>
            </a:pPr>
            <a:r>
              <a:rPr sz="650" b="0" i="0">
                <a:solidFill>
                  <a:srgbClr val="888888"/>
                </a:solidFill>
              </a:rPr>
              <a:t>Service, slot, products, promotion, coupon</a:t>
            </a:r>
          </a:p>
        </p:txBody>
      </p:sp>
      <p:cxnSp>
        <p:nvCxnSpPr>
          <p:cNvPr id="44" name="Connector 43"/>
          <p:cNvCxnSpPr/>
          <p:nvPr/>
        </p:nvCxnSpPr>
        <p:spPr>
          <a:xfrm>
            <a:off x="9985248" y="1600200"/>
            <a:ext cx="100584" cy="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10104120" y="1005840"/>
            <a:ext cx="1828800" cy="1188720"/>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Rectangle 45"/>
          <p:cNvSpPr/>
          <p:nvPr/>
        </p:nvSpPr>
        <p:spPr>
          <a:xfrm>
            <a:off x="10104120" y="1005840"/>
            <a:ext cx="1828800" cy="18288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TextBox 46"/>
          <p:cNvSpPr txBox="1"/>
          <p:nvPr/>
        </p:nvSpPr>
        <p:spPr>
          <a:xfrm>
            <a:off x="10104120" y="1005840"/>
            <a:ext cx="1828800" cy="182880"/>
          </a:xfrm>
          <a:prstGeom prst="rect">
            <a:avLst/>
          </a:prstGeom>
          <a:noFill/>
        </p:spPr>
        <p:txBody>
          <a:bodyPr wrap="square" lIns="0" tIns="0" rIns="0" bIns="0" anchor="ctr">
            <a:spAutoFit/>
          </a:bodyPr>
          <a:lstStyle/>
          <a:p>
            <a:pPr marL="0" indent="0" algn="ctr">
              <a:buNone/>
            </a:pPr>
            <a:r>
              <a:rPr sz="800" b="1" i="0">
                <a:solidFill>
                  <a:srgbClr val="FFFFFF"/>
                </a:solidFill>
              </a:rPr>
              <a:t>CO</a:t>
            </a:r>
          </a:p>
        </p:txBody>
      </p:sp>
      <p:sp>
        <p:nvSpPr>
          <p:cNvPr id="48" name="TextBox 47"/>
          <p:cNvSpPr txBox="1"/>
          <p:nvPr/>
        </p:nvSpPr>
        <p:spPr>
          <a:xfrm>
            <a:off x="10195560" y="1234440"/>
            <a:ext cx="1645920" cy="256032"/>
          </a:xfrm>
          <a:prstGeom prst="rect">
            <a:avLst/>
          </a:prstGeom>
          <a:noFill/>
        </p:spPr>
        <p:txBody>
          <a:bodyPr wrap="square" lIns="0" tIns="0" rIns="0" bIns="0" anchor="ctr">
            <a:spAutoFit/>
          </a:bodyPr>
          <a:lstStyle/>
          <a:p>
            <a:pPr marL="0" indent="0" algn="ctr">
              <a:buNone/>
            </a:pPr>
            <a:r>
              <a:rPr sz="1050" b="1" i="0">
                <a:solidFill>
                  <a:srgbClr val="1E2F6E"/>
                </a:solidFill>
              </a:rPr>
              <a:t>Checkout</a:t>
            </a:r>
          </a:p>
        </p:txBody>
      </p:sp>
      <p:sp>
        <p:nvSpPr>
          <p:cNvPr id="49" name="TextBox 48"/>
          <p:cNvSpPr txBox="1"/>
          <p:nvPr/>
        </p:nvSpPr>
        <p:spPr>
          <a:xfrm>
            <a:off x="10195560" y="1508760"/>
            <a:ext cx="1645920" cy="182880"/>
          </a:xfrm>
          <a:prstGeom prst="rect">
            <a:avLst/>
          </a:prstGeom>
          <a:noFill/>
        </p:spPr>
        <p:txBody>
          <a:bodyPr wrap="square" lIns="0" tIns="0" rIns="0" bIns="0" anchor="ctr">
            <a:spAutoFit/>
          </a:bodyPr>
          <a:lstStyle/>
          <a:p>
            <a:pPr marL="0" indent="0" algn="ctr">
              <a:buNone/>
            </a:pPr>
            <a:r>
              <a:rPr sz="700" b="1" i="0">
                <a:solidFill>
                  <a:srgbClr val="C8102E"/>
                </a:solidFill>
              </a:rPr>
              <a:t>10 FR</a:t>
            </a:r>
            <a:r>
              <a:rPr sz="700" b="0" i="0">
                <a:solidFill>
                  <a:srgbClr val="AAAAAA"/>
                </a:solidFill>
              </a:rPr>
              <a:t>   ·   </a:t>
            </a:r>
            <a:r>
              <a:rPr sz="700" b="1" i="0">
                <a:solidFill>
                  <a:srgbClr val="3D5298"/>
                </a:solidFill>
              </a:rPr>
              <a:t>3 screens</a:t>
            </a:r>
          </a:p>
        </p:txBody>
      </p:sp>
      <p:sp>
        <p:nvSpPr>
          <p:cNvPr id="50" name="TextBox 49"/>
          <p:cNvSpPr txBox="1"/>
          <p:nvPr/>
        </p:nvSpPr>
        <p:spPr>
          <a:xfrm>
            <a:off x="10195560" y="1737360"/>
            <a:ext cx="1645920" cy="411480"/>
          </a:xfrm>
          <a:prstGeom prst="rect">
            <a:avLst/>
          </a:prstGeom>
          <a:noFill/>
        </p:spPr>
        <p:txBody>
          <a:bodyPr wrap="square" lIns="0" tIns="0" rIns="0" bIns="0" anchor="t">
            <a:spAutoFit/>
          </a:bodyPr>
          <a:lstStyle/>
          <a:p>
            <a:pPr marL="0" indent="0" algn="ctr">
              <a:buNone/>
            </a:pPr>
            <a:r>
              <a:rPr sz="650" b="0" i="0">
                <a:solidFill>
                  <a:srgbClr val="888888"/>
                </a:solidFill>
              </a:rPr>
              <a:t>Locked review, payment, VAT, place order</a:t>
            </a:r>
          </a:p>
        </p:txBody>
      </p:sp>
      <p:sp>
        <p:nvSpPr>
          <p:cNvPr id="51" name="Rectangle 50"/>
          <p:cNvSpPr/>
          <p:nvPr/>
        </p:nvSpPr>
        <p:spPr>
          <a:xfrm>
            <a:off x="274320" y="237744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2" name="TextBox 51"/>
          <p:cNvSpPr txBox="1"/>
          <p:nvPr/>
        </p:nvSpPr>
        <p:spPr>
          <a:xfrm>
            <a:off x="402336" y="2377440"/>
            <a:ext cx="5486400" cy="256032"/>
          </a:xfrm>
          <a:prstGeom prst="rect">
            <a:avLst/>
          </a:prstGeom>
          <a:noFill/>
        </p:spPr>
        <p:txBody>
          <a:bodyPr wrap="square" lIns="0" tIns="0" rIns="0" bIns="0" anchor="ctr">
            <a:spAutoFit/>
          </a:bodyPr>
          <a:lstStyle/>
          <a:p>
            <a:pPr marL="0" indent="0" algn="l">
              <a:buNone/>
            </a:pPr>
            <a:r>
              <a:rPr sz="1000" b="1" i="0">
                <a:solidFill>
                  <a:srgbClr val="1E2F6E"/>
                </a:solidFill>
              </a:rPr>
              <a:t>How the parts of this document connect</a:t>
            </a:r>
          </a:p>
        </p:txBody>
      </p:sp>
      <p:sp>
        <p:nvSpPr>
          <p:cNvPr id="53" name="Rectangle 52"/>
          <p:cNvSpPr/>
          <p:nvPr/>
        </p:nvSpPr>
        <p:spPr>
          <a:xfrm>
            <a:off x="274320" y="2743200"/>
            <a:ext cx="5486400" cy="384048"/>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4" name="Rectangle 53"/>
          <p:cNvSpPr/>
          <p:nvPr/>
        </p:nvSpPr>
        <p:spPr>
          <a:xfrm>
            <a:off x="274320" y="2743200"/>
            <a:ext cx="45720" cy="384048"/>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5" name="TextBox 54"/>
          <p:cNvSpPr txBox="1"/>
          <p:nvPr/>
        </p:nvSpPr>
        <p:spPr>
          <a:xfrm>
            <a:off x="411480" y="2743200"/>
            <a:ext cx="1737360" cy="384048"/>
          </a:xfrm>
          <a:prstGeom prst="rect">
            <a:avLst/>
          </a:prstGeom>
          <a:noFill/>
        </p:spPr>
        <p:txBody>
          <a:bodyPr wrap="square" lIns="0" tIns="0" rIns="0" bIns="0" anchor="ctr">
            <a:spAutoFit/>
          </a:bodyPr>
          <a:lstStyle/>
          <a:p>
            <a:pPr marL="0" indent="0" algn="l">
              <a:buNone/>
            </a:pPr>
            <a:r>
              <a:rPr sz="800" b="1" i="0">
                <a:solidFill>
                  <a:srgbClr val="1E2F6E"/>
                </a:solidFill>
              </a:rPr>
              <a:t>Business requirement</a:t>
            </a:r>
          </a:p>
        </p:txBody>
      </p:sp>
      <p:sp>
        <p:nvSpPr>
          <p:cNvPr id="56" name="TextBox 55"/>
          <p:cNvSpPr txBox="1"/>
          <p:nvPr/>
        </p:nvSpPr>
        <p:spPr>
          <a:xfrm>
            <a:off x="2194560" y="2743200"/>
            <a:ext cx="1737360" cy="384048"/>
          </a:xfrm>
          <a:prstGeom prst="rect">
            <a:avLst/>
          </a:prstGeom>
          <a:noFill/>
        </p:spPr>
        <p:txBody>
          <a:bodyPr wrap="square" lIns="0" tIns="0" rIns="0" bIns="0" anchor="ctr">
            <a:spAutoFit/>
          </a:bodyPr>
          <a:lstStyle/>
          <a:p>
            <a:pPr marL="0" indent="0" algn="l">
              <a:buNone/>
            </a:pPr>
            <a:r>
              <a:rPr sz="700" b="1" i="0">
                <a:solidFill>
                  <a:srgbClr val="555555"/>
                </a:solidFill>
              </a:rPr>
              <a:t>BR-nn</a:t>
            </a:r>
          </a:p>
        </p:txBody>
      </p:sp>
      <p:sp>
        <p:nvSpPr>
          <p:cNvPr id="57" name="TextBox 56"/>
          <p:cNvSpPr txBox="1"/>
          <p:nvPr/>
        </p:nvSpPr>
        <p:spPr>
          <a:xfrm>
            <a:off x="3931920" y="2743200"/>
            <a:ext cx="1737360" cy="384048"/>
          </a:xfrm>
          <a:prstGeom prst="rect">
            <a:avLst/>
          </a:prstGeom>
          <a:noFill/>
        </p:spPr>
        <p:txBody>
          <a:bodyPr wrap="square" lIns="0" tIns="0" rIns="0" bIns="0" anchor="ctr">
            <a:spAutoFit/>
          </a:bodyPr>
          <a:lstStyle/>
          <a:p>
            <a:pPr marL="0" indent="0" algn="l">
              <a:buNone/>
            </a:pPr>
            <a:r>
              <a:rPr sz="700" b="0" i="0">
                <a:solidFill>
                  <a:srgbClr val="888888"/>
                </a:solidFill>
              </a:rPr>
              <a:t>Why the capability exists</a:t>
            </a:r>
          </a:p>
        </p:txBody>
      </p:sp>
      <p:cxnSp>
        <p:nvCxnSpPr>
          <p:cNvPr id="58" name="Connector 57"/>
          <p:cNvCxnSpPr/>
          <p:nvPr/>
        </p:nvCxnSpPr>
        <p:spPr>
          <a:xfrm>
            <a:off x="3017520" y="3127248"/>
            <a:ext cx="0" cy="73152"/>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274320" y="3200400"/>
            <a:ext cx="5486400" cy="384048"/>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0" name="Rectangle 59"/>
          <p:cNvSpPr/>
          <p:nvPr/>
        </p:nvSpPr>
        <p:spPr>
          <a:xfrm>
            <a:off x="274320" y="3200400"/>
            <a:ext cx="45720" cy="384048"/>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1" name="TextBox 60"/>
          <p:cNvSpPr txBox="1"/>
          <p:nvPr/>
        </p:nvSpPr>
        <p:spPr>
          <a:xfrm>
            <a:off x="411480" y="3200400"/>
            <a:ext cx="1737360" cy="384048"/>
          </a:xfrm>
          <a:prstGeom prst="rect">
            <a:avLst/>
          </a:prstGeom>
          <a:noFill/>
        </p:spPr>
        <p:txBody>
          <a:bodyPr wrap="square" lIns="0" tIns="0" rIns="0" bIns="0" anchor="ctr">
            <a:spAutoFit/>
          </a:bodyPr>
          <a:lstStyle/>
          <a:p>
            <a:pPr marL="0" indent="0" algn="l">
              <a:buNone/>
            </a:pPr>
            <a:r>
              <a:rPr sz="800" b="1" i="0">
                <a:solidFill>
                  <a:srgbClr val="C8102E"/>
                </a:solidFill>
              </a:rPr>
              <a:t>Business rule</a:t>
            </a:r>
          </a:p>
        </p:txBody>
      </p:sp>
      <p:sp>
        <p:nvSpPr>
          <p:cNvPr id="62" name="TextBox 61"/>
          <p:cNvSpPr txBox="1"/>
          <p:nvPr/>
        </p:nvSpPr>
        <p:spPr>
          <a:xfrm>
            <a:off x="2194560" y="3200400"/>
            <a:ext cx="1737360" cy="384048"/>
          </a:xfrm>
          <a:prstGeom prst="rect">
            <a:avLst/>
          </a:prstGeom>
          <a:noFill/>
        </p:spPr>
        <p:txBody>
          <a:bodyPr wrap="square" lIns="0" tIns="0" rIns="0" bIns="0" anchor="ctr">
            <a:spAutoFit/>
          </a:bodyPr>
          <a:lstStyle/>
          <a:p>
            <a:pPr marL="0" indent="0" algn="l">
              <a:buNone/>
            </a:pPr>
            <a:r>
              <a:rPr sz="700" b="1" i="0">
                <a:solidFill>
                  <a:srgbClr val="555555"/>
                </a:solidFill>
              </a:rPr>
              <a:t>BRL-nn</a:t>
            </a:r>
          </a:p>
        </p:txBody>
      </p:sp>
      <p:sp>
        <p:nvSpPr>
          <p:cNvPr id="63" name="TextBox 62"/>
          <p:cNvSpPr txBox="1"/>
          <p:nvPr/>
        </p:nvSpPr>
        <p:spPr>
          <a:xfrm>
            <a:off x="3931920" y="3200400"/>
            <a:ext cx="1737360" cy="384048"/>
          </a:xfrm>
          <a:prstGeom prst="rect">
            <a:avLst/>
          </a:prstGeom>
          <a:noFill/>
        </p:spPr>
        <p:txBody>
          <a:bodyPr wrap="square" lIns="0" tIns="0" rIns="0" bIns="0" anchor="ctr">
            <a:spAutoFit/>
          </a:bodyPr>
          <a:lstStyle/>
          <a:p>
            <a:pPr marL="0" indent="0" algn="l">
              <a:buNone/>
            </a:pPr>
            <a:r>
              <a:rPr sz="700" b="0" i="0">
                <a:solidFill>
                  <a:srgbClr val="888888"/>
                </a:solidFill>
              </a:rPr>
              <a:t>The exact condition / threshold</a:t>
            </a:r>
          </a:p>
        </p:txBody>
      </p:sp>
      <p:cxnSp>
        <p:nvCxnSpPr>
          <p:cNvPr id="64" name="Connector 63"/>
          <p:cNvCxnSpPr/>
          <p:nvPr/>
        </p:nvCxnSpPr>
        <p:spPr>
          <a:xfrm>
            <a:off x="3017520" y="3584448"/>
            <a:ext cx="0" cy="73152"/>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274320" y="3657600"/>
            <a:ext cx="5486400" cy="384048"/>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6" name="Rectangle 65"/>
          <p:cNvSpPr/>
          <p:nvPr/>
        </p:nvSpPr>
        <p:spPr>
          <a:xfrm>
            <a:off x="274320" y="3657600"/>
            <a:ext cx="45720" cy="384048"/>
          </a:xfrm>
          <a:prstGeom prst="rect">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7" name="TextBox 66"/>
          <p:cNvSpPr txBox="1"/>
          <p:nvPr/>
        </p:nvSpPr>
        <p:spPr>
          <a:xfrm>
            <a:off x="411480" y="3657600"/>
            <a:ext cx="1737360" cy="384048"/>
          </a:xfrm>
          <a:prstGeom prst="rect">
            <a:avLst/>
          </a:prstGeom>
          <a:noFill/>
        </p:spPr>
        <p:txBody>
          <a:bodyPr wrap="square" lIns="0" tIns="0" rIns="0" bIns="0" anchor="ctr">
            <a:spAutoFit/>
          </a:bodyPr>
          <a:lstStyle/>
          <a:p>
            <a:pPr marL="0" indent="0" algn="l">
              <a:buNone/>
            </a:pPr>
            <a:r>
              <a:rPr sz="800" b="1" i="0">
                <a:solidFill>
                  <a:srgbClr val="3D5298"/>
                </a:solidFill>
              </a:rPr>
              <a:t>Functional requirement</a:t>
            </a:r>
          </a:p>
        </p:txBody>
      </p:sp>
      <p:sp>
        <p:nvSpPr>
          <p:cNvPr id="68" name="TextBox 67"/>
          <p:cNvSpPr txBox="1"/>
          <p:nvPr/>
        </p:nvSpPr>
        <p:spPr>
          <a:xfrm>
            <a:off x="2194560" y="3657600"/>
            <a:ext cx="1737360" cy="384048"/>
          </a:xfrm>
          <a:prstGeom prst="rect">
            <a:avLst/>
          </a:prstGeom>
          <a:noFill/>
        </p:spPr>
        <p:txBody>
          <a:bodyPr wrap="square" lIns="0" tIns="0" rIns="0" bIns="0" anchor="ctr">
            <a:spAutoFit/>
          </a:bodyPr>
          <a:lstStyle/>
          <a:p>
            <a:pPr marL="0" indent="0" algn="l">
              <a:buNone/>
            </a:pPr>
            <a:r>
              <a:rPr sz="700" b="1" i="0">
                <a:solidFill>
                  <a:srgbClr val="555555"/>
                </a:solidFill>
              </a:rPr>
              <a:t>ONB / HP / SU / LI / CT / CO-nn</a:t>
            </a:r>
          </a:p>
        </p:txBody>
      </p:sp>
      <p:sp>
        <p:nvSpPr>
          <p:cNvPr id="69" name="TextBox 68"/>
          <p:cNvSpPr txBox="1"/>
          <p:nvPr/>
        </p:nvSpPr>
        <p:spPr>
          <a:xfrm>
            <a:off x="3931920" y="3657600"/>
            <a:ext cx="1737360" cy="384048"/>
          </a:xfrm>
          <a:prstGeom prst="rect">
            <a:avLst/>
          </a:prstGeom>
          <a:noFill/>
        </p:spPr>
        <p:txBody>
          <a:bodyPr wrap="square" lIns="0" tIns="0" rIns="0" bIns="0" anchor="ctr">
            <a:spAutoFit/>
          </a:bodyPr>
          <a:lstStyle/>
          <a:p>
            <a:pPr marL="0" indent="0" algn="l">
              <a:buNone/>
            </a:pPr>
            <a:r>
              <a:rPr sz="700" b="0" i="0">
                <a:solidFill>
                  <a:srgbClr val="888888"/>
                </a:solidFill>
              </a:rPr>
              <a:t>What the system must do</a:t>
            </a:r>
          </a:p>
        </p:txBody>
      </p:sp>
      <p:cxnSp>
        <p:nvCxnSpPr>
          <p:cNvPr id="70" name="Connector 69"/>
          <p:cNvCxnSpPr/>
          <p:nvPr/>
        </p:nvCxnSpPr>
        <p:spPr>
          <a:xfrm>
            <a:off x="3017520" y="4041648"/>
            <a:ext cx="0" cy="73152"/>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71" name="Rectangle 70"/>
          <p:cNvSpPr/>
          <p:nvPr/>
        </p:nvSpPr>
        <p:spPr>
          <a:xfrm>
            <a:off x="274320" y="4114800"/>
            <a:ext cx="5486400" cy="384048"/>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2" name="Rectangle 71"/>
          <p:cNvSpPr/>
          <p:nvPr/>
        </p:nvSpPr>
        <p:spPr>
          <a:xfrm>
            <a:off x="274320" y="4114800"/>
            <a:ext cx="45720" cy="384048"/>
          </a:xfrm>
          <a:prstGeom prst="rect">
            <a:avLst/>
          </a:prstGeom>
          <a:solidFill>
            <a:srgbClr val="6B6800"/>
          </a:solidFill>
          <a:ln w="12700">
            <a:solidFill>
              <a:srgbClr val="6B6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3" name="TextBox 72"/>
          <p:cNvSpPr txBox="1"/>
          <p:nvPr/>
        </p:nvSpPr>
        <p:spPr>
          <a:xfrm>
            <a:off x="411480" y="4114800"/>
            <a:ext cx="1737360" cy="384048"/>
          </a:xfrm>
          <a:prstGeom prst="rect">
            <a:avLst/>
          </a:prstGeom>
          <a:noFill/>
        </p:spPr>
        <p:txBody>
          <a:bodyPr wrap="square" lIns="0" tIns="0" rIns="0" bIns="0" anchor="ctr">
            <a:spAutoFit/>
          </a:bodyPr>
          <a:lstStyle/>
          <a:p>
            <a:pPr marL="0" indent="0" algn="l">
              <a:buNone/>
            </a:pPr>
            <a:r>
              <a:rPr sz="800" b="1" i="0">
                <a:solidFill>
                  <a:srgbClr val="6B6800"/>
                </a:solidFill>
              </a:rPr>
              <a:t>Process flow</a:t>
            </a:r>
          </a:p>
        </p:txBody>
      </p:sp>
      <p:sp>
        <p:nvSpPr>
          <p:cNvPr id="74" name="TextBox 73"/>
          <p:cNvSpPr txBox="1"/>
          <p:nvPr/>
        </p:nvSpPr>
        <p:spPr>
          <a:xfrm>
            <a:off x="2194560" y="4114800"/>
            <a:ext cx="1737360" cy="384048"/>
          </a:xfrm>
          <a:prstGeom prst="rect">
            <a:avLst/>
          </a:prstGeom>
          <a:noFill/>
        </p:spPr>
        <p:txBody>
          <a:bodyPr wrap="square" lIns="0" tIns="0" rIns="0" bIns="0" anchor="ctr">
            <a:spAutoFit/>
          </a:bodyPr>
          <a:lstStyle/>
          <a:p>
            <a:pPr marL="0" indent="0" algn="l">
              <a:buNone/>
            </a:pPr>
            <a:r>
              <a:rPr sz="700" b="1" i="0">
                <a:solidFill>
                  <a:srgbClr val="555555"/>
                </a:solidFill>
              </a:rPr>
              <a:t>PF-nn</a:t>
            </a:r>
          </a:p>
        </p:txBody>
      </p:sp>
      <p:sp>
        <p:nvSpPr>
          <p:cNvPr id="75" name="TextBox 74"/>
          <p:cNvSpPr txBox="1"/>
          <p:nvPr/>
        </p:nvSpPr>
        <p:spPr>
          <a:xfrm>
            <a:off x="3931920" y="4114800"/>
            <a:ext cx="1737360" cy="384048"/>
          </a:xfrm>
          <a:prstGeom prst="rect">
            <a:avLst/>
          </a:prstGeom>
          <a:noFill/>
        </p:spPr>
        <p:txBody>
          <a:bodyPr wrap="square" lIns="0" tIns="0" rIns="0" bIns="0" anchor="ctr">
            <a:spAutoFit/>
          </a:bodyPr>
          <a:lstStyle/>
          <a:p>
            <a:pPr marL="0" indent="0" algn="l">
              <a:buNone/>
            </a:pPr>
            <a:r>
              <a:rPr sz="700" b="0" i="0">
                <a:solidFill>
                  <a:srgbClr val="888888"/>
                </a:solidFill>
              </a:rPr>
              <a:t>The order in which it happens</a:t>
            </a:r>
          </a:p>
        </p:txBody>
      </p:sp>
      <p:cxnSp>
        <p:nvCxnSpPr>
          <p:cNvPr id="76" name="Connector 75"/>
          <p:cNvCxnSpPr/>
          <p:nvPr/>
        </p:nvCxnSpPr>
        <p:spPr>
          <a:xfrm>
            <a:off x="3017520" y="4498848"/>
            <a:ext cx="0" cy="73152"/>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77" name="Rectangle 76"/>
          <p:cNvSpPr/>
          <p:nvPr/>
        </p:nvSpPr>
        <p:spPr>
          <a:xfrm>
            <a:off x="274320" y="4572000"/>
            <a:ext cx="5486400" cy="384048"/>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8" name="Rectangle 77"/>
          <p:cNvSpPr/>
          <p:nvPr/>
        </p:nvSpPr>
        <p:spPr>
          <a:xfrm>
            <a:off x="274320" y="4572000"/>
            <a:ext cx="45720" cy="384048"/>
          </a:xfrm>
          <a:prstGeom prst="rect">
            <a:avLst/>
          </a:prstGeom>
          <a:solidFill>
            <a:srgbClr val="1B7F4B"/>
          </a:solidFill>
          <a:ln w="1270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TextBox 78"/>
          <p:cNvSpPr txBox="1"/>
          <p:nvPr/>
        </p:nvSpPr>
        <p:spPr>
          <a:xfrm>
            <a:off x="411480" y="4572000"/>
            <a:ext cx="1737360" cy="384048"/>
          </a:xfrm>
          <a:prstGeom prst="rect">
            <a:avLst/>
          </a:prstGeom>
          <a:noFill/>
        </p:spPr>
        <p:txBody>
          <a:bodyPr wrap="square" lIns="0" tIns="0" rIns="0" bIns="0" anchor="ctr">
            <a:spAutoFit/>
          </a:bodyPr>
          <a:lstStyle/>
          <a:p>
            <a:pPr marL="0" indent="0" algn="l">
              <a:buNone/>
            </a:pPr>
            <a:r>
              <a:rPr sz="800" b="1" i="0">
                <a:solidFill>
                  <a:srgbClr val="1B7F4B"/>
                </a:solidFill>
              </a:rPr>
              <a:t>Screen specification</a:t>
            </a:r>
          </a:p>
        </p:txBody>
      </p:sp>
      <p:sp>
        <p:nvSpPr>
          <p:cNvPr id="80" name="TextBox 79"/>
          <p:cNvSpPr txBox="1"/>
          <p:nvPr/>
        </p:nvSpPr>
        <p:spPr>
          <a:xfrm>
            <a:off x="2194560" y="4572000"/>
            <a:ext cx="1737360" cy="384048"/>
          </a:xfrm>
          <a:prstGeom prst="rect">
            <a:avLst/>
          </a:prstGeom>
          <a:noFill/>
        </p:spPr>
        <p:txBody>
          <a:bodyPr wrap="square" lIns="0" tIns="0" rIns="0" bIns="0" anchor="ctr">
            <a:spAutoFit/>
          </a:bodyPr>
          <a:lstStyle/>
          <a:p>
            <a:pPr marL="0" indent="0" algn="l">
              <a:buNone/>
            </a:pPr>
            <a:r>
              <a:rPr sz="700" b="1" i="0">
                <a:solidFill>
                  <a:srgbClr val="555555"/>
                </a:solidFill>
              </a:rPr>
              <a:t>SCR-xxx-nn</a:t>
            </a:r>
          </a:p>
        </p:txBody>
      </p:sp>
      <p:sp>
        <p:nvSpPr>
          <p:cNvPr id="81" name="TextBox 80"/>
          <p:cNvSpPr txBox="1"/>
          <p:nvPr/>
        </p:nvSpPr>
        <p:spPr>
          <a:xfrm>
            <a:off x="3931920" y="4572000"/>
            <a:ext cx="1737360" cy="384048"/>
          </a:xfrm>
          <a:prstGeom prst="rect">
            <a:avLst/>
          </a:prstGeom>
          <a:noFill/>
        </p:spPr>
        <p:txBody>
          <a:bodyPr wrap="square" lIns="0" tIns="0" rIns="0" bIns="0" anchor="ctr">
            <a:spAutoFit/>
          </a:bodyPr>
          <a:lstStyle/>
          <a:p>
            <a:pPr marL="0" indent="0" algn="l">
              <a:buNone/>
            </a:pPr>
            <a:r>
              <a:rPr sz="700" b="0" i="0">
                <a:solidFill>
                  <a:srgbClr val="888888"/>
                </a:solidFill>
              </a:rPr>
              <a:t>What the customer sees and touches</a:t>
            </a:r>
          </a:p>
        </p:txBody>
      </p:sp>
      <p:sp>
        <p:nvSpPr>
          <p:cNvPr id="82" name="Rectangle 81"/>
          <p:cNvSpPr/>
          <p:nvPr/>
        </p:nvSpPr>
        <p:spPr>
          <a:xfrm>
            <a:off x="6217920" y="237744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TextBox 82"/>
          <p:cNvSpPr txBox="1"/>
          <p:nvPr/>
        </p:nvSpPr>
        <p:spPr>
          <a:xfrm>
            <a:off x="6345936" y="2377440"/>
            <a:ext cx="5486400" cy="256032"/>
          </a:xfrm>
          <a:prstGeom prst="rect">
            <a:avLst/>
          </a:prstGeom>
          <a:noFill/>
        </p:spPr>
        <p:txBody>
          <a:bodyPr wrap="square" lIns="0" tIns="0" rIns="0" bIns="0" anchor="ctr">
            <a:spAutoFit/>
          </a:bodyPr>
          <a:lstStyle/>
          <a:p>
            <a:pPr marL="0" indent="0" algn="l">
              <a:buNone/>
            </a:pPr>
            <a:r>
              <a:rPr sz="1000" b="1" i="0">
                <a:solidFill>
                  <a:srgbClr val="1E2F6E"/>
                </a:solidFill>
              </a:rPr>
              <a:t>Volume of this specification</a:t>
            </a:r>
          </a:p>
        </p:txBody>
      </p:sp>
      <p:sp>
        <p:nvSpPr>
          <p:cNvPr id="84" name="Rectangle 83"/>
          <p:cNvSpPr/>
          <p:nvPr/>
        </p:nvSpPr>
        <p:spPr>
          <a:xfrm>
            <a:off x="6217920" y="2743200"/>
            <a:ext cx="1783080" cy="64008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5" name="TextBox 84"/>
          <p:cNvSpPr txBox="1"/>
          <p:nvPr/>
        </p:nvSpPr>
        <p:spPr>
          <a:xfrm>
            <a:off x="6309360" y="2788920"/>
            <a:ext cx="1600200" cy="320040"/>
          </a:xfrm>
          <a:prstGeom prst="rect">
            <a:avLst/>
          </a:prstGeom>
          <a:noFill/>
        </p:spPr>
        <p:txBody>
          <a:bodyPr wrap="square" lIns="0" tIns="0" rIns="0" bIns="0" anchor="ctr">
            <a:spAutoFit/>
          </a:bodyPr>
          <a:lstStyle/>
          <a:p>
            <a:pPr marL="0" indent="0" algn="l">
              <a:buNone/>
            </a:pPr>
            <a:r>
              <a:rPr sz="2000" b="1" i="0">
                <a:solidFill>
                  <a:srgbClr val="C8102E"/>
                </a:solidFill>
              </a:rPr>
              <a:t>10</a:t>
            </a:r>
          </a:p>
        </p:txBody>
      </p:sp>
      <p:sp>
        <p:nvSpPr>
          <p:cNvPr id="86" name="TextBox 85"/>
          <p:cNvSpPr txBox="1"/>
          <p:nvPr/>
        </p:nvSpPr>
        <p:spPr>
          <a:xfrm>
            <a:off x="6309360" y="3127248"/>
            <a:ext cx="1600200" cy="182880"/>
          </a:xfrm>
          <a:prstGeom prst="rect">
            <a:avLst/>
          </a:prstGeom>
          <a:noFill/>
        </p:spPr>
        <p:txBody>
          <a:bodyPr wrap="square" lIns="0" tIns="0" rIns="0" bIns="0" anchor="ctr">
            <a:spAutoFit/>
          </a:bodyPr>
          <a:lstStyle/>
          <a:p>
            <a:pPr marL="0" indent="0" algn="l">
              <a:buNone/>
            </a:pPr>
            <a:r>
              <a:rPr sz="650" b="0" i="0">
                <a:solidFill>
                  <a:srgbClr val="555555"/>
                </a:solidFill>
              </a:rPr>
              <a:t>Process flows</a:t>
            </a:r>
          </a:p>
        </p:txBody>
      </p:sp>
      <p:sp>
        <p:nvSpPr>
          <p:cNvPr id="87" name="Rectangle 86"/>
          <p:cNvSpPr/>
          <p:nvPr/>
        </p:nvSpPr>
        <p:spPr>
          <a:xfrm>
            <a:off x="8138160" y="2743200"/>
            <a:ext cx="1783080" cy="64008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8" name="TextBox 87"/>
          <p:cNvSpPr txBox="1"/>
          <p:nvPr/>
        </p:nvSpPr>
        <p:spPr>
          <a:xfrm>
            <a:off x="8229600" y="2788920"/>
            <a:ext cx="1600200" cy="320040"/>
          </a:xfrm>
          <a:prstGeom prst="rect">
            <a:avLst/>
          </a:prstGeom>
          <a:noFill/>
        </p:spPr>
        <p:txBody>
          <a:bodyPr wrap="square" lIns="0" tIns="0" rIns="0" bIns="0" anchor="ctr">
            <a:spAutoFit/>
          </a:bodyPr>
          <a:lstStyle/>
          <a:p>
            <a:pPr marL="0" indent="0" algn="l">
              <a:buNone/>
            </a:pPr>
            <a:r>
              <a:rPr sz="2000" b="1" i="0">
                <a:solidFill>
                  <a:srgbClr val="1E2F6E"/>
                </a:solidFill>
              </a:rPr>
              <a:t>54</a:t>
            </a:r>
          </a:p>
        </p:txBody>
      </p:sp>
      <p:sp>
        <p:nvSpPr>
          <p:cNvPr id="89" name="TextBox 88"/>
          <p:cNvSpPr txBox="1"/>
          <p:nvPr/>
        </p:nvSpPr>
        <p:spPr>
          <a:xfrm>
            <a:off x="8229600" y="3127248"/>
            <a:ext cx="1600200" cy="182880"/>
          </a:xfrm>
          <a:prstGeom prst="rect">
            <a:avLst/>
          </a:prstGeom>
          <a:noFill/>
        </p:spPr>
        <p:txBody>
          <a:bodyPr wrap="square" lIns="0" tIns="0" rIns="0" bIns="0" anchor="ctr">
            <a:spAutoFit/>
          </a:bodyPr>
          <a:lstStyle/>
          <a:p>
            <a:pPr marL="0" indent="0" algn="l">
              <a:buNone/>
            </a:pPr>
            <a:r>
              <a:rPr sz="650" b="0" i="0">
                <a:solidFill>
                  <a:srgbClr val="555555"/>
                </a:solidFill>
              </a:rPr>
              <a:t>Functional requirements</a:t>
            </a:r>
          </a:p>
        </p:txBody>
      </p:sp>
      <p:sp>
        <p:nvSpPr>
          <p:cNvPr id="90" name="Rectangle 89"/>
          <p:cNvSpPr/>
          <p:nvPr/>
        </p:nvSpPr>
        <p:spPr>
          <a:xfrm>
            <a:off x="10058400" y="2743200"/>
            <a:ext cx="1783080" cy="64008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1" name="TextBox 90"/>
          <p:cNvSpPr txBox="1"/>
          <p:nvPr/>
        </p:nvSpPr>
        <p:spPr>
          <a:xfrm>
            <a:off x="10149840" y="2788920"/>
            <a:ext cx="1600200" cy="320040"/>
          </a:xfrm>
          <a:prstGeom prst="rect">
            <a:avLst/>
          </a:prstGeom>
          <a:noFill/>
        </p:spPr>
        <p:txBody>
          <a:bodyPr wrap="square" lIns="0" tIns="0" rIns="0" bIns="0" anchor="ctr">
            <a:spAutoFit/>
          </a:bodyPr>
          <a:lstStyle/>
          <a:p>
            <a:pPr marL="0" indent="0" algn="l">
              <a:buNone/>
            </a:pPr>
            <a:r>
              <a:rPr sz="2000" b="1" i="0">
                <a:solidFill>
                  <a:srgbClr val="3D5298"/>
                </a:solidFill>
              </a:rPr>
              <a:t>12</a:t>
            </a:r>
          </a:p>
        </p:txBody>
      </p:sp>
      <p:sp>
        <p:nvSpPr>
          <p:cNvPr id="92" name="TextBox 91"/>
          <p:cNvSpPr txBox="1"/>
          <p:nvPr/>
        </p:nvSpPr>
        <p:spPr>
          <a:xfrm>
            <a:off x="10149840" y="3127248"/>
            <a:ext cx="1600200" cy="182880"/>
          </a:xfrm>
          <a:prstGeom prst="rect">
            <a:avLst/>
          </a:prstGeom>
          <a:noFill/>
        </p:spPr>
        <p:txBody>
          <a:bodyPr wrap="square" lIns="0" tIns="0" rIns="0" bIns="0" anchor="ctr">
            <a:spAutoFit/>
          </a:bodyPr>
          <a:lstStyle/>
          <a:p>
            <a:pPr marL="0" indent="0" algn="l">
              <a:buNone/>
            </a:pPr>
            <a:r>
              <a:rPr sz="650" b="0" i="0">
                <a:solidFill>
                  <a:srgbClr val="555555"/>
                </a:solidFill>
              </a:rPr>
              <a:t>Business requirements</a:t>
            </a:r>
          </a:p>
        </p:txBody>
      </p:sp>
      <p:sp>
        <p:nvSpPr>
          <p:cNvPr id="93" name="Rectangle 92"/>
          <p:cNvSpPr/>
          <p:nvPr/>
        </p:nvSpPr>
        <p:spPr>
          <a:xfrm>
            <a:off x="6217920" y="3474720"/>
            <a:ext cx="1783080" cy="64008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4" name="TextBox 93"/>
          <p:cNvSpPr txBox="1"/>
          <p:nvPr/>
        </p:nvSpPr>
        <p:spPr>
          <a:xfrm>
            <a:off x="6309360" y="3520440"/>
            <a:ext cx="1600200" cy="320040"/>
          </a:xfrm>
          <a:prstGeom prst="rect">
            <a:avLst/>
          </a:prstGeom>
          <a:noFill/>
        </p:spPr>
        <p:txBody>
          <a:bodyPr wrap="square" lIns="0" tIns="0" rIns="0" bIns="0" anchor="ctr">
            <a:spAutoFit/>
          </a:bodyPr>
          <a:lstStyle/>
          <a:p>
            <a:pPr marL="0" indent="0" algn="l">
              <a:buNone/>
            </a:pPr>
            <a:r>
              <a:rPr sz="2000" b="1" i="0">
                <a:solidFill>
                  <a:srgbClr val="6B6800"/>
                </a:solidFill>
              </a:rPr>
              <a:t>34</a:t>
            </a:r>
          </a:p>
        </p:txBody>
      </p:sp>
      <p:sp>
        <p:nvSpPr>
          <p:cNvPr id="95" name="TextBox 94"/>
          <p:cNvSpPr txBox="1"/>
          <p:nvPr/>
        </p:nvSpPr>
        <p:spPr>
          <a:xfrm>
            <a:off x="6309360" y="3858768"/>
            <a:ext cx="1600200" cy="182880"/>
          </a:xfrm>
          <a:prstGeom prst="rect">
            <a:avLst/>
          </a:prstGeom>
          <a:noFill/>
        </p:spPr>
        <p:txBody>
          <a:bodyPr wrap="square" lIns="0" tIns="0" rIns="0" bIns="0" anchor="ctr">
            <a:spAutoFit/>
          </a:bodyPr>
          <a:lstStyle/>
          <a:p>
            <a:pPr marL="0" indent="0" algn="l">
              <a:buNone/>
            </a:pPr>
            <a:r>
              <a:rPr sz="650" b="0" i="0">
                <a:solidFill>
                  <a:srgbClr val="555555"/>
                </a:solidFill>
              </a:rPr>
              <a:t>Detailed business rules</a:t>
            </a:r>
          </a:p>
        </p:txBody>
      </p:sp>
      <p:sp>
        <p:nvSpPr>
          <p:cNvPr id="96" name="Rectangle 95"/>
          <p:cNvSpPr/>
          <p:nvPr/>
        </p:nvSpPr>
        <p:spPr>
          <a:xfrm>
            <a:off x="8138160" y="3474720"/>
            <a:ext cx="1783080" cy="64008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7" name="TextBox 96"/>
          <p:cNvSpPr txBox="1"/>
          <p:nvPr/>
        </p:nvSpPr>
        <p:spPr>
          <a:xfrm>
            <a:off x="8229600" y="3520440"/>
            <a:ext cx="1600200" cy="320040"/>
          </a:xfrm>
          <a:prstGeom prst="rect">
            <a:avLst/>
          </a:prstGeom>
          <a:noFill/>
        </p:spPr>
        <p:txBody>
          <a:bodyPr wrap="square" lIns="0" tIns="0" rIns="0" bIns="0" anchor="ctr">
            <a:spAutoFit/>
          </a:bodyPr>
          <a:lstStyle/>
          <a:p>
            <a:pPr marL="0" indent="0" algn="l">
              <a:buNone/>
            </a:pPr>
            <a:r>
              <a:rPr sz="2000" b="1" i="0">
                <a:solidFill>
                  <a:srgbClr val="1B7F4B"/>
                </a:solidFill>
              </a:rPr>
              <a:t>26</a:t>
            </a:r>
          </a:p>
        </p:txBody>
      </p:sp>
      <p:sp>
        <p:nvSpPr>
          <p:cNvPr id="98" name="TextBox 97"/>
          <p:cNvSpPr txBox="1"/>
          <p:nvPr/>
        </p:nvSpPr>
        <p:spPr>
          <a:xfrm>
            <a:off x="8229600" y="3858768"/>
            <a:ext cx="1600200" cy="182880"/>
          </a:xfrm>
          <a:prstGeom prst="rect">
            <a:avLst/>
          </a:prstGeom>
          <a:noFill/>
        </p:spPr>
        <p:txBody>
          <a:bodyPr wrap="square" lIns="0" tIns="0" rIns="0" bIns="0" anchor="ctr">
            <a:spAutoFit/>
          </a:bodyPr>
          <a:lstStyle/>
          <a:p>
            <a:pPr marL="0" indent="0" algn="l">
              <a:buNone/>
            </a:pPr>
            <a:r>
              <a:rPr sz="650" b="0" i="0">
                <a:solidFill>
                  <a:srgbClr val="555555"/>
                </a:solidFill>
              </a:rPr>
              <a:t>Screen specifications</a:t>
            </a:r>
          </a:p>
        </p:txBody>
      </p:sp>
      <p:sp>
        <p:nvSpPr>
          <p:cNvPr id="99" name="Rectangle 98"/>
          <p:cNvSpPr/>
          <p:nvPr/>
        </p:nvSpPr>
        <p:spPr>
          <a:xfrm>
            <a:off x="10058400" y="3474720"/>
            <a:ext cx="1783080" cy="64008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0" name="TextBox 99"/>
          <p:cNvSpPr txBox="1"/>
          <p:nvPr/>
        </p:nvSpPr>
        <p:spPr>
          <a:xfrm>
            <a:off x="10149840" y="3520440"/>
            <a:ext cx="1600200" cy="320040"/>
          </a:xfrm>
          <a:prstGeom prst="rect">
            <a:avLst/>
          </a:prstGeom>
          <a:noFill/>
        </p:spPr>
        <p:txBody>
          <a:bodyPr wrap="square" lIns="0" tIns="0" rIns="0" bIns="0" anchor="ctr">
            <a:spAutoFit/>
          </a:bodyPr>
          <a:lstStyle/>
          <a:p>
            <a:pPr marL="0" indent="0" algn="l">
              <a:buNone/>
            </a:pPr>
            <a:r>
              <a:rPr sz="2000" b="1" i="0">
                <a:solidFill>
                  <a:srgbClr val="B26A00"/>
                </a:solidFill>
              </a:rPr>
              <a:t>27</a:t>
            </a:r>
          </a:p>
        </p:txBody>
      </p:sp>
      <p:sp>
        <p:nvSpPr>
          <p:cNvPr id="101" name="TextBox 100"/>
          <p:cNvSpPr txBox="1"/>
          <p:nvPr/>
        </p:nvSpPr>
        <p:spPr>
          <a:xfrm>
            <a:off x="10149840" y="3858768"/>
            <a:ext cx="1600200" cy="182880"/>
          </a:xfrm>
          <a:prstGeom prst="rect">
            <a:avLst/>
          </a:prstGeom>
          <a:noFill/>
        </p:spPr>
        <p:txBody>
          <a:bodyPr wrap="square" lIns="0" tIns="0" rIns="0" bIns="0" anchor="ctr">
            <a:spAutoFit/>
          </a:bodyPr>
          <a:lstStyle/>
          <a:p>
            <a:pPr marL="0" indent="0" algn="l">
              <a:buNone/>
            </a:pPr>
            <a:r>
              <a:rPr sz="650" b="0" i="0">
                <a:solidFill>
                  <a:srgbClr val="555555"/>
                </a:solidFill>
              </a:rPr>
              <a:t>Open questions</a:t>
            </a:r>
          </a:p>
        </p:txBody>
      </p:sp>
      <p:sp>
        <p:nvSpPr>
          <p:cNvPr id="102" name="Rectangle 101"/>
          <p:cNvSpPr/>
          <p:nvPr/>
        </p:nvSpPr>
        <p:spPr>
          <a:xfrm>
            <a:off x="6217920" y="4297680"/>
            <a:ext cx="5669280" cy="822960"/>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3" name="TextBox 102"/>
          <p:cNvSpPr txBox="1"/>
          <p:nvPr/>
        </p:nvSpPr>
        <p:spPr>
          <a:xfrm>
            <a:off x="6400800" y="4343400"/>
            <a:ext cx="5303520" cy="731520"/>
          </a:xfrm>
          <a:prstGeom prst="rect">
            <a:avLst/>
          </a:prstGeom>
          <a:noFill/>
        </p:spPr>
        <p:txBody>
          <a:bodyPr wrap="square" lIns="0" tIns="0" rIns="0" bIns="0" anchor="t">
            <a:spAutoFit/>
          </a:bodyPr>
          <a:lstStyle/>
          <a:p>
            <a:pPr marL="0" indent="0" algn="l">
              <a:buNone/>
            </a:pPr>
            <a:r>
              <a:rPr sz="750" b="0" i="0">
                <a:solidFill>
                  <a:srgbClr val="6B6800"/>
                </a:solidFill>
              </a:rPr>
              <a:t>Traceability contract:  every screen row cites the functional requirement it realises; every functional requirement cites the business rule that constrains it; every business rule cites the business requirement that justifies it. Part 6 publishes the full matrix so a change in one place can be traced to every other.</a:t>
            </a:r>
          </a:p>
        </p:txBody>
      </p:sp>
      <p:sp>
        <p:nvSpPr>
          <p:cNvPr id="104" name="Rectangle 103"/>
          <p:cNvSpPr/>
          <p:nvPr/>
        </p:nvSpPr>
        <p:spPr>
          <a:xfrm>
            <a:off x="274320" y="525780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5" name="TextBox 104"/>
          <p:cNvSpPr txBox="1"/>
          <p:nvPr/>
        </p:nvSpPr>
        <p:spPr>
          <a:xfrm>
            <a:off x="402336" y="5257800"/>
            <a:ext cx="11612880" cy="256032"/>
          </a:xfrm>
          <a:prstGeom prst="rect">
            <a:avLst/>
          </a:prstGeom>
          <a:noFill/>
        </p:spPr>
        <p:txBody>
          <a:bodyPr wrap="square" lIns="0" tIns="0" rIns="0" bIns="0" anchor="ctr">
            <a:spAutoFit/>
          </a:bodyPr>
          <a:lstStyle/>
          <a:p>
            <a:pPr marL="0" indent="0" algn="l">
              <a:buNone/>
            </a:pPr>
            <a:r>
              <a:rPr sz="1000" b="1" i="0">
                <a:solidFill>
                  <a:srgbClr val="1E2F6E"/>
                </a:solidFill>
              </a:rPr>
              <a:t>Where to start, by role</a:t>
            </a:r>
          </a:p>
        </p:txBody>
      </p:sp>
      <p:sp>
        <p:nvSpPr>
          <p:cNvPr id="106" name="Rectangle 105"/>
          <p:cNvSpPr/>
          <p:nvPr/>
        </p:nvSpPr>
        <p:spPr>
          <a:xfrm>
            <a:off x="274320" y="5560056"/>
            <a:ext cx="2857500" cy="68580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7" name="Rectangle 106"/>
          <p:cNvSpPr/>
          <p:nvPr/>
        </p:nvSpPr>
        <p:spPr>
          <a:xfrm>
            <a:off x="274320" y="5560056"/>
            <a:ext cx="2857500" cy="36576"/>
          </a:xfrm>
          <a:prstGeom prst="rect">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8" name="TextBox 107"/>
          <p:cNvSpPr txBox="1"/>
          <p:nvPr/>
        </p:nvSpPr>
        <p:spPr>
          <a:xfrm>
            <a:off x="411480" y="5623560"/>
            <a:ext cx="2583180" cy="182880"/>
          </a:xfrm>
          <a:prstGeom prst="rect">
            <a:avLst/>
          </a:prstGeom>
          <a:noFill/>
        </p:spPr>
        <p:txBody>
          <a:bodyPr wrap="square" lIns="0" tIns="0" rIns="0" bIns="0" anchor="ctr">
            <a:spAutoFit/>
          </a:bodyPr>
          <a:lstStyle/>
          <a:p>
            <a:pPr marL="0" indent="0" algn="l">
              <a:buNone/>
            </a:pPr>
            <a:r>
              <a:rPr sz="750" b="1" i="0">
                <a:solidFill>
                  <a:srgbClr val="1E2F6E"/>
                </a:solidFill>
              </a:rPr>
              <a:t>Product Owner</a:t>
            </a:r>
          </a:p>
        </p:txBody>
      </p:sp>
      <p:sp>
        <p:nvSpPr>
          <p:cNvPr id="109" name="TextBox 108"/>
          <p:cNvSpPr txBox="1"/>
          <p:nvPr/>
        </p:nvSpPr>
        <p:spPr>
          <a:xfrm>
            <a:off x="411480" y="5806440"/>
            <a:ext cx="2583180" cy="384048"/>
          </a:xfrm>
          <a:prstGeom prst="rect">
            <a:avLst/>
          </a:prstGeom>
          <a:noFill/>
        </p:spPr>
        <p:txBody>
          <a:bodyPr wrap="square" lIns="0" tIns="0" rIns="0" bIns="0" anchor="t">
            <a:spAutoFit/>
          </a:bodyPr>
          <a:lstStyle/>
          <a:p>
            <a:pPr marL="0" indent="0" algn="l">
              <a:buNone/>
            </a:pPr>
            <a:r>
              <a:rPr sz="650" b="0" i="0">
                <a:solidFill>
                  <a:srgbClr val="555555"/>
                </a:solidFill>
              </a:rPr>
              <a:t>Part 1 scope → Part 4 business requirements → Part 6 open questions. Decisions needed from you are flagged TBC.</a:t>
            </a:r>
          </a:p>
        </p:txBody>
      </p:sp>
      <p:sp>
        <p:nvSpPr>
          <p:cNvPr id="110" name="Rectangle 109"/>
          <p:cNvSpPr/>
          <p:nvPr/>
        </p:nvSpPr>
        <p:spPr>
          <a:xfrm>
            <a:off x="3200400" y="5560056"/>
            <a:ext cx="2857500" cy="68580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1" name="Rectangle 110"/>
          <p:cNvSpPr/>
          <p:nvPr/>
        </p:nvSpPr>
        <p:spPr>
          <a:xfrm>
            <a:off x="3200400" y="5560056"/>
            <a:ext cx="2857500" cy="36576"/>
          </a:xfrm>
          <a:prstGeom prst="rect">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2" name="TextBox 111"/>
          <p:cNvSpPr txBox="1"/>
          <p:nvPr/>
        </p:nvSpPr>
        <p:spPr>
          <a:xfrm>
            <a:off x="3337560" y="5623560"/>
            <a:ext cx="2583180" cy="182880"/>
          </a:xfrm>
          <a:prstGeom prst="rect">
            <a:avLst/>
          </a:prstGeom>
          <a:noFill/>
        </p:spPr>
        <p:txBody>
          <a:bodyPr wrap="square" lIns="0" tIns="0" rIns="0" bIns="0" anchor="ctr">
            <a:spAutoFit/>
          </a:bodyPr>
          <a:lstStyle/>
          <a:p>
            <a:pPr marL="0" indent="0" algn="l">
              <a:buNone/>
            </a:pPr>
            <a:r>
              <a:rPr sz="750" b="1" i="0">
                <a:solidFill>
                  <a:srgbClr val="1E2F6E"/>
                </a:solidFill>
              </a:rPr>
              <a:t>UX / UI Designer</a:t>
            </a:r>
          </a:p>
        </p:txBody>
      </p:sp>
      <p:sp>
        <p:nvSpPr>
          <p:cNvPr id="113" name="TextBox 112"/>
          <p:cNvSpPr txBox="1"/>
          <p:nvPr/>
        </p:nvSpPr>
        <p:spPr>
          <a:xfrm>
            <a:off x="3337560" y="5806440"/>
            <a:ext cx="2583180" cy="384048"/>
          </a:xfrm>
          <a:prstGeom prst="rect">
            <a:avLst/>
          </a:prstGeom>
          <a:noFill/>
        </p:spPr>
        <p:txBody>
          <a:bodyPr wrap="square" lIns="0" tIns="0" rIns="0" bIns="0" anchor="t">
            <a:spAutoFit/>
          </a:bodyPr>
          <a:lstStyle/>
          <a:p>
            <a:pPr marL="0" indent="0" algn="l">
              <a:buNone/>
            </a:pPr>
            <a:r>
              <a:rPr sz="650" b="0" i="0">
                <a:solidFill>
                  <a:srgbClr val="555555"/>
                </a:solidFill>
              </a:rPr>
              <a:t>Part 2 flows → Part 5 screen specifications. Every annotation row states the behaviour the visual must support.</a:t>
            </a:r>
          </a:p>
        </p:txBody>
      </p:sp>
      <p:sp>
        <p:nvSpPr>
          <p:cNvPr id="114" name="Rectangle 113"/>
          <p:cNvSpPr/>
          <p:nvPr/>
        </p:nvSpPr>
        <p:spPr>
          <a:xfrm>
            <a:off x="6126480" y="5560056"/>
            <a:ext cx="2857500" cy="68580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5" name="Rectangle 114"/>
          <p:cNvSpPr/>
          <p:nvPr/>
        </p:nvSpPr>
        <p:spPr>
          <a:xfrm>
            <a:off x="6126480" y="5560056"/>
            <a:ext cx="2857500" cy="36576"/>
          </a:xfrm>
          <a:prstGeom prst="rect">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6" name="TextBox 115"/>
          <p:cNvSpPr txBox="1"/>
          <p:nvPr/>
        </p:nvSpPr>
        <p:spPr>
          <a:xfrm>
            <a:off x="6263640" y="5623560"/>
            <a:ext cx="2583180" cy="182880"/>
          </a:xfrm>
          <a:prstGeom prst="rect">
            <a:avLst/>
          </a:prstGeom>
          <a:noFill/>
        </p:spPr>
        <p:txBody>
          <a:bodyPr wrap="square" lIns="0" tIns="0" rIns="0" bIns="0" anchor="ctr">
            <a:spAutoFit/>
          </a:bodyPr>
          <a:lstStyle/>
          <a:p>
            <a:pPr marL="0" indent="0" algn="l">
              <a:buNone/>
            </a:pPr>
            <a:r>
              <a:rPr sz="750" b="1" i="0">
                <a:solidFill>
                  <a:srgbClr val="1E2F6E"/>
                </a:solidFill>
              </a:rPr>
              <a:t>Developer / SI</a:t>
            </a:r>
          </a:p>
        </p:txBody>
      </p:sp>
      <p:sp>
        <p:nvSpPr>
          <p:cNvPr id="117" name="TextBox 116"/>
          <p:cNvSpPr txBox="1"/>
          <p:nvPr/>
        </p:nvSpPr>
        <p:spPr>
          <a:xfrm>
            <a:off x="6263640" y="5806440"/>
            <a:ext cx="2583180" cy="384048"/>
          </a:xfrm>
          <a:prstGeom prst="rect">
            <a:avLst/>
          </a:prstGeom>
          <a:noFill/>
        </p:spPr>
        <p:txBody>
          <a:bodyPr wrap="square" lIns="0" tIns="0" rIns="0" bIns="0" anchor="t">
            <a:spAutoFit/>
          </a:bodyPr>
          <a:lstStyle/>
          <a:p>
            <a:pPr marL="0" indent="0" algn="l">
              <a:buNone/>
            </a:pPr>
            <a:r>
              <a:rPr sz="650" b="0" i="0">
                <a:solidFill>
                  <a:srgbClr val="555555"/>
                </a:solidFill>
              </a:rPr>
              <a:t>Part 3 functional requirements → Part 4 business rules. Thresholds and configuration parameters are named explicitly.</a:t>
            </a:r>
          </a:p>
        </p:txBody>
      </p:sp>
      <p:sp>
        <p:nvSpPr>
          <p:cNvPr id="118" name="Rectangle 117"/>
          <p:cNvSpPr/>
          <p:nvPr/>
        </p:nvSpPr>
        <p:spPr>
          <a:xfrm>
            <a:off x="9052560" y="5560056"/>
            <a:ext cx="2857500" cy="68580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9" name="Rectangle 118"/>
          <p:cNvSpPr/>
          <p:nvPr/>
        </p:nvSpPr>
        <p:spPr>
          <a:xfrm>
            <a:off x="9052560" y="5560056"/>
            <a:ext cx="2857500" cy="36576"/>
          </a:xfrm>
          <a:prstGeom prst="rect">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0" name="TextBox 119"/>
          <p:cNvSpPr txBox="1"/>
          <p:nvPr/>
        </p:nvSpPr>
        <p:spPr>
          <a:xfrm>
            <a:off x="9189720" y="5623560"/>
            <a:ext cx="2583180" cy="182880"/>
          </a:xfrm>
          <a:prstGeom prst="rect">
            <a:avLst/>
          </a:prstGeom>
          <a:noFill/>
        </p:spPr>
        <p:txBody>
          <a:bodyPr wrap="square" lIns="0" tIns="0" rIns="0" bIns="0" anchor="ctr">
            <a:spAutoFit/>
          </a:bodyPr>
          <a:lstStyle/>
          <a:p>
            <a:pPr marL="0" indent="0" algn="l">
              <a:buNone/>
            </a:pPr>
            <a:r>
              <a:rPr sz="750" b="1" i="0">
                <a:solidFill>
                  <a:srgbClr val="1E2F6E"/>
                </a:solidFill>
              </a:rPr>
              <a:t>QA / Test Lead</a:t>
            </a:r>
          </a:p>
        </p:txBody>
      </p:sp>
      <p:sp>
        <p:nvSpPr>
          <p:cNvPr id="121" name="TextBox 120"/>
          <p:cNvSpPr txBox="1"/>
          <p:nvPr/>
        </p:nvSpPr>
        <p:spPr>
          <a:xfrm>
            <a:off x="9189720" y="5806440"/>
            <a:ext cx="2583180" cy="384048"/>
          </a:xfrm>
          <a:prstGeom prst="rect">
            <a:avLst/>
          </a:prstGeom>
          <a:noFill/>
        </p:spPr>
        <p:txBody>
          <a:bodyPr wrap="square" lIns="0" tIns="0" rIns="0" bIns="0" anchor="t">
            <a:spAutoFit/>
          </a:bodyPr>
          <a:lstStyle/>
          <a:p>
            <a:pPr marL="0" indent="0" algn="l">
              <a:buNone/>
            </a:pPr>
            <a:r>
              <a:rPr sz="650" b="0" i="0">
                <a:solidFill>
                  <a:srgbClr val="555555"/>
                </a:solidFill>
              </a:rPr>
              <a:t>Part 6 traceability matrix → Part 2 flows. Each flow branch is a test scenario; each rule is an assertion.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128016" cy="68580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005840" y="2011680"/>
            <a:ext cx="2000000" cy="700000"/>
          </a:xfrm>
          <a:prstGeom prst="rect">
            <a:avLst/>
          </a:prstGeom>
          <a:noFill/>
        </p:spPr>
        <p:txBody>
          <a:bodyPr wrap="square" lIns="0" tIns="0" rIns="0" bIns="0" anchor="ctr">
            <a:spAutoFit/>
          </a:bodyPr>
          <a:lstStyle/>
          <a:p>
            <a:pPr marL="0" indent="0" algn="l">
              <a:buNone/>
            </a:pPr>
            <a:r>
              <a:rPr sz="5400" b="1" i="0">
                <a:solidFill>
                  <a:srgbClr val="C8102E"/>
                </a:solidFill>
              </a:rPr>
              <a:t>PART 2</a:t>
            </a:r>
          </a:p>
        </p:txBody>
      </p:sp>
      <p:sp>
        <p:nvSpPr>
          <p:cNvPr id="5" name="TextBox 4"/>
          <p:cNvSpPr txBox="1"/>
          <p:nvPr/>
        </p:nvSpPr>
        <p:spPr>
          <a:xfrm>
            <a:off x="1005840" y="2743200"/>
            <a:ext cx="9000000" cy="640080"/>
          </a:xfrm>
          <a:prstGeom prst="rect">
            <a:avLst/>
          </a:prstGeom>
          <a:noFill/>
        </p:spPr>
        <p:txBody>
          <a:bodyPr wrap="square" lIns="0" tIns="0" rIns="0" bIns="0" anchor="ctr">
            <a:spAutoFit/>
          </a:bodyPr>
          <a:lstStyle/>
          <a:p>
            <a:pPr marL="0" indent="0" algn="l">
              <a:buNone/>
            </a:pPr>
            <a:r>
              <a:rPr sz="3000" b="1" i="0">
                <a:solidFill>
                  <a:srgbClr val="FFFFFF"/>
                </a:solidFill>
              </a:rPr>
              <a:t>Process Flows</a:t>
            </a:r>
          </a:p>
        </p:txBody>
      </p:sp>
      <p:sp>
        <p:nvSpPr>
          <p:cNvPr id="6" name="TextBox 5"/>
          <p:cNvSpPr txBox="1"/>
          <p:nvPr/>
        </p:nvSpPr>
        <p:spPr>
          <a:xfrm>
            <a:off x="1005840" y="3429000"/>
            <a:ext cx="9000000" cy="320040"/>
          </a:xfrm>
          <a:prstGeom prst="rect">
            <a:avLst/>
          </a:prstGeom>
          <a:noFill/>
        </p:spPr>
        <p:txBody>
          <a:bodyPr wrap="square" lIns="0" tIns="0" rIns="0" bIns="0" anchor="ctr">
            <a:spAutoFit/>
          </a:bodyPr>
          <a:lstStyle/>
          <a:p>
            <a:pPr marL="0" indent="0" algn="l">
              <a:buNone/>
            </a:pPr>
            <a:r>
              <a:rPr sz="1200" b="0" i="0">
                <a:solidFill>
                  <a:srgbClr val="AAAACC"/>
                </a:solidFill>
              </a:rPr>
              <a:t>End-to-end and per-module flows — PF-01 to PF-10</a:t>
            </a:r>
          </a:p>
        </p:txBody>
      </p:sp>
      <p:sp>
        <p:nvSpPr>
          <p:cNvPr id="7" name="Oval 6"/>
          <p:cNvSpPr/>
          <p:nvPr/>
        </p:nvSpPr>
        <p:spPr>
          <a:xfrm>
            <a:off x="1005840" y="420624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 name="TextBox 7"/>
          <p:cNvSpPr txBox="1"/>
          <p:nvPr/>
        </p:nvSpPr>
        <p:spPr>
          <a:xfrm>
            <a:off x="1188720" y="411480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PF-01 Master end-to-end flow  ·  PF-02 Onboarding  ·  PF-03 Homepage context</a:t>
            </a:r>
          </a:p>
        </p:txBody>
      </p:sp>
      <p:sp>
        <p:nvSpPr>
          <p:cNvPr id="9" name="Oval 8"/>
          <p:cNvSpPr/>
          <p:nvPr/>
        </p:nvSpPr>
        <p:spPr>
          <a:xfrm>
            <a:off x="1005840" y="452628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1188720" y="443484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PF-04 Login gate  ·  PF-05 Signup  ·  PF-06 Login</a:t>
            </a:r>
          </a:p>
        </p:txBody>
      </p:sp>
      <p:sp>
        <p:nvSpPr>
          <p:cNvPr id="11" name="Oval 10"/>
          <p:cNvSpPr/>
          <p:nvPr/>
        </p:nvSpPr>
        <p:spPr>
          <a:xfrm>
            <a:off x="1005840" y="484632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1188720" y="475488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PF-07 Cart — Delivery  ·  PF-08 Cart — Pickup  ·  PF-09 Store change in Cart</a:t>
            </a:r>
          </a:p>
        </p:txBody>
      </p:sp>
      <p:sp>
        <p:nvSpPr>
          <p:cNvPr id="13" name="Oval 12"/>
          <p:cNvSpPr/>
          <p:nvPr/>
        </p:nvSpPr>
        <p:spPr>
          <a:xfrm>
            <a:off x="1005840" y="516636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1188720" y="507492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PF-10 Checkout</a:t>
            </a:r>
          </a:p>
        </p:txBody>
      </p:sp>
      <p:sp>
        <p:nvSpPr>
          <p:cNvPr id="15" name="Oval 14"/>
          <p:cNvSpPr/>
          <p:nvPr/>
        </p:nvSpPr>
        <p:spPr>
          <a:xfrm>
            <a:off x="1005840" y="548640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1188720" y="539496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Each flow states its trigger, actors, pre-conditions and the requirements it realises.</a:t>
            </a:r>
          </a:p>
        </p:txBody>
      </p:sp>
      <p:sp>
        <p:nvSpPr>
          <p:cNvPr id="17" name="Rectangle 16"/>
          <p:cNvSpPr/>
          <p:nvPr/>
        </p:nvSpPr>
        <p:spPr>
          <a:xfrm>
            <a:off x="0" y="6473952"/>
            <a:ext cx="12161520" cy="201168"/>
          </a:xfrm>
          <a:prstGeom prst="rect">
            <a:avLst/>
          </a:prstGeom>
          <a:solidFill>
            <a:srgbClr val="16234F"/>
          </a:solidFill>
          <a:ln w="12700">
            <a:solidFill>
              <a:srgbClr val="16234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6E7CA8"/>
                </a:solidFill>
              </a:rPr>
              <a:t>LOTTE MART VN Online Renewal 2026  —  Simplify User Flow  |  CONFIDENTIAL</a:t>
            </a:r>
          </a:p>
        </p:txBody>
      </p:sp>
      <p:sp>
        <p:nvSpPr>
          <p:cNvPr id="19" name="TextBox 18"/>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6E7CA8"/>
                </a:solidFill>
              </a:rPr>
              <a:t>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PF-01  ·  Master End-to-End Flow</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9</a:t>
            </a:r>
          </a:p>
        </p:txBody>
      </p:sp>
      <p:sp>
        <p:nvSpPr>
          <p:cNvPr id="9" name="Rectangle 8"/>
          <p:cNvSpPr/>
          <p:nvPr/>
        </p:nvSpPr>
        <p:spPr>
          <a:xfrm>
            <a:off x="274320" y="640080"/>
            <a:ext cx="1385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365760" y="640080"/>
            <a:ext cx="1248000" cy="246888"/>
          </a:xfrm>
          <a:prstGeom prst="rect">
            <a:avLst/>
          </a:prstGeom>
          <a:noFill/>
        </p:spPr>
        <p:txBody>
          <a:bodyPr wrap="square" lIns="0" tIns="0" rIns="0" bIns="0" anchor="ctr">
            <a:spAutoFit/>
          </a:bodyPr>
          <a:lstStyle/>
          <a:p>
            <a:pPr marL="0" indent="0" algn="l">
              <a:buNone/>
            </a:pPr>
            <a:r>
              <a:rPr sz="680" b="1" i="0">
                <a:solidFill>
                  <a:srgbClr val="1E2F6E"/>
                </a:solidFill>
              </a:rPr>
              <a:t>Trigger: </a:t>
            </a:r>
            <a:r>
              <a:rPr sz="680" b="0" i="0">
                <a:solidFill>
                  <a:srgbClr val="555555"/>
                </a:solidFill>
              </a:rPr>
              <a:t>First app launch</a:t>
            </a:r>
          </a:p>
        </p:txBody>
      </p:sp>
      <p:sp>
        <p:nvSpPr>
          <p:cNvPr id="11" name="Rectangle 10"/>
          <p:cNvSpPr/>
          <p:nvPr/>
        </p:nvSpPr>
        <p:spPr>
          <a:xfrm>
            <a:off x="1728060" y="640080"/>
            <a:ext cx="1177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1819500" y="640080"/>
            <a:ext cx="1040000" cy="246888"/>
          </a:xfrm>
          <a:prstGeom prst="rect">
            <a:avLst/>
          </a:prstGeom>
          <a:noFill/>
        </p:spPr>
        <p:txBody>
          <a:bodyPr wrap="square" lIns="0" tIns="0" rIns="0" bIns="0" anchor="ctr">
            <a:spAutoFit/>
          </a:bodyPr>
          <a:lstStyle/>
          <a:p>
            <a:pPr marL="0" indent="0" algn="l">
              <a:buNone/>
            </a:pPr>
            <a:r>
              <a:rPr sz="680" b="1" i="0">
                <a:solidFill>
                  <a:srgbClr val="1E2F6E"/>
                </a:solidFill>
              </a:rPr>
              <a:t>Actor: </a:t>
            </a:r>
            <a:r>
              <a:rPr sz="680" b="0" i="0">
                <a:solidFill>
                  <a:srgbClr val="555555"/>
                </a:solidFill>
              </a:rPr>
              <a:t>Guest → Member</a:t>
            </a:r>
          </a:p>
        </p:txBody>
      </p:sp>
      <p:sp>
        <p:nvSpPr>
          <p:cNvPr id="13" name="Rectangle 12"/>
          <p:cNvSpPr/>
          <p:nvPr/>
        </p:nvSpPr>
        <p:spPr>
          <a:xfrm>
            <a:off x="2973800" y="640080"/>
            <a:ext cx="1177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3065240" y="640080"/>
            <a:ext cx="1040000" cy="246888"/>
          </a:xfrm>
          <a:prstGeom prst="rect">
            <a:avLst/>
          </a:prstGeom>
          <a:noFill/>
        </p:spPr>
        <p:txBody>
          <a:bodyPr wrap="square" lIns="0" tIns="0" rIns="0" bIns="0" anchor="ctr">
            <a:spAutoFit/>
          </a:bodyPr>
          <a:lstStyle/>
          <a:p>
            <a:pPr marL="0" indent="0" algn="l">
              <a:buNone/>
            </a:pPr>
            <a:r>
              <a:rPr sz="680" b="1" i="0">
                <a:solidFill>
                  <a:srgbClr val="1E2F6E"/>
                </a:solidFill>
              </a:rPr>
              <a:t>Ends at: </a:t>
            </a:r>
            <a:r>
              <a:rPr sz="680" b="0" i="0">
                <a:solidFill>
                  <a:srgbClr val="555555"/>
                </a:solidFill>
              </a:rPr>
              <a:t>Order placed</a:t>
            </a:r>
          </a:p>
        </p:txBody>
      </p:sp>
      <p:sp>
        <p:nvSpPr>
          <p:cNvPr id="15" name="Rectangle 14"/>
          <p:cNvSpPr/>
          <p:nvPr/>
        </p:nvSpPr>
        <p:spPr>
          <a:xfrm>
            <a:off x="4219540" y="640080"/>
            <a:ext cx="1957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4310980" y="640080"/>
            <a:ext cx="1820000" cy="246888"/>
          </a:xfrm>
          <a:prstGeom prst="rect">
            <a:avLst/>
          </a:prstGeom>
          <a:noFill/>
        </p:spPr>
        <p:txBody>
          <a:bodyPr wrap="square" lIns="0" tIns="0" rIns="0" bIns="0" anchor="ctr">
            <a:spAutoFit/>
          </a:bodyPr>
          <a:lstStyle/>
          <a:p>
            <a:pPr marL="0" indent="0" algn="l">
              <a:buNone/>
            </a:pPr>
            <a:r>
              <a:rPr sz="680" b="1" i="0">
                <a:solidFill>
                  <a:srgbClr val="1E2F6E"/>
                </a:solidFill>
              </a:rPr>
              <a:t>Realises: </a:t>
            </a:r>
            <a:r>
              <a:rPr sz="680" b="0" i="0">
                <a:solidFill>
                  <a:srgbClr val="555555"/>
                </a:solidFill>
              </a:rPr>
              <a:t>BR-01, BR-02, BR-03, BR-04</a:t>
            </a:r>
          </a:p>
        </p:txBody>
      </p:sp>
      <p:sp>
        <p:nvSpPr>
          <p:cNvPr id="17" name="TextBox 16"/>
          <p:cNvSpPr txBox="1"/>
          <p:nvPr/>
        </p:nvSpPr>
        <p:spPr>
          <a:xfrm>
            <a:off x="274320" y="960120"/>
            <a:ext cx="11612880" cy="210000"/>
          </a:xfrm>
          <a:prstGeom prst="rect">
            <a:avLst/>
          </a:prstGeom>
          <a:noFill/>
        </p:spPr>
        <p:txBody>
          <a:bodyPr wrap="square" lIns="0" tIns="0" rIns="0" bIns="0" anchor="ctr">
            <a:spAutoFit/>
          </a:bodyPr>
          <a:lstStyle/>
          <a:p>
            <a:pPr marL="0" indent="0" algn="l">
              <a:buNone/>
            </a:pPr>
            <a:r>
              <a:rPr sz="800" b="0" i="0">
                <a:solidFill>
                  <a:srgbClr val="555555"/>
                </a:solidFill>
              </a:rPr>
              <a:t>Six sequential blocks. Only two of them block the customer: store selection at Onboarding, and login at the two purchase-intent points.</a:t>
            </a:r>
          </a:p>
        </p:txBody>
      </p:sp>
      <p:sp>
        <p:nvSpPr>
          <p:cNvPr id="18" name="Rounded Rectangle 17"/>
          <p:cNvSpPr/>
          <p:nvPr/>
        </p:nvSpPr>
        <p:spPr>
          <a:xfrm>
            <a:off x="274320" y="1371600"/>
            <a:ext cx="1737360" cy="1097280"/>
          </a:xfrm>
          <a:prstGeom prst="roundRect">
            <a:avLst>
              <a:gd name="adj" fmla="val 8000"/>
            </a:avLst>
          </a:prstGeom>
          <a:solidFill>
            <a:srgbClr val="FDECE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9" name="Rectangle 18"/>
          <p:cNvSpPr/>
          <p:nvPr/>
        </p:nvSpPr>
        <p:spPr>
          <a:xfrm>
            <a:off x="274320" y="1371600"/>
            <a:ext cx="1737360" cy="4572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365760" y="1463040"/>
            <a:ext cx="274320" cy="228600"/>
          </a:xfrm>
          <a:prstGeom prst="rect">
            <a:avLst/>
          </a:prstGeom>
          <a:noFill/>
        </p:spPr>
        <p:txBody>
          <a:bodyPr wrap="square" lIns="0" tIns="0" rIns="0" bIns="0" anchor="ctr">
            <a:spAutoFit/>
          </a:bodyPr>
          <a:lstStyle/>
          <a:p>
            <a:pPr marL="0" indent="0" algn="l">
              <a:buNone/>
            </a:pPr>
            <a:r>
              <a:rPr sz="1100" b="1" i="0">
                <a:solidFill>
                  <a:srgbClr val="C8102E"/>
                </a:solidFill>
              </a:rPr>
              <a:t>1</a:t>
            </a:r>
          </a:p>
        </p:txBody>
      </p:sp>
      <p:sp>
        <p:nvSpPr>
          <p:cNvPr id="21" name="TextBox 20"/>
          <p:cNvSpPr txBox="1"/>
          <p:nvPr/>
        </p:nvSpPr>
        <p:spPr>
          <a:xfrm>
            <a:off x="640080" y="1463040"/>
            <a:ext cx="1280160" cy="228600"/>
          </a:xfrm>
          <a:prstGeom prst="rect">
            <a:avLst/>
          </a:prstGeom>
          <a:noFill/>
        </p:spPr>
        <p:txBody>
          <a:bodyPr wrap="square" lIns="0" tIns="0" rIns="0" bIns="0" anchor="ctr">
            <a:spAutoFit/>
          </a:bodyPr>
          <a:lstStyle/>
          <a:p>
            <a:pPr marL="0" indent="0" algn="l">
              <a:buNone/>
            </a:pPr>
            <a:r>
              <a:rPr sz="1050" b="1" i="0">
                <a:solidFill>
                  <a:srgbClr val="C8102E"/>
                </a:solidFill>
              </a:rPr>
              <a:t>Onboarding</a:t>
            </a:r>
          </a:p>
        </p:txBody>
      </p:sp>
      <p:sp>
        <p:nvSpPr>
          <p:cNvPr id="22" name="TextBox 21"/>
          <p:cNvSpPr txBox="1"/>
          <p:nvPr/>
        </p:nvSpPr>
        <p:spPr>
          <a:xfrm>
            <a:off x="411480" y="1737360"/>
            <a:ext cx="1463040" cy="502920"/>
          </a:xfrm>
          <a:prstGeom prst="rect">
            <a:avLst/>
          </a:prstGeom>
          <a:noFill/>
        </p:spPr>
        <p:txBody>
          <a:bodyPr wrap="square" lIns="0" tIns="0" rIns="0" bIns="0" anchor="t">
            <a:spAutoFit/>
          </a:bodyPr>
          <a:lstStyle/>
          <a:p>
            <a:pPr marL="0" indent="0" algn="l">
              <a:buNone/>
            </a:pPr>
            <a:r>
              <a:rPr sz="700" b="0" i="0">
                <a:solidFill>
                  <a:srgbClr val="555555"/>
                </a:solidFill>
              </a:rPr>
              <a:t>Language · permissions ·</a:t>
            </a:r>
          </a:p>
          <a:p>
            <a:pPr marL="0" indent="0" algn="l">
              <a:buNone/>
            </a:pPr>
            <a:r>
              <a:rPr sz="700" b="0" i="0">
                <a:solidFill>
                  <a:srgbClr val="555555"/>
                </a:solidFill>
              </a:rPr>
              <a:t>store selection · intro</a:t>
            </a:r>
          </a:p>
        </p:txBody>
      </p:sp>
      <p:sp>
        <p:nvSpPr>
          <p:cNvPr id="23" name="Rounded Rectangle 22"/>
          <p:cNvSpPr/>
          <p:nvPr/>
        </p:nvSpPr>
        <p:spPr>
          <a:xfrm>
            <a:off x="411480" y="2240280"/>
            <a:ext cx="1005840" cy="182880"/>
          </a:xfrm>
          <a:prstGeom prst="roundRect">
            <a:avLst>
              <a:gd name="adj" fmla="val 40000"/>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411480" y="2240280"/>
            <a:ext cx="1005840" cy="182880"/>
          </a:xfrm>
          <a:prstGeom prst="rect">
            <a:avLst/>
          </a:prstGeom>
          <a:noFill/>
        </p:spPr>
        <p:txBody>
          <a:bodyPr wrap="square" lIns="0" tIns="0" rIns="0" bIns="0" anchor="ctr">
            <a:spAutoFit/>
          </a:bodyPr>
          <a:lstStyle/>
          <a:p>
            <a:pPr marL="0" indent="0" algn="ctr">
              <a:buNone/>
            </a:pPr>
            <a:r>
              <a:rPr sz="550" b="1" i="0">
                <a:solidFill>
                  <a:srgbClr val="FFFFFF"/>
                </a:solidFill>
              </a:rPr>
              <a:t>MANDATORY Store</a:t>
            </a:r>
          </a:p>
        </p:txBody>
      </p:sp>
      <p:cxnSp>
        <p:nvCxnSpPr>
          <p:cNvPr id="25" name="Connector 24"/>
          <p:cNvCxnSpPr/>
          <p:nvPr/>
        </p:nvCxnSpPr>
        <p:spPr>
          <a:xfrm>
            <a:off x="2039112" y="1920240"/>
            <a:ext cx="219456" cy="0"/>
          </a:xfrm>
          <a:prstGeom prst="line">
            <a:avLst/>
          </a:prstGeom>
          <a:ln w="15875">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2286000" y="1371600"/>
            <a:ext cx="1737360" cy="1097280"/>
          </a:xfrm>
          <a:prstGeom prst="roundRect">
            <a:avLst>
              <a:gd name="adj" fmla="val 8000"/>
            </a:avLst>
          </a:prstGeom>
          <a:solidFill>
            <a:srgbClr val="FFFFFF"/>
          </a:solidFill>
          <a:ln w="1270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7" name="Rectangle 26"/>
          <p:cNvSpPr/>
          <p:nvPr/>
        </p:nvSpPr>
        <p:spPr>
          <a:xfrm>
            <a:off x="2286000" y="1371600"/>
            <a:ext cx="1737360" cy="45720"/>
          </a:xfrm>
          <a:prstGeom prst="rect">
            <a:avLst/>
          </a:prstGeom>
          <a:solidFill>
            <a:srgbClr val="9FA9C6"/>
          </a:solidFill>
          <a:ln w="1270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2377440" y="1463040"/>
            <a:ext cx="274320" cy="228600"/>
          </a:xfrm>
          <a:prstGeom prst="rect">
            <a:avLst/>
          </a:prstGeom>
          <a:noFill/>
        </p:spPr>
        <p:txBody>
          <a:bodyPr wrap="square" lIns="0" tIns="0" rIns="0" bIns="0" anchor="ctr">
            <a:spAutoFit/>
          </a:bodyPr>
          <a:lstStyle/>
          <a:p>
            <a:pPr marL="0" indent="0" algn="l">
              <a:buNone/>
            </a:pPr>
            <a:r>
              <a:rPr sz="1100" b="1" i="0">
                <a:solidFill>
                  <a:srgbClr val="9FA9C6"/>
                </a:solidFill>
              </a:rPr>
              <a:t>2</a:t>
            </a:r>
          </a:p>
        </p:txBody>
      </p:sp>
      <p:sp>
        <p:nvSpPr>
          <p:cNvPr id="29" name="TextBox 28"/>
          <p:cNvSpPr txBox="1"/>
          <p:nvPr/>
        </p:nvSpPr>
        <p:spPr>
          <a:xfrm>
            <a:off x="2651760" y="1463040"/>
            <a:ext cx="1280160" cy="228600"/>
          </a:xfrm>
          <a:prstGeom prst="rect">
            <a:avLst/>
          </a:prstGeom>
          <a:noFill/>
        </p:spPr>
        <p:txBody>
          <a:bodyPr wrap="square" lIns="0" tIns="0" rIns="0" bIns="0" anchor="ctr">
            <a:spAutoFit/>
          </a:bodyPr>
          <a:lstStyle/>
          <a:p>
            <a:pPr marL="0" indent="0" algn="l">
              <a:buNone/>
            </a:pPr>
            <a:r>
              <a:rPr sz="1050" b="1" i="0">
                <a:solidFill>
                  <a:srgbClr val="1E2F6E"/>
                </a:solidFill>
              </a:rPr>
              <a:t>Homepage</a:t>
            </a:r>
          </a:p>
        </p:txBody>
      </p:sp>
      <p:sp>
        <p:nvSpPr>
          <p:cNvPr id="30" name="TextBox 29"/>
          <p:cNvSpPr txBox="1"/>
          <p:nvPr/>
        </p:nvSpPr>
        <p:spPr>
          <a:xfrm>
            <a:off x="2423160" y="1737360"/>
            <a:ext cx="1463040" cy="502920"/>
          </a:xfrm>
          <a:prstGeom prst="rect">
            <a:avLst/>
          </a:prstGeom>
          <a:noFill/>
        </p:spPr>
        <p:txBody>
          <a:bodyPr wrap="square" lIns="0" tIns="0" rIns="0" bIns="0" anchor="t">
            <a:spAutoFit/>
          </a:bodyPr>
          <a:lstStyle/>
          <a:p>
            <a:pPr marL="0" indent="0" algn="l">
              <a:buNone/>
            </a:pPr>
            <a:r>
              <a:rPr sz="700" b="0" i="0">
                <a:solidFill>
                  <a:srgbClr val="555555"/>
                </a:solidFill>
              </a:rPr>
              <a:t>Browse freely as Guest ·</a:t>
            </a:r>
          </a:p>
          <a:p>
            <a:pPr marL="0" indent="0" algn="l">
              <a:buNone/>
            </a:pPr>
            <a:r>
              <a:rPr sz="700" b="0" i="0">
                <a:solidFill>
                  <a:srgbClr val="555555"/>
                </a:solidFill>
              </a:rPr>
              <a:t>address · service · ETA</a:t>
            </a:r>
          </a:p>
        </p:txBody>
      </p:sp>
      <p:cxnSp>
        <p:nvCxnSpPr>
          <p:cNvPr id="31" name="Connector 30"/>
          <p:cNvCxnSpPr/>
          <p:nvPr/>
        </p:nvCxnSpPr>
        <p:spPr>
          <a:xfrm>
            <a:off x="4050792" y="1920240"/>
            <a:ext cx="219456" cy="0"/>
          </a:xfrm>
          <a:prstGeom prst="line">
            <a:avLst/>
          </a:prstGeom>
          <a:ln w="15875">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4297680" y="1371600"/>
            <a:ext cx="1737360" cy="1097280"/>
          </a:xfrm>
          <a:prstGeom prst="roundRect">
            <a:avLst>
              <a:gd name="adj" fmla="val 8000"/>
            </a:avLst>
          </a:prstGeom>
          <a:solidFill>
            <a:srgbClr val="FDECE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3" name="Rectangle 32"/>
          <p:cNvSpPr/>
          <p:nvPr/>
        </p:nvSpPr>
        <p:spPr>
          <a:xfrm>
            <a:off x="4297680" y="1371600"/>
            <a:ext cx="1737360" cy="4572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4389120" y="1463040"/>
            <a:ext cx="274320" cy="228600"/>
          </a:xfrm>
          <a:prstGeom prst="rect">
            <a:avLst/>
          </a:prstGeom>
          <a:noFill/>
        </p:spPr>
        <p:txBody>
          <a:bodyPr wrap="square" lIns="0" tIns="0" rIns="0" bIns="0" anchor="ctr">
            <a:spAutoFit/>
          </a:bodyPr>
          <a:lstStyle/>
          <a:p>
            <a:pPr marL="0" indent="0" algn="l">
              <a:buNone/>
            </a:pPr>
            <a:r>
              <a:rPr sz="1100" b="1" i="0">
                <a:solidFill>
                  <a:srgbClr val="C8102E"/>
                </a:solidFill>
              </a:rPr>
              <a:t>3</a:t>
            </a:r>
          </a:p>
        </p:txBody>
      </p:sp>
      <p:sp>
        <p:nvSpPr>
          <p:cNvPr id="35" name="TextBox 34"/>
          <p:cNvSpPr txBox="1"/>
          <p:nvPr/>
        </p:nvSpPr>
        <p:spPr>
          <a:xfrm>
            <a:off x="4663440" y="1463040"/>
            <a:ext cx="1280160" cy="228600"/>
          </a:xfrm>
          <a:prstGeom prst="rect">
            <a:avLst/>
          </a:prstGeom>
          <a:noFill/>
        </p:spPr>
        <p:txBody>
          <a:bodyPr wrap="square" lIns="0" tIns="0" rIns="0" bIns="0" anchor="ctr">
            <a:spAutoFit/>
          </a:bodyPr>
          <a:lstStyle/>
          <a:p>
            <a:pPr marL="0" indent="0" algn="l">
              <a:buNone/>
            </a:pPr>
            <a:r>
              <a:rPr sz="1050" b="1" i="0">
                <a:solidFill>
                  <a:srgbClr val="C8102E"/>
                </a:solidFill>
              </a:rPr>
              <a:t>Login gate</a:t>
            </a:r>
          </a:p>
        </p:txBody>
      </p:sp>
      <p:sp>
        <p:nvSpPr>
          <p:cNvPr id="36" name="TextBox 35"/>
          <p:cNvSpPr txBox="1"/>
          <p:nvPr/>
        </p:nvSpPr>
        <p:spPr>
          <a:xfrm>
            <a:off x="4434840" y="1737360"/>
            <a:ext cx="1463040" cy="502920"/>
          </a:xfrm>
          <a:prstGeom prst="rect">
            <a:avLst/>
          </a:prstGeom>
          <a:noFill/>
        </p:spPr>
        <p:txBody>
          <a:bodyPr wrap="square" lIns="0" tIns="0" rIns="0" bIns="0" anchor="t">
            <a:spAutoFit/>
          </a:bodyPr>
          <a:lstStyle/>
          <a:p>
            <a:pPr marL="0" indent="0" algn="l">
              <a:buNone/>
            </a:pPr>
            <a:r>
              <a:rPr sz="700" b="0" i="0">
                <a:solidFill>
                  <a:srgbClr val="555555"/>
                </a:solidFill>
              </a:rPr>
              <a:t>Add to Cart  or  open Cart</a:t>
            </a:r>
          </a:p>
          <a:p>
            <a:pPr marL="0" indent="0" algn="l">
              <a:buNone/>
            </a:pPr>
            <a:r>
              <a:rPr sz="700" b="0" i="0">
                <a:solidFill>
                  <a:srgbClr val="555555"/>
                </a:solidFill>
              </a:rPr>
              <a:t>triggers authentication</a:t>
            </a:r>
          </a:p>
        </p:txBody>
      </p:sp>
      <p:sp>
        <p:nvSpPr>
          <p:cNvPr id="37" name="Rounded Rectangle 36"/>
          <p:cNvSpPr/>
          <p:nvPr/>
        </p:nvSpPr>
        <p:spPr>
          <a:xfrm>
            <a:off x="4434840" y="2240280"/>
            <a:ext cx="1005840" cy="182880"/>
          </a:xfrm>
          <a:prstGeom prst="roundRect">
            <a:avLst>
              <a:gd name="adj" fmla="val 40000"/>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TextBox 37"/>
          <p:cNvSpPr txBox="1"/>
          <p:nvPr/>
        </p:nvSpPr>
        <p:spPr>
          <a:xfrm>
            <a:off x="4434840" y="2240280"/>
            <a:ext cx="1005840" cy="182880"/>
          </a:xfrm>
          <a:prstGeom prst="rect">
            <a:avLst/>
          </a:prstGeom>
          <a:noFill/>
        </p:spPr>
        <p:txBody>
          <a:bodyPr wrap="square" lIns="0" tIns="0" rIns="0" bIns="0" anchor="ctr">
            <a:spAutoFit/>
          </a:bodyPr>
          <a:lstStyle/>
          <a:p>
            <a:pPr marL="0" indent="0" algn="ctr">
              <a:buNone/>
            </a:pPr>
            <a:r>
              <a:rPr sz="550" b="1" i="0">
                <a:solidFill>
                  <a:srgbClr val="FFFFFF"/>
                </a:solidFill>
              </a:rPr>
              <a:t>MANDATORY Login</a:t>
            </a:r>
          </a:p>
        </p:txBody>
      </p:sp>
      <p:cxnSp>
        <p:nvCxnSpPr>
          <p:cNvPr id="39" name="Connector 38"/>
          <p:cNvCxnSpPr/>
          <p:nvPr/>
        </p:nvCxnSpPr>
        <p:spPr>
          <a:xfrm>
            <a:off x="6062472" y="1920240"/>
            <a:ext cx="219456" cy="0"/>
          </a:xfrm>
          <a:prstGeom prst="line">
            <a:avLst/>
          </a:prstGeom>
          <a:ln w="15875">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309360" y="1371600"/>
            <a:ext cx="1737360" cy="1097280"/>
          </a:xfrm>
          <a:prstGeom prst="roundRect">
            <a:avLst>
              <a:gd name="adj" fmla="val 8000"/>
            </a:avLst>
          </a:prstGeom>
          <a:solidFill>
            <a:srgbClr val="EEF1F9"/>
          </a:solidFill>
          <a:ln w="1270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Rectangle 40"/>
          <p:cNvSpPr/>
          <p:nvPr/>
        </p:nvSpPr>
        <p:spPr>
          <a:xfrm>
            <a:off x="6309360" y="1371600"/>
            <a:ext cx="1737360" cy="45720"/>
          </a:xfrm>
          <a:prstGeom prst="rect">
            <a:avLst/>
          </a:prstGeom>
          <a:solidFill>
            <a:srgbClr val="9FA9C6"/>
          </a:solidFill>
          <a:ln w="1270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TextBox 41"/>
          <p:cNvSpPr txBox="1"/>
          <p:nvPr/>
        </p:nvSpPr>
        <p:spPr>
          <a:xfrm>
            <a:off x="6400800" y="1463040"/>
            <a:ext cx="274320" cy="228600"/>
          </a:xfrm>
          <a:prstGeom prst="rect">
            <a:avLst/>
          </a:prstGeom>
          <a:noFill/>
        </p:spPr>
        <p:txBody>
          <a:bodyPr wrap="square" lIns="0" tIns="0" rIns="0" bIns="0" anchor="ctr">
            <a:spAutoFit/>
          </a:bodyPr>
          <a:lstStyle/>
          <a:p>
            <a:pPr marL="0" indent="0" algn="l">
              <a:buNone/>
            </a:pPr>
            <a:r>
              <a:rPr sz="1100" b="1" i="0">
                <a:solidFill>
                  <a:srgbClr val="9FA9C6"/>
                </a:solidFill>
              </a:rPr>
              <a:t>4</a:t>
            </a:r>
          </a:p>
        </p:txBody>
      </p:sp>
      <p:sp>
        <p:nvSpPr>
          <p:cNvPr id="43" name="TextBox 42"/>
          <p:cNvSpPr txBox="1"/>
          <p:nvPr/>
        </p:nvSpPr>
        <p:spPr>
          <a:xfrm>
            <a:off x="6675120" y="1463040"/>
            <a:ext cx="1280160" cy="228600"/>
          </a:xfrm>
          <a:prstGeom prst="rect">
            <a:avLst/>
          </a:prstGeom>
          <a:noFill/>
        </p:spPr>
        <p:txBody>
          <a:bodyPr wrap="square" lIns="0" tIns="0" rIns="0" bIns="0" anchor="ctr">
            <a:spAutoFit/>
          </a:bodyPr>
          <a:lstStyle/>
          <a:p>
            <a:pPr marL="0" indent="0" algn="l">
              <a:buNone/>
            </a:pPr>
            <a:r>
              <a:rPr sz="1050" b="1" i="0">
                <a:solidFill>
                  <a:srgbClr val="1E2F6E"/>
                </a:solidFill>
              </a:rPr>
              <a:t>Signup / Login</a:t>
            </a:r>
          </a:p>
        </p:txBody>
      </p:sp>
      <p:sp>
        <p:nvSpPr>
          <p:cNvPr id="44" name="TextBox 43"/>
          <p:cNvSpPr txBox="1"/>
          <p:nvPr/>
        </p:nvSpPr>
        <p:spPr>
          <a:xfrm>
            <a:off x="6446520" y="1737360"/>
            <a:ext cx="1463040" cy="502920"/>
          </a:xfrm>
          <a:prstGeom prst="rect">
            <a:avLst/>
          </a:prstGeom>
          <a:noFill/>
        </p:spPr>
        <p:txBody>
          <a:bodyPr wrap="square" lIns="0" tIns="0" rIns="0" bIns="0" anchor="t">
            <a:spAutoFit/>
          </a:bodyPr>
          <a:lstStyle/>
          <a:p>
            <a:pPr marL="0" indent="0" algn="l">
              <a:buNone/>
            </a:pPr>
            <a:r>
              <a:rPr sz="700" b="0" i="0">
                <a:solidFill>
                  <a:srgbClr val="555555"/>
                </a:solidFill>
              </a:rPr>
              <a:t>Phone · OTP · PIN ·</a:t>
            </a:r>
          </a:p>
          <a:p>
            <a:pPr marL="0" indent="0" algn="l">
              <a:buNone/>
            </a:pPr>
            <a:r>
              <a:rPr sz="700" b="0" i="0">
                <a:solidFill>
                  <a:srgbClr val="555555"/>
                </a:solidFill>
              </a:rPr>
              <a:t>biometric · resume action</a:t>
            </a:r>
          </a:p>
        </p:txBody>
      </p:sp>
      <p:cxnSp>
        <p:nvCxnSpPr>
          <p:cNvPr id="45" name="Connector 44"/>
          <p:cNvCxnSpPr/>
          <p:nvPr/>
        </p:nvCxnSpPr>
        <p:spPr>
          <a:xfrm>
            <a:off x="8074152" y="1920240"/>
            <a:ext cx="219456" cy="0"/>
          </a:xfrm>
          <a:prstGeom prst="line">
            <a:avLst/>
          </a:prstGeom>
          <a:ln w="15875">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8321040" y="1371600"/>
            <a:ext cx="1737360" cy="1097280"/>
          </a:xfrm>
          <a:prstGeom prst="roundRect">
            <a:avLst>
              <a:gd name="adj" fmla="val 8000"/>
            </a:avLst>
          </a:prstGeom>
          <a:solidFill>
            <a:srgbClr val="FFFFFF"/>
          </a:solidFill>
          <a:ln w="1270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Rectangle 46"/>
          <p:cNvSpPr/>
          <p:nvPr/>
        </p:nvSpPr>
        <p:spPr>
          <a:xfrm>
            <a:off x="8321040" y="1371600"/>
            <a:ext cx="1737360" cy="45720"/>
          </a:xfrm>
          <a:prstGeom prst="rect">
            <a:avLst/>
          </a:prstGeom>
          <a:solidFill>
            <a:srgbClr val="9FA9C6"/>
          </a:solidFill>
          <a:ln w="1270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8" name="TextBox 47"/>
          <p:cNvSpPr txBox="1"/>
          <p:nvPr/>
        </p:nvSpPr>
        <p:spPr>
          <a:xfrm>
            <a:off x="8412480" y="1463040"/>
            <a:ext cx="274320" cy="228600"/>
          </a:xfrm>
          <a:prstGeom prst="rect">
            <a:avLst/>
          </a:prstGeom>
          <a:noFill/>
        </p:spPr>
        <p:txBody>
          <a:bodyPr wrap="square" lIns="0" tIns="0" rIns="0" bIns="0" anchor="ctr">
            <a:spAutoFit/>
          </a:bodyPr>
          <a:lstStyle/>
          <a:p>
            <a:pPr marL="0" indent="0" algn="l">
              <a:buNone/>
            </a:pPr>
            <a:r>
              <a:rPr sz="1100" b="1" i="0">
                <a:solidFill>
                  <a:srgbClr val="9FA9C6"/>
                </a:solidFill>
              </a:rPr>
              <a:t>5</a:t>
            </a:r>
          </a:p>
        </p:txBody>
      </p:sp>
      <p:sp>
        <p:nvSpPr>
          <p:cNvPr id="49" name="TextBox 48"/>
          <p:cNvSpPr txBox="1"/>
          <p:nvPr/>
        </p:nvSpPr>
        <p:spPr>
          <a:xfrm>
            <a:off x="8686800" y="1463040"/>
            <a:ext cx="1280160" cy="228600"/>
          </a:xfrm>
          <a:prstGeom prst="rect">
            <a:avLst/>
          </a:prstGeom>
          <a:noFill/>
        </p:spPr>
        <p:txBody>
          <a:bodyPr wrap="square" lIns="0" tIns="0" rIns="0" bIns="0" anchor="ctr">
            <a:spAutoFit/>
          </a:bodyPr>
          <a:lstStyle/>
          <a:p>
            <a:pPr marL="0" indent="0" algn="l">
              <a:buNone/>
            </a:pPr>
            <a:r>
              <a:rPr sz="1050" b="1" i="0">
                <a:solidFill>
                  <a:srgbClr val="1E2F6E"/>
                </a:solidFill>
              </a:rPr>
              <a:t>Cart</a:t>
            </a:r>
          </a:p>
        </p:txBody>
      </p:sp>
      <p:sp>
        <p:nvSpPr>
          <p:cNvPr id="50" name="TextBox 49"/>
          <p:cNvSpPr txBox="1"/>
          <p:nvPr/>
        </p:nvSpPr>
        <p:spPr>
          <a:xfrm>
            <a:off x="8458200" y="1737360"/>
            <a:ext cx="1463040" cy="502920"/>
          </a:xfrm>
          <a:prstGeom prst="rect">
            <a:avLst/>
          </a:prstGeom>
          <a:noFill/>
        </p:spPr>
        <p:txBody>
          <a:bodyPr wrap="square" lIns="0" tIns="0" rIns="0" bIns="0" anchor="t">
            <a:spAutoFit/>
          </a:bodyPr>
          <a:lstStyle/>
          <a:p>
            <a:pPr marL="0" indent="0" algn="l">
              <a:buNone/>
            </a:pPr>
            <a:r>
              <a:rPr sz="700" b="0" i="0">
                <a:solidFill>
                  <a:srgbClr val="555555"/>
                </a:solidFill>
              </a:rPr>
              <a:t>Service · slot · products ·</a:t>
            </a:r>
          </a:p>
          <a:p>
            <a:pPr marL="0" indent="0" algn="l">
              <a:buNone/>
            </a:pPr>
            <a:r>
              <a:rPr sz="700" b="0" i="0">
                <a:solidFill>
                  <a:srgbClr val="555555"/>
                </a:solidFill>
              </a:rPr>
              <a:t>promotion · coupon</a:t>
            </a:r>
          </a:p>
        </p:txBody>
      </p:sp>
      <p:cxnSp>
        <p:nvCxnSpPr>
          <p:cNvPr id="51" name="Connector 50"/>
          <p:cNvCxnSpPr/>
          <p:nvPr/>
        </p:nvCxnSpPr>
        <p:spPr>
          <a:xfrm>
            <a:off x="10085832" y="1920240"/>
            <a:ext cx="219456" cy="0"/>
          </a:xfrm>
          <a:prstGeom prst="line">
            <a:avLst/>
          </a:prstGeom>
          <a:ln w="15875">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10332720" y="1371600"/>
            <a:ext cx="1737360" cy="1097280"/>
          </a:xfrm>
          <a:prstGeom prst="roundRect">
            <a:avLst>
              <a:gd name="adj" fmla="val 8000"/>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Rectangle 52"/>
          <p:cNvSpPr/>
          <p:nvPr/>
        </p:nvSpPr>
        <p:spPr>
          <a:xfrm>
            <a:off x="10332720" y="1371600"/>
            <a:ext cx="1737360" cy="4572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4" name="TextBox 53"/>
          <p:cNvSpPr txBox="1"/>
          <p:nvPr/>
        </p:nvSpPr>
        <p:spPr>
          <a:xfrm>
            <a:off x="10424160" y="1463040"/>
            <a:ext cx="274320" cy="228600"/>
          </a:xfrm>
          <a:prstGeom prst="rect">
            <a:avLst/>
          </a:prstGeom>
          <a:noFill/>
        </p:spPr>
        <p:txBody>
          <a:bodyPr wrap="square" lIns="0" tIns="0" rIns="0" bIns="0" anchor="ctr">
            <a:spAutoFit/>
          </a:bodyPr>
          <a:lstStyle/>
          <a:p>
            <a:pPr marL="0" indent="0" algn="l">
              <a:buNone/>
            </a:pPr>
            <a:r>
              <a:rPr sz="1100" b="1" i="0">
                <a:solidFill>
                  <a:srgbClr val="C8102E"/>
                </a:solidFill>
              </a:rPr>
              <a:t>6</a:t>
            </a:r>
          </a:p>
        </p:txBody>
      </p:sp>
      <p:sp>
        <p:nvSpPr>
          <p:cNvPr id="55" name="TextBox 54"/>
          <p:cNvSpPr txBox="1"/>
          <p:nvPr/>
        </p:nvSpPr>
        <p:spPr>
          <a:xfrm>
            <a:off x="10698480" y="1463040"/>
            <a:ext cx="1280160" cy="228600"/>
          </a:xfrm>
          <a:prstGeom prst="rect">
            <a:avLst/>
          </a:prstGeom>
          <a:noFill/>
        </p:spPr>
        <p:txBody>
          <a:bodyPr wrap="square" lIns="0" tIns="0" rIns="0" bIns="0" anchor="ctr">
            <a:spAutoFit/>
          </a:bodyPr>
          <a:lstStyle/>
          <a:p>
            <a:pPr marL="0" indent="0" algn="l">
              <a:buNone/>
            </a:pPr>
            <a:r>
              <a:rPr sz="1050" b="1" i="0">
                <a:solidFill>
                  <a:srgbClr val="C8102E"/>
                </a:solidFill>
              </a:rPr>
              <a:t>Checkout</a:t>
            </a:r>
          </a:p>
        </p:txBody>
      </p:sp>
      <p:sp>
        <p:nvSpPr>
          <p:cNvPr id="56" name="TextBox 55"/>
          <p:cNvSpPr txBox="1"/>
          <p:nvPr/>
        </p:nvSpPr>
        <p:spPr>
          <a:xfrm>
            <a:off x="10469880" y="1737360"/>
            <a:ext cx="1463040" cy="502920"/>
          </a:xfrm>
          <a:prstGeom prst="rect">
            <a:avLst/>
          </a:prstGeom>
          <a:noFill/>
        </p:spPr>
        <p:txBody>
          <a:bodyPr wrap="square" lIns="0" tIns="0" rIns="0" bIns="0" anchor="t">
            <a:spAutoFit/>
          </a:bodyPr>
          <a:lstStyle/>
          <a:p>
            <a:pPr marL="0" indent="0" algn="l">
              <a:buNone/>
            </a:pPr>
            <a:r>
              <a:rPr sz="700" b="0" i="0">
                <a:solidFill>
                  <a:srgbClr val="555555"/>
                </a:solidFill>
              </a:rPr>
              <a:t>Locked review · payment ·</a:t>
            </a:r>
          </a:p>
          <a:p>
            <a:pPr marL="0" indent="0" algn="l">
              <a:buNone/>
            </a:pPr>
            <a:r>
              <a:rPr sz="700" b="0" i="0">
                <a:solidFill>
                  <a:srgbClr val="555555"/>
                </a:solidFill>
              </a:rPr>
              <a:t>VAT · place order</a:t>
            </a:r>
          </a:p>
        </p:txBody>
      </p:sp>
      <p:cxnSp>
        <p:nvCxnSpPr>
          <p:cNvPr id="57" name="Connector 56"/>
          <p:cNvCxnSpPr/>
          <p:nvPr/>
        </p:nvCxnSpPr>
        <p:spPr>
          <a:xfrm>
            <a:off x="1143000" y="2560320"/>
            <a:ext cx="0" cy="13716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274320" y="2697480"/>
            <a:ext cx="1737360" cy="6858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9" name="TextBox 58"/>
          <p:cNvSpPr txBox="1"/>
          <p:nvPr/>
        </p:nvSpPr>
        <p:spPr>
          <a:xfrm>
            <a:off x="365760" y="2743200"/>
            <a:ext cx="1554480" cy="594360"/>
          </a:xfrm>
          <a:prstGeom prst="rect">
            <a:avLst/>
          </a:prstGeom>
          <a:noFill/>
        </p:spPr>
        <p:txBody>
          <a:bodyPr wrap="square" lIns="0" tIns="0" rIns="0" bIns="0" anchor="t">
            <a:spAutoFit/>
          </a:bodyPr>
          <a:lstStyle/>
          <a:p>
            <a:pPr marL="0" indent="0" algn="l">
              <a:buNone/>
            </a:pPr>
            <a:r>
              <a:rPr sz="630" b="0" i="0">
                <a:solidFill>
                  <a:srgbClr val="C8102E"/>
                </a:solidFill>
              </a:rPr>
              <a:t>Store drives catalogue, price, stock, promotion and every delivery rule downstream — so it cannot be deferred.</a:t>
            </a:r>
          </a:p>
        </p:txBody>
      </p:sp>
      <p:cxnSp>
        <p:nvCxnSpPr>
          <p:cNvPr id="60" name="Connector 59"/>
          <p:cNvCxnSpPr/>
          <p:nvPr/>
        </p:nvCxnSpPr>
        <p:spPr>
          <a:xfrm>
            <a:off x="3154680" y="2560320"/>
            <a:ext cx="0" cy="13716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2286000" y="2697480"/>
            <a:ext cx="1737360" cy="6858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2" name="TextBox 61"/>
          <p:cNvSpPr txBox="1"/>
          <p:nvPr/>
        </p:nvSpPr>
        <p:spPr>
          <a:xfrm>
            <a:off x="2377440" y="2743200"/>
            <a:ext cx="1554480" cy="594360"/>
          </a:xfrm>
          <a:prstGeom prst="rect">
            <a:avLst/>
          </a:prstGeom>
          <a:noFill/>
        </p:spPr>
        <p:txBody>
          <a:bodyPr wrap="square" lIns="0" tIns="0" rIns="0" bIns="0" anchor="t">
            <a:spAutoFit/>
          </a:bodyPr>
          <a:lstStyle/>
          <a:p>
            <a:pPr marL="0" indent="0" algn="l">
              <a:buNone/>
            </a:pPr>
            <a:r>
              <a:rPr sz="630" b="0" i="0">
                <a:solidFill>
                  <a:srgbClr val="555555"/>
                </a:solidFill>
              </a:rPr>
              <a:t>No login required. A Guest address is stored on the device only and is synced to the account at first login (HP-05).</a:t>
            </a:r>
          </a:p>
        </p:txBody>
      </p:sp>
      <p:cxnSp>
        <p:nvCxnSpPr>
          <p:cNvPr id="63" name="Connector 62"/>
          <p:cNvCxnSpPr/>
          <p:nvPr/>
        </p:nvCxnSpPr>
        <p:spPr>
          <a:xfrm>
            <a:off x="5166360" y="2560320"/>
            <a:ext cx="0" cy="13716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4" name="Rectangle 63"/>
          <p:cNvSpPr/>
          <p:nvPr/>
        </p:nvSpPr>
        <p:spPr>
          <a:xfrm>
            <a:off x="4297680" y="2697480"/>
            <a:ext cx="1737360" cy="6858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5" name="TextBox 64"/>
          <p:cNvSpPr txBox="1"/>
          <p:nvPr/>
        </p:nvSpPr>
        <p:spPr>
          <a:xfrm>
            <a:off x="4389120" y="2743200"/>
            <a:ext cx="1554480" cy="594360"/>
          </a:xfrm>
          <a:prstGeom prst="rect">
            <a:avLst/>
          </a:prstGeom>
          <a:noFill/>
        </p:spPr>
        <p:txBody>
          <a:bodyPr wrap="square" lIns="0" tIns="0" rIns="0" bIns="0" anchor="t">
            <a:spAutoFit/>
          </a:bodyPr>
          <a:lstStyle/>
          <a:p>
            <a:pPr marL="0" indent="0" algn="l">
              <a:buNone/>
            </a:pPr>
            <a:r>
              <a:rPr sz="630" b="0" i="0">
                <a:solidFill>
                  <a:srgbClr val="C8102E"/>
                </a:solidFill>
              </a:rPr>
              <a:t>Cancelling login returns the customer to the Homepage; the product is not added and the Cart is not opened.</a:t>
            </a:r>
          </a:p>
        </p:txBody>
      </p:sp>
      <p:cxnSp>
        <p:nvCxnSpPr>
          <p:cNvPr id="66" name="Connector 65"/>
          <p:cNvCxnSpPr/>
          <p:nvPr/>
        </p:nvCxnSpPr>
        <p:spPr>
          <a:xfrm>
            <a:off x="7178040" y="2560320"/>
            <a:ext cx="0" cy="13716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6309360" y="2697480"/>
            <a:ext cx="1737360" cy="6858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8" name="TextBox 67"/>
          <p:cNvSpPr txBox="1"/>
          <p:nvPr/>
        </p:nvSpPr>
        <p:spPr>
          <a:xfrm>
            <a:off x="6400800" y="2743200"/>
            <a:ext cx="1554480" cy="276999"/>
          </a:xfrm>
          <a:prstGeom prst="rect">
            <a:avLst/>
          </a:prstGeom>
          <a:noFill/>
        </p:spPr>
        <p:txBody>
          <a:bodyPr wrap="square" lIns="0" tIns="0" rIns="0" bIns="0" anchor="t">
            <a:spAutoFit/>
          </a:bodyPr>
          <a:lstStyle/>
          <a:p>
            <a:pPr marL="0" indent="0" algn="l">
              <a:buNone/>
            </a:pPr>
            <a:r>
              <a:rPr sz="600" b="0" i="0">
                <a:solidFill>
                  <a:srgbClr val="555555"/>
                </a:solidFill>
              </a:rPr>
              <a:t>On success the system resumes the original action automatically — add the product, or open the Cart.</a:t>
            </a:r>
          </a:p>
        </p:txBody>
      </p:sp>
      <p:cxnSp>
        <p:nvCxnSpPr>
          <p:cNvPr id="69" name="Connector 68"/>
          <p:cNvCxnSpPr/>
          <p:nvPr/>
        </p:nvCxnSpPr>
        <p:spPr>
          <a:xfrm>
            <a:off x="9189720" y="2560320"/>
            <a:ext cx="0" cy="13716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8321040" y="2697480"/>
            <a:ext cx="1737360" cy="6858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1" name="TextBox 70"/>
          <p:cNvSpPr txBox="1"/>
          <p:nvPr/>
        </p:nvSpPr>
        <p:spPr>
          <a:xfrm>
            <a:off x="8412480" y="2743200"/>
            <a:ext cx="1554480" cy="594360"/>
          </a:xfrm>
          <a:prstGeom prst="rect">
            <a:avLst/>
          </a:prstGeom>
          <a:noFill/>
        </p:spPr>
        <p:txBody>
          <a:bodyPr wrap="square" lIns="0" tIns="0" rIns="0" bIns="0" anchor="t">
            <a:spAutoFit/>
          </a:bodyPr>
          <a:lstStyle/>
          <a:p>
            <a:pPr marL="0" indent="0" algn="l">
              <a:buNone/>
            </a:pPr>
            <a:r>
              <a:rPr sz="630" b="0" i="0">
                <a:solidFill>
                  <a:srgbClr val="555555"/>
                </a:solidFill>
              </a:rPr>
              <a:t>Address, service and slot chosen on the Homepage are carried into the Cart; the customer only changes them if they want to.</a:t>
            </a:r>
          </a:p>
        </p:txBody>
      </p:sp>
      <p:cxnSp>
        <p:nvCxnSpPr>
          <p:cNvPr id="72" name="Connector 71"/>
          <p:cNvCxnSpPr/>
          <p:nvPr/>
        </p:nvCxnSpPr>
        <p:spPr>
          <a:xfrm>
            <a:off x="11201400" y="2560320"/>
            <a:ext cx="0" cy="13716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73" name="Rectangle 72"/>
          <p:cNvSpPr/>
          <p:nvPr/>
        </p:nvSpPr>
        <p:spPr>
          <a:xfrm>
            <a:off x="10332720" y="2697480"/>
            <a:ext cx="1737360" cy="6858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TextBox 73"/>
          <p:cNvSpPr txBox="1"/>
          <p:nvPr/>
        </p:nvSpPr>
        <p:spPr>
          <a:xfrm>
            <a:off x="10424160" y="2743200"/>
            <a:ext cx="1554480" cy="594360"/>
          </a:xfrm>
          <a:prstGeom prst="rect">
            <a:avLst/>
          </a:prstGeom>
          <a:noFill/>
        </p:spPr>
        <p:txBody>
          <a:bodyPr wrap="square" lIns="0" tIns="0" rIns="0" bIns="0" anchor="t">
            <a:spAutoFit/>
          </a:bodyPr>
          <a:lstStyle/>
          <a:p>
            <a:pPr marL="0" indent="0" algn="l">
              <a:buNone/>
            </a:pPr>
            <a:r>
              <a:rPr sz="630" b="0" i="0">
                <a:solidFill>
                  <a:srgbClr val="C8102E"/>
                </a:solidFill>
              </a:rPr>
              <a:t>Order is read-only. Any change sends the customer back to the Cart, which protects price and total integrity (BR-09).</a:t>
            </a:r>
          </a:p>
        </p:txBody>
      </p:sp>
      <p:sp>
        <p:nvSpPr>
          <p:cNvPr id="75" name="Rectangle 74"/>
          <p:cNvSpPr/>
          <p:nvPr/>
        </p:nvSpPr>
        <p:spPr>
          <a:xfrm>
            <a:off x="274320" y="356616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6" name="TextBox 75"/>
          <p:cNvSpPr txBox="1"/>
          <p:nvPr/>
        </p:nvSpPr>
        <p:spPr>
          <a:xfrm>
            <a:off x="402336" y="3566160"/>
            <a:ext cx="11612880" cy="256032"/>
          </a:xfrm>
          <a:prstGeom prst="rect">
            <a:avLst/>
          </a:prstGeom>
          <a:noFill/>
        </p:spPr>
        <p:txBody>
          <a:bodyPr wrap="square" lIns="0" tIns="0" rIns="0" bIns="0" anchor="ctr">
            <a:spAutoFit/>
          </a:bodyPr>
          <a:lstStyle/>
          <a:p>
            <a:pPr marL="0" indent="0" algn="l">
              <a:buNone/>
            </a:pPr>
            <a:r>
              <a:rPr sz="1000" b="1" i="0">
                <a:solidFill>
                  <a:srgbClr val="1E2F6E"/>
                </a:solidFill>
              </a:rPr>
              <a:t>Where the flow can stop or branch</a:t>
            </a:r>
          </a:p>
        </p:txBody>
      </p:sp>
      <p:graphicFrame>
        <p:nvGraphicFramePr>
          <p:cNvPr id="77" name="Table 76"/>
          <p:cNvGraphicFramePr>
            <a:graphicFrameLocks noGrp="1"/>
          </p:cNvGraphicFramePr>
          <p:nvPr>
            <p:extLst>
              <p:ext uri="{D42A27DB-BD31-4B8C-83A1-F6EECF244321}">
                <p14:modId xmlns:p14="http://schemas.microsoft.com/office/powerpoint/2010/main" val="1676225824"/>
              </p:ext>
            </p:extLst>
          </p:nvPr>
        </p:nvGraphicFramePr>
        <p:xfrm>
          <a:off x="274320" y="3840480"/>
          <a:ext cx="11612876" cy="2185104"/>
        </p:xfrm>
        <a:graphic>
          <a:graphicData uri="http://schemas.openxmlformats.org/drawingml/2006/table">
            <a:tbl>
              <a:tblPr/>
              <a:tblGrid>
                <a:gridCol w="411479">
                  <a:extLst>
                    <a:ext uri="{9D8B030D-6E8A-4147-A177-3AD203B41FA5}">
                      <a16:colId xmlns:a16="http://schemas.microsoft.com/office/drawing/2014/main" val="20000"/>
                    </a:ext>
                  </a:extLst>
                </a:gridCol>
                <a:gridCol w="2377439">
                  <a:extLst>
                    <a:ext uri="{9D8B030D-6E8A-4147-A177-3AD203B41FA5}">
                      <a16:colId xmlns:a16="http://schemas.microsoft.com/office/drawing/2014/main" val="20001"/>
                    </a:ext>
                  </a:extLst>
                </a:gridCol>
                <a:gridCol w="2377439">
                  <a:extLst>
                    <a:ext uri="{9D8B030D-6E8A-4147-A177-3AD203B41FA5}">
                      <a16:colId xmlns:a16="http://schemas.microsoft.com/office/drawing/2014/main" val="20002"/>
                    </a:ext>
                  </a:extLst>
                </a:gridCol>
                <a:gridCol w="5029200">
                  <a:extLst>
                    <a:ext uri="{9D8B030D-6E8A-4147-A177-3AD203B41FA5}">
                      <a16:colId xmlns:a16="http://schemas.microsoft.com/office/drawing/2014/main" val="20003"/>
                    </a:ext>
                  </a:extLst>
                </a:gridCol>
                <a:gridCol w="1417319">
                  <a:extLst>
                    <a:ext uri="{9D8B030D-6E8A-4147-A177-3AD203B41FA5}">
                      <a16:colId xmlns:a16="http://schemas.microsoft.com/office/drawing/2014/main" val="20004"/>
                    </a:ext>
                  </a:extLst>
                </a:gridCol>
              </a:tblGrid>
              <a:tr h="210000">
                <a:tc>
                  <a:txBody>
                    <a:bodyPr/>
                    <a:lstStyle/>
                    <a:p>
                      <a:pPr marL="0" indent="0" algn="ctr">
                        <a:buNone/>
                      </a:pPr>
                      <a:r>
                        <a:rPr sz="700" b="1" i="0">
                          <a:solidFill>
                            <a:srgbClr val="FFFFFF"/>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Branch point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Condition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System behaviour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Ref.</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329184">
                <a:tc>
                  <a:txBody>
                    <a:bodyPr/>
                    <a:lstStyle/>
                    <a:p>
                      <a:pPr marL="0" indent="0" algn="ctr">
                        <a:buNone/>
                      </a:pPr>
                      <a:r>
                        <a:rPr sz="700" b="0" i="0">
                          <a:solidFill>
                            <a:srgbClr val="222222"/>
                          </a:solidFill>
                        </a:rPr>
                        <a:t>B1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Location permission denied at Onboarding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No GPS fix available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No default store is pre-selected; the customer picks a store manually. The flow does not stop.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ONB-05 · BRL-02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329184">
                <a:tc>
                  <a:txBody>
                    <a:bodyPr/>
                    <a:lstStyle/>
                    <a:p>
                      <a:pPr marL="0" indent="0" algn="ctr">
                        <a:buNone/>
                      </a:pPr>
                      <a:r>
                        <a:rPr sz="700" b="0" i="0">
                          <a:solidFill>
                            <a:srgbClr val="222222"/>
                          </a:solidFill>
                        </a:rPr>
                        <a:t>B2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Address outside every service area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Address is beyond the Standard radius and outside all configured Next-day areas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No ETA is shown. Message “This area is not served yet” plus a Change address CTA. Browsing and Pickup continue normally.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HP-04 · BRL-11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329184">
                <a:tc>
                  <a:txBody>
                    <a:bodyPr/>
                    <a:lstStyle/>
                    <a:p>
                      <a:pPr marL="0" indent="0" algn="ctr">
                        <a:buNone/>
                      </a:pPr>
                      <a:r>
                        <a:rPr sz="700" b="0" i="0">
                          <a:solidFill>
                            <a:srgbClr val="222222"/>
                          </a:solidFill>
                        </a:rPr>
                        <a:t>B3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Customer cancels at the login gate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Login screen dismissed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Return to </a:t>
                      </a:r>
                      <a:r>
                        <a:rPr lang="en-US" sz="700" b="0" i="0" u="none">
                          <a:solidFill>
                            <a:schemeClr val="accent1"/>
                          </a:solidFill>
                        </a:rPr>
                        <a:t>the previous page </a:t>
                      </a:r>
                      <a:r>
                        <a:rPr sz="700" b="0" i="0">
                          <a:solidFill>
                            <a:srgbClr val="222222"/>
                          </a:solidFill>
                        </a:rPr>
                        <a:t>as Guest. The product is not added; the Cart is not opened.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HP-06 · HP-07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329184">
                <a:tc>
                  <a:txBody>
                    <a:bodyPr/>
                    <a:lstStyle/>
                    <a:p>
                      <a:pPr marL="0" indent="0" algn="ctr">
                        <a:buNone/>
                      </a:pPr>
                      <a:r>
                        <a:rPr sz="700" b="0" i="0">
                          <a:solidFill>
                            <a:srgbClr val="222222"/>
                          </a:solidFill>
                        </a:rPr>
                        <a:t>B4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Phone number already registered on Signup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Account exists for that number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Error shown, number retained, CTA switches to Login.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SU-09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329184">
                <a:tc>
                  <a:txBody>
                    <a:bodyPr/>
                    <a:lstStyle/>
                    <a:p>
                      <a:pPr marL="0" indent="0" algn="ctr">
                        <a:buNone/>
                      </a:pPr>
                      <a:r>
                        <a:rPr sz="700" b="0" i="0">
                          <a:solidFill>
                            <a:srgbClr val="222222"/>
                          </a:solidFill>
                        </a:rPr>
                        <a:t>B5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Serving store changed while in the 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New store affects products or service/slot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One consolidated warning listing every impact; customer confirms Continue or Cancel.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CT-07 · BRL-24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329184">
                <a:tc>
                  <a:txBody>
                    <a:bodyPr/>
                    <a:lstStyle/>
                    <a:p>
                      <a:pPr marL="0" indent="0" algn="ctr">
                        <a:buNone/>
                      </a:pPr>
                      <a:r>
                        <a:rPr sz="700" b="0" i="0">
                          <a:solidFill>
                            <a:srgbClr val="222222"/>
                          </a:solidFill>
                        </a:rPr>
                        <a:t>B6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Session expires mid-journey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Access token no longer valid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Treated exactly as a Guest who has never logged in (assumption — OQ-04).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HP-07 · OQ-04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PF-01  ·  Master Flow — Swimlane View</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10</a:t>
            </a:r>
          </a:p>
        </p:txBody>
      </p:sp>
      <p:sp>
        <p:nvSpPr>
          <p:cNvPr id="9" name="Rectangle 8"/>
          <p:cNvSpPr/>
          <p:nvPr/>
        </p:nvSpPr>
        <p:spPr>
          <a:xfrm>
            <a:off x="274320" y="640080"/>
            <a:ext cx="1437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365760" y="640080"/>
            <a:ext cx="1300000" cy="246888"/>
          </a:xfrm>
          <a:prstGeom prst="rect">
            <a:avLst/>
          </a:prstGeom>
          <a:noFill/>
        </p:spPr>
        <p:txBody>
          <a:bodyPr wrap="square" lIns="0" tIns="0" rIns="0" bIns="0" anchor="ctr">
            <a:spAutoFit/>
          </a:bodyPr>
          <a:lstStyle/>
          <a:p>
            <a:pPr marL="0" indent="0" algn="l">
              <a:buNone/>
            </a:pPr>
            <a:r>
              <a:rPr sz="680" b="1" i="0">
                <a:solidFill>
                  <a:srgbClr val="1E2F6E"/>
                </a:solidFill>
              </a:rPr>
              <a:t>View: </a:t>
            </a:r>
            <a:r>
              <a:rPr sz="680" b="0" i="0">
                <a:solidFill>
                  <a:srgbClr val="555555"/>
                </a:solidFill>
              </a:rPr>
              <a:t>Actor responsibility</a:t>
            </a:r>
          </a:p>
        </p:txBody>
      </p:sp>
      <p:sp>
        <p:nvSpPr>
          <p:cNvPr id="11" name="Rectangle 10"/>
          <p:cNvSpPr/>
          <p:nvPr/>
        </p:nvSpPr>
        <p:spPr>
          <a:xfrm>
            <a:off x="1780060" y="640080"/>
            <a:ext cx="2113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1871500" y="640080"/>
            <a:ext cx="1976000" cy="246888"/>
          </a:xfrm>
          <a:prstGeom prst="rect">
            <a:avLst/>
          </a:prstGeom>
          <a:noFill/>
        </p:spPr>
        <p:txBody>
          <a:bodyPr wrap="square" lIns="0" tIns="0" rIns="0" bIns="0" anchor="ctr">
            <a:spAutoFit/>
          </a:bodyPr>
          <a:lstStyle/>
          <a:p>
            <a:pPr marL="0" indent="0" algn="l">
              <a:buNone/>
            </a:pPr>
            <a:r>
              <a:rPr sz="680" b="1" i="0">
                <a:solidFill>
                  <a:srgbClr val="1E2F6E"/>
                </a:solidFill>
              </a:rPr>
              <a:t>Lanes: </a:t>
            </a:r>
            <a:r>
              <a:rPr sz="680" b="0" i="0">
                <a:solidFill>
                  <a:srgbClr val="555555"/>
                </a:solidFill>
              </a:rPr>
              <a:t>Customer · App · Store / Backend</a:t>
            </a:r>
          </a:p>
        </p:txBody>
      </p:sp>
      <p:sp>
        <p:nvSpPr>
          <p:cNvPr id="13" name="Rectangle 12"/>
          <p:cNvSpPr/>
          <p:nvPr/>
        </p:nvSpPr>
        <p:spPr>
          <a:xfrm>
            <a:off x="3961800" y="640080"/>
            <a:ext cx="1385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4053240" y="640080"/>
            <a:ext cx="1248000" cy="246888"/>
          </a:xfrm>
          <a:prstGeom prst="rect">
            <a:avLst/>
          </a:prstGeom>
          <a:noFill/>
        </p:spPr>
        <p:txBody>
          <a:bodyPr wrap="square" lIns="0" tIns="0" rIns="0" bIns="0" anchor="ctr">
            <a:spAutoFit/>
          </a:bodyPr>
          <a:lstStyle/>
          <a:p>
            <a:pPr marL="0" indent="0" algn="l">
              <a:buNone/>
            </a:pPr>
            <a:r>
              <a:rPr sz="680" b="1" i="0">
                <a:solidFill>
                  <a:srgbClr val="1E2F6E"/>
                </a:solidFill>
              </a:rPr>
              <a:t>Reads with: </a:t>
            </a:r>
            <a:r>
              <a:rPr sz="680" b="0" i="0">
                <a:solidFill>
                  <a:srgbClr val="555555"/>
                </a:solidFill>
              </a:rPr>
              <a:t>PF-02 … PF-10</a:t>
            </a:r>
          </a:p>
        </p:txBody>
      </p:sp>
      <p:sp>
        <p:nvSpPr>
          <p:cNvPr id="15" name="Rectangle 14"/>
          <p:cNvSpPr/>
          <p:nvPr/>
        </p:nvSpPr>
        <p:spPr>
          <a:xfrm>
            <a:off x="274320" y="960120"/>
            <a:ext cx="11612880" cy="109728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Rectangle 15"/>
          <p:cNvSpPr/>
          <p:nvPr/>
        </p:nvSpPr>
        <p:spPr>
          <a:xfrm>
            <a:off x="274320" y="960120"/>
            <a:ext cx="292608" cy="109728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TextBox 16"/>
          <p:cNvSpPr txBox="1"/>
          <p:nvPr/>
        </p:nvSpPr>
        <p:spPr>
          <a:xfrm rot="-5400000">
            <a:off x="-128016" y="1362456"/>
            <a:ext cx="1097280" cy="292608"/>
          </a:xfrm>
          <a:prstGeom prst="rect">
            <a:avLst/>
          </a:prstGeom>
          <a:noFill/>
        </p:spPr>
        <p:txBody>
          <a:bodyPr wrap="square" lIns="0" tIns="0" rIns="0" bIns="0" anchor="ctr">
            <a:spAutoFit/>
          </a:bodyPr>
          <a:lstStyle/>
          <a:p>
            <a:pPr marL="0" indent="0" algn="ctr">
              <a:buNone/>
            </a:pPr>
            <a:r>
              <a:rPr sz="700" b="1" i="0">
                <a:solidFill>
                  <a:srgbClr val="FFFFFF"/>
                </a:solidFill>
              </a:rPr>
              <a:t>CUSTOMER</a:t>
            </a:r>
          </a:p>
        </p:txBody>
      </p:sp>
      <p:sp>
        <p:nvSpPr>
          <p:cNvPr id="18" name="Rectangle 17"/>
          <p:cNvSpPr/>
          <p:nvPr/>
        </p:nvSpPr>
        <p:spPr>
          <a:xfrm>
            <a:off x="274320" y="2148840"/>
            <a:ext cx="11612880" cy="109728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9" name="Rectangle 18"/>
          <p:cNvSpPr/>
          <p:nvPr/>
        </p:nvSpPr>
        <p:spPr>
          <a:xfrm>
            <a:off x="274320" y="2148840"/>
            <a:ext cx="292608" cy="1097280"/>
          </a:xfrm>
          <a:prstGeom prst="rect">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rot="-5400000">
            <a:off x="-128016" y="2551176"/>
            <a:ext cx="1097280" cy="292608"/>
          </a:xfrm>
          <a:prstGeom prst="rect">
            <a:avLst/>
          </a:prstGeom>
          <a:noFill/>
        </p:spPr>
        <p:txBody>
          <a:bodyPr wrap="square" lIns="0" tIns="0" rIns="0" bIns="0" anchor="ctr">
            <a:spAutoFit/>
          </a:bodyPr>
          <a:lstStyle/>
          <a:p>
            <a:pPr marL="0" indent="0" algn="ctr">
              <a:buNone/>
            </a:pPr>
            <a:r>
              <a:rPr sz="700" b="1" i="0">
                <a:solidFill>
                  <a:srgbClr val="FFFFFF"/>
                </a:solidFill>
              </a:rPr>
              <a:t>APP  (front-end)</a:t>
            </a:r>
          </a:p>
        </p:txBody>
      </p:sp>
      <p:sp>
        <p:nvSpPr>
          <p:cNvPr id="21" name="Rectangle 20"/>
          <p:cNvSpPr/>
          <p:nvPr/>
        </p:nvSpPr>
        <p:spPr>
          <a:xfrm>
            <a:off x="274320" y="3337560"/>
            <a:ext cx="11612880" cy="1097280"/>
          </a:xfrm>
          <a:prstGeom prst="rect">
            <a:avLst/>
          </a:prstGeom>
          <a:solidFill>
            <a:srgbClr val="FAFAF3"/>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Rectangle 21"/>
          <p:cNvSpPr/>
          <p:nvPr/>
        </p:nvSpPr>
        <p:spPr>
          <a:xfrm>
            <a:off x="274320" y="3337560"/>
            <a:ext cx="292608" cy="1097280"/>
          </a:xfrm>
          <a:prstGeom prst="rect">
            <a:avLst/>
          </a:prstGeom>
          <a:solidFill>
            <a:srgbClr val="6B6800"/>
          </a:solidFill>
          <a:ln w="12700">
            <a:solidFill>
              <a:srgbClr val="6B6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TextBox 22"/>
          <p:cNvSpPr txBox="1"/>
          <p:nvPr/>
        </p:nvSpPr>
        <p:spPr>
          <a:xfrm rot="-5400000">
            <a:off x="-128016" y="3739896"/>
            <a:ext cx="1097280" cy="292608"/>
          </a:xfrm>
          <a:prstGeom prst="rect">
            <a:avLst/>
          </a:prstGeom>
          <a:noFill/>
        </p:spPr>
        <p:txBody>
          <a:bodyPr wrap="square" lIns="0" tIns="0" rIns="0" bIns="0" anchor="ctr">
            <a:spAutoFit/>
          </a:bodyPr>
          <a:lstStyle/>
          <a:p>
            <a:pPr marL="0" indent="0" algn="ctr">
              <a:buNone/>
            </a:pPr>
            <a:r>
              <a:rPr sz="700" b="1" i="0">
                <a:solidFill>
                  <a:srgbClr val="FFFFFF"/>
                </a:solidFill>
              </a:rPr>
              <a:t>STORE / BACKEND</a:t>
            </a:r>
          </a:p>
        </p:txBody>
      </p:sp>
      <p:sp>
        <p:nvSpPr>
          <p:cNvPr id="24" name="Rounded Rectangle 23"/>
          <p:cNvSpPr/>
          <p:nvPr/>
        </p:nvSpPr>
        <p:spPr>
          <a:xfrm>
            <a:off x="676656" y="1143000"/>
            <a:ext cx="1417320" cy="731520"/>
          </a:xfrm>
          <a:prstGeom prst="roundRect">
            <a:avLst>
              <a:gd name="adj" fmla="val 14000"/>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5" name="TextBox 24"/>
          <p:cNvSpPr txBox="1"/>
          <p:nvPr/>
        </p:nvSpPr>
        <p:spPr>
          <a:xfrm>
            <a:off x="676656" y="1216152"/>
            <a:ext cx="1417320" cy="219456"/>
          </a:xfrm>
          <a:prstGeom prst="rect">
            <a:avLst/>
          </a:prstGeom>
          <a:noFill/>
        </p:spPr>
        <p:txBody>
          <a:bodyPr wrap="square" lIns="0" tIns="0" rIns="0" bIns="0" anchor="ctr">
            <a:spAutoFit/>
          </a:bodyPr>
          <a:lstStyle/>
          <a:p>
            <a:pPr marL="0" indent="0" algn="ctr">
              <a:buNone/>
            </a:pPr>
            <a:r>
              <a:rPr sz="580" b="1" i="0">
                <a:solidFill>
                  <a:srgbClr val="C8102E"/>
                </a:solidFill>
              </a:rPr>
              <a:t>1</a:t>
            </a:r>
          </a:p>
        </p:txBody>
      </p:sp>
      <p:sp>
        <p:nvSpPr>
          <p:cNvPr id="26" name="TextBox 25"/>
          <p:cNvSpPr txBox="1"/>
          <p:nvPr/>
        </p:nvSpPr>
        <p:spPr>
          <a:xfrm>
            <a:off x="722376" y="1391716"/>
            <a:ext cx="1325880" cy="438912"/>
          </a:xfrm>
          <a:prstGeom prst="rect">
            <a:avLst/>
          </a:prstGeom>
          <a:noFill/>
        </p:spPr>
        <p:txBody>
          <a:bodyPr wrap="square" lIns="0" tIns="0" rIns="0" bIns="0" anchor="ctr">
            <a:spAutoFit/>
          </a:bodyPr>
          <a:lstStyle/>
          <a:p>
            <a:pPr marL="0" indent="0" algn="ctr">
              <a:buNone/>
            </a:pPr>
            <a:r>
              <a:rPr sz="630" b="1" i="0">
                <a:solidFill>
                  <a:srgbClr val="C8102E"/>
                </a:solidFill>
              </a:rPr>
              <a:t>Launch app,</a:t>
            </a:r>
          </a:p>
          <a:p>
            <a:pPr marL="0" indent="0" algn="ctr">
              <a:buNone/>
            </a:pPr>
            <a:r>
              <a:rPr sz="630" b="1" i="0">
                <a:solidFill>
                  <a:srgbClr val="C8102E"/>
                </a:solidFill>
              </a:rPr>
              <a:t>pick language</a:t>
            </a:r>
          </a:p>
        </p:txBody>
      </p:sp>
      <p:sp>
        <p:nvSpPr>
          <p:cNvPr id="27" name="Rounded Rectangle 26"/>
          <p:cNvSpPr/>
          <p:nvPr/>
        </p:nvSpPr>
        <p:spPr>
          <a:xfrm>
            <a:off x="676656" y="2331720"/>
            <a:ext cx="1417320" cy="73152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76656" y="2404872"/>
            <a:ext cx="1417320" cy="219456"/>
          </a:xfrm>
          <a:prstGeom prst="rect">
            <a:avLst/>
          </a:prstGeom>
          <a:noFill/>
        </p:spPr>
        <p:txBody>
          <a:bodyPr wrap="square" lIns="0" tIns="0" rIns="0" bIns="0" anchor="ctr">
            <a:spAutoFit/>
          </a:bodyPr>
          <a:lstStyle/>
          <a:p>
            <a:pPr marL="0" indent="0" algn="ctr">
              <a:buNone/>
            </a:pPr>
            <a:r>
              <a:rPr sz="580" b="1" i="0">
                <a:solidFill>
                  <a:srgbClr val="1E2F6E"/>
                </a:solidFill>
              </a:rPr>
              <a:t>2</a:t>
            </a:r>
          </a:p>
        </p:txBody>
      </p:sp>
      <p:sp>
        <p:nvSpPr>
          <p:cNvPr id="29" name="TextBox 28"/>
          <p:cNvSpPr txBox="1"/>
          <p:nvPr/>
        </p:nvSpPr>
        <p:spPr>
          <a:xfrm>
            <a:off x="722376" y="2580436"/>
            <a:ext cx="1325880" cy="438912"/>
          </a:xfrm>
          <a:prstGeom prst="rect">
            <a:avLst/>
          </a:prstGeom>
          <a:noFill/>
        </p:spPr>
        <p:txBody>
          <a:bodyPr wrap="square" lIns="0" tIns="0" rIns="0" bIns="0" anchor="ctr">
            <a:spAutoFit/>
          </a:bodyPr>
          <a:lstStyle/>
          <a:p>
            <a:pPr marL="0" indent="0" algn="ctr">
              <a:buNone/>
            </a:pPr>
            <a:r>
              <a:rPr sz="630" b="1" i="0">
                <a:solidFill>
                  <a:srgbClr val="1E2F6E"/>
                </a:solidFill>
              </a:rPr>
              <a:t>Request tracking /</a:t>
            </a:r>
          </a:p>
          <a:p>
            <a:pPr marL="0" indent="0" algn="ctr">
              <a:buNone/>
            </a:pPr>
            <a:r>
              <a:rPr sz="630" b="1" i="0">
                <a:solidFill>
                  <a:srgbClr val="1E2F6E"/>
                </a:solidFill>
              </a:rPr>
              <a:t>notification / location</a:t>
            </a:r>
          </a:p>
        </p:txBody>
      </p:sp>
      <p:sp>
        <p:nvSpPr>
          <p:cNvPr id="30" name="Rounded Rectangle 29"/>
          <p:cNvSpPr/>
          <p:nvPr/>
        </p:nvSpPr>
        <p:spPr>
          <a:xfrm>
            <a:off x="676656" y="3520440"/>
            <a:ext cx="1417320" cy="73152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TextBox 30"/>
          <p:cNvSpPr txBox="1"/>
          <p:nvPr/>
        </p:nvSpPr>
        <p:spPr>
          <a:xfrm>
            <a:off x="676656" y="3593592"/>
            <a:ext cx="1417320" cy="219456"/>
          </a:xfrm>
          <a:prstGeom prst="rect">
            <a:avLst/>
          </a:prstGeom>
          <a:noFill/>
        </p:spPr>
        <p:txBody>
          <a:bodyPr wrap="square" lIns="0" tIns="0" rIns="0" bIns="0" anchor="ctr">
            <a:spAutoFit/>
          </a:bodyPr>
          <a:lstStyle/>
          <a:p>
            <a:pPr marL="0" indent="0" algn="ctr">
              <a:buNone/>
            </a:pPr>
            <a:r>
              <a:rPr sz="580" b="1" i="0">
                <a:solidFill>
                  <a:srgbClr val="1E2F6E"/>
                </a:solidFill>
              </a:rPr>
              <a:t>3</a:t>
            </a:r>
          </a:p>
        </p:txBody>
      </p:sp>
      <p:sp>
        <p:nvSpPr>
          <p:cNvPr id="32" name="TextBox 31"/>
          <p:cNvSpPr txBox="1"/>
          <p:nvPr/>
        </p:nvSpPr>
        <p:spPr>
          <a:xfrm>
            <a:off x="722376" y="3769156"/>
            <a:ext cx="1325880" cy="438912"/>
          </a:xfrm>
          <a:prstGeom prst="rect">
            <a:avLst/>
          </a:prstGeom>
          <a:noFill/>
        </p:spPr>
        <p:txBody>
          <a:bodyPr wrap="square" lIns="0" tIns="0" rIns="0" bIns="0" anchor="ctr">
            <a:spAutoFit/>
          </a:bodyPr>
          <a:lstStyle/>
          <a:p>
            <a:pPr marL="0" indent="0" algn="ctr">
              <a:buNone/>
            </a:pPr>
            <a:r>
              <a:rPr sz="630" b="1" i="0">
                <a:solidFill>
                  <a:srgbClr val="1E2F6E"/>
                </a:solidFill>
              </a:rPr>
              <a:t>Return nearest store</a:t>
            </a:r>
          </a:p>
          <a:p>
            <a:pPr marL="0" indent="0" algn="ctr">
              <a:buNone/>
            </a:pPr>
            <a:r>
              <a:rPr sz="630" b="1" i="0">
                <a:solidFill>
                  <a:srgbClr val="1E2F6E"/>
                </a:solidFill>
              </a:rPr>
              <a:t>by GPS</a:t>
            </a:r>
          </a:p>
        </p:txBody>
      </p:sp>
      <p:sp>
        <p:nvSpPr>
          <p:cNvPr id="33" name="Rounded Rectangle 32"/>
          <p:cNvSpPr/>
          <p:nvPr/>
        </p:nvSpPr>
        <p:spPr>
          <a:xfrm>
            <a:off x="2322576" y="1143000"/>
            <a:ext cx="1417320" cy="731520"/>
          </a:xfrm>
          <a:prstGeom prst="roundRect">
            <a:avLst>
              <a:gd name="adj" fmla="val 14000"/>
            </a:avLst>
          </a:prstGeom>
          <a:solidFill>
            <a:srgbClr val="FDECEE"/>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2322576" y="1216152"/>
            <a:ext cx="1417320" cy="219456"/>
          </a:xfrm>
          <a:prstGeom prst="rect">
            <a:avLst/>
          </a:prstGeom>
          <a:noFill/>
        </p:spPr>
        <p:txBody>
          <a:bodyPr wrap="square" lIns="0" tIns="0" rIns="0" bIns="0" anchor="ctr">
            <a:spAutoFit/>
          </a:bodyPr>
          <a:lstStyle/>
          <a:p>
            <a:pPr marL="0" indent="0" algn="ctr">
              <a:buNone/>
            </a:pPr>
            <a:r>
              <a:rPr sz="580" b="1" i="0">
                <a:solidFill>
                  <a:srgbClr val="C8102E"/>
                </a:solidFill>
              </a:rPr>
              <a:t>4</a:t>
            </a:r>
          </a:p>
        </p:txBody>
      </p:sp>
      <p:sp>
        <p:nvSpPr>
          <p:cNvPr id="35" name="TextBox 34"/>
          <p:cNvSpPr txBox="1"/>
          <p:nvPr/>
        </p:nvSpPr>
        <p:spPr>
          <a:xfrm>
            <a:off x="2368296" y="1391716"/>
            <a:ext cx="1325880" cy="438912"/>
          </a:xfrm>
          <a:prstGeom prst="rect">
            <a:avLst/>
          </a:prstGeom>
          <a:noFill/>
        </p:spPr>
        <p:txBody>
          <a:bodyPr wrap="square" lIns="0" tIns="0" rIns="0" bIns="0" anchor="ctr">
            <a:spAutoFit/>
          </a:bodyPr>
          <a:lstStyle/>
          <a:p>
            <a:pPr marL="0" indent="0" algn="ctr">
              <a:buNone/>
            </a:pPr>
            <a:r>
              <a:rPr sz="630" b="1" i="0">
                <a:solidFill>
                  <a:srgbClr val="C8102E"/>
                </a:solidFill>
              </a:rPr>
              <a:t>Select LOTTE MART</a:t>
            </a:r>
          </a:p>
          <a:p>
            <a:pPr marL="0" indent="0" algn="ctr">
              <a:buNone/>
            </a:pPr>
            <a:r>
              <a:rPr sz="630" b="1" i="0">
                <a:solidFill>
                  <a:srgbClr val="C8102E"/>
                </a:solidFill>
              </a:rPr>
              <a:t>store  *</a:t>
            </a:r>
          </a:p>
        </p:txBody>
      </p:sp>
      <p:sp>
        <p:nvSpPr>
          <p:cNvPr id="36" name="Rounded Rectangle 35"/>
          <p:cNvSpPr/>
          <p:nvPr/>
        </p:nvSpPr>
        <p:spPr>
          <a:xfrm>
            <a:off x="2322576" y="2331720"/>
            <a:ext cx="1417320" cy="73152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TextBox 36"/>
          <p:cNvSpPr txBox="1"/>
          <p:nvPr/>
        </p:nvSpPr>
        <p:spPr>
          <a:xfrm>
            <a:off x="2322576" y="2404872"/>
            <a:ext cx="1417320" cy="219456"/>
          </a:xfrm>
          <a:prstGeom prst="rect">
            <a:avLst/>
          </a:prstGeom>
          <a:noFill/>
        </p:spPr>
        <p:txBody>
          <a:bodyPr wrap="square" lIns="0" tIns="0" rIns="0" bIns="0" anchor="ctr">
            <a:spAutoFit/>
          </a:bodyPr>
          <a:lstStyle/>
          <a:p>
            <a:pPr marL="0" indent="0" algn="ctr">
              <a:buNone/>
            </a:pPr>
            <a:r>
              <a:rPr sz="580" b="1" i="0">
                <a:solidFill>
                  <a:srgbClr val="1E2F6E"/>
                </a:solidFill>
              </a:rPr>
              <a:t>5</a:t>
            </a:r>
          </a:p>
        </p:txBody>
      </p:sp>
      <p:sp>
        <p:nvSpPr>
          <p:cNvPr id="38" name="TextBox 37"/>
          <p:cNvSpPr txBox="1"/>
          <p:nvPr/>
        </p:nvSpPr>
        <p:spPr>
          <a:xfrm>
            <a:off x="2368296" y="2580436"/>
            <a:ext cx="1325880" cy="438912"/>
          </a:xfrm>
          <a:prstGeom prst="rect">
            <a:avLst/>
          </a:prstGeom>
          <a:noFill/>
        </p:spPr>
        <p:txBody>
          <a:bodyPr wrap="square" lIns="0" tIns="0" rIns="0" bIns="0" anchor="ctr">
            <a:spAutoFit/>
          </a:bodyPr>
          <a:lstStyle/>
          <a:p>
            <a:pPr marL="0" indent="0" algn="ctr">
              <a:buNone/>
            </a:pPr>
            <a:r>
              <a:rPr sz="630" b="1" i="0">
                <a:solidFill>
                  <a:srgbClr val="1E2F6E"/>
                </a:solidFill>
              </a:rPr>
              <a:t>Load Homepage in</a:t>
            </a:r>
          </a:p>
          <a:p>
            <a:pPr marL="0" indent="0" algn="ctr">
              <a:buNone/>
            </a:pPr>
            <a:r>
              <a:rPr sz="630" b="1" i="0">
                <a:solidFill>
                  <a:srgbClr val="1E2F6E"/>
                </a:solidFill>
              </a:rPr>
              <a:t>store context</a:t>
            </a:r>
          </a:p>
        </p:txBody>
      </p:sp>
      <p:sp>
        <p:nvSpPr>
          <p:cNvPr id="39" name="Rounded Rectangle 38"/>
          <p:cNvSpPr/>
          <p:nvPr/>
        </p:nvSpPr>
        <p:spPr>
          <a:xfrm>
            <a:off x="2322576" y="3520440"/>
            <a:ext cx="1417320" cy="73152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TextBox 39"/>
          <p:cNvSpPr txBox="1"/>
          <p:nvPr/>
        </p:nvSpPr>
        <p:spPr>
          <a:xfrm>
            <a:off x="2322576" y="3593592"/>
            <a:ext cx="1417320" cy="219456"/>
          </a:xfrm>
          <a:prstGeom prst="rect">
            <a:avLst/>
          </a:prstGeom>
          <a:noFill/>
        </p:spPr>
        <p:txBody>
          <a:bodyPr wrap="square" lIns="0" tIns="0" rIns="0" bIns="0" anchor="ctr">
            <a:spAutoFit/>
          </a:bodyPr>
          <a:lstStyle/>
          <a:p>
            <a:pPr marL="0" indent="0" algn="ctr">
              <a:buNone/>
            </a:pPr>
            <a:r>
              <a:rPr sz="580" b="1" i="0">
                <a:solidFill>
                  <a:srgbClr val="1E2F6E"/>
                </a:solidFill>
              </a:rPr>
              <a:t>6</a:t>
            </a:r>
          </a:p>
        </p:txBody>
      </p:sp>
      <p:sp>
        <p:nvSpPr>
          <p:cNvPr id="41" name="TextBox 40"/>
          <p:cNvSpPr txBox="1"/>
          <p:nvPr/>
        </p:nvSpPr>
        <p:spPr>
          <a:xfrm>
            <a:off x="2368296" y="3769156"/>
            <a:ext cx="1325880" cy="438912"/>
          </a:xfrm>
          <a:prstGeom prst="rect">
            <a:avLst/>
          </a:prstGeom>
          <a:noFill/>
        </p:spPr>
        <p:txBody>
          <a:bodyPr wrap="square" lIns="0" tIns="0" rIns="0" bIns="0" anchor="ctr">
            <a:spAutoFit/>
          </a:bodyPr>
          <a:lstStyle/>
          <a:p>
            <a:pPr marL="0" indent="0" algn="ctr">
              <a:buNone/>
            </a:pPr>
            <a:r>
              <a:rPr sz="630" b="1" i="0">
                <a:solidFill>
                  <a:srgbClr val="1E2F6E"/>
                </a:solidFill>
              </a:rPr>
              <a:t>Serve catalogue, price,</a:t>
            </a:r>
          </a:p>
          <a:p>
            <a:pPr marL="0" indent="0" algn="ctr">
              <a:buNone/>
            </a:pPr>
            <a:r>
              <a:rPr sz="630" b="1" i="0">
                <a:solidFill>
                  <a:srgbClr val="1E2F6E"/>
                </a:solidFill>
              </a:rPr>
              <a:t>stock, promotions</a:t>
            </a:r>
          </a:p>
        </p:txBody>
      </p:sp>
      <p:sp>
        <p:nvSpPr>
          <p:cNvPr id="42" name="Rounded Rectangle 41"/>
          <p:cNvSpPr/>
          <p:nvPr/>
        </p:nvSpPr>
        <p:spPr>
          <a:xfrm>
            <a:off x="3968496" y="1143000"/>
            <a:ext cx="1417320" cy="731520"/>
          </a:xfrm>
          <a:prstGeom prst="roundRect">
            <a:avLst>
              <a:gd name="adj" fmla="val 14000"/>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3" name="TextBox 42"/>
          <p:cNvSpPr txBox="1"/>
          <p:nvPr/>
        </p:nvSpPr>
        <p:spPr>
          <a:xfrm>
            <a:off x="3968496" y="1216152"/>
            <a:ext cx="1417320" cy="219456"/>
          </a:xfrm>
          <a:prstGeom prst="rect">
            <a:avLst/>
          </a:prstGeom>
          <a:noFill/>
        </p:spPr>
        <p:txBody>
          <a:bodyPr wrap="square" lIns="0" tIns="0" rIns="0" bIns="0" anchor="ctr">
            <a:spAutoFit/>
          </a:bodyPr>
          <a:lstStyle/>
          <a:p>
            <a:pPr marL="0" indent="0" algn="ctr">
              <a:buNone/>
            </a:pPr>
            <a:r>
              <a:rPr sz="580" b="1" i="0">
                <a:solidFill>
                  <a:srgbClr val="C8102E"/>
                </a:solidFill>
              </a:rPr>
              <a:t>7</a:t>
            </a:r>
          </a:p>
        </p:txBody>
      </p:sp>
      <p:sp>
        <p:nvSpPr>
          <p:cNvPr id="44" name="TextBox 43"/>
          <p:cNvSpPr txBox="1"/>
          <p:nvPr/>
        </p:nvSpPr>
        <p:spPr>
          <a:xfrm>
            <a:off x="4014216" y="1391716"/>
            <a:ext cx="1325880" cy="438912"/>
          </a:xfrm>
          <a:prstGeom prst="rect">
            <a:avLst/>
          </a:prstGeom>
          <a:noFill/>
        </p:spPr>
        <p:txBody>
          <a:bodyPr wrap="square" lIns="0" tIns="0" rIns="0" bIns="0" anchor="ctr">
            <a:spAutoFit/>
          </a:bodyPr>
          <a:lstStyle/>
          <a:p>
            <a:pPr marL="0" indent="0" algn="ctr">
              <a:buNone/>
            </a:pPr>
            <a:r>
              <a:rPr sz="630" b="1" i="0">
                <a:solidFill>
                  <a:srgbClr val="C8102E"/>
                </a:solidFill>
              </a:rPr>
              <a:t>Enter delivery</a:t>
            </a:r>
          </a:p>
          <a:p>
            <a:pPr marL="0" indent="0" algn="ctr">
              <a:buNone/>
            </a:pPr>
            <a:r>
              <a:rPr sz="630" b="1" i="0">
                <a:solidFill>
                  <a:srgbClr val="C8102E"/>
                </a:solidFill>
              </a:rPr>
              <a:t>address</a:t>
            </a:r>
          </a:p>
        </p:txBody>
      </p:sp>
      <p:sp>
        <p:nvSpPr>
          <p:cNvPr id="45" name="Rounded Rectangle 44"/>
          <p:cNvSpPr/>
          <p:nvPr/>
        </p:nvSpPr>
        <p:spPr>
          <a:xfrm>
            <a:off x="3968496" y="2331720"/>
            <a:ext cx="1417320" cy="73152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TextBox 45"/>
          <p:cNvSpPr txBox="1"/>
          <p:nvPr/>
        </p:nvSpPr>
        <p:spPr>
          <a:xfrm>
            <a:off x="3968496" y="2404872"/>
            <a:ext cx="1417320" cy="219456"/>
          </a:xfrm>
          <a:prstGeom prst="rect">
            <a:avLst/>
          </a:prstGeom>
          <a:noFill/>
        </p:spPr>
        <p:txBody>
          <a:bodyPr wrap="square" lIns="0" tIns="0" rIns="0" bIns="0" anchor="ctr">
            <a:spAutoFit/>
          </a:bodyPr>
          <a:lstStyle/>
          <a:p>
            <a:pPr marL="0" indent="0" algn="ctr">
              <a:buNone/>
            </a:pPr>
            <a:r>
              <a:rPr sz="580" b="1" i="0">
                <a:solidFill>
                  <a:srgbClr val="1E2F6E"/>
                </a:solidFill>
              </a:rPr>
              <a:t>8</a:t>
            </a:r>
          </a:p>
        </p:txBody>
      </p:sp>
      <p:sp>
        <p:nvSpPr>
          <p:cNvPr id="47" name="TextBox 46"/>
          <p:cNvSpPr txBox="1"/>
          <p:nvPr/>
        </p:nvSpPr>
        <p:spPr>
          <a:xfrm>
            <a:off x="4014216" y="2580436"/>
            <a:ext cx="1325880" cy="438912"/>
          </a:xfrm>
          <a:prstGeom prst="rect">
            <a:avLst/>
          </a:prstGeom>
          <a:noFill/>
        </p:spPr>
        <p:txBody>
          <a:bodyPr wrap="square" lIns="0" tIns="0" rIns="0" bIns="0" anchor="ctr">
            <a:spAutoFit/>
          </a:bodyPr>
          <a:lstStyle/>
          <a:p>
            <a:pPr marL="0" indent="0" algn="ctr">
              <a:buNone/>
            </a:pPr>
            <a:r>
              <a:rPr sz="630" b="1" i="0">
                <a:solidFill>
                  <a:srgbClr val="1E2F6E"/>
                </a:solidFill>
              </a:rPr>
              <a:t>Resolve service zone</a:t>
            </a:r>
          </a:p>
          <a:p>
            <a:pPr marL="0" indent="0" algn="ctr">
              <a:buNone/>
            </a:pPr>
            <a:r>
              <a:rPr sz="630" b="1" i="0">
                <a:solidFill>
                  <a:srgbClr val="1E2F6E"/>
                </a:solidFill>
              </a:rPr>
              <a:t>and earliest slot</a:t>
            </a:r>
          </a:p>
        </p:txBody>
      </p:sp>
      <p:sp>
        <p:nvSpPr>
          <p:cNvPr id="48" name="Rounded Rectangle 47"/>
          <p:cNvSpPr/>
          <p:nvPr/>
        </p:nvSpPr>
        <p:spPr>
          <a:xfrm>
            <a:off x="3968496" y="3520440"/>
            <a:ext cx="1417320" cy="73152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9" name="TextBox 48"/>
          <p:cNvSpPr txBox="1"/>
          <p:nvPr/>
        </p:nvSpPr>
        <p:spPr>
          <a:xfrm>
            <a:off x="3968496" y="3593592"/>
            <a:ext cx="1417320" cy="219456"/>
          </a:xfrm>
          <a:prstGeom prst="rect">
            <a:avLst/>
          </a:prstGeom>
          <a:noFill/>
        </p:spPr>
        <p:txBody>
          <a:bodyPr wrap="square" lIns="0" tIns="0" rIns="0" bIns="0" anchor="ctr">
            <a:spAutoFit/>
          </a:bodyPr>
          <a:lstStyle/>
          <a:p>
            <a:pPr marL="0" indent="0" algn="ctr">
              <a:buNone/>
            </a:pPr>
            <a:r>
              <a:rPr sz="580" b="1" i="0">
                <a:solidFill>
                  <a:srgbClr val="1E2F6E"/>
                </a:solidFill>
              </a:rPr>
              <a:t>9</a:t>
            </a:r>
          </a:p>
        </p:txBody>
      </p:sp>
      <p:sp>
        <p:nvSpPr>
          <p:cNvPr id="50" name="TextBox 49"/>
          <p:cNvSpPr txBox="1"/>
          <p:nvPr/>
        </p:nvSpPr>
        <p:spPr>
          <a:xfrm>
            <a:off x="4014216" y="3769156"/>
            <a:ext cx="1325880" cy="438912"/>
          </a:xfrm>
          <a:prstGeom prst="rect">
            <a:avLst/>
          </a:prstGeom>
          <a:noFill/>
        </p:spPr>
        <p:txBody>
          <a:bodyPr wrap="square" lIns="0" tIns="0" rIns="0" bIns="0" anchor="ctr">
            <a:spAutoFit/>
          </a:bodyPr>
          <a:lstStyle/>
          <a:p>
            <a:pPr marL="0" indent="0" algn="ctr">
              <a:buNone/>
            </a:pPr>
            <a:r>
              <a:rPr sz="630" b="1" i="0">
                <a:solidFill>
                  <a:srgbClr val="1E2F6E"/>
                </a:solidFill>
              </a:rPr>
              <a:t>Return radius config,</a:t>
            </a:r>
          </a:p>
          <a:p>
            <a:pPr marL="0" indent="0" algn="ctr">
              <a:buNone/>
            </a:pPr>
            <a:r>
              <a:rPr sz="630" b="1" i="0">
                <a:solidFill>
                  <a:srgbClr val="1E2F6E"/>
                </a:solidFill>
              </a:rPr>
              <a:t>slot capacity</a:t>
            </a:r>
          </a:p>
        </p:txBody>
      </p:sp>
      <p:sp>
        <p:nvSpPr>
          <p:cNvPr id="51" name="Rounded Rectangle 50"/>
          <p:cNvSpPr/>
          <p:nvPr/>
        </p:nvSpPr>
        <p:spPr>
          <a:xfrm>
            <a:off x="5614416" y="1143000"/>
            <a:ext cx="1417320" cy="731520"/>
          </a:xfrm>
          <a:prstGeom prst="roundRect">
            <a:avLst>
              <a:gd name="adj" fmla="val 14000"/>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2" name="TextBox 51"/>
          <p:cNvSpPr txBox="1"/>
          <p:nvPr/>
        </p:nvSpPr>
        <p:spPr>
          <a:xfrm>
            <a:off x="5614416" y="1216152"/>
            <a:ext cx="1417320" cy="219456"/>
          </a:xfrm>
          <a:prstGeom prst="rect">
            <a:avLst/>
          </a:prstGeom>
          <a:noFill/>
        </p:spPr>
        <p:txBody>
          <a:bodyPr wrap="square" lIns="0" tIns="0" rIns="0" bIns="0" anchor="ctr">
            <a:spAutoFit/>
          </a:bodyPr>
          <a:lstStyle/>
          <a:p>
            <a:pPr marL="0" indent="0" algn="ctr">
              <a:buNone/>
            </a:pPr>
            <a:r>
              <a:rPr sz="580" b="1" i="0">
                <a:solidFill>
                  <a:srgbClr val="C8102E"/>
                </a:solidFill>
              </a:rPr>
              <a:t>10</a:t>
            </a:r>
          </a:p>
        </p:txBody>
      </p:sp>
      <p:sp>
        <p:nvSpPr>
          <p:cNvPr id="53" name="TextBox 52"/>
          <p:cNvSpPr txBox="1"/>
          <p:nvPr/>
        </p:nvSpPr>
        <p:spPr>
          <a:xfrm>
            <a:off x="5660136" y="1391716"/>
            <a:ext cx="1325880" cy="438912"/>
          </a:xfrm>
          <a:prstGeom prst="rect">
            <a:avLst/>
          </a:prstGeom>
          <a:noFill/>
        </p:spPr>
        <p:txBody>
          <a:bodyPr wrap="square" lIns="0" tIns="0" rIns="0" bIns="0" anchor="ctr">
            <a:spAutoFit/>
          </a:bodyPr>
          <a:lstStyle/>
          <a:p>
            <a:pPr marL="0" indent="0" algn="ctr">
              <a:buNone/>
            </a:pPr>
            <a:r>
              <a:rPr sz="630" b="1" i="0">
                <a:solidFill>
                  <a:srgbClr val="C8102E"/>
                </a:solidFill>
              </a:rPr>
              <a:t>Tap Add to Cart</a:t>
            </a:r>
          </a:p>
          <a:p>
            <a:pPr marL="0" indent="0" algn="ctr">
              <a:buNone/>
            </a:pPr>
            <a:r>
              <a:rPr sz="630" b="1" i="0">
                <a:solidFill>
                  <a:srgbClr val="C8102E"/>
                </a:solidFill>
              </a:rPr>
              <a:t>or Cart icon</a:t>
            </a:r>
          </a:p>
        </p:txBody>
      </p:sp>
      <p:sp>
        <p:nvSpPr>
          <p:cNvPr id="54" name="Rounded Rectangle 53"/>
          <p:cNvSpPr/>
          <p:nvPr/>
        </p:nvSpPr>
        <p:spPr>
          <a:xfrm>
            <a:off x="5614416" y="2410161"/>
            <a:ext cx="1417320" cy="731520"/>
          </a:xfrm>
          <a:prstGeom prst="roundRect">
            <a:avLst>
              <a:gd name="adj" fmla="val 14000"/>
            </a:avLst>
          </a:prstGeom>
          <a:solidFill>
            <a:srgbClr val="FDECEE"/>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5" name="TextBox 54"/>
          <p:cNvSpPr txBox="1"/>
          <p:nvPr/>
        </p:nvSpPr>
        <p:spPr>
          <a:xfrm>
            <a:off x="5614416" y="2404872"/>
            <a:ext cx="1417320" cy="219456"/>
          </a:xfrm>
          <a:prstGeom prst="rect">
            <a:avLst/>
          </a:prstGeom>
          <a:noFill/>
        </p:spPr>
        <p:txBody>
          <a:bodyPr wrap="square" lIns="0" tIns="0" rIns="0" bIns="0" anchor="ctr">
            <a:spAutoFit/>
          </a:bodyPr>
          <a:lstStyle/>
          <a:p>
            <a:pPr marL="0" indent="0" algn="ctr">
              <a:buNone/>
            </a:pPr>
            <a:r>
              <a:rPr sz="580" b="1" i="0">
                <a:solidFill>
                  <a:srgbClr val="C8102E"/>
                </a:solidFill>
              </a:rPr>
              <a:t>11</a:t>
            </a:r>
          </a:p>
        </p:txBody>
      </p:sp>
      <p:sp>
        <p:nvSpPr>
          <p:cNvPr id="56" name="TextBox 55"/>
          <p:cNvSpPr txBox="1"/>
          <p:nvPr/>
        </p:nvSpPr>
        <p:spPr>
          <a:xfrm>
            <a:off x="5660136" y="2580436"/>
            <a:ext cx="1325880" cy="438912"/>
          </a:xfrm>
          <a:prstGeom prst="rect">
            <a:avLst/>
          </a:prstGeom>
          <a:noFill/>
        </p:spPr>
        <p:txBody>
          <a:bodyPr wrap="square" lIns="0" tIns="0" rIns="0" bIns="0" anchor="ctr">
            <a:spAutoFit/>
          </a:bodyPr>
          <a:lstStyle/>
          <a:p>
            <a:pPr marL="0" indent="0" algn="ctr">
              <a:buNone/>
            </a:pPr>
            <a:r>
              <a:rPr sz="630" b="1" i="0">
                <a:solidFill>
                  <a:srgbClr val="C8102E"/>
                </a:solidFill>
              </a:rPr>
              <a:t>Block and open</a:t>
            </a:r>
          </a:p>
          <a:p>
            <a:pPr marL="0" indent="0" algn="ctr">
              <a:buNone/>
            </a:pPr>
            <a:r>
              <a:rPr sz="630" b="1" i="0">
                <a:solidFill>
                  <a:srgbClr val="C8102E"/>
                </a:solidFill>
              </a:rPr>
              <a:t>Signup / Login</a:t>
            </a:r>
          </a:p>
        </p:txBody>
      </p:sp>
      <p:sp>
        <p:nvSpPr>
          <p:cNvPr id="57" name="Rounded Rectangle 56"/>
          <p:cNvSpPr/>
          <p:nvPr/>
        </p:nvSpPr>
        <p:spPr>
          <a:xfrm>
            <a:off x="5614416" y="3520440"/>
            <a:ext cx="1417320" cy="73152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8" name="TextBox 57"/>
          <p:cNvSpPr txBox="1"/>
          <p:nvPr/>
        </p:nvSpPr>
        <p:spPr>
          <a:xfrm>
            <a:off x="5614416" y="3593592"/>
            <a:ext cx="1417320" cy="219456"/>
          </a:xfrm>
          <a:prstGeom prst="rect">
            <a:avLst/>
          </a:prstGeom>
          <a:noFill/>
        </p:spPr>
        <p:txBody>
          <a:bodyPr wrap="square" lIns="0" tIns="0" rIns="0" bIns="0" anchor="ctr">
            <a:spAutoFit/>
          </a:bodyPr>
          <a:lstStyle/>
          <a:p>
            <a:pPr marL="0" indent="0" algn="ctr">
              <a:buNone/>
            </a:pPr>
            <a:r>
              <a:rPr sz="580" b="1" i="0">
                <a:solidFill>
                  <a:srgbClr val="1E2F6E"/>
                </a:solidFill>
              </a:rPr>
              <a:t>12</a:t>
            </a:r>
          </a:p>
        </p:txBody>
      </p:sp>
      <p:sp>
        <p:nvSpPr>
          <p:cNvPr id="59" name="TextBox 58"/>
          <p:cNvSpPr txBox="1"/>
          <p:nvPr/>
        </p:nvSpPr>
        <p:spPr>
          <a:xfrm>
            <a:off x="5660136" y="3769156"/>
            <a:ext cx="1325880" cy="438912"/>
          </a:xfrm>
          <a:prstGeom prst="rect">
            <a:avLst/>
          </a:prstGeom>
          <a:noFill/>
        </p:spPr>
        <p:txBody>
          <a:bodyPr wrap="square" lIns="0" tIns="0" rIns="0" bIns="0" anchor="ctr">
            <a:spAutoFit/>
          </a:bodyPr>
          <a:lstStyle/>
          <a:p>
            <a:pPr marL="0" indent="0" algn="ctr">
              <a:buNone/>
            </a:pPr>
            <a:r>
              <a:rPr sz="630" b="1" i="0">
                <a:solidFill>
                  <a:srgbClr val="1E2F6E"/>
                </a:solidFill>
              </a:rPr>
              <a:t>Send OTP via Zalo,</a:t>
            </a:r>
          </a:p>
          <a:p>
            <a:pPr marL="0" indent="0" algn="ctr">
              <a:buNone/>
            </a:pPr>
            <a:r>
              <a:rPr sz="630" b="1" i="0">
                <a:solidFill>
                  <a:srgbClr val="1E2F6E"/>
                </a:solidFill>
              </a:rPr>
              <a:t>fallback SMS</a:t>
            </a:r>
          </a:p>
        </p:txBody>
      </p:sp>
      <p:sp>
        <p:nvSpPr>
          <p:cNvPr id="60" name="Rounded Rectangle 59"/>
          <p:cNvSpPr/>
          <p:nvPr/>
        </p:nvSpPr>
        <p:spPr>
          <a:xfrm>
            <a:off x="7260336" y="1143000"/>
            <a:ext cx="1417320" cy="731520"/>
          </a:xfrm>
          <a:prstGeom prst="roundRect">
            <a:avLst>
              <a:gd name="adj" fmla="val 14000"/>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1" name="TextBox 60"/>
          <p:cNvSpPr txBox="1"/>
          <p:nvPr/>
        </p:nvSpPr>
        <p:spPr>
          <a:xfrm>
            <a:off x="7260336" y="1216152"/>
            <a:ext cx="1417320" cy="219456"/>
          </a:xfrm>
          <a:prstGeom prst="rect">
            <a:avLst/>
          </a:prstGeom>
          <a:noFill/>
        </p:spPr>
        <p:txBody>
          <a:bodyPr wrap="square" lIns="0" tIns="0" rIns="0" bIns="0" anchor="ctr">
            <a:spAutoFit/>
          </a:bodyPr>
          <a:lstStyle/>
          <a:p>
            <a:pPr marL="0" indent="0" algn="ctr">
              <a:buNone/>
            </a:pPr>
            <a:r>
              <a:rPr sz="580" b="1" i="0">
                <a:solidFill>
                  <a:srgbClr val="C8102E"/>
                </a:solidFill>
              </a:rPr>
              <a:t>13</a:t>
            </a:r>
          </a:p>
        </p:txBody>
      </p:sp>
      <p:sp>
        <p:nvSpPr>
          <p:cNvPr id="62" name="TextBox 61"/>
          <p:cNvSpPr txBox="1"/>
          <p:nvPr/>
        </p:nvSpPr>
        <p:spPr>
          <a:xfrm>
            <a:off x="7306056" y="1391716"/>
            <a:ext cx="1325880" cy="438912"/>
          </a:xfrm>
          <a:prstGeom prst="rect">
            <a:avLst/>
          </a:prstGeom>
          <a:noFill/>
        </p:spPr>
        <p:txBody>
          <a:bodyPr wrap="square" lIns="0" tIns="0" rIns="0" bIns="0" anchor="ctr">
            <a:spAutoFit/>
          </a:bodyPr>
          <a:lstStyle/>
          <a:p>
            <a:pPr marL="0" indent="0" algn="ctr">
              <a:buNone/>
            </a:pPr>
            <a:r>
              <a:rPr sz="630" b="1" i="0">
                <a:solidFill>
                  <a:srgbClr val="C8102E"/>
                </a:solidFill>
              </a:rPr>
              <a:t>Authenticate</a:t>
            </a:r>
          </a:p>
          <a:p>
            <a:pPr marL="0" indent="0" algn="ctr">
              <a:buNone/>
            </a:pPr>
            <a:r>
              <a:rPr sz="630" b="1" i="0">
                <a:solidFill>
                  <a:srgbClr val="C8102E"/>
                </a:solidFill>
              </a:rPr>
              <a:t>(bio / PIN / OTP)</a:t>
            </a:r>
          </a:p>
        </p:txBody>
      </p:sp>
      <p:sp>
        <p:nvSpPr>
          <p:cNvPr id="63" name="Rounded Rectangle 62"/>
          <p:cNvSpPr/>
          <p:nvPr/>
        </p:nvSpPr>
        <p:spPr>
          <a:xfrm>
            <a:off x="7260336" y="2331720"/>
            <a:ext cx="1417320" cy="73152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4" name="TextBox 63"/>
          <p:cNvSpPr txBox="1"/>
          <p:nvPr/>
        </p:nvSpPr>
        <p:spPr>
          <a:xfrm>
            <a:off x="7260336" y="2404872"/>
            <a:ext cx="1417320" cy="219456"/>
          </a:xfrm>
          <a:prstGeom prst="rect">
            <a:avLst/>
          </a:prstGeom>
          <a:noFill/>
        </p:spPr>
        <p:txBody>
          <a:bodyPr wrap="square" lIns="0" tIns="0" rIns="0" bIns="0" anchor="ctr">
            <a:spAutoFit/>
          </a:bodyPr>
          <a:lstStyle/>
          <a:p>
            <a:pPr marL="0" indent="0" algn="ctr">
              <a:buNone/>
            </a:pPr>
            <a:r>
              <a:rPr sz="580" b="1" i="0">
                <a:solidFill>
                  <a:srgbClr val="1E2F6E"/>
                </a:solidFill>
              </a:rPr>
              <a:t>14</a:t>
            </a:r>
          </a:p>
        </p:txBody>
      </p:sp>
      <p:sp>
        <p:nvSpPr>
          <p:cNvPr id="65" name="TextBox 64"/>
          <p:cNvSpPr txBox="1"/>
          <p:nvPr/>
        </p:nvSpPr>
        <p:spPr>
          <a:xfrm>
            <a:off x="7306056" y="2580436"/>
            <a:ext cx="1325880" cy="438912"/>
          </a:xfrm>
          <a:prstGeom prst="rect">
            <a:avLst/>
          </a:prstGeom>
          <a:noFill/>
        </p:spPr>
        <p:txBody>
          <a:bodyPr wrap="square" lIns="0" tIns="0" rIns="0" bIns="0" anchor="ctr">
            <a:spAutoFit/>
          </a:bodyPr>
          <a:lstStyle/>
          <a:p>
            <a:pPr marL="0" indent="0" algn="ctr">
              <a:buNone/>
            </a:pPr>
            <a:r>
              <a:rPr sz="630" b="1" i="0">
                <a:solidFill>
                  <a:srgbClr val="1E2F6E"/>
                </a:solidFill>
              </a:rPr>
              <a:t>Resume original action,</a:t>
            </a:r>
          </a:p>
          <a:p>
            <a:pPr marL="0" indent="0" algn="ctr">
              <a:buNone/>
            </a:pPr>
            <a:r>
              <a:rPr sz="630" b="1" i="0">
                <a:solidFill>
                  <a:srgbClr val="1E2F6E"/>
                </a:solidFill>
              </a:rPr>
              <a:t>sync local address</a:t>
            </a:r>
          </a:p>
        </p:txBody>
      </p:sp>
      <p:sp>
        <p:nvSpPr>
          <p:cNvPr id="66" name="Rounded Rectangle 65"/>
          <p:cNvSpPr/>
          <p:nvPr/>
        </p:nvSpPr>
        <p:spPr>
          <a:xfrm>
            <a:off x="7260336" y="3520440"/>
            <a:ext cx="1417320" cy="73152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7" name="TextBox 66"/>
          <p:cNvSpPr txBox="1"/>
          <p:nvPr/>
        </p:nvSpPr>
        <p:spPr>
          <a:xfrm>
            <a:off x="7260336" y="3593592"/>
            <a:ext cx="1417320" cy="219456"/>
          </a:xfrm>
          <a:prstGeom prst="rect">
            <a:avLst/>
          </a:prstGeom>
          <a:noFill/>
        </p:spPr>
        <p:txBody>
          <a:bodyPr wrap="square" lIns="0" tIns="0" rIns="0" bIns="0" anchor="ctr">
            <a:spAutoFit/>
          </a:bodyPr>
          <a:lstStyle/>
          <a:p>
            <a:pPr marL="0" indent="0" algn="ctr">
              <a:buNone/>
            </a:pPr>
            <a:r>
              <a:rPr sz="580" b="1" i="0">
                <a:solidFill>
                  <a:srgbClr val="1E2F6E"/>
                </a:solidFill>
              </a:rPr>
              <a:t>15</a:t>
            </a:r>
          </a:p>
        </p:txBody>
      </p:sp>
      <p:sp>
        <p:nvSpPr>
          <p:cNvPr id="68" name="TextBox 67"/>
          <p:cNvSpPr txBox="1"/>
          <p:nvPr/>
        </p:nvSpPr>
        <p:spPr>
          <a:xfrm>
            <a:off x="7306056" y="3769156"/>
            <a:ext cx="1325880" cy="438912"/>
          </a:xfrm>
          <a:prstGeom prst="rect">
            <a:avLst/>
          </a:prstGeom>
          <a:noFill/>
        </p:spPr>
        <p:txBody>
          <a:bodyPr wrap="square" lIns="0" tIns="0" rIns="0" bIns="0" anchor="ctr">
            <a:spAutoFit/>
          </a:bodyPr>
          <a:lstStyle/>
          <a:p>
            <a:pPr marL="0" indent="0" algn="ctr">
              <a:buNone/>
            </a:pPr>
            <a:r>
              <a:rPr sz="630" b="1" i="0">
                <a:solidFill>
                  <a:srgbClr val="1E2F6E"/>
                </a:solidFill>
              </a:rPr>
              <a:t>Create or load</a:t>
            </a:r>
          </a:p>
          <a:p>
            <a:pPr marL="0" indent="0" algn="ctr">
              <a:buNone/>
            </a:pPr>
            <a:r>
              <a:rPr sz="630" b="1" i="0">
                <a:solidFill>
                  <a:srgbClr val="1E2F6E"/>
                </a:solidFill>
              </a:rPr>
              <a:t>account + cart</a:t>
            </a:r>
          </a:p>
        </p:txBody>
      </p:sp>
      <p:sp>
        <p:nvSpPr>
          <p:cNvPr id="69" name="Rounded Rectangle 68"/>
          <p:cNvSpPr/>
          <p:nvPr/>
        </p:nvSpPr>
        <p:spPr>
          <a:xfrm>
            <a:off x="8906256" y="1143000"/>
            <a:ext cx="1417320" cy="731520"/>
          </a:xfrm>
          <a:prstGeom prst="roundRect">
            <a:avLst>
              <a:gd name="adj" fmla="val 14000"/>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0" name="TextBox 69"/>
          <p:cNvSpPr txBox="1"/>
          <p:nvPr/>
        </p:nvSpPr>
        <p:spPr>
          <a:xfrm>
            <a:off x="8906256" y="1216152"/>
            <a:ext cx="1417320" cy="219456"/>
          </a:xfrm>
          <a:prstGeom prst="rect">
            <a:avLst/>
          </a:prstGeom>
          <a:noFill/>
        </p:spPr>
        <p:txBody>
          <a:bodyPr wrap="square" lIns="0" tIns="0" rIns="0" bIns="0" anchor="ctr">
            <a:spAutoFit/>
          </a:bodyPr>
          <a:lstStyle/>
          <a:p>
            <a:pPr marL="0" indent="0" algn="ctr">
              <a:buNone/>
            </a:pPr>
            <a:r>
              <a:rPr sz="580" b="1" i="0">
                <a:solidFill>
                  <a:srgbClr val="C8102E"/>
                </a:solidFill>
              </a:rPr>
              <a:t>16</a:t>
            </a:r>
          </a:p>
        </p:txBody>
      </p:sp>
      <p:sp>
        <p:nvSpPr>
          <p:cNvPr id="71" name="TextBox 70"/>
          <p:cNvSpPr txBox="1"/>
          <p:nvPr/>
        </p:nvSpPr>
        <p:spPr>
          <a:xfrm>
            <a:off x="8951976" y="1391716"/>
            <a:ext cx="1325880" cy="438912"/>
          </a:xfrm>
          <a:prstGeom prst="rect">
            <a:avLst/>
          </a:prstGeom>
          <a:noFill/>
        </p:spPr>
        <p:txBody>
          <a:bodyPr wrap="square" lIns="0" tIns="0" rIns="0" bIns="0" anchor="ctr">
            <a:spAutoFit/>
          </a:bodyPr>
          <a:lstStyle/>
          <a:p>
            <a:pPr marL="0" indent="0" algn="ctr">
              <a:buNone/>
            </a:pPr>
            <a:r>
              <a:rPr sz="630" b="1" i="0">
                <a:solidFill>
                  <a:srgbClr val="C8102E"/>
                </a:solidFill>
              </a:rPr>
              <a:t>Manage cart, choose</a:t>
            </a:r>
          </a:p>
          <a:p>
            <a:pPr marL="0" indent="0" algn="ctr">
              <a:buNone/>
            </a:pPr>
            <a:r>
              <a:rPr sz="630" b="1" i="0">
                <a:solidFill>
                  <a:srgbClr val="C8102E"/>
                </a:solidFill>
              </a:rPr>
              <a:t>service and slot</a:t>
            </a:r>
          </a:p>
        </p:txBody>
      </p:sp>
      <p:sp>
        <p:nvSpPr>
          <p:cNvPr id="72" name="Rounded Rectangle 71"/>
          <p:cNvSpPr/>
          <p:nvPr/>
        </p:nvSpPr>
        <p:spPr>
          <a:xfrm>
            <a:off x="8906256" y="2331720"/>
            <a:ext cx="1417320" cy="73152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3" name="TextBox 72"/>
          <p:cNvSpPr txBox="1"/>
          <p:nvPr/>
        </p:nvSpPr>
        <p:spPr>
          <a:xfrm>
            <a:off x="8906256" y="2404872"/>
            <a:ext cx="1417320" cy="219456"/>
          </a:xfrm>
          <a:prstGeom prst="rect">
            <a:avLst/>
          </a:prstGeom>
          <a:noFill/>
        </p:spPr>
        <p:txBody>
          <a:bodyPr wrap="square" lIns="0" tIns="0" rIns="0" bIns="0" anchor="ctr">
            <a:spAutoFit/>
          </a:bodyPr>
          <a:lstStyle/>
          <a:p>
            <a:pPr marL="0" indent="0" algn="ctr">
              <a:buNone/>
            </a:pPr>
            <a:r>
              <a:rPr sz="580" b="1" i="0">
                <a:solidFill>
                  <a:srgbClr val="1E2F6E"/>
                </a:solidFill>
              </a:rPr>
              <a:t>17</a:t>
            </a:r>
          </a:p>
        </p:txBody>
      </p:sp>
      <p:sp>
        <p:nvSpPr>
          <p:cNvPr id="74" name="TextBox 73"/>
          <p:cNvSpPr txBox="1"/>
          <p:nvPr/>
        </p:nvSpPr>
        <p:spPr>
          <a:xfrm>
            <a:off x="8951976" y="2580436"/>
            <a:ext cx="1325880" cy="438912"/>
          </a:xfrm>
          <a:prstGeom prst="rect">
            <a:avLst/>
          </a:prstGeom>
          <a:noFill/>
        </p:spPr>
        <p:txBody>
          <a:bodyPr wrap="square" lIns="0" tIns="0" rIns="0" bIns="0" anchor="ctr">
            <a:spAutoFit/>
          </a:bodyPr>
          <a:lstStyle/>
          <a:p>
            <a:pPr marL="0" indent="0" algn="ctr">
              <a:buNone/>
            </a:pPr>
            <a:r>
              <a:rPr sz="630" b="1" i="0">
                <a:solidFill>
                  <a:srgbClr val="1E2F6E"/>
                </a:solidFill>
              </a:rPr>
              <a:t>Recalculate fees,</a:t>
            </a:r>
          </a:p>
          <a:p>
            <a:pPr marL="0" indent="0" algn="ctr">
              <a:buNone/>
            </a:pPr>
            <a:r>
              <a:rPr sz="630" b="1" i="0">
                <a:solidFill>
                  <a:srgbClr val="1E2F6E"/>
                </a:solidFill>
              </a:rPr>
              <a:t>freeship, promotions</a:t>
            </a:r>
          </a:p>
        </p:txBody>
      </p:sp>
      <p:sp>
        <p:nvSpPr>
          <p:cNvPr id="75" name="Rounded Rectangle 74"/>
          <p:cNvSpPr/>
          <p:nvPr/>
        </p:nvSpPr>
        <p:spPr>
          <a:xfrm>
            <a:off x="8906256" y="3520440"/>
            <a:ext cx="1417320" cy="73152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6" name="TextBox 75"/>
          <p:cNvSpPr txBox="1"/>
          <p:nvPr/>
        </p:nvSpPr>
        <p:spPr>
          <a:xfrm>
            <a:off x="8906256" y="3593592"/>
            <a:ext cx="1417320" cy="219456"/>
          </a:xfrm>
          <a:prstGeom prst="rect">
            <a:avLst/>
          </a:prstGeom>
          <a:noFill/>
        </p:spPr>
        <p:txBody>
          <a:bodyPr wrap="square" lIns="0" tIns="0" rIns="0" bIns="0" anchor="ctr">
            <a:spAutoFit/>
          </a:bodyPr>
          <a:lstStyle/>
          <a:p>
            <a:pPr marL="0" indent="0" algn="ctr">
              <a:buNone/>
            </a:pPr>
            <a:r>
              <a:rPr sz="580" b="1" i="0">
                <a:solidFill>
                  <a:srgbClr val="1E2F6E"/>
                </a:solidFill>
              </a:rPr>
              <a:t>18</a:t>
            </a:r>
          </a:p>
        </p:txBody>
      </p:sp>
      <p:sp>
        <p:nvSpPr>
          <p:cNvPr id="77" name="TextBox 76"/>
          <p:cNvSpPr txBox="1"/>
          <p:nvPr/>
        </p:nvSpPr>
        <p:spPr>
          <a:xfrm>
            <a:off x="8951976" y="3769156"/>
            <a:ext cx="1325880" cy="438912"/>
          </a:xfrm>
          <a:prstGeom prst="rect">
            <a:avLst/>
          </a:prstGeom>
          <a:noFill/>
        </p:spPr>
        <p:txBody>
          <a:bodyPr wrap="square" lIns="0" tIns="0" rIns="0" bIns="0" anchor="ctr">
            <a:spAutoFit/>
          </a:bodyPr>
          <a:lstStyle/>
          <a:p>
            <a:pPr marL="0" indent="0" algn="ctr">
              <a:buNone/>
            </a:pPr>
            <a:r>
              <a:rPr sz="630" b="1" i="0">
                <a:solidFill>
                  <a:srgbClr val="1E2F6E"/>
                </a:solidFill>
              </a:rPr>
              <a:t>Reserve slot,</a:t>
            </a:r>
          </a:p>
          <a:p>
            <a:pPr marL="0" indent="0" algn="ctr">
              <a:buNone/>
            </a:pPr>
            <a:r>
              <a:rPr sz="630" b="1" i="0">
                <a:solidFill>
                  <a:srgbClr val="1E2F6E"/>
                </a:solidFill>
              </a:rPr>
              <a:t>validate stock</a:t>
            </a:r>
          </a:p>
        </p:txBody>
      </p:sp>
      <p:sp>
        <p:nvSpPr>
          <p:cNvPr id="78" name="Rounded Rectangle 77"/>
          <p:cNvSpPr/>
          <p:nvPr/>
        </p:nvSpPr>
        <p:spPr>
          <a:xfrm>
            <a:off x="10552176" y="1143000"/>
            <a:ext cx="1417320" cy="731520"/>
          </a:xfrm>
          <a:prstGeom prst="roundRect">
            <a:avLst>
              <a:gd name="adj" fmla="val 14000"/>
            </a:avLst>
          </a:prstGeom>
          <a:solidFill>
            <a:srgbClr val="C8102E"/>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TextBox 78"/>
          <p:cNvSpPr txBox="1"/>
          <p:nvPr/>
        </p:nvSpPr>
        <p:spPr>
          <a:xfrm>
            <a:off x="10552176" y="1216152"/>
            <a:ext cx="1417320" cy="219456"/>
          </a:xfrm>
          <a:prstGeom prst="rect">
            <a:avLst/>
          </a:prstGeom>
          <a:noFill/>
        </p:spPr>
        <p:txBody>
          <a:bodyPr wrap="square" lIns="0" tIns="0" rIns="0" bIns="0" anchor="ctr">
            <a:spAutoFit/>
          </a:bodyPr>
          <a:lstStyle/>
          <a:p>
            <a:pPr marL="0" indent="0" algn="ctr">
              <a:buNone/>
            </a:pPr>
            <a:r>
              <a:rPr sz="580" b="1" i="0">
                <a:solidFill>
                  <a:srgbClr val="FFFFFF"/>
                </a:solidFill>
              </a:rPr>
              <a:t>19</a:t>
            </a:r>
          </a:p>
        </p:txBody>
      </p:sp>
      <p:sp>
        <p:nvSpPr>
          <p:cNvPr id="80" name="TextBox 79"/>
          <p:cNvSpPr txBox="1"/>
          <p:nvPr/>
        </p:nvSpPr>
        <p:spPr>
          <a:xfrm>
            <a:off x="10597896" y="1391716"/>
            <a:ext cx="1325880" cy="438912"/>
          </a:xfrm>
          <a:prstGeom prst="rect">
            <a:avLst/>
          </a:prstGeom>
          <a:noFill/>
        </p:spPr>
        <p:txBody>
          <a:bodyPr wrap="square" lIns="0" tIns="0" rIns="0" bIns="0" anchor="ctr">
            <a:spAutoFit/>
          </a:bodyPr>
          <a:lstStyle/>
          <a:p>
            <a:pPr marL="0" indent="0" algn="ctr">
              <a:buNone/>
            </a:pPr>
            <a:r>
              <a:rPr sz="630" b="1" i="0">
                <a:solidFill>
                  <a:srgbClr val="FFFFFF"/>
                </a:solidFill>
              </a:rPr>
              <a:t>Pay and</a:t>
            </a:r>
          </a:p>
          <a:p>
            <a:pPr marL="0" indent="0" algn="ctr">
              <a:buNone/>
            </a:pPr>
            <a:r>
              <a:rPr sz="630" b="1" i="0">
                <a:solidFill>
                  <a:srgbClr val="FFFFFF"/>
                </a:solidFill>
              </a:rPr>
              <a:t>place order</a:t>
            </a:r>
          </a:p>
        </p:txBody>
      </p:sp>
      <p:sp>
        <p:nvSpPr>
          <p:cNvPr id="81" name="Rounded Rectangle 80"/>
          <p:cNvSpPr/>
          <p:nvPr/>
        </p:nvSpPr>
        <p:spPr>
          <a:xfrm>
            <a:off x="10552176" y="2331720"/>
            <a:ext cx="1417320" cy="73152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2" name="TextBox 81"/>
          <p:cNvSpPr txBox="1"/>
          <p:nvPr/>
        </p:nvSpPr>
        <p:spPr>
          <a:xfrm>
            <a:off x="10552176" y="2404872"/>
            <a:ext cx="1417320" cy="219456"/>
          </a:xfrm>
          <a:prstGeom prst="rect">
            <a:avLst/>
          </a:prstGeom>
          <a:noFill/>
        </p:spPr>
        <p:txBody>
          <a:bodyPr wrap="square" lIns="0" tIns="0" rIns="0" bIns="0" anchor="ctr">
            <a:spAutoFit/>
          </a:bodyPr>
          <a:lstStyle/>
          <a:p>
            <a:pPr marL="0" indent="0" algn="ctr">
              <a:buNone/>
            </a:pPr>
            <a:r>
              <a:rPr sz="580" b="1" i="0">
                <a:solidFill>
                  <a:srgbClr val="1E2F6E"/>
                </a:solidFill>
              </a:rPr>
              <a:t>20</a:t>
            </a:r>
          </a:p>
        </p:txBody>
      </p:sp>
      <p:sp>
        <p:nvSpPr>
          <p:cNvPr id="83" name="TextBox 82"/>
          <p:cNvSpPr txBox="1"/>
          <p:nvPr/>
        </p:nvSpPr>
        <p:spPr>
          <a:xfrm>
            <a:off x="10597896" y="2580436"/>
            <a:ext cx="1325880" cy="438912"/>
          </a:xfrm>
          <a:prstGeom prst="rect">
            <a:avLst/>
          </a:prstGeom>
          <a:noFill/>
        </p:spPr>
        <p:txBody>
          <a:bodyPr wrap="square" lIns="0" tIns="0" rIns="0" bIns="0" anchor="ctr">
            <a:spAutoFit/>
          </a:bodyPr>
          <a:lstStyle/>
          <a:p>
            <a:pPr marL="0" indent="0" algn="ctr">
              <a:buNone/>
            </a:pPr>
            <a:r>
              <a:rPr sz="630" b="1" i="0">
                <a:solidFill>
                  <a:srgbClr val="1E2F6E"/>
                </a:solidFill>
              </a:rPr>
              <a:t>Lock order, submit</a:t>
            </a:r>
          </a:p>
          <a:p>
            <a:pPr marL="0" indent="0" algn="ctr">
              <a:buNone/>
            </a:pPr>
            <a:r>
              <a:rPr sz="630" b="1" i="0">
                <a:solidFill>
                  <a:srgbClr val="1E2F6E"/>
                </a:solidFill>
              </a:rPr>
              <a:t>to OMS</a:t>
            </a:r>
          </a:p>
        </p:txBody>
      </p:sp>
      <p:sp>
        <p:nvSpPr>
          <p:cNvPr id="84" name="Rounded Rectangle 83"/>
          <p:cNvSpPr/>
          <p:nvPr/>
        </p:nvSpPr>
        <p:spPr>
          <a:xfrm>
            <a:off x="10552176" y="3520440"/>
            <a:ext cx="1417320" cy="73152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5" name="TextBox 84"/>
          <p:cNvSpPr txBox="1"/>
          <p:nvPr/>
        </p:nvSpPr>
        <p:spPr>
          <a:xfrm>
            <a:off x="10552176" y="3593592"/>
            <a:ext cx="1417320" cy="219456"/>
          </a:xfrm>
          <a:prstGeom prst="rect">
            <a:avLst/>
          </a:prstGeom>
          <a:noFill/>
        </p:spPr>
        <p:txBody>
          <a:bodyPr wrap="square" lIns="0" tIns="0" rIns="0" bIns="0" anchor="ctr">
            <a:spAutoFit/>
          </a:bodyPr>
          <a:lstStyle/>
          <a:p>
            <a:pPr marL="0" indent="0" algn="ctr">
              <a:buNone/>
            </a:pPr>
            <a:r>
              <a:rPr sz="580" b="1" i="0">
                <a:solidFill>
                  <a:srgbClr val="1E2F6E"/>
                </a:solidFill>
              </a:rPr>
              <a:t>21</a:t>
            </a:r>
          </a:p>
        </p:txBody>
      </p:sp>
      <p:sp>
        <p:nvSpPr>
          <p:cNvPr id="86" name="TextBox 85"/>
          <p:cNvSpPr txBox="1"/>
          <p:nvPr/>
        </p:nvSpPr>
        <p:spPr>
          <a:xfrm>
            <a:off x="10597896" y="3769156"/>
            <a:ext cx="1325880" cy="438912"/>
          </a:xfrm>
          <a:prstGeom prst="rect">
            <a:avLst/>
          </a:prstGeom>
          <a:noFill/>
        </p:spPr>
        <p:txBody>
          <a:bodyPr wrap="square" lIns="0" tIns="0" rIns="0" bIns="0" anchor="ctr">
            <a:spAutoFit/>
          </a:bodyPr>
          <a:lstStyle/>
          <a:p>
            <a:pPr marL="0" indent="0" algn="ctr">
              <a:buNone/>
            </a:pPr>
            <a:r>
              <a:rPr sz="630" b="1" i="0">
                <a:solidFill>
                  <a:srgbClr val="1E2F6E"/>
                </a:solidFill>
              </a:rPr>
              <a:t>Confirm order,</a:t>
            </a:r>
          </a:p>
          <a:p>
            <a:pPr marL="0" indent="0" algn="ctr">
              <a:buNone/>
            </a:pPr>
            <a:r>
              <a:rPr sz="630" b="1" i="0">
                <a:solidFill>
                  <a:srgbClr val="1E2F6E"/>
                </a:solidFill>
              </a:rPr>
              <a:t>release to fulfilment</a:t>
            </a:r>
          </a:p>
        </p:txBody>
      </p:sp>
      <p:cxnSp>
        <p:nvCxnSpPr>
          <p:cNvPr id="87" name="Connector 86"/>
          <p:cNvCxnSpPr/>
          <p:nvPr/>
        </p:nvCxnSpPr>
        <p:spPr>
          <a:xfrm>
            <a:off x="1385316" y="1874520"/>
            <a:ext cx="0" cy="45720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1385316" y="3063240"/>
            <a:ext cx="0" cy="45720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3031236" y="1874520"/>
            <a:ext cx="0" cy="45720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3031236" y="3063240"/>
            <a:ext cx="0" cy="45720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4677156" y="1874520"/>
            <a:ext cx="0" cy="45720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4677156" y="3063240"/>
            <a:ext cx="0" cy="45720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6323076" y="1874520"/>
            <a:ext cx="0" cy="45720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6323076" y="3063240"/>
            <a:ext cx="0" cy="45720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7968996" y="1874520"/>
            <a:ext cx="0" cy="45720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7968996" y="3063240"/>
            <a:ext cx="0" cy="45720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9614916" y="1874520"/>
            <a:ext cx="0" cy="45720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9614916" y="3063240"/>
            <a:ext cx="0" cy="45720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11260836" y="1874520"/>
            <a:ext cx="0" cy="45720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11260836" y="3063240"/>
            <a:ext cx="0" cy="45720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2093976" y="1508760"/>
            <a:ext cx="228600" cy="0"/>
          </a:xfrm>
          <a:prstGeom prst="line">
            <a:avLst/>
          </a:prstGeom>
          <a:ln w="9525">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3739896" y="1508760"/>
            <a:ext cx="228600" cy="0"/>
          </a:xfrm>
          <a:prstGeom prst="line">
            <a:avLst/>
          </a:prstGeom>
          <a:ln w="9525">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5385816" y="1508760"/>
            <a:ext cx="228600" cy="0"/>
          </a:xfrm>
          <a:prstGeom prst="line">
            <a:avLst/>
          </a:prstGeom>
          <a:ln w="9525">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7031736" y="1508760"/>
            <a:ext cx="228600" cy="0"/>
          </a:xfrm>
          <a:prstGeom prst="line">
            <a:avLst/>
          </a:prstGeom>
          <a:ln w="9525">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8677656" y="1508760"/>
            <a:ext cx="228600" cy="0"/>
          </a:xfrm>
          <a:prstGeom prst="line">
            <a:avLst/>
          </a:prstGeom>
          <a:ln w="9525">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10323576" y="1508760"/>
            <a:ext cx="228600" cy="0"/>
          </a:xfrm>
          <a:prstGeom prst="line">
            <a:avLst/>
          </a:prstGeom>
          <a:ln w="9525">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7" name="Rounded Rectangle 106"/>
          <p:cNvSpPr/>
          <p:nvPr/>
        </p:nvSpPr>
        <p:spPr>
          <a:xfrm>
            <a:off x="274320" y="4754880"/>
            <a:ext cx="137160" cy="137160"/>
          </a:xfrm>
          <a:prstGeom prst="roundRect">
            <a:avLst>
              <a:gd name="adj" fmla="val 25000"/>
            </a:avLst>
          </a:prstGeom>
          <a:solidFill>
            <a:srgbClr val="FFFFFF"/>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8" name="TextBox 107"/>
          <p:cNvSpPr txBox="1"/>
          <p:nvPr/>
        </p:nvSpPr>
        <p:spPr>
          <a:xfrm>
            <a:off x="457200" y="4727448"/>
            <a:ext cx="1783080" cy="192024"/>
          </a:xfrm>
          <a:prstGeom prst="rect">
            <a:avLst/>
          </a:prstGeom>
          <a:noFill/>
        </p:spPr>
        <p:txBody>
          <a:bodyPr wrap="square" lIns="0" tIns="0" rIns="0" bIns="0" anchor="ctr">
            <a:spAutoFit/>
          </a:bodyPr>
          <a:lstStyle/>
          <a:p>
            <a:pPr marL="0" indent="0" algn="l">
              <a:buNone/>
            </a:pPr>
            <a:r>
              <a:rPr sz="620" b="0" i="0">
                <a:solidFill>
                  <a:srgbClr val="555555"/>
                </a:solidFill>
              </a:rPr>
              <a:t>Customer action</a:t>
            </a:r>
          </a:p>
        </p:txBody>
      </p:sp>
      <p:sp>
        <p:nvSpPr>
          <p:cNvPr id="109" name="Rounded Rectangle 108"/>
          <p:cNvSpPr/>
          <p:nvPr/>
        </p:nvSpPr>
        <p:spPr>
          <a:xfrm>
            <a:off x="2286000" y="4754880"/>
            <a:ext cx="137160" cy="137160"/>
          </a:xfrm>
          <a:prstGeom prst="roundRect">
            <a:avLst>
              <a:gd name="adj" fmla="val 25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0" name="TextBox 109"/>
          <p:cNvSpPr txBox="1"/>
          <p:nvPr/>
        </p:nvSpPr>
        <p:spPr>
          <a:xfrm>
            <a:off x="2468880" y="4727448"/>
            <a:ext cx="1783080" cy="192024"/>
          </a:xfrm>
          <a:prstGeom prst="rect">
            <a:avLst/>
          </a:prstGeom>
          <a:noFill/>
        </p:spPr>
        <p:txBody>
          <a:bodyPr wrap="square" lIns="0" tIns="0" rIns="0" bIns="0" anchor="ctr">
            <a:spAutoFit/>
          </a:bodyPr>
          <a:lstStyle/>
          <a:p>
            <a:pPr marL="0" indent="0" algn="l">
              <a:buNone/>
            </a:pPr>
            <a:r>
              <a:rPr sz="620" b="0" i="0">
                <a:solidFill>
                  <a:srgbClr val="555555"/>
                </a:solidFill>
              </a:rPr>
              <a:t>Mandatory gate</a:t>
            </a:r>
          </a:p>
        </p:txBody>
      </p:sp>
      <p:sp>
        <p:nvSpPr>
          <p:cNvPr id="111" name="Rounded Rectangle 110"/>
          <p:cNvSpPr/>
          <p:nvPr/>
        </p:nvSpPr>
        <p:spPr>
          <a:xfrm>
            <a:off x="4297680" y="4754880"/>
            <a:ext cx="137160" cy="137160"/>
          </a:xfrm>
          <a:prstGeom prst="roundRect">
            <a:avLst>
              <a:gd name="adj" fmla="val 25000"/>
            </a:avLst>
          </a:prstGeom>
          <a:solidFill>
            <a:srgbClr val="EEF1F9"/>
          </a:solidFill>
          <a:ln w="635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2" name="TextBox 111"/>
          <p:cNvSpPr txBox="1"/>
          <p:nvPr/>
        </p:nvSpPr>
        <p:spPr>
          <a:xfrm>
            <a:off x="4480560" y="4727448"/>
            <a:ext cx="1783080" cy="192024"/>
          </a:xfrm>
          <a:prstGeom prst="rect">
            <a:avLst/>
          </a:prstGeom>
          <a:noFill/>
        </p:spPr>
        <p:txBody>
          <a:bodyPr wrap="square" lIns="0" tIns="0" rIns="0" bIns="0" anchor="ctr">
            <a:spAutoFit/>
          </a:bodyPr>
          <a:lstStyle/>
          <a:p>
            <a:pPr marL="0" indent="0" algn="l">
              <a:buNone/>
            </a:pPr>
            <a:r>
              <a:rPr sz="620" b="0" i="0">
                <a:solidFill>
                  <a:srgbClr val="555555"/>
                </a:solidFill>
              </a:rPr>
              <a:t>System / backend step</a:t>
            </a:r>
          </a:p>
        </p:txBody>
      </p:sp>
      <p:sp>
        <p:nvSpPr>
          <p:cNvPr id="113" name="Rounded Rectangle 112"/>
          <p:cNvSpPr/>
          <p:nvPr/>
        </p:nvSpPr>
        <p:spPr>
          <a:xfrm>
            <a:off x="6309360" y="4754880"/>
            <a:ext cx="137160" cy="137160"/>
          </a:xfrm>
          <a:prstGeom prst="roundRect">
            <a:avLst>
              <a:gd name="adj" fmla="val 25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4" name="TextBox 113"/>
          <p:cNvSpPr txBox="1"/>
          <p:nvPr/>
        </p:nvSpPr>
        <p:spPr>
          <a:xfrm>
            <a:off x="6492240" y="4727448"/>
            <a:ext cx="1783080" cy="192024"/>
          </a:xfrm>
          <a:prstGeom prst="rect">
            <a:avLst/>
          </a:prstGeom>
          <a:noFill/>
        </p:spPr>
        <p:txBody>
          <a:bodyPr wrap="square" lIns="0" tIns="0" rIns="0" bIns="0" anchor="ctr">
            <a:spAutoFit/>
          </a:bodyPr>
          <a:lstStyle/>
          <a:p>
            <a:pPr marL="0" indent="0" algn="l">
              <a:buNone/>
            </a:pPr>
            <a:r>
              <a:rPr sz="620" b="0" i="0">
                <a:solidFill>
                  <a:srgbClr val="555555"/>
                </a:solidFill>
              </a:rPr>
              <a:t>Order committed</a:t>
            </a:r>
          </a:p>
        </p:txBody>
      </p:sp>
      <p:sp>
        <p:nvSpPr>
          <p:cNvPr id="115" name="Rectangle 114"/>
          <p:cNvSpPr/>
          <p:nvPr/>
        </p:nvSpPr>
        <p:spPr>
          <a:xfrm>
            <a:off x="274320" y="5074920"/>
            <a:ext cx="11612880" cy="640080"/>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6" name="TextBox 115"/>
          <p:cNvSpPr txBox="1"/>
          <p:nvPr/>
        </p:nvSpPr>
        <p:spPr>
          <a:xfrm>
            <a:off x="411480" y="5120640"/>
            <a:ext cx="11338560" cy="548640"/>
          </a:xfrm>
          <a:prstGeom prst="rect">
            <a:avLst/>
          </a:prstGeom>
          <a:noFill/>
        </p:spPr>
        <p:txBody>
          <a:bodyPr wrap="square" lIns="0" tIns="0" rIns="0" bIns="0" anchor="t">
            <a:spAutoFit/>
          </a:bodyPr>
          <a:lstStyle/>
          <a:p>
            <a:pPr marL="0" indent="0" algn="l">
              <a:buNone/>
            </a:pPr>
            <a:r>
              <a:rPr sz="750" b="0" i="0">
                <a:solidFill>
                  <a:srgbClr val="6B6800"/>
                </a:solidFill>
              </a:rPr>
              <a:t>Read the lanes top-down at each column: the customer acts, the app reacts, the store/backend supplies or validates. Columns 4 and 11 carry the only two red nodes — store selection and login — and they are the only points where the customer cannot proceed without completing the step. Everything else in the journey is optional or reversible.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PF-02  ·  Onboarding</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11</a:t>
            </a:r>
          </a:p>
        </p:txBody>
      </p:sp>
      <p:sp>
        <p:nvSpPr>
          <p:cNvPr id="9" name="Rectangle 8"/>
          <p:cNvSpPr/>
          <p:nvPr/>
        </p:nvSpPr>
        <p:spPr>
          <a:xfrm>
            <a:off x="274320" y="640080"/>
            <a:ext cx="1385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365760" y="640080"/>
            <a:ext cx="1248000" cy="246888"/>
          </a:xfrm>
          <a:prstGeom prst="rect">
            <a:avLst/>
          </a:prstGeom>
          <a:noFill/>
        </p:spPr>
        <p:txBody>
          <a:bodyPr wrap="square" lIns="0" tIns="0" rIns="0" bIns="0" anchor="ctr">
            <a:spAutoFit/>
          </a:bodyPr>
          <a:lstStyle/>
          <a:p>
            <a:pPr marL="0" indent="0" algn="l">
              <a:buNone/>
            </a:pPr>
            <a:r>
              <a:rPr sz="680" b="1" i="0">
                <a:solidFill>
                  <a:srgbClr val="1E2F6E"/>
                </a:solidFill>
              </a:rPr>
              <a:t>Trigger: </a:t>
            </a:r>
            <a:r>
              <a:rPr sz="680" b="0" i="0">
                <a:solidFill>
                  <a:srgbClr val="555555"/>
                </a:solidFill>
              </a:rPr>
              <a:t>First app launch</a:t>
            </a:r>
          </a:p>
        </p:txBody>
      </p:sp>
      <p:sp>
        <p:nvSpPr>
          <p:cNvPr id="11" name="Rectangle 10"/>
          <p:cNvSpPr/>
          <p:nvPr/>
        </p:nvSpPr>
        <p:spPr>
          <a:xfrm>
            <a:off x="1728060" y="640080"/>
            <a:ext cx="709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1819500" y="640080"/>
            <a:ext cx="572000" cy="246888"/>
          </a:xfrm>
          <a:prstGeom prst="rect">
            <a:avLst/>
          </a:prstGeom>
          <a:noFill/>
        </p:spPr>
        <p:txBody>
          <a:bodyPr wrap="square" lIns="0" tIns="0" rIns="0" bIns="0" anchor="ctr">
            <a:spAutoFit/>
          </a:bodyPr>
          <a:lstStyle/>
          <a:p>
            <a:pPr marL="0" indent="0" algn="l">
              <a:buNone/>
            </a:pPr>
            <a:r>
              <a:rPr sz="680" b="1" i="0">
                <a:solidFill>
                  <a:srgbClr val="1E2F6E"/>
                </a:solidFill>
              </a:rPr>
              <a:t>Actor: </a:t>
            </a:r>
            <a:r>
              <a:rPr sz="680" b="0" i="0">
                <a:solidFill>
                  <a:srgbClr val="555555"/>
                </a:solidFill>
              </a:rPr>
              <a:t>Guest</a:t>
            </a:r>
          </a:p>
        </p:txBody>
      </p:sp>
      <p:sp>
        <p:nvSpPr>
          <p:cNvPr id="13" name="Rectangle 12"/>
          <p:cNvSpPr/>
          <p:nvPr/>
        </p:nvSpPr>
        <p:spPr>
          <a:xfrm>
            <a:off x="2505800" y="640080"/>
            <a:ext cx="1697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2597240" y="640080"/>
            <a:ext cx="1560000" cy="246888"/>
          </a:xfrm>
          <a:prstGeom prst="rect">
            <a:avLst/>
          </a:prstGeom>
          <a:noFill/>
        </p:spPr>
        <p:txBody>
          <a:bodyPr wrap="square" lIns="0" tIns="0" rIns="0" bIns="0" anchor="ctr">
            <a:spAutoFit/>
          </a:bodyPr>
          <a:lstStyle/>
          <a:p>
            <a:pPr marL="0" indent="0" algn="l">
              <a:buNone/>
            </a:pPr>
            <a:r>
              <a:rPr sz="680" b="1" i="0">
                <a:solidFill>
                  <a:srgbClr val="1E2F6E"/>
                </a:solidFill>
              </a:rPr>
              <a:t>Exit: </a:t>
            </a:r>
            <a:r>
              <a:rPr sz="680" b="0" i="0">
                <a:solidFill>
                  <a:srgbClr val="555555"/>
                </a:solidFill>
              </a:rPr>
              <a:t>Homepage in store context</a:t>
            </a:r>
          </a:p>
        </p:txBody>
      </p:sp>
      <p:sp>
        <p:nvSpPr>
          <p:cNvPr id="15" name="Rectangle 14"/>
          <p:cNvSpPr/>
          <p:nvPr/>
        </p:nvSpPr>
        <p:spPr>
          <a:xfrm>
            <a:off x="4271540" y="640080"/>
            <a:ext cx="1801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4362980" y="640080"/>
            <a:ext cx="1664000" cy="246888"/>
          </a:xfrm>
          <a:prstGeom prst="rect">
            <a:avLst/>
          </a:prstGeom>
          <a:noFill/>
        </p:spPr>
        <p:txBody>
          <a:bodyPr wrap="square" lIns="0" tIns="0" rIns="0" bIns="0" anchor="ctr">
            <a:spAutoFit/>
          </a:bodyPr>
          <a:lstStyle/>
          <a:p>
            <a:pPr marL="0" indent="0" algn="l">
              <a:buNone/>
            </a:pPr>
            <a:r>
              <a:rPr sz="680" b="1" i="0">
                <a:solidFill>
                  <a:srgbClr val="1E2F6E"/>
                </a:solidFill>
              </a:rPr>
              <a:t>Realises: </a:t>
            </a:r>
            <a:r>
              <a:rPr sz="680" b="0" i="0">
                <a:solidFill>
                  <a:srgbClr val="555555"/>
                </a:solidFill>
              </a:rPr>
              <a:t>ONB-01 … ONB-07 · BR-03</a:t>
            </a:r>
          </a:p>
        </p:txBody>
      </p:sp>
      <p:sp>
        <p:nvSpPr>
          <p:cNvPr id="17" name="Rounded Rectangle 16"/>
          <p:cNvSpPr/>
          <p:nvPr/>
        </p:nvSpPr>
        <p:spPr>
          <a:xfrm>
            <a:off x="274320" y="1005840"/>
            <a:ext cx="1325880" cy="685800"/>
          </a:xfrm>
          <a:prstGeom prst="roundRect">
            <a:avLst>
              <a:gd name="adj" fmla="val 14000"/>
            </a:avLst>
          </a:prstGeom>
          <a:solidFill>
            <a:srgbClr val="1E2F6E"/>
          </a:solidFill>
          <a:ln w="9525">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274320" y="1074420"/>
            <a:ext cx="1325880" cy="205740"/>
          </a:xfrm>
          <a:prstGeom prst="rect">
            <a:avLst/>
          </a:prstGeom>
          <a:noFill/>
        </p:spPr>
        <p:txBody>
          <a:bodyPr wrap="square" lIns="0" tIns="0" rIns="0" bIns="0" anchor="ctr">
            <a:spAutoFit/>
          </a:bodyPr>
          <a:lstStyle/>
          <a:p>
            <a:pPr marL="0" indent="0" algn="ctr">
              <a:buNone/>
            </a:pPr>
            <a:r>
              <a:rPr sz="580" b="1" i="0">
                <a:solidFill>
                  <a:srgbClr val="FFFFFF"/>
                </a:solidFill>
              </a:rPr>
              <a:t>ONB-01</a:t>
            </a:r>
          </a:p>
        </p:txBody>
      </p:sp>
      <p:sp>
        <p:nvSpPr>
          <p:cNvPr id="19" name="TextBox 18"/>
          <p:cNvSpPr txBox="1"/>
          <p:nvPr/>
        </p:nvSpPr>
        <p:spPr>
          <a:xfrm>
            <a:off x="320040" y="1239012"/>
            <a:ext cx="1234440" cy="411480"/>
          </a:xfrm>
          <a:prstGeom prst="rect">
            <a:avLst/>
          </a:prstGeom>
          <a:noFill/>
        </p:spPr>
        <p:txBody>
          <a:bodyPr wrap="square" lIns="0" tIns="0" rIns="0" bIns="0" anchor="ctr">
            <a:spAutoFit/>
          </a:bodyPr>
          <a:lstStyle/>
          <a:p>
            <a:pPr marL="0" indent="0" algn="ctr">
              <a:buNone/>
            </a:pPr>
            <a:r>
              <a:rPr sz="680" b="1" i="0">
                <a:solidFill>
                  <a:srgbClr val="FFFFFF"/>
                </a:solidFill>
              </a:rPr>
              <a:t>Open app</a:t>
            </a:r>
          </a:p>
          <a:p>
            <a:pPr marL="0" indent="0" algn="ctr">
              <a:buNone/>
            </a:pPr>
            <a:r>
              <a:rPr sz="680" b="1" i="0">
                <a:solidFill>
                  <a:srgbClr val="FFFFFF"/>
                </a:solidFill>
              </a:rPr>
              <a:t>for the first time</a:t>
            </a:r>
          </a:p>
        </p:txBody>
      </p:sp>
      <p:cxnSp>
        <p:nvCxnSpPr>
          <p:cNvPr id="20" name="Connector 19"/>
          <p:cNvCxnSpPr/>
          <p:nvPr/>
        </p:nvCxnSpPr>
        <p:spPr>
          <a:xfrm>
            <a:off x="1600200" y="1348740"/>
            <a:ext cx="13716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737360" y="1005840"/>
            <a:ext cx="1325880" cy="685800"/>
          </a:xfrm>
          <a:prstGeom prst="roundRect">
            <a:avLst>
              <a:gd name="adj" fmla="val 14000"/>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TextBox 21"/>
          <p:cNvSpPr txBox="1"/>
          <p:nvPr/>
        </p:nvSpPr>
        <p:spPr>
          <a:xfrm>
            <a:off x="1737360" y="1074420"/>
            <a:ext cx="1325880" cy="205740"/>
          </a:xfrm>
          <a:prstGeom prst="rect">
            <a:avLst/>
          </a:prstGeom>
          <a:noFill/>
        </p:spPr>
        <p:txBody>
          <a:bodyPr wrap="square" lIns="0" tIns="0" rIns="0" bIns="0" anchor="ctr">
            <a:spAutoFit/>
          </a:bodyPr>
          <a:lstStyle/>
          <a:p>
            <a:pPr marL="0" indent="0" algn="ctr">
              <a:buNone/>
            </a:pPr>
            <a:r>
              <a:rPr sz="580" b="1" i="0">
                <a:solidFill>
                  <a:srgbClr val="C8102E"/>
                </a:solidFill>
              </a:rPr>
              <a:t>ONB-01</a:t>
            </a:r>
          </a:p>
        </p:txBody>
      </p:sp>
      <p:sp>
        <p:nvSpPr>
          <p:cNvPr id="23" name="TextBox 22"/>
          <p:cNvSpPr txBox="1"/>
          <p:nvPr/>
        </p:nvSpPr>
        <p:spPr>
          <a:xfrm>
            <a:off x="1783080" y="1239012"/>
            <a:ext cx="1234440" cy="411480"/>
          </a:xfrm>
          <a:prstGeom prst="rect">
            <a:avLst/>
          </a:prstGeom>
          <a:noFill/>
        </p:spPr>
        <p:txBody>
          <a:bodyPr wrap="square" lIns="0" tIns="0" rIns="0" bIns="0" anchor="ctr">
            <a:spAutoFit/>
          </a:bodyPr>
          <a:lstStyle/>
          <a:p>
            <a:pPr marL="0" indent="0" algn="ctr">
              <a:buNone/>
            </a:pPr>
            <a:r>
              <a:rPr sz="680" b="1" i="0">
                <a:solidFill>
                  <a:srgbClr val="C8102E"/>
                </a:solidFill>
              </a:rPr>
              <a:t>Select language</a:t>
            </a:r>
          </a:p>
          <a:p>
            <a:pPr marL="0" indent="0" algn="ctr">
              <a:buNone/>
            </a:pPr>
            <a:r>
              <a:rPr sz="680" b="1" i="0">
                <a:solidFill>
                  <a:srgbClr val="C8102E"/>
                </a:solidFill>
              </a:rPr>
              <a:t>VN / KR / EN</a:t>
            </a:r>
          </a:p>
        </p:txBody>
      </p:sp>
      <p:cxnSp>
        <p:nvCxnSpPr>
          <p:cNvPr id="24" name="Connector 23"/>
          <p:cNvCxnSpPr/>
          <p:nvPr/>
        </p:nvCxnSpPr>
        <p:spPr>
          <a:xfrm>
            <a:off x="3063240" y="1348740"/>
            <a:ext cx="13716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3200400" y="1005840"/>
            <a:ext cx="1325880" cy="68580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6" name="TextBox 25"/>
          <p:cNvSpPr txBox="1"/>
          <p:nvPr/>
        </p:nvSpPr>
        <p:spPr>
          <a:xfrm>
            <a:off x="3200400" y="1074420"/>
            <a:ext cx="1325880" cy="205740"/>
          </a:xfrm>
          <a:prstGeom prst="rect">
            <a:avLst/>
          </a:prstGeom>
          <a:noFill/>
        </p:spPr>
        <p:txBody>
          <a:bodyPr wrap="square" lIns="0" tIns="0" rIns="0" bIns="0" anchor="ctr">
            <a:spAutoFit/>
          </a:bodyPr>
          <a:lstStyle/>
          <a:p>
            <a:pPr marL="0" indent="0" algn="ctr">
              <a:buNone/>
            </a:pPr>
            <a:r>
              <a:rPr sz="580" b="1" i="0">
                <a:solidFill>
                  <a:srgbClr val="1E2F6E"/>
                </a:solidFill>
              </a:rPr>
              <a:t>ONB-02</a:t>
            </a:r>
          </a:p>
        </p:txBody>
      </p:sp>
      <p:sp>
        <p:nvSpPr>
          <p:cNvPr id="27" name="TextBox 26"/>
          <p:cNvSpPr txBox="1"/>
          <p:nvPr/>
        </p:nvSpPr>
        <p:spPr>
          <a:xfrm>
            <a:off x="3246120" y="1239012"/>
            <a:ext cx="1234440" cy="411480"/>
          </a:xfrm>
          <a:prstGeom prst="rect">
            <a:avLst/>
          </a:prstGeom>
          <a:noFill/>
        </p:spPr>
        <p:txBody>
          <a:bodyPr wrap="square" lIns="0" tIns="0" rIns="0" bIns="0" anchor="ctr">
            <a:spAutoFit/>
          </a:bodyPr>
          <a:lstStyle/>
          <a:p>
            <a:pPr marL="0" indent="0" algn="ctr">
              <a:buNone/>
            </a:pPr>
            <a:r>
              <a:rPr sz="680" b="1" i="0">
                <a:solidFill>
                  <a:srgbClr val="1E2F6E"/>
                </a:solidFill>
              </a:rPr>
              <a:t>Permission #1</a:t>
            </a:r>
          </a:p>
          <a:p>
            <a:pPr marL="0" indent="0" algn="ctr">
              <a:buNone/>
            </a:pPr>
            <a:r>
              <a:rPr sz="680" b="1" i="0">
                <a:solidFill>
                  <a:srgbClr val="1E2F6E"/>
                </a:solidFill>
              </a:rPr>
              <a:t>Activity tracking</a:t>
            </a:r>
          </a:p>
        </p:txBody>
      </p:sp>
      <p:cxnSp>
        <p:nvCxnSpPr>
          <p:cNvPr id="28" name="Connector 27"/>
          <p:cNvCxnSpPr/>
          <p:nvPr/>
        </p:nvCxnSpPr>
        <p:spPr>
          <a:xfrm>
            <a:off x="4526280" y="1348740"/>
            <a:ext cx="13716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4663440" y="1005840"/>
            <a:ext cx="1325880" cy="68580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0" name="TextBox 29"/>
          <p:cNvSpPr txBox="1"/>
          <p:nvPr/>
        </p:nvSpPr>
        <p:spPr>
          <a:xfrm>
            <a:off x="4663440" y="1074420"/>
            <a:ext cx="1325880" cy="205740"/>
          </a:xfrm>
          <a:prstGeom prst="rect">
            <a:avLst/>
          </a:prstGeom>
          <a:noFill/>
        </p:spPr>
        <p:txBody>
          <a:bodyPr wrap="square" lIns="0" tIns="0" rIns="0" bIns="0" anchor="ctr">
            <a:spAutoFit/>
          </a:bodyPr>
          <a:lstStyle/>
          <a:p>
            <a:pPr marL="0" indent="0" algn="ctr">
              <a:buNone/>
            </a:pPr>
            <a:r>
              <a:rPr sz="580" b="1" i="0">
                <a:solidFill>
                  <a:srgbClr val="1E2F6E"/>
                </a:solidFill>
              </a:rPr>
              <a:t>ONB-03</a:t>
            </a:r>
          </a:p>
        </p:txBody>
      </p:sp>
      <p:sp>
        <p:nvSpPr>
          <p:cNvPr id="31" name="TextBox 30"/>
          <p:cNvSpPr txBox="1"/>
          <p:nvPr/>
        </p:nvSpPr>
        <p:spPr>
          <a:xfrm>
            <a:off x="4709160" y="1239012"/>
            <a:ext cx="1234440" cy="411480"/>
          </a:xfrm>
          <a:prstGeom prst="rect">
            <a:avLst/>
          </a:prstGeom>
          <a:noFill/>
        </p:spPr>
        <p:txBody>
          <a:bodyPr wrap="square" lIns="0" tIns="0" rIns="0" bIns="0" anchor="ctr">
            <a:spAutoFit/>
          </a:bodyPr>
          <a:lstStyle/>
          <a:p>
            <a:pPr marL="0" indent="0" algn="ctr">
              <a:buNone/>
            </a:pPr>
            <a:r>
              <a:rPr sz="680" b="1" i="0">
                <a:solidFill>
                  <a:srgbClr val="1E2F6E"/>
                </a:solidFill>
              </a:rPr>
              <a:t>Permission #2</a:t>
            </a:r>
          </a:p>
          <a:p>
            <a:pPr marL="0" indent="0" algn="ctr">
              <a:buNone/>
            </a:pPr>
            <a:r>
              <a:rPr sz="680" b="1" i="0">
                <a:solidFill>
                  <a:srgbClr val="1E2F6E"/>
                </a:solidFill>
              </a:rPr>
              <a:t>Push notifications</a:t>
            </a:r>
          </a:p>
        </p:txBody>
      </p:sp>
      <p:cxnSp>
        <p:nvCxnSpPr>
          <p:cNvPr id="32" name="Connector 31"/>
          <p:cNvCxnSpPr/>
          <p:nvPr/>
        </p:nvCxnSpPr>
        <p:spPr>
          <a:xfrm>
            <a:off x="5989320" y="1348740"/>
            <a:ext cx="13716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6126480" y="1005840"/>
            <a:ext cx="1325880" cy="68580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6126480" y="1074420"/>
            <a:ext cx="1325880" cy="205740"/>
          </a:xfrm>
          <a:prstGeom prst="rect">
            <a:avLst/>
          </a:prstGeom>
          <a:noFill/>
        </p:spPr>
        <p:txBody>
          <a:bodyPr wrap="square" lIns="0" tIns="0" rIns="0" bIns="0" anchor="ctr">
            <a:spAutoFit/>
          </a:bodyPr>
          <a:lstStyle/>
          <a:p>
            <a:pPr marL="0" indent="0" algn="ctr">
              <a:buNone/>
            </a:pPr>
            <a:r>
              <a:rPr sz="580" b="1" i="0">
                <a:solidFill>
                  <a:srgbClr val="1E2F6E"/>
                </a:solidFill>
              </a:rPr>
              <a:t>ONB-04</a:t>
            </a:r>
          </a:p>
        </p:txBody>
      </p:sp>
      <p:sp>
        <p:nvSpPr>
          <p:cNvPr id="35" name="TextBox 34"/>
          <p:cNvSpPr txBox="1"/>
          <p:nvPr/>
        </p:nvSpPr>
        <p:spPr>
          <a:xfrm>
            <a:off x="6172200" y="1239012"/>
            <a:ext cx="1234440" cy="411480"/>
          </a:xfrm>
          <a:prstGeom prst="rect">
            <a:avLst/>
          </a:prstGeom>
          <a:noFill/>
        </p:spPr>
        <p:txBody>
          <a:bodyPr wrap="square" lIns="0" tIns="0" rIns="0" bIns="0" anchor="ctr">
            <a:spAutoFit/>
          </a:bodyPr>
          <a:lstStyle/>
          <a:p>
            <a:pPr marL="0" indent="0" algn="ctr">
              <a:buNone/>
            </a:pPr>
            <a:r>
              <a:rPr sz="680" b="1" i="0">
                <a:solidFill>
                  <a:srgbClr val="1E2F6E"/>
                </a:solidFill>
              </a:rPr>
              <a:t>Permission #3</a:t>
            </a:r>
          </a:p>
          <a:p>
            <a:pPr marL="0" indent="0" algn="ctr">
              <a:buNone/>
            </a:pPr>
            <a:r>
              <a:rPr sz="680" b="1" i="0">
                <a:solidFill>
                  <a:srgbClr val="1E2F6E"/>
                </a:solidFill>
              </a:rPr>
              <a:t>Location</a:t>
            </a:r>
          </a:p>
        </p:txBody>
      </p:sp>
      <p:cxnSp>
        <p:nvCxnSpPr>
          <p:cNvPr id="36" name="Connector 35"/>
          <p:cNvCxnSpPr/>
          <p:nvPr/>
        </p:nvCxnSpPr>
        <p:spPr>
          <a:xfrm>
            <a:off x="7452360" y="1348740"/>
            <a:ext cx="13716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7589520" y="1005840"/>
            <a:ext cx="1325880" cy="685800"/>
          </a:xfrm>
          <a:prstGeom prst="roundRect">
            <a:avLst>
              <a:gd name="adj" fmla="val 14000"/>
            </a:avLst>
          </a:prstGeom>
          <a:solidFill>
            <a:srgbClr val="FDECEE"/>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TextBox 37"/>
          <p:cNvSpPr txBox="1"/>
          <p:nvPr/>
        </p:nvSpPr>
        <p:spPr>
          <a:xfrm>
            <a:off x="7589520" y="1074420"/>
            <a:ext cx="1325880" cy="205740"/>
          </a:xfrm>
          <a:prstGeom prst="rect">
            <a:avLst/>
          </a:prstGeom>
          <a:noFill/>
        </p:spPr>
        <p:txBody>
          <a:bodyPr wrap="square" lIns="0" tIns="0" rIns="0" bIns="0" anchor="ctr">
            <a:spAutoFit/>
          </a:bodyPr>
          <a:lstStyle/>
          <a:p>
            <a:pPr marL="0" indent="0" algn="ctr">
              <a:buNone/>
            </a:pPr>
            <a:r>
              <a:rPr sz="580" b="1" i="0">
                <a:solidFill>
                  <a:srgbClr val="C8102E"/>
                </a:solidFill>
              </a:rPr>
              <a:t>ONB-05</a:t>
            </a:r>
          </a:p>
        </p:txBody>
      </p:sp>
      <p:sp>
        <p:nvSpPr>
          <p:cNvPr id="39" name="TextBox 38"/>
          <p:cNvSpPr txBox="1"/>
          <p:nvPr/>
        </p:nvSpPr>
        <p:spPr>
          <a:xfrm>
            <a:off x="7635240" y="1239012"/>
            <a:ext cx="1234440" cy="411480"/>
          </a:xfrm>
          <a:prstGeom prst="rect">
            <a:avLst/>
          </a:prstGeom>
          <a:noFill/>
        </p:spPr>
        <p:txBody>
          <a:bodyPr wrap="square" lIns="0" tIns="0" rIns="0" bIns="0" anchor="ctr">
            <a:spAutoFit/>
          </a:bodyPr>
          <a:lstStyle/>
          <a:p>
            <a:pPr marL="0" indent="0" algn="ctr">
              <a:buNone/>
            </a:pPr>
            <a:r>
              <a:rPr sz="680" b="1" i="0">
                <a:solidFill>
                  <a:srgbClr val="C8102E"/>
                </a:solidFill>
              </a:rPr>
              <a:t>Select LOTTE MART</a:t>
            </a:r>
          </a:p>
          <a:p>
            <a:pPr marL="0" indent="0" algn="ctr">
              <a:buNone/>
            </a:pPr>
            <a:r>
              <a:rPr sz="680" b="1" i="0">
                <a:solidFill>
                  <a:srgbClr val="C8102E"/>
                </a:solidFill>
              </a:rPr>
              <a:t>store   *</a:t>
            </a:r>
          </a:p>
        </p:txBody>
      </p:sp>
      <p:cxnSp>
        <p:nvCxnSpPr>
          <p:cNvPr id="40" name="Connector 39"/>
          <p:cNvCxnSpPr/>
          <p:nvPr/>
        </p:nvCxnSpPr>
        <p:spPr>
          <a:xfrm>
            <a:off x="8915400" y="1348740"/>
            <a:ext cx="13716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9052560" y="1005840"/>
            <a:ext cx="1325880" cy="685800"/>
          </a:xfrm>
          <a:prstGeom prst="roundRect">
            <a:avLst>
              <a:gd name="adj" fmla="val 14000"/>
            </a:avLst>
          </a:prstGeom>
          <a:solidFill>
            <a:srgbClr val="FFFFFF"/>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TextBox 41"/>
          <p:cNvSpPr txBox="1"/>
          <p:nvPr/>
        </p:nvSpPr>
        <p:spPr>
          <a:xfrm>
            <a:off x="9052560" y="1074420"/>
            <a:ext cx="1325880" cy="205740"/>
          </a:xfrm>
          <a:prstGeom prst="rect">
            <a:avLst/>
          </a:prstGeom>
          <a:noFill/>
        </p:spPr>
        <p:txBody>
          <a:bodyPr wrap="square" lIns="0" tIns="0" rIns="0" bIns="0" anchor="ctr">
            <a:spAutoFit/>
          </a:bodyPr>
          <a:lstStyle/>
          <a:p>
            <a:pPr marL="0" indent="0" algn="ctr">
              <a:buNone/>
            </a:pPr>
            <a:r>
              <a:rPr sz="580" b="1" i="0">
                <a:solidFill>
                  <a:srgbClr val="1E2F6E"/>
                </a:solidFill>
              </a:rPr>
              <a:t>ONB-06</a:t>
            </a:r>
          </a:p>
        </p:txBody>
      </p:sp>
      <p:sp>
        <p:nvSpPr>
          <p:cNvPr id="43" name="TextBox 42"/>
          <p:cNvSpPr txBox="1"/>
          <p:nvPr/>
        </p:nvSpPr>
        <p:spPr>
          <a:xfrm>
            <a:off x="9098280" y="1239012"/>
            <a:ext cx="1234440" cy="411480"/>
          </a:xfrm>
          <a:prstGeom prst="rect">
            <a:avLst/>
          </a:prstGeom>
          <a:noFill/>
        </p:spPr>
        <p:txBody>
          <a:bodyPr wrap="square" lIns="0" tIns="0" rIns="0" bIns="0" anchor="ctr">
            <a:spAutoFit/>
          </a:bodyPr>
          <a:lstStyle/>
          <a:p>
            <a:pPr marL="0" indent="0" algn="ctr">
              <a:buNone/>
            </a:pPr>
            <a:r>
              <a:rPr sz="680" b="1" i="0">
                <a:solidFill>
                  <a:srgbClr val="1E2F6E"/>
                </a:solidFill>
              </a:rPr>
              <a:t>3 intro screens</a:t>
            </a:r>
          </a:p>
          <a:p>
            <a:pPr marL="0" indent="0" algn="ctr">
              <a:buNone/>
            </a:pPr>
            <a:r>
              <a:rPr sz="680" b="1" i="0">
                <a:solidFill>
                  <a:srgbClr val="1E2F6E"/>
                </a:solidFill>
              </a:rPr>
              <a:t>(Skip available)</a:t>
            </a:r>
          </a:p>
        </p:txBody>
      </p:sp>
      <p:cxnSp>
        <p:nvCxnSpPr>
          <p:cNvPr id="44" name="Connector 43"/>
          <p:cNvCxnSpPr/>
          <p:nvPr/>
        </p:nvCxnSpPr>
        <p:spPr>
          <a:xfrm>
            <a:off x="10378440" y="1348740"/>
            <a:ext cx="13716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10515600" y="1005840"/>
            <a:ext cx="1325880" cy="685800"/>
          </a:xfrm>
          <a:prstGeom prst="roundRect">
            <a:avLst>
              <a:gd name="adj" fmla="val 14000"/>
            </a:avLst>
          </a:prstGeom>
          <a:solidFill>
            <a:srgbClr val="C8102E"/>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TextBox 45"/>
          <p:cNvSpPr txBox="1"/>
          <p:nvPr/>
        </p:nvSpPr>
        <p:spPr>
          <a:xfrm>
            <a:off x="10515600" y="1074420"/>
            <a:ext cx="1325880" cy="205740"/>
          </a:xfrm>
          <a:prstGeom prst="rect">
            <a:avLst/>
          </a:prstGeom>
          <a:noFill/>
        </p:spPr>
        <p:txBody>
          <a:bodyPr wrap="square" lIns="0" tIns="0" rIns="0" bIns="0" anchor="ctr">
            <a:spAutoFit/>
          </a:bodyPr>
          <a:lstStyle/>
          <a:p>
            <a:pPr marL="0" indent="0" algn="ctr">
              <a:buNone/>
            </a:pPr>
            <a:r>
              <a:rPr sz="580" b="1" i="0">
                <a:solidFill>
                  <a:srgbClr val="FFFFFF"/>
                </a:solidFill>
              </a:rPr>
              <a:t>ONB-07</a:t>
            </a:r>
          </a:p>
        </p:txBody>
      </p:sp>
      <p:sp>
        <p:nvSpPr>
          <p:cNvPr id="47" name="TextBox 46"/>
          <p:cNvSpPr txBox="1"/>
          <p:nvPr/>
        </p:nvSpPr>
        <p:spPr>
          <a:xfrm>
            <a:off x="10561320" y="1239012"/>
            <a:ext cx="1234440" cy="411480"/>
          </a:xfrm>
          <a:prstGeom prst="rect">
            <a:avLst/>
          </a:prstGeom>
          <a:noFill/>
        </p:spPr>
        <p:txBody>
          <a:bodyPr wrap="square" lIns="0" tIns="0" rIns="0" bIns="0" anchor="ctr">
            <a:spAutoFit/>
          </a:bodyPr>
          <a:lstStyle/>
          <a:p>
            <a:pPr marL="0" indent="0" algn="ctr">
              <a:buNone/>
            </a:pPr>
            <a:r>
              <a:rPr sz="680" b="1" i="0">
                <a:solidFill>
                  <a:srgbClr val="FFFFFF"/>
                </a:solidFill>
              </a:rPr>
              <a:t>Homepage</a:t>
            </a:r>
          </a:p>
          <a:p>
            <a:pPr marL="0" indent="0" algn="ctr">
              <a:buNone/>
            </a:pPr>
            <a:r>
              <a:rPr sz="680" b="1" i="0">
                <a:solidFill>
                  <a:srgbClr val="FFFFFF"/>
                </a:solidFill>
              </a:rPr>
              <a:t>(Guest, store context)</a:t>
            </a:r>
          </a:p>
        </p:txBody>
      </p:sp>
      <p:cxnSp>
        <p:nvCxnSpPr>
          <p:cNvPr id="48" name="Connector 47"/>
          <p:cNvCxnSpPr/>
          <p:nvPr/>
        </p:nvCxnSpPr>
        <p:spPr>
          <a:xfrm>
            <a:off x="6789420" y="1691640"/>
            <a:ext cx="0" cy="27432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3474720" y="1965960"/>
            <a:ext cx="4297680" cy="6858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TextBox 49"/>
          <p:cNvSpPr txBox="1"/>
          <p:nvPr/>
        </p:nvSpPr>
        <p:spPr>
          <a:xfrm>
            <a:off x="3566160" y="2011680"/>
            <a:ext cx="4114800" cy="182880"/>
          </a:xfrm>
          <a:prstGeom prst="rect">
            <a:avLst/>
          </a:prstGeom>
          <a:noFill/>
        </p:spPr>
        <p:txBody>
          <a:bodyPr wrap="square" lIns="0" tIns="0" rIns="0" bIns="0" anchor="ctr">
            <a:spAutoFit/>
          </a:bodyPr>
          <a:lstStyle/>
          <a:p>
            <a:pPr marL="0" indent="0" algn="l">
              <a:buNone/>
            </a:pPr>
            <a:r>
              <a:rPr sz="700" b="1" i="0">
                <a:solidFill>
                  <a:srgbClr val="1E2F6E"/>
                </a:solidFill>
              </a:rPr>
              <a:t>Location permission decides the default store only</a:t>
            </a:r>
          </a:p>
        </p:txBody>
      </p:sp>
      <p:sp>
        <p:nvSpPr>
          <p:cNvPr id="51" name="TextBox 50"/>
          <p:cNvSpPr txBox="1"/>
          <p:nvPr/>
        </p:nvSpPr>
        <p:spPr>
          <a:xfrm>
            <a:off x="3566160" y="2194560"/>
            <a:ext cx="4114800" cy="411480"/>
          </a:xfrm>
          <a:prstGeom prst="rect">
            <a:avLst/>
          </a:prstGeom>
          <a:noFill/>
        </p:spPr>
        <p:txBody>
          <a:bodyPr wrap="square" lIns="0" tIns="0" rIns="0" bIns="0" anchor="t">
            <a:spAutoFit/>
          </a:bodyPr>
          <a:lstStyle/>
          <a:p>
            <a:pPr marL="0" indent="0" algn="l">
              <a:buNone/>
            </a:pPr>
            <a:r>
              <a:rPr sz="680" b="0" i="0">
                <a:solidFill>
                  <a:srgbClr val="555555"/>
                </a:solidFill>
              </a:rPr>
              <a:t>Allowed → nearest store by GPS is pre-selected, customer may change it.</a:t>
            </a:r>
          </a:p>
          <a:p>
            <a:pPr marL="0" indent="0" algn="l">
              <a:buNone/>
            </a:pPr>
            <a:r>
              <a:rPr sz="680" b="0" i="0">
                <a:solidFill>
                  <a:srgbClr val="555555"/>
                </a:solidFill>
              </a:rPr>
              <a:t>Denied → no default; the customer selects a store from the list. The step is mandatory either way (BRL-01).</a:t>
            </a:r>
          </a:p>
        </p:txBody>
      </p:sp>
      <p:sp>
        <p:nvSpPr>
          <p:cNvPr id="52" name="Rectangle 51"/>
          <p:cNvSpPr/>
          <p:nvPr/>
        </p:nvSpPr>
        <p:spPr>
          <a:xfrm>
            <a:off x="274320" y="283464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TextBox 52"/>
          <p:cNvSpPr txBox="1"/>
          <p:nvPr/>
        </p:nvSpPr>
        <p:spPr>
          <a:xfrm>
            <a:off x="402336" y="2834640"/>
            <a:ext cx="11612880" cy="256032"/>
          </a:xfrm>
          <a:prstGeom prst="rect">
            <a:avLst/>
          </a:prstGeom>
          <a:noFill/>
        </p:spPr>
        <p:txBody>
          <a:bodyPr wrap="square" lIns="0" tIns="0" rIns="0" bIns="0" anchor="ctr">
            <a:spAutoFit/>
          </a:bodyPr>
          <a:lstStyle/>
          <a:p>
            <a:pPr marL="0" indent="0" algn="l">
              <a:buNone/>
            </a:pPr>
            <a:r>
              <a:rPr sz="1000" b="1" i="0">
                <a:solidFill>
                  <a:srgbClr val="1E2F6E"/>
                </a:solidFill>
              </a:rPr>
              <a:t>Step detail</a:t>
            </a:r>
          </a:p>
        </p:txBody>
      </p:sp>
      <p:graphicFrame>
        <p:nvGraphicFramePr>
          <p:cNvPr id="54" name="Table 53"/>
          <p:cNvGraphicFramePr>
            <a:graphicFrameLocks noGrp="1"/>
          </p:cNvGraphicFramePr>
          <p:nvPr>
            <p:extLst>
              <p:ext uri="{D42A27DB-BD31-4B8C-83A1-F6EECF244321}">
                <p14:modId xmlns:p14="http://schemas.microsoft.com/office/powerpoint/2010/main" val="821357040"/>
              </p:ext>
            </p:extLst>
          </p:nvPr>
        </p:nvGraphicFramePr>
        <p:xfrm>
          <a:off x="274320" y="3108960"/>
          <a:ext cx="11612880" cy="2322264"/>
        </p:xfrm>
        <a:graphic>
          <a:graphicData uri="http://schemas.openxmlformats.org/drawingml/2006/table">
            <a:tbl>
              <a:tblPr/>
              <a:tblGrid>
                <a:gridCol w="3657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6035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210000">
                <a:tc>
                  <a:txBody>
                    <a:bodyPr/>
                    <a:lstStyle/>
                    <a:p>
                      <a:pPr marL="0" indent="0" algn="ctr">
                        <a:buNone/>
                      </a:pPr>
                      <a:r>
                        <a:rPr sz="700" b="1" i="0">
                          <a:solidFill>
                            <a:srgbClr val="FFFFFF"/>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Step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Screen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Detail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Rule / FR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301752">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Open app for the first time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SCR-ONB-01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Language selection: VN / KR / EN. Changeable later in Settings.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ONB-01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301752">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System permission — activity tracking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SCR-ONB-02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“Allow LOTTE MART to track your activity across other apps and websites?” — Deny / Allow. OS-level dialog.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ONB-02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301752">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System permission — notifications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SCR-ONB-02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“LOTTE MART would like to send you notifications” — Deny / Allow.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ONB-03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301752">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System permission — location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SCR-ONB-02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Deny / Allow. Result determines whether a default store can be proposed.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ONB-04 · BRL-02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301752">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Select store  (mandatory)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SCR-ONB-03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Allowed location → nearest store pre-selected by GPS. Denied → no default, manual selection. Store can be changed later from the Homepage header.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ONB-05 · BRL-01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301752">
                <a:tc>
                  <a:txBody>
                    <a:bodyPr/>
                    <a:lstStyle/>
                    <a:p>
                      <a:pPr marL="0" indent="0" algn="ctr">
                        <a:buNone/>
                      </a:pPr>
                      <a:r>
                        <a:rPr sz="7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Three introduction screens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SCR-ONB-04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Skip button goes straight to the Homepage. Content of the three screens is not yet defined — OQ-06.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ONB-06 · OQ-06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301752">
                <a:tc>
                  <a:txBody>
                    <a:bodyPr/>
                    <a:lstStyle/>
                    <a:p>
                      <a:pPr marL="0" indent="0" algn="ctr">
                        <a:buNone/>
                      </a:pPr>
                      <a:r>
                        <a:rPr sz="70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Enter Homepage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SCR-HOM-01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Guest state. All content — catalogue, price, promotions — is rendered for the store selected at step 5</a:t>
                      </a:r>
                      <a:r>
                        <a:rPr lang="en-US" sz="700" b="0" i="0">
                          <a:solidFill>
                            <a:srgbClr val="222222"/>
                          </a:solidFill>
                        </a:rPr>
                        <a:t>, </a:t>
                      </a:r>
                      <a:r>
                        <a:rPr lang="en-US" sz="700" b="0" i="0">
                          <a:solidFill>
                            <a:schemeClr val="accent1"/>
                          </a:solidFill>
                        </a:rPr>
                        <a:t>default earliest available delivery time slot of store or delivery time slot user selected</a:t>
                      </a:r>
                      <a:endParaRPr sz="700" b="0" i="0">
                        <a:solidFill>
                          <a:schemeClr val="accent1"/>
                        </a:solidFill>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ONB-07 · BR-03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55" name="Rectangle 54"/>
          <p:cNvSpPr/>
          <p:nvPr/>
        </p:nvSpPr>
        <p:spPr>
          <a:xfrm>
            <a:off x="274320" y="5486400"/>
            <a:ext cx="11612880" cy="457200"/>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6" name="TextBox 55"/>
          <p:cNvSpPr txBox="1"/>
          <p:nvPr/>
        </p:nvSpPr>
        <p:spPr>
          <a:xfrm>
            <a:off x="411480" y="5532120"/>
            <a:ext cx="11338560" cy="365760"/>
          </a:xfrm>
          <a:prstGeom prst="rect">
            <a:avLst/>
          </a:prstGeom>
          <a:noFill/>
        </p:spPr>
        <p:txBody>
          <a:bodyPr wrap="square" lIns="0" tIns="0" rIns="0" bIns="0" anchor="ctr">
            <a:spAutoFit/>
          </a:bodyPr>
          <a:lstStyle/>
          <a:p>
            <a:pPr marL="0" indent="0" algn="l">
              <a:buNone/>
            </a:pPr>
            <a:r>
              <a:rPr sz="750" b="0" i="0">
                <a:solidFill>
                  <a:srgbClr val="6B6800"/>
                </a:solidFill>
              </a:rPr>
              <a:t>Open questions on this flow — OQ-06 content of the three intro screens (not yet discussed). No other item in PF-02 is blocked.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PF-03  ·  Homepage — Address, Service Zone &amp; Context Change</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12</a:t>
            </a:r>
          </a:p>
        </p:txBody>
      </p:sp>
      <p:sp>
        <p:nvSpPr>
          <p:cNvPr id="9" name="Rectangle 8"/>
          <p:cNvSpPr/>
          <p:nvPr/>
        </p:nvSpPr>
        <p:spPr>
          <a:xfrm>
            <a:off x="274320" y="640080"/>
            <a:ext cx="1385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365760" y="640080"/>
            <a:ext cx="1248000" cy="246888"/>
          </a:xfrm>
          <a:prstGeom prst="rect">
            <a:avLst/>
          </a:prstGeom>
          <a:noFill/>
        </p:spPr>
        <p:txBody>
          <a:bodyPr wrap="square" lIns="0" tIns="0" rIns="0" bIns="0" anchor="ctr">
            <a:spAutoFit/>
          </a:bodyPr>
          <a:lstStyle/>
          <a:p>
            <a:pPr marL="0" indent="0" algn="l">
              <a:buNone/>
            </a:pPr>
            <a:r>
              <a:rPr sz="680" b="1" i="0">
                <a:solidFill>
                  <a:srgbClr val="1E2F6E"/>
                </a:solidFill>
              </a:rPr>
              <a:t>Trigger: </a:t>
            </a:r>
            <a:r>
              <a:rPr sz="680" b="0" i="0">
                <a:solidFill>
                  <a:srgbClr val="555555"/>
                </a:solidFill>
              </a:rPr>
              <a:t>Homepage entered</a:t>
            </a:r>
          </a:p>
        </p:txBody>
      </p:sp>
      <p:sp>
        <p:nvSpPr>
          <p:cNvPr id="11" name="Rectangle 10"/>
          <p:cNvSpPr/>
          <p:nvPr/>
        </p:nvSpPr>
        <p:spPr>
          <a:xfrm>
            <a:off x="1728060" y="640080"/>
            <a:ext cx="1229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1819500" y="640080"/>
            <a:ext cx="1092000" cy="246888"/>
          </a:xfrm>
          <a:prstGeom prst="rect">
            <a:avLst/>
          </a:prstGeom>
          <a:noFill/>
        </p:spPr>
        <p:txBody>
          <a:bodyPr wrap="square" lIns="0" tIns="0" rIns="0" bIns="0" anchor="ctr">
            <a:spAutoFit/>
          </a:bodyPr>
          <a:lstStyle/>
          <a:p>
            <a:pPr marL="0" indent="0" algn="l">
              <a:buNone/>
            </a:pPr>
            <a:r>
              <a:rPr sz="680" b="1" i="0">
                <a:solidFill>
                  <a:srgbClr val="1E2F6E"/>
                </a:solidFill>
              </a:rPr>
              <a:t>Actor: </a:t>
            </a:r>
            <a:r>
              <a:rPr sz="680" b="0" i="0">
                <a:solidFill>
                  <a:srgbClr val="555555"/>
                </a:solidFill>
              </a:rPr>
              <a:t>Guest or Member</a:t>
            </a:r>
          </a:p>
        </p:txBody>
      </p:sp>
      <p:sp>
        <p:nvSpPr>
          <p:cNvPr id="13" name="Rectangle 12"/>
          <p:cNvSpPr/>
          <p:nvPr/>
        </p:nvSpPr>
        <p:spPr>
          <a:xfrm>
            <a:off x="3025800" y="640080"/>
            <a:ext cx="2061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3117240" y="640080"/>
            <a:ext cx="1924000" cy="246888"/>
          </a:xfrm>
          <a:prstGeom prst="rect">
            <a:avLst/>
          </a:prstGeom>
          <a:noFill/>
        </p:spPr>
        <p:txBody>
          <a:bodyPr wrap="square" lIns="0" tIns="0" rIns="0" bIns="0" anchor="ctr">
            <a:spAutoFit/>
          </a:bodyPr>
          <a:lstStyle/>
          <a:p>
            <a:pPr marL="0" indent="0" algn="l">
              <a:buNone/>
            </a:pPr>
            <a:r>
              <a:rPr sz="680" b="1" i="0">
                <a:solidFill>
                  <a:srgbClr val="1E2F6E"/>
                </a:solidFill>
              </a:rPr>
              <a:t>Realises: </a:t>
            </a:r>
            <a:r>
              <a:rPr sz="680" b="0" i="0">
                <a:solidFill>
                  <a:srgbClr val="555555"/>
                </a:solidFill>
              </a:rPr>
              <a:t>HP-01 … HP-05, HP-08 … HP-10</a:t>
            </a:r>
          </a:p>
        </p:txBody>
      </p:sp>
      <p:sp>
        <p:nvSpPr>
          <p:cNvPr id="15" name="Rounded Rectangle 14"/>
          <p:cNvSpPr/>
          <p:nvPr/>
        </p:nvSpPr>
        <p:spPr>
          <a:xfrm>
            <a:off x="274320" y="1097280"/>
            <a:ext cx="1737360" cy="457200"/>
          </a:xfrm>
          <a:prstGeom prst="roundRect">
            <a:avLst>
              <a:gd name="adj" fmla="val 14000"/>
            </a:avLst>
          </a:prstGeom>
          <a:solidFill>
            <a:srgbClr val="1E2F6E"/>
          </a:solidFill>
          <a:ln w="9525">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320040" y="1097280"/>
            <a:ext cx="1645920" cy="457200"/>
          </a:xfrm>
          <a:prstGeom prst="rect">
            <a:avLst/>
          </a:prstGeom>
          <a:noFill/>
        </p:spPr>
        <p:txBody>
          <a:bodyPr wrap="square" lIns="0" tIns="0" rIns="0" bIns="0" anchor="ctr">
            <a:spAutoFit/>
          </a:bodyPr>
          <a:lstStyle/>
          <a:p>
            <a:pPr marL="0" indent="0" algn="ctr">
              <a:buNone/>
            </a:pPr>
            <a:r>
              <a:rPr sz="700" b="1" i="0">
                <a:solidFill>
                  <a:srgbClr val="FFFFFF"/>
                </a:solidFill>
              </a:rPr>
              <a:t>Homepage loaded</a:t>
            </a:r>
          </a:p>
          <a:p>
            <a:pPr marL="0" indent="0" algn="ctr">
              <a:buNone/>
            </a:pPr>
            <a:r>
              <a:rPr sz="700" b="1" i="0">
                <a:solidFill>
                  <a:srgbClr val="FFFFFF"/>
                </a:solidFill>
              </a:rPr>
              <a:t>in store context</a:t>
            </a:r>
          </a:p>
        </p:txBody>
      </p:sp>
      <p:sp>
        <p:nvSpPr>
          <p:cNvPr id="17" name="Diamond 16"/>
          <p:cNvSpPr/>
          <p:nvPr/>
        </p:nvSpPr>
        <p:spPr>
          <a:xfrm>
            <a:off x="2286000" y="1051560"/>
            <a:ext cx="1737360" cy="548640"/>
          </a:xfrm>
          <a:prstGeom prst="diamond">
            <a:avLst/>
          </a:prstGeom>
          <a:solidFill>
            <a:srgbClr val="FFF6E5"/>
          </a:solidFill>
          <a:ln w="9525">
            <a:solidFill>
              <a:srgbClr val="B26A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2511856" y="1051560"/>
            <a:ext cx="1285646" cy="548640"/>
          </a:xfrm>
          <a:prstGeom prst="rect">
            <a:avLst/>
          </a:prstGeom>
          <a:noFill/>
        </p:spPr>
        <p:txBody>
          <a:bodyPr wrap="square" lIns="0" tIns="0" rIns="0" bIns="0" anchor="ctr">
            <a:spAutoFit/>
          </a:bodyPr>
          <a:lstStyle/>
          <a:p>
            <a:pPr marL="0" indent="0" algn="ctr">
              <a:buNone/>
            </a:pPr>
            <a:r>
              <a:rPr sz="620" b="1" i="0">
                <a:solidFill>
                  <a:srgbClr val="8A5A00"/>
                </a:solidFill>
              </a:rPr>
              <a:t>Saved address</a:t>
            </a:r>
          </a:p>
          <a:p>
            <a:pPr marL="0" indent="0" algn="ctr">
              <a:buNone/>
            </a:pPr>
            <a:r>
              <a:rPr sz="620" b="1" i="0">
                <a:solidFill>
                  <a:srgbClr val="8A5A00"/>
                </a:solidFill>
              </a:rPr>
              <a:t>exists?</a:t>
            </a:r>
          </a:p>
        </p:txBody>
      </p:sp>
      <p:cxnSp>
        <p:nvCxnSpPr>
          <p:cNvPr id="19" name="Connector 18"/>
          <p:cNvCxnSpPr/>
          <p:nvPr/>
        </p:nvCxnSpPr>
        <p:spPr>
          <a:xfrm>
            <a:off x="2011680" y="1325880"/>
            <a:ext cx="27432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297680" y="960120"/>
            <a:ext cx="2011680" cy="41148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1" name="TextBox 20"/>
          <p:cNvSpPr txBox="1"/>
          <p:nvPr/>
        </p:nvSpPr>
        <p:spPr>
          <a:xfrm>
            <a:off x="4343400" y="960120"/>
            <a:ext cx="1920240" cy="411480"/>
          </a:xfrm>
          <a:prstGeom prst="rect">
            <a:avLst/>
          </a:prstGeom>
          <a:noFill/>
        </p:spPr>
        <p:txBody>
          <a:bodyPr wrap="square" lIns="0" tIns="0" rIns="0" bIns="0" anchor="ctr">
            <a:spAutoFit/>
          </a:bodyPr>
          <a:lstStyle/>
          <a:p>
            <a:pPr marL="0" indent="0" algn="ctr">
              <a:buNone/>
            </a:pPr>
            <a:r>
              <a:rPr sz="630" b="1" i="0">
                <a:solidFill>
                  <a:srgbClr val="1E2F6E"/>
                </a:solidFill>
              </a:rPr>
              <a:t>Reuse the saved address —</a:t>
            </a:r>
          </a:p>
          <a:p>
            <a:pPr marL="0" indent="0" algn="ctr">
              <a:buNone/>
            </a:pPr>
            <a:r>
              <a:rPr sz="630" b="1" i="0">
                <a:solidFill>
                  <a:srgbClr val="1E2F6E"/>
                </a:solidFill>
              </a:rPr>
              <a:t>no re-location on each launch</a:t>
            </a:r>
          </a:p>
        </p:txBody>
      </p:sp>
      <p:sp>
        <p:nvSpPr>
          <p:cNvPr id="22" name="Rounded Rectangle 21"/>
          <p:cNvSpPr/>
          <p:nvPr/>
        </p:nvSpPr>
        <p:spPr>
          <a:xfrm>
            <a:off x="4297680" y="1508760"/>
            <a:ext cx="2011680" cy="411480"/>
          </a:xfrm>
          <a:prstGeom prst="roundRect">
            <a:avLst>
              <a:gd name="adj" fmla="val 14000"/>
            </a:avLst>
          </a:prstGeom>
          <a:solidFill>
            <a:srgbClr val="FFFFFF"/>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TextBox 22"/>
          <p:cNvSpPr txBox="1"/>
          <p:nvPr/>
        </p:nvSpPr>
        <p:spPr>
          <a:xfrm>
            <a:off x="4343400" y="1508760"/>
            <a:ext cx="1920240" cy="411480"/>
          </a:xfrm>
          <a:prstGeom prst="rect">
            <a:avLst/>
          </a:prstGeom>
          <a:noFill/>
        </p:spPr>
        <p:txBody>
          <a:bodyPr wrap="square" lIns="0" tIns="0" rIns="0" bIns="0" anchor="ctr">
            <a:spAutoFit/>
          </a:bodyPr>
          <a:lstStyle/>
          <a:p>
            <a:pPr marL="0" indent="0" algn="ctr">
              <a:buNone/>
            </a:pPr>
            <a:r>
              <a:rPr sz="630" b="1" i="0">
                <a:solidFill>
                  <a:srgbClr val="1E2F6E"/>
                </a:solidFill>
              </a:rPr>
              <a:t>Header shows</a:t>
            </a:r>
          </a:p>
          <a:p>
            <a:pPr marL="0" indent="0" algn="ctr">
              <a:buNone/>
            </a:pPr>
            <a:r>
              <a:rPr sz="630" b="1" i="0">
                <a:solidFill>
                  <a:srgbClr val="1E2F6E"/>
                </a:solidFill>
              </a:rPr>
              <a:t>“Choose delivery address”</a:t>
            </a:r>
          </a:p>
        </p:txBody>
      </p:sp>
      <p:cxnSp>
        <p:nvCxnSpPr>
          <p:cNvPr id="24" name="Connector 23"/>
          <p:cNvCxnSpPr/>
          <p:nvPr/>
        </p:nvCxnSpPr>
        <p:spPr>
          <a:xfrm flipV="1">
            <a:off x="4023360" y="1165860"/>
            <a:ext cx="274320" cy="6858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886200" y="1005840"/>
            <a:ext cx="420000" cy="140000"/>
          </a:xfrm>
          <a:prstGeom prst="rect">
            <a:avLst/>
          </a:prstGeom>
          <a:noFill/>
        </p:spPr>
        <p:txBody>
          <a:bodyPr wrap="square" lIns="0" tIns="0" rIns="0" bIns="0" anchor="ctr">
            <a:spAutoFit/>
          </a:bodyPr>
          <a:lstStyle/>
          <a:p>
            <a:pPr marL="0" indent="0" algn="ctr">
              <a:buNone/>
            </a:pPr>
            <a:r>
              <a:rPr sz="560" b="1" i="0">
                <a:solidFill>
                  <a:srgbClr val="555555"/>
                </a:solidFill>
              </a:rPr>
              <a:t>Yes</a:t>
            </a:r>
          </a:p>
        </p:txBody>
      </p:sp>
      <p:cxnSp>
        <p:nvCxnSpPr>
          <p:cNvPr id="26" name="Connector 25"/>
          <p:cNvCxnSpPr/>
          <p:nvPr/>
        </p:nvCxnSpPr>
        <p:spPr>
          <a:xfrm>
            <a:off x="4023360" y="1417320"/>
            <a:ext cx="274320" cy="25146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886200" y="1600200"/>
            <a:ext cx="420000" cy="140000"/>
          </a:xfrm>
          <a:prstGeom prst="rect">
            <a:avLst/>
          </a:prstGeom>
          <a:noFill/>
        </p:spPr>
        <p:txBody>
          <a:bodyPr wrap="square" lIns="0" tIns="0" rIns="0" bIns="0" anchor="ctr">
            <a:spAutoFit/>
          </a:bodyPr>
          <a:lstStyle/>
          <a:p>
            <a:pPr marL="0" indent="0" algn="ctr">
              <a:buNone/>
            </a:pPr>
            <a:r>
              <a:rPr sz="560" b="1" i="0">
                <a:solidFill>
                  <a:srgbClr val="555555"/>
                </a:solidFill>
              </a:rPr>
              <a:t>No</a:t>
            </a:r>
          </a:p>
        </p:txBody>
      </p:sp>
      <p:sp>
        <p:nvSpPr>
          <p:cNvPr id="28" name="Rounded Rectangle 27"/>
          <p:cNvSpPr/>
          <p:nvPr/>
        </p:nvSpPr>
        <p:spPr>
          <a:xfrm>
            <a:off x="6583680" y="1097280"/>
            <a:ext cx="2011680" cy="64008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9" name="TextBox 28"/>
          <p:cNvSpPr txBox="1"/>
          <p:nvPr/>
        </p:nvSpPr>
        <p:spPr>
          <a:xfrm>
            <a:off x="6629400" y="1097280"/>
            <a:ext cx="1920240" cy="640080"/>
          </a:xfrm>
          <a:prstGeom prst="rect">
            <a:avLst/>
          </a:prstGeom>
          <a:noFill/>
        </p:spPr>
        <p:txBody>
          <a:bodyPr wrap="square" lIns="0" tIns="0" rIns="0" bIns="0" anchor="ctr">
            <a:spAutoFit/>
          </a:bodyPr>
          <a:lstStyle/>
          <a:p>
            <a:pPr marL="0" indent="0" algn="ctr">
              <a:buNone/>
            </a:pPr>
            <a:r>
              <a:rPr sz="650" b="1" i="0">
                <a:solidFill>
                  <a:srgbClr val="1E2F6E"/>
                </a:solidFill>
              </a:rPr>
              <a:t>Resolve service zone</a:t>
            </a:r>
          </a:p>
          <a:p>
            <a:pPr marL="0" indent="0" algn="ctr">
              <a:buNone/>
            </a:pPr>
            <a:r>
              <a:rPr sz="650" b="1" i="0">
                <a:solidFill>
                  <a:srgbClr val="1E2F6E"/>
                </a:solidFill>
              </a:rPr>
              <a:t>from store ↔ address distance</a:t>
            </a:r>
          </a:p>
        </p:txBody>
      </p:sp>
      <p:cxnSp>
        <p:nvCxnSpPr>
          <p:cNvPr id="30" name="Connector 29"/>
          <p:cNvCxnSpPr/>
          <p:nvPr/>
        </p:nvCxnSpPr>
        <p:spPr>
          <a:xfrm>
            <a:off x="6309360" y="1165860"/>
            <a:ext cx="274320" cy="11430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6309360" y="1554480"/>
            <a:ext cx="274320" cy="11430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8961120" y="1005840"/>
            <a:ext cx="3200400" cy="457200"/>
          </a:xfrm>
          <a:prstGeom prst="roundRect">
            <a:avLst>
              <a:gd name="adj" fmla="val 10000"/>
            </a:avLst>
          </a:prstGeom>
          <a:solidFill>
            <a:srgbClr val="E8F5EE"/>
          </a:solidFill>
          <a:ln w="9525">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3" name="TextBox 32"/>
          <p:cNvSpPr txBox="1"/>
          <p:nvPr/>
        </p:nvSpPr>
        <p:spPr>
          <a:xfrm>
            <a:off x="9052560" y="1033272"/>
            <a:ext cx="3017520" cy="182880"/>
          </a:xfrm>
          <a:prstGeom prst="rect">
            <a:avLst/>
          </a:prstGeom>
          <a:noFill/>
        </p:spPr>
        <p:txBody>
          <a:bodyPr wrap="square" lIns="0" tIns="0" rIns="0" bIns="0" anchor="ctr">
            <a:spAutoFit/>
          </a:bodyPr>
          <a:lstStyle/>
          <a:p>
            <a:pPr marL="0" indent="0" algn="l">
              <a:buNone/>
            </a:pPr>
            <a:r>
              <a:rPr sz="630" b="1" i="0">
                <a:solidFill>
                  <a:srgbClr val="14603A"/>
                </a:solidFill>
              </a:rPr>
              <a:t>Within 60-Minute radius (3–5 km, per store)</a:t>
            </a:r>
          </a:p>
        </p:txBody>
      </p:sp>
      <p:sp>
        <p:nvSpPr>
          <p:cNvPr id="34" name="TextBox 33"/>
          <p:cNvSpPr txBox="1"/>
          <p:nvPr/>
        </p:nvSpPr>
        <p:spPr>
          <a:xfrm>
            <a:off x="9052560" y="1215840"/>
            <a:ext cx="3017520" cy="228600"/>
          </a:xfrm>
          <a:prstGeom prst="rect">
            <a:avLst/>
          </a:prstGeom>
          <a:noFill/>
        </p:spPr>
        <p:txBody>
          <a:bodyPr wrap="square" lIns="0" tIns="0" rIns="0" bIns="0" anchor="t">
            <a:spAutoFit/>
          </a:bodyPr>
          <a:lstStyle/>
          <a:p>
            <a:pPr marL="0" indent="0" algn="l">
              <a:buNone/>
            </a:pPr>
            <a:r>
              <a:rPr sz="600" b="0" i="0">
                <a:solidFill>
                  <a:srgbClr val="555555"/>
                </a:solidFill>
              </a:rPr>
              <a:t>60-Minute + Standard available. Standard stays the default; the customer may switch.</a:t>
            </a:r>
          </a:p>
        </p:txBody>
      </p:sp>
      <p:cxnSp>
        <p:nvCxnSpPr>
          <p:cNvPr id="35" name="Connector 34"/>
          <p:cNvCxnSpPr/>
          <p:nvPr/>
        </p:nvCxnSpPr>
        <p:spPr>
          <a:xfrm flipV="1">
            <a:off x="8595360" y="1234440"/>
            <a:ext cx="365760" cy="18288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961120" y="1508760"/>
            <a:ext cx="3200400" cy="457200"/>
          </a:xfrm>
          <a:prstGeom prst="roundRect">
            <a:avLst>
              <a:gd name="adj" fmla="val 10000"/>
            </a:avLst>
          </a:prstGeom>
          <a:solidFill>
            <a:srgbClr val="FFFFFF"/>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TextBox 36"/>
          <p:cNvSpPr txBox="1"/>
          <p:nvPr/>
        </p:nvSpPr>
        <p:spPr>
          <a:xfrm>
            <a:off x="9052560" y="1536192"/>
            <a:ext cx="3017520" cy="182880"/>
          </a:xfrm>
          <a:prstGeom prst="rect">
            <a:avLst/>
          </a:prstGeom>
          <a:noFill/>
        </p:spPr>
        <p:txBody>
          <a:bodyPr wrap="square" lIns="0" tIns="0" rIns="0" bIns="0" anchor="ctr">
            <a:spAutoFit/>
          </a:bodyPr>
          <a:lstStyle/>
          <a:p>
            <a:pPr marL="0" indent="0" algn="l">
              <a:buNone/>
            </a:pPr>
            <a:r>
              <a:rPr sz="630" b="1" i="0">
                <a:solidFill>
                  <a:srgbClr val="1E2F6E"/>
                </a:solidFill>
              </a:rPr>
              <a:t>Outside 60-Minute, within Standard radius (10–15 km)</a:t>
            </a:r>
          </a:p>
        </p:txBody>
      </p:sp>
      <p:sp>
        <p:nvSpPr>
          <p:cNvPr id="38" name="TextBox 37"/>
          <p:cNvSpPr txBox="1"/>
          <p:nvPr/>
        </p:nvSpPr>
        <p:spPr>
          <a:xfrm>
            <a:off x="9052560" y="1718760"/>
            <a:ext cx="3017520" cy="228600"/>
          </a:xfrm>
          <a:prstGeom prst="rect">
            <a:avLst/>
          </a:prstGeom>
          <a:noFill/>
        </p:spPr>
        <p:txBody>
          <a:bodyPr wrap="square" lIns="0" tIns="0" rIns="0" bIns="0" anchor="t">
            <a:spAutoFit/>
          </a:bodyPr>
          <a:lstStyle/>
          <a:p>
            <a:pPr marL="0" indent="0" algn="l">
              <a:buNone/>
            </a:pPr>
            <a:r>
              <a:rPr sz="600" b="0" i="0">
                <a:solidFill>
                  <a:srgbClr val="555555"/>
                </a:solidFill>
              </a:rPr>
              <a:t>Standard only.</a:t>
            </a:r>
          </a:p>
        </p:txBody>
      </p:sp>
      <p:cxnSp>
        <p:nvCxnSpPr>
          <p:cNvPr id="39" name="Connector 38"/>
          <p:cNvCxnSpPr/>
          <p:nvPr/>
        </p:nvCxnSpPr>
        <p:spPr>
          <a:xfrm>
            <a:off x="8595360" y="1417320"/>
            <a:ext cx="365760" cy="32004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8961120" y="2011680"/>
            <a:ext cx="3200400" cy="457200"/>
          </a:xfrm>
          <a:prstGeom prst="roundRect">
            <a:avLst>
              <a:gd name="adj" fmla="val 10000"/>
            </a:avLst>
          </a:prstGeom>
          <a:solidFill>
            <a:srgbClr val="FFFFFF"/>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TextBox 40"/>
          <p:cNvSpPr txBox="1"/>
          <p:nvPr/>
        </p:nvSpPr>
        <p:spPr>
          <a:xfrm>
            <a:off x="9052560" y="2039112"/>
            <a:ext cx="3017520" cy="182880"/>
          </a:xfrm>
          <a:prstGeom prst="rect">
            <a:avLst/>
          </a:prstGeom>
          <a:noFill/>
        </p:spPr>
        <p:txBody>
          <a:bodyPr wrap="square" lIns="0" tIns="0" rIns="0" bIns="0" anchor="ctr">
            <a:spAutoFit/>
          </a:bodyPr>
          <a:lstStyle/>
          <a:p>
            <a:pPr marL="0" indent="0" algn="l">
              <a:buNone/>
            </a:pPr>
            <a:r>
              <a:rPr sz="630" b="1" i="0">
                <a:solidFill>
                  <a:srgbClr val="1E2F6E"/>
                </a:solidFill>
              </a:rPr>
              <a:t>Outside Standard, inside a configured Next-day area</a:t>
            </a:r>
          </a:p>
        </p:txBody>
      </p:sp>
      <p:sp>
        <p:nvSpPr>
          <p:cNvPr id="42" name="TextBox 41"/>
          <p:cNvSpPr txBox="1"/>
          <p:nvPr/>
        </p:nvSpPr>
        <p:spPr>
          <a:xfrm>
            <a:off x="9052560" y="2221680"/>
            <a:ext cx="3017520" cy="228600"/>
          </a:xfrm>
          <a:prstGeom prst="rect">
            <a:avLst/>
          </a:prstGeom>
          <a:noFill/>
        </p:spPr>
        <p:txBody>
          <a:bodyPr wrap="square" lIns="0" tIns="0" rIns="0" bIns="0" anchor="t">
            <a:spAutoFit/>
          </a:bodyPr>
          <a:lstStyle/>
          <a:p>
            <a:pPr marL="0" indent="0" algn="l">
              <a:buNone/>
            </a:pPr>
            <a:r>
              <a:rPr sz="600" b="0" i="0">
                <a:solidFill>
                  <a:srgbClr val="555555"/>
                </a:solidFill>
              </a:rPr>
              <a:t>Next-day only — delivery date instead of a time slot.</a:t>
            </a:r>
          </a:p>
        </p:txBody>
      </p:sp>
      <p:cxnSp>
        <p:nvCxnSpPr>
          <p:cNvPr id="43" name="Connector 42"/>
          <p:cNvCxnSpPr/>
          <p:nvPr/>
        </p:nvCxnSpPr>
        <p:spPr>
          <a:xfrm>
            <a:off x="8595360" y="1417320"/>
            <a:ext cx="365760" cy="82296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8961120" y="2514600"/>
            <a:ext cx="3200400" cy="457200"/>
          </a:xfrm>
          <a:prstGeom prst="roundRect">
            <a:avLst>
              <a:gd name="adj" fmla="val 10000"/>
            </a:avLst>
          </a:prstGeom>
          <a:solidFill>
            <a:srgbClr val="FDECEE"/>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TextBox 44"/>
          <p:cNvSpPr txBox="1"/>
          <p:nvPr/>
        </p:nvSpPr>
        <p:spPr>
          <a:xfrm>
            <a:off x="9052560" y="2542032"/>
            <a:ext cx="3017520" cy="182880"/>
          </a:xfrm>
          <a:prstGeom prst="rect">
            <a:avLst/>
          </a:prstGeom>
          <a:noFill/>
        </p:spPr>
        <p:txBody>
          <a:bodyPr wrap="square" lIns="0" tIns="0" rIns="0" bIns="0" anchor="ctr">
            <a:spAutoFit/>
          </a:bodyPr>
          <a:lstStyle/>
          <a:p>
            <a:pPr marL="0" indent="0" algn="l">
              <a:buNone/>
            </a:pPr>
            <a:r>
              <a:rPr sz="630" b="1" i="0">
                <a:solidFill>
                  <a:srgbClr val="C8102E"/>
                </a:solidFill>
              </a:rPr>
              <a:t>Outside every configured area</a:t>
            </a:r>
          </a:p>
        </p:txBody>
      </p:sp>
      <p:sp>
        <p:nvSpPr>
          <p:cNvPr id="46" name="TextBox 45"/>
          <p:cNvSpPr txBox="1"/>
          <p:nvPr/>
        </p:nvSpPr>
        <p:spPr>
          <a:xfrm>
            <a:off x="9052560" y="2724600"/>
            <a:ext cx="3017520" cy="228600"/>
          </a:xfrm>
          <a:prstGeom prst="rect">
            <a:avLst/>
          </a:prstGeom>
          <a:noFill/>
        </p:spPr>
        <p:txBody>
          <a:bodyPr wrap="square" lIns="0" tIns="0" rIns="0" bIns="0" anchor="t">
            <a:spAutoFit/>
          </a:bodyPr>
          <a:lstStyle/>
          <a:p>
            <a:pPr marL="0" indent="0" algn="l">
              <a:buNone/>
            </a:pPr>
            <a:r>
              <a:rPr sz="600" b="0" i="0">
                <a:solidFill>
                  <a:srgbClr val="555555"/>
                </a:solidFill>
              </a:rPr>
              <a:t>No ETA shown. Message + “Change address” CTA. Browsing, pricing and Pickup are unaffected.</a:t>
            </a:r>
          </a:p>
        </p:txBody>
      </p:sp>
      <p:cxnSp>
        <p:nvCxnSpPr>
          <p:cNvPr id="47" name="Connector 46"/>
          <p:cNvCxnSpPr/>
          <p:nvPr/>
        </p:nvCxnSpPr>
        <p:spPr>
          <a:xfrm>
            <a:off x="8595360" y="1417320"/>
            <a:ext cx="365760" cy="132588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274320" y="237744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TextBox 49"/>
          <p:cNvSpPr txBox="1"/>
          <p:nvPr/>
        </p:nvSpPr>
        <p:spPr>
          <a:xfrm>
            <a:off x="402336" y="2377440"/>
            <a:ext cx="8229600" cy="256032"/>
          </a:xfrm>
          <a:prstGeom prst="rect">
            <a:avLst/>
          </a:prstGeom>
          <a:noFill/>
        </p:spPr>
        <p:txBody>
          <a:bodyPr wrap="square" lIns="0" tIns="0" rIns="0" bIns="0" anchor="ctr">
            <a:spAutoFit/>
          </a:bodyPr>
          <a:lstStyle/>
          <a:p>
            <a:pPr marL="0" indent="0" algn="l">
              <a:buNone/>
            </a:pPr>
            <a:r>
              <a:rPr sz="1000" b="1" i="0">
                <a:solidFill>
                  <a:srgbClr val="1E2F6E"/>
                </a:solidFill>
              </a:rPr>
              <a:t>Context change from the header</a:t>
            </a:r>
          </a:p>
        </p:txBody>
      </p:sp>
      <p:graphicFrame>
        <p:nvGraphicFramePr>
          <p:cNvPr id="51" name="Table 50"/>
          <p:cNvGraphicFramePr>
            <a:graphicFrameLocks noGrp="1"/>
          </p:cNvGraphicFramePr>
          <p:nvPr>
            <p:extLst>
              <p:ext uri="{D42A27DB-BD31-4B8C-83A1-F6EECF244321}">
                <p14:modId xmlns:p14="http://schemas.microsoft.com/office/powerpoint/2010/main" val="2368188758"/>
              </p:ext>
            </p:extLst>
          </p:nvPr>
        </p:nvGraphicFramePr>
        <p:xfrm>
          <a:off x="274320" y="2651760"/>
          <a:ext cx="8229599" cy="1892496"/>
        </p:xfrm>
        <a:graphic>
          <a:graphicData uri="http://schemas.openxmlformats.org/drawingml/2006/table">
            <a:tbl>
              <a:tblPr/>
              <a:tblGrid>
                <a:gridCol w="2042583">
                  <a:extLst>
                    <a:ext uri="{9D8B030D-6E8A-4147-A177-3AD203B41FA5}">
                      <a16:colId xmlns:a16="http://schemas.microsoft.com/office/drawing/2014/main" val="20000"/>
                    </a:ext>
                  </a:extLst>
                </a:gridCol>
                <a:gridCol w="4358216">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210000">
                <a:tc>
                  <a:txBody>
                    <a:bodyPr/>
                    <a:lstStyle/>
                    <a:p>
                      <a:pPr marL="0" indent="0" algn="ctr">
                        <a:buNone/>
                      </a:pPr>
                      <a:r>
                        <a:rPr sz="700" b="1" i="0">
                          <a:solidFill>
                            <a:srgbClr val="FFFFFF"/>
                          </a:solidFill>
                        </a:rPr>
                        <a:t>Action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System </a:t>
                      </a:r>
                      <a:r>
                        <a:rPr sz="700" b="1" i="0" err="1">
                          <a:solidFill>
                            <a:srgbClr val="FFFFFF"/>
                          </a:solidFill>
                        </a:rPr>
                        <a:t>behaviour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Confirmation?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624">
                <a:tc>
                  <a:txBody>
                    <a:bodyPr/>
                    <a:lstStyle/>
                    <a:p>
                      <a:pPr marL="0" indent="0" algn="l">
                        <a:buNone/>
                      </a:pPr>
                      <a:r>
                        <a:rPr sz="700" b="0" i="0">
                          <a:solidFill>
                            <a:srgbClr val="222222"/>
                          </a:solidFill>
                        </a:rPr>
                        <a:t>Change store  (Homepage)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Store is changed immediately. If the active address falls into a different service zone under the new store, the service is switched automatically and the customer is notified.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HP-08 · BRL-08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624">
                <a:tc>
                  <a:txBody>
                    <a:bodyPr/>
                    <a:lstStyle/>
                    <a:p>
                      <a:pPr marL="0" indent="0" algn="l">
                        <a:buNone/>
                      </a:pPr>
                      <a:r>
                        <a:rPr sz="700" b="0" i="0">
                          <a:solidFill>
                            <a:srgbClr val="222222"/>
                          </a:solidFill>
                        </a:rPr>
                        <a:t>Change address  (Homepage)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Current store still serves it → keep the store, refresh address and ETA. Not served → switch store automatically; when several stores qualify, the nearest one is chosen.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HP-09 · BRL-09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624">
                <a:tc>
                  <a:txBody>
                    <a:bodyPr/>
                    <a:lstStyle/>
                    <a:p>
                      <a:pPr marL="0" indent="0" algn="l">
                        <a:buNone/>
                      </a:pPr>
                      <a:r>
                        <a:rPr sz="700" b="0" i="0">
                          <a:solidFill>
                            <a:srgbClr val="222222"/>
                          </a:solidFill>
                        </a:rPr>
                        <a:t>Change store  (inside 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Store list is pre-filtered to stores that serve the order address. Impact on products and on service/slot is checked, then raised as one consolidated warning.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Yes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CT-07 · BRL-24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624">
                <a:tc>
                  <a:txBody>
                    <a:bodyPr/>
                    <a:lstStyle/>
                    <a:p>
                      <a:pPr marL="0" indent="0" algn="l">
                        <a:buNone/>
                      </a:pPr>
                      <a:r>
                        <a:rPr sz="700" b="0" i="0">
                          <a:solidFill>
                            <a:srgbClr val="222222"/>
                          </a:solidFill>
                        </a:rPr>
                        <a:t>Logout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Selected store is kept — it is not personal data and is always required. The delivery address is cleared so it is not exposed to the next user of a shared device.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n/a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HP-10 · NFR-03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bl>
          </a:graphicData>
        </a:graphic>
      </p:graphicFrame>
      <p:sp>
        <p:nvSpPr>
          <p:cNvPr id="52" name="Rectangle 51"/>
          <p:cNvSpPr/>
          <p:nvPr/>
        </p:nvSpPr>
        <p:spPr>
          <a:xfrm>
            <a:off x="274320" y="466344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TextBox 52"/>
          <p:cNvSpPr txBox="1"/>
          <p:nvPr/>
        </p:nvSpPr>
        <p:spPr>
          <a:xfrm>
            <a:off x="402336" y="4663440"/>
            <a:ext cx="8229600" cy="256032"/>
          </a:xfrm>
          <a:prstGeom prst="rect">
            <a:avLst/>
          </a:prstGeom>
          <a:noFill/>
        </p:spPr>
        <p:txBody>
          <a:bodyPr wrap="square" lIns="0" tIns="0" rIns="0" bIns="0" anchor="ctr">
            <a:spAutoFit/>
          </a:bodyPr>
          <a:lstStyle/>
          <a:p>
            <a:pPr marL="0" indent="0" algn="l">
              <a:buNone/>
            </a:pPr>
            <a:r>
              <a:rPr sz="1000" b="1" i="0">
                <a:solidFill>
                  <a:srgbClr val="1E2F6E"/>
                </a:solidFill>
              </a:rPr>
              <a:t>Guest address lifecycle</a:t>
            </a:r>
          </a:p>
        </p:txBody>
      </p:sp>
      <p:graphicFrame>
        <p:nvGraphicFramePr>
          <p:cNvPr id="54" name="Table 53"/>
          <p:cNvGraphicFramePr>
            <a:graphicFrameLocks noGrp="1"/>
          </p:cNvGraphicFramePr>
          <p:nvPr/>
        </p:nvGraphicFramePr>
        <p:xfrm>
          <a:off x="274320" y="4937760"/>
          <a:ext cx="8229600" cy="1060392"/>
        </p:xfrm>
        <a:graphic>
          <a:graphicData uri="http://schemas.openxmlformats.org/drawingml/2006/table">
            <a:tbl>
              <a:tblPr/>
              <a:tblGrid>
                <a:gridCol w="3017520">
                  <a:extLst>
                    <a:ext uri="{9D8B030D-6E8A-4147-A177-3AD203B41FA5}">
                      <a16:colId xmlns:a16="http://schemas.microsoft.com/office/drawing/2014/main" val="20000"/>
                    </a:ext>
                  </a:extLst>
                </a:gridCol>
                <a:gridCol w="5212080">
                  <a:extLst>
                    <a:ext uri="{9D8B030D-6E8A-4147-A177-3AD203B41FA5}">
                      <a16:colId xmlns:a16="http://schemas.microsoft.com/office/drawing/2014/main" val="20001"/>
                    </a:ext>
                  </a:extLst>
                </a:gridCol>
              </a:tblGrid>
              <a:tr h="210000">
                <a:tc>
                  <a:txBody>
                    <a:bodyPr/>
                    <a:lstStyle/>
                    <a:p>
                      <a:pPr marL="0" indent="0" algn="ctr">
                        <a:buNone/>
                      </a:pPr>
                      <a:r>
                        <a:rPr sz="700" b="1" i="0">
                          <a:solidFill>
                            <a:srgbClr val="FFFFFF"/>
                          </a:solidFill>
                        </a:rPr>
                        <a:t>Stage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Handling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83464">
                <a:tc>
                  <a:txBody>
                    <a:bodyPr/>
                    <a:lstStyle/>
                    <a:p>
                      <a:pPr marL="0" indent="0" algn="l">
                        <a:buNone/>
                      </a:pPr>
                      <a:r>
                        <a:rPr sz="700" b="0" i="0">
                          <a:solidFill>
                            <a:srgbClr val="222222"/>
                          </a:solidFill>
                        </a:rPr>
                        <a:t>Guest creates an address (not logged 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Stored locally on the device — there is no user_id to bind it to on the server. The Guest form omits recipient name and phone.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83464">
                <a:tc>
                  <a:txBody>
                    <a:bodyPr/>
                    <a:lstStyle/>
                    <a:p>
                      <a:pPr marL="0" indent="0" algn="l">
                        <a:buNone/>
                      </a:pPr>
                      <a:r>
                        <a:rPr sz="700" b="0" i="0">
                          <a:solidFill>
                            <a:srgbClr val="222222"/>
                          </a:solidFill>
                        </a:rPr>
                        <a:t>Login / Signup succeeds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local address is synced to the server, bound to the account, set active for the session, and the temporary local copy is deleted.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83464">
                <a:tc>
                  <a:txBody>
                    <a:bodyPr/>
                    <a:lstStyle/>
                    <a:p>
                      <a:pPr marL="0" indent="0" algn="l">
                        <a:buNone/>
                      </a:pPr>
                      <a:r>
                        <a:rPr sz="700" b="0" i="0">
                          <a:solidFill>
                            <a:srgbClr val="222222"/>
                          </a:solidFill>
                        </a:rPr>
                        <a:t>The account already had other addresses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new address is appended to the saved list — nothing is overwritten. The just-created address becomes active for the current session.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5" name="Rectangle 54"/>
          <p:cNvSpPr/>
          <p:nvPr/>
        </p:nvSpPr>
        <p:spPr>
          <a:xfrm>
            <a:off x="8899712" y="3114338"/>
            <a:ext cx="3267635" cy="349176"/>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6" name="TextBox 55"/>
          <p:cNvSpPr txBox="1"/>
          <p:nvPr/>
        </p:nvSpPr>
        <p:spPr>
          <a:xfrm>
            <a:off x="9104107" y="3160955"/>
            <a:ext cx="2926080" cy="215444"/>
          </a:xfrm>
          <a:prstGeom prst="rect">
            <a:avLst/>
          </a:prstGeom>
          <a:noFill/>
        </p:spPr>
        <p:txBody>
          <a:bodyPr wrap="square" lIns="0" tIns="0" rIns="0" bIns="0" anchor="t">
            <a:spAutoFit/>
          </a:bodyPr>
          <a:lstStyle/>
          <a:p>
            <a:pPr marL="0" indent="0" algn="l">
              <a:buNone/>
            </a:pPr>
            <a:r>
              <a:rPr sz="700" b="0" i="0">
                <a:solidFill>
                  <a:srgbClr val="6B6800"/>
                </a:solidFill>
              </a:rPr>
              <a:t>Open: OQ-01 which address to select when the active one becomes invalid after a store change; OQ-26 which address to show after logout and re-login.</a:t>
            </a:r>
            <a:endParaRPr lang="en-US" sz="700" b="0" i="0">
              <a:solidFill>
                <a:srgbClr val="6B6800"/>
              </a:solidFill>
              <a:ea typeface="Calibri" panose="020F0502020204030204"/>
              <a:cs typeface="Calibri" panose="020F0502020204030204"/>
            </a:endParaRPr>
          </a:p>
        </p:txBody>
      </p:sp>
    </p:spTree>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PF-04  ·  Login Gate — Add to Cart and Cart Entry</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13</a:t>
            </a:r>
          </a:p>
        </p:txBody>
      </p:sp>
      <p:sp>
        <p:nvSpPr>
          <p:cNvPr id="9" name="Rectangle 8"/>
          <p:cNvSpPr/>
          <p:nvPr/>
        </p:nvSpPr>
        <p:spPr>
          <a:xfrm>
            <a:off x="274320" y="640080"/>
            <a:ext cx="1749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365760" y="640080"/>
            <a:ext cx="1612000" cy="246888"/>
          </a:xfrm>
          <a:prstGeom prst="rect">
            <a:avLst/>
          </a:prstGeom>
          <a:noFill/>
        </p:spPr>
        <p:txBody>
          <a:bodyPr wrap="square" lIns="0" tIns="0" rIns="0" bIns="0" anchor="ctr">
            <a:spAutoFit/>
          </a:bodyPr>
          <a:lstStyle/>
          <a:p>
            <a:pPr marL="0" indent="0" algn="l">
              <a:buNone/>
            </a:pPr>
            <a:r>
              <a:rPr sz="680" b="1" i="0">
                <a:solidFill>
                  <a:srgbClr val="1E2F6E"/>
                </a:solidFill>
              </a:rPr>
              <a:t>Trigger: </a:t>
            </a:r>
            <a:r>
              <a:rPr sz="680" b="0" i="0">
                <a:solidFill>
                  <a:srgbClr val="555555"/>
                </a:solidFill>
              </a:rPr>
              <a:t>Add to Cart / Cart icon</a:t>
            </a:r>
          </a:p>
        </p:txBody>
      </p:sp>
      <p:sp>
        <p:nvSpPr>
          <p:cNvPr id="11" name="Rectangle 10"/>
          <p:cNvSpPr/>
          <p:nvPr/>
        </p:nvSpPr>
        <p:spPr>
          <a:xfrm>
            <a:off x="2092060" y="640080"/>
            <a:ext cx="709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2183500" y="640080"/>
            <a:ext cx="572000" cy="246888"/>
          </a:xfrm>
          <a:prstGeom prst="rect">
            <a:avLst/>
          </a:prstGeom>
          <a:noFill/>
        </p:spPr>
        <p:txBody>
          <a:bodyPr wrap="square" lIns="0" tIns="0" rIns="0" bIns="0" anchor="ctr">
            <a:spAutoFit/>
          </a:bodyPr>
          <a:lstStyle/>
          <a:p>
            <a:pPr marL="0" indent="0" algn="l">
              <a:buNone/>
            </a:pPr>
            <a:r>
              <a:rPr sz="680" b="1" i="0">
                <a:solidFill>
                  <a:srgbClr val="1E2F6E"/>
                </a:solidFill>
              </a:rPr>
              <a:t>Actor: </a:t>
            </a:r>
            <a:r>
              <a:rPr sz="680" b="0" i="0">
                <a:solidFill>
                  <a:srgbClr val="555555"/>
                </a:solidFill>
              </a:rPr>
              <a:t>Guest</a:t>
            </a:r>
          </a:p>
        </p:txBody>
      </p:sp>
      <p:sp>
        <p:nvSpPr>
          <p:cNvPr id="13" name="Rectangle 12"/>
          <p:cNvSpPr/>
          <p:nvPr/>
        </p:nvSpPr>
        <p:spPr>
          <a:xfrm>
            <a:off x="2869800" y="640080"/>
            <a:ext cx="1645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2961240" y="640080"/>
            <a:ext cx="1508000" cy="246888"/>
          </a:xfrm>
          <a:prstGeom prst="rect">
            <a:avLst/>
          </a:prstGeom>
          <a:noFill/>
        </p:spPr>
        <p:txBody>
          <a:bodyPr wrap="square" lIns="0" tIns="0" rIns="0" bIns="0" anchor="ctr">
            <a:spAutoFit/>
          </a:bodyPr>
          <a:lstStyle/>
          <a:p>
            <a:pPr marL="0" indent="0" algn="l">
              <a:buNone/>
            </a:pPr>
            <a:r>
              <a:rPr sz="680" b="1" i="0">
                <a:solidFill>
                  <a:srgbClr val="1E2F6E"/>
                </a:solidFill>
              </a:rPr>
              <a:t>Realises: </a:t>
            </a:r>
            <a:r>
              <a:rPr sz="680" b="0" i="0">
                <a:solidFill>
                  <a:srgbClr val="555555"/>
                </a:solidFill>
              </a:rPr>
              <a:t>HP-06, HP-07 · BR-02</a:t>
            </a:r>
          </a:p>
        </p:txBody>
      </p:sp>
      <p:sp>
        <p:nvSpPr>
          <p:cNvPr id="15" name="TextBox 14"/>
          <p:cNvSpPr txBox="1"/>
          <p:nvPr/>
        </p:nvSpPr>
        <p:spPr>
          <a:xfrm>
            <a:off x="274320" y="1003564"/>
            <a:ext cx="11612880" cy="123111"/>
          </a:xfrm>
          <a:prstGeom prst="rect">
            <a:avLst/>
          </a:prstGeom>
          <a:noFill/>
        </p:spPr>
        <p:txBody>
          <a:bodyPr wrap="square" lIns="0" tIns="0" rIns="0" bIns="0" anchor="ctr">
            <a:spAutoFit/>
          </a:bodyPr>
          <a:lstStyle/>
          <a:p>
            <a:pPr marL="0" indent="0" algn="l">
              <a:buNone/>
            </a:pPr>
            <a:r>
              <a:rPr sz="800" b="0" i="0">
                <a:solidFill>
                  <a:srgbClr val="555555"/>
                </a:solidFill>
              </a:rPr>
              <a:t>Two entry points, one gate, two different resume actions. </a:t>
            </a:r>
          </a:p>
        </p:txBody>
      </p:sp>
      <p:sp>
        <p:nvSpPr>
          <p:cNvPr id="16" name="Rectangle 15"/>
          <p:cNvSpPr/>
          <p:nvPr/>
        </p:nvSpPr>
        <p:spPr>
          <a:xfrm>
            <a:off x="274320" y="1280160"/>
            <a:ext cx="5486400" cy="201168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TextBox 16"/>
          <p:cNvSpPr txBox="1"/>
          <p:nvPr/>
        </p:nvSpPr>
        <p:spPr>
          <a:xfrm>
            <a:off x="411480" y="1325880"/>
            <a:ext cx="5212080" cy="210000"/>
          </a:xfrm>
          <a:prstGeom prst="rect">
            <a:avLst/>
          </a:prstGeom>
          <a:noFill/>
        </p:spPr>
        <p:txBody>
          <a:bodyPr wrap="square" lIns="0" tIns="0" rIns="0" bIns="0" anchor="ctr">
            <a:spAutoFit/>
          </a:bodyPr>
          <a:lstStyle/>
          <a:p>
            <a:pPr marL="0" indent="0" algn="l">
              <a:buNone/>
            </a:pPr>
            <a:r>
              <a:rPr sz="900" b="1" i="0">
                <a:solidFill>
                  <a:srgbClr val="1E2F6E"/>
                </a:solidFill>
              </a:rPr>
              <a:t>A.  Add to Cart</a:t>
            </a:r>
          </a:p>
        </p:txBody>
      </p:sp>
      <p:sp>
        <p:nvSpPr>
          <p:cNvPr id="18" name="Rounded Rectangle 17"/>
          <p:cNvSpPr/>
          <p:nvPr/>
        </p:nvSpPr>
        <p:spPr>
          <a:xfrm>
            <a:off x="411480" y="1600200"/>
            <a:ext cx="1554480" cy="411480"/>
          </a:xfrm>
          <a:prstGeom prst="roundRect">
            <a:avLst>
              <a:gd name="adj" fmla="val 14000"/>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9" name="TextBox 18"/>
          <p:cNvSpPr txBox="1"/>
          <p:nvPr/>
        </p:nvSpPr>
        <p:spPr>
          <a:xfrm>
            <a:off x="457200" y="1600200"/>
            <a:ext cx="1463040" cy="411480"/>
          </a:xfrm>
          <a:prstGeom prst="rect">
            <a:avLst/>
          </a:prstGeom>
          <a:noFill/>
        </p:spPr>
        <p:txBody>
          <a:bodyPr wrap="square" lIns="0" tIns="0" rIns="0" bIns="0" anchor="ctr">
            <a:spAutoFit/>
          </a:bodyPr>
          <a:lstStyle/>
          <a:p>
            <a:pPr marL="0" indent="0" algn="ctr">
              <a:buNone/>
            </a:pPr>
            <a:r>
              <a:rPr sz="680" b="1" i="0">
                <a:solidFill>
                  <a:srgbClr val="C8102E"/>
                </a:solidFill>
              </a:rPr>
              <a:t>Guest taps</a:t>
            </a:r>
          </a:p>
          <a:p>
            <a:pPr marL="0" indent="0" algn="ctr">
              <a:buNone/>
            </a:pPr>
            <a:r>
              <a:rPr sz="680" b="1" i="0">
                <a:solidFill>
                  <a:srgbClr val="C8102E"/>
                </a:solidFill>
              </a:rPr>
              <a:t>“Add to Cart”</a:t>
            </a:r>
          </a:p>
        </p:txBody>
      </p:sp>
      <p:sp>
        <p:nvSpPr>
          <p:cNvPr id="20" name="Rounded Rectangle 19"/>
          <p:cNvSpPr/>
          <p:nvPr/>
        </p:nvSpPr>
        <p:spPr>
          <a:xfrm>
            <a:off x="2148840" y="1600200"/>
            <a:ext cx="1554480" cy="411480"/>
          </a:xfrm>
          <a:prstGeom prst="roundRect">
            <a:avLst>
              <a:gd name="adj" fmla="val 14000"/>
            </a:avLst>
          </a:prstGeom>
          <a:solidFill>
            <a:srgbClr val="FDECEE"/>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1" name="TextBox 20"/>
          <p:cNvSpPr txBox="1"/>
          <p:nvPr/>
        </p:nvSpPr>
        <p:spPr>
          <a:xfrm>
            <a:off x="2194560" y="1600200"/>
            <a:ext cx="1463040" cy="411480"/>
          </a:xfrm>
          <a:prstGeom prst="rect">
            <a:avLst/>
          </a:prstGeom>
          <a:noFill/>
        </p:spPr>
        <p:txBody>
          <a:bodyPr wrap="square" lIns="0" tIns="0" rIns="0" bIns="0" anchor="ctr">
            <a:spAutoFit/>
          </a:bodyPr>
          <a:lstStyle/>
          <a:p>
            <a:pPr marL="0" indent="0" algn="ctr">
              <a:buNone/>
            </a:pPr>
            <a:r>
              <a:rPr sz="680" b="1" i="0">
                <a:solidFill>
                  <a:srgbClr val="C8102E"/>
                </a:solidFill>
              </a:rPr>
              <a:t>System blocks,</a:t>
            </a:r>
          </a:p>
          <a:p>
            <a:pPr marL="0" indent="0" algn="ctr">
              <a:buNone/>
            </a:pPr>
            <a:r>
              <a:rPr sz="680" b="1" i="0">
                <a:solidFill>
                  <a:srgbClr val="C8102E"/>
                </a:solidFill>
              </a:rPr>
              <a:t>opens Signup / Login</a:t>
            </a:r>
          </a:p>
        </p:txBody>
      </p:sp>
      <p:sp>
        <p:nvSpPr>
          <p:cNvPr id="22" name="Rounded Rectangle 21"/>
          <p:cNvSpPr/>
          <p:nvPr/>
        </p:nvSpPr>
        <p:spPr>
          <a:xfrm>
            <a:off x="3886200" y="1600200"/>
            <a:ext cx="1554480" cy="41148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TextBox 22"/>
          <p:cNvSpPr txBox="1"/>
          <p:nvPr/>
        </p:nvSpPr>
        <p:spPr>
          <a:xfrm>
            <a:off x="3931920" y="1600200"/>
            <a:ext cx="1463040" cy="411480"/>
          </a:xfrm>
          <a:prstGeom prst="rect">
            <a:avLst/>
          </a:prstGeom>
          <a:noFill/>
        </p:spPr>
        <p:txBody>
          <a:bodyPr wrap="square" lIns="0" tIns="0" rIns="0" bIns="0" anchor="ctr">
            <a:spAutoFit/>
          </a:bodyPr>
          <a:lstStyle/>
          <a:p>
            <a:pPr marL="0" indent="0" algn="ctr">
              <a:buNone/>
            </a:pPr>
            <a:r>
              <a:rPr sz="680" b="1" i="0">
                <a:solidFill>
                  <a:srgbClr val="1E2F6E"/>
                </a:solidFill>
              </a:rPr>
              <a:t>Authentication</a:t>
            </a:r>
          </a:p>
          <a:p>
            <a:pPr marL="0" indent="0" algn="ctr">
              <a:buNone/>
            </a:pPr>
            <a:r>
              <a:rPr sz="680" b="1" i="0">
                <a:solidFill>
                  <a:srgbClr val="1E2F6E"/>
                </a:solidFill>
              </a:rPr>
              <a:t>succeeds</a:t>
            </a:r>
          </a:p>
        </p:txBody>
      </p:sp>
      <p:cxnSp>
        <p:nvCxnSpPr>
          <p:cNvPr id="24" name="Connector 23"/>
          <p:cNvCxnSpPr/>
          <p:nvPr/>
        </p:nvCxnSpPr>
        <p:spPr>
          <a:xfrm>
            <a:off x="1965960" y="1805940"/>
            <a:ext cx="18288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703320" y="1805940"/>
            <a:ext cx="18288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2148840" y="2194560"/>
            <a:ext cx="1554480" cy="411480"/>
          </a:xfrm>
          <a:prstGeom prst="roundRect">
            <a:avLst>
              <a:gd name="adj" fmla="val 14000"/>
            </a:avLst>
          </a:prstGeom>
          <a:solidFill>
            <a:srgbClr val="C8102E"/>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7" name="TextBox 26"/>
          <p:cNvSpPr txBox="1"/>
          <p:nvPr/>
        </p:nvSpPr>
        <p:spPr>
          <a:xfrm>
            <a:off x="2194560" y="2300272"/>
            <a:ext cx="1463040" cy="200055"/>
          </a:xfrm>
          <a:prstGeom prst="rect">
            <a:avLst/>
          </a:prstGeom>
          <a:noFill/>
        </p:spPr>
        <p:txBody>
          <a:bodyPr wrap="square" lIns="0" tIns="0" rIns="0" bIns="0" anchor="ctr">
            <a:spAutoFit/>
          </a:bodyPr>
          <a:lstStyle/>
          <a:p>
            <a:pPr algn="ctr"/>
            <a:r>
              <a:rPr sz="650" b="1" i="0">
                <a:solidFill>
                  <a:srgbClr val="FFFFFF"/>
                </a:solidFill>
              </a:rPr>
              <a:t>Cancel  →</a:t>
            </a:r>
            <a:r>
              <a:rPr lang="en-US" sz="650" b="1">
                <a:solidFill>
                  <a:srgbClr val="FFFFFF"/>
                </a:solidFill>
              </a:rPr>
              <a:t>Previous page</a:t>
            </a:r>
            <a:r>
              <a:rPr sz="650" b="1" i="0">
                <a:solidFill>
                  <a:srgbClr val="FFFFFF"/>
                </a:solidFill>
              </a:rPr>
              <a:t>,</a:t>
            </a:r>
          </a:p>
          <a:p>
            <a:pPr marL="0" indent="0" algn="ctr">
              <a:buNone/>
            </a:pPr>
            <a:r>
              <a:rPr sz="650" b="1" i="0">
                <a:solidFill>
                  <a:srgbClr val="FFFFFF"/>
                </a:solidFill>
              </a:rPr>
              <a:t>product NOT added</a:t>
            </a:r>
          </a:p>
        </p:txBody>
      </p:sp>
      <p:cxnSp>
        <p:nvCxnSpPr>
          <p:cNvPr id="28" name="Connector 27"/>
          <p:cNvCxnSpPr/>
          <p:nvPr/>
        </p:nvCxnSpPr>
        <p:spPr>
          <a:xfrm>
            <a:off x="2926080" y="2011680"/>
            <a:ext cx="0" cy="182880"/>
          </a:xfrm>
          <a:prstGeom prst="line">
            <a:avLst/>
          </a:prstGeom>
          <a:ln w="9525">
            <a:solidFill>
              <a:srgbClr val="C8102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411480" y="2743200"/>
            <a:ext cx="5029200" cy="411480"/>
          </a:xfrm>
          <a:prstGeom prst="roundRect">
            <a:avLst>
              <a:gd name="adj" fmla="val 14000"/>
            </a:avLst>
          </a:prstGeom>
          <a:solidFill>
            <a:srgbClr val="E8F5EE"/>
          </a:solidFill>
          <a:ln w="9525">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0" name="TextBox 29"/>
          <p:cNvSpPr txBox="1"/>
          <p:nvPr/>
        </p:nvSpPr>
        <p:spPr>
          <a:xfrm>
            <a:off x="457200" y="2844296"/>
            <a:ext cx="4937760" cy="209288"/>
          </a:xfrm>
          <a:prstGeom prst="rect">
            <a:avLst/>
          </a:prstGeom>
          <a:noFill/>
        </p:spPr>
        <p:txBody>
          <a:bodyPr wrap="square" lIns="0" tIns="0" rIns="0" bIns="0" anchor="ctr">
            <a:spAutoFit/>
          </a:bodyPr>
          <a:lstStyle/>
          <a:p>
            <a:pPr marL="0" indent="0" algn="ctr">
              <a:buNone/>
            </a:pPr>
            <a:r>
              <a:rPr sz="680" b="0" i="0">
                <a:solidFill>
                  <a:srgbClr val="14603A"/>
                </a:solidFill>
              </a:rPr>
              <a:t>Product that triggered the gate is added to the cart automatically  ·  confirmation toast  ·  any locally-stored Guest address is synced to the account</a:t>
            </a:r>
          </a:p>
        </p:txBody>
      </p:sp>
      <p:cxnSp>
        <p:nvCxnSpPr>
          <p:cNvPr id="31" name="Connector 30"/>
          <p:cNvCxnSpPr/>
          <p:nvPr/>
        </p:nvCxnSpPr>
        <p:spPr>
          <a:xfrm>
            <a:off x="4663440" y="2011680"/>
            <a:ext cx="0" cy="731520"/>
          </a:xfrm>
          <a:prstGeom prst="line">
            <a:avLst/>
          </a:prstGeom>
          <a:ln w="9525">
            <a:solidFill>
              <a:srgbClr val="1B7F4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6217920" y="1280160"/>
            <a:ext cx="5669280" cy="201168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3" name="TextBox 32"/>
          <p:cNvSpPr txBox="1"/>
          <p:nvPr/>
        </p:nvSpPr>
        <p:spPr>
          <a:xfrm>
            <a:off x="6355080" y="1325880"/>
            <a:ext cx="5394960" cy="210000"/>
          </a:xfrm>
          <a:prstGeom prst="rect">
            <a:avLst/>
          </a:prstGeom>
          <a:noFill/>
        </p:spPr>
        <p:txBody>
          <a:bodyPr wrap="square" lIns="0" tIns="0" rIns="0" bIns="0" anchor="ctr">
            <a:spAutoFit/>
          </a:bodyPr>
          <a:lstStyle/>
          <a:p>
            <a:pPr marL="0" indent="0" algn="l">
              <a:buNone/>
            </a:pPr>
            <a:r>
              <a:rPr sz="900" b="1" i="0">
                <a:solidFill>
                  <a:srgbClr val="1E2F6E"/>
                </a:solidFill>
              </a:rPr>
              <a:t>B.  Opening the Cart</a:t>
            </a:r>
          </a:p>
        </p:txBody>
      </p:sp>
      <p:sp>
        <p:nvSpPr>
          <p:cNvPr id="34" name="Rounded Rectangle 33"/>
          <p:cNvSpPr/>
          <p:nvPr/>
        </p:nvSpPr>
        <p:spPr>
          <a:xfrm>
            <a:off x="6355080" y="1600200"/>
            <a:ext cx="1600200" cy="411480"/>
          </a:xfrm>
          <a:prstGeom prst="roundRect">
            <a:avLst>
              <a:gd name="adj" fmla="val 14000"/>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5" name="TextBox 34"/>
          <p:cNvSpPr txBox="1"/>
          <p:nvPr/>
        </p:nvSpPr>
        <p:spPr>
          <a:xfrm>
            <a:off x="6400800" y="1600200"/>
            <a:ext cx="1508760" cy="411480"/>
          </a:xfrm>
          <a:prstGeom prst="rect">
            <a:avLst/>
          </a:prstGeom>
          <a:noFill/>
        </p:spPr>
        <p:txBody>
          <a:bodyPr wrap="square" lIns="0" tIns="0" rIns="0" bIns="0" anchor="ctr">
            <a:spAutoFit/>
          </a:bodyPr>
          <a:lstStyle/>
          <a:p>
            <a:pPr marL="0" indent="0" algn="ctr">
              <a:buNone/>
            </a:pPr>
            <a:r>
              <a:rPr sz="680" b="1" i="0">
                <a:solidFill>
                  <a:srgbClr val="C8102E"/>
                </a:solidFill>
              </a:rPr>
              <a:t>Guest taps the</a:t>
            </a:r>
          </a:p>
          <a:p>
            <a:pPr marL="0" indent="0" algn="ctr">
              <a:buNone/>
            </a:pPr>
            <a:r>
              <a:rPr sz="680" b="1" i="0">
                <a:solidFill>
                  <a:srgbClr val="C8102E"/>
                </a:solidFill>
              </a:rPr>
              <a:t>Cart icon</a:t>
            </a:r>
          </a:p>
        </p:txBody>
      </p:sp>
      <p:sp>
        <p:nvSpPr>
          <p:cNvPr id="36" name="Rounded Rectangle 35"/>
          <p:cNvSpPr/>
          <p:nvPr/>
        </p:nvSpPr>
        <p:spPr>
          <a:xfrm>
            <a:off x="8138160" y="1600200"/>
            <a:ext cx="1600200" cy="411480"/>
          </a:xfrm>
          <a:prstGeom prst="roundRect">
            <a:avLst>
              <a:gd name="adj" fmla="val 14000"/>
            </a:avLst>
          </a:prstGeom>
          <a:solidFill>
            <a:srgbClr val="FDECEE"/>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TextBox 36"/>
          <p:cNvSpPr txBox="1"/>
          <p:nvPr/>
        </p:nvSpPr>
        <p:spPr>
          <a:xfrm>
            <a:off x="8183880" y="1600200"/>
            <a:ext cx="1508760" cy="411480"/>
          </a:xfrm>
          <a:prstGeom prst="rect">
            <a:avLst/>
          </a:prstGeom>
          <a:noFill/>
        </p:spPr>
        <p:txBody>
          <a:bodyPr wrap="square" lIns="0" tIns="0" rIns="0" bIns="0" anchor="ctr">
            <a:spAutoFit/>
          </a:bodyPr>
          <a:lstStyle/>
          <a:p>
            <a:pPr marL="0" indent="0" algn="ctr">
              <a:buNone/>
            </a:pPr>
            <a:r>
              <a:rPr sz="680" b="1" i="0">
                <a:solidFill>
                  <a:srgbClr val="C8102E"/>
                </a:solidFill>
              </a:rPr>
              <a:t>System blocks,</a:t>
            </a:r>
          </a:p>
          <a:p>
            <a:pPr marL="0" indent="0" algn="ctr">
              <a:buNone/>
            </a:pPr>
            <a:r>
              <a:rPr sz="680" b="1" i="0">
                <a:solidFill>
                  <a:srgbClr val="C8102E"/>
                </a:solidFill>
              </a:rPr>
              <a:t>opens Signup / Login</a:t>
            </a:r>
          </a:p>
        </p:txBody>
      </p:sp>
      <p:sp>
        <p:nvSpPr>
          <p:cNvPr id="38" name="Rounded Rectangle 37"/>
          <p:cNvSpPr/>
          <p:nvPr/>
        </p:nvSpPr>
        <p:spPr>
          <a:xfrm>
            <a:off x="9921240" y="1600200"/>
            <a:ext cx="1600200" cy="41148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TextBox 38"/>
          <p:cNvSpPr txBox="1"/>
          <p:nvPr/>
        </p:nvSpPr>
        <p:spPr>
          <a:xfrm>
            <a:off x="9966960" y="1600200"/>
            <a:ext cx="1508760" cy="411480"/>
          </a:xfrm>
          <a:prstGeom prst="rect">
            <a:avLst/>
          </a:prstGeom>
          <a:noFill/>
        </p:spPr>
        <p:txBody>
          <a:bodyPr wrap="square" lIns="0" tIns="0" rIns="0" bIns="0" anchor="ctr">
            <a:spAutoFit/>
          </a:bodyPr>
          <a:lstStyle/>
          <a:p>
            <a:pPr marL="0" indent="0" algn="ctr">
              <a:buNone/>
            </a:pPr>
            <a:r>
              <a:rPr sz="680" b="1" i="0">
                <a:solidFill>
                  <a:srgbClr val="1E2F6E"/>
                </a:solidFill>
              </a:rPr>
              <a:t>Authentication</a:t>
            </a:r>
          </a:p>
          <a:p>
            <a:pPr marL="0" indent="0" algn="ctr">
              <a:buNone/>
            </a:pPr>
            <a:r>
              <a:rPr sz="680" b="1" i="0">
                <a:solidFill>
                  <a:srgbClr val="1E2F6E"/>
                </a:solidFill>
              </a:rPr>
              <a:t>succeeds</a:t>
            </a:r>
          </a:p>
        </p:txBody>
      </p:sp>
      <p:cxnSp>
        <p:nvCxnSpPr>
          <p:cNvPr id="40" name="Connector 39"/>
          <p:cNvCxnSpPr/>
          <p:nvPr/>
        </p:nvCxnSpPr>
        <p:spPr>
          <a:xfrm>
            <a:off x="7955280" y="1805940"/>
            <a:ext cx="18288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738360" y="1805940"/>
            <a:ext cx="18288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8138160" y="2194560"/>
            <a:ext cx="1600200" cy="411480"/>
          </a:xfrm>
          <a:prstGeom prst="roundRect">
            <a:avLst>
              <a:gd name="adj" fmla="val 14000"/>
            </a:avLst>
          </a:prstGeom>
          <a:solidFill>
            <a:srgbClr val="C8102E"/>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3" name="TextBox 42"/>
          <p:cNvSpPr txBox="1"/>
          <p:nvPr/>
        </p:nvSpPr>
        <p:spPr>
          <a:xfrm>
            <a:off x="8183880" y="2300272"/>
            <a:ext cx="1508760" cy="200055"/>
          </a:xfrm>
          <a:prstGeom prst="rect">
            <a:avLst/>
          </a:prstGeom>
          <a:noFill/>
        </p:spPr>
        <p:txBody>
          <a:bodyPr wrap="square" lIns="0" tIns="0" rIns="0" bIns="0" anchor="ctr">
            <a:spAutoFit/>
          </a:bodyPr>
          <a:lstStyle/>
          <a:p>
            <a:pPr algn="ctr"/>
            <a:r>
              <a:rPr sz="650" b="1" i="0">
                <a:solidFill>
                  <a:srgbClr val="FFFFFF"/>
                </a:solidFill>
              </a:rPr>
              <a:t>Cancel  →  </a:t>
            </a:r>
            <a:r>
              <a:rPr lang="en-US" sz="650" b="1">
                <a:solidFill>
                  <a:srgbClr val="FFFFFF"/>
                </a:solidFill>
              </a:rPr>
              <a:t>Previous page</a:t>
            </a:r>
            <a:r>
              <a:rPr sz="650" b="1" i="0">
                <a:solidFill>
                  <a:srgbClr val="FFFFFF"/>
                </a:solidFill>
              </a:rPr>
              <a:t>,</a:t>
            </a:r>
          </a:p>
          <a:p>
            <a:pPr marL="0" indent="0" algn="ctr">
              <a:buNone/>
            </a:pPr>
            <a:r>
              <a:rPr sz="650" b="1" i="0">
                <a:solidFill>
                  <a:srgbClr val="FFFFFF"/>
                </a:solidFill>
              </a:rPr>
              <a:t>Cart not opened</a:t>
            </a:r>
          </a:p>
        </p:txBody>
      </p:sp>
      <p:cxnSp>
        <p:nvCxnSpPr>
          <p:cNvPr id="44" name="Connector 43"/>
          <p:cNvCxnSpPr/>
          <p:nvPr/>
        </p:nvCxnSpPr>
        <p:spPr>
          <a:xfrm>
            <a:off x="8938260" y="2011680"/>
            <a:ext cx="0" cy="182880"/>
          </a:xfrm>
          <a:prstGeom prst="line">
            <a:avLst/>
          </a:prstGeom>
          <a:ln w="9525">
            <a:solidFill>
              <a:srgbClr val="C8102E"/>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6355080" y="2743200"/>
            <a:ext cx="5166360" cy="411480"/>
          </a:xfrm>
          <a:prstGeom prst="roundRect">
            <a:avLst>
              <a:gd name="adj" fmla="val 14000"/>
            </a:avLst>
          </a:prstGeom>
          <a:solidFill>
            <a:srgbClr val="E8F5EE"/>
          </a:solidFill>
          <a:ln w="9525">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TextBox 45"/>
          <p:cNvSpPr txBox="1"/>
          <p:nvPr/>
        </p:nvSpPr>
        <p:spPr>
          <a:xfrm>
            <a:off x="6400800" y="2743200"/>
            <a:ext cx="5074920" cy="411480"/>
          </a:xfrm>
          <a:prstGeom prst="rect">
            <a:avLst/>
          </a:prstGeom>
          <a:noFill/>
        </p:spPr>
        <p:txBody>
          <a:bodyPr wrap="square" lIns="0" tIns="0" rIns="0" bIns="0" anchor="ctr">
            <a:spAutoFit/>
          </a:bodyPr>
          <a:lstStyle/>
          <a:p>
            <a:pPr marL="0" indent="0" algn="ctr">
              <a:buNone/>
            </a:pPr>
            <a:r>
              <a:rPr sz="680" b="0" i="0">
                <a:solidFill>
                  <a:srgbClr val="14603A"/>
                </a:solidFill>
              </a:rPr>
              <a:t>Cart opens directly  ·  address, service and slot chosen on the Homepage are carried in  ·  local Guest address synced</a:t>
            </a:r>
          </a:p>
        </p:txBody>
      </p:sp>
      <p:cxnSp>
        <p:nvCxnSpPr>
          <p:cNvPr id="47" name="Connector 46"/>
          <p:cNvCxnSpPr/>
          <p:nvPr/>
        </p:nvCxnSpPr>
        <p:spPr>
          <a:xfrm>
            <a:off x="10721340" y="2011680"/>
            <a:ext cx="0" cy="731520"/>
          </a:xfrm>
          <a:prstGeom prst="line">
            <a:avLst/>
          </a:prstGeom>
          <a:ln w="9525">
            <a:solidFill>
              <a:srgbClr val="1B7F4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274320" y="338328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9" name="TextBox 48"/>
          <p:cNvSpPr txBox="1"/>
          <p:nvPr/>
        </p:nvSpPr>
        <p:spPr>
          <a:xfrm>
            <a:off x="402336" y="3383280"/>
            <a:ext cx="11612880" cy="256032"/>
          </a:xfrm>
          <a:prstGeom prst="rect">
            <a:avLst/>
          </a:prstGeom>
          <a:noFill/>
        </p:spPr>
        <p:txBody>
          <a:bodyPr wrap="square" lIns="0" tIns="0" rIns="0" bIns="0" anchor="ctr">
            <a:spAutoFit/>
          </a:bodyPr>
          <a:lstStyle/>
          <a:p>
            <a:pPr marL="0" indent="0" algn="l">
              <a:buNone/>
            </a:pPr>
            <a:r>
              <a:rPr sz="1000" b="1" i="0">
                <a:solidFill>
                  <a:srgbClr val="1E2F6E"/>
                </a:solidFill>
              </a:rPr>
              <a:t>Gate rules</a:t>
            </a:r>
          </a:p>
        </p:txBody>
      </p:sp>
      <p:graphicFrame>
        <p:nvGraphicFramePr>
          <p:cNvPr id="50" name="Table 49"/>
          <p:cNvGraphicFramePr>
            <a:graphicFrameLocks noGrp="1"/>
          </p:cNvGraphicFramePr>
          <p:nvPr>
            <p:extLst>
              <p:ext uri="{D42A27DB-BD31-4B8C-83A1-F6EECF244321}">
                <p14:modId xmlns:p14="http://schemas.microsoft.com/office/powerpoint/2010/main" val="2092602427"/>
              </p:ext>
            </p:extLst>
          </p:nvPr>
        </p:nvGraphicFramePr>
        <p:xfrm>
          <a:off x="274320" y="3657600"/>
          <a:ext cx="11612880" cy="2185104"/>
        </p:xfrm>
        <a:graphic>
          <a:graphicData uri="http://schemas.openxmlformats.org/drawingml/2006/table">
            <a:tbl>
              <a:tblPr/>
              <a:tblGrid>
                <a:gridCol w="7315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685800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210000">
                <a:tc>
                  <a:txBody>
                    <a:bodyPr/>
                    <a:lstStyle/>
                    <a:p>
                      <a:pPr marL="0" indent="0" algn="ctr">
                        <a:buNone/>
                      </a:pPr>
                      <a:r>
                        <a:rPr sz="700" b="1" i="0">
                          <a:solidFill>
                            <a:srgbClr val="FFFFFF"/>
                          </a:solidFill>
                        </a:rPr>
                        <a:t>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Detail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Status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329184">
                <a:tc>
                  <a:txBody>
                    <a:bodyPr/>
                    <a:lstStyle/>
                    <a:p>
                      <a:pPr marL="0" indent="0" algn="ctr">
                        <a:buNone/>
                      </a:pPr>
                      <a:r>
                        <a:rPr sz="700" b="0" i="0">
                          <a:solidFill>
                            <a:srgbClr val="222222"/>
                          </a:solidFill>
                        </a:rPr>
                        <a:t>BRL-04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Guest browsing is unrestricted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Homepage, category, search and product detail are fully available without an account. Two price levels (Guest / Member) are shown per SKU where they exist.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329184">
                <a:tc>
                  <a:txBody>
                    <a:bodyPr/>
                    <a:lstStyle/>
                    <a:p>
                      <a:pPr marL="0" indent="0" algn="ctr">
                        <a:buNone/>
                      </a:pPr>
                      <a:r>
                        <a:rPr sz="700" b="0" i="0">
                          <a:solidFill>
                            <a:srgbClr val="222222"/>
                          </a:solidFill>
                        </a:rPr>
                        <a:t>BRL-05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Login is enforced at exactly two points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Add to Cart, and entry to the Cart. </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329184">
                <a:tc>
                  <a:txBody>
                    <a:bodyPr/>
                    <a:lstStyle/>
                    <a:p>
                      <a:pPr marL="0" indent="0" algn="ctr">
                        <a:buNone/>
                      </a:pPr>
                      <a:r>
                        <a:rPr sz="700" b="0" i="0">
                          <a:solidFill>
                            <a:srgbClr val="222222"/>
                          </a:solidFill>
                        </a:rPr>
                        <a:t>BRL-06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Cart icon is always visible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icon is never hidden or disabled for Guests. Tapping it opens the login gate rather than an error.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329184">
                <a:tc>
                  <a:txBody>
                    <a:bodyPr/>
                    <a:lstStyle/>
                    <a:p>
                      <a:pPr marL="0" indent="0" algn="ctr">
                        <a:buNone/>
                      </a:pPr>
                      <a:r>
                        <a:rPr sz="700" b="0" i="0">
                          <a:solidFill>
                            <a:srgbClr val="222222"/>
                          </a:solidFill>
                        </a:rPr>
                        <a:t>BRL-07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original action is always resumed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After authentication the system re-executes the action that triggered the gate — add that product, or open the 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329184">
                <a:tc>
                  <a:txBody>
                    <a:bodyPr/>
                    <a:lstStyle/>
                    <a:p>
                      <a:pPr marL="0" indent="0" algn="ctr">
                        <a:buNone/>
                      </a:pPr>
                      <a:r>
                        <a:rPr sz="700" b="0" i="0">
                          <a:solidFill>
                            <a:srgbClr val="222222"/>
                          </a:solidFill>
                        </a:rPr>
                        <a:t>BRL-08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Cancelling is non-destructive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Dismissing the login screen returns to </a:t>
                      </a:r>
                      <a:r>
                        <a:rPr lang="en-US" sz="700" b="0" i="0" err="1">
                          <a:solidFill>
                            <a:srgbClr val="222222"/>
                          </a:solidFill>
                        </a:rPr>
                        <a:t>theprevious</a:t>
                      </a:r>
                      <a:r>
                        <a:rPr lang="en-US" sz="700" b="0" i="0">
                          <a:solidFill>
                            <a:srgbClr val="222222"/>
                          </a:solidFill>
                        </a:rPr>
                        <a:t> page</a:t>
                      </a:r>
                      <a:r>
                        <a:rPr sz="700" b="0" i="0">
                          <a:solidFill>
                            <a:srgbClr val="222222"/>
                          </a:solidFill>
                        </a:rPr>
                        <a:t> with the browsing context intact. Nothing is added and nothing is lost.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329184">
                <a:tc>
                  <a:txBody>
                    <a:bodyPr/>
                    <a:lstStyle/>
                    <a:p>
                      <a:pPr marL="0" indent="0" algn="ctr">
                        <a:buNone/>
                      </a:pPr>
                      <a:r>
                        <a:rPr sz="700" b="0" i="0">
                          <a:solidFill>
                            <a:srgbClr val="222222"/>
                          </a:solidFill>
                        </a:rPr>
                        <a:t>OQ-04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Session expiry is treated as Guest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If the access token expires mid-journey the customer is handled exactly like a Guest who has never logged in. Assumption — Security / Dev confirmation required.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Open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PF-05  ·  Signup</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14</a:t>
            </a:r>
          </a:p>
        </p:txBody>
      </p:sp>
      <p:sp>
        <p:nvSpPr>
          <p:cNvPr id="9" name="Rectangle 8"/>
          <p:cNvSpPr/>
          <p:nvPr/>
        </p:nvSpPr>
        <p:spPr>
          <a:xfrm>
            <a:off x="274320" y="640080"/>
            <a:ext cx="1853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365760" y="640080"/>
            <a:ext cx="1716000" cy="246888"/>
          </a:xfrm>
          <a:prstGeom prst="rect">
            <a:avLst/>
          </a:prstGeom>
          <a:noFill/>
        </p:spPr>
        <p:txBody>
          <a:bodyPr wrap="square" lIns="0" tIns="0" rIns="0" bIns="0" anchor="ctr">
            <a:spAutoFit/>
          </a:bodyPr>
          <a:lstStyle/>
          <a:p>
            <a:pPr marL="0" indent="0" algn="l">
              <a:buNone/>
            </a:pPr>
            <a:r>
              <a:rPr sz="680" b="1" i="0">
                <a:solidFill>
                  <a:srgbClr val="1E2F6E"/>
                </a:solidFill>
              </a:rPr>
              <a:t>Trigger: </a:t>
            </a:r>
            <a:r>
              <a:rPr sz="680" b="0" i="0">
                <a:solidFill>
                  <a:srgbClr val="555555"/>
                </a:solidFill>
              </a:rPr>
              <a:t>“New customer — Register”</a:t>
            </a:r>
          </a:p>
        </p:txBody>
      </p:sp>
      <p:sp>
        <p:nvSpPr>
          <p:cNvPr id="11" name="Rectangle 10"/>
          <p:cNvSpPr/>
          <p:nvPr/>
        </p:nvSpPr>
        <p:spPr>
          <a:xfrm>
            <a:off x="2196060" y="640080"/>
            <a:ext cx="1177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2287500" y="640080"/>
            <a:ext cx="1040000" cy="246888"/>
          </a:xfrm>
          <a:prstGeom prst="rect">
            <a:avLst/>
          </a:prstGeom>
          <a:noFill/>
        </p:spPr>
        <p:txBody>
          <a:bodyPr wrap="square" lIns="0" tIns="0" rIns="0" bIns="0" anchor="ctr">
            <a:spAutoFit/>
          </a:bodyPr>
          <a:lstStyle/>
          <a:p>
            <a:pPr marL="0" indent="0" algn="l">
              <a:buNone/>
            </a:pPr>
            <a:r>
              <a:rPr sz="680" b="1" i="0">
                <a:solidFill>
                  <a:srgbClr val="1E2F6E"/>
                </a:solidFill>
              </a:rPr>
              <a:t>Actor: </a:t>
            </a:r>
            <a:r>
              <a:rPr sz="680" b="0" i="0">
                <a:solidFill>
                  <a:srgbClr val="555555"/>
                </a:solidFill>
              </a:rPr>
              <a:t>Guest → Member</a:t>
            </a:r>
          </a:p>
        </p:txBody>
      </p:sp>
      <p:sp>
        <p:nvSpPr>
          <p:cNvPr id="13" name="Rectangle 12"/>
          <p:cNvSpPr/>
          <p:nvPr/>
        </p:nvSpPr>
        <p:spPr>
          <a:xfrm>
            <a:off x="3441800" y="640080"/>
            <a:ext cx="2061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3533240" y="640080"/>
            <a:ext cx="1924000" cy="246888"/>
          </a:xfrm>
          <a:prstGeom prst="rect">
            <a:avLst/>
          </a:prstGeom>
          <a:noFill/>
        </p:spPr>
        <p:txBody>
          <a:bodyPr wrap="square" lIns="0" tIns="0" rIns="0" bIns="0" anchor="ctr">
            <a:spAutoFit/>
          </a:bodyPr>
          <a:lstStyle/>
          <a:p>
            <a:pPr marL="0" indent="0" algn="l">
              <a:buNone/>
            </a:pPr>
            <a:r>
              <a:rPr sz="680" b="1" i="0">
                <a:solidFill>
                  <a:srgbClr val="1E2F6E"/>
                </a:solidFill>
              </a:rPr>
              <a:t>Realises: </a:t>
            </a:r>
            <a:r>
              <a:rPr sz="680" b="0" i="0">
                <a:solidFill>
                  <a:srgbClr val="555555"/>
                </a:solidFill>
              </a:rPr>
              <a:t>SU-01 … SU-09 · BR-05, BR-11</a:t>
            </a:r>
          </a:p>
        </p:txBody>
      </p:sp>
      <p:sp>
        <p:nvSpPr>
          <p:cNvPr id="15" name="Rounded Rectangle 14"/>
          <p:cNvSpPr/>
          <p:nvPr/>
        </p:nvSpPr>
        <p:spPr>
          <a:xfrm>
            <a:off x="274320" y="1005840"/>
            <a:ext cx="1325880" cy="685800"/>
          </a:xfrm>
          <a:prstGeom prst="roundRect">
            <a:avLst>
              <a:gd name="adj" fmla="val 14000"/>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1074420"/>
            <a:ext cx="1325880" cy="205740"/>
          </a:xfrm>
          <a:prstGeom prst="rect">
            <a:avLst/>
          </a:prstGeom>
          <a:noFill/>
        </p:spPr>
        <p:txBody>
          <a:bodyPr wrap="square" lIns="0" tIns="0" rIns="0" bIns="0" anchor="ctr">
            <a:spAutoFit/>
          </a:bodyPr>
          <a:lstStyle/>
          <a:p>
            <a:pPr marL="0" indent="0" algn="ctr">
              <a:buNone/>
            </a:pPr>
            <a:r>
              <a:rPr sz="580" b="1" i="0">
                <a:solidFill>
                  <a:srgbClr val="C8102E"/>
                </a:solidFill>
              </a:rPr>
              <a:t>SU-01</a:t>
            </a:r>
          </a:p>
        </p:txBody>
      </p:sp>
      <p:sp>
        <p:nvSpPr>
          <p:cNvPr id="17" name="TextBox 16"/>
          <p:cNvSpPr txBox="1"/>
          <p:nvPr/>
        </p:nvSpPr>
        <p:spPr>
          <a:xfrm>
            <a:off x="320040" y="1239012"/>
            <a:ext cx="1234440" cy="411480"/>
          </a:xfrm>
          <a:prstGeom prst="rect">
            <a:avLst/>
          </a:prstGeom>
          <a:noFill/>
        </p:spPr>
        <p:txBody>
          <a:bodyPr wrap="square" lIns="0" tIns="0" rIns="0" bIns="0" anchor="ctr">
            <a:spAutoFit/>
          </a:bodyPr>
          <a:lstStyle/>
          <a:p>
            <a:pPr marL="0" indent="0" algn="ctr">
              <a:buNone/>
            </a:pPr>
            <a:r>
              <a:rPr sz="650" b="1" i="0">
                <a:solidFill>
                  <a:srgbClr val="C8102E"/>
                </a:solidFill>
              </a:rPr>
              <a:t>Enter phone</a:t>
            </a:r>
          </a:p>
          <a:p>
            <a:pPr marL="0" indent="0" algn="ctr">
              <a:buNone/>
            </a:pPr>
            <a:r>
              <a:rPr sz="650" b="1" i="0">
                <a:solidFill>
                  <a:srgbClr val="C8102E"/>
                </a:solidFill>
              </a:rPr>
              <a:t>number</a:t>
            </a:r>
          </a:p>
        </p:txBody>
      </p:sp>
      <p:cxnSp>
        <p:nvCxnSpPr>
          <p:cNvPr id="18" name="Connector 17"/>
          <p:cNvCxnSpPr/>
          <p:nvPr/>
        </p:nvCxnSpPr>
        <p:spPr>
          <a:xfrm>
            <a:off x="1600200" y="1348740"/>
            <a:ext cx="13716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737360" y="1005840"/>
            <a:ext cx="1325880" cy="685800"/>
          </a:xfrm>
          <a:prstGeom prst="roundRect">
            <a:avLst>
              <a:gd name="adj" fmla="val 14000"/>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737360" y="1074420"/>
            <a:ext cx="1325880" cy="205740"/>
          </a:xfrm>
          <a:prstGeom prst="rect">
            <a:avLst/>
          </a:prstGeom>
          <a:noFill/>
        </p:spPr>
        <p:txBody>
          <a:bodyPr wrap="square" lIns="0" tIns="0" rIns="0" bIns="0" anchor="ctr">
            <a:spAutoFit/>
          </a:bodyPr>
          <a:lstStyle/>
          <a:p>
            <a:pPr marL="0" indent="0" algn="ctr">
              <a:buNone/>
            </a:pPr>
            <a:r>
              <a:rPr sz="580" b="1" i="0">
                <a:solidFill>
                  <a:srgbClr val="C8102E"/>
                </a:solidFill>
              </a:rPr>
              <a:t>SU-02</a:t>
            </a:r>
          </a:p>
        </p:txBody>
      </p:sp>
      <p:sp>
        <p:nvSpPr>
          <p:cNvPr id="21" name="TextBox 20"/>
          <p:cNvSpPr txBox="1"/>
          <p:nvPr/>
        </p:nvSpPr>
        <p:spPr>
          <a:xfrm>
            <a:off x="1783080" y="1239012"/>
            <a:ext cx="1234440" cy="411480"/>
          </a:xfrm>
          <a:prstGeom prst="rect">
            <a:avLst/>
          </a:prstGeom>
          <a:noFill/>
        </p:spPr>
        <p:txBody>
          <a:bodyPr wrap="square" lIns="0" tIns="0" rIns="0" bIns="0" anchor="ctr">
            <a:spAutoFit/>
          </a:bodyPr>
          <a:lstStyle/>
          <a:p>
            <a:pPr marL="0" indent="0" algn="ctr">
              <a:buNone/>
            </a:pPr>
            <a:r>
              <a:rPr sz="650" b="1" i="0">
                <a:solidFill>
                  <a:srgbClr val="C8102E"/>
                </a:solidFill>
              </a:rPr>
              <a:t>Choose OTP channel</a:t>
            </a:r>
          </a:p>
          <a:p>
            <a:pPr marL="0" indent="0" algn="ctr">
              <a:buNone/>
            </a:pPr>
            <a:r>
              <a:rPr sz="650" b="1" i="0">
                <a:solidFill>
                  <a:srgbClr val="C8102E"/>
                </a:solidFill>
              </a:rPr>
              <a:t>Zalo (default) / SMS</a:t>
            </a:r>
          </a:p>
        </p:txBody>
      </p:sp>
      <p:cxnSp>
        <p:nvCxnSpPr>
          <p:cNvPr id="22" name="Connector 21"/>
          <p:cNvCxnSpPr/>
          <p:nvPr/>
        </p:nvCxnSpPr>
        <p:spPr>
          <a:xfrm>
            <a:off x="3063240" y="1348740"/>
            <a:ext cx="13716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200400" y="1005840"/>
            <a:ext cx="1325880" cy="685800"/>
          </a:xfrm>
          <a:prstGeom prst="roundRect">
            <a:avLst>
              <a:gd name="adj" fmla="val 14000"/>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3200400" y="1074420"/>
            <a:ext cx="1325880" cy="205740"/>
          </a:xfrm>
          <a:prstGeom prst="rect">
            <a:avLst/>
          </a:prstGeom>
          <a:noFill/>
        </p:spPr>
        <p:txBody>
          <a:bodyPr wrap="square" lIns="0" tIns="0" rIns="0" bIns="0" anchor="ctr">
            <a:spAutoFit/>
          </a:bodyPr>
          <a:lstStyle/>
          <a:p>
            <a:pPr marL="0" indent="0" algn="ctr">
              <a:buNone/>
            </a:pPr>
            <a:r>
              <a:rPr sz="580" b="1" i="0">
                <a:solidFill>
                  <a:srgbClr val="C8102E"/>
                </a:solidFill>
              </a:rPr>
              <a:t>SU-03</a:t>
            </a:r>
          </a:p>
        </p:txBody>
      </p:sp>
      <p:sp>
        <p:nvSpPr>
          <p:cNvPr id="25" name="TextBox 24"/>
          <p:cNvSpPr txBox="1"/>
          <p:nvPr/>
        </p:nvSpPr>
        <p:spPr>
          <a:xfrm>
            <a:off x="3246120" y="1239012"/>
            <a:ext cx="1234440" cy="411480"/>
          </a:xfrm>
          <a:prstGeom prst="rect">
            <a:avLst/>
          </a:prstGeom>
          <a:noFill/>
        </p:spPr>
        <p:txBody>
          <a:bodyPr wrap="square" lIns="0" tIns="0" rIns="0" bIns="0" anchor="ctr">
            <a:spAutoFit/>
          </a:bodyPr>
          <a:lstStyle/>
          <a:p>
            <a:pPr marL="0" indent="0" algn="ctr">
              <a:buNone/>
            </a:pPr>
            <a:r>
              <a:rPr sz="650" b="1" i="0">
                <a:solidFill>
                  <a:srgbClr val="C8102E"/>
                </a:solidFill>
              </a:rPr>
              <a:t>Enter OTP</a:t>
            </a:r>
          </a:p>
          <a:p>
            <a:pPr marL="0" indent="0" algn="ctr">
              <a:buNone/>
            </a:pPr>
            <a:r>
              <a:rPr sz="650" b="1" i="0">
                <a:solidFill>
                  <a:srgbClr val="C8102E"/>
                </a:solidFill>
              </a:rPr>
              <a:t>(Resend + countdown)</a:t>
            </a:r>
          </a:p>
        </p:txBody>
      </p:sp>
      <p:cxnSp>
        <p:nvCxnSpPr>
          <p:cNvPr id="26" name="Connector 25"/>
          <p:cNvCxnSpPr/>
          <p:nvPr/>
        </p:nvCxnSpPr>
        <p:spPr>
          <a:xfrm>
            <a:off x="4526280" y="1348740"/>
            <a:ext cx="13716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4663440" y="1005840"/>
            <a:ext cx="1325880" cy="685800"/>
          </a:xfrm>
          <a:prstGeom prst="roundRect">
            <a:avLst>
              <a:gd name="adj" fmla="val 14000"/>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4663440" y="1074420"/>
            <a:ext cx="1325880" cy="205740"/>
          </a:xfrm>
          <a:prstGeom prst="rect">
            <a:avLst/>
          </a:prstGeom>
          <a:noFill/>
        </p:spPr>
        <p:txBody>
          <a:bodyPr wrap="square" lIns="0" tIns="0" rIns="0" bIns="0" anchor="ctr">
            <a:spAutoFit/>
          </a:bodyPr>
          <a:lstStyle/>
          <a:p>
            <a:pPr marL="0" indent="0" algn="ctr">
              <a:buNone/>
            </a:pPr>
            <a:r>
              <a:rPr sz="580" b="1" i="0">
                <a:solidFill>
                  <a:srgbClr val="C8102E"/>
                </a:solidFill>
              </a:rPr>
              <a:t>SU-04</a:t>
            </a:r>
          </a:p>
        </p:txBody>
      </p:sp>
      <p:sp>
        <p:nvSpPr>
          <p:cNvPr id="29" name="TextBox 28"/>
          <p:cNvSpPr txBox="1"/>
          <p:nvPr/>
        </p:nvSpPr>
        <p:spPr>
          <a:xfrm>
            <a:off x="4709160" y="1239012"/>
            <a:ext cx="1234440" cy="411480"/>
          </a:xfrm>
          <a:prstGeom prst="rect">
            <a:avLst/>
          </a:prstGeom>
          <a:noFill/>
        </p:spPr>
        <p:txBody>
          <a:bodyPr wrap="square" lIns="0" tIns="0" rIns="0" bIns="0" anchor="ctr">
            <a:spAutoFit/>
          </a:bodyPr>
          <a:lstStyle/>
          <a:p>
            <a:pPr marL="0" indent="0" algn="ctr">
              <a:buNone/>
            </a:pPr>
            <a:r>
              <a:rPr sz="650" b="1" i="0">
                <a:solidFill>
                  <a:srgbClr val="C8102E"/>
                </a:solidFill>
              </a:rPr>
              <a:t>Create and confirm</a:t>
            </a:r>
          </a:p>
          <a:p>
            <a:pPr marL="0" indent="0" algn="ctr">
              <a:buNone/>
            </a:pPr>
            <a:r>
              <a:rPr sz="650" b="1" i="0">
                <a:solidFill>
                  <a:srgbClr val="C8102E"/>
                </a:solidFill>
              </a:rPr>
              <a:t>6-digit PIN</a:t>
            </a:r>
          </a:p>
        </p:txBody>
      </p:sp>
      <p:cxnSp>
        <p:nvCxnSpPr>
          <p:cNvPr id="30" name="Connector 29"/>
          <p:cNvCxnSpPr/>
          <p:nvPr/>
        </p:nvCxnSpPr>
        <p:spPr>
          <a:xfrm>
            <a:off x="5989320" y="1348740"/>
            <a:ext cx="13716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126480" y="1005840"/>
            <a:ext cx="1325880" cy="685800"/>
          </a:xfrm>
          <a:prstGeom prst="roundRect">
            <a:avLst>
              <a:gd name="adj" fmla="val 14000"/>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6126480" y="1074420"/>
            <a:ext cx="1325880" cy="205740"/>
          </a:xfrm>
          <a:prstGeom prst="rect">
            <a:avLst/>
          </a:prstGeom>
          <a:noFill/>
        </p:spPr>
        <p:txBody>
          <a:bodyPr wrap="square" lIns="0" tIns="0" rIns="0" bIns="0" anchor="ctr">
            <a:spAutoFit/>
          </a:bodyPr>
          <a:lstStyle/>
          <a:p>
            <a:pPr marL="0" indent="0" algn="ctr">
              <a:buNone/>
            </a:pPr>
            <a:r>
              <a:rPr sz="580" b="1" i="0">
                <a:solidFill>
                  <a:srgbClr val="C8102E"/>
                </a:solidFill>
              </a:rPr>
              <a:t>SU-05</a:t>
            </a:r>
          </a:p>
        </p:txBody>
      </p:sp>
      <p:sp>
        <p:nvSpPr>
          <p:cNvPr id="33" name="TextBox 32"/>
          <p:cNvSpPr txBox="1"/>
          <p:nvPr/>
        </p:nvSpPr>
        <p:spPr>
          <a:xfrm>
            <a:off x="6172200" y="1239012"/>
            <a:ext cx="1234440" cy="411480"/>
          </a:xfrm>
          <a:prstGeom prst="rect">
            <a:avLst/>
          </a:prstGeom>
          <a:noFill/>
        </p:spPr>
        <p:txBody>
          <a:bodyPr wrap="square" lIns="0" tIns="0" rIns="0" bIns="0" anchor="ctr">
            <a:spAutoFit/>
          </a:bodyPr>
          <a:lstStyle/>
          <a:p>
            <a:pPr marL="0" indent="0" algn="ctr">
              <a:buNone/>
            </a:pPr>
            <a:r>
              <a:rPr sz="650" b="1" i="0">
                <a:solidFill>
                  <a:srgbClr val="C8102E"/>
                </a:solidFill>
              </a:rPr>
              <a:t>Complete profile</a:t>
            </a:r>
          </a:p>
        </p:txBody>
      </p:sp>
      <p:cxnSp>
        <p:nvCxnSpPr>
          <p:cNvPr id="34" name="Connector 33"/>
          <p:cNvCxnSpPr/>
          <p:nvPr/>
        </p:nvCxnSpPr>
        <p:spPr>
          <a:xfrm>
            <a:off x="7452360" y="1348740"/>
            <a:ext cx="13716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7589520" y="1005840"/>
            <a:ext cx="1325880" cy="68580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TextBox 35"/>
          <p:cNvSpPr txBox="1"/>
          <p:nvPr/>
        </p:nvSpPr>
        <p:spPr>
          <a:xfrm>
            <a:off x="7589520" y="1074420"/>
            <a:ext cx="1325880" cy="205740"/>
          </a:xfrm>
          <a:prstGeom prst="rect">
            <a:avLst/>
          </a:prstGeom>
          <a:noFill/>
        </p:spPr>
        <p:txBody>
          <a:bodyPr wrap="square" lIns="0" tIns="0" rIns="0" bIns="0" anchor="ctr">
            <a:spAutoFit/>
          </a:bodyPr>
          <a:lstStyle/>
          <a:p>
            <a:pPr marL="0" indent="0" algn="ctr">
              <a:buNone/>
            </a:pPr>
            <a:r>
              <a:rPr sz="580" b="1" i="0">
                <a:solidFill>
                  <a:srgbClr val="1E2F6E"/>
                </a:solidFill>
              </a:rPr>
              <a:t>SU-06</a:t>
            </a:r>
          </a:p>
        </p:txBody>
      </p:sp>
      <p:sp>
        <p:nvSpPr>
          <p:cNvPr id="37" name="TextBox 36"/>
          <p:cNvSpPr txBox="1"/>
          <p:nvPr/>
        </p:nvSpPr>
        <p:spPr>
          <a:xfrm>
            <a:off x="7635240" y="1239012"/>
            <a:ext cx="1234440" cy="411480"/>
          </a:xfrm>
          <a:prstGeom prst="rect">
            <a:avLst/>
          </a:prstGeom>
          <a:noFill/>
        </p:spPr>
        <p:txBody>
          <a:bodyPr wrap="square" lIns="0" tIns="0" rIns="0" bIns="0" anchor="ctr">
            <a:spAutoFit/>
          </a:bodyPr>
          <a:lstStyle/>
          <a:p>
            <a:pPr marL="0" indent="0" algn="ctr">
              <a:buNone/>
            </a:pPr>
            <a:r>
              <a:rPr sz="650" b="1" i="0">
                <a:solidFill>
                  <a:srgbClr val="1E2F6E"/>
                </a:solidFill>
              </a:rPr>
              <a:t>Submit — account</a:t>
            </a:r>
          </a:p>
          <a:p>
            <a:pPr marL="0" indent="0" algn="ctr">
              <a:buNone/>
            </a:pPr>
            <a:r>
              <a:rPr sz="650" b="1" i="0">
                <a:solidFill>
                  <a:srgbClr val="1E2F6E"/>
                </a:solidFill>
              </a:rPr>
              <a:t>created, auto login</a:t>
            </a:r>
          </a:p>
        </p:txBody>
      </p:sp>
      <p:cxnSp>
        <p:nvCxnSpPr>
          <p:cNvPr id="38" name="Connector 37"/>
          <p:cNvCxnSpPr/>
          <p:nvPr/>
        </p:nvCxnSpPr>
        <p:spPr>
          <a:xfrm>
            <a:off x="8915400" y="1348740"/>
            <a:ext cx="13716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9052560" y="1005840"/>
            <a:ext cx="1325880" cy="68580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TextBox 39"/>
          <p:cNvSpPr txBox="1"/>
          <p:nvPr/>
        </p:nvSpPr>
        <p:spPr>
          <a:xfrm>
            <a:off x="9052560" y="1074420"/>
            <a:ext cx="1325880" cy="205740"/>
          </a:xfrm>
          <a:prstGeom prst="rect">
            <a:avLst/>
          </a:prstGeom>
          <a:noFill/>
        </p:spPr>
        <p:txBody>
          <a:bodyPr wrap="square" lIns="0" tIns="0" rIns="0" bIns="0" anchor="ctr">
            <a:spAutoFit/>
          </a:bodyPr>
          <a:lstStyle/>
          <a:p>
            <a:pPr marL="0" indent="0" algn="ctr">
              <a:buNone/>
            </a:pPr>
            <a:r>
              <a:rPr sz="580" b="1" i="0">
                <a:solidFill>
                  <a:srgbClr val="1E2F6E"/>
                </a:solidFill>
              </a:rPr>
              <a:t>SU-07</a:t>
            </a:r>
          </a:p>
        </p:txBody>
      </p:sp>
      <p:sp>
        <p:nvSpPr>
          <p:cNvPr id="41" name="TextBox 40"/>
          <p:cNvSpPr txBox="1"/>
          <p:nvPr/>
        </p:nvSpPr>
        <p:spPr>
          <a:xfrm>
            <a:off x="9098280" y="1239012"/>
            <a:ext cx="1234440" cy="411480"/>
          </a:xfrm>
          <a:prstGeom prst="rect">
            <a:avLst/>
          </a:prstGeom>
          <a:noFill/>
        </p:spPr>
        <p:txBody>
          <a:bodyPr wrap="square" lIns="0" tIns="0" rIns="0" bIns="0" anchor="ctr">
            <a:spAutoFit/>
          </a:bodyPr>
          <a:lstStyle/>
          <a:p>
            <a:pPr marL="0" indent="0" algn="ctr">
              <a:buNone/>
            </a:pPr>
            <a:r>
              <a:rPr sz="650" b="1" i="0">
                <a:solidFill>
                  <a:srgbClr val="1E2F6E"/>
                </a:solidFill>
              </a:rPr>
              <a:t>Offer Face ID /</a:t>
            </a:r>
          </a:p>
          <a:p>
            <a:pPr marL="0" indent="0" algn="ctr">
              <a:buNone/>
            </a:pPr>
            <a:r>
              <a:rPr sz="650" b="1" i="0">
                <a:solidFill>
                  <a:srgbClr val="1E2F6E"/>
                </a:solidFill>
              </a:rPr>
              <a:t>fingerprint (optional)</a:t>
            </a:r>
          </a:p>
        </p:txBody>
      </p:sp>
      <p:cxnSp>
        <p:nvCxnSpPr>
          <p:cNvPr id="42" name="Connector 41"/>
          <p:cNvCxnSpPr/>
          <p:nvPr/>
        </p:nvCxnSpPr>
        <p:spPr>
          <a:xfrm>
            <a:off x="10378440" y="1348740"/>
            <a:ext cx="13716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10515600" y="1005840"/>
            <a:ext cx="1325880" cy="685800"/>
          </a:xfrm>
          <a:prstGeom prst="roundRect">
            <a:avLst>
              <a:gd name="adj" fmla="val 14000"/>
            </a:avLst>
          </a:prstGeom>
          <a:solidFill>
            <a:srgbClr val="E8F5EE"/>
          </a:solidFill>
          <a:ln w="9525">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4" name="TextBox 43"/>
          <p:cNvSpPr txBox="1"/>
          <p:nvPr/>
        </p:nvSpPr>
        <p:spPr>
          <a:xfrm>
            <a:off x="10515600" y="1074420"/>
            <a:ext cx="1325880" cy="205740"/>
          </a:xfrm>
          <a:prstGeom prst="rect">
            <a:avLst/>
          </a:prstGeom>
          <a:noFill/>
        </p:spPr>
        <p:txBody>
          <a:bodyPr wrap="square" lIns="0" tIns="0" rIns="0" bIns="0" anchor="ctr">
            <a:spAutoFit/>
          </a:bodyPr>
          <a:lstStyle/>
          <a:p>
            <a:pPr marL="0" indent="0" algn="ctr">
              <a:buNone/>
            </a:pPr>
            <a:r>
              <a:rPr sz="580" b="1" i="0">
                <a:solidFill>
                  <a:srgbClr val="14603A"/>
                </a:solidFill>
              </a:rPr>
              <a:t>SU-08</a:t>
            </a:r>
          </a:p>
        </p:txBody>
      </p:sp>
      <p:sp>
        <p:nvSpPr>
          <p:cNvPr id="45" name="TextBox 44"/>
          <p:cNvSpPr txBox="1"/>
          <p:nvPr/>
        </p:nvSpPr>
        <p:spPr>
          <a:xfrm>
            <a:off x="10561320" y="1239012"/>
            <a:ext cx="1234440" cy="411480"/>
          </a:xfrm>
          <a:prstGeom prst="rect">
            <a:avLst/>
          </a:prstGeom>
          <a:noFill/>
        </p:spPr>
        <p:txBody>
          <a:bodyPr wrap="square" lIns="0" tIns="0" rIns="0" bIns="0" anchor="ctr">
            <a:spAutoFit/>
          </a:bodyPr>
          <a:lstStyle/>
          <a:p>
            <a:pPr marL="0" indent="0" algn="ctr">
              <a:buNone/>
            </a:pPr>
            <a:r>
              <a:rPr sz="650" b="1" i="0">
                <a:solidFill>
                  <a:srgbClr val="14603A"/>
                </a:solidFill>
              </a:rPr>
              <a:t>Resume the original</a:t>
            </a:r>
          </a:p>
          <a:p>
            <a:pPr marL="0" indent="0" algn="ctr">
              <a:buNone/>
            </a:pPr>
            <a:r>
              <a:rPr sz="650" b="1" i="0">
                <a:solidFill>
                  <a:srgbClr val="14603A"/>
                </a:solidFill>
              </a:rPr>
              <a:t>action</a:t>
            </a:r>
          </a:p>
        </p:txBody>
      </p:sp>
      <p:sp>
        <p:nvSpPr>
          <p:cNvPr id="46" name="Rounded Rectangle 45"/>
          <p:cNvSpPr/>
          <p:nvPr/>
        </p:nvSpPr>
        <p:spPr>
          <a:xfrm>
            <a:off x="274320" y="1965960"/>
            <a:ext cx="4114800" cy="411480"/>
          </a:xfrm>
          <a:prstGeom prst="roundRect">
            <a:avLst>
              <a:gd name="adj" fmla="val 14000"/>
            </a:avLst>
          </a:prstGeom>
          <a:solidFill>
            <a:srgbClr val="FDECEE"/>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TextBox 46"/>
          <p:cNvSpPr txBox="1"/>
          <p:nvPr/>
        </p:nvSpPr>
        <p:spPr>
          <a:xfrm>
            <a:off x="320040" y="1965960"/>
            <a:ext cx="4023360" cy="411480"/>
          </a:xfrm>
          <a:prstGeom prst="rect">
            <a:avLst/>
          </a:prstGeom>
          <a:noFill/>
        </p:spPr>
        <p:txBody>
          <a:bodyPr wrap="square" lIns="0" tIns="0" rIns="0" bIns="0" anchor="ctr">
            <a:spAutoFit/>
          </a:bodyPr>
          <a:lstStyle/>
          <a:p>
            <a:pPr marL="0" indent="0" algn="ctr">
              <a:buNone/>
            </a:pPr>
            <a:r>
              <a:rPr sz="680" b="0" i="0">
                <a:solidFill>
                  <a:srgbClr val="C8102E"/>
                </a:solidFill>
              </a:rPr>
              <a:t>Deviation — number already registered: error message, number retained, CTA switches to Login (SU-09)</a:t>
            </a:r>
          </a:p>
        </p:txBody>
      </p:sp>
      <p:cxnSp>
        <p:nvCxnSpPr>
          <p:cNvPr id="48" name="Connector 47"/>
          <p:cNvCxnSpPr/>
          <p:nvPr/>
        </p:nvCxnSpPr>
        <p:spPr>
          <a:xfrm>
            <a:off x="937260" y="1691640"/>
            <a:ext cx="0" cy="274320"/>
          </a:xfrm>
          <a:prstGeom prst="line">
            <a:avLst/>
          </a:prstGeom>
          <a:ln w="9525">
            <a:solidFill>
              <a:srgbClr val="C8102E"/>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274320" y="256032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TextBox 49"/>
          <p:cNvSpPr txBox="1"/>
          <p:nvPr/>
        </p:nvSpPr>
        <p:spPr>
          <a:xfrm>
            <a:off x="402336" y="2560320"/>
            <a:ext cx="5760720" cy="256032"/>
          </a:xfrm>
          <a:prstGeom prst="rect">
            <a:avLst/>
          </a:prstGeom>
          <a:noFill/>
        </p:spPr>
        <p:txBody>
          <a:bodyPr wrap="square" lIns="0" tIns="0" rIns="0" bIns="0" anchor="ctr">
            <a:spAutoFit/>
          </a:bodyPr>
          <a:lstStyle/>
          <a:p>
            <a:pPr marL="0" indent="0" algn="l">
              <a:buNone/>
            </a:pPr>
            <a:r>
              <a:rPr sz="1000" b="1" i="0">
                <a:solidFill>
                  <a:srgbClr val="1E2F6E"/>
                </a:solidFill>
              </a:rPr>
              <a:t>Profile form  (step 5)</a:t>
            </a:r>
          </a:p>
        </p:txBody>
      </p:sp>
      <p:graphicFrame>
        <p:nvGraphicFramePr>
          <p:cNvPr id="51" name="Table 50"/>
          <p:cNvGraphicFramePr>
            <a:graphicFrameLocks noGrp="1"/>
          </p:cNvGraphicFramePr>
          <p:nvPr>
            <p:extLst>
              <p:ext uri="{D42A27DB-BD31-4B8C-83A1-F6EECF244321}">
                <p14:modId xmlns:p14="http://schemas.microsoft.com/office/powerpoint/2010/main" val="1313703793"/>
              </p:ext>
            </p:extLst>
          </p:nvPr>
        </p:nvGraphicFramePr>
        <p:xfrm>
          <a:off x="274320" y="2834640"/>
          <a:ext cx="5760720" cy="2194248"/>
        </p:xfrm>
        <a:graphic>
          <a:graphicData uri="http://schemas.openxmlformats.org/drawingml/2006/table">
            <a:tbl>
              <a:tblPr/>
              <a:tblGrid>
                <a:gridCol w="201168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210000">
                <a:tc>
                  <a:txBody>
                    <a:bodyPr/>
                    <a:lstStyle/>
                    <a:p>
                      <a:pPr marL="0" indent="0" algn="ctr">
                        <a:buNone/>
                      </a:pPr>
                      <a:r>
                        <a:rPr sz="700" b="1" i="0">
                          <a:solidFill>
                            <a:srgbClr val="FFFFFF"/>
                          </a:solidFill>
                        </a:rPr>
                        <a:t>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Required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83464">
                <a:tc>
                  <a:txBody>
                    <a:bodyPr/>
                    <a:lstStyle/>
                    <a:p>
                      <a:pPr marL="0" indent="0" algn="l">
                        <a:buNone/>
                      </a:pPr>
                      <a:r>
                        <a:rPr sz="700" b="0" i="0">
                          <a:solidFill>
                            <a:srgbClr val="222222"/>
                          </a:solidFill>
                        </a:rPr>
                        <a:t>Full name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Yes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Free text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83464">
                <a:tc>
                  <a:txBody>
                    <a:bodyPr/>
                    <a:lstStyle/>
                    <a:p>
                      <a:pPr marL="0" indent="0" algn="l">
                        <a:buNone/>
                      </a:pPr>
                      <a:r>
                        <a:rPr sz="700" b="0" i="0">
                          <a:solidFill>
                            <a:srgbClr val="222222"/>
                          </a:solidFill>
                        </a:rPr>
                        <a:t>Gender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Yes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lang="en-US" sz="700" b="0" i="0">
                          <a:solidFill>
                            <a:srgbClr val="222222"/>
                          </a:solidFill>
                        </a:rPr>
                        <a:t>Options include Female (Default) or Male</a:t>
                      </a:r>
                      <a:endParaRPr sz="700" b="0" i="0">
                        <a:solidFill>
                          <a:srgbClr val="222222"/>
                        </a:solidFill>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83464">
                <a:tc>
                  <a:txBody>
                    <a:bodyPr/>
                    <a:lstStyle/>
                    <a:p>
                      <a:pPr marL="0" indent="0" algn="l">
                        <a:buNone/>
                      </a:pPr>
                      <a:r>
                        <a:rPr sz="700" b="0" i="0">
                          <a:solidFill>
                            <a:srgbClr val="222222"/>
                          </a:solidFill>
                        </a:rPr>
                        <a:t>Date of birth</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Yes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Used for age-based promotion eligibility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83464">
                <a:tc>
                  <a:txBody>
                    <a:bodyPr/>
                    <a:lstStyle/>
                    <a:p>
                      <a:pPr marL="0" indent="0" algn="l">
                        <a:buNone/>
                      </a:pPr>
                      <a:r>
                        <a:rPr sz="700" b="0" i="0">
                          <a:solidFill>
                            <a:srgbClr val="222222"/>
                          </a:solidFill>
                        </a:rPr>
                        <a:t>Nationality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Yes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Default Vietnam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283464">
                <a:tc>
                  <a:txBody>
                    <a:bodyPr/>
                    <a:lstStyle/>
                    <a:p>
                      <a:pPr marL="0" indent="0" algn="l">
                        <a:buNone/>
                      </a:pPr>
                      <a:r>
                        <a:rPr sz="700" b="0" i="0">
                          <a:solidFill>
                            <a:srgbClr val="222222"/>
                          </a:solidFill>
                        </a:rPr>
                        <a:t>Registered LOTTE MART store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Yes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Pre-filled with the store selected at Onboarding; changeable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283464">
                <a:tc>
                  <a:txBody>
                    <a:bodyPr/>
                    <a:lstStyle/>
                    <a:p>
                      <a:pPr marL="0" indent="0" algn="l">
                        <a:buNone/>
                      </a:pPr>
                      <a:r>
                        <a:rPr sz="700" b="0" i="0">
                          <a:solidFill>
                            <a:srgbClr val="222222"/>
                          </a:solidFill>
                        </a:rPr>
                        <a:t>Terms of use &amp; Privacy Policy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Yes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Checkbox — mandatory, blocks submission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283464">
                <a:tc>
                  <a:txBody>
                    <a:bodyPr/>
                    <a:lstStyle/>
                    <a:p>
                      <a:pPr marL="0" indent="0" algn="l">
                        <a:buNone/>
                      </a:pPr>
                      <a:r>
                        <a:rPr sz="700" b="0" i="0">
                          <a:solidFill>
                            <a:srgbClr val="222222"/>
                          </a:solidFill>
                        </a:rPr>
                        <a:t>Marketing notifications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Checkbox — optional, unchecked by default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52" name="Rectangle 51"/>
          <p:cNvSpPr/>
          <p:nvPr/>
        </p:nvSpPr>
        <p:spPr>
          <a:xfrm>
            <a:off x="6217920" y="256032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TextBox 52"/>
          <p:cNvSpPr txBox="1"/>
          <p:nvPr/>
        </p:nvSpPr>
        <p:spPr>
          <a:xfrm>
            <a:off x="6345936" y="2560320"/>
            <a:ext cx="5669280" cy="256032"/>
          </a:xfrm>
          <a:prstGeom prst="rect">
            <a:avLst/>
          </a:prstGeom>
          <a:noFill/>
        </p:spPr>
        <p:txBody>
          <a:bodyPr wrap="square" lIns="0" tIns="0" rIns="0" bIns="0" anchor="ctr">
            <a:spAutoFit/>
          </a:bodyPr>
          <a:lstStyle/>
          <a:p>
            <a:pPr marL="0" indent="0" algn="l">
              <a:buNone/>
            </a:pPr>
            <a:r>
              <a:rPr sz="1000" b="1" i="0">
                <a:solidFill>
                  <a:srgbClr val="1E2F6E"/>
                </a:solidFill>
              </a:rPr>
              <a:t>OTP &amp; PIN rules</a:t>
            </a:r>
          </a:p>
        </p:txBody>
      </p:sp>
      <p:graphicFrame>
        <p:nvGraphicFramePr>
          <p:cNvPr id="54" name="Table 53"/>
          <p:cNvGraphicFramePr>
            <a:graphicFrameLocks noGrp="1"/>
          </p:cNvGraphicFramePr>
          <p:nvPr>
            <p:extLst>
              <p:ext uri="{D42A27DB-BD31-4B8C-83A1-F6EECF244321}">
                <p14:modId xmlns:p14="http://schemas.microsoft.com/office/powerpoint/2010/main" val="592789525"/>
              </p:ext>
            </p:extLst>
          </p:nvPr>
        </p:nvGraphicFramePr>
        <p:xfrm>
          <a:off x="6217920" y="2834640"/>
          <a:ext cx="5669280" cy="2514288"/>
        </p:xfrm>
        <a:graphic>
          <a:graphicData uri="http://schemas.openxmlformats.org/drawingml/2006/table">
            <a:tbl>
              <a:tblPr/>
              <a:tblGrid>
                <a:gridCol w="73152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tblGrid>
              <a:tr h="210000">
                <a:tc>
                  <a:txBody>
                    <a:bodyPr/>
                    <a:lstStyle/>
                    <a:p>
                      <a:pPr marL="0" indent="0" algn="ctr">
                        <a:buNone/>
                      </a:pPr>
                      <a:r>
                        <a:rPr sz="700" b="1" i="0">
                          <a:solidFill>
                            <a:srgbClr val="FFFFFF"/>
                          </a:solidFill>
                        </a:rPr>
                        <a:t>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329184">
                <a:tc>
                  <a:txBody>
                    <a:bodyPr/>
                    <a:lstStyle/>
                    <a:p>
                      <a:pPr marL="0" indent="0" algn="ctr">
                        <a:buNone/>
                      </a:pPr>
                      <a:r>
                        <a:rPr sz="700" b="0" i="0">
                          <a:solidFill>
                            <a:srgbClr val="222222"/>
                          </a:solidFill>
                        </a:rPr>
                        <a:t>BRL-13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err="1">
                          <a:solidFill>
                            <a:srgbClr val="222222"/>
                          </a:solidFill>
                        </a:rPr>
                        <a:t>Zalo</a:t>
                      </a:r>
                      <a:r>
                        <a:rPr sz="700" b="0" i="0">
                          <a:solidFill>
                            <a:srgbClr val="222222"/>
                          </a:solidFill>
                        </a:rPr>
                        <a:t> is the default OTP channel — lower cost per message. SMS is the alternative, chosen by the customer.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329184">
                <a:tc>
                  <a:txBody>
                    <a:bodyPr/>
                    <a:lstStyle/>
                    <a:p>
                      <a:pPr marL="0" indent="0" algn="ctr">
                        <a:buNone/>
                      </a:pPr>
                      <a:r>
                        <a:rPr sz="700" b="0" i="0">
                          <a:solidFill>
                            <a:srgbClr val="222222"/>
                          </a:solidFill>
                        </a:rPr>
                        <a:t>BRL-14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No automatic channel fallback. If </a:t>
                      </a:r>
                      <a:r>
                        <a:rPr sz="700" b="0" i="0" err="1">
                          <a:solidFill>
                            <a:srgbClr val="222222"/>
                          </a:solidFill>
                        </a:rPr>
                        <a:t>Zalo</a:t>
                      </a:r>
                      <a:r>
                        <a:rPr sz="700" b="0" i="0">
                          <a:solidFill>
                            <a:srgbClr val="222222"/>
                          </a:solidFill>
                        </a:rPr>
                        <a:t> delivery fails, the customer uses “Resend”; after the countdown expires the channel can be switched manually (OQ-08).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329184">
                <a:tc>
                  <a:txBody>
                    <a:bodyPr/>
                    <a:lstStyle/>
                    <a:p>
                      <a:pPr marL="0" indent="0" algn="ctr">
                        <a:buNone/>
                      </a:pPr>
                      <a:r>
                        <a:rPr sz="700" b="0" i="0">
                          <a:solidFill>
                            <a:srgbClr val="222222"/>
                          </a:solidFill>
                        </a:rPr>
                        <a:t>BRL-15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“Resend” is disabled for a countdown period to control cost and abuse.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329184">
                <a:tc>
                  <a:txBody>
                    <a:bodyPr/>
                    <a:lstStyle/>
                    <a:p>
                      <a:pPr marL="0" indent="0" algn="ctr">
                        <a:buNone/>
                      </a:pPr>
                      <a:r>
                        <a:rPr sz="700" b="0" i="0">
                          <a:solidFill>
                            <a:srgbClr val="222222"/>
                          </a:solidFill>
                        </a:rPr>
                        <a:t>BRL-16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PIN is 6 digits, entered twice at creation. It becomes the primary re-authentication method.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329184">
                <a:tc>
                  <a:txBody>
                    <a:bodyPr/>
                    <a:lstStyle/>
                    <a:p>
                      <a:pPr marL="0" indent="0" algn="ctr">
                        <a:buNone/>
                      </a:pPr>
                      <a:r>
                        <a:rPr sz="700" b="0" i="0">
                          <a:solidFill>
                            <a:srgbClr val="222222"/>
                          </a:solidFill>
                        </a:rPr>
                        <a:t>BRL-17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Forgotten PIN is reset through OTP re-verification.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329184">
                <a:tc>
                  <a:txBody>
                    <a:bodyPr/>
                    <a:lstStyle/>
                    <a:p>
                      <a:pPr marL="0" indent="0" algn="ctr">
                        <a:buNone/>
                      </a:pPr>
                      <a:r>
                        <a:rPr sz="700" b="0" i="0">
                          <a:solidFill>
                            <a:srgbClr val="222222"/>
                          </a:solidFill>
                        </a:rPr>
                        <a:t>NFR-01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OTP and PIN attempts are limited. Proposed: temporary lock after N wrong OTP entries, a cap on OTP requests, and PIN lock after N failures forcing OTP re-verification. Exact values TBC — Security / Dev (OQ-03).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329184">
                <a:tc>
                  <a:txBody>
                    <a:bodyPr/>
                    <a:lstStyle/>
                    <a:p>
                      <a:pPr marL="0" indent="0" algn="ctr">
                        <a:buNone/>
                      </a:pPr>
                      <a:r>
                        <a:rPr sz="700" b="0" i="0">
                          <a:solidFill>
                            <a:srgbClr val="222222"/>
                          </a:solidFill>
                        </a:rPr>
                        <a:t>NFR-02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One device holds one active biometric ticket at a time</a:t>
                      </a:r>
                      <a:r>
                        <a:rPr lang="en-US" sz="700" b="0" i="0">
                          <a:solidFill>
                            <a:srgbClr val="222222"/>
                          </a:solidFill>
                        </a:rPr>
                        <a:t>; overwriting between accounts must warn the customer explicitly (proposed, OQ-07, OQ-11).</a:t>
                      </a:r>
                      <a:endParaRPr sz="700" b="0" i="0">
                        <a:solidFill>
                          <a:srgbClr val="222222"/>
                        </a:solidFill>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55" name="Rectangle 54"/>
          <p:cNvSpPr/>
          <p:nvPr/>
        </p:nvSpPr>
        <p:spPr>
          <a:xfrm>
            <a:off x="274320" y="5257800"/>
            <a:ext cx="5760720" cy="594360"/>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6" name="TextBox 55"/>
          <p:cNvSpPr txBox="1"/>
          <p:nvPr/>
        </p:nvSpPr>
        <p:spPr>
          <a:xfrm>
            <a:off x="411480" y="5303520"/>
            <a:ext cx="5486400" cy="502920"/>
          </a:xfrm>
          <a:prstGeom prst="rect">
            <a:avLst/>
          </a:prstGeom>
          <a:noFill/>
        </p:spPr>
        <p:txBody>
          <a:bodyPr wrap="square" lIns="0" tIns="0" rIns="0" bIns="0" anchor="t">
            <a:spAutoFit/>
          </a:bodyPr>
          <a:lstStyle/>
          <a:p>
            <a:pPr marL="0" indent="0" algn="l">
              <a:buNone/>
            </a:pPr>
            <a:r>
              <a:rPr sz="750" b="0" i="0">
                <a:solidFill>
                  <a:srgbClr val="6B6800"/>
                </a:solidFill>
              </a:rPr>
              <a:t>Resume behaviour (SU-08): if signup was triggered from Add to Cart, the product is added automatically once the account exists. Any address the Guest created before signing up is synced to the new account and set active.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PF-06  ·  Login</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15</a:t>
            </a:r>
          </a:p>
        </p:txBody>
      </p:sp>
      <p:sp>
        <p:nvSpPr>
          <p:cNvPr id="9" name="Rectangle 8"/>
          <p:cNvSpPr/>
          <p:nvPr/>
        </p:nvSpPr>
        <p:spPr>
          <a:xfrm>
            <a:off x="274320" y="640080"/>
            <a:ext cx="2061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365760" y="640080"/>
            <a:ext cx="1924000" cy="246888"/>
          </a:xfrm>
          <a:prstGeom prst="rect">
            <a:avLst/>
          </a:prstGeom>
          <a:noFill/>
        </p:spPr>
        <p:txBody>
          <a:bodyPr wrap="square" lIns="0" tIns="0" rIns="0" bIns="0" anchor="ctr">
            <a:spAutoFit/>
          </a:bodyPr>
          <a:lstStyle/>
          <a:p>
            <a:pPr marL="0" indent="0" algn="l">
              <a:buNone/>
            </a:pPr>
            <a:r>
              <a:rPr sz="680" b="1" i="0">
                <a:solidFill>
                  <a:srgbClr val="1E2F6E"/>
                </a:solidFill>
              </a:rPr>
              <a:t>Trigger: </a:t>
            </a:r>
            <a:r>
              <a:rPr sz="680" b="0" i="0">
                <a:solidFill>
                  <a:srgbClr val="555555"/>
                </a:solidFill>
              </a:rPr>
              <a:t>“Existing customer — Sign in”</a:t>
            </a:r>
          </a:p>
        </p:txBody>
      </p:sp>
      <p:sp>
        <p:nvSpPr>
          <p:cNvPr id="11" name="Rectangle 10"/>
          <p:cNvSpPr/>
          <p:nvPr/>
        </p:nvSpPr>
        <p:spPr>
          <a:xfrm>
            <a:off x="2404060" y="640080"/>
            <a:ext cx="761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2495500" y="640080"/>
            <a:ext cx="624000" cy="246888"/>
          </a:xfrm>
          <a:prstGeom prst="rect">
            <a:avLst/>
          </a:prstGeom>
          <a:noFill/>
        </p:spPr>
        <p:txBody>
          <a:bodyPr wrap="square" lIns="0" tIns="0" rIns="0" bIns="0" anchor="ctr">
            <a:spAutoFit/>
          </a:bodyPr>
          <a:lstStyle/>
          <a:p>
            <a:pPr marL="0" indent="0" algn="l">
              <a:buNone/>
            </a:pPr>
            <a:r>
              <a:rPr sz="680" b="1" i="0">
                <a:solidFill>
                  <a:srgbClr val="1E2F6E"/>
                </a:solidFill>
              </a:rPr>
              <a:t>Actor: </a:t>
            </a:r>
            <a:r>
              <a:rPr sz="680" b="0" i="0">
                <a:solidFill>
                  <a:srgbClr val="555555"/>
                </a:solidFill>
              </a:rPr>
              <a:t>Member</a:t>
            </a:r>
          </a:p>
        </p:txBody>
      </p:sp>
      <p:sp>
        <p:nvSpPr>
          <p:cNvPr id="13" name="Rectangle 12"/>
          <p:cNvSpPr/>
          <p:nvPr/>
        </p:nvSpPr>
        <p:spPr>
          <a:xfrm>
            <a:off x="3233800" y="640080"/>
            <a:ext cx="2061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3325240" y="640080"/>
            <a:ext cx="1924000" cy="246888"/>
          </a:xfrm>
          <a:prstGeom prst="rect">
            <a:avLst/>
          </a:prstGeom>
          <a:noFill/>
        </p:spPr>
        <p:txBody>
          <a:bodyPr wrap="square" lIns="0" tIns="0" rIns="0" bIns="0" anchor="ctr">
            <a:spAutoFit/>
          </a:bodyPr>
          <a:lstStyle/>
          <a:p>
            <a:pPr marL="0" indent="0" algn="l">
              <a:buNone/>
            </a:pPr>
            <a:r>
              <a:rPr sz="680" b="1" i="0">
                <a:solidFill>
                  <a:srgbClr val="1E2F6E"/>
                </a:solidFill>
              </a:rPr>
              <a:t>Realises: </a:t>
            </a:r>
            <a:r>
              <a:rPr sz="680" b="0" i="0">
                <a:solidFill>
                  <a:srgbClr val="555555"/>
                </a:solidFill>
              </a:rPr>
              <a:t>LI-01 … LI-07 · BR-05, BR-11</a:t>
            </a:r>
          </a:p>
        </p:txBody>
      </p:sp>
      <p:sp>
        <p:nvSpPr>
          <p:cNvPr id="15" name="Rounded Rectangle 14"/>
          <p:cNvSpPr/>
          <p:nvPr/>
        </p:nvSpPr>
        <p:spPr>
          <a:xfrm>
            <a:off x="274320" y="1005840"/>
            <a:ext cx="1737360" cy="457200"/>
          </a:xfrm>
          <a:prstGeom prst="roundRect">
            <a:avLst>
              <a:gd name="adj" fmla="val 14000"/>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320040" y="1005840"/>
            <a:ext cx="1645920" cy="457200"/>
          </a:xfrm>
          <a:prstGeom prst="rect">
            <a:avLst/>
          </a:prstGeom>
          <a:noFill/>
        </p:spPr>
        <p:txBody>
          <a:bodyPr wrap="square" lIns="0" tIns="0" rIns="0" bIns="0" anchor="ctr">
            <a:spAutoFit/>
          </a:bodyPr>
          <a:lstStyle/>
          <a:p>
            <a:pPr marL="0" indent="0" algn="ctr">
              <a:buNone/>
            </a:pPr>
            <a:r>
              <a:rPr sz="750" b="1" i="0">
                <a:solidFill>
                  <a:srgbClr val="C8102E"/>
                </a:solidFill>
              </a:rPr>
              <a:t>Enter phone number</a:t>
            </a:r>
          </a:p>
        </p:txBody>
      </p:sp>
      <p:sp>
        <p:nvSpPr>
          <p:cNvPr id="17" name="Diamond 16"/>
          <p:cNvSpPr/>
          <p:nvPr/>
        </p:nvSpPr>
        <p:spPr>
          <a:xfrm>
            <a:off x="2286000" y="914400"/>
            <a:ext cx="1554480" cy="640080"/>
          </a:xfrm>
          <a:prstGeom prst="diamond">
            <a:avLst/>
          </a:prstGeom>
          <a:solidFill>
            <a:srgbClr val="FFF6E5"/>
          </a:solidFill>
          <a:ln w="9525">
            <a:solidFill>
              <a:srgbClr val="B26A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2488082" y="914400"/>
            <a:ext cx="1150315" cy="640080"/>
          </a:xfrm>
          <a:prstGeom prst="rect">
            <a:avLst/>
          </a:prstGeom>
          <a:noFill/>
        </p:spPr>
        <p:txBody>
          <a:bodyPr wrap="square" lIns="0" tIns="0" rIns="0" bIns="0" anchor="ctr">
            <a:spAutoFit/>
          </a:bodyPr>
          <a:lstStyle/>
          <a:p>
            <a:pPr marL="0" indent="0" algn="ctr">
              <a:buNone/>
            </a:pPr>
            <a:r>
              <a:rPr sz="620" b="1" i="0">
                <a:solidFill>
                  <a:srgbClr val="8A5A00"/>
                </a:solidFill>
              </a:rPr>
              <a:t>Account</a:t>
            </a:r>
          </a:p>
          <a:p>
            <a:pPr marL="0" indent="0" algn="ctr">
              <a:buNone/>
            </a:pPr>
            <a:r>
              <a:rPr sz="620" b="1" i="0">
                <a:solidFill>
                  <a:srgbClr val="8A5A00"/>
                </a:solidFill>
              </a:rPr>
              <a:t>exists?</a:t>
            </a:r>
          </a:p>
        </p:txBody>
      </p:sp>
      <p:cxnSp>
        <p:nvCxnSpPr>
          <p:cNvPr id="19" name="Connector 18"/>
          <p:cNvCxnSpPr/>
          <p:nvPr/>
        </p:nvCxnSpPr>
        <p:spPr>
          <a:xfrm>
            <a:off x="2011680" y="1234440"/>
            <a:ext cx="27432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114800" y="1005840"/>
            <a:ext cx="2560320" cy="457200"/>
          </a:xfrm>
          <a:prstGeom prst="roundRect">
            <a:avLst>
              <a:gd name="adj" fmla="val 14000"/>
            </a:avLst>
          </a:prstGeom>
          <a:solidFill>
            <a:srgbClr val="FDECEE"/>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1" name="TextBox 20"/>
          <p:cNvSpPr txBox="1"/>
          <p:nvPr/>
        </p:nvSpPr>
        <p:spPr>
          <a:xfrm>
            <a:off x="4160520" y="1005840"/>
            <a:ext cx="2468880" cy="457200"/>
          </a:xfrm>
          <a:prstGeom prst="rect">
            <a:avLst/>
          </a:prstGeom>
          <a:noFill/>
        </p:spPr>
        <p:txBody>
          <a:bodyPr wrap="square" lIns="0" tIns="0" rIns="0" bIns="0" anchor="ctr">
            <a:spAutoFit/>
          </a:bodyPr>
          <a:lstStyle/>
          <a:p>
            <a:pPr marL="0" indent="0" algn="ctr">
              <a:buNone/>
            </a:pPr>
            <a:r>
              <a:rPr sz="680" b="1" i="0">
                <a:solidFill>
                  <a:srgbClr val="C8102E"/>
                </a:solidFill>
              </a:rPr>
              <a:t>Error “Number not registered”,</a:t>
            </a:r>
          </a:p>
          <a:p>
            <a:pPr marL="0" indent="0" algn="ctr">
              <a:buNone/>
            </a:pPr>
            <a:r>
              <a:rPr sz="680" b="1" i="0">
                <a:solidFill>
                  <a:srgbClr val="C8102E"/>
                </a:solidFill>
              </a:rPr>
              <a:t>number kept, CTA → Signup</a:t>
            </a:r>
          </a:p>
        </p:txBody>
      </p:sp>
      <p:cxnSp>
        <p:nvCxnSpPr>
          <p:cNvPr id="22" name="Connector 21"/>
          <p:cNvCxnSpPr/>
          <p:nvPr/>
        </p:nvCxnSpPr>
        <p:spPr>
          <a:xfrm>
            <a:off x="3840480" y="1234440"/>
            <a:ext cx="27432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794760" y="1060000"/>
            <a:ext cx="420000" cy="140000"/>
          </a:xfrm>
          <a:prstGeom prst="rect">
            <a:avLst/>
          </a:prstGeom>
          <a:noFill/>
        </p:spPr>
        <p:txBody>
          <a:bodyPr wrap="square" lIns="0" tIns="0" rIns="0" bIns="0" anchor="ctr">
            <a:spAutoFit/>
          </a:bodyPr>
          <a:lstStyle/>
          <a:p>
            <a:pPr marL="0" indent="0" algn="ctr">
              <a:buNone/>
            </a:pPr>
            <a:r>
              <a:rPr sz="560" b="1" i="0">
                <a:solidFill>
                  <a:srgbClr val="555555"/>
                </a:solidFill>
              </a:rPr>
              <a:t>No</a:t>
            </a:r>
          </a:p>
        </p:txBody>
      </p:sp>
      <p:sp>
        <p:nvSpPr>
          <p:cNvPr id="24" name="TextBox 23"/>
          <p:cNvSpPr txBox="1"/>
          <p:nvPr/>
        </p:nvSpPr>
        <p:spPr>
          <a:xfrm>
            <a:off x="274320" y="1783080"/>
            <a:ext cx="2011680" cy="210000"/>
          </a:xfrm>
          <a:prstGeom prst="rect">
            <a:avLst/>
          </a:prstGeom>
          <a:noFill/>
        </p:spPr>
        <p:txBody>
          <a:bodyPr wrap="square" lIns="0" tIns="0" rIns="0" bIns="0" anchor="ctr">
            <a:spAutoFit/>
          </a:bodyPr>
          <a:lstStyle/>
          <a:p>
            <a:pPr marL="0" indent="0" algn="l">
              <a:buNone/>
            </a:pPr>
            <a:r>
              <a:rPr sz="750" b="1" i="0">
                <a:solidFill>
                  <a:srgbClr val="1E2F6E"/>
                </a:solidFill>
              </a:rPr>
              <a:t>Yes — authenticate in priority order</a:t>
            </a:r>
          </a:p>
        </p:txBody>
      </p:sp>
      <p:sp>
        <p:nvSpPr>
          <p:cNvPr id="25" name="Rounded Rectangle 24"/>
          <p:cNvSpPr/>
          <p:nvPr/>
        </p:nvSpPr>
        <p:spPr>
          <a:xfrm>
            <a:off x="274320" y="2011680"/>
            <a:ext cx="5486400" cy="457200"/>
          </a:xfrm>
          <a:prstGeom prst="roundRect">
            <a:avLst>
              <a:gd name="adj" fmla="val 10000"/>
            </a:avLst>
          </a:prstGeom>
          <a:solidFill>
            <a:srgbClr val="E8F5EE"/>
          </a:solidFill>
          <a:ln w="9525">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6" name="Rectangle 25"/>
          <p:cNvSpPr/>
          <p:nvPr/>
        </p:nvSpPr>
        <p:spPr>
          <a:xfrm>
            <a:off x="274320" y="2011680"/>
            <a:ext cx="274320" cy="457200"/>
          </a:xfrm>
          <a:prstGeom prst="rect">
            <a:avLst/>
          </a:prstGeom>
          <a:solidFill>
            <a:srgbClr val="1B7F4B"/>
          </a:solidFill>
          <a:ln w="1270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7" name="TextBox 26"/>
          <p:cNvSpPr txBox="1"/>
          <p:nvPr/>
        </p:nvSpPr>
        <p:spPr>
          <a:xfrm>
            <a:off x="274320" y="2011680"/>
            <a:ext cx="274320" cy="457200"/>
          </a:xfrm>
          <a:prstGeom prst="rect">
            <a:avLst/>
          </a:prstGeom>
          <a:noFill/>
        </p:spPr>
        <p:txBody>
          <a:bodyPr wrap="square" lIns="0" tIns="0" rIns="0" bIns="0" anchor="ctr">
            <a:spAutoFit/>
          </a:bodyPr>
          <a:lstStyle/>
          <a:p>
            <a:pPr marL="0" indent="0" algn="ctr">
              <a:buNone/>
            </a:pPr>
            <a:r>
              <a:rPr sz="900" b="1" i="0">
                <a:solidFill>
                  <a:srgbClr val="FFFFFF"/>
                </a:solidFill>
              </a:rPr>
              <a:t>a</a:t>
            </a:r>
          </a:p>
        </p:txBody>
      </p:sp>
      <p:sp>
        <p:nvSpPr>
          <p:cNvPr id="28" name="TextBox 27"/>
          <p:cNvSpPr txBox="1"/>
          <p:nvPr/>
        </p:nvSpPr>
        <p:spPr>
          <a:xfrm>
            <a:off x="640080" y="2057400"/>
            <a:ext cx="5029200" cy="182880"/>
          </a:xfrm>
          <a:prstGeom prst="rect">
            <a:avLst/>
          </a:prstGeom>
          <a:noFill/>
        </p:spPr>
        <p:txBody>
          <a:bodyPr wrap="square" lIns="0" tIns="0" rIns="0" bIns="0" anchor="ctr">
            <a:spAutoFit/>
          </a:bodyPr>
          <a:lstStyle/>
          <a:p>
            <a:pPr marL="0" indent="0" algn="l">
              <a:buNone/>
            </a:pPr>
            <a:r>
              <a:rPr sz="800" b="1" i="0">
                <a:solidFill>
                  <a:srgbClr val="14603A"/>
                </a:solidFill>
              </a:rPr>
              <a:t>Face ID / fingerprint</a:t>
            </a:r>
          </a:p>
        </p:txBody>
      </p:sp>
      <p:sp>
        <p:nvSpPr>
          <p:cNvPr id="29" name="TextBox 28"/>
          <p:cNvSpPr txBox="1"/>
          <p:nvPr/>
        </p:nvSpPr>
        <p:spPr>
          <a:xfrm>
            <a:off x="640080" y="2240280"/>
            <a:ext cx="5029200" cy="182880"/>
          </a:xfrm>
          <a:prstGeom prst="rect">
            <a:avLst/>
          </a:prstGeom>
          <a:noFill/>
        </p:spPr>
        <p:txBody>
          <a:bodyPr wrap="square" lIns="0" tIns="0" rIns="0" bIns="0" anchor="ctr">
            <a:spAutoFit/>
          </a:bodyPr>
          <a:lstStyle/>
          <a:p>
            <a:pPr marL="0" indent="0" algn="l">
              <a:buNone/>
            </a:pPr>
            <a:r>
              <a:rPr sz="680" b="0" i="0">
                <a:solidFill>
                  <a:srgbClr val="555555"/>
                </a:solidFill>
              </a:rPr>
              <a:t>Used automatically when biometrics are enabled on the device.</a:t>
            </a:r>
          </a:p>
        </p:txBody>
      </p:sp>
      <p:cxnSp>
        <p:nvCxnSpPr>
          <p:cNvPr id="30" name="Connector 29"/>
          <p:cNvCxnSpPr/>
          <p:nvPr/>
        </p:nvCxnSpPr>
        <p:spPr>
          <a:xfrm>
            <a:off x="3017520" y="2468880"/>
            <a:ext cx="0" cy="9144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274320" y="2560320"/>
            <a:ext cx="5486400" cy="457200"/>
          </a:xfrm>
          <a:prstGeom prst="roundRect">
            <a:avLst>
              <a:gd name="adj" fmla="val 10000"/>
            </a:avLst>
          </a:prstGeom>
          <a:solidFill>
            <a:srgbClr val="FFFFFF"/>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Rectangle 31"/>
          <p:cNvSpPr/>
          <p:nvPr/>
        </p:nvSpPr>
        <p:spPr>
          <a:xfrm>
            <a:off x="274320" y="2560320"/>
            <a:ext cx="274320" cy="457200"/>
          </a:xfrm>
          <a:prstGeom prst="rect">
            <a:avLst/>
          </a:prstGeom>
          <a:solidFill>
            <a:srgbClr val="9FA9C6"/>
          </a:solidFill>
          <a:ln w="1270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3" name="TextBox 32"/>
          <p:cNvSpPr txBox="1"/>
          <p:nvPr/>
        </p:nvSpPr>
        <p:spPr>
          <a:xfrm>
            <a:off x="274320" y="2560320"/>
            <a:ext cx="274320" cy="457200"/>
          </a:xfrm>
          <a:prstGeom prst="rect">
            <a:avLst/>
          </a:prstGeom>
          <a:noFill/>
        </p:spPr>
        <p:txBody>
          <a:bodyPr wrap="square" lIns="0" tIns="0" rIns="0" bIns="0" anchor="ctr">
            <a:spAutoFit/>
          </a:bodyPr>
          <a:lstStyle/>
          <a:p>
            <a:pPr marL="0" indent="0" algn="ctr">
              <a:buNone/>
            </a:pPr>
            <a:r>
              <a:rPr sz="900" b="1" i="0">
                <a:solidFill>
                  <a:srgbClr val="FFFFFF"/>
                </a:solidFill>
              </a:rPr>
              <a:t>b</a:t>
            </a:r>
          </a:p>
        </p:txBody>
      </p:sp>
      <p:sp>
        <p:nvSpPr>
          <p:cNvPr id="34" name="TextBox 33"/>
          <p:cNvSpPr txBox="1"/>
          <p:nvPr/>
        </p:nvSpPr>
        <p:spPr>
          <a:xfrm>
            <a:off x="640080" y="2606040"/>
            <a:ext cx="5029200" cy="182880"/>
          </a:xfrm>
          <a:prstGeom prst="rect">
            <a:avLst/>
          </a:prstGeom>
          <a:noFill/>
        </p:spPr>
        <p:txBody>
          <a:bodyPr wrap="square" lIns="0" tIns="0" rIns="0" bIns="0" anchor="ctr">
            <a:spAutoFit/>
          </a:bodyPr>
          <a:lstStyle/>
          <a:p>
            <a:pPr marL="0" indent="0" algn="l">
              <a:buNone/>
            </a:pPr>
            <a:r>
              <a:rPr sz="800" b="1" i="0">
                <a:solidFill>
                  <a:srgbClr val="1E2F6E"/>
                </a:solidFill>
              </a:rPr>
              <a:t>6-digit PIN</a:t>
            </a:r>
          </a:p>
        </p:txBody>
      </p:sp>
      <p:sp>
        <p:nvSpPr>
          <p:cNvPr id="35" name="TextBox 34"/>
          <p:cNvSpPr txBox="1"/>
          <p:nvPr/>
        </p:nvSpPr>
        <p:spPr>
          <a:xfrm>
            <a:off x="640080" y="2788920"/>
            <a:ext cx="5029200" cy="182880"/>
          </a:xfrm>
          <a:prstGeom prst="rect">
            <a:avLst/>
          </a:prstGeom>
          <a:noFill/>
        </p:spPr>
        <p:txBody>
          <a:bodyPr wrap="square" lIns="0" tIns="0" rIns="0" bIns="0" anchor="ctr">
            <a:spAutoFit/>
          </a:bodyPr>
          <a:lstStyle/>
          <a:p>
            <a:pPr marL="0" indent="0" algn="l">
              <a:buNone/>
            </a:pPr>
            <a:r>
              <a:rPr sz="680" b="0" i="0">
                <a:solidFill>
                  <a:srgbClr val="555555"/>
                </a:solidFill>
              </a:rPr>
              <a:t>Fallback when biometrics are unavailable or fail.</a:t>
            </a:r>
          </a:p>
        </p:txBody>
      </p:sp>
      <p:cxnSp>
        <p:nvCxnSpPr>
          <p:cNvPr id="36" name="Connector 35"/>
          <p:cNvCxnSpPr/>
          <p:nvPr/>
        </p:nvCxnSpPr>
        <p:spPr>
          <a:xfrm>
            <a:off x="3017520" y="3017520"/>
            <a:ext cx="0" cy="9144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274320" y="3108960"/>
            <a:ext cx="5486400" cy="457200"/>
          </a:xfrm>
          <a:prstGeom prst="roundRect">
            <a:avLst>
              <a:gd name="adj" fmla="val 10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Rectangle 37"/>
          <p:cNvSpPr/>
          <p:nvPr/>
        </p:nvSpPr>
        <p:spPr>
          <a:xfrm>
            <a:off x="274320" y="3108960"/>
            <a:ext cx="274320" cy="457200"/>
          </a:xfrm>
          <a:prstGeom prst="rect">
            <a:avLst/>
          </a:prstGeom>
          <a:solidFill>
            <a:srgbClr val="9FA9C6"/>
          </a:solidFill>
          <a:ln w="1270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TextBox 38"/>
          <p:cNvSpPr txBox="1"/>
          <p:nvPr/>
        </p:nvSpPr>
        <p:spPr>
          <a:xfrm>
            <a:off x="274320" y="3108960"/>
            <a:ext cx="274320" cy="457200"/>
          </a:xfrm>
          <a:prstGeom prst="rect">
            <a:avLst/>
          </a:prstGeom>
          <a:noFill/>
        </p:spPr>
        <p:txBody>
          <a:bodyPr wrap="square" lIns="0" tIns="0" rIns="0" bIns="0" anchor="ctr">
            <a:spAutoFit/>
          </a:bodyPr>
          <a:lstStyle/>
          <a:p>
            <a:pPr marL="0" indent="0" algn="ctr">
              <a:buNone/>
            </a:pPr>
            <a:r>
              <a:rPr sz="900" b="1" i="0">
                <a:solidFill>
                  <a:srgbClr val="FFFFFF"/>
                </a:solidFill>
              </a:rPr>
              <a:t>c</a:t>
            </a:r>
          </a:p>
        </p:txBody>
      </p:sp>
      <p:sp>
        <p:nvSpPr>
          <p:cNvPr id="40" name="TextBox 39"/>
          <p:cNvSpPr txBox="1"/>
          <p:nvPr/>
        </p:nvSpPr>
        <p:spPr>
          <a:xfrm>
            <a:off x="640080" y="3154680"/>
            <a:ext cx="5029200" cy="182880"/>
          </a:xfrm>
          <a:prstGeom prst="rect">
            <a:avLst/>
          </a:prstGeom>
          <a:noFill/>
        </p:spPr>
        <p:txBody>
          <a:bodyPr wrap="square" lIns="0" tIns="0" rIns="0" bIns="0" anchor="ctr">
            <a:spAutoFit/>
          </a:bodyPr>
          <a:lstStyle/>
          <a:p>
            <a:pPr marL="0" indent="0" algn="l">
              <a:buNone/>
            </a:pPr>
            <a:r>
              <a:rPr sz="800" b="1" i="0">
                <a:solidFill>
                  <a:srgbClr val="1E2F6E"/>
                </a:solidFill>
              </a:rPr>
              <a:t>OTP — Zalo first, then SMS</a:t>
            </a:r>
          </a:p>
        </p:txBody>
      </p:sp>
      <p:sp>
        <p:nvSpPr>
          <p:cNvPr id="41" name="TextBox 40"/>
          <p:cNvSpPr txBox="1"/>
          <p:nvPr/>
        </p:nvSpPr>
        <p:spPr>
          <a:xfrm>
            <a:off x="640080" y="3337560"/>
            <a:ext cx="5029200" cy="182880"/>
          </a:xfrm>
          <a:prstGeom prst="rect">
            <a:avLst/>
          </a:prstGeom>
          <a:noFill/>
        </p:spPr>
        <p:txBody>
          <a:bodyPr wrap="square" lIns="0" tIns="0" rIns="0" bIns="0" anchor="ctr">
            <a:spAutoFit/>
          </a:bodyPr>
          <a:lstStyle/>
          <a:p>
            <a:pPr marL="0" indent="0" algn="l">
              <a:buNone/>
            </a:pPr>
            <a:r>
              <a:rPr sz="680" b="0" i="0">
                <a:solidFill>
                  <a:srgbClr val="555555"/>
                </a:solidFill>
              </a:rPr>
              <a:t>Fallback when the PIN is forgotten or fails repeatedly. Also used to reset the PIN.</a:t>
            </a:r>
          </a:p>
        </p:txBody>
      </p:sp>
      <p:sp>
        <p:nvSpPr>
          <p:cNvPr id="42" name="Rounded Rectangle 41"/>
          <p:cNvSpPr/>
          <p:nvPr/>
        </p:nvSpPr>
        <p:spPr>
          <a:xfrm>
            <a:off x="6035040" y="2011680"/>
            <a:ext cx="2377440" cy="685800"/>
          </a:xfrm>
          <a:prstGeom prst="roundRect">
            <a:avLst>
              <a:gd name="adj" fmla="val 14000"/>
            </a:avLst>
          </a:prstGeom>
          <a:solidFill>
            <a:srgbClr val="E8F5EE"/>
          </a:solidFill>
          <a:ln w="9525">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3" name="TextBox 42"/>
          <p:cNvSpPr txBox="1"/>
          <p:nvPr/>
        </p:nvSpPr>
        <p:spPr>
          <a:xfrm>
            <a:off x="6080760" y="2011680"/>
            <a:ext cx="2286000" cy="685800"/>
          </a:xfrm>
          <a:prstGeom prst="rect">
            <a:avLst/>
          </a:prstGeom>
          <a:noFill/>
        </p:spPr>
        <p:txBody>
          <a:bodyPr wrap="square" lIns="0" tIns="0" rIns="0" bIns="0" anchor="ctr">
            <a:spAutoFit/>
          </a:bodyPr>
          <a:lstStyle/>
          <a:p>
            <a:pPr marL="0" indent="0" algn="ctr">
              <a:buNone/>
            </a:pPr>
            <a:r>
              <a:rPr sz="750" b="1" i="0">
                <a:solidFill>
                  <a:srgbClr val="14603A"/>
                </a:solidFill>
              </a:rPr>
              <a:t>Authentication</a:t>
            </a:r>
          </a:p>
          <a:p>
            <a:pPr marL="0" indent="0" algn="ctr">
              <a:buNone/>
            </a:pPr>
            <a:r>
              <a:rPr sz="750" b="1" i="0">
                <a:solidFill>
                  <a:srgbClr val="14603A"/>
                </a:solidFill>
              </a:rPr>
              <a:t>succeeds</a:t>
            </a:r>
          </a:p>
        </p:txBody>
      </p:sp>
      <p:sp>
        <p:nvSpPr>
          <p:cNvPr id="44" name="Rounded Rectangle 43"/>
          <p:cNvSpPr/>
          <p:nvPr/>
        </p:nvSpPr>
        <p:spPr>
          <a:xfrm>
            <a:off x="6035040" y="2926080"/>
            <a:ext cx="2377440" cy="685800"/>
          </a:xfrm>
          <a:prstGeom prst="roundRect">
            <a:avLst>
              <a:gd name="adj" fmla="val 14000"/>
            </a:avLst>
          </a:prstGeom>
          <a:solidFill>
            <a:srgbClr val="C8102E"/>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TextBox 44"/>
          <p:cNvSpPr txBox="1"/>
          <p:nvPr/>
        </p:nvSpPr>
        <p:spPr>
          <a:xfrm>
            <a:off x="6080760" y="2926080"/>
            <a:ext cx="2286000" cy="685800"/>
          </a:xfrm>
          <a:prstGeom prst="rect">
            <a:avLst/>
          </a:prstGeom>
          <a:noFill/>
        </p:spPr>
        <p:txBody>
          <a:bodyPr wrap="square" lIns="0" tIns="0" rIns="0" bIns="0" anchor="ctr">
            <a:spAutoFit/>
          </a:bodyPr>
          <a:lstStyle/>
          <a:p>
            <a:pPr marL="0" indent="0" algn="ctr">
              <a:buNone/>
            </a:pPr>
            <a:r>
              <a:rPr sz="680" b="1" i="0">
                <a:solidFill>
                  <a:srgbClr val="FFFFFF"/>
                </a:solidFill>
              </a:rPr>
              <a:t>Resume the original action —</a:t>
            </a:r>
          </a:p>
          <a:p>
            <a:pPr marL="0" indent="0" algn="ctr">
              <a:buNone/>
            </a:pPr>
            <a:r>
              <a:rPr sz="680" b="1" i="0">
                <a:solidFill>
                  <a:srgbClr val="FFFFFF"/>
                </a:solidFill>
              </a:rPr>
              <a:t>add the product, or open the Cart</a:t>
            </a:r>
          </a:p>
        </p:txBody>
      </p:sp>
      <p:cxnSp>
        <p:nvCxnSpPr>
          <p:cNvPr id="46" name="Connector 45"/>
          <p:cNvCxnSpPr/>
          <p:nvPr/>
        </p:nvCxnSpPr>
        <p:spPr>
          <a:xfrm>
            <a:off x="5760720" y="2240280"/>
            <a:ext cx="274320" cy="4572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7223760" y="2697480"/>
            <a:ext cx="0" cy="228600"/>
          </a:xfrm>
          <a:prstGeom prst="line">
            <a:avLst/>
          </a:prstGeom>
          <a:ln w="9525">
            <a:solidFill>
              <a:srgbClr val="1B7F4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8412480" y="100584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9" name="TextBox 48"/>
          <p:cNvSpPr txBox="1"/>
          <p:nvPr/>
        </p:nvSpPr>
        <p:spPr>
          <a:xfrm>
            <a:off x="8540496" y="1005840"/>
            <a:ext cx="3474720" cy="256032"/>
          </a:xfrm>
          <a:prstGeom prst="rect">
            <a:avLst/>
          </a:prstGeom>
          <a:noFill/>
        </p:spPr>
        <p:txBody>
          <a:bodyPr wrap="square" lIns="0" tIns="0" rIns="0" bIns="0" anchor="ctr">
            <a:spAutoFit/>
          </a:bodyPr>
          <a:lstStyle/>
          <a:p>
            <a:pPr marL="0" indent="0" algn="l">
              <a:buNone/>
            </a:pPr>
            <a:r>
              <a:rPr sz="1000" b="1" i="0">
                <a:solidFill>
                  <a:srgbClr val="1E2F6E"/>
                </a:solidFill>
              </a:rPr>
              <a:t>Deviations</a:t>
            </a:r>
          </a:p>
        </p:txBody>
      </p:sp>
      <p:graphicFrame>
        <p:nvGraphicFramePr>
          <p:cNvPr id="50" name="Table 49"/>
          <p:cNvGraphicFramePr>
            <a:graphicFrameLocks noGrp="1"/>
          </p:cNvGraphicFramePr>
          <p:nvPr/>
        </p:nvGraphicFramePr>
        <p:xfrm>
          <a:off x="8412480" y="1280160"/>
          <a:ext cx="3474720" cy="1855920"/>
        </p:xfrm>
        <a:graphic>
          <a:graphicData uri="http://schemas.openxmlformats.org/drawingml/2006/table">
            <a:tbl>
              <a:tblPr/>
              <a:tblGrid>
                <a:gridCol w="12801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tblGrid>
              <a:tr h="210000">
                <a:tc>
                  <a:txBody>
                    <a:bodyPr/>
                    <a:lstStyle/>
                    <a:p>
                      <a:pPr marL="0" indent="0" algn="ctr">
                        <a:buNone/>
                      </a:pPr>
                      <a:r>
                        <a:rPr sz="700" b="1" i="0">
                          <a:solidFill>
                            <a:srgbClr val="FFFFFF"/>
                          </a:solidFill>
                        </a:rPr>
                        <a:t>Case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Handling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329184">
                <a:tc>
                  <a:txBody>
                    <a:bodyPr/>
                    <a:lstStyle/>
                    <a:p>
                      <a:pPr marL="0" indent="0" algn="l">
                        <a:buNone/>
                      </a:pPr>
                      <a:r>
                        <a:rPr sz="700" b="0" i="0">
                          <a:solidFill>
                            <a:srgbClr val="222222"/>
                          </a:solidFill>
                        </a:rPr>
                        <a:t>Number not registered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Error, number retained, CTA switches to Signup (LI-04)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sz="700" b="0" i="0">
                          <a:solidFill>
                            <a:srgbClr val="222222"/>
                          </a:solidFill>
                        </a:rPr>
                        <a:t>PIN forgotten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Re-verify by OTP, then set a new PIN (LI-05)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329184">
                <a:tc>
                  <a:txBody>
                    <a:bodyPr/>
                    <a:lstStyle/>
                    <a:p>
                      <a:pPr marL="0" indent="0" algn="l">
                        <a:buNone/>
                      </a:pPr>
                      <a:r>
                        <a:rPr sz="700" b="0" i="0">
                          <a:solidFill>
                            <a:srgbClr val="222222"/>
                          </a:solidFill>
                        </a:rPr>
                        <a:t>Repeated failures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Attempt limit applies — mechanism and count TBC (LI-06, OQ-03)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329184">
                <a:tc>
                  <a:txBody>
                    <a:bodyPr/>
                    <a:lstStyle/>
                    <a:p>
                      <a:pPr marL="0" indent="0" algn="l">
                        <a:buNone/>
                      </a:pPr>
                      <a:r>
                        <a:rPr sz="700" b="0" i="0">
                          <a:solidFill>
                            <a:srgbClr val="222222"/>
                          </a:solidFill>
                        </a:rPr>
                        <a:t>New phone / device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Biometric ticket handling on device change is not yet agreed (LI-07, OQ-11)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329184">
                <a:tc>
                  <a:txBody>
                    <a:bodyPr/>
                    <a:lstStyle/>
                    <a:p>
                      <a:pPr marL="0" indent="0" algn="l">
                        <a:buNone/>
                      </a:pPr>
                      <a:r>
                        <a:rPr sz="700" b="0" i="0">
                          <a:solidFill>
                            <a:srgbClr val="222222"/>
                          </a:solidFill>
                        </a:rPr>
                        <a:t>Multiple accounts, one device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One active biometric ticket per device; direction agreed, technical review pending (OQ-07)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51" name="Rectangle 50"/>
          <p:cNvSpPr/>
          <p:nvPr/>
        </p:nvSpPr>
        <p:spPr>
          <a:xfrm>
            <a:off x="274320" y="384048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2" name="TextBox 51"/>
          <p:cNvSpPr txBox="1"/>
          <p:nvPr/>
        </p:nvSpPr>
        <p:spPr>
          <a:xfrm>
            <a:off x="402336" y="3840480"/>
            <a:ext cx="11612880" cy="256032"/>
          </a:xfrm>
          <a:prstGeom prst="rect">
            <a:avLst/>
          </a:prstGeom>
          <a:noFill/>
        </p:spPr>
        <p:txBody>
          <a:bodyPr wrap="square" lIns="0" tIns="0" rIns="0" bIns="0" anchor="ctr">
            <a:spAutoFit/>
          </a:bodyPr>
          <a:lstStyle/>
          <a:p>
            <a:pPr marL="0" indent="0" algn="l">
              <a:buNone/>
            </a:pPr>
            <a:r>
              <a:rPr sz="1000" b="1" i="0">
                <a:solidFill>
                  <a:srgbClr val="1E2F6E"/>
                </a:solidFill>
              </a:rPr>
              <a:t>Why this order</a:t>
            </a:r>
          </a:p>
        </p:txBody>
      </p:sp>
      <p:sp>
        <p:nvSpPr>
          <p:cNvPr id="53" name="Rectangle 52"/>
          <p:cNvSpPr/>
          <p:nvPr/>
        </p:nvSpPr>
        <p:spPr>
          <a:xfrm>
            <a:off x="274320" y="4114800"/>
            <a:ext cx="3840480" cy="59436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4" name="TextBox 53"/>
          <p:cNvSpPr txBox="1"/>
          <p:nvPr/>
        </p:nvSpPr>
        <p:spPr>
          <a:xfrm>
            <a:off x="411480" y="4160520"/>
            <a:ext cx="3566160" cy="182880"/>
          </a:xfrm>
          <a:prstGeom prst="rect">
            <a:avLst/>
          </a:prstGeom>
          <a:noFill/>
        </p:spPr>
        <p:txBody>
          <a:bodyPr wrap="square" lIns="0" tIns="0" rIns="0" bIns="0" anchor="ctr">
            <a:spAutoFit/>
          </a:bodyPr>
          <a:lstStyle/>
          <a:p>
            <a:pPr marL="0" indent="0" algn="l">
              <a:buNone/>
            </a:pPr>
            <a:r>
              <a:rPr sz="750" b="1" i="0">
                <a:solidFill>
                  <a:srgbClr val="1E2F6E"/>
                </a:solidFill>
              </a:rPr>
              <a:t>Face ID / fingerprint first</a:t>
            </a:r>
          </a:p>
        </p:txBody>
      </p:sp>
      <p:sp>
        <p:nvSpPr>
          <p:cNvPr id="55" name="TextBox 54"/>
          <p:cNvSpPr txBox="1"/>
          <p:nvPr/>
        </p:nvSpPr>
        <p:spPr>
          <a:xfrm>
            <a:off x="411480" y="4343400"/>
            <a:ext cx="3566160" cy="320040"/>
          </a:xfrm>
          <a:prstGeom prst="rect">
            <a:avLst/>
          </a:prstGeom>
          <a:noFill/>
        </p:spPr>
        <p:txBody>
          <a:bodyPr wrap="square" lIns="0" tIns="0" rIns="0" bIns="0" anchor="t">
            <a:spAutoFit/>
          </a:bodyPr>
          <a:lstStyle/>
          <a:p>
            <a:pPr marL="0" indent="0" algn="l">
              <a:buNone/>
            </a:pPr>
            <a:r>
              <a:rPr sz="680" b="0" i="0">
                <a:solidFill>
                  <a:srgbClr val="555555"/>
                </a:solidFill>
              </a:rPr>
              <a:t>Zero typing, zero cost, and the strongest signal that the device belongs to the account holder.</a:t>
            </a:r>
          </a:p>
        </p:txBody>
      </p:sp>
      <p:sp>
        <p:nvSpPr>
          <p:cNvPr id="56" name="Rectangle 55"/>
          <p:cNvSpPr/>
          <p:nvPr/>
        </p:nvSpPr>
        <p:spPr>
          <a:xfrm>
            <a:off x="4206240" y="4114800"/>
            <a:ext cx="3840480" cy="59436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7" name="TextBox 56"/>
          <p:cNvSpPr txBox="1"/>
          <p:nvPr/>
        </p:nvSpPr>
        <p:spPr>
          <a:xfrm>
            <a:off x="4343400" y="4160520"/>
            <a:ext cx="3566160" cy="182880"/>
          </a:xfrm>
          <a:prstGeom prst="rect">
            <a:avLst/>
          </a:prstGeom>
          <a:noFill/>
        </p:spPr>
        <p:txBody>
          <a:bodyPr wrap="square" lIns="0" tIns="0" rIns="0" bIns="0" anchor="ctr">
            <a:spAutoFit/>
          </a:bodyPr>
          <a:lstStyle/>
          <a:p>
            <a:pPr marL="0" indent="0" algn="l">
              <a:buNone/>
            </a:pPr>
            <a:r>
              <a:rPr sz="750" b="1" i="0">
                <a:solidFill>
                  <a:srgbClr val="1E2F6E"/>
                </a:solidFill>
              </a:rPr>
              <a:t>PIN second</a:t>
            </a:r>
          </a:p>
        </p:txBody>
      </p:sp>
      <p:sp>
        <p:nvSpPr>
          <p:cNvPr id="58" name="TextBox 57"/>
          <p:cNvSpPr txBox="1"/>
          <p:nvPr/>
        </p:nvSpPr>
        <p:spPr>
          <a:xfrm>
            <a:off x="4343400" y="4343400"/>
            <a:ext cx="3566160" cy="209288"/>
          </a:xfrm>
          <a:prstGeom prst="rect">
            <a:avLst/>
          </a:prstGeom>
          <a:noFill/>
        </p:spPr>
        <p:txBody>
          <a:bodyPr wrap="square" lIns="0" tIns="0" rIns="0" bIns="0" anchor="t">
            <a:spAutoFit/>
          </a:bodyPr>
          <a:lstStyle/>
          <a:p>
            <a:pPr marL="0" indent="0" algn="l">
              <a:buNone/>
            </a:pPr>
            <a:r>
              <a:rPr sz="680" b="0" i="0">
                <a:solidFill>
                  <a:srgbClr val="555555"/>
                </a:solidFill>
              </a:rPr>
              <a:t>Works when biometrics are unavailable — shared device, wet hands, hardware without a sensor — and still requires no message cost.</a:t>
            </a:r>
          </a:p>
        </p:txBody>
      </p:sp>
      <p:sp>
        <p:nvSpPr>
          <p:cNvPr id="59" name="Rectangle 58"/>
          <p:cNvSpPr/>
          <p:nvPr/>
        </p:nvSpPr>
        <p:spPr>
          <a:xfrm>
            <a:off x="8138160" y="4114800"/>
            <a:ext cx="3840480" cy="59436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0" name="TextBox 59"/>
          <p:cNvSpPr txBox="1"/>
          <p:nvPr/>
        </p:nvSpPr>
        <p:spPr>
          <a:xfrm>
            <a:off x="8275320" y="4160520"/>
            <a:ext cx="3566160" cy="182880"/>
          </a:xfrm>
          <a:prstGeom prst="rect">
            <a:avLst/>
          </a:prstGeom>
          <a:noFill/>
        </p:spPr>
        <p:txBody>
          <a:bodyPr wrap="square" lIns="0" tIns="0" rIns="0" bIns="0" anchor="ctr">
            <a:spAutoFit/>
          </a:bodyPr>
          <a:lstStyle/>
          <a:p>
            <a:pPr marL="0" indent="0" algn="l">
              <a:buNone/>
            </a:pPr>
            <a:r>
              <a:rPr sz="750" b="1" i="0">
                <a:solidFill>
                  <a:srgbClr val="1E2F6E"/>
                </a:solidFill>
              </a:rPr>
              <a:t>OTP last</a:t>
            </a:r>
          </a:p>
        </p:txBody>
      </p:sp>
      <p:sp>
        <p:nvSpPr>
          <p:cNvPr id="61" name="TextBox 60"/>
          <p:cNvSpPr txBox="1"/>
          <p:nvPr/>
        </p:nvSpPr>
        <p:spPr>
          <a:xfrm>
            <a:off x="8275320" y="4343400"/>
            <a:ext cx="3566160" cy="320040"/>
          </a:xfrm>
          <a:prstGeom prst="rect">
            <a:avLst/>
          </a:prstGeom>
          <a:noFill/>
        </p:spPr>
        <p:txBody>
          <a:bodyPr wrap="square" lIns="0" tIns="0" rIns="0" bIns="0" anchor="t">
            <a:spAutoFit/>
          </a:bodyPr>
          <a:lstStyle/>
          <a:p>
            <a:pPr marL="0" indent="0" algn="l">
              <a:buNone/>
            </a:pPr>
            <a:r>
              <a:rPr sz="680" b="0" i="0">
                <a:solidFill>
                  <a:srgbClr val="555555"/>
                </a:solidFill>
              </a:rPr>
              <a:t>Every OTP has a real cost and adds waiting time, so it is reserved for recovery and for genuinely new devices (NFR-05).</a:t>
            </a:r>
          </a:p>
        </p:txBody>
      </p:sp>
      <p:sp>
        <p:nvSpPr>
          <p:cNvPr id="62" name="Rectangle 61"/>
          <p:cNvSpPr/>
          <p:nvPr/>
        </p:nvSpPr>
        <p:spPr>
          <a:xfrm>
            <a:off x="274320" y="4846320"/>
            <a:ext cx="11612880" cy="594360"/>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3" name="TextBox 62"/>
          <p:cNvSpPr txBox="1"/>
          <p:nvPr/>
        </p:nvSpPr>
        <p:spPr>
          <a:xfrm>
            <a:off x="411480" y="4892040"/>
            <a:ext cx="11338560" cy="502920"/>
          </a:xfrm>
          <a:prstGeom prst="rect">
            <a:avLst/>
          </a:prstGeom>
          <a:noFill/>
        </p:spPr>
        <p:txBody>
          <a:bodyPr wrap="square" lIns="0" tIns="0" rIns="0" bIns="0" anchor="t">
            <a:spAutoFit/>
          </a:bodyPr>
          <a:lstStyle/>
          <a:p>
            <a:pPr marL="0" indent="0" algn="l">
              <a:buNone/>
            </a:pPr>
            <a:r>
              <a:rPr sz="750" b="0" i="0">
                <a:solidFill>
                  <a:srgbClr val="6B6800"/>
                </a:solidFill>
              </a:rPr>
              <a:t>Security context — accounts carry payment methods, BNPL eligibility and loyalty points, so an attempt limit on both OTP and PIN is mandatory (BR-11, NFR-01). The exact thresholds are the only unresolved part of this flow and must come from Security / Dev before development starts.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PF-07  ·  Cart — Delivery Branch</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16</a:t>
            </a:r>
          </a:p>
        </p:txBody>
      </p:sp>
      <p:sp>
        <p:nvSpPr>
          <p:cNvPr id="9" name="Rectangle 8"/>
          <p:cNvSpPr/>
          <p:nvPr/>
        </p:nvSpPr>
        <p:spPr>
          <a:xfrm>
            <a:off x="274320" y="640080"/>
            <a:ext cx="1957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365760" y="640080"/>
            <a:ext cx="1820000" cy="246888"/>
          </a:xfrm>
          <a:prstGeom prst="rect">
            <a:avLst/>
          </a:prstGeom>
          <a:noFill/>
        </p:spPr>
        <p:txBody>
          <a:bodyPr wrap="square" lIns="0" tIns="0" rIns="0" bIns="0" anchor="ctr">
            <a:spAutoFit/>
          </a:bodyPr>
          <a:lstStyle/>
          <a:p>
            <a:pPr marL="0" indent="0" algn="l">
              <a:buNone/>
            </a:pPr>
            <a:r>
              <a:rPr sz="680" b="1" i="0">
                <a:solidFill>
                  <a:srgbClr val="1E2F6E"/>
                </a:solidFill>
              </a:rPr>
              <a:t>Trigger: </a:t>
            </a:r>
            <a:r>
              <a:rPr sz="680" b="0" i="0">
                <a:solidFill>
                  <a:srgbClr val="555555"/>
                </a:solidFill>
              </a:rPr>
              <a:t>Cart opened (authenticated)</a:t>
            </a:r>
          </a:p>
        </p:txBody>
      </p:sp>
      <p:sp>
        <p:nvSpPr>
          <p:cNvPr id="11" name="Rectangle 10"/>
          <p:cNvSpPr/>
          <p:nvPr/>
        </p:nvSpPr>
        <p:spPr>
          <a:xfrm>
            <a:off x="2300060" y="640080"/>
            <a:ext cx="761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2391500" y="640080"/>
            <a:ext cx="624000" cy="246888"/>
          </a:xfrm>
          <a:prstGeom prst="rect">
            <a:avLst/>
          </a:prstGeom>
          <a:noFill/>
        </p:spPr>
        <p:txBody>
          <a:bodyPr wrap="square" lIns="0" tIns="0" rIns="0" bIns="0" anchor="ctr">
            <a:spAutoFit/>
          </a:bodyPr>
          <a:lstStyle/>
          <a:p>
            <a:pPr marL="0" indent="0" algn="l">
              <a:buNone/>
            </a:pPr>
            <a:r>
              <a:rPr sz="680" b="1" i="0">
                <a:solidFill>
                  <a:srgbClr val="1E2F6E"/>
                </a:solidFill>
              </a:rPr>
              <a:t>Actor: </a:t>
            </a:r>
            <a:r>
              <a:rPr sz="680" b="0" i="0">
                <a:solidFill>
                  <a:srgbClr val="555555"/>
                </a:solidFill>
              </a:rPr>
              <a:t>Member</a:t>
            </a:r>
          </a:p>
        </p:txBody>
      </p:sp>
      <p:sp>
        <p:nvSpPr>
          <p:cNvPr id="13" name="Rectangle 12"/>
          <p:cNvSpPr/>
          <p:nvPr/>
        </p:nvSpPr>
        <p:spPr>
          <a:xfrm>
            <a:off x="3129800" y="640080"/>
            <a:ext cx="1645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3221240" y="640080"/>
            <a:ext cx="1508000" cy="246888"/>
          </a:xfrm>
          <a:prstGeom prst="rect">
            <a:avLst/>
          </a:prstGeom>
          <a:noFill/>
        </p:spPr>
        <p:txBody>
          <a:bodyPr wrap="square" lIns="0" tIns="0" rIns="0" bIns="0" anchor="ctr">
            <a:spAutoFit/>
          </a:bodyPr>
          <a:lstStyle/>
          <a:p>
            <a:pPr marL="0" indent="0" algn="l">
              <a:buNone/>
            </a:pPr>
            <a:r>
              <a:rPr sz="680" b="1" i="0">
                <a:solidFill>
                  <a:srgbClr val="1E2F6E"/>
                </a:solidFill>
              </a:rPr>
              <a:t>Realises: </a:t>
            </a:r>
            <a:r>
              <a:rPr sz="680" b="0" i="0">
                <a:solidFill>
                  <a:srgbClr val="555555"/>
                </a:solidFill>
              </a:rPr>
              <a:t>CT-01 … CT-08, CT-11</a:t>
            </a:r>
          </a:p>
        </p:txBody>
      </p:sp>
      <p:sp>
        <p:nvSpPr>
          <p:cNvPr id="15" name="Rounded Rectangle 14"/>
          <p:cNvSpPr/>
          <p:nvPr/>
        </p:nvSpPr>
        <p:spPr>
          <a:xfrm>
            <a:off x="274320" y="960120"/>
            <a:ext cx="1554480" cy="457200"/>
          </a:xfrm>
          <a:prstGeom prst="roundRect">
            <a:avLst>
              <a:gd name="adj" fmla="val 14000"/>
            </a:avLst>
          </a:prstGeom>
          <a:solidFill>
            <a:srgbClr val="1E2F6E"/>
          </a:solidFill>
          <a:ln w="9525">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320040" y="960120"/>
            <a:ext cx="1463040" cy="457200"/>
          </a:xfrm>
          <a:prstGeom prst="rect">
            <a:avLst/>
          </a:prstGeom>
          <a:noFill/>
        </p:spPr>
        <p:txBody>
          <a:bodyPr wrap="square" lIns="0" tIns="0" rIns="0" bIns="0" anchor="ctr">
            <a:spAutoFit/>
          </a:bodyPr>
          <a:lstStyle/>
          <a:p>
            <a:pPr marL="0" indent="0" algn="ctr">
              <a:buNone/>
            </a:pPr>
            <a:r>
              <a:rPr sz="750" b="1" i="0">
                <a:solidFill>
                  <a:srgbClr val="FFFFFF"/>
                </a:solidFill>
              </a:rPr>
              <a:t>Cart opened</a:t>
            </a:r>
          </a:p>
        </p:txBody>
      </p:sp>
      <p:sp>
        <p:nvSpPr>
          <p:cNvPr id="17" name="Rounded Rectangle 16"/>
          <p:cNvSpPr/>
          <p:nvPr/>
        </p:nvSpPr>
        <p:spPr>
          <a:xfrm>
            <a:off x="2011680" y="960120"/>
            <a:ext cx="2377440" cy="45720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2057400" y="960120"/>
            <a:ext cx="2286000" cy="457200"/>
          </a:xfrm>
          <a:prstGeom prst="rect">
            <a:avLst/>
          </a:prstGeom>
          <a:noFill/>
        </p:spPr>
        <p:txBody>
          <a:bodyPr wrap="square" lIns="0" tIns="0" rIns="0" bIns="0" anchor="ctr">
            <a:spAutoFit/>
          </a:bodyPr>
          <a:lstStyle/>
          <a:p>
            <a:pPr marL="0" indent="0" algn="ctr">
              <a:buNone/>
            </a:pPr>
            <a:r>
              <a:rPr sz="650" b="1" i="0">
                <a:solidFill>
                  <a:srgbClr val="1E2F6E"/>
                </a:solidFill>
              </a:rPr>
              <a:t>Address, service and slot carried</a:t>
            </a:r>
          </a:p>
          <a:p>
            <a:pPr marL="0" indent="0" algn="ctr">
              <a:buNone/>
            </a:pPr>
            <a:r>
              <a:rPr sz="650" b="1" i="0">
                <a:solidFill>
                  <a:srgbClr val="1E2F6E"/>
                </a:solidFill>
              </a:rPr>
              <a:t>over from the Homepage</a:t>
            </a:r>
          </a:p>
        </p:txBody>
      </p:sp>
      <p:cxnSp>
        <p:nvCxnSpPr>
          <p:cNvPr id="19" name="Connector 18"/>
          <p:cNvCxnSpPr/>
          <p:nvPr/>
        </p:nvCxnSpPr>
        <p:spPr>
          <a:xfrm>
            <a:off x="1828800" y="1188720"/>
            <a:ext cx="18288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Diamond 19"/>
          <p:cNvSpPr/>
          <p:nvPr/>
        </p:nvSpPr>
        <p:spPr>
          <a:xfrm>
            <a:off x="4572000" y="868680"/>
            <a:ext cx="1920240" cy="640080"/>
          </a:xfrm>
          <a:prstGeom prst="diamond">
            <a:avLst/>
          </a:prstGeom>
          <a:solidFill>
            <a:srgbClr val="FFF6E5"/>
          </a:solidFill>
          <a:ln w="9525">
            <a:solidFill>
              <a:srgbClr val="B26A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1" name="TextBox 20"/>
          <p:cNvSpPr txBox="1"/>
          <p:nvPr/>
        </p:nvSpPr>
        <p:spPr>
          <a:xfrm>
            <a:off x="4821631" y="868680"/>
            <a:ext cx="1420977" cy="640080"/>
          </a:xfrm>
          <a:prstGeom prst="rect">
            <a:avLst/>
          </a:prstGeom>
          <a:noFill/>
        </p:spPr>
        <p:txBody>
          <a:bodyPr wrap="square" lIns="0" tIns="0" rIns="0" bIns="0" anchor="ctr">
            <a:spAutoFit/>
          </a:bodyPr>
          <a:lstStyle/>
          <a:p>
            <a:pPr marL="0" indent="0" algn="ctr">
              <a:buNone/>
            </a:pPr>
            <a:r>
              <a:rPr sz="580" b="1" i="0">
                <a:solidFill>
                  <a:srgbClr val="8A5A00"/>
                </a:solidFill>
              </a:rPr>
              <a:t>Any store</a:t>
            </a:r>
          </a:p>
          <a:p>
            <a:pPr marL="0" indent="0" algn="ctr">
              <a:buNone/>
            </a:pPr>
            <a:r>
              <a:rPr sz="580" b="1" i="0">
                <a:solidFill>
                  <a:srgbClr val="8A5A00"/>
                </a:solidFill>
              </a:rPr>
              <a:t>serves this</a:t>
            </a:r>
          </a:p>
          <a:p>
            <a:pPr marL="0" indent="0" algn="ctr">
              <a:buNone/>
            </a:pPr>
            <a:r>
              <a:rPr sz="580" b="1" i="0">
                <a:solidFill>
                  <a:srgbClr val="8A5A00"/>
                </a:solidFill>
              </a:rPr>
              <a:t>address?</a:t>
            </a:r>
          </a:p>
        </p:txBody>
      </p:sp>
      <p:cxnSp>
        <p:nvCxnSpPr>
          <p:cNvPr id="22" name="Connector 21"/>
          <p:cNvCxnSpPr/>
          <p:nvPr/>
        </p:nvCxnSpPr>
        <p:spPr>
          <a:xfrm>
            <a:off x="4389120" y="1188720"/>
            <a:ext cx="18288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572000" y="1691640"/>
            <a:ext cx="1920240" cy="411480"/>
          </a:xfrm>
          <a:prstGeom prst="roundRect">
            <a:avLst>
              <a:gd name="adj" fmla="val 14000"/>
            </a:avLst>
          </a:prstGeom>
          <a:solidFill>
            <a:srgbClr val="FDECEE"/>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4617720" y="1691640"/>
            <a:ext cx="1828800" cy="411480"/>
          </a:xfrm>
          <a:prstGeom prst="rect">
            <a:avLst/>
          </a:prstGeom>
          <a:noFill/>
        </p:spPr>
        <p:txBody>
          <a:bodyPr wrap="square" lIns="0" tIns="0" rIns="0" bIns="0" anchor="ctr">
            <a:spAutoFit/>
          </a:bodyPr>
          <a:lstStyle/>
          <a:p>
            <a:pPr marL="0" indent="0" algn="ctr">
              <a:buNone/>
            </a:pPr>
            <a:r>
              <a:rPr sz="650" b="1" i="0">
                <a:solidFill>
                  <a:srgbClr val="C8102E"/>
                </a:solidFill>
              </a:rPr>
              <a:t>Change the</a:t>
            </a:r>
          </a:p>
          <a:p>
            <a:pPr marL="0" indent="0" algn="ctr">
              <a:buNone/>
            </a:pPr>
            <a:r>
              <a:rPr sz="650" b="1" i="0">
                <a:solidFill>
                  <a:srgbClr val="C8102E"/>
                </a:solidFill>
              </a:rPr>
              <a:t>delivery address</a:t>
            </a:r>
          </a:p>
        </p:txBody>
      </p:sp>
      <p:cxnSp>
        <p:nvCxnSpPr>
          <p:cNvPr id="25" name="Connector 24"/>
          <p:cNvCxnSpPr/>
          <p:nvPr/>
        </p:nvCxnSpPr>
        <p:spPr>
          <a:xfrm>
            <a:off x="5532120" y="1508760"/>
            <a:ext cx="0" cy="182880"/>
          </a:xfrm>
          <a:prstGeom prst="line">
            <a:avLst/>
          </a:prstGeom>
          <a:ln w="9525">
            <a:solidFill>
              <a:srgbClr val="C8102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577840" y="1554480"/>
            <a:ext cx="420000" cy="140000"/>
          </a:xfrm>
          <a:prstGeom prst="rect">
            <a:avLst/>
          </a:prstGeom>
          <a:noFill/>
        </p:spPr>
        <p:txBody>
          <a:bodyPr wrap="square" lIns="0" tIns="0" rIns="0" bIns="0" anchor="ctr">
            <a:spAutoFit/>
          </a:bodyPr>
          <a:lstStyle/>
          <a:p>
            <a:pPr marL="0" indent="0" algn="ctr">
              <a:buNone/>
            </a:pPr>
            <a:r>
              <a:rPr sz="560" b="1" i="0">
                <a:solidFill>
                  <a:srgbClr val="555555"/>
                </a:solidFill>
              </a:rPr>
              <a:t>No</a:t>
            </a:r>
          </a:p>
        </p:txBody>
      </p:sp>
      <p:sp>
        <p:nvSpPr>
          <p:cNvPr id="27" name="Diamond 26"/>
          <p:cNvSpPr/>
          <p:nvPr/>
        </p:nvSpPr>
        <p:spPr>
          <a:xfrm>
            <a:off x="6675120" y="868680"/>
            <a:ext cx="2011680" cy="640080"/>
          </a:xfrm>
          <a:prstGeom prst="diamond">
            <a:avLst/>
          </a:prstGeom>
          <a:solidFill>
            <a:srgbClr val="FFF6E5"/>
          </a:solidFill>
          <a:ln w="9525">
            <a:solidFill>
              <a:srgbClr val="B26A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936638" y="868680"/>
            <a:ext cx="1488643" cy="640080"/>
          </a:xfrm>
          <a:prstGeom prst="rect">
            <a:avLst/>
          </a:prstGeom>
          <a:noFill/>
        </p:spPr>
        <p:txBody>
          <a:bodyPr wrap="square" lIns="0" tIns="0" rIns="0" bIns="0" anchor="ctr">
            <a:spAutoFit/>
          </a:bodyPr>
          <a:lstStyle/>
          <a:p>
            <a:pPr marL="0" indent="0" algn="ctr">
              <a:buNone/>
            </a:pPr>
            <a:r>
              <a:rPr sz="600" b="1" i="0">
                <a:solidFill>
                  <a:srgbClr val="8A5A00"/>
                </a:solidFill>
              </a:rPr>
              <a:t>Which service</a:t>
            </a:r>
          </a:p>
          <a:p>
            <a:pPr marL="0" indent="0" algn="ctr">
              <a:buNone/>
            </a:pPr>
            <a:r>
              <a:rPr sz="600" b="1" i="0">
                <a:solidFill>
                  <a:srgbClr val="8A5A00"/>
                </a:solidFill>
              </a:rPr>
              <a:t>zone?</a:t>
            </a:r>
          </a:p>
        </p:txBody>
      </p:sp>
      <p:cxnSp>
        <p:nvCxnSpPr>
          <p:cNvPr id="29" name="Connector 28"/>
          <p:cNvCxnSpPr/>
          <p:nvPr/>
        </p:nvCxnSpPr>
        <p:spPr>
          <a:xfrm>
            <a:off x="6492240" y="1188720"/>
            <a:ext cx="18288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446520" y="1005840"/>
            <a:ext cx="420000" cy="140000"/>
          </a:xfrm>
          <a:prstGeom prst="rect">
            <a:avLst/>
          </a:prstGeom>
          <a:noFill/>
        </p:spPr>
        <p:txBody>
          <a:bodyPr wrap="square" lIns="0" tIns="0" rIns="0" bIns="0" anchor="ctr">
            <a:spAutoFit/>
          </a:bodyPr>
          <a:lstStyle/>
          <a:p>
            <a:pPr marL="0" indent="0" algn="ctr">
              <a:buNone/>
            </a:pPr>
            <a:r>
              <a:rPr sz="560" b="1" i="0">
                <a:solidFill>
                  <a:srgbClr val="555555"/>
                </a:solidFill>
              </a:rPr>
              <a:t>Yes</a:t>
            </a:r>
          </a:p>
        </p:txBody>
      </p:sp>
      <p:sp>
        <p:nvSpPr>
          <p:cNvPr id="31" name="Rounded Rectangle 30"/>
          <p:cNvSpPr/>
          <p:nvPr/>
        </p:nvSpPr>
        <p:spPr>
          <a:xfrm>
            <a:off x="8686800" y="731520"/>
            <a:ext cx="3017520" cy="457200"/>
          </a:xfrm>
          <a:prstGeom prst="roundRect">
            <a:avLst>
              <a:gd name="adj" fmla="val 14000"/>
            </a:avLst>
          </a:prstGeom>
          <a:solidFill>
            <a:srgbClr val="FFFFFF"/>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8732520" y="731520"/>
            <a:ext cx="2926080" cy="457200"/>
          </a:xfrm>
          <a:prstGeom prst="rect">
            <a:avLst/>
          </a:prstGeom>
          <a:noFill/>
        </p:spPr>
        <p:txBody>
          <a:bodyPr wrap="square" lIns="0" tIns="0" rIns="0" bIns="0" anchor="ctr">
            <a:spAutoFit/>
          </a:bodyPr>
          <a:lstStyle/>
          <a:p>
            <a:pPr marL="0" indent="0" algn="ctr">
              <a:buNone/>
            </a:pPr>
            <a:r>
              <a:rPr sz="680" b="1" i="0">
                <a:solidFill>
                  <a:srgbClr val="1E2F6E"/>
                </a:solidFill>
              </a:rPr>
              <a:t>60-Minute / Standard  →  choose a time slot</a:t>
            </a:r>
          </a:p>
        </p:txBody>
      </p:sp>
      <p:sp>
        <p:nvSpPr>
          <p:cNvPr id="33" name="Rounded Rectangle 32"/>
          <p:cNvSpPr/>
          <p:nvPr/>
        </p:nvSpPr>
        <p:spPr>
          <a:xfrm>
            <a:off x="8686800" y="1280160"/>
            <a:ext cx="3017520" cy="457200"/>
          </a:xfrm>
          <a:prstGeom prst="roundRect">
            <a:avLst>
              <a:gd name="adj" fmla="val 14000"/>
            </a:avLst>
          </a:prstGeom>
          <a:solidFill>
            <a:srgbClr val="FFFFFF"/>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8732520" y="1280160"/>
            <a:ext cx="2926080" cy="457200"/>
          </a:xfrm>
          <a:prstGeom prst="rect">
            <a:avLst/>
          </a:prstGeom>
          <a:noFill/>
        </p:spPr>
        <p:txBody>
          <a:bodyPr wrap="square" lIns="0" tIns="0" rIns="0" bIns="0" anchor="ctr">
            <a:spAutoFit/>
          </a:bodyPr>
          <a:lstStyle/>
          <a:p>
            <a:pPr marL="0" indent="0" algn="ctr">
              <a:buNone/>
            </a:pPr>
            <a:r>
              <a:rPr sz="680" b="1" i="0">
                <a:solidFill>
                  <a:srgbClr val="1E2F6E"/>
                </a:solidFill>
              </a:rPr>
              <a:t>Next-day  →  choose a delivery date</a:t>
            </a:r>
          </a:p>
        </p:txBody>
      </p:sp>
      <p:cxnSp>
        <p:nvCxnSpPr>
          <p:cNvPr id="35" name="Connector 34"/>
          <p:cNvCxnSpPr/>
          <p:nvPr/>
        </p:nvCxnSpPr>
        <p:spPr>
          <a:xfrm flipV="1">
            <a:off x="8412480" y="960120"/>
            <a:ext cx="274320" cy="13716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8412480" y="1280160"/>
            <a:ext cx="274320" cy="22860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Diamond 36"/>
          <p:cNvSpPr/>
          <p:nvPr/>
        </p:nvSpPr>
        <p:spPr>
          <a:xfrm>
            <a:off x="8686800" y="1874520"/>
            <a:ext cx="1554480" cy="548640"/>
          </a:xfrm>
          <a:prstGeom prst="diamond">
            <a:avLst/>
          </a:prstGeom>
          <a:solidFill>
            <a:srgbClr val="FFF6E5"/>
          </a:solidFill>
          <a:ln w="9525">
            <a:solidFill>
              <a:srgbClr val="B26A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TextBox 37"/>
          <p:cNvSpPr txBox="1"/>
          <p:nvPr/>
        </p:nvSpPr>
        <p:spPr>
          <a:xfrm>
            <a:off x="8888882" y="1874520"/>
            <a:ext cx="1150315" cy="548640"/>
          </a:xfrm>
          <a:prstGeom prst="rect">
            <a:avLst/>
          </a:prstGeom>
          <a:noFill/>
        </p:spPr>
        <p:txBody>
          <a:bodyPr wrap="square" lIns="0" tIns="0" rIns="0" bIns="0" anchor="ctr">
            <a:spAutoFit/>
          </a:bodyPr>
          <a:lstStyle/>
          <a:p>
            <a:pPr marL="0" indent="0" algn="ctr">
              <a:buNone/>
            </a:pPr>
            <a:r>
              <a:rPr sz="600" b="1" i="0">
                <a:solidFill>
                  <a:srgbClr val="8A5A00"/>
                </a:solidFill>
              </a:rPr>
              <a:t>Bulky order?</a:t>
            </a:r>
          </a:p>
        </p:txBody>
      </p:sp>
      <p:cxnSp>
        <p:nvCxnSpPr>
          <p:cNvPr id="39" name="Connector 38"/>
          <p:cNvCxnSpPr/>
          <p:nvPr/>
        </p:nvCxnSpPr>
        <p:spPr>
          <a:xfrm>
            <a:off x="9464040" y="1737360"/>
            <a:ext cx="0" cy="13716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10424826" y="1874520"/>
            <a:ext cx="1279494" cy="548640"/>
          </a:xfrm>
          <a:prstGeom prst="roundRect">
            <a:avLst>
              <a:gd name="adj" fmla="val 14000"/>
            </a:avLst>
          </a:prstGeom>
          <a:solidFill>
            <a:srgbClr val="FDECEE"/>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TextBox 40"/>
          <p:cNvSpPr txBox="1"/>
          <p:nvPr/>
        </p:nvSpPr>
        <p:spPr>
          <a:xfrm>
            <a:off x="10424826" y="1929384"/>
            <a:ext cx="1279494" cy="164592"/>
          </a:xfrm>
          <a:prstGeom prst="rect">
            <a:avLst/>
          </a:prstGeom>
          <a:noFill/>
        </p:spPr>
        <p:txBody>
          <a:bodyPr wrap="square" lIns="0" tIns="0" rIns="0" bIns="0" anchor="ctr">
            <a:spAutoFit/>
          </a:bodyPr>
          <a:lstStyle/>
          <a:p>
            <a:pPr marL="0" indent="0" algn="ctr">
              <a:buNone/>
            </a:pPr>
            <a:r>
              <a:rPr sz="580" b="1" i="0">
                <a:solidFill>
                  <a:srgbClr val="C8102E"/>
                </a:solidFill>
              </a:rPr>
              <a:t>YES</a:t>
            </a:r>
          </a:p>
        </p:txBody>
      </p:sp>
      <p:sp>
        <p:nvSpPr>
          <p:cNvPr id="42" name="TextBox 41"/>
          <p:cNvSpPr txBox="1"/>
          <p:nvPr/>
        </p:nvSpPr>
        <p:spPr>
          <a:xfrm>
            <a:off x="10470546" y="2061057"/>
            <a:ext cx="1188054" cy="329184"/>
          </a:xfrm>
          <a:prstGeom prst="rect">
            <a:avLst/>
          </a:prstGeom>
          <a:noFill/>
        </p:spPr>
        <p:txBody>
          <a:bodyPr wrap="square" lIns="0" tIns="0" rIns="0" bIns="0" anchor="ctr">
            <a:spAutoFit/>
          </a:bodyPr>
          <a:lstStyle/>
          <a:p>
            <a:pPr marL="0" indent="0" algn="ctr">
              <a:buNone/>
            </a:pPr>
            <a:r>
              <a:rPr sz="600" b="1" i="0">
                <a:solidFill>
                  <a:srgbClr val="C8102E"/>
                </a:solidFill>
              </a:rPr>
              <a:t>T+4 slots only</a:t>
            </a:r>
          </a:p>
          <a:p>
            <a:pPr marL="0" indent="0" algn="ctr">
              <a:buNone/>
            </a:pPr>
            <a:r>
              <a:rPr sz="600" b="1" i="0">
                <a:solidFill>
                  <a:srgbClr val="C8102E"/>
                </a:solidFill>
              </a:rPr>
              <a:t>+ bulky surcharge</a:t>
            </a:r>
          </a:p>
        </p:txBody>
      </p:sp>
      <p:cxnSp>
        <p:nvCxnSpPr>
          <p:cNvPr id="43" name="Connector 42"/>
          <p:cNvCxnSpPr/>
          <p:nvPr/>
        </p:nvCxnSpPr>
        <p:spPr>
          <a:xfrm>
            <a:off x="10241280" y="2148840"/>
            <a:ext cx="183546"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274320" y="256032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TextBox 44"/>
          <p:cNvSpPr txBox="1"/>
          <p:nvPr/>
        </p:nvSpPr>
        <p:spPr>
          <a:xfrm>
            <a:off x="402336" y="2560320"/>
            <a:ext cx="11612880" cy="256032"/>
          </a:xfrm>
          <a:prstGeom prst="rect">
            <a:avLst/>
          </a:prstGeom>
          <a:noFill/>
        </p:spPr>
        <p:txBody>
          <a:bodyPr wrap="square" lIns="0" tIns="0" rIns="0" bIns="0" anchor="ctr">
            <a:spAutoFit/>
          </a:bodyPr>
          <a:lstStyle/>
          <a:p>
            <a:pPr marL="0" indent="0" algn="l">
              <a:buNone/>
            </a:pPr>
            <a:r>
              <a:rPr sz="1000" b="1" i="0">
                <a:solidFill>
                  <a:srgbClr val="1E2F6E"/>
                </a:solidFill>
              </a:rPr>
              <a:t>Common continuation — both Delivery and Pickup converge here</a:t>
            </a:r>
          </a:p>
        </p:txBody>
      </p:sp>
      <p:sp>
        <p:nvSpPr>
          <p:cNvPr id="46" name="Rounded Rectangle 45"/>
          <p:cNvSpPr/>
          <p:nvPr/>
        </p:nvSpPr>
        <p:spPr>
          <a:xfrm>
            <a:off x="274320" y="2834640"/>
            <a:ext cx="1417320" cy="822960"/>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Rectangle 46"/>
          <p:cNvSpPr/>
          <p:nvPr/>
        </p:nvSpPr>
        <p:spPr>
          <a:xfrm>
            <a:off x="274320" y="2834640"/>
            <a:ext cx="1417320" cy="27432"/>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8" name="Oval 47"/>
          <p:cNvSpPr/>
          <p:nvPr/>
        </p:nvSpPr>
        <p:spPr>
          <a:xfrm>
            <a:off x="342900" y="2903220"/>
            <a:ext cx="182880" cy="182880"/>
          </a:xfrm>
          <a:prstGeom prst="ellipse">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9" name="TextBox 48"/>
          <p:cNvSpPr txBox="1"/>
          <p:nvPr/>
        </p:nvSpPr>
        <p:spPr>
          <a:xfrm>
            <a:off x="342900" y="290322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50" name="TextBox 49"/>
          <p:cNvSpPr txBox="1"/>
          <p:nvPr/>
        </p:nvSpPr>
        <p:spPr>
          <a:xfrm>
            <a:off x="571500" y="2903220"/>
            <a:ext cx="1051560" cy="182880"/>
          </a:xfrm>
          <a:prstGeom prst="rect">
            <a:avLst/>
          </a:prstGeom>
          <a:noFill/>
        </p:spPr>
        <p:txBody>
          <a:bodyPr wrap="square" lIns="0" tIns="0" rIns="0" bIns="0" anchor="ctr">
            <a:spAutoFit/>
          </a:bodyPr>
          <a:lstStyle/>
          <a:p>
            <a:pPr marL="0" indent="0" algn="l">
              <a:buNone/>
            </a:pPr>
            <a:r>
              <a:rPr sz="630" b="1" i="0">
                <a:solidFill>
                  <a:srgbClr val="1E2F6E"/>
                </a:solidFill>
              </a:rPr>
              <a:t>Add products to reach Freeship</a:t>
            </a:r>
          </a:p>
        </p:txBody>
      </p:sp>
      <p:sp>
        <p:nvSpPr>
          <p:cNvPr id="51" name="TextBox 50"/>
          <p:cNvSpPr txBox="1"/>
          <p:nvPr/>
        </p:nvSpPr>
        <p:spPr>
          <a:xfrm>
            <a:off x="342900" y="3131820"/>
            <a:ext cx="1280160" cy="457200"/>
          </a:xfrm>
          <a:prstGeom prst="rect">
            <a:avLst/>
          </a:prstGeom>
          <a:noFill/>
        </p:spPr>
        <p:txBody>
          <a:bodyPr wrap="square" lIns="0" tIns="0" rIns="0" bIns="0" anchor="t">
            <a:spAutoFit/>
          </a:bodyPr>
          <a:lstStyle/>
          <a:p>
            <a:pPr marL="0" indent="0" algn="l">
              <a:buNone/>
            </a:pPr>
            <a:r>
              <a:rPr sz="600" b="0" i="0">
                <a:solidFill>
                  <a:srgbClr val="555555"/>
                </a:solidFill>
              </a:rPr>
              <a:t>Threshold 150,000 ₫ for Standard. Suggestion logic TBC — OQ-15.</a:t>
            </a:r>
          </a:p>
        </p:txBody>
      </p:sp>
      <p:cxnSp>
        <p:nvCxnSpPr>
          <p:cNvPr id="52" name="Connector 51"/>
          <p:cNvCxnSpPr/>
          <p:nvPr/>
        </p:nvCxnSpPr>
        <p:spPr>
          <a:xfrm>
            <a:off x="1691640" y="3245640"/>
            <a:ext cx="68580" cy="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1760220" y="2834640"/>
            <a:ext cx="1417320" cy="822960"/>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4" name="Rectangle 53"/>
          <p:cNvSpPr/>
          <p:nvPr/>
        </p:nvSpPr>
        <p:spPr>
          <a:xfrm>
            <a:off x="1760220" y="2834640"/>
            <a:ext cx="1417320" cy="27432"/>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5" name="Oval 54"/>
          <p:cNvSpPr/>
          <p:nvPr/>
        </p:nvSpPr>
        <p:spPr>
          <a:xfrm>
            <a:off x="1828800" y="2903220"/>
            <a:ext cx="182880" cy="182880"/>
          </a:xfrm>
          <a:prstGeom prst="ellipse">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6" name="TextBox 55"/>
          <p:cNvSpPr txBox="1"/>
          <p:nvPr/>
        </p:nvSpPr>
        <p:spPr>
          <a:xfrm>
            <a:off x="1828800" y="290322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57" name="TextBox 56"/>
          <p:cNvSpPr txBox="1"/>
          <p:nvPr/>
        </p:nvSpPr>
        <p:spPr>
          <a:xfrm>
            <a:off x="2057400" y="2903220"/>
            <a:ext cx="1051560" cy="182880"/>
          </a:xfrm>
          <a:prstGeom prst="rect">
            <a:avLst/>
          </a:prstGeom>
          <a:noFill/>
        </p:spPr>
        <p:txBody>
          <a:bodyPr wrap="square" lIns="0" tIns="0" rIns="0" bIns="0" anchor="ctr">
            <a:spAutoFit/>
          </a:bodyPr>
          <a:lstStyle/>
          <a:p>
            <a:pPr marL="0" indent="0" algn="l">
              <a:buNone/>
            </a:pPr>
            <a:r>
              <a:rPr sz="630" b="1" i="0">
                <a:solidFill>
                  <a:srgbClr val="1E2F6E"/>
                </a:solidFill>
              </a:rPr>
              <a:t>Filter the list</a:t>
            </a:r>
          </a:p>
        </p:txBody>
      </p:sp>
      <p:sp>
        <p:nvSpPr>
          <p:cNvPr id="58" name="TextBox 57"/>
          <p:cNvSpPr txBox="1"/>
          <p:nvPr/>
        </p:nvSpPr>
        <p:spPr>
          <a:xfrm>
            <a:off x="1828800" y="3131820"/>
            <a:ext cx="1280160" cy="457200"/>
          </a:xfrm>
          <a:prstGeom prst="rect">
            <a:avLst/>
          </a:prstGeom>
          <a:noFill/>
        </p:spPr>
        <p:txBody>
          <a:bodyPr wrap="square" lIns="0" tIns="0" rIns="0" bIns="0" anchor="t">
            <a:spAutoFit/>
          </a:bodyPr>
          <a:lstStyle/>
          <a:p>
            <a:pPr marL="0" indent="0" algn="l">
              <a:buNone/>
            </a:pPr>
            <a:r>
              <a:rPr sz="600" b="0" i="0">
                <a:solidFill>
                  <a:srgbClr val="555555"/>
                </a:solidFill>
              </a:rPr>
              <a:t>Two independent, combinable filters: 60-Minute eligible, and BNPL eligible.</a:t>
            </a:r>
          </a:p>
        </p:txBody>
      </p:sp>
      <p:cxnSp>
        <p:nvCxnSpPr>
          <p:cNvPr id="59" name="Connector 58"/>
          <p:cNvCxnSpPr/>
          <p:nvPr/>
        </p:nvCxnSpPr>
        <p:spPr>
          <a:xfrm>
            <a:off x="3177540" y="3245640"/>
            <a:ext cx="68580" cy="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3246120" y="2834640"/>
            <a:ext cx="1417320" cy="822960"/>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1" name="Rectangle 60"/>
          <p:cNvSpPr/>
          <p:nvPr/>
        </p:nvSpPr>
        <p:spPr>
          <a:xfrm>
            <a:off x="3246120" y="2834640"/>
            <a:ext cx="1417320" cy="27432"/>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2" name="Oval 61"/>
          <p:cNvSpPr/>
          <p:nvPr/>
        </p:nvSpPr>
        <p:spPr>
          <a:xfrm>
            <a:off x="3314700" y="2903220"/>
            <a:ext cx="182880" cy="182880"/>
          </a:xfrm>
          <a:prstGeom prst="ellipse">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3" name="TextBox 62"/>
          <p:cNvSpPr txBox="1"/>
          <p:nvPr/>
        </p:nvSpPr>
        <p:spPr>
          <a:xfrm>
            <a:off x="3314700" y="290322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64" name="TextBox 63"/>
          <p:cNvSpPr txBox="1"/>
          <p:nvPr/>
        </p:nvSpPr>
        <p:spPr>
          <a:xfrm>
            <a:off x="3543300" y="2903220"/>
            <a:ext cx="1051560" cy="182880"/>
          </a:xfrm>
          <a:prstGeom prst="rect">
            <a:avLst/>
          </a:prstGeom>
          <a:noFill/>
        </p:spPr>
        <p:txBody>
          <a:bodyPr wrap="square" lIns="0" tIns="0" rIns="0" bIns="0" anchor="ctr">
            <a:spAutoFit/>
          </a:bodyPr>
          <a:lstStyle/>
          <a:p>
            <a:pPr marL="0" indent="0" algn="l">
              <a:buNone/>
            </a:pPr>
            <a:r>
              <a:rPr sz="630" b="1" i="0">
                <a:solidFill>
                  <a:srgbClr val="1E2F6E"/>
                </a:solidFill>
              </a:rPr>
              <a:t>Select products for checkout</a:t>
            </a:r>
          </a:p>
        </p:txBody>
      </p:sp>
      <p:sp>
        <p:nvSpPr>
          <p:cNvPr id="65" name="TextBox 64"/>
          <p:cNvSpPr txBox="1"/>
          <p:nvPr/>
        </p:nvSpPr>
        <p:spPr>
          <a:xfrm>
            <a:off x="3314700" y="3131820"/>
            <a:ext cx="1280160" cy="457200"/>
          </a:xfrm>
          <a:prstGeom prst="rect">
            <a:avLst/>
          </a:prstGeom>
          <a:noFill/>
        </p:spPr>
        <p:txBody>
          <a:bodyPr wrap="square" lIns="0" tIns="0" rIns="0" bIns="0" anchor="t">
            <a:spAutoFit/>
          </a:bodyPr>
          <a:lstStyle/>
          <a:p>
            <a:pPr marL="0" indent="0" algn="l">
              <a:buNone/>
            </a:pPr>
            <a:r>
              <a:rPr sz="600" b="0" i="0">
                <a:solidFill>
                  <a:srgbClr val="555555"/>
                </a:solidFill>
              </a:rPr>
              <a:t>Add / reduce quantity, delete, add a note. Maximum 30 items per checkout.</a:t>
            </a:r>
          </a:p>
        </p:txBody>
      </p:sp>
      <p:cxnSp>
        <p:nvCxnSpPr>
          <p:cNvPr id="66" name="Connector 65"/>
          <p:cNvCxnSpPr/>
          <p:nvPr/>
        </p:nvCxnSpPr>
        <p:spPr>
          <a:xfrm>
            <a:off x="4663440" y="3245640"/>
            <a:ext cx="68580" cy="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7" name="Rounded Rectangle 66"/>
          <p:cNvSpPr/>
          <p:nvPr/>
        </p:nvSpPr>
        <p:spPr>
          <a:xfrm>
            <a:off x="4732020" y="2834640"/>
            <a:ext cx="1417320" cy="822960"/>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8" name="Rectangle 67"/>
          <p:cNvSpPr/>
          <p:nvPr/>
        </p:nvSpPr>
        <p:spPr>
          <a:xfrm>
            <a:off x="4732020" y="2834640"/>
            <a:ext cx="1417320" cy="27432"/>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9" name="Oval 68"/>
          <p:cNvSpPr/>
          <p:nvPr/>
        </p:nvSpPr>
        <p:spPr>
          <a:xfrm>
            <a:off x="4800600" y="2903220"/>
            <a:ext cx="182880" cy="182880"/>
          </a:xfrm>
          <a:prstGeom prst="ellipse">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0" name="TextBox 69"/>
          <p:cNvSpPr txBox="1"/>
          <p:nvPr/>
        </p:nvSpPr>
        <p:spPr>
          <a:xfrm>
            <a:off x="4800600" y="290322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71" name="TextBox 70"/>
          <p:cNvSpPr txBox="1"/>
          <p:nvPr/>
        </p:nvSpPr>
        <p:spPr>
          <a:xfrm>
            <a:off x="5029200" y="2903220"/>
            <a:ext cx="1051560" cy="182880"/>
          </a:xfrm>
          <a:prstGeom prst="rect">
            <a:avLst/>
          </a:prstGeom>
          <a:noFill/>
        </p:spPr>
        <p:txBody>
          <a:bodyPr wrap="square" lIns="0" tIns="0" rIns="0" bIns="0" anchor="ctr">
            <a:spAutoFit/>
          </a:bodyPr>
          <a:lstStyle/>
          <a:p>
            <a:pPr marL="0" indent="0" algn="l">
              <a:buNone/>
            </a:pPr>
            <a:r>
              <a:rPr sz="630" b="1" i="0">
                <a:solidFill>
                  <a:srgbClr val="1E2F6E"/>
                </a:solidFill>
              </a:rPr>
              <a:t>Apply coupons</a:t>
            </a:r>
          </a:p>
        </p:txBody>
      </p:sp>
      <p:sp>
        <p:nvSpPr>
          <p:cNvPr id="72" name="TextBox 71"/>
          <p:cNvSpPr txBox="1"/>
          <p:nvPr/>
        </p:nvSpPr>
        <p:spPr>
          <a:xfrm>
            <a:off x="4800600" y="3131820"/>
            <a:ext cx="1280160" cy="457200"/>
          </a:xfrm>
          <a:prstGeom prst="rect">
            <a:avLst/>
          </a:prstGeom>
          <a:noFill/>
        </p:spPr>
        <p:txBody>
          <a:bodyPr wrap="square" lIns="0" tIns="0" rIns="0" bIns="0" anchor="t">
            <a:spAutoFit/>
          </a:bodyPr>
          <a:lstStyle/>
          <a:p>
            <a:pPr marL="0" indent="0" algn="l">
              <a:buNone/>
            </a:pPr>
            <a:r>
              <a:rPr sz="600" b="0" i="0">
                <a:solidFill>
                  <a:srgbClr val="555555"/>
                </a:solidFill>
              </a:rPr>
              <a:t>Applied automatically by default; delivery coupons and order/product coupons are shown as separate groups.</a:t>
            </a:r>
          </a:p>
        </p:txBody>
      </p:sp>
      <p:cxnSp>
        <p:nvCxnSpPr>
          <p:cNvPr id="73" name="Connector 72"/>
          <p:cNvCxnSpPr/>
          <p:nvPr/>
        </p:nvCxnSpPr>
        <p:spPr>
          <a:xfrm>
            <a:off x="6149340" y="3245640"/>
            <a:ext cx="68580" cy="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74" name="Rounded Rectangle 73"/>
          <p:cNvSpPr/>
          <p:nvPr/>
        </p:nvSpPr>
        <p:spPr>
          <a:xfrm>
            <a:off x="6217920" y="2834640"/>
            <a:ext cx="1417320" cy="822960"/>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5" name="Rectangle 74"/>
          <p:cNvSpPr/>
          <p:nvPr/>
        </p:nvSpPr>
        <p:spPr>
          <a:xfrm>
            <a:off x="6217920" y="2834640"/>
            <a:ext cx="1417320" cy="27432"/>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6" name="Oval 75"/>
          <p:cNvSpPr/>
          <p:nvPr/>
        </p:nvSpPr>
        <p:spPr>
          <a:xfrm>
            <a:off x="6286500" y="2903220"/>
            <a:ext cx="182880" cy="182880"/>
          </a:xfrm>
          <a:prstGeom prst="ellipse">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7" name="TextBox 76"/>
          <p:cNvSpPr txBox="1"/>
          <p:nvPr/>
        </p:nvSpPr>
        <p:spPr>
          <a:xfrm>
            <a:off x="6286500" y="290322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78" name="TextBox 77"/>
          <p:cNvSpPr txBox="1"/>
          <p:nvPr/>
        </p:nvSpPr>
        <p:spPr>
          <a:xfrm>
            <a:off x="6515100" y="2903220"/>
            <a:ext cx="1051560" cy="182880"/>
          </a:xfrm>
          <a:prstGeom prst="rect">
            <a:avLst/>
          </a:prstGeom>
          <a:noFill/>
        </p:spPr>
        <p:txBody>
          <a:bodyPr wrap="square" lIns="0" tIns="0" rIns="0" bIns="0" anchor="ctr">
            <a:spAutoFit/>
          </a:bodyPr>
          <a:lstStyle/>
          <a:p>
            <a:pPr marL="0" indent="0" algn="l">
              <a:buNone/>
            </a:pPr>
            <a:r>
              <a:rPr sz="630" b="1" i="0">
                <a:solidFill>
                  <a:srgbClr val="1E2F6E"/>
                </a:solidFill>
              </a:rPr>
              <a:t>Refill &amp; PwP</a:t>
            </a:r>
          </a:p>
        </p:txBody>
      </p:sp>
      <p:sp>
        <p:nvSpPr>
          <p:cNvPr id="79" name="TextBox 78"/>
          <p:cNvSpPr txBox="1"/>
          <p:nvPr/>
        </p:nvSpPr>
        <p:spPr>
          <a:xfrm>
            <a:off x="6286500" y="3131820"/>
            <a:ext cx="1280160" cy="457200"/>
          </a:xfrm>
          <a:prstGeom prst="rect">
            <a:avLst/>
          </a:prstGeom>
          <a:noFill/>
        </p:spPr>
        <p:txBody>
          <a:bodyPr wrap="square" lIns="0" tIns="0" rIns="0" bIns="0" anchor="t">
            <a:spAutoFit/>
          </a:bodyPr>
          <a:lstStyle/>
          <a:p>
            <a:pPr marL="0" indent="0" algn="l">
              <a:buNone/>
            </a:pPr>
            <a:r>
              <a:rPr sz="600" b="0" i="0">
                <a:solidFill>
                  <a:srgbClr val="555555"/>
                </a:solidFill>
              </a:rPr>
              <a:t>Refill timing for recurring products; Purchase-with-Purchase offers unlocked by spend milestones.</a:t>
            </a:r>
          </a:p>
        </p:txBody>
      </p:sp>
      <p:cxnSp>
        <p:nvCxnSpPr>
          <p:cNvPr id="80" name="Connector 79"/>
          <p:cNvCxnSpPr/>
          <p:nvPr/>
        </p:nvCxnSpPr>
        <p:spPr>
          <a:xfrm>
            <a:off x="7635240" y="3245640"/>
            <a:ext cx="68580" cy="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81" name="Rounded Rectangle 80"/>
          <p:cNvSpPr/>
          <p:nvPr/>
        </p:nvSpPr>
        <p:spPr>
          <a:xfrm>
            <a:off x="7703820" y="2834640"/>
            <a:ext cx="1417320" cy="822960"/>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2" name="Rectangle 81"/>
          <p:cNvSpPr/>
          <p:nvPr/>
        </p:nvSpPr>
        <p:spPr>
          <a:xfrm>
            <a:off x="7703820" y="2834640"/>
            <a:ext cx="1417320" cy="27432"/>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Oval 82"/>
          <p:cNvSpPr/>
          <p:nvPr/>
        </p:nvSpPr>
        <p:spPr>
          <a:xfrm>
            <a:off x="7772400" y="2903220"/>
            <a:ext cx="182880" cy="182880"/>
          </a:xfrm>
          <a:prstGeom prst="ellipse">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4" name="TextBox 83"/>
          <p:cNvSpPr txBox="1"/>
          <p:nvPr/>
        </p:nvSpPr>
        <p:spPr>
          <a:xfrm>
            <a:off x="7772400" y="290322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sp>
        <p:nvSpPr>
          <p:cNvPr id="85" name="TextBox 84"/>
          <p:cNvSpPr txBox="1"/>
          <p:nvPr/>
        </p:nvSpPr>
        <p:spPr>
          <a:xfrm>
            <a:off x="8001000" y="2903220"/>
            <a:ext cx="1051560" cy="182880"/>
          </a:xfrm>
          <a:prstGeom prst="rect">
            <a:avLst/>
          </a:prstGeom>
          <a:noFill/>
        </p:spPr>
        <p:txBody>
          <a:bodyPr wrap="square" lIns="0" tIns="0" rIns="0" bIns="0" anchor="ctr">
            <a:spAutoFit/>
          </a:bodyPr>
          <a:lstStyle/>
          <a:p>
            <a:pPr marL="0" indent="0" algn="l">
              <a:buNone/>
            </a:pPr>
            <a:r>
              <a:rPr sz="630" b="1" i="0">
                <a:solidFill>
                  <a:srgbClr val="1E2F6E"/>
                </a:solidFill>
              </a:rPr>
              <a:t>Provisional payment summary</a:t>
            </a:r>
          </a:p>
        </p:txBody>
      </p:sp>
      <p:sp>
        <p:nvSpPr>
          <p:cNvPr id="86" name="TextBox 85"/>
          <p:cNvSpPr txBox="1"/>
          <p:nvPr/>
        </p:nvSpPr>
        <p:spPr>
          <a:xfrm>
            <a:off x="7772400" y="3131820"/>
            <a:ext cx="1280160" cy="92333"/>
          </a:xfrm>
          <a:prstGeom prst="rect">
            <a:avLst/>
          </a:prstGeom>
          <a:noFill/>
        </p:spPr>
        <p:txBody>
          <a:bodyPr wrap="square" lIns="0" tIns="0" rIns="0" bIns="0" anchor="t">
            <a:spAutoFit/>
          </a:bodyPr>
          <a:lstStyle/>
          <a:p>
            <a:pPr marL="0" indent="0" algn="l">
              <a:buNone/>
            </a:pPr>
            <a:r>
              <a:rPr sz="600" b="0" i="0">
                <a:solidFill>
                  <a:srgbClr val="555555"/>
                </a:solidFill>
              </a:rPr>
              <a:t>Recalculated in real time</a:t>
            </a:r>
            <a:r>
              <a:rPr lang="en-US" sz="600">
                <a:solidFill>
                  <a:srgbClr val="555555"/>
                </a:solidFill>
              </a:rPr>
              <a:t>.</a:t>
            </a:r>
            <a:endParaRPr sz="600" b="0" i="0">
              <a:solidFill>
                <a:srgbClr val="555555"/>
              </a:solidFill>
            </a:endParaRPr>
          </a:p>
        </p:txBody>
      </p:sp>
      <p:cxnSp>
        <p:nvCxnSpPr>
          <p:cNvPr id="87" name="Connector 86"/>
          <p:cNvCxnSpPr/>
          <p:nvPr/>
        </p:nvCxnSpPr>
        <p:spPr>
          <a:xfrm>
            <a:off x="9121140" y="3245640"/>
            <a:ext cx="68580" cy="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88" name="Rounded Rectangle 87"/>
          <p:cNvSpPr/>
          <p:nvPr/>
        </p:nvSpPr>
        <p:spPr>
          <a:xfrm>
            <a:off x="9189720" y="2834640"/>
            <a:ext cx="1417320" cy="822960"/>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9" name="Rectangle 88"/>
          <p:cNvSpPr/>
          <p:nvPr/>
        </p:nvSpPr>
        <p:spPr>
          <a:xfrm>
            <a:off x="9189720" y="2834640"/>
            <a:ext cx="1417320" cy="27432"/>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0" name="Oval 89"/>
          <p:cNvSpPr/>
          <p:nvPr/>
        </p:nvSpPr>
        <p:spPr>
          <a:xfrm>
            <a:off x="9258300" y="2903220"/>
            <a:ext cx="182880" cy="182880"/>
          </a:xfrm>
          <a:prstGeom prst="ellipse">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1" name="TextBox 90"/>
          <p:cNvSpPr txBox="1"/>
          <p:nvPr/>
        </p:nvSpPr>
        <p:spPr>
          <a:xfrm>
            <a:off x="9258300" y="290322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sp>
        <p:nvSpPr>
          <p:cNvPr id="92" name="TextBox 91"/>
          <p:cNvSpPr txBox="1"/>
          <p:nvPr/>
        </p:nvSpPr>
        <p:spPr>
          <a:xfrm>
            <a:off x="9486900" y="2903220"/>
            <a:ext cx="1051560" cy="182880"/>
          </a:xfrm>
          <a:prstGeom prst="rect">
            <a:avLst/>
          </a:prstGeom>
          <a:noFill/>
        </p:spPr>
        <p:txBody>
          <a:bodyPr wrap="square" lIns="0" tIns="0" rIns="0" bIns="0" anchor="ctr">
            <a:spAutoFit/>
          </a:bodyPr>
          <a:lstStyle/>
          <a:p>
            <a:pPr marL="0" indent="0" algn="l">
              <a:buNone/>
            </a:pPr>
            <a:r>
              <a:rPr sz="630" b="1" i="0">
                <a:solidFill>
                  <a:srgbClr val="1E2F6E"/>
                </a:solidFill>
              </a:rPr>
              <a:t>Out-of-stock handling</a:t>
            </a:r>
          </a:p>
        </p:txBody>
      </p:sp>
      <p:sp>
        <p:nvSpPr>
          <p:cNvPr id="93" name="TextBox 92"/>
          <p:cNvSpPr txBox="1"/>
          <p:nvPr/>
        </p:nvSpPr>
        <p:spPr>
          <a:xfrm>
            <a:off x="9258300" y="3131820"/>
            <a:ext cx="1280160" cy="457200"/>
          </a:xfrm>
          <a:prstGeom prst="rect">
            <a:avLst/>
          </a:prstGeom>
          <a:noFill/>
        </p:spPr>
        <p:txBody>
          <a:bodyPr wrap="square" lIns="0" tIns="0" rIns="0" bIns="0" anchor="t">
            <a:spAutoFit/>
          </a:bodyPr>
          <a:lstStyle/>
          <a:p>
            <a:pPr marL="0" indent="0" algn="l">
              <a:buNone/>
            </a:pPr>
            <a:r>
              <a:rPr sz="600" b="0" i="0">
                <a:solidFill>
                  <a:srgbClr val="555555"/>
                </a:solidFill>
              </a:rPr>
              <a:t>Unavailable items are separated out and replacements offered; the rest can still check out.</a:t>
            </a:r>
          </a:p>
        </p:txBody>
      </p:sp>
      <p:cxnSp>
        <p:nvCxnSpPr>
          <p:cNvPr id="94" name="Connector 93"/>
          <p:cNvCxnSpPr/>
          <p:nvPr/>
        </p:nvCxnSpPr>
        <p:spPr>
          <a:xfrm>
            <a:off x="10607040" y="3245640"/>
            <a:ext cx="68580" cy="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5" name="Rounded Rectangle 94"/>
          <p:cNvSpPr/>
          <p:nvPr/>
        </p:nvSpPr>
        <p:spPr>
          <a:xfrm>
            <a:off x="10675620" y="2834640"/>
            <a:ext cx="1417320" cy="822960"/>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6" name="Rectangle 95"/>
          <p:cNvSpPr/>
          <p:nvPr/>
        </p:nvSpPr>
        <p:spPr>
          <a:xfrm>
            <a:off x="10675620" y="2834640"/>
            <a:ext cx="1417320" cy="27432"/>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7" name="Oval 96"/>
          <p:cNvSpPr/>
          <p:nvPr/>
        </p:nvSpPr>
        <p:spPr>
          <a:xfrm>
            <a:off x="10744200" y="2903220"/>
            <a:ext cx="182880" cy="182880"/>
          </a:xfrm>
          <a:prstGeom prst="ellipse">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8" name="TextBox 97"/>
          <p:cNvSpPr txBox="1"/>
          <p:nvPr/>
        </p:nvSpPr>
        <p:spPr>
          <a:xfrm>
            <a:off x="10744200" y="290322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8</a:t>
            </a:r>
          </a:p>
        </p:txBody>
      </p:sp>
      <p:sp>
        <p:nvSpPr>
          <p:cNvPr id="99" name="TextBox 98"/>
          <p:cNvSpPr txBox="1"/>
          <p:nvPr/>
        </p:nvSpPr>
        <p:spPr>
          <a:xfrm>
            <a:off x="10972800" y="2903220"/>
            <a:ext cx="1051560" cy="182880"/>
          </a:xfrm>
          <a:prstGeom prst="rect">
            <a:avLst/>
          </a:prstGeom>
          <a:noFill/>
        </p:spPr>
        <p:txBody>
          <a:bodyPr wrap="square" lIns="0" tIns="0" rIns="0" bIns="0" anchor="ctr">
            <a:spAutoFit/>
          </a:bodyPr>
          <a:lstStyle/>
          <a:p>
            <a:pPr marL="0" indent="0" algn="l">
              <a:buNone/>
            </a:pPr>
            <a:r>
              <a:rPr sz="630" b="1" i="0">
                <a:solidFill>
                  <a:srgbClr val="1E2F6E"/>
                </a:solidFill>
              </a:rPr>
              <a:t>Proceed to Checkout</a:t>
            </a:r>
          </a:p>
        </p:txBody>
      </p:sp>
      <p:sp>
        <p:nvSpPr>
          <p:cNvPr id="100" name="TextBox 99"/>
          <p:cNvSpPr txBox="1"/>
          <p:nvPr/>
        </p:nvSpPr>
        <p:spPr>
          <a:xfrm>
            <a:off x="10744200" y="3131820"/>
            <a:ext cx="1280160" cy="457200"/>
          </a:xfrm>
          <a:prstGeom prst="rect">
            <a:avLst/>
          </a:prstGeom>
          <a:noFill/>
        </p:spPr>
        <p:txBody>
          <a:bodyPr wrap="square" lIns="0" tIns="0" rIns="0" bIns="0" anchor="t">
            <a:spAutoFit/>
          </a:bodyPr>
          <a:lstStyle/>
          <a:p>
            <a:pPr marL="0" indent="0" algn="l">
              <a:buNone/>
            </a:pPr>
            <a:r>
              <a:rPr sz="600" b="0" i="0">
                <a:solidFill>
                  <a:srgbClr val="555555"/>
                </a:solidFill>
              </a:rPr>
              <a:t>Order contents are frozen at this point (BR-09).</a:t>
            </a:r>
          </a:p>
        </p:txBody>
      </p:sp>
      <p:sp>
        <p:nvSpPr>
          <p:cNvPr id="101" name="Rectangle 100"/>
          <p:cNvSpPr/>
          <p:nvPr/>
        </p:nvSpPr>
        <p:spPr>
          <a:xfrm>
            <a:off x="274320" y="379476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2" name="TextBox 101"/>
          <p:cNvSpPr txBox="1"/>
          <p:nvPr/>
        </p:nvSpPr>
        <p:spPr>
          <a:xfrm>
            <a:off x="402336" y="3794760"/>
            <a:ext cx="11612880" cy="256032"/>
          </a:xfrm>
          <a:prstGeom prst="rect">
            <a:avLst/>
          </a:prstGeom>
          <a:noFill/>
        </p:spPr>
        <p:txBody>
          <a:bodyPr wrap="square" lIns="0" tIns="0" rIns="0" bIns="0" anchor="ctr">
            <a:spAutoFit/>
          </a:bodyPr>
          <a:lstStyle/>
          <a:p>
            <a:pPr marL="0" indent="0" algn="l">
              <a:buNone/>
            </a:pPr>
            <a:r>
              <a:rPr sz="1000" b="1" i="0">
                <a:solidFill>
                  <a:srgbClr val="1E2F6E"/>
                </a:solidFill>
              </a:rPr>
              <a:t>Delivery rules applied in this flow</a:t>
            </a:r>
          </a:p>
        </p:txBody>
      </p:sp>
      <p:graphicFrame>
        <p:nvGraphicFramePr>
          <p:cNvPr id="103" name="Table 102"/>
          <p:cNvGraphicFramePr>
            <a:graphicFrameLocks noGrp="1"/>
          </p:cNvGraphicFramePr>
          <p:nvPr/>
        </p:nvGraphicFramePr>
        <p:xfrm>
          <a:off x="274320" y="4069080"/>
          <a:ext cx="11612880" cy="2249424"/>
        </p:xfrm>
        <a:graphic>
          <a:graphicData uri="http://schemas.openxmlformats.org/drawingml/2006/table">
            <a:tbl>
              <a:tblPr/>
              <a:tblGrid>
                <a:gridCol w="7315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73152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192024">
                <a:tc>
                  <a:txBody>
                    <a:bodyPr/>
                    <a:lstStyle/>
                    <a:p>
                      <a:pPr marL="0" indent="0" algn="ctr">
                        <a:buNone/>
                      </a:pPr>
                      <a:r>
                        <a:rPr sz="680" b="1" i="0">
                          <a:solidFill>
                            <a:srgbClr val="FFFFFF"/>
                          </a:solidFill>
                        </a:rPr>
                        <a:t>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Value / behaviour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Status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28600">
                <a:tc>
                  <a:txBody>
                    <a:bodyPr/>
                    <a:lstStyle/>
                    <a:p>
                      <a:pPr marL="0" indent="0" algn="ctr">
                        <a:buNone/>
                      </a:pPr>
                      <a:r>
                        <a:rPr sz="680" b="0" i="0">
                          <a:solidFill>
                            <a:srgbClr val="222222"/>
                          </a:solidFill>
                        </a:rPr>
                        <a:t>BRL-10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60-Minute service radius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3–5 km, configured per store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28600">
                <a:tc>
                  <a:txBody>
                    <a:bodyPr/>
                    <a:lstStyle/>
                    <a:p>
                      <a:pPr marL="0" indent="0" algn="ctr">
                        <a:buNone/>
                      </a:pPr>
                      <a:r>
                        <a:rPr sz="680" b="0" i="0">
                          <a:solidFill>
                            <a:srgbClr val="222222"/>
                          </a:solidFill>
                        </a:rPr>
                        <a:t>BRL-11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Standard service radius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Configured per store (e.g. 10 km / 15 km). May be replaced by map-drawn service areas — SI team in progress.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May change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28600">
                <a:tc>
                  <a:txBody>
                    <a:bodyPr/>
                    <a:lstStyle/>
                    <a:p>
                      <a:pPr marL="0" indent="0" algn="ctr">
                        <a:buNone/>
                      </a:pPr>
                      <a:r>
                        <a:rPr sz="680" b="0" i="0">
                          <a:solidFill>
                            <a:srgbClr val="222222"/>
                          </a:solidFill>
                        </a:rPr>
                        <a:t>BRL-12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Next-day coverage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Beyond the Standard radius, configured by area / ward. Whether coverage is complete is unresolved — OQ-09.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Open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28600">
                <a:tc>
                  <a:txBody>
                    <a:bodyPr/>
                    <a:lstStyle/>
                    <a:p>
                      <a:pPr marL="0" indent="0" algn="ctr">
                        <a:buNone/>
                      </a:pPr>
                      <a:r>
                        <a:rPr sz="680" b="0" i="0">
                          <a:solidFill>
                            <a:srgbClr val="222222"/>
                          </a:solidFill>
                        </a:rPr>
                        <a:t>BRL-18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60-Minute delivery fee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Fixed fee. Free only when a delivery coupon covers it — never free on order value alone.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228600">
                <a:tc>
                  <a:txBody>
                    <a:bodyPr/>
                    <a:lstStyle/>
                    <a:p>
                      <a:pPr marL="0" indent="0" algn="ctr">
                        <a:buNone/>
                      </a:pPr>
                      <a:r>
                        <a:rPr sz="680" b="0" i="0">
                          <a:solidFill>
                            <a:srgbClr val="222222"/>
                          </a:solidFill>
                        </a:rPr>
                        <a:t>BRL-19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Standard freeship threshold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Order ≥ 150,000 ₫ — unchanged from As-Is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228600">
                <a:tc>
                  <a:txBody>
                    <a:bodyPr/>
                    <a:lstStyle/>
                    <a:p>
                      <a:pPr marL="0" indent="0" algn="ctr">
                        <a:buNone/>
                      </a:pPr>
                      <a:r>
                        <a:rPr sz="680" b="0" i="0">
                          <a:solidFill>
                            <a:srgbClr val="222222"/>
                          </a:solidFill>
                        </a:rPr>
                        <a:t>BRL-20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60-Minute slot warning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Warn the customer when remaining slots reach the threshold (currently 1). The threshold is a system parameter, changeable without a flow change.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228600">
                <a:tc>
                  <a:txBody>
                    <a:bodyPr/>
                    <a:lstStyle/>
                    <a:p>
                      <a:pPr marL="0" indent="0" algn="ctr">
                        <a:buNone/>
                      </a:pPr>
                      <a:r>
                        <a:rPr sz="680" b="0" i="0">
                          <a:solidFill>
                            <a:srgbClr val="222222"/>
                          </a:solidFill>
                        </a:rPr>
                        <a:t>BRL-21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Slot re-opening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Capacity is released when an order is marked “ready for delivery”; while capacity remains, the slot re-opens automatically.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228600">
                <a:tc>
                  <a:txBody>
                    <a:bodyPr/>
                    <a:lstStyle/>
                    <a:p>
                      <a:pPr marL="0" indent="0" algn="ctr">
                        <a:buNone/>
                      </a:pPr>
                      <a:r>
                        <a:rPr sz="680" b="0" i="0">
                          <a:solidFill>
                            <a:srgbClr val="222222"/>
                          </a:solidFill>
                        </a:rPr>
                        <a:t>BRL-22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Bulky order definition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Total order weight over 15 kg, OR at least one item labelled “bulky”. Evaluated on the selected combination, not per product.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r h="228600">
                <a:tc>
                  <a:txBody>
                    <a:bodyPr/>
                    <a:lstStyle/>
                    <a:p>
                      <a:pPr marL="0" indent="0" algn="ctr">
                        <a:buNone/>
                      </a:pPr>
                      <a:r>
                        <a:rPr sz="680" b="0" i="0">
                          <a:solidFill>
                            <a:srgbClr val="222222"/>
                          </a:solidFill>
                        </a:rPr>
                        <a:t>BRL-23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Bulky order effect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Earliest selectable slot moves from T+2 to T+4; the delivery fee of the chosen service applies plus a bulky surcharge.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PF-08  ·  Cart — Pickup Branch &amp; Lockers</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17</a:t>
            </a:r>
          </a:p>
        </p:txBody>
      </p:sp>
      <p:sp>
        <p:nvSpPr>
          <p:cNvPr id="9" name="Rectangle 8"/>
          <p:cNvSpPr/>
          <p:nvPr/>
        </p:nvSpPr>
        <p:spPr>
          <a:xfrm>
            <a:off x="274320" y="640080"/>
            <a:ext cx="2113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365760" y="640080"/>
            <a:ext cx="1976000" cy="246888"/>
          </a:xfrm>
          <a:prstGeom prst="rect">
            <a:avLst/>
          </a:prstGeom>
          <a:noFill/>
        </p:spPr>
        <p:txBody>
          <a:bodyPr wrap="square" lIns="0" tIns="0" rIns="0" bIns="0" anchor="ctr">
            <a:spAutoFit/>
          </a:bodyPr>
          <a:lstStyle/>
          <a:p>
            <a:pPr marL="0" indent="0" algn="l">
              <a:buNone/>
            </a:pPr>
            <a:r>
              <a:rPr sz="680" b="1" i="0">
                <a:solidFill>
                  <a:srgbClr val="1E2F6E"/>
                </a:solidFill>
              </a:rPr>
              <a:t>Trigger: </a:t>
            </a:r>
            <a:r>
              <a:rPr sz="680" b="0" i="0">
                <a:solidFill>
                  <a:srgbClr val="555555"/>
                </a:solidFill>
              </a:rPr>
              <a:t>“Self pick-up” tab in the Cart</a:t>
            </a:r>
          </a:p>
        </p:txBody>
      </p:sp>
      <p:sp>
        <p:nvSpPr>
          <p:cNvPr id="11" name="Rectangle 10"/>
          <p:cNvSpPr/>
          <p:nvPr/>
        </p:nvSpPr>
        <p:spPr>
          <a:xfrm>
            <a:off x="2456060" y="640080"/>
            <a:ext cx="761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2547500" y="640080"/>
            <a:ext cx="624000" cy="246888"/>
          </a:xfrm>
          <a:prstGeom prst="rect">
            <a:avLst/>
          </a:prstGeom>
          <a:noFill/>
        </p:spPr>
        <p:txBody>
          <a:bodyPr wrap="square" lIns="0" tIns="0" rIns="0" bIns="0" anchor="ctr">
            <a:spAutoFit/>
          </a:bodyPr>
          <a:lstStyle/>
          <a:p>
            <a:pPr marL="0" indent="0" algn="l">
              <a:buNone/>
            </a:pPr>
            <a:r>
              <a:rPr sz="680" b="1" i="0">
                <a:solidFill>
                  <a:srgbClr val="1E2F6E"/>
                </a:solidFill>
              </a:rPr>
              <a:t>Actor: </a:t>
            </a:r>
            <a:r>
              <a:rPr sz="680" b="0" i="0">
                <a:solidFill>
                  <a:srgbClr val="555555"/>
                </a:solidFill>
              </a:rPr>
              <a:t>Member</a:t>
            </a:r>
          </a:p>
        </p:txBody>
      </p:sp>
      <p:sp>
        <p:nvSpPr>
          <p:cNvPr id="13" name="Rectangle 12"/>
          <p:cNvSpPr/>
          <p:nvPr/>
        </p:nvSpPr>
        <p:spPr>
          <a:xfrm>
            <a:off x="3285800" y="640080"/>
            <a:ext cx="1593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3377240" y="640080"/>
            <a:ext cx="1456000" cy="246888"/>
          </a:xfrm>
          <a:prstGeom prst="rect">
            <a:avLst/>
          </a:prstGeom>
          <a:noFill/>
        </p:spPr>
        <p:txBody>
          <a:bodyPr wrap="square" lIns="0" tIns="0" rIns="0" bIns="0" anchor="ctr">
            <a:spAutoFit/>
          </a:bodyPr>
          <a:lstStyle/>
          <a:p>
            <a:pPr marL="0" indent="0" algn="l">
              <a:buNone/>
            </a:pPr>
            <a:r>
              <a:rPr sz="680" b="1" i="0">
                <a:solidFill>
                  <a:srgbClr val="1E2F6E"/>
                </a:solidFill>
              </a:rPr>
              <a:t>Realises: </a:t>
            </a:r>
            <a:r>
              <a:rPr sz="680" b="0" i="0">
                <a:solidFill>
                  <a:srgbClr val="555555"/>
                </a:solidFill>
              </a:rPr>
              <a:t>CT-02, CT-09, CT-10</a:t>
            </a:r>
          </a:p>
        </p:txBody>
      </p:sp>
      <p:sp>
        <p:nvSpPr>
          <p:cNvPr id="15" name="Rounded Rectangle 14"/>
          <p:cNvSpPr/>
          <p:nvPr/>
        </p:nvSpPr>
        <p:spPr>
          <a:xfrm>
            <a:off x="274320" y="1005840"/>
            <a:ext cx="2011680" cy="594360"/>
          </a:xfrm>
          <a:prstGeom prst="roundRect">
            <a:avLst>
              <a:gd name="adj" fmla="val 14000"/>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320040" y="1005840"/>
            <a:ext cx="1920240" cy="594360"/>
          </a:xfrm>
          <a:prstGeom prst="rect">
            <a:avLst/>
          </a:prstGeom>
          <a:noFill/>
        </p:spPr>
        <p:txBody>
          <a:bodyPr wrap="square" lIns="0" tIns="0" rIns="0" bIns="0" anchor="ctr">
            <a:spAutoFit/>
          </a:bodyPr>
          <a:lstStyle/>
          <a:p>
            <a:pPr marL="0" indent="0" algn="ctr">
              <a:buNone/>
            </a:pPr>
            <a:r>
              <a:rPr sz="700" b="1" i="0">
                <a:solidFill>
                  <a:srgbClr val="C8102E"/>
                </a:solidFill>
              </a:rPr>
              <a:t>Choose the</a:t>
            </a:r>
          </a:p>
          <a:p>
            <a:pPr marL="0" indent="0" algn="ctr">
              <a:buNone/>
            </a:pPr>
            <a:r>
              <a:rPr sz="700" b="1" i="0">
                <a:solidFill>
                  <a:srgbClr val="C8102E"/>
                </a:solidFill>
              </a:rPr>
              <a:t>Pickup tab</a:t>
            </a:r>
          </a:p>
        </p:txBody>
      </p:sp>
      <p:cxnSp>
        <p:nvCxnSpPr>
          <p:cNvPr id="17" name="Connector 16"/>
          <p:cNvCxnSpPr/>
          <p:nvPr/>
        </p:nvCxnSpPr>
        <p:spPr>
          <a:xfrm>
            <a:off x="2286000" y="1303020"/>
            <a:ext cx="18288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468880" y="1005840"/>
            <a:ext cx="2011680" cy="594360"/>
          </a:xfrm>
          <a:prstGeom prst="roundRect">
            <a:avLst>
              <a:gd name="adj" fmla="val 14000"/>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9" name="TextBox 18"/>
          <p:cNvSpPr txBox="1"/>
          <p:nvPr/>
        </p:nvSpPr>
        <p:spPr>
          <a:xfrm>
            <a:off x="2514600" y="1005840"/>
            <a:ext cx="1920240" cy="594360"/>
          </a:xfrm>
          <a:prstGeom prst="rect">
            <a:avLst/>
          </a:prstGeom>
          <a:noFill/>
        </p:spPr>
        <p:txBody>
          <a:bodyPr wrap="square" lIns="0" tIns="0" rIns="0" bIns="0" anchor="ctr">
            <a:spAutoFit/>
          </a:bodyPr>
          <a:lstStyle/>
          <a:p>
            <a:pPr marL="0" indent="0" algn="ctr">
              <a:buNone/>
            </a:pPr>
            <a:r>
              <a:rPr sz="700" b="1" i="0">
                <a:solidFill>
                  <a:srgbClr val="C8102E"/>
                </a:solidFill>
              </a:rPr>
              <a:t>Enter collector details</a:t>
            </a:r>
          </a:p>
          <a:p>
            <a:pPr marL="0" indent="0" algn="ctr">
              <a:buNone/>
            </a:pPr>
            <a:r>
              <a:rPr sz="700" b="1" i="0">
                <a:solidFill>
                  <a:srgbClr val="C8102E"/>
                </a:solidFill>
              </a:rPr>
              <a:t>name · phone</a:t>
            </a:r>
          </a:p>
        </p:txBody>
      </p:sp>
      <p:cxnSp>
        <p:nvCxnSpPr>
          <p:cNvPr id="20" name="Connector 19"/>
          <p:cNvCxnSpPr/>
          <p:nvPr/>
        </p:nvCxnSpPr>
        <p:spPr>
          <a:xfrm>
            <a:off x="4480560" y="1303020"/>
            <a:ext cx="18288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663440" y="1005840"/>
            <a:ext cx="2011680" cy="594360"/>
          </a:xfrm>
          <a:prstGeom prst="roundRect">
            <a:avLst>
              <a:gd name="adj" fmla="val 14000"/>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TextBox 21"/>
          <p:cNvSpPr txBox="1"/>
          <p:nvPr/>
        </p:nvSpPr>
        <p:spPr>
          <a:xfrm>
            <a:off x="4709160" y="1005840"/>
            <a:ext cx="1920240" cy="594360"/>
          </a:xfrm>
          <a:prstGeom prst="rect">
            <a:avLst/>
          </a:prstGeom>
          <a:noFill/>
        </p:spPr>
        <p:txBody>
          <a:bodyPr wrap="square" lIns="0" tIns="0" rIns="0" bIns="0" anchor="ctr">
            <a:spAutoFit/>
          </a:bodyPr>
          <a:lstStyle/>
          <a:p>
            <a:pPr marL="0" indent="0" algn="ctr">
              <a:buNone/>
            </a:pPr>
            <a:r>
              <a:rPr sz="700" b="1" i="0">
                <a:solidFill>
                  <a:srgbClr val="C8102E"/>
                </a:solidFill>
              </a:rPr>
              <a:t>Select the pick-up</a:t>
            </a:r>
          </a:p>
          <a:p>
            <a:pPr marL="0" indent="0" algn="ctr">
              <a:buNone/>
            </a:pPr>
            <a:r>
              <a:rPr sz="700" b="1" i="0">
                <a:solidFill>
                  <a:srgbClr val="C8102E"/>
                </a:solidFill>
              </a:rPr>
              <a:t>store</a:t>
            </a:r>
          </a:p>
        </p:txBody>
      </p:sp>
      <p:cxnSp>
        <p:nvCxnSpPr>
          <p:cNvPr id="23" name="Connector 22"/>
          <p:cNvCxnSpPr/>
          <p:nvPr/>
        </p:nvCxnSpPr>
        <p:spPr>
          <a:xfrm>
            <a:off x="6675120" y="1303020"/>
            <a:ext cx="18288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858000" y="1005840"/>
            <a:ext cx="2011680" cy="594360"/>
          </a:xfrm>
          <a:prstGeom prst="roundRect">
            <a:avLst>
              <a:gd name="adj" fmla="val 14000"/>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5" name="TextBox 24"/>
          <p:cNvSpPr txBox="1"/>
          <p:nvPr/>
        </p:nvSpPr>
        <p:spPr>
          <a:xfrm>
            <a:off x="6903720" y="1005840"/>
            <a:ext cx="1920240" cy="594360"/>
          </a:xfrm>
          <a:prstGeom prst="rect">
            <a:avLst/>
          </a:prstGeom>
          <a:noFill/>
        </p:spPr>
        <p:txBody>
          <a:bodyPr wrap="square" lIns="0" tIns="0" rIns="0" bIns="0" anchor="ctr">
            <a:spAutoFit/>
          </a:bodyPr>
          <a:lstStyle/>
          <a:p>
            <a:pPr marL="0" indent="0" algn="ctr">
              <a:buNone/>
            </a:pPr>
            <a:r>
              <a:rPr sz="700" b="1" i="0">
                <a:solidFill>
                  <a:srgbClr val="C8102E"/>
                </a:solidFill>
              </a:rPr>
              <a:t>Select the pick-up</a:t>
            </a:r>
          </a:p>
          <a:p>
            <a:pPr marL="0" indent="0" algn="ctr">
              <a:buNone/>
            </a:pPr>
            <a:r>
              <a:rPr sz="700" b="1" i="0">
                <a:solidFill>
                  <a:srgbClr val="C8102E"/>
                </a:solidFill>
              </a:rPr>
              <a:t>time slot</a:t>
            </a:r>
          </a:p>
        </p:txBody>
      </p:sp>
      <p:cxnSp>
        <p:nvCxnSpPr>
          <p:cNvPr id="26" name="Connector 25"/>
          <p:cNvCxnSpPr/>
          <p:nvPr/>
        </p:nvCxnSpPr>
        <p:spPr>
          <a:xfrm>
            <a:off x="8869680" y="1303020"/>
            <a:ext cx="18288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052560" y="1005840"/>
            <a:ext cx="2011680" cy="594360"/>
          </a:xfrm>
          <a:prstGeom prst="roundRect">
            <a:avLst>
              <a:gd name="adj" fmla="val 14000"/>
            </a:avLst>
          </a:prstGeom>
          <a:solidFill>
            <a:srgbClr val="E8F5EE"/>
          </a:solidFill>
          <a:ln w="9525">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9098280" y="1005840"/>
            <a:ext cx="1920240" cy="594360"/>
          </a:xfrm>
          <a:prstGeom prst="rect">
            <a:avLst/>
          </a:prstGeom>
          <a:noFill/>
        </p:spPr>
        <p:txBody>
          <a:bodyPr wrap="square" lIns="0" tIns="0" rIns="0" bIns="0" anchor="ctr">
            <a:spAutoFit/>
          </a:bodyPr>
          <a:lstStyle/>
          <a:p>
            <a:pPr marL="0" indent="0" algn="ctr">
              <a:buNone/>
            </a:pPr>
            <a:r>
              <a:rPr sz="700" b="1" i="0">
                <a:solidFill>
                  <a:srgbClr val="14603A"/>
                </a:solidFill>
              </a:rPr>
              <a:t>Converge with the</a:t>
            </a:r>
          </a:p>
          <a:p>
            <a:pPr marL="0" indent="0" algn="ctr">
              <a:buNone/>
            </a:pPr>
            <a:r>
              <a:rPr sz="700" b="1" i="0">
                <a:solidFill>
                  <a:srgbClr val="14603A"/>
                </a:solidFill>
              </a:rPr>
              <a:t>common Cart steps</a:t>
            </a:r>
          </a:p>
        </p:txBody>
      </p:sp>
      <p:sp>
        <p:nvSpPr>
          <p:cNvPr id="29" name="Rectangle 28"/>
          <p:cNvSpPr/>
          <p:nvPr/>
        </p:nvSpPr>
        <p:spPr>
          <a:xfrm>
            <a:off x="274320" y="187452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0" name="TextBox 29"/>
          <p:cNvSpPr txBox="1"/>
          <p:nvPr/>
        </p:nvSpPr>
        <p:spPr>
          <a:xfrm>
            <a:off x="402336" y="1874520"/>
            <a:ext cx="5760720" cy="256032"/>
          </a:xfrm>
          <a:prstGeom prst="rect">
            <a:avLst/>
          </a:prstGeom>
          <a:noFill/>
        </p:spPr>
        <p:txBody>
          <a:bodyPr wrap="square" lIns="0" tIns="0" rIns="0" bIns="0" anchor="ctr">
            <a:spAutoFit/>
          </a:bodyPr>
          <a:lstStyle/>
          <a:p>
            <a:pPr marL="0" indent="0" algn="l">
              <a:buNone/>
            </a:pPr>
            <a:r>
              <a:rPr sz="1000" b="1" i="0">
                <a:solidFill>
                  <a:srgbClr val="1E2F6E"/>
                </a:solidFill>
              </a:rPr>
              <a:t>Pickup rules</a:t>
            </a:r>
          </a:p>
        </p:txBody>
      </p:sp>
      <p:graphicFrame>
        <p:nvGraphicFramePr>
          <p:cNvPr id="31" name="Table 30"/>
          <p:cNvGraphicFramePr>
            <a:graphicFrameLocks noGrp="1"/>
          </p:cNvGraphicFramePr>
          <p:nvPr/>
        </p:nvGraphicFramePr>
        <p:xfrm>
          <a:off x="274320" y="2148840"/>
          <a:ext cx="5760720" cy="2038800"/>
        </p:xfrm>
        <a:graphic>
          <a:graphicData uri="http://schemas.openxmlformats.org/drawingml/2006/table">
            <a:tbl>
              <a:tblPr/>
              <a:tblGrid>
                <a:gridCol w="86868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210000">
                <a:tc>
                  <a:txBody>
                    <a:bodyPr/>
                    <a:lstStyle/>
                    <a:p>
                      <a:pPr marL="0" indent="0" algn="ctr">
                        <a:buNone/>
                      </a:pPr>
                      <a:r>
                        <a:rPr sz="700" b="1" i="0">
                          <a:solidFill>
                            <a:srgbClr val="FFFFFF"/>
                          </a:solidFill>
                        </a:rPr>
                        <a:t>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Detail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365760">
                <a:tc>
                  <a:txBody>
                    <a:bodyPr/>
                    <a:lstStyle/>
                    <a:p>
                      <a:pPr marL="0" indent="0" algn="ctr">
                        <a:buNone/>
                      </a:pPr>
                      <a:r>
                        <a:rPr sz="700" b="0" i="0">
                          <a:solidFill>
                            <a:srgbClr val="222222"/>
                          </a:solidFill>
                        </a:rPr>
                        <a:t>BRL-25 … 27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Slot suggestion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Identical to Delivery — history-based, then earliest, then point-earning slots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365760">
                <a:tc>
                  <a:txBody>
                    <a:bodyPr/>
                    <a:lstStyle/>
                    <a:p>
                      <a:pPr marL="0" indent="0" algn="ctr">
                        <a:buNone/>
                      </a:pPr>
                      <a:r>
                        <a:rPr sz="700" b="0" i="0">
                          <a:solidFill>
                            <a:srgbClr val="222222"/>
                          </a:solidFill>
                        </a:rPr>
                        <a:t>BRL-28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Slot display &amp; re-opening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Open / Closing soon / Closed, unchanged from today. Per-slot capacity: open while capacity remains, closed when exhausted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365760">
                <a:tc>
                  <a:txBody>
                    <a:bodyPr/>
                    <a:lstStyle/>
                    <a:p>
                      <a:pPr marL="0" indent="0" algn="ctr">
                        <a:buNone/>
                      </a:pPr>
                      <a:r>
                        <a:rPr sz="700" b="0" i="0">
                          <a:solidFill>
                            <a:srgbClr val="222222"/>
                          </a:solidFill>
                        </a:rPr>
                        <a:t>BRL-23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Bulky order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T+4 instead of T+2, same as Delivery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365760">
                <a:tc>
                  <a:txBody>
                    <a:bodyPr/>
                    <a:lstStyle/>
                    <a:p>
                      <a:pPr marL="0" indent="0" algn="ctr">
                        <a:buNone/>
                      </a:pPr>
                      <a:r>
                        <a:rPr sz="700" b="0" i="0">
                          <a:solidFill>
                            <a:srgbClr val="222222"/>
                          </a:solidFill>
                        </a:rPr>
                        <a:t>BRL-29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Cash payment at pickup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Change from As-Is. As-Is does not allow cash at pickup; To-Be allows it for selected membership tiers, Platinum and Diamond first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365760">
                <a:tc>
                  <a:txBody>
                    <a:bodyPr/>
                    <a:lstStyle/>
                    <a:p>
                      <a:pPr marL="0" indent="0" algn="ctr">
                        <a:buNone/>
                      </a:pPr>
                      <a:r>
                        <a:rPr sz="700" b="0" i="0">
                          <a:solidFill>
                            <a:srgbClr val="222222"/>
                          </a:solidFill>
                        </a:rPr>
                        <a:t>BRL-30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Collector may differ from the account holder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Name and phone are captured separately from the account profile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32" name="Rectangle 31"/>
          <p:cNvSpPr/>
          <p:nvPr/>
        </p:nvSpPr>
        <p:spPr>
          <a:xfrm>
            <a:off x="6217920" y="187452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3" name="TextBox 32"/>
          <p:cNvSpPr txBox="1"/>
          <p:nvPr/>
        </p:nvSpPr>
        <p:spPr>
          <a:xfrm>
            <a:off x="6345936" y="1874520"/>
            <a:ext cx="5669280" cy="256032"/>
          </a:xfrm>
          <a:prstGeom prst="rect">
            <a:avLst/>
          </a:prstGeom>
          <a:noFill/>
        </p:spPr>
        <p:txBody>
          <a:bodyPr wrap="square" lIns="0" tIns="0" rIns="0" bIns="0" anchor="ctr">
            <a:spAutoFit/>
          </a:bodyPr>
          <a:lstStyle/>
          <a:p>
            <a:pPr marL="0" indent="0" algn="l">
              <a:buNone/>
            </a:pPr>
            <a:r>
              <a:rPr sz="1000" b="1" i="0">
                <a:solidFill>
                  <a:srgbClr val="1E2F6E"/>
                </a:solidFill>
              </a:rPr>
              <a:t>Lockers  —  two different journeys</a:t>
            </a:r>
          </a:p>
        </p:txBody>
      </p:sp>
      <p:graphicFrame>
        <p:nvGraphicFramePr>
          <p:cNvPr id="34" name="Table 33"/>
          <p:cNvGraphicFramePr>
            <a:graphicFrameLocks noGrp="1"/>
          </p:cNvGraphicFramePr>
          <p:nvPr/>
        </p:nvGraphicFramePr>
        <p:xfrm>
          <a:off x="6217920" y="2148840"/>
          <a:ext cx="5669280" cy="1728216"/>
        </p:xfrm>
        <a:graphic>
          <a:graphicData uri="http://schemas.openxmlformats.org/drawingml/2006/table">
            <a:tbl>
              <a:tblPr/>
              <a:tblGrid>
                <a:gridCol w="118872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tblGrid>
              <a:tr h="210000">
                <a:tc>
                  <a:txBody>
                    <a:bodyPr/>
                    <a:lstStyle/>
                    <a:p>
                      <a:pPr marL="0" indent="0" algn="ctr">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Near-home locker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In-store locker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28600">
                <a:tc>
                  <a:txBody>
                    <a:bodyPr/>
                    <a:lstStyle/>
                    <a:p>
                      <a:pPr marL="0" indent="0" algn="l">
                        <a:buNone/>
                      </a:pPr>
                      <a:r>
                        <a:rPr sz="700" b="1" i="0">
                          <a:solidFill>
                            <a:srgbClr val="222222"/>
                          </a:solidFill>
                        </a:rPr>
                        <a:t>Belongs to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Delivery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Pickup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594360">
                <a:tc>
                  <a:txBody>
                    <a:bodyPr/>
                    <a:lstStyle/>
                    <a:p>
                      <a:pPr marL="0" indent="0" algn="l">
                        <a:buNone/>
                      </a:pPr>
                      <a:r>
                        <a:rPr sz="700" b="1" i="0">
                          <a:solidFill>
                            <a:srgbClr val="222222"/>
                          </a:solidFill>
                        </a:rPr>
                        <a:t>Mechanism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LOTTE MART or a third party delivers the order into a locker close to the customer's home. The customer does not travel to the store.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customer travels to the store and collects the order from a locker inside it.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594360">
                <a:tc>
                  <a:txBody>
                    <a:bodyPr/>
                    <a:lstStyle/>
                    <a:p>
                      <a:pPr marL="0" indent="0" algn="l">
                        <a:buNone/>
                      </a:pPr>
                      <a:r>
                        <a:rPr sz="700" b="1" i="0">
                          <a:solidFill>
                            <a:srgbClr val="222222"/>
                          </a:solidFill>
                        </a:rPr>
                        <a:t>Information shown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Expected collection time · locker name · locker address with location or photo — positioned near the customer's address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Expected collection time · locker position inside the store with directions or a photo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35" name="Rectangle 34"/>
          <p:cNvSpPr/>
          <p:nvPr/>
        </p:nvSpPr>
        <p:spPr>
          <a:xfrm>
            <a:off x="6217920" y="3931920"/>
            <a:ext cx="5669280" cy="594360"/>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TextBox 35"/>
          <p:cNvSpPr txBox="1"/>
          <p:nvPr/>
        </p:nvSpPr>
        <p:spPr>
          <a:xfrm>
            <a:off x="6355080" y="3977640"/>
            <a:ext cx="5394960" cy="502920"/>
          </a:xfrm>
          <a:prstGeom prst="rect">
            <a:avLst/>
          </a:prstGeom>
          <a:noFill/>
        </p:spPr>
        <p:txBody>
          <a:bodyPr wrap="square" lIns="0" tIns="0" rIns="0" bIns="0" anchor="t">
            <a:spAutoFit/>
          </a:bodyPr>
          <a:lstStyle/>
          <a:p>
            <a:pPr marL="0" indent="0" algn="l">
              <a:buNone/>
            </a:pPr>
            <a:r>
              <a:rPr sz="750" b="0" i="0">
                <a:solidFill>
                  <a:srgbClr val="6B6800"/>
                </a:solidFill>
              </a:rPr>
              <a:t>⚠  The full locker journey is still waiting on LOTTE MART — locker selection rules, holding period, cost, and what happens when the customer does not collect in time (OQ-23). The two rows above are the agreed framing, not a complete specification.</a:t>
            </a:r>
          </a:p>
        </p:txBody>
      </p:sp>
      <p:sp>
        <p:nvSpPr>
          <p:cNvPr id="37" name="Rectangle 36"/>
          <p:cNvSpPr/>
          <p:nvPr/>
        </p:nvSpPr>
        <p:spPr>
          <a:xfrm>
            <a:off x="274320" y="452628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TextBox 37"/>
          <p:cNvSpPr txBox="1"/>
          <p:nvPr/>
        </p:nvSpPr>
        <p:spPr>
          <a:xfrm>
            <a:off x="402336" y="4526280"/>
            <a:ext cx="5760720" cy="256032"/>
          </a:xfrm>
          <a:prstGeom prst="rect">
            <a:avLst/>
          </a:prstGeom>
          <a:noFill/>
        </p:spPr>
        <p:txBody>
          <a:bodyPr wrap="square" lIns="0" tIns="0" rIns="0" bIns="0" anchor="ctr">
            <a:spAutoFit/>
          </a:bodyPr>
          <a:lstStyle/>
          <a:p>
            <a:pPr marL="0" indent="0" algn="l">
              <a:buNone/>
            </a:pPr>
            <a:r>
              <a:rPr sz="1000" b="1" i="0">
                <a:solidFill>
                  <a:srgbClr val="1E2F6E"/>
                </a:solidFill>
              </a:rPr>
              <a:t>Open on this flow</a:t>
            </a:r>
          </a:p>
        </p:txBody>
      </p:sp>
      <p:graphicFrame>
        <p:nvGraphicFramePr>
          <p:cNvPr id="39" name="Table 38"/>
          <p:cNvGraphicFramePr>
            <a:graphicFrameLocks noGrp="1"/>
          </p:cNvGraphicFramePr>
          <p:nvPr>
            <p:extLst>
              <p:ext uri="{D42A27DB-BD31-4B8C-83A1-F6EECF244321}">
                <p14:modId xmlns:p14="http://schemas.microsoft.com/office/powerpoint/2010/main" val="2171723695"/>
              </p:ext>
            </p:extLst>
          </p:nvPr>
        </p:nvGraphicFramePr>
        <p:xfrm>
          <a:off x="274320" y="4800600"/>
          <a:ext cx="5760720" cy="456888"/>
        </p:xfrm>
        <a:graphic>
          <a:graphicData uri="http://schemas.openxmlformats.org/drawingml/2006/table">
            <a:tbl>
              <a:tblPr/>
              <a:tblGrid>
                <a:gridCol w="73152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tblGrid>
              <a:tr h="210000">
                <a:tc>
                  <a:txBody>
                    <a:bodyPr/>
                    <a:lstStyle/>
                    <a:p>
                      <a:pPr marL="0" indent="0" algn="ctr">
                        <a:buNone/>
                      </a:pPr>
                      <a:r>
                        <a:rPr sz="700" b="1" i="0">
                          <a:solidFill>
                            <a:srgbClr val="FFFFFF"/>
                          </a:solidFill>
                        </a:rPr>
                        <a:t>Ref</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Question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46888">
                <a:tc>
                  <a:txBody>
                    <a:bodyPr/>
                    <a:lstStyle/>
                    <a:p>
                      <a:pPr marL="0" indent="0" algn="ctr">
                        <a:buNone/>
                      </a:pPr>
                      <a:r>
                        <a:rPr sz="700" b="0" i="0">
                          <a:solidFill>
                            <a:srgbClr val="222222"/>
                          </a:solidFill>
                        </a:rPr>
                        <a:t>OQ-23</a:t>
                      </a:r>
                    </a:p>
                  </a:txBody>
                  <a:tcPr marL="45720" marR="45720" marT="18288" marB="18288" anchor="ctr">
                    <a:lnL w="5080" cap="flat" cmpd="sng" algn="ctr">
                      <a:solidFill>
                        <a:srgbClr val="CCCCCC"/>
                      </a:solidFill>
                      <a:prstDash val="soli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Complete locker rules — selection, holding time, cost, no-show handling</a:t>
                      </a:r>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lnR>
                    <a:lnT w="5080" cap="flat" cmpd="sng" algn="ctr">
                      <a:solidFill>
                        <a:srgbClr val="CCCCCC"/>
                      </a:solidFill>
                      <a:prstDash val="solid"/>
                      <a:round/>
                      <a:headEnd type="none" w="med" len="med"/>
                      <a:tailEnd type="none" w="med" len="me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bl>
          </a:graphicData>
        </a:graphic>
      </p:graphicFrame>
      <p:sp>
        <p:nvSpPr>
          <p:cNvPr id="40" name="Rectangle 39"/>
          <p:cNvSpPr/>
          <p:nvPr/>
        </p:nvSpPr>
        <p:spPr>
          <a:xfrm>
            <a:off x="6217920" y="466344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TextBox 40"/>
          <p:cNvSpPr txBox="1"/>
          <p:nvPr/>
        </p:nvSpPr>
        <p:spPr>
          <a:xfrm>
            <a:off x="6345936" y="4663440"/>
            <a:ext cx="5669280" cy="256032"/>
          </a:xfrm>
          <a:prstGeom prst="rect">
            <a:avLst/>
          </a:prstGeom>
          <a:noFill/>
        </p:spPr>
        <p:txBody>
          <a:bodyPr wrap="square" lIns="0" tIns="0" rIns="0" bIns="0" anchor="ctr">
            <a:spAutoFit/>
          </a:bodyPr>
          <a:lstStyle/>
          <a:p>
            <a:pPr marL="0" indent="0" algn="l">
              <a:buNone/>
            </a:pPr>
            <a:r>
              <a:rPr sz="1000" b="1" i="0">
                <a:solidFill>
                  <a:srgbClr val="1E2F6E"/>
                </a:solidFill>
              </a:rPr>
              <a:t>Fulfilment options offered to the customer  (BR-08)</a:t>
            </a:r>
          </a:p>
        </p:txBody>
      </p:sp>
      <p:sp>
        <p:nvSpPr>
          <p:cNvPr id="42" name="Rectangle 41"/>
          <p:cNvSpPr/>
          <p:nvPr/>
        </p:nvSpPr>
        <p:spPr>
          <a:xfrm>
            <a:off x="6217920" y="4937760"/>
            <a:ext cx="5669280" cy="32004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3" name="Rectangle 42"/>
          <p:cNvSpPr/>
          <p:nvPr/>
        </p:nvSpPr>
        <p:spPr>
          <a:xfrm>
            <a:off x="6217920" y="4937760"/>
            <a:ext cx="36576" cy="3200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4" name="TextBox 43"/>
          <p:cNvSpPr txBox="1"/>
          <p:nvPr/>
        </p:nvSpPr>
        <p:spPr>
          <a:xfrm>
            <a:off x="6355080" y="4937760"/>
            <a:ext cx="1737360" cy="320040"/>
          </a:xfrm>
          <a:prstGeom prst="rect">
            <a:avLst/>
          </a:prstGeom>
          <a:noFill/>
        </p:spPr>
        <p:txBody>
          <a:bodyPr wrap="square" lIns="0" tIns="0" rIns="0" bIns="0" anchor="ctr">
            <a:spAutoFit/>
          </a:bodyPr>
          <a:lstStyle/>
          <a:p>
            <a:pPr marL="0" indent="0" algn="l">
              <a:buNone/>
            </a:pPr>
            <a:r>
              <a:rPr sz="850" b="1" i="0">
                <a:solidFill>
                  <a:srgbClr val="C8102E"/>
                </a:solidFill>
              </a:rPr>
              <a:t>Home delivery</a:t>
            </a:r>
          </a:p>
        </p:txBody>
      </p:sp>
      <p:sp>
        <p:nvSpPr>
          <p:cNvPr id="45" name="TextBox 44"/>
          <p:cNvSpPr txBox="1"/>
          <p:nvPr/>
        </p:nvSpPr>
        <p:spPr>
          <a:xfrm>
            <a:off x="8138160" y="4937760"/>
            <a:ext cx="3566160" cy="320040"/>
          </a:xfrm>
          <a:prstGeom prst="rect">
            <a:avLst/>
          </a:prstGeom>
          <a:noFill/>
        </p:spPr>
        <p:txBody>
          <a:bodyPr wrap="square" lIns="0" tIns="0" rIns="0" bIns="0" anchor="ctr">
            <a:spAutoFit/>
          </a:bodyPr>
          <a:lstStyle/>
          <a:p>
            <a:pPr marL="0" indent="0" algn="l">
              <a:buNone/>
            </a:pPr>
            <a:r>
              <a:rPr sz="680" b="0" i="0">
                <a:solidFill>
                  <a:srgbClr val="555555"/>
                </a:solidFill>
              </a:rPr>
              <a:t>60-Minute · Standard · Next-day</a:t>
            </a:r>
          </a:p>
        </p:txBody>
      </p:sp>
      <p:sp>
        <p:nvSpPr>
          <p:cNvPr id="46" name="Rectangle 45"/>
          <p:cNvSpPr/>
          <p:nvPr/>
        </p:nvSpPr>
        <p:spPr>
          <a:xfrm>
            <a:off x="6217920" y="5321808"/>
            <a:ext cx="5669280" cy="32004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Rectangle 46"/>
          <p:cNvSpPr/>
          <p:nvPr/>
        </p:nvSpPr>
        <p:spPr>
          <a:xfrm>
            <a:off x="6217920" y="5321808"/>
            <a:ext cx="36576" cy="3200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8" name="TextBox 47"/>
          <p:cNvSpPr txBox="1"/>
          <p:nvPr/>
        </p:nvSpPr>
        <p:spPr>
          <a:xfrm>
            <a:off x="6355080" y="5321808"/>
            <a:ext cx="1737360" cy="320040"/>
          </a:xfrm>
          <a:prstGeom prst="rect">
            <a:avLst/>
          </a:prstGeom>
          <a:noFill/>
        </p:spPr>
        <p:txBody>
          <a:bodyPr wrap="square" lIns="0" tIns="0" rIns="0" bIns="0" anchor="ctr">
            <a:spAutoFit/>
          </a:bodyPr>
          <a:lstStyle/>
          <a:p>
            <a:pPr marL="0" indent="0" algn="l">
              <a:buNone/>
            </a:pPr>
            <a:r>
              <a:rPr sz="850" b="1" i="0">
                <a:solidFill>
                  <a:srgbClr val="1E2F6E"/>
                </a:solidFill>
              </a:rPr>
              <a:t>Self pick-up</a:t>
            </a:r>
          </a:p>
        </p:txBody>
      </p:sp>
      <p:sp>
        <p:nvSpPr>
          <p:cNvPr id="49" name="TextBox 48"/>
          <p:cNvSpPr txBox="1"/>
          <p:nvPr/>
        </p:nvSpPr>
        <p:spPr>
          <a:xfrm>
            <a:off x="8138160" y="5321808"/>
            <a:ext cx="3566160" cy="320040"/>
          </a:xfrm>
          <a:prstGeom prst="rect">
            <a:avLst/>
          </a:prstGeom>
          <a:noFill/>
        </p:spPr>
        <p:txBody>
          <a:bodyPr wrap="square" lIns="0" tIns="0" rIns="0" bIns="0" anchor="ctr">
            <a:spAutoFit/>
          </a:bodyPr>
          <a:lstStyle/>
          <a:p>
            <a:pPr marL="0" indent="0" algn="l">
              <a:buNone/>
            </a:pPr>
            <a:r>
              <a:rPr sz="680" b="0" i="0">
                <a:solidFill>
                  <a:srgbClr val="555555"/>
                </a:solidFill>
              </a:rPr>
              <a:t>Collect at a LOTTE MART store</a:t>
            </a:r>
          </a:p>
        </p:txBody>
      </p:sp>
      <p:sp>
        <p:nvSpPr>
          <p:cNvPr id="50" name="Rectangle 49"/>
          <p:cNvSpPr/>
          <p:nvPr/>
        </p:nvSpPr>
        <p:spPr>
          <a:xfrm>
            <a:off x="6217920" y="5705856"/>
            <a:ext cx="5669280" cy="32004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1" name="Rectangle 50"/>
          <p:cNvSpPr/>
          <p:nvPr/>
        </p:nvSpPr>
        <p:spPr>
          <a:xfrm>
            <a:off x="6217920" y="5705856"/>
            <a:ext cx="36576" cy="320040"/>
          </a:xfrm>
          <a:prstGeom prst="rect">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2" name="TextBox 51"/>
          <p:cNvSpPr txBox="1"/>
          <p:nvPr/>
        </p:nvSpPr>
        <p:spPr>
          <a:xfrm>
            <a:off x="6355080" y="5705856"/>
            <a:ext cx="1737360" cy="320040"/>
          </a:xfrm>
          <a:prstGeom prst="rect">
            <a:avLst/>
          </a:prstGeom>
          <a:noFill/>
        </p:spPr>
        <p:txBody>
          <a:bodyPr wrap="square" lIns="0" tIns="0" rIns="0" bIns="0" anchor="ctr">
            <a:spAutoFit/>
          </a:bodyPr>
          <a:lstStyle/>
          <a:p>
            <a:pPr marL="0" indent="0" algn="l">
              <a:buNone/>
            </a:pPr>
            <a:r>
              <a:rPr sz="850" b="1" i="0">
                <a:solidFill>
                  <a:srgbClr val="3D5298"/>
                </a:solidFill>
              </a:rPr>
              <a:t>Locker</a:t>
            </a:r>
          </a:p>
        </p:txBody>
      </p:sp>
      <p:sp>
        <p:nvSpPr>
          <p:cNvPr id="53" name="TextBox 52"/>
          <p:cNvSpPr txBox="1"/>
          <p:nvPr/>
        </p:nvSpPr>
        <p:spPr>
          <a:xfrm>
            <a:off x="8138160" y="5705856"/>
            <a:ext cx="3566160" cy="320040"/>
          </a:xfrm>
          <a:prstGeom prst="rect">
            <a:avLst/>
          </a:prstGeom>
          <a:noFill/>
        </p:spPr>
        <p:txBody>
          <a:bodyPr wrap="square" lIns="0" tIns="0" rIns="0" bIns="0" anchor="ctr">
            <a:spAutoFit/>
          </a:bodyPr>
          <a:lstStyle/>
          <a:p>
            <a:pPr marL="0" indent="0" algn="l">
              <a:buNone/>
            </a:pPr>
            <a:r>
              <a:rPr sz="680" b="0" i="0">
                <a:solidFill>
                  <a:srgbClr val="555555"/>
                </a:solidFill>
              </a:rPr>
              <a:t>Near-home (Delivery) or in-store (Pickup)</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PF-09  ·  Changing the Serving Store inside the Cart</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18</a:t>
            </a:r>
          </a:p>
        </p:txBody>
      </p:sp>
      <p:sp>
        <p:nvSpPr>
          <p:cNvPr id="9" name="Rectangle 8"/>
          <p:cNvSpPr/>
          <p:nvPr/>
        </p:nvSpPr>
        <p:spPr>
          <a:xfrm>
            <a:off x="274320" y="640080"/>
            <a:ext cx="2165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365760" y="640080"/>
            <a:ext cx="2028000" cy="246888"/>
          </a:xfrm>
          <a:prstGeom prst="rect">
            <a:avLst/>
          </a:prstGeom>
          <a:noFill/>
        </p:spPr>
        <p:txBody>
          <a:bodyPr wrap="square" lIns="0" tIns="0" rIns="0" bIns="0" anchor="ctr">
            <a:spAutoFit/>
          </a:bodyPr>
          <a:lstStyle/>
          <a:p>
            <a:pPr marL="0" indent="0" algn="l">
              <a:buNone/>
            </a:pPr>
            <a:r>
              <a:rPr sz="680" b="1" i="0">
                <a:solidFill>
                  <a:srgbClr val="1E2F6E"/>
                </a:solidFill>
              </a:rPr>
              <a:t>Trigger: </a:t>
            </a:r>
            <a:r>
              <a:rPr sz="680" b="0" i="0">
                <a:solidFill>
                  <a:srgbClr val="555555"/>
                </a:solidFill>
              </a:rPr>
              <a:t>Store changed while in the Cart</a:t>
            </a:r>
          </a:p>
        </p:txBody>
      </p:sp>
      <p:sp>
        <p:nvSpPr>
          <p:cNvPr id="11" name="Rectangle 10"/>
          <p:cNvSpPr/>
          <p:nvPr/>
        </p:nvSpPr>
        <p:spPr>
          <a:xfrm>
            <a:off x="2508060" y="640080"/>
            <a:ext cx="761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2599500" y="640080"/>
            <a:ext cx="624000" cy="246888"/>
          </a:xfrm>
          <a:prstGeom prst="rect">
            <a:avLst/>
          </a:prstGeom>
          <a:noFill/>
        </p:spPr>
        <p:txBody>
          <a:bodyPr wrap="square" lIns="0" tIns="0" rIns="0" bIns="0" anchor="ctr">
            <a:spAutoFit/>
          </a:bodyPr>
          <a:lstStyle/>
          <a:p>
            <a:pPr marL="0" indent="0" algn="l">
              <a:buNone/>
            </a:pPr>
            <a:r>
              <a:rPr sz="680" b="1" i="0">
                <a:solidFill>
                  <a:srgbClr val="1E2F6E"/>
                </a:solidFill>
              </a:rPr>
              <a:t>Actor: </a:t>
            </a:r>
            <a:r>
              <a:rPr sz="680" b="0" i="0">
                <a:solidFill>
                  <a:srgbClr val="555555"/>
                </a:solidFill>
              </a:rPr>
              <a:t>Member</a:t>
            </a:r>
          </a:p>
        </p:txBody>
      </p:sp>
      <p:sp>
        <p:nvSpPr>
          <p:cNvPr id="13" name="Rectangle 12"/>
          <p:cNvSpPr/>
          <p:nvPr/>
        </p:nvSpPr>
        <p:spPr>
          <a:xfrm>
            <a:off x="3337800" y="640080"/>
            <a:ext cx="1281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3429240" y="640080"/>
            <a:ext cx="1144000" cy="246888"/>
          </a:xfrm>
          <a:prstGeom prst="rect">
            <a:avLst/>
          </a:prstGeom>
          <a:noFill/>
        </p:spPr>
        <p:txBody>
          <a:bodyPr wrap="square" lIns="0" tIns="0" rIns="0" bIns="0" anchor="ctr">
            <a:spAutoFit/>
          </a:bodyPr>
          <a:lstStyle/>
          <a:p>
            <a:pPr marL="0" indent="0" algn="l">
              <a:buNone/>
            </a:pPr>
            <a:r>
              <a:rPr sz="680" b="1" i="0">
                <a:solidFill>
                  <a:srgbClr val="1E2F6E"/>
                </a:solidFill>
              </a:rPr>
              <a:t>Realises: </a:t>
            </a:r>
            <a:r>
              <a:rPr sz="680" b="0" i="0">
                <a:solidFill>
                  <a:srgbClr val="555555"/>
                </a:solidFill>
              </a:rPr>
              <a:t>CT-07 · BR-10</a:t>
            </a:r>
          </a:p>
        </p:txBody>
      </p:sp>
      <p:sp>
        <p:nvSpPr>
          <p:cNvPr id="15" name="TextBox 14"/>
          <p:cNvSpPr txBox="1"/>
          <p:nvPr/>
        </p:nvSpPr>
        <p:spPr>
          <a:xfrm>
            <a:off x="274320" y="960120"/>
            <a:ext cx="11612880" cy="228600"/>
          </a:xfrm>
          <a:prstGeom prst="rect">
            <a:avLst/>
          </a:prstGeom>
          <a:noFill/>
        </p:spPr>
        <p:txBody>
          <a:bodyPr wrap="square" lIns="0" tIns="0" rIns="0" bIns="0" anchor="ctr">
            <a:spAutoFit/>
          </a:bodyPr>
          <a:lstStyle/>
          <a:p>
            <a:pPr marL="0" indent="0" algn="l">
              <a:buNone/>
            </a:pPr>
            <a:r>
              <a:rPr sz="800" b="0" i="0">
                <a:solidFill>
                  <a:srgbClr val="555555"/>
                </a:solidFill>
              </a:rPr>
              <a:t>Unlike the Homepage, a store change inside the Cart requires confirmation — the order is already bound to an address, a service, a slot and specific products of the previous store.</a:t>
            </a:r>
          </a:p>
        </p:txBody>
      </p:sp>
      <p:sp>
        <p:nvSpPr>
          <p:cNvPr id="16" name="Rounded Rectangle 15"/>
          <p:cNvSpPr/>
          <p:nvPr/>
        </p:nvSpPr>
        <p:spPr>
          <a:xfrm>
            <a:off x="274320" y="1325880"/>
            <a:ext cx="2377440" cy="594360"/>
          </a:xfrm>
          <a:prstGeom prst="roundRect">
            <a:avLst>
              <a:gd name="adj" fmla="val 14000"/>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TextBox 16"/>
          <p:cNvSpPr txBox="1"/>
          <p:nvPr/>
        </p:nvSpPr>
        <p:spPr>
          <a:xfrm>
            <a:off x="320040" y="1325880"/>
            <a:ext cx="2286000" cy="594360"/>
          </a:xfrm>
          <a:prstGeom prst="rect">
            <a:avLst/>
          </a:prstGeom>
          <a:noFill/>
        </p:spPr>
        <p:txBody>
          <a:bodyPr wrap="square" lIns="0" tIns="0" rIns="0" bIns="0" anchor="ctr">
            <a:spAutoFit/>
          </a:bodyPr>
          <a:lstStyle/>
          <a:p>
            <a:pPr marL="0" indent="0" algn="ctr">
              <a:buNone/>
            </a:pPr>
            <a:r>
              <a:rPr sz="700" b="1" i="0">
                <a:solidFill>
                  <a:srgbClr val="C8102E"/>
                </a:solidFill>
              </a:rPr>
              <a:t>Customer opens the store</a:t>
            </a:r>
          </a:p>
          <a:p>
            <a:pPr marL="0" indent="0" algn="ctr">
              <a:buNone/>
            </a:pPr>
            <a:r>
              <a:rPr sz="700" b="1" i="0">
                <a:solidFill>
                  <a:srgbClr val="C8102E"/>
                </a:solidFill>
              </a:rPr>
              <a:t>selector inside the Cart</a:t>
            </a:r>
          </a:p>
        </p:txBody>
      </p:sp>
      <p:sp>
        <p:nvSpPr>
          <p:cNvPr id="18" name="Rounded Rectangle 17"/>
          <p:cNvSpPr/>
          <p:nvPr/>
        </p:nvSpPr>
        <p:spPr>
          <a:xfrm>
            <a:off x="2834640" y="1325880"/>
            <a:ext cx="2560320" cy="59436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9" name="TextBox 18"/>
          <p:cNvSpPr txBox="1"/>
          <p:nvPr/>
        </p:nvSpPr>
        <p:spPr>
          <a:xfrm>
            <a:off x="2880360" y="1325880"/>
            <a:ext cx="2468880" cy="594360"/>
          </a:xfrm>
          <a:prstGeom prst="rect">
            <a:avLst/>
          </a:prstGeom>
          <a:noFill/>
        </p:spPr>
        <p:txBody>
          <a:bodyPr wrap="square" lIns="0" tIns="0" rIns="0" bIns="0" anchor="ctr">
            <a:spAutoFit/>
          </a:bodyPr>
          <a:lstStyle/>
          <a:p>
            <a:pPr marL="0" indent="0" algn="ctr">
              <a:buNone/>
            </a:pPr>
            <a:r>
              <a:rPr sz="650" b="1" i="0">
                <a:solidFill>
                  <a:srgbClr val="1E2F6E"/>
                </a:solidFill>
              </a:rPr>
              <a:t>List is pre-filtered — only stores</a:t>
            </a:r>
          </a:p>
          <a:p>
            <a:pPr marL="0" indent="0" algn="ctr">
              <a:buNone/>
            </a:pPr>
            <a:r>
              <a:rPr sz="650" b="1" i="0">
                <a:solidFill>
                  <a:srgbClr val="1E2F6E"/>
                </a:solidFill>
              </a:rPr>
              <a:t>that serve the current order address</a:t>
            </a:r>
          </a:p>
        </p:txBody>
      </p:sp>
      <p:cxnSp>
        <p:nvCxnSpPr>
          <p:cNvPr id="20" name="Connector 19"/>
          <p:cNvCxnSpPr/>
          <p:nvPr/>
        </p:nvCxnSpPr>
        <p:spPr>
          <a:xfrm>
            <a:off x="2651760" y="1623060"/>
            <a:ext cx="18288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577840" y="1325880"/>
            <a:ext cx="2560320" cy="59436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TextBox 21"/>
          <p:cNvSpPr txBox="1"/>
          <p:nvPr/>
        </p:nvSpPr>
        <p:spPr>
          <a:xfrm>
            <a:off x="5623560" y="1325880"/>
            <a:ext cx="2468880" cy="594360"/>
          </a:xfrm>
          <a:prstGeom prst="rect">
            <a:avLst/>
          </a:prstGeom>
          <a:noFill/>
        </p:spPr>
        <p:txBody>
          <a:bodyPr wrap="square" lIns="0" tIns="0" rIns="0" bIns="0" anchor="ctr">
            <a:spAutoFit/>
          </a:bodyPr>
          <a:lstStyle/>
          <a:p>
            <a:pPr marL="0" indent="0" algn="ctr">
              <a:buNone/>
            </a:pPr>
            <a:r>
              <a:rPr sz="700" b="1" i="0">
                <a:solidFill>
                  <a:srgbClr val="1E2F6E"/>
                </a:solidFill>
              </a:rPr>
              <a:t>System evaluates the impact</a:t>
            </a:r>
          </a:p>
          <a:p>
            <a:pPr marL="0" indent="0" algn="ctr">
              <a:buNone/>
            </a:pPr>
            <a:r>
              <a:rPr sz="700" b="1" i="0">
                <a:solidFill>
                  <a:srgbClr val="1E2F6E"/>
                </a:solidFill>
              </a:rPr>
              <a:t>of the new store</a:t>
            </a:r>
          </a:p>
        </p:txBody>
      </p:sp>
      <p:cxnSp>
        <p:nvCxnSpPr>
          <p:cNvPr id="23" name="Connector 22"/>
          <p:cNvCxnSpPr/>
          <p:nvPr/>
        </p:nvCxnSpPr>
        <p:spPr>
          <a:xfrm>
            <a:off x="5394960" y="1623060"/>
            <a:ext cx="18288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577840" y="2011680"/>
            <a:ext cx="3017520" cy="4572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5" name="TextBox 24"/>
          <p:cNvSpPr txBox="1"/>
          <p:nvPr/>
        </p:nvSpPr>
        <p:spPr>
          <a:xfrm>
            <a:off x="5669280" y="2039112"/>
            <a:ext cx="2834640" cy="164592"/>
          </a:xfrm>
          <a:prstGeom prst="rect">
            <a:avLst/>
          </a:prstGeom>
          <a:noFill/>
        </p:spPr>
        <p:txBody>
          <a:bodyPr wrap="square" lIns="0" tIns="0" rIns="0" bIns="0" anchor="ctr">
            <a:spAutoFit/>
          </a:bodyPr>
          <a:lstStyle/>
          <a:p>
            <a:pPr marL="0" indent="0" algn="l">
              <a:buNone/>
            </a:pPr>
            <a:r>
              <a:rPr sz="720" b="1" i="0">
                <a:solidFill>
                  <a:srgbClr val="1E2F6E"/>
                </a:solidFill>
              </a:rPr>
              <a:t>(a)  Products</a:t>
            </a:r>
          </a:p>
        </p:txBody>
      </p:sp>
      <p:sp>
        <p:nvSpPr>
          <p:cNvPr id="26" name="TextBox 25"/>
          <p:cNvSpPr txBox="1"/>
          <p:nvPr/>
        </p:nvSpPr>
        <p:spPr>
          <a:xfrm>
            <a:off x="5669280" y="2203704"/>
            <a:ext cx="2834640" cy="246888"/>
          </a:xfrm>
          <a:prstGeom prst="rect">
            <a:avLst/>
          </a:prstGeom>
          <a:noFill/>
        </p:spPr>
        <p:txBody>
          <a:bodyPr wrap="square" lIns="0" tIns="0" rIns="0" bIns="0" anchor="t">
            <a:spAutoFit/>
          </a:bodyPr>
          <a:lstStyle/>
          <a:p>
            <a:pPr marL="0" indent="0" algn="l">
              <a:buNone/>
            </a:pPr>
            <a:r>
              <a:rPr sz="610" b="0" i="0">
                <a:solidFill>
                  <a:srgbClr val="555555"/>
                </a:solidFill>
              </a:rPr>
              <a:t>For every selected item: price changed · out of stock · no longer sold at the new store</a:t>
            </a:r>
          </a:p>
        </p:txBody>
      </p:sp>
      <p:sp>
        <p:nvSpPr>
          <p:cNvPr id="27" name="Rectangle 26"/>
          <p:cNvSpPr/>
          <p:nvPr/>
        </p:nvSpPr>
        <p:spPr>
          <a:xfrm>
            <a:off x="5577840" y="2514600"/>
            <a:ext cx="3017520" cy="4572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5669280" y="2542032"/>
            <a:ext cx="2834640" cy="164592"/>
          </a:xfrm>
          <a:prstGeom prst="rect">
            <a:avLst/>
          </a:prstGeom>
          <a:noFill/>
        </p:spPr>
        <p:txBody>
          <a:bodyPr wrap="square" lIns="0" tIns="0" rIns="0" bIns="0" anchor="ctr">
            <a:spAutoFit/>
          </a:bodyPr>
          <a:lstStyle/>
          <a:p>
            <a:pPr marL="0" indent="0" algn="l">
              <a:buNone/>
            </a:pPr>
            <a:r>
              <a:rPr sz="720" b="1" i="0">
                <a:solidFill>
                  <a:srgbClr val="1E2F6E"/>
                </a:solidFill>
              </a:rPr>
              <a:t>(b)  Service and slot</a:t>
            </a:r>
          </a:p>
        </p:txBody>
      </p:sp>
      <p:sp>
        <p:nvSpPr>
          <p:cNvPr id="29" name="TextBox 28"/>
          <p:cNvSpPr txBox="1"/>
          <p:nvPr/>
        </p:nvSpPr>
        <p:spPr>
          <a:xfrm>
            <a:off x="5669280" y="2706624"/>
            <a:ext cx="2834640" cy="246888"/>
          </a:xfrm>
          <a:prstGeom prst="rect">
            <a:avLst/>
          </a:prstGeom>
          <a:noFill/>
        </p:spPr>
        <p:txBody>
          <a:bodyPr wrap="square" lIns="0" tIns="0" rIns="0" bIns="0" anchor="t">
            <a:spAutoFit/>
          </a:bodyPr>
          <a:lstStyle/>
          <a:p>
            <a:pPr marL="0" indent="0" algn="l">
              <a:buNone/>
            </a:pPr>
            <a:r>
              <a:rPr sz="610" b="0" i="0">
                <a:solidFill>
                  <a:srgbClr val="555555"/>
                </a:solidFill>
              </a:rPr>
              <a:t>Is the chosen service still available at the new store (different service zone)? Does the chosen slot still have capacity?</a:t>
            </a:r>
          </a:p>
        </p:txBody>
      </p:sp>
      <p:cxnSp>
        <p:nvCxnSpPr>
          <p:cNvPr id="30" name="Connector 29"/>
          <p:cNvCxnSpPr/>
          <p:nvPr/>
        </p:nvCxnSpPr>
        <p:spPr>
          <a:xfrm>
            <a:off x="6858000" y="1920240"/>
            <a:ext cx="0" cy="9144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Diamond 30"/>
          <p:cNvSpPr/>
          <p:nvPr/>
        </p:nvSpPr>
        <p:spPr>
          <a:xfrm>
            <a:off x="8686800" y="1325880"/>
            <a:ext cx="1554480" cy="685800"/>
          </a:xfrm>
          <a:prstGeom prst="diamond">
            <a:avLst/>
          </a:prstGeom>
          <a:solidFill>
            <a:srgbClr val="FFF6E5"/>
          </a:solidFill>
          <a:ln w="9525">
            <a:solidFill>
              <a:srgbClr val="B26A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8888882" y="1325880"/>
            <a:ext cx="1150315" cy="685800"/>
          </a:xfrm>
          <a:prstGeom prst="rect">
            <a:avLst/>
          </a:prstGeom>
          <a:noFill/>
        </p:spPr>
        <p:txBody>
          <a:bodyPr wrap="square" lIns="0" tIns="0" rIns="0" bIns="0" anchor="ctr">
            <a:spAutoFit/>
          </a:bodyPr>
          <a:lstStyle/>
          <a:p>
            <a:pPr marL="0" indent="0" algn="ctr">
              <a:buNone/>
            </a:pPr>
            <a:r>
              <a:rPr sz="580" b="1" i="0">
                <a:solidFill>
                  <a:srgbClr val="8A5A00"/>
                </a:solidFill>
              </a:rPr>
              <a:t>Any impact</a:t>
            </a:r>
          </a:p>
          <a:p>
            <a:pPr marL="0" indent="0" algn="ctr">
              <a:buNone/>
            </a:pPr>
            <a:r>
              <a:rPr sz="580" b="1" i="0">
                <a:solidFill>
                  <a:srgbClr val="8A5A00"/>
                </a:solidFill>
              </a:rPr>
              <a:t>in either</a:t>
            </a:r>
          </a:p>
          <a:p>
            <a:pPr marL="0" indent="0" algn="ctr">
              <a:buNone/>
            </a:pPr>
            <a:r>
              <a:rPr sz="580" b="1" i="0">
                <a:solidFill>
                  <a:srgbClr val="8A5A00"/>
                </a:solidFill>
              </a:rPr>
              <a:t>group?</a:t>
            </a:r>
          </a:p>
        </p:txBody>
      </p:sp>
      <p:cxnSp>
        <p:nvCxnSpPr>
          <p:cNvPr id="33" name="Connector 32"/>
          <p:cNvCxnSpPr/>
          <p:nvPr/>
        </p:nvCxnSpPr>
        <p:spPr>
          <a:xfrm>
            <a:off x="8549640" y="1668780"/>
            <a:ext cx="13716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10332720" y="1005840"/>
            <a:ext cx="1645920" cy="548640"/>
          </a:xfrm>
          <a:prstGeom prst="roundRect">
            <a:avLst>
              <a:gd name="adj" fmla="val 14000"/>
            </a:avLst>
          </a:prstGeom>
          <a:solidFill>
            <a:srgbClr val="E8F5EE"/>
          </a:solidFill>
          <a:ln w="9525">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5" name="TextBox 34"/>
          <p:cNvSpPr txBox="1"/>
          <p:nvPr/>
        </p:nvSpPr>
        <p:spPr>
          <a:xfrm>
            <a:off x="10332720" y="1060704"/>
            <a:ext cx="1645920" cy="164592"/>
          </a:xfrm>
          <a:prstGeom prst="rect">
            <a:avLst/>
          </a:prstGeom>
          <a:noFill/>
        </p:spPr>
        <p:txBody>
          <a:bodyPr wrap="square" lIns="0" tIns="0" rIns="0" bIns="0" anchor="ctr">
            <a:spAutoFit/>
          </a:bodyPr>
          <a:lstStyle/>
          <a:p>
            <a:pPr marL="0" indent="0" algn="ctr">
              <a:buNone/>
            </a:pPr>
            <a:r>
              <a:rPr sz="580" b="1" i="0">
                <a:solidFill>
                  <a:srgbClr val="14603A"/>
                </a:solidFill>
              </a:rPr>
              <a:t>NO</a:t>
            </a:r>
          </a:p>
        </p:txBody>
      </p:sp>
      <p:sp>
        <p:nvSpPr>
          <p:cNvPr id="36" name="TextBox 35"/>
          <p:cNvSpPr txBox="1"/>
          <p:nvPr/>
        </p:nvSpPr>
        <p:spPr>
          <a:xfrm>
            <a:off x="10378440" y="1192377"/>
            <a:ext cx="1554480" cy="329184"/>
          </a:xfrm>
          <a:prstGeom prst="rect">
            <a:avLst/>
          </a:prstGeom>
          <a:noFill/>
        </p:spPr>
        <p:txBody>
          <a:bodyPr wrap="square" lIns="0" tIns="0" rIns="0" bIns="0" anchor="ctr">
            <a:spAutoFit/>
          </a:bodyPr>
          <a:lstStyle/>
          <a:p>
            <a:pPr marL="0" indent="0" algn="ctr">
              <a:buNone/>
            </a:pPr>
            <a:r>
              <a:rPr sz="650" b="1" i="0">
                <a:solidFill>
                  <a:srgbClr val="14603A"/>
                </a:solidFill>
              </a:rPr>
              <a:t>Change the store</a:t>
            </a:r>
          </a:p>
          <a:p>
            <a:pPr marL="0" indent="0" algn="ctr">
              <a:buNone/>
            </a:pPr>
            <a:r>
              <a:rPr sz="650" b="1" i="0">
                <a:solidFill>
                  <a:srgbClr val="14603A"/>
                </a:solidFill>
              </a:rPr>
              <a:t>immediately</a:t>
            </a:r>
          </a:p>
        </p:txBody>
      </p:sp>
      <p:cxnSp>
        <p:nvCxnSpPr>
          <p:cNvPr id="37" name="Connector 36"/>
          <p:cNvCxnSpPr/>
          <p:nvPr/>
        </p:nvCxnSpPr>
        <p:spPr>
          <a:xfrm flipV="1">
            <a:off x="10241280" y="1325880"/>
            <a:ext cx="91440" cy="228600"/>
          </a:xfrm>
          <a:prstGeom prst="line">
            <a:avLst/>
          </a:prstGeom>
          <a:ln w="9525">
            <a:solidFill>
              <a:srgbClr val="1B7F4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10332720" y="1965960"/>
            <a:ext cx="1645920" cy="594360"/>
          </a:xfrm>
          <a:prstGeom prst="roundRect">
            <a:avLst>
              <a:gd name="adj" fmla="val 14000"/>
            </a:avLst>
          </a:prstGeom>
          <a:solidFill>
            <a:srgbClr val="FDECEE"/>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TextBox 38"/>
          <p:cNvSpPr txBox="1"/>
          <p:nvPr/>
        </p:nvSpPr>
        <p:spPr>
          <a:xfrm>
            <a:off x="10332720" y="2025396"/>
            <a:ext cx="1645920" cy="178308"/>
          </a:xfrm>
          <a:prstGeom prst="rect">
            <a:avLst/>
          </a:prstGeom>
          <a:noFill/>
        </p:spPr>
        <p:txBody>
          <a:bodyPr wrap="square" lIns="0" tIns="0" rIns="0" bIns="0" anchor="ctr">
            <a:spAutoFit/>
          </a:bodyPr>
          <a:lstStyle/>
          <a:p>
            <a:pPr marL="0" indent="0" algn="ctr">
              <a:buNone/>
            </a:pPr>
            <a:r>
              <a:rPr sz="580" b="1" i="0">
                <a:solidFill>
                  <a:srgbClr val="C8102E"/>
                </a:solidFill>
              </a:rPr>
              <a:t>YES</a:t>
            </a:r>
          </a:p>
        </p:txBody>
      </p:sp>
      <p:sp>
        <p:nvSpPr>
          <p:cNvPr id="40" name="TextBox 39"/>
          <p:cNvSpPr txBox="1"/>
          <p:nvPr/>
        </p:nvSpPr>
        <p:spPr>
          <a:xfrm>
            <a:off x="10378440" y="2168042"/>
            <a:ext cx="1554480" cy="356616"/>
          </a:xfrm>
          <a:prstGeom prst="rect">
            <a:avLst/>
          </a:prstGeom>
          <a:noFill/>
        </p:spPr>
        <p:txBody>
          <a:bodyPr wrap="square" lIns="0" tIns="0" rIns="0" bIns="0" anchor="ctr">
            <a:spAutoFit/>
          </a:bodyPr>
          <a:lstStyle/>
          <a:p>
            <a:pPr marL="0" indent="0" algn="ctr">
              <a:buNone/>
            </a:pPr>
            <a:r>
              <a:rPr sz="650" b="1" i="0">
                <a:solidFill>
                  <a:srgbClr val="C8102E"/>
                </a:solidFill>
              </a:rPr>
              <a:t>One consolidated warning</a:t>
            </a:r>
          </a:p>
          <a:p>
            <a:pPr marL="0" indent="0" algn="ctr">
              <a:buNone/>
            </a:pPr>
            <a:r>
              <a:rPr sz="650" b="1" i="0">
                <a:solidFill>
                  <a:srgbClr val="C8102E"/>
                </a:solidFill>
              </a:rPr>
              <a:t>listing every impact</a:t>
            </a:r>
          </a:p>
        </p:txBody>
      </p:sp>
      <p:cxnSp>
        <p:nvCxnSpPr>
          <p:cNvPr id="41" name="Connector 40"/>
          <p:cNvCxnSpPr/>
          <p:nvPr/>
        </p:nvCxnSpPr>
        <p:spPr>
          <a:xfrm>
            <a:off x="10241280" y="1783080"/>
            <a:ext cx="91440" cy="411480"/>
          </a:xfrm>
          <a:prstGeom prst="line">
            <a:avLst/>
          </a:prstGeom>
          <a:ln w="9525">
            <a:solidFill>
              <a:srgbClr val="C8102E"/>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274320" y="310896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3" name="TextBox 42"/>
          <p:cNvSpPr txBox="1"/>
          <p:nvPr/>
        </p:nvSpPr>
        <p:spPr>
          <a:xfrm>
            <a:off x="402336" y="3108960"/>
            <a:ext cx="11612880" cy="256032"/>
          </a:xfrm>
          <a:prstGeom prst="rect">
            <a:avLst/>
          </a:prstGeom>
          <a:noFill/>
        </p:spPr>
        <p:txBody>
          <a:bodyPr wrap="square" lIns="0" tIns="0" rIns="0" bIns="0" anchor="ctr">
            <a:spAutoFit/>
          </a:bodyPr>
          <a:lstStyle/>
          <a:p>
            <a:pPr marL="0" indent="0" algn="l">
              <a:buNone/>
            </a:pPr>
            <a:r>
              <a:rPr sz="1000" b="1" i="0">
                <a:solidFill>
                  <a:srgbClr val="1E2F6E"/>
                </a:solidFill>
              </a:rPr>
              <a:t>Outcome after the customer decides</a:t>
            </a:r>
          </a:p>
        </p:txBody>
      </p:sp>
      <p:graphicFrame>
        <p:nvGraphicFramePr>
          <p:cNvPr id="44" name="Table 43"/>
          <p:cNvGraphicFramePr>
            <a:graphicFrameLocks noGrp="1"/>
          </p:cNvGraphicFramePr>
          <p:nvPr/>
        </p:nvGraphicFramePr>
        <p:xfrm>
          <a:off x="274320" y="3383280"/>
          <a:ext cx="11612880" cy="1124400"/>
        </p:xfrm>
        <a:graphic>
          <a:graphicData uri="http://schemas.openxmlformats.org/drawingml/2006/table">
            <a:tbl>
              <a:tblPr/>
              <a:tblGrid>
                <a:gridCol w="118872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210000">
                <a:tc>
                  <a:txBody>
                    <a:bodyPr/>
                    <a:lstStyle/>
                    <a:p>
                      <a:pPr marL="0" indent="0" algn="ctr">
                        <a:buNone/>
                      </a:pPr>
                      <a:r>
                        <a:rPr sz="750" b="1" i="0">
                          <a:solidFill>
                            <a:srgbClr val="FFFFFF"/>
                          </a:solidFill>
                        </a:rPr>
                        <a:t>Decision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Products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Service and slot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Cart state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594360">
                <a:tc>
                  <a:txBody>
                    <a:bodyPr/>
                    <a:lstStyle/>
                    <a:p>
                      <a:pPr marL="0" indent="0" algn="l">
                        <a:buNone/>
                      </a:pPr>
                      <a:r>
                        <a:rPr sz="750" b="1" i="0">
                          <a:solidFill>
                            <a:srgbClr val="222222"/>
                          </a:solidFill>
                        </a:rPr>
                        <a:t>Continue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Out-of-stock and discontinued items move to a separate “Unavailable” group — the customer can still check out everything that remains. Re-priced items are updated to the new store's price immediately.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Service and slot are re-suggested for the new store using the standard suggestion rules (BRL-25 … BRL-27).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Store changed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320040">
                <a:tc>
                  <a:txBody>
                    <a:bodyPr/>
                    <a:lstStyle/>
                    <a:p>
                      <a:pPr marL="0" indent="0" algn="l">
                        <a:buNone/>
                      </a:pPr>
                      <a:r>
                        <a:rPr sz="750" b="1" i="0">
                          <a:solidFill>
                            <a:srgbClr val="222222"/>
                          </a:solidFill>
                        </a:rPr>
                        <a:t>Cancel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No change — every item stays exactly as it was.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No change.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Previous store kept, Cart untouched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bl>
          </a:graphicData>
        </a:graphic>
      </p:graphicFrame>
      <p:sp>
        <p:nvSpPr>
          <p:cNvPr id="45" name="Rectangle 44"/>
          <p:cNvSpPr/>
          <p:nvPr/>
        </p:nvSpPr>
        <p:spPr>
          <a:xfrm>
            <a:off x="274320" y="452628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TextBox 45"/>
          <p:cNvSpPr txBox="1"/>
          <p:nvPr/>
        </p:nvSpPr>
        <p:spPr>
          <a:xfrm>
            <a:off x="402336" y="4526280"/>
            <a:ext cx="5760720" cy="256032"/>
          </a:xfrm>
          <a:prstGeom prst="rect">
            <a:avLst/>
          </a:prstGeom>
          <a:noFill/>
        </p:spPr>
        <p:txBody>
          <a:bodyPr wrap="square" lIns="0" tIns="0" rIns="0" bIns="0" anchor="ctr">
            <a:spAutoFit/>
          </a:bodyPr>
          <a:lstStyle/>
          <a:p>
            <a:pPr marL="0" indent="0" algn="l">
              <a:buNone/>
            </a:pPr>
            <a:r>
              <a:rPr sz="1000" b="1" i="0">
                <a:solidFill>
                  <a:srgbClr val="1E2F6E"/>
                </a:solidFill>
              </a:rPr>
              <a:t>Why the Homepage and the Cart behave differently</a:t>
            </a:r>
          </a:p>
        </p:txBody>
      </p:sp>
      <p:graphicFrame>
        <p:nvGraphicFramePr>
          <p:cNvPr id="47" name="Table 46"/>
          <p:cNvGraphicFramePr>
            <a:graphicFrameLocks noGrp="1"/>
          </p:cNvGraphicFramePr>
          <p:nvPr/>
        </p:nvGraphicFramePr>
        <p:xfrm>
          <a:off x="274320" y="4800600"/>
          <a:ext cx="5760720" cy="1389576"/>
        </p:xfrm>
        <a:graphic>
          <a:graphicData uri="http://schemas.openxmlformats.org/drawingml/2006/table">
            <a:tbl>
              <a:tblPr/>
              <a:tblGrid>
                <a:gridCol w="13716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210000">
                <a:tc>
                  <a:txBody>
                    <a:bodyPr/>
                    <a:lstStyle/>
                    <a:p>
                      <a:pPr marL="0" indent="0" algn="ctr">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Homepage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74320">
                <a:tc>
                  <a:txBody>
                    <a:bodyPr/>
                    <a:lstStyle/>
                    <a:p>
                      <a:pPr marL="0" indent="0" algn="l">
                        <a:buNone/>
                      </a:pPr>
                      <a:r>
                        <a:rPr sz="700" b="1" i="0">
                          <a:solidFill>
                            <a:srgbClr val="222222"/>
                          </a:solidFill>
                        </a:rPr>
                        <a:t>Confirmation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Not required — change is applied immediately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Required — the customer confirms Continue or Cancel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320040">
                <a:tc>
                  <a:txBody>
                    <a:bodyPr/>
                    <a:lstStyle/>
                    <a:p>
                      <a:pPr marL="0" indent="0" algn="l">
                        <a:buNone/>
                      </a:pPr>
                      <a:r>
                        <a:rPr sz="700" b="1" i="0">
                          <a:solidFill>
                            <a:srgbClr val="222222"/>
                          </a:solidFill>
                        </a:rPr>
                        <a:t>What is at risk</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Only the browsing context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composed order: products, quantities, service, slot, promotions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74320">
                <a:tc>
                  <a:txBody>
                    <a:bodyPr/>
                    <a:lstStyle/>
                    <a:p>
                      <a:pPr marL="0" indent="0" algn="l">
                        <a:buNone/>
                      </a:pPr>
                      <a:r>
                        <a:rPr sz="700" b="1" i="0">
                          <a:solidFill>
                            <a:srgbClr val="222222"/>
                          </a:solidFill>
                        </a:rPr>
                        <a:t>Store list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All stores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Only stores that serve the current order address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10000">
                <a:tc>
                  <a:txBody>
                    <a:bodyPr/>
                    <a:lstStyle/>
                    <a:p>
                      <a:pPr marL="0" indent="0" algn="l">
                        <a:buNone/>
                      </a:pPr>
                      <a:r>
                        <a:rPr sz="700" b="1" i="0">
                          <a:solidFill>
                            <a:srgbClr val="222222"/>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HP-08 · BRL-08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CT-07 · BRL-24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PF-10  ·  Checkout</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19</a:t>
            </a:r>
          </a:p>
        </p:txBody>
      </p:sp>
      <p:sp>
        <p:nvSpPr>
          <p:cNvPr id="9" name="Rectangle 8"/>
          <p:cNvSpPr/>
          <p:nvPr/>
        </p:nvSpPr>
        <p:spPr>
          <a:xfrm>
            <a:off x="274320" y="640080"/>
            <a:ext cx="1645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365760" y="640080"/>
            <a:ext cx="1508000" cy="246888"/>
          </a:xfrm>
          <a:prstGeom prst="rect">
            <a:avLst/>
          </a:prstGeom>
          <a:noFill/>
        </p:spPr>
        <p:txBody>
          <a:bodyPr wrap="square" lIns="0" tIns="0" rIns="0" bIns="0" anchor="ctr">
            <a:spAutoFit/>
          </a:bodyPr>
          <a:lstStyle/>
          <a:p>
            <a:pPr marL="0" indent="0" algn="l">
              <a:buNone/>
            </a:pPr>
            <a:r>
              <a:rPr sz="680" b="1" i="0">
                <a:solidFill>
                  <a:srgbClr val="1E2F6E"/>
                </a:solidFill>
              </a:rPr>
              <a:t>Trigger: </a:t>
            </a:r>
            <a:r>
              <a:rPr sz="680" b="0" i="0">
                <a:solidFill>
                  <a:srgbClr val="555555"/>
                </a:solidFill>
              </a:rPr>
              <a:t>“Proceed to Checkout”</a:t>
            </a:r>
          </a:p>
        </p:txBody>
      </p:sp>
      <p:sp>
        <p:nvSpPr>
          <p:cNvPr id="11" name="Rectangle 10"/>
          <p:cNvSpPr/>
          <p:nvPr/>
        </p:nvSpPr>
        <p:spPr>
          <a:xfrm>
            <a:off x="1988060" y="640080"/>
            <a:ext cx="761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2079500" y="640080"/>
            <a:ext cx="624000" cy="246888"/>
          </a:xfrm>
          <a:prstGeom prst="rect">
            <a:avLst/>
          </a:prstGeom>
          <a:noFill/>
        </p:spPr>
        <p:txBody>
          <a:bodyPr wrap="square" lIns="0" tIns="0" rIns="0" bIns="0" anchor="ctr">
            <a:spAutoFit/>
          </a:bodyPr>
          <a:lstStyle/>
          <a:p>
            <a:pPr marL="0" indent="0" algn="l">
              <a:buNone/>
            </a:pPr>
            <a:r>
              <a:rPr sz="680" b="1" i="0">
                <a:solidFill>
                  <a:srgbClr val="1E2F6E"/>
                </a:solidFill>
              </a:rPr>
              <a:t>Actor: </a:t>
            </a:r>
            <a:r>
              <a:rPr sz="680" b="0" i="0">
                <a:solidFill>
                  <a:srgbClr val="555555"/>
                </a:solidFill>
              </a:rPr>
              <a:t>Member</a:t>
            </a:r>
          </a:p>
        </p:txBody>
      </p:sp>
      <p:sp>
        <p:nvSpPr>
          <p:cNvPr id="13" name="Rectangle 12"/>
          <p:cNvSpPr/>
          <p:nvPr/>
        </p:nvSpPr>
        <p:spPr>
          <a:xfrm>
            <a:off x="2817800" y="640080"/>
            <a:ext cx="1021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2909240" y="640080"/>
            <a:ext cx="884000" cy="246888"/>
          </a:xfrm>
          <a:prstGeom prst="rect">
            <a:avLst/>
          </a:prstGeom>
          <a:noFill/>
        </p:spPr>
        <p:txBody>
          <a:bodyPr wrap="square" lIns="0" tIns="0" rIns="0" bIns="0" anchor="ctr">
            <a:spAutoFit/>
          </a:bodyPr>
          <a:lstStyle/>
          <a:p>
            <a:pPr marL="0" indent="0" algn="l">
              <a:buNone/>
            </a:pPr>
            <a:r>
              <a:rPr sz="680" b="1" i="0">
                <a:solidFill>
                  <a:srgbClr val="1E2F6E"/>
                </a:solidFill>
              </a:rPr>
              <a:t>Exit: </a:t>
            </a:r>
            <a:r>
              <a:rPr sz="680" b="0" i="0">
                <a:solidFill>
                  <a:srgbClr val="555555"/>
                </a:solidFill>
              </a:rPr>
              <a:t>Order placed</a:t>
            </a:r>
          </a:p>
        </p:txBody>
      </p:sp>
      <p:sp>
        <p:nvSpPr>
          <p:cNvPr id="15" name="Rectangle 14"/>
          <p:cNvSpPr/>
          <p:nvPr/>
        </p:nvSpPr>
        <p:spPr>
          <a:xfrm>
            <a:off x="3907540" y="640080"/>
            <a:ext cx="1697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3998980" y="640080"/>
            <a:ext cx="1560000" cy="246888"/>
          </a:xfrm>
          <a:prstGeom prst="rect">
            <a:avLst/>
          </a:prstGeom>
          <a:noFill/>
        </p:spPr>
        <p:txBody>
          <a:bodyPr wrap="square" lIns="0" tIns="0" rIns="0" bIns="0" anchor="ctr">
            <a:spAutoFit/>
          </a:bodyPr>
          <a:lstStyle/>
          <a:p>
            <a:pPr marL="0" indent="0" algn="l">
              <a:buNone/>
            </a:pPr>
            <a:r>
              <a:rPr sz="680" b="1" i="0">
                <a:solidFill>
                  <a:srgbClr val="1E2F6E"/>
                </a:solidFill>
              </a:rPr>
              <a:t>Realises: </a:t>
            </a:r>
            <a:r>
              <a:rPr sz="680" b="0" i="0">
                <a:solidFill>
                  <a:srgbClr val="555555"/>
                </a:solidFill>
              </a:rPr>
              <a:t>CO-01 … CO-10 · BR-09</a:t>
            </a:r>
          </a:p>
        </p:txBody>
      </p:sp>
      <p:sp>
        <p:nvSpPr>
          <p:cNvPr id="17" name="TextBox 16"/>
          <p:cNvSpPr txBox="1"/>
          <p:nvPr/>
        </p:nvSpPr>
        <p:spPr>
          <a:xfrm>
            <a:off x="274320" y="960120"/>
            <a:ext cx="11612880" cy="210000"/>
          </a:xfrm>
          <a:prstGeom prst="rect">
            <a:avLst/>
          </a:prstGeom>
          <a:noFill/>
        </p:spPr>
        <p:txBody>
          <a:bodyPr wrap="square" lIns="0" tIns="0" rIns="0" bIns="0" anchor="ctr">
            <a:spAutoFit/>
          </a:bodyPr>
          <a:lstStyle/>
          <a:p>
            <a:pPr marL="0" indent="0" algn="l">
              <a:buNone/>
            </a:pPr>
            <a:r>
              <a:rPr sz="800" b="0" i="0">
                <a:solidFill>
                  <a:srgbClr val="555555"/>
                </a:solidFill>
              </a:rPr>
              <a:t>Everything carried from the Cart is read-only. The customer can only add payment instruments and invoice preferences — any change to the order sends them back to the Cart.</a:t>
            </a:r>
          </a:p>
        </p:txBody>
      </p:sp>
      <p:sp>
        <p:nvSpPr>
          <p:cNvPr id="18" name="Rounded Rectangle 17"/>
          <p:cNvSpPr/>
          <p:nvPr/>
        </p:nvSpPr>
        <p:spPr>
          <a:xfrm>
            <a:off x="274320" y="1280160"/>
            <a:ext cx="902208" cy="731520"/>
          </a:xfrm>
          <a:prstGeom prst="roundRect">
            <a:avLst>
              <a:gd name="adj" fmla="val 10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9" name="Oval 18"/>
          <p:cNvSpPr/>
          <p:nvPr/>
        </p:nvSpPr>
        <p:spPr>
          <a:xfrm>
            <a:off x="320040" y="1325880"/>
            <a:ext cx="182880" cy="182880"/>
          </a:xfrm>
          <a:prstGeom prst="ellipse">
            <a:avLst/>
          </a:prstGeom>
          <a:solidFill>
            <a:srgbClr val="9FA9C6"/>
          </a:solidFill>
          <a:ln w="1270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320040" y="132588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21" name="TextBox 20"/>
          <p:cNvSpPr txBox="1"/>
          <p:nvPr/>
        </p:nvSpPr>
        <p:spPr>
          <a:xfrm>
            <a:off x="320040" y="1554480"/>
            <a:ext cx="810768" cy="274320"/>
          </a:xfrm>
          <a:prstGeom prst="rect">
            <a:avLst/>
          </a:prstGeom>
          <a:noFill/>
        </p:spPr>
        <p:txBody>
          <a:bodyPr wrap="square" lIns="0" tIns="0" rIns="0" bIns="0" anchor="ctr">
            <a:spAutoFit/>
          </a:bodyPr>
          <a:lstStyle/>
          <a:p>
            <a:pPr marL="0" indent="0" algn="ctr">
              <a:buNone/>
            </a:pPr>
            <a:r>
              <a:rPr sz="620" b="1" i="0">
                <a:solidFill>
                  <a:srgbClr val="1E2F6E"/>
                </a:solidFill>
              </a:rPr>
              <a:t>Delivery / collection</a:t>
            </a:r>
          </a:p>
          <a:p>
            <a:pPr marL="0" indent="0" algn="ctr">
              <a:buNone/>
            </a:pPr>
            <a:r>
              <a:rPr sz="620" b="1" i="0">
                <a:solidFill>
                  <a:srgbClr val="1E2F6E"/>
                </a:solidFill>
              </a:rPr>
              <a:t>information</a:t>
            </a:r>
          </a:p>
        </p:txBody>
      </p:sp>
      <p:sp>
        <p:nvSpPr>
          <p:cNvPr id="22" name="TextBox 21"/>
          <p:cNvSpPr txBox="1"/>
          <p:nvPr/>
        </p:nvSpPr>
        <p:spPr>
          <a:xfrm>
            <a:off x="320040" y="1828800"/>
            <a:ext cx="810768" cy="137160"/>
          </a:xfrm>
          <a:prstGeom prst="rect">
            <a:avLst/>
          </a:prstGeom>
          <a:noFill/>
        </p:spPr>
        <p:txBody>
          <a:bodyPr wrap="square" lIns="0" tIns="0" rIns="0" bIns="0" anchor="ctr">
            <a:spAutoFit/>
          </a:bodyPr>
          <a:lstStyle/>
          <a:p>
            <a:pPr marL="0" indent="0" algn="ctr">
              <a:buNone/>
            </a:pPr>
            <a:r>
              <a:rPr sz="520" b="0" i="0">
                <a:solidFill>
                  <a:srgbClr val="888888"/>
                </a:solidFill>
              </a:rPr>
              <a:t>read-only</a:t>
            </a:r>
          </a:p>
        </p:txBody>
      </p:sp>
      <p:cxnSp>
        <p:nvCxnSpPr>
          <p:cNvPr id="23" name="Connector 22"/>
          <p:cNvCxnSpPr/>
          <p:nvPr/>
        </p:nvCxnSpPr>
        <p:spPr>
          <a:xfrm>
            <a:off x="1176528" y="1645920"/>
            <a:ext cx="68580" cy="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1245108" y="1280160"/>
            <a:ext cx="902208" cy="731520"/>
          </a:xfrm>
          <a:prstGeom prst="roundRect">
            <a:avLst>
              <a:gd name="adj" fmla="val 10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5" name="Oval 24"/>
          <p:cNvSpPr/>
          <p:nvPr/>
        </p:nvSpPr>
        <p:spPr>
          <a:xfrm>
            <a:off x="1290828" y="1325880"/>
            <a:ext cx="182880" cy="182880"/>
          </a:xfrm>
          <a:prstGeom prst="ellipse">
            <a:avLst/>
          </a:prstGeom>
          <a:solidFill>
            <a:srgbClr val="9FA9C6"/>
          </a:solidFill>
          <a:ln w="1270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6" name="TextBox 25"/>
          <p:cNvSpPr txBox="1"/>
          <p:nvPr/>
        </p:nvSpPr>
        <p:spPr>
          <a:xfrm>
            <a:off x="1290828" y="132588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27" name="TextBox 26"/>
          <p:cNvSpPr txBox="1"/>
          <p:nvPr/>
        </p:nvSpPr>
        <p:spPr>
          <a:xfrm>
            <a:off x="1290828" y="1554480"/>
            <a:ext cx="810768" cy="274320"/>
          </a:xfrm>
          <a:prstGeom prst="rect">
            <a:avLst/>
          </a:prstGeom>
          <a:noFill/>
        </p:spPr>
        <p:txBody>
          <a:bodyPr wrap="square" lIns="0" tIns="0" rIns="0" bIns="0" anchor="ctr">
            <a:spAutoFit/>
          </a:bodyPr>
          <a:lstStyle/>
          <a:p>
            <a:pPr marL="0" indent="0" algn="ctr">
              <a:buNone/>
            </a:pPr>
            <a:r>
              <a:rPr sz="620" b="1" i="0">
                <a:solidFill>
                  <a:srgbClr val="1E2F6E"/>
                </a:solidFill>
              </a:rPr>
              <a:t>Product list</a:t>
            </a:r>
          </a:p>
        </p:txBody>
      </p:sp>
      <p:sp>
        <p:nvSpPr>
          <p:cNvPr id="28" name="TextBox 27"/>
          <p:cNvSpPr txBox="1"/>
          <p:nvPr/>
        </p:nvSpPr>
        <p:spPr>
          <a:xfrm>
            <a:off x="1290828" y="1828800"/>
            <a:ext cx="810768" cy="137160"/>
          </a:xfrm>
          <a:prstGeom prst="rect">
            <a:avLst/>
          </a:prstGeom>
          <a:noFill/>
        </p:spPr>
        <p:txBody>
          <a:bodyPr wrap="square" lIns="0" tIns="0" rIns="0" bIns="0" anchor="ctr">
            <a:spAutoFit/>
          </a:bodyPr>
          <a:lstStyle/>
          <a:p>
            <a:pPr marL="0" indent="0" algn="ctr">
              <a:buNone/>
            </a:pPr>
            <a:r>
              <a:rPr sz="520" b="0" i="0">
                <a:solidFill>
                  <a:srgbClr val="888888"/>
                </a:solidFill>
              </a:rPr>
              <a:t>read-only</a:t>
            </a:r>
          </a:p>
        </p:txBody>
      </p:sp>
      <p:cxnSp>
        <p:nvCxnSpPr>
          <p:cNvPr id="29" name="Connector 28"/>
          <p:cNvCxnSpPr/>
          <p:nvPr/>
        </p:nvCxnSpPr>
        <p:spPr>
          <a:xfrm>
            <a:off x="2147316" y="1645920"/>
            <a:ext cx="68580" cy="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2215896" y="1280160"/>
            <a:ext cx="902208" cy="731520"/>
          </a:xfrm>
          <a:prstGeom prst="roundRect">
            <a:avLst>
              <a:gd name="adj" fmla="val 10000"/>
            </a:avLst>
          </a:prstGeom>
          <a:solidFill>
            <a:srgbClr val="FFFFFF"/>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Oval 30"/>
          <p:cNvSpPr/>
          <p:nvPr/>
        </p:nvSpPr>
        <p:spPr>
          <a:xfrm>
            <a:off x="2261616" y="1325880"/>
            <a:ext cx="182880" cy="182880"/>
          </a:xfrm>
          <a:prstGeom prst="ellipse">
            <a:avLst/>
          </a:prstGeom>
          <a:solidFill>
            <a:srgbClr val="9FA9C6"/>
          </a:solidFill>
          <a:ln w="1270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2261616" y="132588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33" name="TextBox 32"/>
          <p:cNvSpPr txBox="1"/>
          <p:nvPr/>
        </p:nvSpPr>
        <p:spPr>
          <a:xfrm>
            <a:off x="2261616" y="1554480"/>
            <a:ext cx="810768" cy="274320"/>
          </a:xfrm>
          <a:prstGeom prst="rect">
            <a:avLst/>
          </a:prstGeom>
          <a:noFill/>
        </p:spPr>
        <p:txBody>
          <a:bodyPr wrap="square" lIns="0" tIns="0" rIns="0" bIns="0" anchor="ctr">
            <a:spAutoFit/>
          </a:bodyPr>
          <a:lstStyle/>
          <a:p>
            <a:pPr marL="0" indent="0" algn="ctr">
              <a:buNone/>
            </a:pPr>
            <a:r>
              <a:rPr sz="620" b="1" i="0">
                <a:solidFill>
                  <a:srgbClr val="1E2F6E"/>
                </a:solidFill>
              </a:rPr>
              <a:t>Order note</a:t>
            </a:r>
          </a:p>
        </p:txBody>
      </p:sp>
      <p:sp>
        <p:nvSpPr>
          <p:cNvPr id="34" name="TextBox 33"/>
          <p:cNvSpPr txBox="1"/>
          <p:nvPr/>
        </p:nvSpPr>
        <p:spPr>
          <a:xfrm>
            <a:off x="2261616" y="1828800"/>
            <a:ext cx="810768" cy="137160"/>
          </a:xfrm>
          <a:prstGeom prst="rect">
            <a:avLst/>
          </a:prstGeom>
          <a:noFill/>
        </p:spPr>
        <p:txBody>
          <a:bodyPr wrap="square" lIns="0" tIns="0" rIns="0" bIns="0" anchor="ctr">
            <a:spAutoFit/>
          </a:bodyPr>
          <a:lstStyle/>
          <a:p>
            <a:pPr marL="0" indent="0" algn="ctr">
              <a:buNone/>
            </a:pPr>
            <a:r>
              <a:rPr sz="520" b="0" i="0">
                <a:solidFill>
                  <a:srgbClr val="888888"/>
                </a:solidFill>
              </a:rPr>
              <a:t>input</a:t>
            </a:r>
          </a:p>
        </p:txBody>
      </p:sp>
      <p:cxnSp>
        <p:nvCxnSpPr>
          <p:cNvPr id="35" name="Connector 34"/>
          <p:cNvCxnSpPr/>
          <p:nvPr/>
        </p:nvCxnSpPr>
        <p:spPr>
          <a:xfrm>
            <a:off x="3118104" y="1645920"/>
            <a:ext cx="68580" cy="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186684" y="1280160"/>
            <a:ext cx="902208" cy="731520"/>
          </a:xfrm>
          <a:prstGeom prst="roundRect">
            <a:avLst>
              <a:gd name="adj" fmla="val 10000"/>
            </a:avLst>
          </a:prstGeom>
          <a:solidFill>
            <a:srgbClr val="FFFFFF"/>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Oval 36"/>
          <p:cNvSpPr/>
          <p:nvPr/>
        </p:nvSpPr>
        <p:spPr>
          <a:xfrm>
            <a:off x="3232404" y="1325880"/>
            <a:ext cx="182880" cy="182880"/>
          </a:xfrm>
          <a:prstGeom prst="ellipse">
            <a:avLst/>
          </a:prstGeom>
          <a:solidFill>
            <a:srgbClr val="9FA9C6"/>
          </a:solidFill>
          <a:ln w="1270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TextBox 37"/>
          <p:cNvSpPr txBox="1"/>
          <p:nvPr/>
        </p:nvSpPr>
        <p:spPr>
          <a:xfrm>
            <a:off x="3232404" y="132588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39" name="TextBox 38"/>
          <p:cNvSpPr txBox="1"/>
          <p:nvPr/>
        </p:nvSpPr>
        <p:spPr>
          <a:xfrm>
            <a:off x="3232404" y="1554480"/>
            <a:ext cx="810768" cy="274320"/>
          </a:xfrm>
          <a:prstGeom prst="rect">
            <a:avLst/>
          </a:prstGeom>
          <a:noFill/>
        </p:spPr>
        <p:txBody>
          <a:bodyPr wrap="square" lIns="0" tIns="0" rIns="0" bIns="0" anchor="ctr">
            <a:spAutoFit/>
          </a:bodyPr>
          <a:lstStyle/>
          <a:p>
            <a:pPr marL="0" indent="0" algn="ctr">
              <a:buNone/>
            </a:pPr>
            <a:r>
              <a:rPr sz="620" b="1" i="0">
                <a:solidFill>
                  <a:srgbClr val="1E2F6E"/>
                </a:solidFill>
              </a:rPr>
              <a:t>Carton packing</a:t>
            </a:r>
          </a:p>
          <a:p>
            <a:pPr marL="0" indent="0" algn="ctr">
              <a:buNone/>
            </a:pPr>
            <a:r>
              <a:rPr sz="620" b="1" i="0">
                <a:solidFill>
                  <a:srgbClr val="1E2F6E"/>
                </a:solidFill>
              </a:rPr>
              <a:t>choice</a:t>
            </a:r>
          </a:p>
        </p:txBody>
      </p:sp>
      <p:sp>
        <p:nvSpPr>
          <p:cNvPr id="40" name="TextBox 39"/>
          <p:cNvSpPr txBox="1"/>
          <p:nvPr/>
        </p:nvSpPr>
        <p:spPr>
          <a:xfrm>
            <a:off x="3232404" y="1828800"/>
            <a:ext cx="810768" cy="137160"/>
          </a:xfrm>
          <a:prstGeom prst="rect">
            <a:avLst/>
          </a:prstGeom>
          <a:noFill/>
        </p:spPr>
        <p:txBody>
          <a:bodyPr wrap="square" lIns="0" tIns="0" rIns="0" bIns="0" anchor="ctr">
            <a:spAutoFit/>
          </a:bodyPr>
          <a:lstStyle/>
          <a:p>
            <a:pPr marL="0" indent="0" algn="ctr">
              <a:buNone/>
            </a:pPr>
            <a:r>
              <a:rPr sz="520" b="0" i="0">
                <a:solidFill>
                  <a:srgbClr val="888888"/>
                </a:solidFill>
              </a:rPr>
              <a:t>input</a:t>
            </a:r>
          </a:p>
        </p:txBody>
      </p:sp>
      <p:cxnSp>
        <p:nvCxnSpPr>
          <p:cNvPr id="41" name="Connector 40"/>
          <p:cNvCxnSpPr/>
          <p:nvPr/>
        </p:nvCxnSpPr>
        <p:spPr>
          <a:xfrm>
            <a:off x="4088892" y="1645920"/>
            <a:ext cx="68580" cy="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4157472" y="1280160"/>
            <a:ext cx="902208" cy="731520"/>
          </a:xfrm>
          <a:prstGeom prst="roundRect">
            <a:avLst>
              <a:gd name="adj" fmla="val 10000"/>
            </a:avLst>
          </a:prstGeom>
          <a:solidFill>
            <a:srgbClr val="FFFFFF"/>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3" name="Oval 42"/>
          <p:cNvSpPr/>
          <p:nvPr/>
        </p:nvSpPr>
        <p:spPr>
          <a:xfrm>
            <a:off x="4203192" y="1325880"/>
            <a:ext cx="182880" cy="182880"/>
          </a:xfrm>
          <a:prstGeom prst="ellipse">
            <a:avLst/>
          </a:prstGeom>
          <a:solidFill>
            <a:srgbClr val="9FA9C6"/>
          </a:solidFill>
          <a:ln w="1270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4" name="TextBox 43"/>
          <p:cNvSpPr txBox="1"/>
          <p:nvPr/>
        </p:nvSpPr>
        <p:spPr>
          <a:xfrm>
            <a:off x="4203192" y="132588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45" name="TextBox 44"/>
          <p:cNvSpPr txBox="1"/>
          <p:nvPr/>
        </p:nvSpPr>
        <p:spPr>
          <a:xfrm>
            <a:off x="4203192" y="1554480"/>
            <a:ext cx="810768" cy="274320"/>
          </a:xfrm>
          <a:prstGeom prst="rect">
            <a:avLst/>
          </a:prstGeom>
          <a:noFill/>
        </p:spPr>
        <p:txBody>
          <a:bodyPr wrap="square" lIns="0" tIns="0" rIns="0" bIns="0" anchor="ctr">
            <a:spAutoFit/>
          </a:bodyPr>
          <a:lstStyle/>
          <a:p>
            <a:pPr marL="0" indent="0" algn="ctr">
              <a:buNone/>
            </a:pPr>
            <a:r>
              <a:rPr sz="620" b="1" i="0">
                <a:solidFill>
                  <a:srgbClr val="1E2F6E"/>
                </a:solidFill>
              </a:rPr>
              <a:t>GotIt / gift card</a:t>
            </a:r>
          </a:p>
        </p:txBody>
      </p:sp>
      <p:sp>
        <p:nvSpPr>
          <p:cNvPr id="46" name="TextBox 45"/>
          <p:cNvSpPr txBox="1"/>
          <p:nvPr/>
        </p:nvSpPr>
        <p:spPr>
          <a:xfrm>
            <a:off x="4203192" y="1828800"/>
            <a:ext cx="810768" cy="137160"/>
          </a:xfrm>
          <a:prstGeom prst="rect">
            <a:avLst/>
          </a:prstGeom>
          <a:noFill/>
        </p:spPr>
        <p:txBody>
          <a:bodyPr wrap="square" lIns="0" tIns="0" rIns="0" bIns="0" anchor="ctr">
            <a:spAutoFit/>
          </a:bodyPr>
          <a:lstStyle/>
          <a:p>
            <a:pPr marL="0" indent="0" algn="ctr">
              <a:buNone/>
            </a:pPr>
            <a:r>
              <a:rPr sz="520" b="0" i="0">
                <a:solidFill>
                  <a:srgbClr val="888888"/>
                </a:solidFill>
              </a:rPr>
              <a:t>input</a:t>
            </a:r>
          </a:p>
        </p:txBody>
      </p:sp>
      <p:cxnSp>
        <p:nvCxnSpPr>
          <p:cNvPr id="47" name="Connector 46"/>
          <p:cNvCxnSpPr/>
          <p:nvPr/>
        </p:nvCxnSpPr>
        <p:spPr>
          <a:xfrm>
            <a:off x="5059680" y="1645920"/>
            <a:ext cx="68580" cy="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5128260" y="1280160"/>
            <a:ext cx="902208" cy="731520"/>
          </a:xfrm>
          <a:prstGeom prst="roundRect">
            <a:avLst>
              <a:gd name="adj" fmla="val 10000"/>
            </a:avLst>
          </a:prstGeom>
          <a:solidFill>
            <a:srgbClr val="FFFFFF"/>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9" name="Oval 48"/>
          <p:cNvSpPr/>
          <p:nvPr/>
        </p:nvSpPr>
        <p:spPr>
          <a:xfrm>
            <a:off x="5173980" y="1325880"/>
            <a:ext cx="182880" cy="182880"/>
          </a:xfrm>
          <a:prstGeom prst="ellipse">
            <a:avLst/>
          </a:prstGeom>
          <a:solidFill>
            <a:srgbClr val="9FA9C6"/>
          </a:solidFill>
          <a:ln w="1270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TextBox 49"/>
          <p:cNvSpPr txBox="1"/>
          <p:nvPr/>
        </p:nvSpPr>
        <p:spPr>
          <a:xfrm>
            <a:off x="5173980" y="132588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sp>
        <p:nvSpPr>
          <p:cNvPr id="51" name="TextBox 50"/>
          <p:cNvSpPr txBox="1"/>
          <p:nvPr/>
        </p:nvSpPr>
        <p:spPr>
          <a:xfrm>
            <a:off x="5173980" y="1554480"/>
            <a:ext cx="810768" cy="274320"/>
          </a:xfrm>
          <a:prstGeom prst="rect">
            <a:avLst/>
          </a:prstGeom>
          <a:noFill/>
        </p:spPr>
        <p:txBody>
          <a:bodyPr wrap="square" lIns="0" tIns="0" rIns="0" bIns="0" anchor="ctr">
            <a:spAutoFit/>
          </a:bodyPr>
          <a:lstStyle/>
          <a:p>
            <a:pPr marL="0" indent="0" algn="ctr">
              <a:buNone/>
            </a:pPr>
            <a:r>
              <a:rPr sz="620" b="1" i="0">
                <a:solidFill>
                  <a:srgbClr val="1E2F6E"/>
                </a:solidFill>
              </a:rPr>
              <a:t>Coupon check</a:t>
            </a:r>
          </a:p>
        </p:txBody>
      </p:sp>
      <p:sp>
        <p:nvSpPr>
          <p:cNvPr id="52" name="TextBox 51"/>
          <p:cNvSpPr txBox="1"/>
          <p:nvPr/>
        </p:nvSpPr>
        <p:spPr>
          <a:xfrm>
            <a:off x="5173980" y="1828800"/>
            <a:ext cx="810768" cy="137160"/>
          </a:xfrm>
          <a:prstGeom prst="rect">
            <a:avLst/>
          </a:prstGeom>
          <a:noFill/>
        </p:spPr>
        <p:txBody>
          <a:bodyPr wrap="square" lIns="0" tIns="0" rIns="0" bIns="0" anchor="ctr">
            <a:spAutoFit/>
          </a:bodyPr>
          <a:lstStyle/>
          <a:p>
            <a:pPr marL="0" indent="0" algn="ctr">
              <a:buNone/>
            </a:pPr>
            <a:r>
              <a:rPr sz="520" b="0" i="0">
                <a:solidFill>
                  <a:srgbClr val="888888"/>
                </a:solidFill>
              </a:rPr>
              <a:t>review</a:t>
            </a:r>
          </a:p>
        </p:txBody>
      </p:sp>
      <p:cxnSp>
        <p:nvCxnSpPr>
          <p:cNvPr id="53" name="Connector 52"/>
          <p:cNvCxnSpPr/>
          <p:nvPr/>
        </p:nvCxnSpPr>
        <p:spPr>
          <a:xfrm>
            <a:off x="6030468" y="1645920"/>
            <a:ext cx="68580" cy="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Rounded Rectangle 53"/>
          <p:cNvSpPr/>
          <p:nvPr/>
        </p:nvSpPr>
        <p:spPr>
          <a:xfrm>
            <a:off x="6099048" y="1280160"/>
            <a:ext cx="902208" cy="731520"/>
          </a:xfrm>
          <a:prstGeom prst="roundRect">
            <a:avLst>
              <a:gd name="adj" fmla="val 10000"/>
            </a:avLst>
          </a:prstGeom>
          <a:solidFill>
            <a:srgbClr val="FFFFFF"/>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5" name="Oval 54"/>
          <p:cNvSpPr/>
          <p:nvPr/>
        </p:nvSpPr>
        <p:spPr>
          <a:xfrm>
            <a:off x="6144768" y="1325880"/>
            <a:ext cx="182880" cy="182880"/>
          </a:xfrm>
          <a:prstGeom prst="ellipse">
            <a:avLst/>
          </a:prstGeom>
          <a:solidFill>
            <a:srgbClr val="9FA9C6"/>
          </a:solidFill>
          <a:ln w="1270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6" name="TextBox 55"/>
          <p:cNvSpPr txBox="1"/>
          <p:nvPr/>
        </p:nvSpPr>
        <p:spPr>
          <a:xfrm>
            <a:off x="6144768" y="132588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sp>
        <p:nvSpPr>
          <p:cNvPr id="57" name="TextBox 56"/>
          <p:cNvSpPr txBox="1"/>
          <p:nvPr/>
        </p:nvSpPr>
        <p:spPr>
          <a:xfrm>
            <a:off x="6144768" y="1554480"/>
            <a:ext cx="810768" cy="274320"/>
          </a:xfrm>
          <a:prstGeom prst="rect">
            <a:avLst/>
          </a:prstGeom>
          <a:noFill/>
        </p:spPr>
        <p:txBody>
          <a:bodyPr wrap="square" lIns="0" tIns="0" rIns="0" bIns="0" anchor="ctr">
            <a:spAutoFit/>
          </a:bodyPr>
          <a:lstStyle/>
          <a:p>
            <a:pPr marL="0" indent="0" algn="ctr">
              <a:buNone/>
            </a:pPr>
            <a:r>
              <a:rPr sz="620" b="1" i="0">
                <a:solidFill>
                  <a:srgbClr val="1E2F6E"/>
                </a:solidFill>
              </a:rPr>
              <a:t>Use loyalty</a:t>
            </a:r>
          </a:p>
          <a:p>
            <a:pPr marL="0" indent="0" algn="ctr">
              <a:buNone/>
            </a:pPr>
            <a:r>
              <a:rPr sz="620" b="1" i="0">
                <a:solidFill>
                  <a:srgbClr val="1E2F6E"/>
                </a:solidFill>
              </a:rPr>
              <a:t>points</a:t>
            </a:r>
          </a:p>
        </p:txBody>
      </p:sp>
      <p:sp>
        <p:nvSpPr>
          <p:cNvPr id="58" name="TextBox 57"/>
          <p:cNvSpPr txBox="1"/>
          <p:nvPr/>
        </p:nvSpPr>
        <p:spPr>
          <a:xfrm>
            <a:off x="6144768" y="1828800"/>
            <a:ext cx="810768" cy="137160"/>
          </a:xfrm>
          <a:prstGeom prst="rect">
            <a:avLst/>
          </a:prstGeom>
          <a:noFill/>
        </p:spPr>
        <p:txBody>
          <a:bodyPr wrap="square" lIns="0" tIns="0" rIns="0" bIns="0" anchor="ctr">
            <a:spAutoFit/>
          </a:bodyPr>
          <a:lstStyle/>
          <a:p>
            <a:pPr marL="0" indent="0" algn="ctr">
              <a:buNone/>
            </a:pPr>
            <a:r>
              <a:rPr sz="520" b="0" i="0">
                <a:solidFill>
                  <a:srgbClr val="888888"/>
                </a:solidFill>
              </a:rPr>
              <a:t>input</a:t>
            </a:r>
          </a:p>
        </p:txBody>
      </p:sp>
      <p:cxnSp>
        <p:nvCxnSpPr>
          <p:cNvPr id="59" name="Connector 58"/>
          <p:cNvCxnSpPr/>
          <p:nvPr/>
        </p:nvCxnSpPr>
        <p:spPr>
          <a:xfrm>
            <a:off x="7001256" y="1645920"/>
            <a:ext cx="68580" cy="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7069836" y="1280160"/>
            <a:ext cx="902208" cy="731520"/>
          </a:xfrm>
          <a:prstGeom prst="roundRect">
            <a:avLst>
              <a:gd name="adj" fmla="val 10000"/>
            </a:avLst>
          </a:prstGeom>
          <a:solidFill>
            <a:srgbClr val="FFFFFF"/>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1" name="Oval 60"/>
          <p:cNvSpPr/>
          <p:nvPr/>
        </p:nvSpPr>
        <p:spPr>
          <a:xfrm>
            <a:off x="7115556" y="1325880"/>
            <a:ext cx="182880" cy="182880"/>
          </a:xfrm>
          <a:prstGeom prst="ellipse">
            <a:avLst/>
          </a:prstGeom>
          <a:solidFill>
            <a:srgbClr val="9FA9C6"/>
          </a:solidFill>
          <a:ln w="1270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2" name="TextBox 61"/>
          <p:cNvSpPr txBox="1"/>
          <p:nvPr/>
        </p:nvSpPr>
        <p:spPr>
          <a:xfrm>
            <a:off x="7115556" y="132588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8</a:t>
            </a:r>
          </a:p>
        </p:txBody>
      </p:sp>
      <p:sp>
        <p:nvSpPr>
          <p:cNvPr id="63" name="TextBox 62"/>
          <p:cNvSpPr txBox="1"/>
          <p:nvPr/>
        </p:nvSpPr>
        <p:spPr>
          <a:xfrm>
            <a:off x="7115556" y="1554480"/>
            <a:ext cx="810768" cy="274320"/>
          </a:xfrm>
          <a:prstGeom prst="rect">
            <a:avLst/>
          </a:prstGeom>
          <a:noFill/>
        </p:spPr>
        <p:txBody>
          <a:bodyPr wrap="square" lIns="0" tIns="0" rIns="0" bIns="0" anchor="ctr">
            <a:spAutoFit/>
          </a:bodyPr>
          <a:lstStyle/>
          <a:p>
            <a:pPr marL="0" indent="0" algn="ctr">
              <a:buNone/>
            </a:pPr>
            <a:r>
              <a:rPr sz="620" b="1" i="0">
                <a:solidFill>
                  <a:srgbClr val="1E2F6E"/>
                </a:solidFill>
              </a:rPr>
              <a:t>Payment method</a:t>
            </a:r>
          </a:p>
        </p:txBody>
      </p:sp>
      <p:sp>
        <p:nvSpPr>
          <p:cNvPr id="64" name="TextBox 63"/>
          <p:cNvSpPr txBox="1"/>
          <p:nvPr/>
        </p:nvSpPr>
        <p:spPr>
          <a:xfrm>
            <a:off x="7115556" y="1828800"/>
            <a:ext cx="810768" cy="137160"/>
          </a:xfrm>
          <a:prstGeom prst="rect">
            <a:avLst/>
          </a:prstGeom>
          <a:noFill/>
        </p:spPr>
        <p:txBody>
          <a:bodyPr wrap="square" lIns="0" tIns="0" rIns="0" bIns="0" anchor="ctr">
            <a:spAutoFit/>
          </a:bodyPr>
          <a:lstStyle/>
          <a:p>
            <a:pPr marL="0" indent="0" algn="ctr">
              <a:buNone/>
            </a:pPr>
            <a:r>
              <a:rPr sz="520" b="0" i="0">
                <a:solidFill>
                  <a:srgbClr val="888888"/>
                </a:solidFill>
              </a:rPr>
              <a:t>input</a:t>
            </a:r>
          </a:p>
        </p:txBody>
      </p:sp>
      <p:cxnSp>
        <p:nvCxnSpPr>
          <p:cNvPr id="65" name="Connector 64"/>
          <p:cNvCxnSpPr/>
          <p:nvPr/>
        </p:nvCxnSpPr>
        <p:spPr>
          <a:xfrm>
            <a:off x="7972044" y="1645920"/>
            <a:ext cx="68580" cy="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6" name="Rounded Rectangle 65"/>
          <p:cNvSpPr/>
          <p:nvPr/>
        </p:nvSpPr>
        <p:spPr>
          <a:xfrm>
            <a:off x="8040624" y="1280160"/>
            <a:ext cx="902208" cy="731520"/>
          </a:xfrm>
          <a:prstGeom prst="roundRect">
            <a:avLst>
              <a:gd name="adj" fmla="val 10000"/>
            </a:avLst>
          </a:prstGeom>
          <a:solidFill>
            <a:srgbClr val="FFFFFF"/>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7" name="Oval 66"/>
          <p:cNvSpPr/>
          <p:nvPr/>
        </p:nvSpPr>
        <p:spPr>
          <a:xfrm>
            <a:off x="8086344" y="1325880"/>
            <a:ext cx="182880" cy="182880"/>
          </a:xfrm>
          <a:prstGeom prst="ellipse">
            <a:avLst/>
          </a:prstGeom>
          <a:solidFill>
            <a:srgbClr val="9FA9C6"/>
          </a:solidFill>
          <a:ln w="1270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8" name="TextBox 67"/>
          <p:cNvSpPr txBox="1"/>
          <p:nvPr/>
        </p:nvSpPr>
        <p:spPr>
          <a:xfrm>
            <a:off x="8086344" y="132588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9</a:t>
            </a:r>
          </a:p>
        </p:txBody>
      </p:sp>
      <p:sp>
        <p:nvSpPr>
          <p:cNvPr id="69" name="TextBox 68"/>
          <p:cNvSpPr txBox="1"/>
          <p:nvPr/>
        </p:nvSpPr>
        <p:spPr>
          <a:xfrm>
            <a:off x="8086344" y="1554480"/>
            <a:ext cx="810768" cy="274320"/>
          </a:xfrm>
          <a:prstGeom prst="rect">
            <a:avLst/>
          </a:prstGeom>
          <a:noFill/>
        </p:spPr>
        <p:txBody>
          <a:bodyPr wrap="square" lIns="0" tIns="0" rIns="0" bIns="0" anchor="ctr">
            <a:spAutoFit/>
          </a:bodyPr>
          <a:lstStyle/>
          <a:p>
            <a:pPr marL="0" indent="0" algn="ctr">
              <a:buNone/>
            </a:pPr>
            <a:r>
              <a:rPr sz="620" b="1" i="0">
                <a:solidFill>
                  <a:srgbClr val="1E2F6E"/>
                </a:solidFill>
              </a:rPr>
              <a:t>VAT invoice</a:t>
            </a:r>
          </a:p>
          <a:p>
            <a:pPr marL="0" indent="0" algn="ctr">
              <a:buNone/>
            </a:pPr>
            <a:r>
              <a:rPr sz="620" b="1" i="0">
                <a:solidFill>
                  <a:srgbClr val="1E2F6E"/>
                </a:solidFill>
              </a:rPr>
              <a:t>request</a:t>
            </a:r>
          </a:p>
        </p:txBody>
      </p:sp>
      <p:sp>
        <p:nvSpPr>
          <p:cNvPr id="70" name="TextBox 69"/>
          <p:cNvSpPr txBox="1"/>
          <p:nvPr/>
        </p:nvSpPr>
        <p:spPr>
          <a:xfrm>
            <a:off x="8086344" y="1828800"/>
            <a:ext cx="810768" cy="137160"/>
          </a:xfrm>
          <a:prstGeom prst="rect">
            <a:avLst/>
          </a:prstGeom>
          <a:noFill/>
        </p:spPr>
        <p:txBody>
          <a:bodyPr wrap="square" lIns="0" tIns="0" rIns="0" bIns="0" anchor="ctr">
            <a:spAutoFit/>
          </a:bodyPr>
          <a:lstStyle/>
          <a:p>
            <a:pPr marL="0" indent="0" algn="ctr">
              <a:buNone/>
            </a:pPr>
            <a:r>
              <a:rPr sz="520" b="0" i="0">
                <a:solidFill>
                  <a:srgbClr val="888888"/>
                </a:solidFill>
              </a:rPr>
              <a:t>input</a:t>
            </a:r>
          </a:p>
        </p:txBody>
      </p:sp>
      <p:cxnSp>
        <p:nvCxnSpPr>
          <p:cNvPr id="71" name="Connector 70"/>
          <p:cNvCxnSpPr/>
          <p:nvPr/>
        </p:nvCxnSpPr>
        <p:spPr>
          <a:xfrm>
            <a:off x="8942832" y="1645920"/>
            <a:ext cx="68580" cy="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72" name="Rounded Rectangle 71"/>
          <p:cNvSpPr/>
          <p:nvPr/>
        </p:nvSpPr>
        <p:spPr>
          <a:xfrm>
            <a:off x="9011412" y="1280160"/>
            <a:ext cx="902208" cy="731520"/>
          </a:xfrm>
          <a:prstGeom prst="roundRect">
            <a:avLst>
              <a:gd name="adj" fmla="val 10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3" name="Oval 72"/>
          <p:cNvSpPr/>
          <p:nvPr/>
        </p:nvSpPr>
        <p:spPr>
          <a:xfrm>
            <a:off x="9057132" y="1325880"/>
            <a:ext cx="182880" cy="182880"/>
          </a:xfrm>
          <a:prstGeom prst="ellipse">
            <a:avLst/>
          </a:prstGeom>
          <a:solidFill>
            <a:srgbClr val="9FA9C6"/>
          </a:solidFill>
          <a:ln w="1270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TextBox 73"/>
          <p:cNvSpPr txBox="1"/>
          <p:nvPr/>
        </p:nvSpPr>
        <p:spPr>
          <a:xfrm>
            <a:off x="9057132" y="132588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10</a:t>
            </a:r>
          </a:p>
        </p:txBody>
      </p:sp>
      <p:sp>
        <p:nvSpPr>
          <p:cNvPr id="75" name="TextBox 74"/>
          <p:cNvSpPr txBox="1"/>
          <p:nvPr/>
        </p:nvSpPr>
        <p:spPr>
          <a:xfrm>
            <a:off x="9057132" y="1554480"/>
            <a:ext cx="810768" cy="274320"/>
          </a:xfrm>
          <a:prstGeom prst="rect">
            <a:avLst/>
          </a:prstGeom>
          <a:noFill/>
        </p:spPr>
        <p:txBody>
          <a:bodyPr wrap="square" lIns="0" tIns="0" rIns="0" bIns="0" anchor="ctr">
            <a:spAutoFit/>
          </a:bodyPr>
          <a:lstStyle/>
          <a:p>
            <a:pPr marL="0" indent="0" algn="ctr">
              <a:buNone/>
            </a:pPr>
            <a:r>
              <a:rPr sz="620" b="1" i="0">
                <a:solidFill>
                  <a:srgbClr val="1E2F6E"/>
                </a:solidFill>
              </a:rPr>
              <a:t>Final payment</a:t>
            </a:r>
          </a:p>
          <a:p>
            <a:pPr marL="0" indent="0" algn="ctr">
              <a:buNone/>
            </a:pPr>
            <a:r>
              <a:rPr sz="620" b="1" i="0">
                <a:solidFill>
                  <a:srgbClr val="1E2F6E"/>
                </a:solidFill>
              </a:rPr>
              <a:t>summary</a:t>
            </a:r>
          </a:p>
        </p:txBody>
      </p:sp>
      <p:sp>
        <p:nvSpPr>
          <p:cNvPr id="76" name="TextBox 75"/>
          <p:cNvSpPr txBox="1"/>
          <p:nvPr/>
        </p:nvSpPr>
        <p:spPr>
          <a:xfrm>
            <a:off x="9057132" y="1828800"/>
            <a:ext cx="810768" cy="137160"/>
          </a:xfrm>
          <a:prstGeom prst="rect">
            <a:avLst/>
          </a:prstGeom>
          <a:noFill/>
        </p:spPr>
        <p:txBody>
          <a:bodyPr wrap="square" lIns="0" tIns="0" rIns="0" bIns="0" anchor="ctr">
            <a:spAutoFit/>
          </a:bodyPr>
          <a:lstStyle/>
          <a:p>
            <a:pPr marL="0" indent="0" algn="ctr">
              <a:buNone/>
            </a:pPr>
            <a:r>
              <a:rPr sz="520" b="0" i="0">
                <a:solidFill>
                  <a:srgbClr val="888888"/>
                </a:solidFill>
              </a:rPr>
              <a:t>read-only</a:t>
            </a:r>
          </a:p>
        </p:txBody>
      </p:sp>
      <p:cxnSp>
        <p:nvCxnSpPr>
          <p:cNvPr id="77" name="Connector 76"/>
          <p:cNvCxnSpPr/>
          <p:nvPr/>
        </p:nvCxnSpPr>
        <p:spPr>
          <a:xfrm>
            <a:off x="9913620" y="1645920"/>
            <a:ext cx="68580" cy="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78" name="Rounded Rectangle 77"/>
          <p:cNvSpPr/>
          <p:nvPr/>
        </p:nvSpPr>
        <p:spPr>
          <a:xfrm>
            <a:off x="9982200" y="1280160"/>
            <a:ext cx="902208" cy="731520"/>
          </a:xfrm>
          <a:prstGeom prst="roundRect">
            <a:avLst>
              <a:gd name="adj" fmla="val 10000"/>
            </a:avLst>
          </a:prstGeom>
          <a:solidFill>
            <a:srgbClr val="FFFFFF"/>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Oval 78"/>
          <p:cNvSpPr/>
          <p:nvPr/>
        </p:nvSpPr>
        <p:spPr>
          <a:xfrm>
            <a:off x="10027920" y="1325880"/>
            <a:ext cx="182880" cy="182880"/>
          </a:xfrm>
          <a:prstGeom prst="ellipse">
            <a:avLst/>
          </a:prstGeom>
          <a:solidFill>
            <a:srgbClr val="9FA9C6"/>
          </a:solidFill>
          <a:ln w="1270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0" name="TextBox 79"/>
          <p:cNvSpPr txBox="1"/>
          <p:nvPr/>
        </p:nvSpPr>
        <p:spPr>
          <a:xfrm>
            <a:off x="10027920" y="132588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11</a:t>
            </a:r>
          </a:p>
        </p:txBody>
      </p:sp>
      <p:sp>
        <p:nvSpPr>
          <p:cNvPr id="81" name="TextBox 80"/>
          <p:cNvSpPr txBox="1"/>
          <p:nvPr/>
        </p:nvSpPr>
        <p:spPr>
          <a:xfrm>
            <a:off x="10027920" y="1554480"/>
            <a:ext cx="810768" cy="274320"/>
          </a:xfrm>
          <a:prstGeom prst="rect">
            <a:avLst/>
          </a:prstGeom>
          <a:noFill/>
        </p:spPr>
        <p:txBody>
          <a:bodyPr wrap="square" lIns="0" tIns="0" rIns="0" bIns="0" anchor="ctr">
            <a:spAutoFit/>
          </a:bodyPr>
          <a:lstStyle/>
          <a:p>
            <a:pPr marL="0" indent="0" algn="ctr">
              <a:buNone/>
            </a:pPr>
            <a:r>
              <a:rPr sz="620" b="1" i="0">
                <a:solidFill>
                  <a:srgbClr val="1E2F6E"/>
                </a:solidFill>
              </a:rPr>
              <a:t>Policies</a:t>
            </a:r>
          </a:p>
        </p:txBody>
      </p:sp>
      <p:sp>
        <p:nvSpPr>
          <p:cNvPr id="82" name="TextBox 81"/>
          <p:cNvSpPr txBox="1"/>
          <p:nvPr/>
        </p:nvSpPr>
        <p:spPr>
          <a:xfrm>
            <a:off x="10027920" y="1828800"/>
            <a:ext cx="810768" cy="137160"/>
          </a:xfrm>
          <a:prstGeom prst="rect">
            <a:avLst/>
          </a:prstGeom>
          <a:noFill/>
        </p:spPr>
        <p:txBody>
          <a:bodyPr wrap="square" lIns="0" tIns="0" rIns="0" bIns="0" anchor="ctr">
            <a:spAutoFit/>
          </a:bodyPr>
          <a:lstStyle/>
          <a:p>
            <a:pPr marL="0" indent="0" algn="ctr">
              <a:buNone/>
            </a:pPr>
            <a:r>
              <a:rPr sz="520" b="0" i="0">
                <a:solidFill>
                  <a:srgbClr val="888888"/>
                </a:solidFill>
              </a:rPr>
              <a:t>review</a:t>
            </a:r>
          </a:p>
        </p:txBody>
      </p:sp>
      <p:cxnSp>
        <p:nvCxnSpPr>
          <p:cNvPr id="83" name="Connector 82"/>
          <p:cNvCxnSpPr/>
          <p:nvPr/>
        </p:nvCxnSpPr>
        <p:spPr>
          <a:xfrm>
            <a:off x="10884408" y="1645920"/>
            <a:ext cx="68580" cy="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84" name="Rounded Rectangle 83"/>
          <p:cNvSpPr/>
          <p:nvPr/>
        </p:nvSpPr>
        <p:spPr>
          <a:xfrm>
            <a:off x="10952988" y="1280160"/>
            <a:ext cx="902208" cy="731520"/>
          </a:xfrm>
          <a:prstGeom prst="roundRect">
            <a:avLst>
              <a:gd name="adj" fmla="val 10000"/>
            </a:avLst>
          </a:prstGeom>
          <a:solidFill>
            <a:srgbClr val="C8102E"/>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5" name="Oval 84"/>
          <p:cNvSpPr/>
          <p:nvPr/>
        </p:nvSpPr>
        <p:spPr>
          <a:xfrm>
            <a:off x="10998708" y="1325880"/>
            <a:ext cx="182880" cy="18288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6" name="TextBox 85"/>
          <p:cNvSpPr txBox="1"/>
          <p:nvPr/>
        </p:nvSpPr>
        <p:spPr>
          <a:xfrm>
            <a:off x="10998708" y="132588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12</a:t>
            </a:r>
          </a:p>
        </p:txBody>
      </p:sp>
      <p:sp>
        <p:nvSpPr>
          <p:cNvPr id="87" name="TextBox 86"/>
          <p:cNvSpPr txBox="1"/>
          <p:nvPr/>
        </p:nvSpPr>
        <p:spPr>
          <a:xfrm>
            <a:off x="10998708" y="1554480"/>
            <a:ext cx="810768" cy="274320"/>
          </a:xfrm>
          <a:prstGeom prst="rect">
            <a:avLst/>
          </a:prstGeom>
          <a:noFill/>
        </p:spPr>
        <p:txBody>
          <a:bodyPr wrap="square" lIns="0" tIns="0" rIns="0" bIns="0" anchor="ctr">
            <a:spAutoFit/>
          </a:bodyPr>
          <a:lstStyle/>
          <a:p>
            <a:pPr marL="0" indent="0" algn="ctr">
              <a:buNone/>
            </a:pPr>
            <a:r>
              <a:rPr sz="620" b="1" i="0">
                <a:solidFill>
                  <a:srgbClr val="FFFFFF"/>
                </a:solidFill>
              </a:rPr>
              <a:t>Place order</a:t>
            </a:r>
          </a:p>
        </p:txBody>
      </p:sp>
      <p:sp>
        <p:nvSpPr>
          <p:cNvPr id="88" name="TextBox 87"/>
          <p:cNvSpPr txBox="1"/>
          <p:nvPr/>
        </p:nvSpPr>
        <p:spPr>
          <a:xfrm>
            <a:off x="10998708" y="1828800"/>
            <a:ext cx="810768" cy="137160"/>
          </a:xfrm>
          <a:prstGeom prst="rect">
            <a:avLst/>
          </a:prstGeom>
          <a:noFill/>
        </p:spPr>
        <p:txBody>
          <a:bodyPr wrap="square" lIns="0" tIns="0" rIns="0" bIns="0" anchor="ctr">
            <a:spAutoFit/>
          </a:bodyPr>
          <a:lstStyle/>
          <a:p>
            <a:pPr marL="0" indent="0" algn="ctr">
              <a:buNone/>
            </a:pPr>
            <a:r>
              <a:rPr sz="520" b="0" i="0">
                <a:solidFill>
                  <a:srgbClr val="F2B8C0"/>
                </a:solidFill>
              </a:rPr>
              <a:t>commit</a:t>
            </a:r>
          </a:p>
        </p:txBody>
      </p:sp>
      <p:sp>
        <p:nvSpPr>
          <p:cNvPr id="89" name="Rectangle 88"/>
          <p:cNvSpPr/>
          <p:nvPr/>
        </p:nvSpPr>
        <p:spPr>
          <a:xfrm>
            <a:off x="274320" y="219456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0" name="TextBox 89"/>
          <p:cNvSpPr txBox="1"/>
          <p:nvPr/>
        </p:nvSpPr>
        <p:spPr>
          <a:xfrm>
            <a:off x="402336" y="2194560"/>
            <a:ext cx="11612880" cy="256032"/>
          </a:xfrm>
          <a:prstGeom prst="rect">
            <a:avLst/>
          </a:prstGeom>
          <a:noFill/>
        </p:spPr>
        <p:txBody>
          <a:bodyPr wrap="square" lIns="0" tIns="0" rIns="0" bIns="0" anchor="ctr">
            <a:spAutoFit/>
          </a:bodyPr>
          <a:lstStyle/>
          <a:p>
            <a:pPr marL="0" indent="0" algn="l">
              <a:buNone/>
            </a:pPr>
            <a:r>
              <a:rPr sz="1000" b="1" i="0">
                <a:solidFill>
                  <a:srgbClr val="1E2F6E"/>
                </a:solidFill>
              </a:rPr>
              <a:t>Step detail and rules</a:t>
            </a:r>
          </a:p>
        </p:txBody>
      </p:sp>
      <p:graphicFrame>
        <p:nvGraphicFramePr>
          <p:cNvPr id="91" name="Table 90"/>
          <p:cNvGraphicFramePr>
            <a:graphicFrameLocks noGrp="1"/>
          </p:cNvGraphicFramePr>
          <p:nvPr/>
        </p:nvGraphicFramePr>
        <p:xfrm>
          <a:off x="274320" y="2468880"/>
          <a:ext cx="11612880" cy="3108960"/>
        </p:xfrm>
        <a:graphic>
          <a:graphicData uri="http://schemas.openxmlformats.org/drawingml/2006/table">
            <a:tbl>
              <a:tblPr/>
              <a:tblGrid>
                <a:gridCol w="54864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694944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192024">
                <a:tc>
                  <a:txBody>
                    <a:bodyPr/>
                    <a:lstStyle/>
                    <a:p>
                      <a:pPr marL="0" indent="0" algn="ctr">
                        <a:buNone/>
                      </a:pPr>
                      <a:r>
                        <a:rPr sz="680" b="1" i="0">
                          <a:solidFill>
                            <a:srgbClr val="FFFFFF"/>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Step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Behaviour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Rule / FR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65176">
                <a:tc>
                  <a:txBody>
                    <a:bodyPr/>
                    <a:lstStyle/>
                    <a:p>
                      <a:pPr marL="0" indent="0" algn="ctr">
                        <a:buNone/>
                      </a:pPr>
                      <a:r>
                        <a:rPr sz="680" b="0" i="0">
                          <a:solidFill>
                            <a:srgbClr val="222222"/>
                          </a:solidFill>
                        </a:rPr>
                        <a:t>1–2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Delivery information and product list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Locked. Address, recipient, service, slot, serving store and the full product list are displayed for review only. Any correction requires returning to the Cart. The product list has a Detail / Compact toggle for large orders.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CO-01 · BR-09 · BRL-31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65176">
                <a:tc>
                  <a:txBody>
                    <a:bodyPr/>
                    <a:lstStyle/>
                    <a:p>
                      <a:pPr marL="0" indent="0" algn="ctr">
                        <a:buNone/>
                      </a:pPr>
                      <a:r>
                        <a:rPr sz="68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Order note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Free-text note at order level, plus an out-of-stock notification preference.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CO-02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65176">
                <a:tc>
                  <a:txBody>
                    <a:bodyPr/>
                    <a:lstStyle/>
                    <a:p>
                      <a:pPr marL="0" indent="0" algn="ctr">
                        <a:buNone/>
                      </a:pPr>
                      <a:r>
                        <a:rPr sz="68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Carton packing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The customer chooses whether the order is packed in a carton. This affects the packing fee — the amount is not yet confirmed (OQ-16).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CO-03 · OQ-16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65176">
                <a:tc>
                  <a:txBody>
                    <a:bodyPr/>
                    <a:lstStyle/>
                    <a:p>
                      <a:pPr marL="0" indent="0" algn="ctr">
                        <a:buNone/>
                      </a:pPr>
                      <a:r>
                        <a:rPr sz="68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GotIt / gift card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Code entered manually or scanned; the value is applied against the order total.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CO-04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265176">
                <a:tc>
                  <a:txBody>
                    <a:bodyPr/>
                    <a:lstStyle/>
                    <a:p>
                      <a:pPr marL="0" indent="0" algn="ctr">
                        <a:buNone/>
                      </a:pPr>
                      <a:r>
                        <a:rPr sz="68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Coupons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Coupons applied in the Cart are shown for confirmation. Delivery coupons and order/product coupons are presented as separate groups.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CO-05 · BRL-32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265176">
                <a:tc>
                  <a:txBody>
                    <a:bodyPr/>
                    <a:lstStyle/>
                    <a:p>
                      <a:pPr marL="0" indent="0" algn="ctr">
                        <a:buNone/>
                      </a:pPr>
                      <a:r>
                        <a:rPr sz="68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Loyalty points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Enter an amount or use all available points. Whether the points to be earned are also displayed is open — OQ-20.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CO-05 · OQ-20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265176">
                <a:tc>
                  <a:txBody>
                    <a:bodyPr/>
                    <a:lstStyle/>
                    <a:p>
                      <a:pPr marL="0" indent="0" algn="ctr">
                        <a:buNone/>
                      </a:pPr>
                      <a:r>
                        <a:rPr sz="680" b="0" i="0">
                          <a:solidFill>
                            <a:srgbClr val="222222"/>
                          </a:solidFill>
                        </a:rPr>
                        <a:t>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Payment method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MoMo, ZaloPay, card and BNPL, each able to carry its own promotion badge. If BNPL was selected in the Cart it is pre-selected here.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CO-06 · BRL-33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265176">
                <a:tc>
                  <a:txBody>
                    <a:bodyPr/>
                    <a:lstStyle/>
                    <a:p>
                      <a:pPr marL="0" indent="0" algn="ctr">
                        <a:buNone/>
                      </a:pPr>
                      <a:r>
                        <a:rPr sz="680" b="0" i="0">
                          <a:solidFill>
                            <a:srgbClr val="222222"/>
                          </a:solidFill>
                        </a:rPr>
                        <a:t>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VAT invoice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Request and capture invoice details. Whether the To-Be rules differ from today is open — OQ-19.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CO-07 · OQ-19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r h="265176">
                <a:tc>
                  <a:txBody>
                    <a:bodyPr/>
                    <a:lstStyle/>
                    <a:p>
                      <a:pPr marL="0" indent="0" algn="ctr">
                        <a:buNone/>
                      </a:pPr>
                      <a:r>
                        <a:rPr sz="680" b="0" i="0">
                          <a:solidFill>
                            <a:srgbClr val="222222"/>
                          </a:solidFill>
                        </a:rPr>
                        <a:t>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Final payment summary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Order value, nylon bag, delivery fee, bulky surcharge, product and delivery discounts, amount payable, and the points expected from the order.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CO-08 · BRL-34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9"/>
                  </a:ext>
                </a:extLst>
              </a:tr>
              <a:tr h="265176">
                <a:tc>
                  <a:txBody>
                    <a:bodyPr/>
                    <a:lstStyle/>
                    <a:p>
                      <a:pPr marL="0" indent="0" algn="ctr">
                        <a:buNone/>
                      </a:pPr>
                      <a:r>
                        <a:rPr sz="680" b="0" i="0">
                          <a:solidFill>
                            <a:srgbClr val="222222"/>
                          </a:solidFill>
                        </a:rPr>
                        <a:t>11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Policies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Return, purchase and privacy policies are linked. Content must be supplied by LOTTE MART — OQ-21.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CO-09 · OQ-21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10"/>
                  </a:ext>
                </a:extLst>
              </a:tr>
              <a:tr h="265176">
                <a:tc>
                  <a:txBody>
                    <a:bodyPr/>
                    <a:lstStyle/>
                    <a:p>
                      <a:pPr marL="0" indent="0" algn="ctr">
                        <a:buNone/>
                      </a:pPr>
                      <a:r>
                        <a:rPr sz="680" b="0" i="0">
                          <a:solidFill>
                            <a:srgbClr val="222222"/>
                          </a:solidFill>
                        </a:rPr>
                        <a:t>12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Place order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Commits the order. Everything after this point is outside the scope of this document.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CO-10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11"/>
                  </a:ext>
                </a:extLst>
              </a:tr>
            </a:tbl>
          </a:graphicData>
        </a:graphic>
      </p:graphicFrame>
      <p:sp>
        <p:nvSpPr>
          <p:cNvPr id="92" name="Rectangle 91"/>
          <p:cNvSpPr/>
          <p:nvPr/>
        </p:nvSpPr>
        <p:spPr>
          <a:xfrm>
            <a:off x="274320" y="5623560"/>
            <a:ext cx="11612880" cy="594360"/>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3" name="TextBox 92"/>
          <p:cNvSpPr txBox="1"/>
          <p:nvPr/>
        </p:nvSpPr>
        <p:spPr>
          <a:xfrm>
            <a:off x="411480" y="5669280"/>
            <a:ext cx="11338560" cy="502920"/>
          </a:xfrm>
          <a:prstGeom prst="rect">
            <a:avLst/>
          </a:prstGeom>
          <a:noFill/>
        </p:spPr>
        <p:txBody>
          <a:bodyPr wrap="square" lIns="0" tIns="0" rIns="0" bIns="0" anchor="t">
            <a:spAutoFit/>
          </a:bodyPr>
          <a:lstStyle/>
          <a:p>
            <a:pPr marL="0" indent="0" algn="l">
              <a:buNone/>
            </a:pPr>
            <a:r>
              <a:rPr sz="750" b="0" i="0">
                <a:solidFill>
                  <a:srgbClr val="6B6800"/>
                </a:solidFill>
              </a:rPr>
              <a:t>Why the order is locked (BR-09) — the price, the promotion set and the total are computed against a fixed basket, a fixed store and a fixed slot. Allowing an edit here would require recomputing all three mid-payment, which is exactly where the As-Is flow produces stale prices and disputed totals.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128016" cy="68580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005840" y="2011680"/>
            <a:ext cx="2000000" cy="700000"/>
          </a:xfrm>
          <a:prstGeom prst="rect">
            <a:avLst/>
          </a:prstGeom>
          <a:noFill/>
        </p:spPr>
        <p:txBody>
          <a:bodyPr wrap="square" lIns="0" tIns="0" rIns="0" bIns="0" anchor="ctr">
            <a:spAutoFit/>
          </a:bodyPr>
          <a:lstStyle/>
          <a:p>
            <a:pPr marL="0" indent="0" algn="l">
              <a:buNone/>
            </a:pPr>
            <a:r>
              <a:rPr sz="5400" b="1" i="0">
                <a:solidFill>
                  <a:srgbClr val="C8102E"/>
                </a:solidFill>
              </a:rPr>
              <a:t>PART 3</a:t>
            </a:r>
          </a:p>
        </p:txBody>
      </p:sp>
      <p:sp>
        <p:nvSpPr>
          <p:cNvPr id="5" name="TextBox 4"/>
          <p:cNvSpPr txBox="1"/>
          <p:nvPr/>
        </p:nvSpPr>
        <p:spPr>
          <a:xfrm>
            <a:off x="1005840" y="2743200"/>
            <a:ext cx="9000000" cy="640080"/>
          </a:xfrm>
          <a:prstGeom prst="rect">
            <a:avLst/>
          </a:prstGeom>
          <a:noFill/>
        </p:spPr>
        <p:txBody>
          <a:bodyPr wrap="square" lIns="0" tIns="0" rIns="0" bIns="0" anchor="ctr">
            <a:spAutoFit/>
          </a:bodyPr>
          <a:lstStyle/>
          <a:p>
            <a:pPr marL="0" indent="0" algn="l">
              <a:buNone/>
            </a:pPr>
            <a:r>
              <a:rPr sz="3000" b="1" i="0">
                <a:solidFill>
                  <a:srgbClr val="FFFFFF"/>
                </a:solidFill>
              </a:rPr>
              <a:t>Functional Requirements</a:t>
            </a:r>
          </a:p>
        </p:txBody>
      </p:sp>
      <p:sp>
        <p:nvSpPr>
          <p:cNvPr id="6" name="TextBox 5"/>
          <p:cNvSpPr txBox="1"/>
          <p:nvPr/>
        </p:nvSpPr>
        <p:spPr>
          <a:xfrm>
            <a:off x="1005840" y="3429000"/>
            <a:ext cx="9000000" cy="320040"/>
          </a:xfrm>
          <a:prstGeom prst="rect">
            <a:avLst/>
          </a:prstGeom>
          <a:noFill/>
        </p:spPr>
        <p:txBody>
          <a:bodyPr wrap="square" lIns="0" tIns="0" rIns="0" bIns="0" anchor="ctr">
            <a:spAutoFit/>
          </a:bodyPr>
          <a:lstStyle/>
          <a:p>
            <a:pPr marL="0" indent="0" algn="l">
              <a:buNone/>
            </a:pPr>
            <a:r>
              <a:rPr sz="1200" b="0" i="0">
                <a:solidFill>
                  <a:srgbClr val="AAAACC"/>
                </a:solidFill>
              </a:rPr>
              <a:t>54 requirements across six modules — ONB · HP · SU · LI · CT · CO</a:t>
            </a:r>
          </a:p>
        </p:txBody>
      </p:sp>
      <p:sp>
        <p:nvSpPr>
          <p:cNvPr id="7" name="Oval 6"/>
          <p:cNvSpPr/>
          <p:nvPr/>
        </p:nvSpPr>
        <p:spPr>
          <a:xfrm>
            <a:off x="1005840" y="420624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 name="TextBox 7"/>
          <p:cNvSpPr txBox="1"/>
          <p:nvPr/>
        </p:nvSpPr>
        <p:spPr>
          <a:xfrm>
            <a:off x="1188720" y="411480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Each requirement states what the system must do, and the rule that constrains it</a:t>
            </a:r>
          </a:p>
        </p:txBody>
      </p:sp>
      <p:sp>
        <p:nvSpPr>
          <p:cNvPr id="9" name="Oval 8"/>
          <p:cNvSpPr/>
          <p:nvPr/>
        </p:nvSpPr>
        <p:spPr>
          <a:xfrm>
            <a:off x="1005840" y="452628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1188720" y="443484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Priority is a BA proposal: security and data integrity = Must, growth and promotion = Should — LOTTE MART confirmation pending (OQ-24)</a:t>
            </a:r>
          </a:p>
        </p:txBody>
      </p:sp>
      <p:sp>
        <p:nvSpPr>
          <p:cNvPr id="11" name="Oval 10"/>
          <p:cNvSpPr/>
          <p:nvPr/>
        </p:nvSpPr>
        <p:spPr>
          <a:xfrm>
            <a:off x="1005840" y="484632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1188720" y="475488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Screen column points to the specification in Part 5; Rule column to Part 4</a:t>
            </a:r>
          </a:p>
        </p:txBody>
      </p:sp>
      <p:sp>
        <p:nvSpPr>
          <p:cNvPr id="13" name="Rectangle 12"/>
          <p:cNvSpPr/>
          <p:nvPr/>
        </p:nvSpPr>
        <p:spPr>
          <a:xfrm>
            <a:off x="0" y="6473952"/>
            <a:ext cx="12161520" cy="201168"/>
          </a:xfrm>
          <a:prstGeom prst="rect">
            <a:avLst/>
          </a:prstGeom>
          <a:solidFill>
            <a:srgbClr val="16234F"/>
          </a:solidFill>
          <a:ln w="12700">
            <a:solidFill>
              <a:srgbClr val="16234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6E7CA8"/>
                </a:solidFill>
              </a:rPr>
              <a:t>LOTTE MART VN Online Renewal 2026  —  Simplify User Flow  |  CONFIDENTIAL</a:t>
            </a:r>
          </a:p>
        </p:txBody>
      </p:sp>
      <p:sp>
        <p:nvSpPr>
          <p:cNvPr id="15" name="TextBox 14"/>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6E7CA8"/>
                </a:solidFill>
              </a:rPr>
              <a:t>20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3  ·  Functional Requirement Index</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21</a:t>
            </a:r>
          </a:p>
        </p:txBody>
      </p:sp>
      <p:sp>
        <p:nvSpPr>
          <p:cNvPr id="9" name="TextBox 8"/>
          <p:cNvSpPr txBox="1"/>
          <p:nvPr/>
        </p:nvSpPr>
        <p:spPr>
          <a:xfrm>
            <a:off x="274320" y="640080"/>
            <a:ext cx="11612880" cy="228600"/>
          </a:xfrm>
          <a:prstGeom prst="rect">
            <a:avLst/>
          </a:prstGeom>
          <a:noFill/>
        </p:spPr>
        <p:txBody>
          <a:bodyPr wrap="square" lIns="0" tIns="0" rIns="0" bIns="0" anchor="ctr">
            <a:spAutoFit/>
          </a:bodyPr>
          <a:lstStyle/>
          <a:p>
            <a:pPr marL="0" indent="0" algn="l">
              <a:buNone/>
            </a:pPr>
            <a:r>
              <a:rPr sz="850" b="0" i="0">
                <a:solidFill>
                  <a:srgbClr val="555555"/>
                </a:solidFill>
              </a:rPr>
              <a:t>Requirement identifiers are inherited from MART-AN02-BRD v0.1 so both documents stay comparable. Nothing was renumbered.</a:t>
            </a:r>
          </a:p>
        </p:txBody>
      </p:sp>
      <p:graphicFrame>
        <p:nvGraphicFramePr>
          <p:cNvPr id="10" name="Table 9"/>
          <p:cNvGraphicFramePr>
            <a:graphicFrameLocks noGrp="1"/>
          </p:cNvGraphicFramePr>
          <p:nvPr/>
        </p:nvGraphicFramePr>
        <p:xfrm>
          <a:off x="274320" y="1005840"/>
          <a:ext cx="11612880" cy="2404560"/>
        </p:xfrm>
        <a:graphic>
          <a:graphicData uri="http://schemas.openxmlformats.org/drawingml/2006/table">
            <a:tbl>
              <a:tblPr/>
              <a:tblGrid>
                <a:gridCol w="9144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6903720">
                  <a:extLst>
                    <a:ext uri="{9D8B030D-6E8A-4147-A177-3AD203B41FA5}">
                      <a16:colId xmlns:a16="http://schemas.microsoft.com/office/drawing/2014/main" val="20004"/>
                    </a:ext>
                  </a:extLst>
                </a:gridCol>
              </a:tblGrid>
              <a:tr h="210000">
                <a:tc>
                  <a:txBody>
                    <a:bodyPr/>
                    <a:lstStyle/>
                    <a:p>
                      <a:pPr marL="0" indent="0" algn="ctr">
                        <a:buNone/>
                      </a:pPr>
                      <a:r>
                        <a:rPr sz="800" b="1" i="0">
                          <a:solidFill>
                            <a:srgbClr val="FFFFFF"/>
                          </a:solidFill>
                        </a:rPr>
                        <a:t>Module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800" b="1" i="0">
                          <a:solidFill>
                            <a:srgbClr val="FFFFFF"/>
                          </a:solidFill>
                        </a:rPr>
                        <a:t>Name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800" b="1" i="0">
                          <a:solidFill>
                            <a:srgbClr val="FFFFFF"/>
                          </a:solidFill>
                        </a:rPr>
                        <a:t>Count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800" b="1" i="0">
                          <a:solidFill>
                            <a:srgbClr val="FFFFFF"/>
                          </a:solidFill>
                        </a:rPr>
                        <a:t>ID range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800" b="1" i="0">
                          <a:solidFill>
                            <a:srgbClr val="FFFFFF"/>
                          </a:solidFill>
                        </a:rPr>
                        <a:t>Coverage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365760">
                <a:tc>
                  <a:txBody>
                    <a:bodyPr/>
                    <a:lstStyle/>
                    <a:p>
                      <a:pPr marL="0" indent="0" algn="ctr">
                        <a:buNone/>
                      </a:pPr>
                      <a:r>
                        <a:rPr sz="800" b="1" i="0">
                          <a:solidFill>
                            <a:srgbClr val="222222"/>
                          </a:solidFill>
                        </a:rPr>
                        <a:t>ONB</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800" b="0" i="0">
                          <a:solidFill>
                            <a:srgbClr val="222222"/>
                          </a:solidFill>
                        </a:rPr>
                        <a:t>Onboarding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80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800" b="0" i="0">
                          <a:solidFill>
                            <a:srgbClr val="222222"/>
                          </a:solidFill>
                        </a:rPr>
                        <a:t>ONB-01 … ONB-07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800" b="0" i="0">
                          <a:solidFill>
                            <a:srgbClr val="222222"/>
                          </a:solidFill>
                        </a:rPr>
                        <a:t>Language, three system permissions, mandatory store selection, intro screens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365760">
                <a:tc>
                  <a:txBody>
                    <a:bodyPr/>
                    <a:lstStyle/>
                    <a:p>
                      <a:pPr marL="0" indent="0" algn="ctr">
                        <a:buNone/>
                      </a:pPr>
                      <a:r>
                        <a:rPr sz="800" b="1" i="0">
                          <a:solidFill>
                            <a:srgbClr val="222222"/>
                          </a:solidFill>
                        </a:rPr>
                        <a:t>HP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800" b="0" i="0">
                          <a:solidFill>
                            <a:srgbClr val="222222"/>
                          </a:solidFill>
                        </a:rPr>
                        <a:t>Homepage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800" b="0" i="0">
                          <a:solidFill>
                            <a:srgbClr val="222222"/>
                          </a:solidFill>
                        </a:rPr>
                        <a:t>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800" b="0" i="0">
                          <a:solidFill>
                            <a:srgbClr val="222222"/>
                          </a:solidFill>
                        </a:rPr>
                        <a:t>HP-01 … HP-10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800" b="0" i="0">
                          <a:solidFill>
                            <a:srgbClr val="222222"/>
                          </a:solidFill>
                        </a:rPr>
                        <a:t>Header context, address form and lifecycle, delivery-time estimate, the two login gates, store / address change, logout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365760">
                <a:tc>
                  <a:txBody>
                    <a:bodyPr/>
                    <a:lstStyle/>
                    <a:p>
                      <a:pPr marL="0" indent="0" algn="ctr">
                        <a:buNone/>
                      </a:pPr>
                      <a:r>
                        <a:rPr sz="800" b="1" i="0">
                          <a:solidFill>
                            <a:srgbClr val="222222"/>
                          </a:solidFill>
                        </a:rPr>
                        <a:t>SU</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800" b="0" i="0">
                          <a:solidFill>
                            <a:srgbClr val="222222"/>
                          </a:solidFill>
                        </a:rPr>
                        <a:t>Signup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800" b="0" i="0">
                          <a:solidFill>
                            <a:srgbClr val="222222"/>
                          </a:solidFill>
                        </a:rPr>
                        <a:t>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800" b="0" i="0">
                          <a:solidFill>
                            <a:srgbClr val="222222"/>
                          </a:solidFill>
                        </a:rPr>
                        <a:t>SU-01 … SU-09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800" b="0" i="0">
                          <a:solidFill>
                            <a:srgbClr val="222222"/>
                          </a:solidFill>
                        </a:rPr>
                        <a:t>Phone, OTP channel, OTP entry, PIN creation, profile, account creation, biometric offer, resume, deviation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365760">
                <a:tc>
                  <a:txBody>
                    <a:bodyPr/>
                    <a:lstStyle/>
                    <a:p>
                      <a:pPr marL="0" indent="0" algn="ctr">
                        <a:buNone/>
                      </a:pPr>
                      <a:r>
                        <a:rPr sz="800" b="1" i="0">
                          <a:solidFill>
                            <a:srgbClr val="222222"/>
                          </a:solidFill>
                        </a:rPr>
                        <a:t>LI</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800" b="0" i="0">
                          <a:solidFill>
                            <a:srgbClr val="222222"/>
                          </a:solidFill>
                        </a:rPr>
                        <a:t>Login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80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800" b="0" i="0">
                          <a:solidFill>
                            <a:srgbClr val="222222"/>
                          </a:solidFill>
                        </a:rPr>
                        <a:t>LI-01 … LI-07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800" b="0" i="0">
                          <a:solidFill>
                            <a:srgbClr val="222222"/>
                          </a:solidFill>
                        </a:rPr>
                        <a:t>Phone, priority-ordered authentication, resume, deviation, PIN reset, attempt limit, biometric on device change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365760">
                <a:tc>
                  <a:txBody>
                    <a:bodyPr/>
                    <a:lstStyle/>
                    <a:p>
                      <a:pPr marL="0" indent="0" algn="ctr">
                        <a:buNone/>
                      </a:pPr>
                      <a:r>
                        <a:rPr sz="800" b="1" i="0">
                          <a:solidFill>
                            <a:srgbClr val="222222"/>
                          </a:solidFill>
                        </a:rPr>
                        <a:t>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800" b="0" i="0">
                          <a:solidFill>
                            <a:srgbClr val="222222"/>
                          </a:solidFill>
                        </a:rPr>
                        <a:t>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800" b="0" i="0">
                          <a:solidFill>
                            <a:srgbClr val="222222"/>
                          </a:solidFill>
                        </a:rPr>
                        <a:t>11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800" b="0" i="0">
                          <a:solidFill>
                            <a:srgbClr val="222222"/>
                          </a:solidFill>
                        </a:rPr>
                        <a:t>CT-01 … CT-11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800" b="0" i="0">
                          <a:solidFill>
                            <a:srgbClr val="222222"/>
                          </a:solidFill>
                        </a:rPr>
                        <a:t>Entry, Delivery / Pickup, freeship top-up, filters, product selection, promotions, store change, service rules, pickup rules, lockers, checkout hand-off</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365760">
                <a:tc>
                  <a:txBody>
                    <a:bodyPr/>
                    <a:lstStyle/>
                    <a:p>
                      <a:pPr marL="0" indent="0" algn="ctr">
                        <a:buNone/>
                      </a:pPr>
                      <a:r>
                        <a:rPr sz="800" b="1" i="0">
                          <a:solidFill>
                            <a:srgbClr val="222222"/>
                          </a:solidFill>
                        </a:rPr>
                        <a:t>CO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800" b="0" i="0">
                          <a:solidFill>
                            <a:srgbClr val="222222"/>
                          </a:solidFill>
                        </a:rPr>
                        <a:t>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800" b="0" i="0">
                          <a:solidFill>
                            <a:srgbClr val="222222"/>
                          </a:solidFill>
                        </a:rPr>
                        <a:t>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800" b="0" i="0">
                          <a:solidFill>
                            <a:srgbClr val="222222"/>
                          </a:solidFill>
                        </a:rPr>
                        <a:t>CO-01 … CO-10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800" b="0" i="0">
                          <a:solidFill>
                            <a:srgbClr val="222222"/>
                          </a:solidFill>
                        </a:rPr>
                        <a:t>Locked review, note, packing, gift card, coupons and points, payment method, VAT, final summary, policies, place order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bl>
          </a:graphicData>
        </a:graphic>
      </p:graphicFrame>
      <p:sp>
        <p:nvSpPr>
          <p:cNvPr id="11" name="Rectangle 10"/>
          <p:cNvSpPr/>
          <p:nvPr/>
        </p:nvSpPr>
        <p:spPr>
          <a:xfrm>
            <a:off x="274320" y="352044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402336" y="3520440"/>
            <a:ext cx="5760720" cy="256032"/>
          </a:xfrm>
          <a:prstGeom prst="rect">
            <a:avLst/>
          </a:prstGeom>
          <a:noFill/>
        </p:spPr>
        <p:txBody>
          <a:bodyPr wrap="square" lIns="0" tIns="0" rIns="0" bIns="0" anchor="ctr">
            <a:spAutoFit/>
          </a:bodyPr>
          <a:lstStyle/>
          <a:p>
            <a:pPr marL="0" indent="0" algn="l">
              <a:buNone/>
            </a:pPr>
            <a:r>
              <a:rPr sz="1000" b="1" i="0">
                <a:solidFill>
                  <a:srgbClr val="1E2F6E"/>
                </a:solidFill>
              </a:rPr>
              <a:t>How to read a requirement row</a:t>
            </a:r>
          </a:p>
        </p:txBody>
      </p:sp>
      <p:graphicFrame>
        <p:nvGraphicFramePr>
          <p:cNvPr id="13" name="Table 12"/>
          <p:cNvGraphicFramePr>
            <a:graphicFrameLocks noGrp="1"/>
          </p:cNvGraphicFramePr>
          <p:nvPr/>
        </p:nvGraphicFramePr>
        <p:xfrm>
          <a:off x="274320" y="3794760"/>
          <a:ext cx="5760720" cy="1691328"/>
        </p:xfrm>
        <a:graphic>
          <a:graphicData uri="http://schemas.openxmlformats.org/drawingml/2006/table">
            <a:tbl>
              <a:tblPr/>
              <a:tblGrid>
                <a:gridCol w="192024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tblGrid>
              <a:tr h="210000">
                <a:tc>
                  <a:txBody>
                    <a:bodyPr/>
                    <a:lstStyle/>
                    <a:p>
                      <a:pPr marL="0" indent="0" algn="ctr">
                        <a:buNone/>
                      </a:pPr>
                      <a:r>
                        <a:rPr sz="750" b="1" i="0">
                          <a:solidFill>
                            <a:srgbClr val="FFFFFF"/>
                          </a:solidFill>
                        </a:rPr>
                        <a:t>Column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Meaning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46888">
                <a:tc>
                  <a:txBody>
                    <a:bodyPr/>
                    <a:lstStyle/>
                    <a:p>
                      <a:pPr marL="0" indent="0" algn="l">
                        <a:buNone/>
                      </a:pPr>
                      <a:r>
                        <a:rPr sz="750" b="0" i="0">
                          <a:solidFill>
                            <a:srgbClr val="222222"/>
                          </a:solidFill>
                        </a:rPr>
                        <a:t>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Stable identifier — carried over unchanged from the BRD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46888">
                <a:tc>
                  <a:txBody>
                    <a:bodyPr/>
                    <a:lstStyle/>
                    <a:p>
                      <a:pPr marL="0" indent="0" algn="l">
                        <a:buNone/>
                      </a:pPr>
                      <a:r>
                        <a:rPr sz="750" b="0" i="0">
                          <a:solidFill>
                            <a:srgbClr val="222222"/>
                          </a:solidFill>
                        </a:rPr>
                        <a:t>Requirement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The capability, in one line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46888">
                <a:tc>
                  <a:txBody>
                    <a:bodyPr/>
                    <a:lstStyle/>
                    <a:p>
                      <a:pPr marL="0" indent="0" algn="l">
                        <a:buNone/>
                      </a:pPr>
                      <a:r>
                        <a:rPr sz="750" b="0" i="0">
                          <a:solidFill>
                            <a:srgbClr val="222222"/>
                          </a:solidFill>
                        </a:rPr>
                        <a:t>Description / business rules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Behaviour, conditions, thresholds and edge cases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46888">
                <a:tc>
                  <a:txBody>
                    <a:bodyPr/>
                    <a:lstStyle/>
                    <a:p>
                      <a:pPr marL="0" indent="0" algn="l">
                        <a:buNone/>
                      </a:pPr>
                      <a:r>
                        <a:rPr sz="750" b="0" i="0">
                          <a:solidFill>
                            <a:srgbClr val="222222"/>
                          </a:solidFill>
                        </a:rPr>
                        <a:t>Pri.</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Must / Should — BA proposal, not yet confirmed by LOTTE MART (OQ-24)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246888">
                <a:tc>
                  <a:txBody>
                    <a:bodyPr/>
                    <a:lstStyle/>
                    <a:p>
                      <a:pPr marL="0" indent="0" algn="l">
                        <a:buNone/>
                      </a:pPr>
                      <a:r>
                        <a:rPr sz="750" b="0" i="0">
                          <a:solidFill>
                            <a:srgbClr val="222222"/>
                          </a:solidFill>
                        </a:rPr>
                        <a:t>Screen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Screen specification in Part 5 that realises it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246888">
                <a:tc>
                  <a:txBody>
                    <a:bodyPr/>
                    <a:lstStyle/>
                    <a:p>
                      <a:pPr marL="0" indent="0" algn="l">
                        <a:buNone/>
                      </a:pPr>
                      <a:r>
                        <a:rPr sz="750" b="0" i="0">
                          <a:solidFill>
                            <a:srgbClr val="222222"/>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Business rule in Part 4 that constrains it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bl>
          </a:graphicData>
        </a:graphic>
      </p:graphicFrame>
      <p:sp>
        <p:nvSpPr>
          <p:cNvPr id="14" name="Rectangle 13"/>
          <p:cNvSpPr/>
          <p:nvPr/>
        </p:nvSpPr>
        <p:spPr>
          <a:xfrm>
            <a:off x="6217920" y="352044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TextBox 14"/>
          <p:cNvSpPr txBox="1"/>
          <p:nvPr/>
        </p:nvSpPr>
        <p:spPr>
          <a:xfrm>
            <a:off x="6345936" y="3520440"/>
            <a:ext cx="5669280" cy="256032"/>
          </a:xfrm>
          <a:prstGeom prst="rect">
            <a:avLst/>
          </a:prstGeom>
          <a:noFill/>
        </p:spPr>
        <p:txBody>
          <a:bodyPr wrap="square" lIns="0" tIns="0" rIns="0" bIns="0" anchor="ctr">
            <a:spAutoFit/>
          </a:bodyPr>
          <a:lstStyle/>
          <a:p>
            <a:pPr marL="0" indent="0" algn="l">
              <a:buNone/>
            </a:pPr>
            <a:r>
              <a:rPr sz="1000" b="1" i="0">
                <a:solidFill>
                  <a:srgbClr val="1E2F6E"/>
                </a:solidFill>
              </a:rPr>
              <a:t>Priority distribution  (proposed)</a:t>
            </a:r>
          </a:p>
        </p:txBody>
      </p:sp>
      <p:sp>
        <p:nvSpPr>
          <p:cNvPr id="16" name="Rectangle 15"/>
          <p:cNvSpPr/>
          <p:nvPr/>
        </p:nvSpPr>
        <p:spPr>
          <a:xfrm>
            <a:off x="6217920" y="3794760"/>
            <a:ext cx="5669280" cy="73152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Rectangle 16"/>
          <p:cNvSpPr/>
          <p:nvPr/>
        </p:nvSpPr>
        <p:spPr>
          <a:xfrm>
            <a:off x="6217920" y="3794760"/>
            <a:ext cx="36576" cy="73152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6355080" y="3840480"/>
            <a:ext cx="1188720" cy="320040"/>
          </a:xfrm>
          <a:prstGeom prst="rect">
            <a:avLst/>
          </a:prstGeom>
          <a:noFill/>
        </p:spPr>
        <p:txBody>
          <a:bodyPr wrap="square" lIns="0" tIns="0" rIns="0" bIns="0" anchor="ctr">
            <a:spAutoFit/>
          </a:bodyPr>
          <a:lstStyle/>
          <a:p>
            <a:pPr marL="0" indent="0" algn="l">
              <a:buNone/>
            </a:pPr>
            <a:r>
              <a:rPr sz="2000" b="1" i="0">
                <a:solidFill>
                  <a:srgbClr val="C8102E"/>
                </a:solidFill>
              </a:rPr>
              <a:t>34</a:t>
            </a:r>
          </a:p>
        </p:txBody>
      </p:sp>
      <p:sp>
        <p:nvSpPr>
          <p:cNvPr id="19" name="TextBox 18"/>
          <p:cNvSpPr txBox="1"/>
          <p:nvPr/>
        </p:nvSpPr>
        <p:spPr>
          <a:xfrm>
            <a:off x="6355080" y="4206240"/>
            <a:ext cx="1188720" cy="228600"/>
          </a:xfrm>
          <a:prstGeom prst="rect">
            <a:avLst/>
          </a:prstGeom>
          <a:noFill/>
        </p:spPr>
        <p:txBody>
          <a:bodyPr wrap="square" lIns="0" tIns="0" rIns="0" bIns="0" anchor="ctr">
            <a:spAutoFit/>
          </a:bodyPr>
          <a:lstStyle/>
          <a:p>
            <a:pPr marL="0" indent="0" algn="l">
              <a:buNone/>
            </a:pPr>
            <a:r>
              <a:rPr sz="900" b="1" i="0">
                <a:solidFill>
                  <a:srgbClr val="C8102E"/>
                </a:solidFill>
              </a:rPr>
              <a:t>Must</a:t>
            </a:r>
          </a:p>
        </p:txBody>
      </p:sp>
      <p:sp>
        <p:nvSpPr>
          <p:cNvPr id="20" name="TextBox 19"/>
          <p:cNvSpPr txBox="1"/>
          <p:nvPr/>
        </p:nvSpPr>
        <p:spPr>
          <a:xfrm>
            <a:off x="7680960" y="3886200"/>
            <a:ext cx="4023360" cy="548640"/>
          </a:xfrm>
          <a:prstGeom prst="rect">
            <a:avLst/>
          </a:prstGeom>
          <a:noFill/>
        </p:spPr>
        <p:txBody>
          <a:bodyPr wrap="square" lIns="0" tIns="0" rIns="0" bIns="0" anchor="t">
            <a:spAutoFit/>
          </a:bodyPr>
          <a:lstStyle/>
          <a:p>
            <a:pPr marL="0" indent="0" algn="l">
              <a:buNone/>
            </a:pPr>
            <a:r>
              <a:rPr sz="750" b="0" i="0">
                <a:solidFill>
                  <a:srgbClr val="555555"/>
                </a:solidFill>
              </a:rPr>
              <a:t>Security, data integrity, transaction correctness and the mandatory steps of the journey</a:t>
            </a:r>
          </a:p>
        </p:txBody>
      </p:sp>
      <p:sp>
        <p:nvSpPr>
          <p:cNvPr id="21" name="Rectangle 20"/>
          <p:cNvSpPr/>
          <p:nvPr/>
        </p:nvSpPr>
        <p:spPr>
          <a:xfrm>
            <a:off x="6217920" y="4617720"/>
            <a:ext cx="5669280" cy="73152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Rectangle 21"/>
          <p:cNvSpPr/>
          <p:nvPr/>
        </p:nvSpPr>
        <p:spPr>
          <a:xfrm>
            <a:off x="6217920" y="4617720"/>
            <a:ext cx="36576" cy="731520"/>
          </a:xfrm>
          <a:prstGeom prst="rect">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TextBox 22"/>
          <p:cNvSpPr txBox="1"/>
          <p:nvPr/>
        </p:nvSpPr>
        <p:spPr>
          <a:xfrm>
            <a:off x="6355080" y="4663440"/>
            <a:ext cx="1188720" cy="320040"/>
          </a:xfrm>
          <a:prstGeom prst="rect">
            <a:avLst/>
          </a:prstGeom>
          <a:noFill/>
        </p:spPr>
        <p:txBody>
          <a:bodyPr wrap="square" lIns="0" tIns="0" rIns="0" bIns="0" anchor="ctr">
            <a:spAutoFit/>
          </a:bodyPr>
          <a:lstStyle/>
          <a:p>
            <a:pPr marL="0" indent="0" algn="l">
              <a:buNone/>
            </a:pPr>
            <a:r>
              <a:rPr sz="2000" b="1" i="0">
                <a:solidFill>
                  <a:srgbClr val="3D5298"/>
                </a:solidFill>
              </a:rPr>
              <a:t>20</a:t>
            </a:r>
          </a:p>
        </p:txBody>
      </p:sp>
      <p:sp>
        <p:nvSpPr>
          <p:cNvPr id="24" name="TextBox 23"/>
          <p:cNvSpPr txBox="1"/>
          <p:nvPr/>
        </p:nvSpPr>
        <p:spPr>
          <a:xfrm>
            <a:off x="6355080" y="5029200"/>
            <a:ext cx="1188720" cy="228600"/>
          </a:xfrm>
          <a:prstGeom prst="rect">
            <a:avLst/>
          </a:prstGeom>
          <a:noFill/>
        </p:spPr>
        <p:txBody>
          <a:bodyPr wrap="square" lIns="0" tIns="0" rIns="0" bIns="0" anchor="ctr">
            <a:spAutoFit/>
          </a:bodyPr>
          <a:lstStyle/>
          <a:p>
            <a:pPr marL="0" indent="0" algn="l">
              <a:buNone/>
            </a:pPr>
            <a:r>
              <a:rPr sz="900" b="1" i="0">
                <a:solidFill>
                  <a:srgbClr val="3D5298"/>
                </a:solidFill>
              </a:rPr>
              <a:t>Should</a:t>
            </a:r>
          </a:p>
        </p:txBody>
      </p:sp>
      <p:sp>
        <p:nvSpPr>
          <p:cNvPr id="25" name="TextBox 24"/>
          <p:cNvSpPr txBox="1"/>
          <p:nvPr/>
        </p:nvSpPr>
        <p:spPr>
          <a:xfrm>
            <a:off x="7680960" y="4709160"/>
            <a:ext cx="4023360" cy="548640"/>
          </a:xfrm>
          <a:prstGeom prst="rect">
            <a:avLst/>
          </a:prstGeom>
          <a:noFill/>
        </p:spPr>
        <p:txBody>
          <a:bodyPr wrap="square" lIns="0" tIns="0" rIns="0" bIns="0" anchor="t">
            <a:spAutoFit/>
          </a:bodyPr>
          <a:lstStyle/>
          <a:p>
            <a:pPr marL="0" indent="0" algn="l">
              <a:buNone/>
            </a:pPr>
            <a:r>
              <a:rPr sz="750" b="0" i="0">
                <a:solidFill>
                  <a:srgbClr val="555555"/>
                </a:solidFill>
              </a:rPr>
              <a:t>Growth, promotion surfacing and convenience — valuable but descopable without breaking the flow</a:t>
            </a:r>
          </a:p>
        </p:txBody>
      </p:sp>
      <p:sp>
        <p:nvSpPr>
          <p:cNvPr id="26" name="Rectangle 25"/>
          <p:cNvSpPr/>
          <p:nvPr/>
        </p:nvSpPr>
        <p:spPr>
          <a:xfrm>
            <a:off x="6217920" y="5440680"/>
            <a:ext cx="5669280" cy="502920"/>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7" name="TextBox 26"/>
          <p:cNvSpPr txBox="1"/>
          <p:nvPr/>
        </p:nvSpPr>
        <p:spPr>
          <a:xfrm>
            <a:off x="6355080" y="5486400"/>
            <a:ext cx="5394960" cy="411480"/>
          </a:xfrm>
          <a:prstGeom prst="rect">
            <a:avLst/>
          </a:prstGeom>
          <a:noFill/>
        </p:spPr>
        <p:txBody>
          <a:bodyPr wrap="square" lIns="0" tIns="0" rIns="0" bIns="0" anchor="t">
            <a:spAutoFit/>
          </a:bodyPr>
          <a:lstStyle/>
          <a:p>
            <a:pPr marL="0" indent="0" algn="l">
              <a:buNone/>
            </a:pPr>
            <a:r>
              <a:rPr sz="750" b="0" i="0">
                <a:solidFill>
                  <a:srgbClr val="6B6800"/>
                </a:solidFill>
              </a:rPr>
              <a:t>Priorities in this document are the BA's proposal, derived from the nature of each requirement. They carry no LOTTE MART approval yet and are tracked as OQ-24.</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3  ·  Onboarding  (ONB)</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22</a:t>
            </a:r>
          </a:p>
        </p:txBody>
      </p:sp>
      <p:sp>
        <p:nvSpPr>
          <p:cNvPr id="9" name="Rounded Rectangle 8"/>
          <p:cNvSpPr/>
          <p:nvPr/>
        </p:nvSpPr>
        <p:spPr>
          <a:xfrm>
            <a:off x="274320" y="640080"/>
            <a:ext cx="640080" cy="320040"/>
          </a:xfrm>
          <a:prstGeom prst="roundRect">
            <a:avLst>
              <a:gd name="adj" fmla="val 15000"/>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274320" y="640080"/>
            <a:ext cx="640080" cy="320040"/>
          </a:xfrm>
          <a:prstGeom prst="rect">
            <a:avLst/>
          </a:prstGeom>
          <a:noFill/>
        </p:spPr>
        <p:txBody>
          <a:bodyPr wrap="square" lIns="0" tIns="0" rIns="0" bIns="0" anchor="ctr">
            <a:spAutoFit/>
          </a:bodyPr>
          <a:lstStyle/>
          <a:p>
            <a:pPr marL="0" indent="0" algn="ctr">
              <a:buNone/>
            </a:pPr>
            <a:r>
              <a:rPr sz="1000" b="1" i="0">
                <a:solidFill>
                  <a:srgbClr val="FFFFFF"/>
                </a:solidFill>
              </a:rPr>
              <a:t>ONB</a:t>
            </a:r>
          </a:p>
        </p:txBody>
      </p:sp>
      <p:sp>
        <p:nvSpPr>
          <p:cNvPr id="11" name="TextBox 10"/>
          <p:cNvSpPr txBox="1"/>
          <p:nvPr/>
        </p:nvSpPr>
        <p:spPr>
          <a:xfrm>
            <a:off x="1005840" y="640080"/>
            <a:ext cx="3200400" cy="320040"/>
          </a:xfrm>
          <a:prstGeom prst="rect">
            <a:avLst/>
          </a:prstGeom>
          <a:noFill/>
        </p:spPr>
        <p:txBody>
          <a:bodyPr wrap="square" lIns="0" tIns="0" rIns="0" bIns="0" anchor="ctr">
            <a:spAutoFit/>
          </a:bodyPr>
          <a:lstStyle/>
          <a:p>
            <a:pPr marL="0" indent="0" algn="l">
              <a:buNone/>
            </a:pPr>
            <a:r>
              <a:rPr sz="850" b="1" i="0">
                <a:solidFill>
                  <a:srgbClr val="C8102E"/>
                </a:solidFill>
              </a:rPr>
              <a:t>7 functional requirements</a:t>
            </a:r>
            <a:r>
              <a:rPr sz="850" b="0" i="0">
                <a:solidFill>
                  <a:srgbClr val="AAAAAA"/>
                </a:solidFill>
              </a:rPr>
              <a:t>   ·   </a:t>
            </a:r>
            <a:r>
              <a:rPr sz="850" b="1" i="0">
                <a:solidFill>
                  <a:srgbClr val="3D5298"/>
                </a:solidFill>
              </a:rPr>
              <a:t>4 screens</a:t>
            </a:r>
          </a:p>
        </p:txBody>
      </p:sp>
      <p:sp>
        <p:nvSpPr>
          <p:cNvPr id="12" name="TextBox 11"/>
          <p:cNvSpPr txBox="1"/>
          <p:nvPr/>
        </p:nvSpPr>
        <p:spPr>
          <a:xfrm>
            <a:off x="4297680" y="640080"/>
            <a:ext cx="7863840" cy="320040"/>
          </a:xfrm>
          <a:prstGeom prst="rect">
            <a:avLst/>
          </a:prstGeom>
          <a:noFill/>
        </p:spPr>
        <p:txBody>
          <a:bodyPr wrap="square" lIns="0" tIns="0" rIns="0" bIns="0" anchor="ctr">
            <a:spAutoFit/>
          </a:bodyPr>
          <a:lstStyle/>
          <a:p>
            <a:pPr marL="0" indent="0" algn="l">
              <a:buNone/>
            </a:pPr>
            <a:r>
              <a:rPr sz="800" b="0" i="0">
                <a:solidFill>
                  <a:srgbClr val="555555"/>
                </a:solidFill>
              </a:rPr>
              <a:t>From first app launch to the Homepage. One mandatory step: store selection.</a:t>
            </a:r>
          </a:p>
        </p:txBody>
      </p:sp>
      <p:graphicFrame>
        <p:nvGraphicFramePr>
          <p:cNvPr id="13" name="Table 12"/>
          <p:cNvGraphicFramePr>
            <a:graphicFrameLocks noGrp="1"/>
          </p:cNvGraphicFramePr>
          <p:nvPr/>
        </p:nvGraphicFramePr>
        <p:xfrm>
          <a:off x="274320" y="1097280"/>
          <a:ext cx="11612880" cy="3712464"/>
        </p:xfrm>
        <a:graphic>
          <a:graphicData uri="http://schemas.openxmlformats.org/drawingml/2006/table">
            <a:tbl>
              <a:tblPr/>
              <a:tblGrid>
                <a:gridCol w="5943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621792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960120">
                  <a:extLst>
                    <a:ext uri="{9D8B030D-6E8A-4147-A177-3AD203B41FA5}">
                      <a16:colId xmlns:a16="http://schemas.microsoft.com/office/drawing/2014/main" val="20005"/>
                    </a:ext>
                  </a:extLst>
                </a:gridCol>
              </a:tblGrid>
              <a:tr h="192024">
                <a:tc>
                  <a:txBody>
                    <a:bodyPr/>
                    <a:lstStyle/>
                    <a:p>
                      <a:pPr marL="0" indent="0" algn="ctr">
                        <a:buNone/>
                      </a:pPr>
                      <a:r>
                        <a:rPr sz="680" b="1" i="0">
                          <a:solidFill>
                            <a:srgbClr val="FFFFFF"/>
                          </a:solidFill>
                        </a:rPr>
                        <a:t>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Requirement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Description / business rules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Pri.</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Screen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502920">
                <a:tc>
                  <a:txBody>
                    <a:bodyPr/>
                    <a:lstStyle/>
                    <a:p>
                      <a:pPr marL="0" indent="0" algn="ctr">
                        <a:buNone/>
                      </a:pPr>
                      <a:r>
                        <a:rPr sz="680" b="0" i="0">
                          <a:solidFill>
                            <a:srgbClr val="222222"/>
                          </a:solidFill>
                        </a:rPr>
                        <a:t>ONB-01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Select language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VN / KR / EN offered on first launch. The choice can be changed later in Settings. All subsequent copy, currency format and date format follow it.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SCR-ONB-01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502920">
                <a:tc>
                  <a:txBody>
                    <a:bodyPr/>
                    <a:lstStyle/>
                    <a:p>
                      <a:pPr marL="0" indent="0" algn="ctr">
                        <a:buNone/>
                      </a:pPr>
                      <a:r>
                        <a:rPr sz="680" b="0" i="0">
                          <a:solidFill>
                            <a:srgbClr val="222222"/>
                          </a:solidFill>
                        </a:rPr>
                        <a:t>ONB-02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Activity-tracking permission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OS dialog: “Allow LOTTE MART to track your activity across other apps and websites?” — Deny / Allow. Denial has no effect on the journey.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Should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SCR-ONB-02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502920">
                <a:tc>
                  <a:txBody>
                    <a:bodyPr/>
                    <a:lstStyle/>
                    <a:p>
                      <a:pPr marL="0" indent="0" algn="ctr">
                        <a:buNone/>
                      </a:pPr>
                      <a:r>
                        <a:rPr sz="680" b="0" i="0">
                          <a:solidFill>
                            <a:srgbClr val="222222"/>
                          </a:solidFill>
                        </a:rPr>
                        <a:t>ONB-03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Notification permission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OS dialog: “LOTTE MART would like to send you notifications” — Deny / Allow. Denial has no effect on the journey.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Should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SCR-ONB-02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502920">
                <a:tc>
                  <a:txBody>
                    <a:bodyPr/>
                    <a:lstStyle/>
                    <a:p>
                      <a:pPr marL="0" indent="0" algn="ctr">
                        <a:buNone/>
                      </a:pPr>
                      <a:r>
                        <a:rPr sz="680" b="0" i="0">
                          <a:solidFill>
                            <a:srgbClr val="222222"/>
                          </a:solidFill>
                        </a:rPr>
                        <a:t>ONB-04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Location permission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OS dialog — Deny / Allow. The answer determines only whether a default store can be proposed at ONB-05.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Should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SCR-ONB-02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BRL-02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502920">
                <a:tc>
                  <a:txBody>
                    <a:bodyPr/>
                    <a:lstStyle/>
                    <a:p>
                      <a:pPr marL="0" indent="0" algn="ctr">
                        <a:buNone/>
                      </a:pPr>
                      <a:r>
                        <a:rPr sz="680" b="0" i="0">
                          <a:solidFill>
                            <a:srgbClr val="222222"/>
                          </a:solidFill>
                        </a:rPr>
                        <a:t>ONB-05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Select store  (mandatory)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Permission allowed → the nearest store by GPS is pre-selected and can be changed. Permission denied → no default; the customer selects from the store list. The step cannot be skipped, because catalogue, price, stock, promotions and every delivery rule depend on it. Changeable later from the Homepage header (HP-08).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SCR-ONB-03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BRL-01 · BRL-02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502920">
                <a:tc>
                  <a:txBody>
                    <a:bodyPr/>
                    <a:lstStyle/>
                    <a:p>
                      <a:pPr marL="0" indent="0" algn="ctr">
                        <a:buNone/>
                      </a:pPr>
                      <a:r>
                        <a:rPr sz="680" b="0" i="0">
                          <a:solidFill>
                            <a:srgbClr val="222222"/>
                          </a:solidFill>
                        </a:rPr>
                        <a:t>ONB-06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Three introduction screens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Carousel of three screens with a Skip control that goes straight to the Homepage. Content of the three screens is not yet defined (OQ-06).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Should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SCR-ONB-04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502920">
                <a:tc>
                  <a:txBody>
                    <a:bodyPr/>
                    <a:lstStyle/>
                    <a:p>
                      <a:pPr marL="0" indent="0" algn="ctr">
                        <a:buNone/>
                      </a:pPr>
                      <a:r>
                        <a:rPr sz="680" b="0" i="0">
                          <a:solidFill>
                            <a:srgbClr val="222222"/>
                          </a:solidFill>
                        </a:rPr>
                        <a:t>ONB-07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Enter the Homepage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Guest state. Catalogue, pricing, stock and promotions are rendered for the store selected at ONB-05. No login is requested at this point.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SCR-HOM-01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BRL-03 · BRL-04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14" name="Rectangle 13"/>
          <p:cNvSpPr/>
          <p:nvPr/>
        </p:nvSpPr>
        <p:spPr>
          <a:xfrm>
            <a:off x="274320" y="4937760"/>
            <a:ext cx="11612880" cy="594360"/>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TextBox 14"/>
          <p:cNvSpPr txBox="1"/>
          <p:nvPr/>
        </p:nvSpPr>
        <p:spPr>
          <a:xfrm>
            <a:off x="411480" y="4983480"/>
            <a:ext cx="11338560" cy="502920"/>
          </a:xfrm>
          <a:prstGeom prst="rect">
            <a:avLst/>
          </a:prstGeom>
          <a:noFill/>
        </p:spPr>
        <p:txBody>
          <a:bodyPr wrap="square" lIns="0" tIns="0" rIns="0" bIns="0" anchor="t">
            <a:spAutoFit/>
          </a:bodyPr>
          <a:lstStyle/>
          <a:p>
            <a:pPr marL="0" indent="0" algn="l">
              <a:buNone/>
            </a:pPr>
            <a:r>
              <a:rPr sz="750" b="0" i="0">
                <a:solidFill>
                  <a:srgbClr val="6B6800"/>
                </a:solidFill>
              </a:rPr>
              <a:t>Design intent — the three OS permission dialogs are deliberately placed before store selection so that a customer who allows location gets a pre-selected store and the shortest possible path to the Homepage. A customer who denies location loses one convenience, never a capability.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3  ·  Homepage  (HP)</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23</a:t>
            </a:r>
          </a:p>
        </p:txBody>
      </p:sp>
      <p:sp>
        <p:nvSpPr>
          <p:cNvPr id="9" name="Rounded Rectangle 8"/>
          <p:cNvSpPr/>
          <p:nvPr/>
        </p:nvSpPr>
        <p:spPr>
          <a:xfrm>
            <a:off x="274320" y="640080"/>
            <a:ext cx="640080" cy="320040"/>
          </a:xfrm>
          <a:prstGeom prst="roundRect">
            <a:avLst>
              <a:gd name="adj" fmla="val 15000"/>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274320" y="640080"/>
            <a:ext cx="640080" cy="320040"/>
          </a:xfrm>
          <a:prstGeom prst="rect">
            <a:avLst/>
          </a:prstGeom>
          <a:noFill/>
        </p:spPr>
        <p:txBody>
          <a:bodyPr wrap="square" lIns="0" tIns="0" rIns="0" bIns="0" anchor="ctr">
            <a:spAutoFit/>
          </a:bodyPr>
          <a:lstStyle/>
          <a:p>
            <a:pPr marL="0" indent="0" algn="ctr">
              <a:buNone/>
            </a:pPr>
            <a:r>
              <a:rPr sz="1000" b="1" i="0">
                <a:solidFill>
                  <a:srgbClr val="FFFFFF"/>
                </a:solidFill>
              </a:rPr>
              <a:t>HP</a:t>
            </a:r>
          </a:p>
        </p:txBody>
      </p:sp>
      <p:sp>
        <p:nvSpPr>
          <p:cNvPr id="11" name="TextBox 10"/>
          <p:cNvSpPr txBox="1"/>
          <p:nvPr/>
        </p:nvSpPr>
        <p:spPr>
          <a:xfrm>
            <a:off x="1005840" y="640080"/>
            <a:ext cx="3200400" cy="320040"/>
          </a:xfrm>
          <a:prstGeom prst="rect">
            <a:avLst/>
          </a:prstGeom>
          <a:noFill/>
        </p:spPr>
        <p:txBody>
          <a:bodyPr wrap="square" lIns="0" tIns="0" rIns="0" bIns="0" anchor="ctr">
            <a:spAutoFit/>
          </a:bodyPr>
          <a:lstStyle/>
          <a:p>
            <a:pPr marL="0" indent="0" algn="l">
              <a:buNone/>
            </a:pPr>
            <a:r>
              <a:rPr sz="850" b="1" i="0">
                <a:solidFill>
                  <a:srgbClr val="C8102E"/>
                </a:solidFill>
              </a:rPr>
              <a:t>10 functional requirements</a:t>
            </a:r>
            <a:r>
              <a:rPr sz="850" b="0" i="0">
                <a:solidFill>
                  <a:srgbClr val="AAAAAA"/>
                </a:solidFill>
              </a:rPr>
              <a:t>   ·   </a:t>
            </a:r>
            <a:r>
              <a:rPr sz="850" b="1" i="0">
                <a:solidFill>
                  <a:srgbClr val="3D5298"/>
                </a:solidFill>
              </a:rPr>
              <a:t>6 screens</a:t>
            </a:r>
          </a:p>
        </p:txBody>
      </p:sp>
      <p:sp>
        <p:nvSpPr>
          <p:cNvPr id="12" name="TextBox 11"/>
          <p:cNvSpPr txBox="1"/>
          <p:nvPr/>
        </p:nvSpPr>
        <p:spPr>
          <a:xfrm>
            <a:off x="4297680" y="640080"/>
            <a:ext cx="7863840" cy="320040"/>
          </a:xfrm>
          <a:prstGeom prst="rect">
            <a:avLst/>
          </a:prstGeom>
          <a:noFill/>
        </p:spPr>
        <p:txBody>
          <a:bodyPr wrap="square" lIns="0" tIns="0" rIns="0" bIns="0" anchor="ctr">
            <a:spAutoFit/>
          </a:bodyPr>
          <a:lstStyle/>
          <a:p>
            <a:pPr marL="0" indent="0" algn="l">
              <a:buNone/>
            </a:pPr>
            <a:r>
              <a:rPr sz="800" b="0" i="0">
                <a:solidFill>
                  <a:srgbClr val="555555"/>
                </a:solidFill>
              </a:rPr>
              <a:t>Browsing context, address, delivery estimate, and the two points where login is enforced.</a:t>
            </a:r>
          </a:p>
        </p:txBody>
      </p:sp>
      <p:graphicFrame>
        <p:nvGraphicFramePr>
          <p:cNvPr id="13" name="Table 12"/>
          <p:cNvGraphicFramePr>
            <a:graphicFrameLocks noGrp="1"/>
          </p:cNvGraphicFramePr>
          <p:nvPr/>
        </p:nvGraphicFramePr>
        <p:xfrm>
          <a:off x="274320" y="1097280"/>
          <a:ext cx="11612880" cy="4581144"/>
        </p:xfrm>
        <a:graphic>
          <a:graphicData uri="http://schemas.openxmlformats.org/drawingml/2006/table">
            <a:tbl>
              <a:tblPr/>
              <a:tblGrid>
                <a:gridCol w="5943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621792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960120">
                  <a:extLst>
                    <a:ext uri="{9D8B030D-6E8A-4147-A177-3AD203B41FA5}">
                      <a16:colId xmlns:a16="http://schemas.microsoft.com/office/drawing/2014/main" val="20005"/>
                    </a:ext>
                  </a:extLst>
                </a:gridCol>
              </a:tblGrid>
              <a:tr h="192024">
                <a:tc>
                  <a:txBody>
                    <a:bodyPr/>
                    <a:lstStyle/>
                    <a:p>
                      <a:pPr marL="0" indent="0" algn="ctr">
                        <a:buNone/>
                      </a:pPr>
                      <a:r>
                        <a:rPr sz="680" b="1" i="0">
                          <a:solidFill>
                            <a:srgbClr val="FFFFFF"/>
                          </a:solidFill>
                        </a:rPr>
                        <a:t>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Requirement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Description / business rules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Pri.</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Screen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38912">
                <a:tc>
                  <a:txBody>
                    <a:bodyPr/>
                    <a:lstStyle/>
                    <a:p>
                      <a:pPr marL="0" indent="0" algn="ctr">
                        <a:buNone/>
                      </a:pPr>
                      <a:r>
                        <a:rPr sz="680" b="0" i="0">
                          <a:solidFill>
                            <a:srgbClr val="222222"/>
                          </a:solidFill>
                        </a:rPr>
                        <a:t>HP-01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Header shows three elements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Current store (tap to change) · delivery address (empty until one exists; kept in two-way sync with the address chosen in the Cart) · estimated delivery time.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SCR-HOM-01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BRL-03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38912">
                <a:tc>
                  <a:txBody>
                    <a:bodyPr/>
                    <a:lstStyle/>
                    <a:p>
                      <a:pPr marL="0" indent="0" algn="ctr">
                        <a:buNone/>
                      </a:pPr>
                      <a:r>
                        <a:rPr sz="680" b="0" i="0">
                          <a:solidFill>
                            <a:srgbClr val="222222"/>
                          </a:solidFill>
                        </a:rPr>
                        <a:t>HP-02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Address and location handling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GPS only pre-fills a suggestion — the customer must review and complete it (house number, floor) and confirm. A saved address is reused on later launches; the app does not re-locate on every Homepage open.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SCR-HOM-02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BRL-03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38912">
                <a:tc>
                  <a:txBody>
                    <a:bodyPr/>
                    <a:lstStyle/>
                    <a:p>
                      <a:pPr marL="0" indent="0" algn="ctr">
                        <a:buNone/>
                      </a:pPr>
                      <a:r>
                        <a:rPr sz="680" b="0" i="0">
                          <a:solidFill>
                            <a:srgbClr val="222222"/>
                          </a:solidFill>
                        </a:rPr>
                        <a:t>HP-03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Create delivery address form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Recipient name and phone — required, defaulted from the account, editable; omitted entirely for Guests. Address — required, pin on map allowed. what3words — optional. Address type — optional: Home / Office / Apartment / Hotel / Resort / Other.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SCR-HOM-02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BRL-03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38912">
                <a:tc>
                  <a:txBody>
                    <a:bodyPr/>
                    <a:lstStyle/>
                    <a:p>
                      <a:pPr marL="0" indent="0" algn="ctr">
                        <a:buNone/>
                      </a:pPr>
                      <a:r>
                        <a:rPr sz="680" b="0" i="0">
                          <a:solidFill>
                            <a:srgbClr val="222222"/>
                          </a:solidFill>
                        </a:rPr>
                        <a:t>HP-04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Estimated delivery time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No address → Standard is shown by default, with the earliest slot still bookable at the selected store. With an address → one of four mutually exclusive outcomes by distance: 60-Minute + Standard / Standard only / Next-day only / none. Outside every area no date or time is shown — only a message and a Change address CTA. Browsing and Pickup are never blocked.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SCR-HOM-01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BRL-10 … BRL-12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38912">
                <a:tc>
                  <a:txBody>
                    <a:bodyPr/>
                    <a:lstStyle/>
                    <a:p>
                      <a:pPr marL="0" indent="0" algn="ctr">
                        <a:buNone/>
                      </a:pPr>
                      <a:r>
                        <a:rPr sz="680" b="0" i="0">
                          <a:solidFill>
                            <a:srgbClr val="222222"/>
                          </a:solidFill>
                        </a:rPr>
                        <a:t>HP-05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Guest address synchronisation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Created while a Guest → stored on the device. On successful login or signup → synced to the server, bound to the account, set active, local copy deleted. If the account already has addresses, the new one is appended — nothing is overwritten.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SCR-HOM-02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BRL-03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38912">
                <a:tc>
                  <a:txBody>
                    <a:bodyPr/>
                    <a:lstStyle/>
                    <a:p>
                      <a:pPr marL="0" indent="0" algn="ctr">
                        <a:buNone/>
                      </a:pPr>
                      <a:r>
                        <a:rPr sz="680" b="0" i="0">
                          <a:solidFill>
                            <a:srgbClr val="222222"/>
                          </a:solidFill>
                        </a:rPr>
                        <a:t>HP-06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Add to Cart requires login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Guest taps Add to Cart → blocked, Signup / Login opens. On success the product is added automatically with a confirmation toast. On cancel the customer returns to the Homepage and nothing is added.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SCR-AUT-01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BRL-05 · BRL-07 · BRL-08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438912">
                <a:tc>
                  <a:txBody>
                    <a:bodyPr/>
                    <a:lstStyle/>
                    <a:p>
                      <a:pPr marL="0" indent="0" algn="ctr">
                        <a:buNone/>
                      </a:pPr>
                      <a:r>
                        <a:rPr sz="680" b="0" i="0">
                          <a:solidFill>
                            <a:srgbClr val="222222"/>
                          </a:solidFill>
                        </a:rPr>
                        <a:t>HP-07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Cart entry requires login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The Cart icon is always visible and never disabled. Tapped by a Guest → blocked, Signup / Login opens, then the Cart opens directly. Tapped by a member → the Cart opens. Session expiry is treated exactly as Guest (assumption — OQ-04).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SCR-AUT-01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BRL-05 · BRL-06 · OQ-04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438912">
                <a:tc>
                  <a:txBody>
                    <a:bodyPr/>
                    <a:lstStyle/>
                    <a:p>
                      <a:pPr marL="0" indent="0" algn="ctr">
                        <a:buNone/>
                      </a:pPr>
                      <a:r>
                        <a:rPr sz="680" b="0" i="0">
                          <a:solidFill>
                            <a:srgbClr val="222222"/>
                          </a:solidFill>
                        </a:rPr>
                        <a:t>HP-08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Change store from the header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Applied immediately, no confirmation. If the active address moves into a different service zone under the new store, the service falls back automatically and the customer is notified. Which address to use when the active one is no longer valid is unresolved (OQ-01).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SCR-HOM-04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BRL-08 · OQ-01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r h="438912">
                <a:tc>
                  <a:txBody>
                    <a:bodyPr/>
                    <a:lstStyle/>
                    <a:p>
                      <a:pPr marL="0" indent="0" algn="ctr">
                        <a:buNone/>
                      </a:pPr>
                      <a:r>
                        <a:rPr sz="680" b="0" i="0">
                          <a:solidFill>
                            <a:srgbClr val="222222"/>
                          </a:solidFill>
                        </a:rPr>
                        <a:t>HP-09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Change address from the header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Current store still serves it → keep the store, refresh address and estimate. Not served → switch store immediately without confirmation; when several stores qualify, the nearest by distance is chosen.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SCR-HOM-03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BRL-09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9"/>
                  </a:ext>
                </a:extLst>
              </a:tr>
              <a:tr h="438912">
                <a:tc>
                  <a:txBody>
                    <a:bodyPr/>
                    <a:lstStyle/>
                    <a:p>
                      <a:pPr marL="0" indent="0" algn="ctr">
                        <a:buNone/>
                      </a:pPr>
                      <a:r>
                        <a:rPr sz="680" b="0" i="0">
                          <a:solidFill>
                            <a:srgbClr val="222222"/>
                          </a:solidFill>
                        </a:rPr>
                        <a:t>HP-10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Logout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Selected store is retained — it is not personal data and a store is always required to browse. Delivery address is cleared, so it is not exposed to the next user of a shared device. Which address is shown after logging back in is unresolved (OQ-26).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SCR-HOM-01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NFR-03 · OQ-26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3  ·  Signup  (SU)  &amp;  Login  (LI)</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24</a:t>
            </a:r>
          </a:p>
        </p:txBody>
      </p:sp>
      <p:sp>
        <p:nvSpPr>
          <p:cNvPr id="9" name="Rounded Rectangle 8"/>
          <p:cNvSpPr/>
          <p:nvPr/>
        </p:nvSpPr>
        <p:spPr>
          <a:xfrm>
            <a:off x="274320" y="640080"/>
            <a:ext cx="640080" cy="320040"/>
          </a:xfrm>
          <a:prstGeom prst="roundRect">
            <a:avLst>
              <a:gd name="adj" fmla="val 15000"/>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274320" y="640080"/>
            <a:ext cx="640080" cy="320040"/>
          </a:xfrm>
          <a:prstGeom prst="rect">
            <a:avLst/>
          </a:prstGeom>
          <a:noFill/>
        </p:spPr>
        <p:txBody>
          <a:bodyPr wrap="square" lIns="0" tIns="0" rIns="0" bIns="0" anchor="ctr">
            <a:spAutoFit/>
          </a:bodyPr>
          <a:lstStyle/>
          <a:p>
            <a:pPr marL="0" indent="0" algn="ctr">
              <a:buNone/>
            </a:pPr>
            <a:r>
              <a:rPr sz="1000" b="1" i="0">
                <a:solidFill>
                  <a:srgbClr val="FFFFFF"/>
                </a:solidFill>
              </a:rPr>
              <a:t>SU / LI</a:t>
            </a:r>
          </a:p>
        </p:txBody>
      </p:sp>
      <p:sp>
        <p:nvSpPr>
          <p:cNvPr id="11" name="TextBox 10"/>
          <p:cNvSpPr txBox="1"/>
          <p:nvPr/>
        </p:nvSpPr>
        <p:spPr>
          <a:xfrm>
            <a:off x="1005840" y="640080"/>
            <a:ext cx="3200400" cy="320040"/>
          </a:xfrm>
          <a:prstGeom prst="rect">
            <a:avLst/>
          </a:prstGeom>
          <a:noFill/>
        </p:spPr>
        <p:txBody>
          <a:bodyPr wrap="square" lIns="0" tIns="0" rIns="0" bIns="0" anchor="ctr">
            <a:spAutoFit/>
          </a:bodyPr>
          <a:lstStyle/>
          <a:p>
            <a:pPr marL="0" indent="0" algn="l">
              <a:buNone/>
            </a:pPr>
            <a:r>
              <a:rPr sz="850" b="1" i="0">
                <a:solidFill>
                  <a:srgbClr val="C8102E"/>
                </a:solidFill>
              </a:rPr>
              <a:t>16 functional requirements</a:t>
            </a:r>
            <a:r>
              <a:rPr sz="850" b="0" i="0">
                <a:solidFill>
                  <a:srgbClr val="AAAAAA"/>
                </a:solidFill>
              </a:rPr>
              <a:t>   ·   </a:t>
            </a:r>
            <a:r>
              <a:rPr sz="850" b="1" i="0">
                <a:solidFill>
                  <a:srgbClr val="3D5298"/>
                </a:solidFill>
              </a:rPr>
              <a:t>7 screens</a:t>
            </a:r>
          </a:p>
        </p:txBody>
      </p:sp>
      <p:sp>
        <p:nvSpPr>
          <p:cNvPr id="12" name="TextBox 11"/>
          <p:cNvSpPr txBox="1"/>
          <p:nvPr/>
        </p:nvSpPr>
        <p:spPr>
          <a:xfrm>
            <a:off x="4297680" y="640080"/>
            <a:ext cx="7863840" cy="320040"/>
          </a:xfrm>
          <a:prstGeom prst="rect">
            <a:avLst/>
          </a:prstGeom>
          <a:noFill/>
        </p:spPr>
        <p:txBody>
          <a:bodyPr wrap="square" lIns="0" tIns="0" rIns="0" bIns="0" anchor="ctr">
            <a:spAutoFit/>
          </a:bodyPr>
          <a:lstStyle/>
          <a:p>
            <a:pPr marL="0" indent="0" algn="l">
              <a:buNone/>
            </a:pPr>
            <a:r>
              <a:rPr sz="800" b="0" i="0">
                <a:solidFill>
                  <a:srgbClr val="555555"/>
                </a:solidFill>
              </a:rPr>
              <a:t>Phone-number identity with Zalo-first OTP, a 6-digit PIN and optional biometrics.</a:t>
            </a:r>
          </a:p>
        </p:txBody>
      </p:sp>
      <p:sp>
        <p:nvSpPr>
          <p:cNvPr id="13" name="TextBox 12"/>
          <p:cNvSpPr txBox="1"/>
          <p:nvPr/>
        </p:nvSpPr>
        <p:spPr>
          <a:xfrm>
            <a:off x="274320" y="1005840"/>
            <a:ext cx="2011680" cy="210000"/>
          </a:xfrm>
          <a:prstGeom prst="rect">
            <a:avLst/>
          </a:prstGeom>
          <a:noFill/>
        </p:spPr>
        <p:txBody>
          <a:bodyPr wrap="square" lIns="0" tIns="0" rIns="0" bIns="0" anchor="ctr">
            <a:spAutoFit/>
          </a:bodyPr>
          <a:lstStyle/>
          <a:p>
            <a:pPr marL="0" indent="0" algn="l">
              <a:buNone/>
            </a:pPr>
            <a:r>
              <a:rPr sz="850" b="1" i="0">
                <a:solidFill>
                  <a:srgbClr val="1E2F6E"/>
                </a:solidFill>
              </a:rPr>
              <a:t>Signup  —  SU-01 … SU-09</a:t>
            </a:r>
          </a:p>
        </p:txBody>
      </p:sp>
      <p:graphicFrame>
        <p:nvGraphicFramePr>
          <p:cNvPr id="14" name="Table 13"/>
          <p:cNvGraphicFramePr>
            <a:graphicFrameLocks noGrp="1"/>
          </p:cNvGraphicFramePr>
          <p:nvPr/>
        </p:nvGraphicFramePr>
        <p:xfrm>
          <a:off x="274320" y="1234440"/>
          <a:ext cx="10058400" cy="2734056"/>
        </p:xfrm>
        <a:graphic>
          <a:graphicData uri="http://schemas.openxmlformats.org/drawingml/2006/table">
            <a:tbl>
              <a:tblPr/>
              <a:tblGrid>
                <a:gridCol w="5943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53035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tblGrid>
              <a:tr h="182880">
                <a:tc>
                  <a:txBody>
                    <a:bodyPr/>
                    <a:lstStyle/>
                    <a:p>
                      <a:pPr marL="0" indent="0" algn="ctr">
                        <a:buNone/>
                      </a:pPr>
                      <a:r>
                        <a:rPr sz="660" b="1" i="0">
                          <a:solidFill>
                            <a:srgbClr val="FFFFFF"/>
                          </a:solidFill>
                        </a:rPr>
                        <a:t>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60" b="1" i="0">
                          <a:solidFill>
                            <a:srgbClr val="FFFFFF"/>
                          </a:solidFill>
                        </a:rPr>
                        <a:t>Requirement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60" b="1" i="0">
                          <a:solidFill>
                            <a:srgbClr val="FFFFFF"/>
                          </a:solidFill>
                        </a:rPr>
                        <a:t>Description / business rules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60" b="1" i="0">
                          <a:solidFill>
                            <a:srgbClr val="FFFFFF"/>
                          </a:solidFill>
                        </a:rPr>
                        <a:t>Pri.</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60" b="1" i="0">
                          <a:solidFill>
                            <a:srgbClr val="FFFFFF"/>
                          </a:solidFill>
                        </a:rPr>
                        <a:t>Screen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6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83464">
                <a:tc>
                  <a:txBody>
                    <a:bodyPr/>
                    <a:lstStyle/>
                    <a:p>
                      <a:pPr marL="0" indent="0" algn="ctr">
                        <a:buNone/>
                      </a:pPr>
                      <a:r>
                        <a:rPr sz="660" b="0" i="0">
                          <a:solidFill>
                            <a:srgbClr val="222222"/>
                          </a:solidFill>
                        </a:rPr>
                        <a:t>SU-01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Enter phone number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Entry point when the customer chooses “New customer — Register” at either login gate.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6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60" b="0" i="0">
                          <a:solidFill>
                            <a:srgbClr val="222222"/>
                          </a:solidFill>
                        </a:rPr>
                        <a:t>SCR-AUT-02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83464">
                <a:tc>
                  <a:txBody>
                    <a:bodyPr/>
                    <a:lstStyle/>
                    <a:p>
                      <a:pPr marL="0" indent="0" algn="ctr">
                        <a:buNone/>
                      </a:pPr>
                      <a:r>
                        <a:rPr sz="660" b="0" i="0">
                          <a:solidFill>
                            <a:srgbClr val="222222"/>
                          </a:solidFill>
                        </a:rPr>
                        <a:t>SU-02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Choose OTP channel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Zalo is default and preferred — lower cost per message. SMS is the alternative.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6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60" b="0" i="0">
                          <a:solidFill>
                            <a:srgbClr val="222222"/>
                          </a:solidFill>
                        </a:rPr>
                        <a:t>SCR-AUT-02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BRL-13 · NFR-05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83464">
                <a:tc>
                  <a:txBody>
                    <a:bodyPr/>
                    <a:lstStyle/>
                    <a:p>
                      <a:pPr marL="0" indent="0" algn="ctr">
                        <a:buNone/>
                      </a:pPr>
                      <a:r>
                        <a:rPr sz="660" b="0" i="0">
                          <a:solidFill>
                            <a:srgbClr val="222222"/>
                          </a:solidFill>
                        </a:rPr>
                        <a:t>SU-03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Enter OTP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Resend is gated by a countdown. No automatic channel fallback; after the countdown the channel can be switched manually.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6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60" b="0" i="0">
                          <a:solidFill>
                            <a:srgbClr val="222222"/>
                          </a:solidFill>
                        </a:rPr>
                        <a:t>SCR-AUT-02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BRL-14 · BRL-15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83464">
                <a:tc>
                  <a:txBody>
                    <a:bodyPr/>
                    <a:lstStyle/>
                    <a:p>
                      <a:pPr marL="0" indent="0" algn="ctr">
                        <a:buNone/>
                      </a:pPr>
                      <a:r>
                        <a:rPr sz="660" b="0" i="0">
                          <a:solidFill>
                            <a:srgbClr val="222222"/>
                          </a:solidFill>
                        </a:rPr>
                        <a:t>SU-04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Create PIN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On a correct OTP: create a 6-digit PIN and confirm it by re-entry.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6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60" b="0" i="0">
                          <a:solidFill>
                            <a:srgbClr val="222222"/>
                          </a:solidFill>
                        </a:rPr>
                        <a:t>SCR-AUT-03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BRL-16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283464">
                <a:tc>
                  <a:txBody>
                    <a:bodyPr/>
                    <a:lstStyle/>
                    <a:p>
                      <a:pPr marL="0" indent="0" algn="ctr">
                        <a:buNone/>
                      </a:pPr>
                      <a:r>
                        <a:rPr sz="660" b="0" i="0">
                          <a:solidFill>
                            <a:srgbClr val="222222"/>
                          </a:solidFill>
                        </a:rPr>
                        <a:t>SU-05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Complete profile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Full name · gender (pre-selected “Chị” by design — the core base is women aged 30–45) · date of birth · nationality · registered store (pre-filled from Onboarding, changeable) · terms and privacy acceptance (mandatory) · marketing opt-in (optional).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6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60" b="0" i="0">
                          <a:solidFill>
                            <a:srgbClr val="222222"/>
                          </a:solidFill>
                        </a:rPr>
                        <a:t>SCR-AUT-04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BRL-16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283464">
                <a:tc>
                  <a:txBody>
                    <a:bodyPr/>
                    <a:lstStyle/>
                    <a:p>
                      <a:pPr marL="0" indent="0" algn="ctr">
                        <a:buNone/>
                      </a:pPr>
                      <a:r>
                        <a:rPr sz="660" b="0" i="0">
                          <a:solidFill>
                            <a:srgbClr val="222222"/>
                          </a:solidFill>
                        </a:rPr>
                        <a:t>SU-06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Create the account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Submit creates the account and logs the customer in automatically.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6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60" b="0" i="0">
                          <a:solidFill>
                            <a:srgbClr val="222222"/>
                          </a:solidFill>
                        </a:rPr>
                        <a:t>SCR-AUT-04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283464">
                <a:tc>
                  <a:txBody>
                    <a:bodyPr/>
                    <a:lstStyle/>
                    <a:p>
                      <a:pPr marL="0" indent="0" algn="ctr">
                        <a:buNone/>
                      </a:pPr>
                      <a:r>
                        <a:rPr sz="660" b="0" i="0">
                          <a:solidFill>
                            <a:srgbClr val="222222"/>
                          </a:solidFill>
                        </a:rPr>
                        <a:t>SU-07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Offer biometrics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Optional invitation to enable Face ID or fingerprint for future logins.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60" b="0" i="0">
                          <a:solidFill>
                            <a:srgbClr val="222222"/>
                          </a:solidFill>
                        </a:rPr>
                        <a:t>Should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60" b="0" i="0">
                          <a:solidFill>
                            <a:srgbClr val="222222"/>
                          </a:solidFill>
                        </a:rPr>
                        <a:t>SCR-AUT-04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NFR-02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283464">
                <a:tc>
                  <a:txBody>
                    <a:bodyPr/>
                    <a:lstStyle/>
                    <a:p>
                      <a:pPr marL="0" indent="0" algn="ctr">
                        <a:buNone/>
                      </a:pPr>
                      <a:r>
                        <a:rPr sz="660" b="0" i="0">
                          <a:solidFill>
                            <a:srgbClr val="222222"/>
                          </a:solidFill>
                        </a:rPr>
                        <a:t>SU-08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Resume the original action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Triggered from Add to Cart → the product is added automatically. Any locally-stored Guest address is synced to the new account.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6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60" b="0" i="0">
                          <a:solidFill>
                            <a:srgbClr val="222222"/>
                          </a:solidFill>
                        </a:rPr>
                        <a:t>SCR-AUT-04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BRL-07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r h="283464">
                <a:tc>
                  <a:txBody>
                    <a:bodyPr/>
                    <a:lstStyle/>
                    <a:p>
                      <a:pPr marL="0" indent="0" algn="ctr">
                        <a:buNone/>
                      </a:pPr>
                      <a:r>
                        <a:rPr sz="660" b="0" i="0">
                          <a:solidFill>
                            <a:srgbClr val="222222"/>
                          </a:solidFill>
                        </a:rPr>
                        <a:t>SU-09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Deviation — number already registered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Message shown, the entered number is retained, and the CTA switches to Login.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6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60" b="0" i="0">
                          <a:solidFill>
                            <a:srgbClr val="222222"/>
                          </a:solidFill>
                        </a:rPr>
                        <a:t>SCR-AUT-02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9"/>
                  </a:ext>
                </a:extLst>
              </a:tr>
            </a:tbl>
          </a:graphicData>
        </a:graphic>
      </p:graphicFrame>
      <p:sp>
        <p:nvSpPr>
          <p:cNvPr id="15" name="TextBox 14"/>
          <p:cNvSpPr txBox="1"/>
          <p:nvPr/>
        </p:nvSpPr>
        <p:spPr>
          <a:xfrm>
            <a:off x="274320" y="4023360"/>
            <a:ext cx="2011680" cy="210000"/>
          </a:xfrm>
          <a:prstGeom prst="rect">
            <a:avLst/>
          </a:prstGeom>
          <a:noFill/>
        </p:spPr>
        <p:txBody>
          <a:bodyPr wrap="square" lIns="0" tIns="0" rIns="0" bIns="0" anchor="ctr">
            <a:spAutoFit/>
          </a:bodyPr>
          <a:lstStyle/>
          <a:p>
            <a:pPr marL="0" indent="0" algn="l">
              <a:buNone/>
            </a:pPr>
            <a:r>
              <a:rPr sz="850" b="1" i="0">
                <a:solidFill>
                  <a:srgbClr val="1E2F6E"/>
                </a:solidFill>
              </a:rPr>
              <a:t>Login  —  LI-01 … LI-07</a:t>
            </a:r>
          </a:p>
        </p:txBody>
      </p:sp>
      <p:graphicFrame>
        <p:nvGraphicFramePr>
          <p:cNvPr id="16" name="Table 15"/>
          <p:cNvGraphicFramePr>
            <a:graphicFrameLocks noGrp="1"/>
          </p:cNvGraphicFramePr>
          <p:nvPr/>
        </p:nvGraphicFramePr>
        <p:xfrm>
          <a:off x="274320" y="4251960"/>
          <a:ext cx="10058400" cy="2103120"/>
        </p:xfrm>
        <a:graphic>
          <a:graphicData uri="http://schemas.openxmlformats.org/drawingml/2006/table">
            <a:tbl>
              <a:tblPr/>
              <a:tblGrid>
                <a:gridCol w="5943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53035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tblGrid>
              <a:tr h="182880">
                <a:tc>
                  <a:txBody>
                    <a:bodyPr/>
                    <a:lstStyle/>
                    <a:p>
                      <a:pPr marL="0" indent="0" algn="ctr">
                        <a:buNone/>
                      </a:pPr>
                      <a:r>
                        <a:rPr sz="660" b="1" i="0">
                          <a:solidFill>
                            <a:srgbClr val="FFFFFF"/>
                          </a:solidFill>
                        </a:rPr>
                        <a:t>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60" b="1" i="0">
                          <a:solidFill>
                            <a:srgbClr val="FFFFFF"/>
                          </a:solidFill>
                        </a:rPr>
                        <a:t>Requirement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60" b="1" i="0">
                          <a:solidFill>
                            <a:srgbClr val="FFFFFF"/>
                          </a:solidFill>
                        </a:rPr>
                        <a:t>Description / business rules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60" b="1" i="0">
                          <a:solidFill>
                            <a:srgbClr val="FFFFFF"/>
                          </a:solidFill>
                        </a:rPr>
                        <a:t>Pri.</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60" b="1" i="0">
                          <a:solidFill>
                            <a:srgbClr val="FFFFFF"/>
                          </a:solidFill>
                        </a:rPr>
                        <a:t>Screen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6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74320">
                <a:tc>
                  <a:txBody>
                    <a:bodyPr/>
                    <a:lstStyle/>
                    <a:p>
                      <a:pPr marL="0" indent="0" algn="ctr">
                        <a:buNone/>
                      </a:pPr>
                      <a:r>
                        <a:rPr sz="660" b="0" i="0">
                          <a:solidFill>
                            <a:srgbClr val="222222"/>
                          </a:solidFill>
                        </a:rPr>
                        <a:t>LI-01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Enter phone number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Entry point when the customer chooses “Existing customer — Sign 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6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60" b="0" i="0">
                          <a:solidFill>
                            <a:srgbClr val="222222"/>
                          </a:solidFill>
                        </a:rPr>
                        <a:t>SCR-AUT-05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74320">
                <a:tc>
                  <a:txBody>
                    <a:bodyPr/>
                    <a:lstStyle/>
                    <a:p>
                      <a:pPr marL="0" indent="0" algn="ctr">
                        <a:buNone/>
                      </a:pPr>
                      <a:r>
                        <a:rPr sz="660" b="0" i="0">
                          <a:solidFill>
                            <a:srgbClr val="222222"/>
                          </a:solidFill>
                        </a:rPr>
                        <a:t>LI-02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Authenticate in priority order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(a) Face ID / fingerprint when enabled on the device → (b) 6-digit PIN as fallback → (c) OTP, Zalo first then SMS, when the PIN is forgotten or fails repeatedly.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6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60" b="0" i="0">
                          <a:solidFill>
                            <a:srgbClr val="222222"/>
                          </a:solidFill>
                        </a:rPr>
                        <a:t>SCR-AUT-05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BRL-13 · BRL-16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74320">
                <a:tc>
                  <a:txBody>
                    <a:bodyPr/>
                    <a:lstStyle/>
                    <a:p>
                      <a:pPr marL="0" indent="0" algn="ctr">
                        <a:buNone/>
                      </a:pPr>
                      <a:r>
                        <a:rPr sz="660" b="0" i="0">
                          <a:solidFill>
                            <a:srgbClr val="222222"/>
                          </a:solidFill>
                        </a:rPr>
                        <a:t>LI-03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Resume the original action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On success: add the pending product, or open the 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6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60" b="0" i="0">
                          <a:solidFill>
                            <a:srgbClr val="222222"/>
                          </a:solidFill>
                        </a:rPr>
                        <a:t>SCR-AUT-05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BRL-07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74320">
                <a:tc>
                  <a:txBody>
                    <a:bodyPr/>
                    <a:lstStyle/>
                    <a:p>
                      <a:pPr marL="0" indent="0" algn="ctr">
                        <a:buNone/>
                      </a:pPr>
                      <a:r>
                        <a:rPr sz="660" b="0" i="0">
                          <a:solidFill>
                            <a:srgbClr val="222222"/>
                          </a:solidFill>
                        </a:rPr>
                        <a:t>LI-04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Deviation — number not registered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Message shown, number retained, CTA switches to Signup.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6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60" b="0" i="0">
                          <a:solidFill>
                            <a:srgbClr val="222222"/>
                          </a:solidFill>
                        </a:rPr>
                        <a:t>SCR-AUT-05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274320">
                <a:tc>
                  <a:txBody>
                    <a:bodyPr/>
                    <a:lstStyle/>
                    <a:p>
                      <a:pPr marL="0" indent="0" algn="ctr">
                        <a:buNone/>
                      </a:pPr>
                      <a:r>
                        <a:rPr sz="660" b="0" i="0">
                          <a:solidFill>
                            <a:srgbClr val="222222"/>
                          </a:solidFill>
                        </a:rPr>
                        <a:t>LI-05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Forgotten PIN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Re-verify by OTP, then set a new PIN.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6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60" b="0" i="0">
                          <a:solidFill>
                            <a:srgbClr val="222222"/>
                          </a:solidFill>
                        </a:rPr>
                        <a:t>SCR-AUT-06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BRL-17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274320">
                <a:tc>
                  <a:txBody>
                    <a:bodyPr/>
                    <a:lstStyle/>
                    <a:p>
                      <a:pPr marL="0" indent="0" algn="ctr">
                        <a:buNone/>
                      </a:pPr>
                      <a:r>
                        <a:rPr sz="660" b="0" i="0">
                          <a:solidFill>
                            <a:srgbClr val="222222"/>
                          </a:solidFill>
                        </a:rPr>
                        <a:t>LI-06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Attempt limit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OTP and PIN both carry a wrong-attempt limit. Mechanism and exact counts are not agreed — Security / Dev decision (OQ-03).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6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60" b="0" i="0">
                          <a:solidFill>
                            <a:srgbClr val="222222"/>
                          </a:solidFill>
                        </a:rPr>
                        <a:t>SCR-AUT-05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NFR-01 · OQ-03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274320">
                <a:tc>
                  <a:txBody>
                    <a:bodyPr/>
                    <a:lstStyle/>
                    <a:p>
                      <a:pPr marL="0" indent="0" algn="ctr">
                        <a:buNone/>
                      </a:pPr>
                      <a:r>
                        <a:rPr sz="660" b="0" i="0">
                          <a:solidFill>
                            <a:srgbClr val="222222"/>
                          </a:solidFill>
                        </a:rPr>
                        <a:t>LI-07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Biometrics on device change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Handling when the customer moves to a new phone is not agreed (OQ-11). Proposal: one active biometric ticket per device, with an explicit warning before it is overwritten.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6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60" b="0" i="0">
                          <a:solidFill>
                            <a:srgbClr val="222222"/>
                          </a:solidFill>
                        </a:rPr>
                        <a:t>SCR-AUT-05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NFR-02 · OQ-11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17" name="Rectangle 16"/>
          <p:cNvSpPr/>
          <p:nvPr/>
        </p:nvSpPr>
        <p:spPr>
          <a:xfrm>
            <a:off x="10515600" y="100584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10643616" y="1005840"/>
            <a:ext cx="1554480" cy="256032"/>
          </a:xfrm>
          <a:prstGeom prst="rect">
            <a:avLst/>
          </a:prstGeom>
          <a:noFill/>
        </p:spPr>
        <p:txBody>
          <a:bodyPr wrap="square" lIns="0" tIns="0" rIns="0" bIns="0" anchor="ctr">
            <a:spAutoFit/>
          </a:bodyPr>
          <a:lstStyle/>
          <a:p>
            <a:pPr marL="0" indent="0" algn="l">
              <a:buNone/>
            </a:pPr>
            <a:r>
              <a:rPr sz="1000" b="1" i="0">
                <a:solidFill>
                  <a:srgbClr val="1E2F6E"/>
                </a:solidFill>
              </a:rPr>
              <a:t>Sequence</a:t>
            </a:r>
          </a:p>
        </p:txBody>
      </p:sp>
      <p:sp>
        <p:nvSpPr>
          <p:cNvPr id="19" name="Rectangle 18"/>
          <p:cNvSpPr/>
          <p:nvPr/>
        </p:nvSpPr>
        <p:spPr>
          <a:xfrm>
            <a:off x="10515600" y="1280160"/>
            <a:ext cx="1371600" cy="22860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0561320" y="1280160"/>
            <a:ext cx="1280160" cy="228600"/>
          </a:xfrm>
          <a:prstGeom prst="rect">
            <a:avLst/>
          </a:prstGeom>
          <a:noFill/>
        </p:spPr>
        <p:txBody>
          <a:bodyPr wrap="square" lIns="0" tIns="0" rIns="0" bIns="0" anchor="ctr">
            <a:spAutoFit/>
          </a:bodyPr>
          <a:lstStyle/>
          <a:p>
            <a:pPr marL="0" indent="0" algn="l">
              <a:buNone/>
            </a:pPr>
            <a:r>
              <a:rPr sz="630" b="0" i="0">
                <a:solidFill>
                  <a:srgbClr val="1E2F6E"/>
                </a:solidFill>
              </a:rPr>
              <a:t>1.  Phone number</a:t>
            </a:r>
          </a:p>
        </p:txBody>
      </p:sp>
      <p:sp>
        <p:nvSpPr>
          <p:cNvPr id="21" name="Rectangle 20"/>
          <p:cNvSpPr/>
          <p:nvPr/>
        </p:nvSpPr>
        <p:spPr>
          <a:xfrm>
            <a:off x="10515600" y="1545336"/>
            <a:ext cx="1371600" cy="22860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TextBox 21"/>
          <p:cNvSpPr txBox="1"/>
          <p:nvPr/>
        </p:nvSpPr>
        <p:spPr>
          <a:xfrm>
            <a:off x="10561320" y="1545336"/>
            <a:ext cx="1280160" cy="228600"/>
          </a:xfrm>
          <a:prstGeom prst="rect">
            <a:avLst/>
          </a:prstGeom>
          <a:noFill/>
        </p:spPr>
        <p:txBody>
          <a:bodyPr wrap="square" lIns="0" tIns="0" rIns="0" bIns="0" anchor="ctr">
            <a:spAutoFit/>
          </a:bodyPr>
          <a:lstStyle/>
          <a:p>
            <a:pPr marL="0" indent="0" algn="l">
              <a:buNone/>
            </a:pPr>
            <a:r>
              <a:rPr sz="630" b="0" i="0">
                <a:solidFill>
                  <a:srgbClr val="1E2F6E"/>
                </a:solidFill>
              </a:rPr>
              <a:t>2.  OTP channel</a:t>
            </a:r>
          </a:p>
        </p:txBody>
      </p:sp>
      <p:sp>
        <p:nvSpPr>
          <p:cNvPr id="23" name="Rectangle 22"/>
          <p:cNvSpPr/>
          <p:nvPr/>
        </p:nvSpPr>
        <p:spPr>
          <a:xfrm>
            <a:off x="10515600" y="1810512"/>
            <a:ext cx="1371600" cy="22860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10561320" y="1810512"/>
            <a:ext cx="1280160" cy="228600"/>
          </a:xfrm>
          <a:prstGeom prst="rect">
            <a:avLst/>
          </a:prstGeom>
          <a:noFill/>
        </p:spPr>
        <p:txBody>
          <a:bodyPr wrap="square" lIns="0" tIns="0" rIns="0" bIns="0" anchor="ctr">
            <a:spAutoFit/>
          </a:bodyPr>
          <a:lstStyle/>
          <a:p>
            <a:pPr marL="0" indent="0" algn="l">
              <a:buNone/>
            </a:pPr>
            <a:r>
              <a:rPr sz="630" b="0" i="0">
                <a:solidFill>
                  <a:srgbClr val="1E2F6E"/>
                </a:solidFill>
              </a:rPr>
              <a:t>3.  OTP code</a:t>
            </a:r>
          </a:p>
        </p:txBody>
      </p:sp>
      <p:sp>
        <p:nvSpPr>
          <p:cNvPr id="25" name="Rectangle 24"/>
          <p:cNvSpPr/>
          <p:nvPr/>
        </p:nvSpPr>
        <p:spPr>
          <a:xfrm>
            <a:off x="10515600" y="2075688"/>
            <a:ext cx="1371600" cy="22860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6" name="TextBox 25"/>
          <p:cNvSpPr txBox="1"/>
          <p:nvPr/>
        </p:nvSpPr>
        <p:spPr>
          <a:xfrm>
            <a:off x="10561320" y="2075688"/>
            <a:ext cx="1280160" cy="228600"/>
          </a:xfrm>
          <a:prstGeom prst="rect">
            <a:avLst/>
          </a:prstGeom>
          <a:noFill/>
        </p:spPr>
        <p:txBody>
          <a:bodyPr wrap="square" lIns="0" tIns="0" rIns="0" bIns="0" anchor="ctr">
            <a:spAutoFit/>
          </a:bodyPr>
          <a:lstStyle/>
          <a:p>
            <a:pPr marL="0" indent="0" algn="l">
              <a:buNone/>
            </a:pPr>
            <a:r>
              <a:rPr sz="630" b="0" i="0">
                <a:solidFill>
                  <a:srgbClr val="1E2F6E"/>
                </a:solidFill>
              </a:rPr>
              <a:t>4.  PIN ×2</a:t>
            </a:r>
          </a:p>
        </p:txBody>
      </p:sp>
      <p:sp>
        <p:nvSpPr>
          <p:cNvPr id="27" name="Rectangle 26"/>
          <p:cNvSpPr/>
          <p:nvPr/>
        </p:nvSpPr>
        <p:spPr>
          <a:xfrm>
            <a:off x="10515600" y="2340864"/>
            <a:ext cx="1371600" cy="22860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10561320" y="2340864"/>
            <a:ext cx="1280160" cy="228600"/>
          </a:xfrm>
          <a:prstGeom prst="rect">
            <a:avLst/>
          </a:prstGeom>
          <a:noFill/>
        </p:spPr>
        <p:txBody>
          <a:bodyPr wrap="square" lIns="0" tIns="0" rIns="0" bIns="0" anchor="ctr">
            <a:spAutoFit/>
          </a:bodyPr>
          <a:lstStyle/>
          <a:p>
            <a:pPr marL="0" indent="0" algn="l">
              <a:buNone/>
            </a:pPr>
            <a:r>
              <a:rPr sz="630" b="0" i="0">
                <a:solidFill>
                  <a:srgbClr val="1E2F6E"/>
                </a:solidFill>
              </a:rPr>
              <a:t>5.  Profile</a:t>
            </a:r>
          </a:p>
        </p:txBody>
      </p:sp>
      <p:sp>
        <p:nvSpPr>
          <p:cNvPr id="29" name="Rectangle 28"/>
          <p:cNvSpPr/>
          <p:nvPr/>
        </p:nvSpPr>
        <p:spPr>
          <a:xfrm>
            <a:off x="10515600" y="2606040"/>
            <a:ext cx="1371600" cy="22860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0" name="TextBox 29"/>
          <p:cNvSpPr txBox="1"/>
          <p:nvPr/>
        </p:nvSpPr>
        <p:spPr>
          <a:xfrm>
            <a:off x="10561320" y="2606040"/>
            <a:ext cx="1280160" cy="228600"/>
          </a:xfrm>
          <a:prstGeom prst="rect">
            <a:avLst/>
          </a:prstGeom>
          <a:noFill/>
        </p:spPr>
        <p:txBody>
          <a:bodyPr wrap="square" lIns="0" tIns="0" rIns="0" bIns="0" anchor="ctr">
            <a:spAutoFit/>
          </a:bodyPr>
          <a:lstStyle/>
          <a:p>
            <a:pPr marL="0" indent="0" algn="l">
              <a:buNone/>
            </a:pPr>
            <a:r>
              <a:rPr sz="630" b="0" i="0">
                <a:solidFill>
                  <a:srgbClr val="1E2F6E"/>
                </a:solidFill>
              </a:rPr>
              <a:t>6.  Account created</a:t>
            </a:r>
          </a:p>
        </p:txBody>
      </p:sp>
      <p:sp>
        <p:nvSpPr>
          <p:cNvPr id="31" name="Rectangle 30"/>
          <p:cNvSpPr/>
          <p:nvPr/>
        </p:nvSpPr>
        <p:spPr>
          <a:xfrm>
            <a:off x="10515600" y="2871216"/>
            <a:ext cx="1371600" cy="22860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10561320" y="2871216"/>
            <a:ext cx="1280160" cy="228600"/>
          </a:xfrm>
          <a:prstGeom prst="rect">
            <a:avLst/>
          </a:prstGeom>
          <a:noFill/>
        </p:spPr>
        <p:txBody>
          <a:bodyPr wrap="square" lIns="0" tIns="0" rIns="0" bIns="0" anchor="ctr">
            <a:spAutoFit/>
          </a:bodyPr>
          <a:lstStyle/>
          <a:p>
            <a:pPr marL="0" indent="0" algn="l">
              <a:buNone/>
            </a:pPr>
            <a:r>
              <a:rPr sz="630" b="0" i="0">
                <a:solidFill>
                  <a:srgbClr val="1E2F6E"/>
                </a:solidFill>
              </a:rPr>
              <a:t>7.  Biometric offer</a:t>
            </a:r>
          </a:p>
        </p:txBody>
      </p:sp>
      <p:sp>
        <p:nvSpPr>
          <p:cNvPr id="33" name="Rectangle 32"/>
          <p:cNvSpPr/>
          <p:nvPr/>
        </p:nvSpPr>
        <p:spPr>
          <a:xfrm>
            <a:off x="10515600" y="3136392"/>
            <a:ext cx="1371600" cy="22860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10561320" y="3136392"/>
            <a:ext cx="1280160" cy="228600"/>
          </a:xfrm>
          <a:prstGeom prst="rect">
            <a:avLst/>
          </a:prstGeom>
          <a:noFill/>
        </p:spPr>
        <p:txBody>
          <a:bodyPr wrap="square" lIns="0" tIns="0" rIns="0" bIns="0" anchor="ctr">
            <a:spAutoFit/>
          </a:bodyPr>
          <a:lstStyle/>
          <a:p>
            <a:pPr marL="0" indent="0" algn="l">
              <a:buNone/>
            </a:pPr>
            <a:r>
              <a:rPr sz="630" b="0" i="0">
                <a:solidFill>
                  <a:srgbClr val="1E2F6E"/>
                </a:solidFill>
              </a:rPr>
              <a:t>8.  Resume action</a:t>
            </a:r>
          </a:p>
        </p:txBody>
      </p:sp>
      <p:sp>
        <p:nvSpPr>
          <p:cNvPr id="35" name="Rectangle 34"/>
          <p:cNvSpPr/>
          <p:nvPr/>
        </p:nvSpPr>
        <p:spPr>
          <a:xfrm>
            <a:off x="10515600" y="3474720"/>
            <a:ext cx="1371600" cy="411480"/>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TextBox 35"/>
          <p:cNvSpPr txBox="1"/>
          <p:nvPr/>
        </p:nvSpPr>
        <p:spPr>
          <a:xfrm>
            <a:off x="10561320" y="3520440"/>
            <a:ext cx="1280160" cy="320040"/>
          </a:xfrm>
          <a:prstGeom prst="rect">
            <a:avLst/>
          </a:prstGeom>
          <a:noFill/>
        </p:spPr>
        <p:txBody>
          <a:bodyPr wrap="square" lIns="0" tIns="0" rIns="0" bIns="0" anchor="t">
            <a:spAutoFit/>
          </a:bodyPr>
          <a:lstStyle/>
          <a:p>
            <a:pPr marL="0" indent="0" algn="l">
              <a:buNone/>
            </a:pPr>
            <a:r>
              <a:rPr sz="630" b="0" i="0">
                <a:solidFill>
                  <a:srgbClr val="6B6800"/>
                </a:solidFill>
              </a:rPr>
              <a:t>Signup is the only path that writes a PIN.</a:t>
            </a:r>
          </a:p>
        </p:txBody>
      </p:sp>
      <p:sp>
        <p:nvSpPr>
          <p:cNvPr id="37" name="Rectangle 36"/>
          <p:cNvSpPr/>
          <p:nvPr/>
        </p:nvSpPr>
        <p:spPr>
          <a:xfrm>
            <a:off x="10515600" y="402336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TextBox 37"/>
          <p:cNvSpPr txBox="1"/>
          <p:nvPr/>
        </p:nvSpPr>
        <p:spPr>
          <a:xfrm>
            <a:off x="10643616" y="4023360"/>
            <a:ext cx="1554480" cy="256032"/>
          </a:xfrm>
          <a:prstGeom prst="rect">
            <a:avLst/>
          </a:prstGeom>
          <a:noFill/>
        </p:spPr>
        <p:txBody>
          <a:bodyPr wrap="square" lIns="0" tIns="0" rIns="0" bIns="0" anchor="ctr">
            <a:spAutoFit/>
          </a:bodyPr>
          <a:lstStyle/>
          <a:p>
            <a:pPr marL="0" indent="0" algn="l">
              <a:buNone/>
            </a:pPr>
            <a:r>
              <a:rPr sz="1000" b="1" i="0">
                <a:solidFill>
                  <a:srgbClr val="1E2F6E"/>
                </a:solidFill>
              </a:rPr>
              <a:t>Fallbacks</a:t>
            </a:r>
          </a:p>
        </p:txBody>
      </p:sp>
      <p:sp>
        <p:nvSpPr>
          <p:cNvPr id="39" name="Rectangle 38"/>
          <p:cNvSpPr/>
          <p:nvPr/>
        </p:nvSpPr>
        <p:spPr>
          <a:xfrm>
            <a:off x="10515600" y="4297680"/>
            <a:ext cx="1371600" cy="27432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TextBox 39"/>
          <p:cNvSpPr txBox="1"/>
          <p:nvPr/>
        </p:nvSpPr>
        <p:spPr>
          <a:xfrm>
            <a:off x="10561320" y="4297680"/>
            <a:ext cx="1280160" cy="274320"/>
          </a:xfrm>
          <a:prstGeom prst="rect">
            <a:avLst/>
          </a:prstGeom>
          <a:noFill/>
        </p:spPr>
        <p:txBody>
          <a:bodyPr wrap="square" lIns="0" tIns="0" rIns="0" bIns="0" anchor="ctr">
            <a:spAutoFit/>
          </a:bodyPr>
          <a:lstStyle/>
          <a:p>
            <a:pPr marL="0" indent="0" algn="l">
              <a:buNone/>
            </a:pPr>
            <a:r>
              <a:rPr sz="620" b="0" i="0">
                <a:solidFill>
                  <a:srgbClr val="555555"/>
                </a:solidFill>
              </a:rPr>
              <a:t>Bio unavailable → PIN</a:t>
            </a:r>
          </a:p>
        </p:txBody>
      </p:sp>
      <p:sp>
        <p:nvSpPr>
          <p:cNvPr id="41" name="Rectangle 40"/>
          <p:cNvSpPr/>
          <p:nvPr/>
        </p:nvSpPr>
        <p:spPr>
          <a:xfrm>
            <a:off x="10515600" y="4608576"/>
            <a:ext cx="1371600" cy="27432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TextBox 41"/>
          <p:cNvSpPr txBox="1"/>
          <p:nvPr/>
        </p:nvSpPr>
        <p:spPr>
          <a:xfrm>
            <a:off x="10561320" y="4608576"/>
            <a:ext cx="1280160" cy="274320"/>
          </a:xfrm>
          <a:prstGeom prst="rect">
            <a:avLst/>
          </a:prstGeom>
          <a:noFill/>
        </p:spPr>
        <p:txBody>
          <a:bodyPr wrap="square" lIns="0" tIns="0" rIns="0" bIns="0" anchor="ctr">
            <a:spAutoFit/>
          </a:bodyPr>
          <a:lstStyle/>
          <a:p>
            <a:pPr marL="0" indent="0" algn="l">
              <a:buNone/>
            </a:pPr>
            <a:r>
              <a:rPr sz="620" b="0" i="0">
                <a:solidFill>
                  <a:srgbClr val="555555"/>
                </a:solidFill>
              </a:rPr>
              <a:t>PIN forgotten → OTP</a:t>
            </a:r>
          </a:p>
        </p:txBody>
      </p:sp>
      <p:sp>
        <p:nvSpPr>
          <p:cNvPr id="43" name="Rectangle 42"/>
          <p:cNvSpPr/>
          <p:nvPr/>
        </p:nvSpPr>
        <p:spPr>
          <a:xfrm>
            <a:off x="10515600" y="4919472"/>
            <a:ext cx="1371600" cy="27432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4" name="TextBox 43"/>
          <p:cNvSpPr txBox="1"/>
          <p:nvPr/>
        </p:nvSpPr>
        <p:spPr>
          <a:xfrm>
            <a:off x="10561320" y="4919472"/>
            <a:ext cx="1280160" cy="274320"/>
          </a:xfrm>
          <a:prstGeom prst="rect">
            <a:avLst/>
          </a:prstGeom>
          <a:noFill/>
        </p:spPr>
        <p:txBody>
          <a:bodyPr wrap="square" lIns="0" tIns="0" rIns="0" bIns="0" anchor="ctr">
            <a:spAutoFit/>
          </a:bodyPr>
          <a:lstStyle/>
          <a:p>
            <a:pPr marL="0" indent="0" algn="l">
              <a:buNone/>
            </a:pPr>
            <a:r>
              <a:rPr sz="620" b="0" i="0">
                <a:solidFill>
                  <a:srgbClr val="555555"/>
                </a:solidFill>
              </a:rPr>
              <a:t>Zalo fails → Resend</a:t>
            </a:r>
          </a:p>
        </p:txBody>
      </p:sp>
      <p:sp>
        <p:nvSpPr>
          <p:cNvPr id="45" name="Rectangle 44"/>
          <p:cNvSpPr/>
          <p:nvPr/>
        </p:nvSpPr>
        <p:spPr>
          <a:xfrm>
            <a:off x="10515600" y="5230368"/>
            <a:ext cx="1371600" cy="27432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TextBox 45"/>
          <p:cNvSpPr txBox="1"/>
          <p:nvPr/>
        </p:nvSpPr>
        <p:spPr>
          <a:xfrm>
            <a:off x="10561320" y="5230368"/>
            <a:ext cx="1280160" cy="274320"/>
          </a:xfrm>
          <a:prstGeom prst="rect">
            <a:avLst/>
          </a:prstGeom>
          <a:noFill/>
        </p:spPr>
        <p:txBody>
          <a:bodyPr wrap="square" lIns="0" tIns="0" rIns="0" bIns="0" anchor="ctr">
            <a:spAutoFit/>
          </a:bodyPr>
          <a:lstStyle/>
          <a:p>
            <a:pPr marL="0" indent="0" algn="l">
              <a:buNone/>
            </a:pPr>
            <a:r>
              <a:rPr sz="620" b="0" i="0">
                <a:solidFill>
                  <a:srgbClr val="555555"/>
                </a:solidFill>
              </a:rPr>
              <a:t>Countdown over → switch channel</a:t>
            </a:r>
          </a:p>
        </p:txBody>
      </p:sp>
      <p:sp>
        <p:nvSpPr>
          <p:cNvPr id="47" name="Rectangle 46"/>
          <p:cNvSpPr/>
          <p:nvPr/>
        </p:nvSpPr>
        <p:spPr>
          <a:xfrm>
            <a:off x="10515600" y="5541264"/>
            <a:ext cx="1371600" cy="27432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8" name="TextBox 47"/>
          <p:cNvSpPr txBox="1"/>
          <p:nvPr/>
        </p:nvSpPr>
        <p:spPr>
          <a:xfrm>
            <a:off x="10561320" y="5541264"/>
            <a:ext cx="1280160" cy="274320"/>
          </a:xfrm>
          <a:prstGeom prst="rect">
            <a:avLst/>
          </a:prstGeom>
          <a:noFill/>
        </p:spPr>
        <p:txBody>
          <a:bodyPr wrap="square" lIns="0" tIns="0" rIns="0" bIns="0" anchor="ctr">
            <a:spAutoFit/>
          </a:bodyPr>
          <a:lstStyle/>
          <a:p>
            <a:pPr marL="0" indent="0" algn="l">
              <a:buNone/>
            </a:pPr>
            <a:r>
              <a:rPr sz="620" b="0" i="0">
                <a:solidFill>
                  <a:srgbClr val="555555"/>
                </a:solidFill>
              </a:rPr>
              <a:t>Too many failures → lock (TBC)</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3  ·  Cart  (CT)</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25</a:t>
            </a:r>
          </a:p>
        </p:txBody>
      </p:sp>
      <p:sp>
        <p:nvSpPr>
          <p:cNvPr id="9" name="Rounded Rectangle 8"/>
          <p:cNvSpPr/>
          <p:nvPr/>
        </p:nvSpPr>
        <p:spPr>
          <a:xfrm>
            <a:off x="274320" y="640080"/>
            <a:ext cx="640080" cy="320040"/>
          </a:xfrm>
          <a:prstGeom prst="roundRect">
            <a:avLst>
              <a:gd name="adj" fmla="val 15000"/>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274320" y="640080"/>
            <a:ext cx="640080" cy="320040"/>
          </a:xfrm>
          <a:prstGeom prst="rect">
            <a:avLst/>
          </a:prstGeom>
          <a:noFill/>
        </p:spPr>
        <p:txBody>
          <a:bodyPr wrap="square" lIns="0" tIns="0" rIns="0" bIns="0" anchor="ctr">
            <a:spAutoFit/>
          </a:bodyPr>
          <a:lstStyle/>
          <a:p>
            <a:pPr marL="0" indent="0" algn="ctr">
              <a:buNone/>
            </a:pPr>
            <a:r>
              <a:rPr sz="1000" b="1" i="0">
                <a:solidFill>
                  <a:srgbClr val="FFFFFF"/>
                </a:solidFill>
              </a:rPr>
              <a:t>CT</a:t>
            </a:r>
          </a:p>
        </p:txBody>
      </p:sp>
      <p:sp>
        <p:nvSpPr>
          <p:cNvPr id="11" name="TextBox 10"/>
          <p:cNvSpPr txBox="1"/>
          <p:nvPr/>
        </p:nvSpPr>
        <p:spPr>
          <a:xfrm>
            <a:off x="1005840" y="640080"/>
            <a:ext cx="3200400" cy="320040"/>
          </a:xfrm>
          <a:prstGeom prst="rect">
            <a:avLst/>
          </a:prstGeom>
          <a:noFill/>
        </p:spPr>
        <p:txBody>
          <a:bodyPr wrap="square" lIns="0" tIns="0" rIns="0" bIns="0" anchor="ctr">
            <a:spAutoFit/>
          </a:bodyPr>
          <a:lstStyle/>
          <a:p>
            <a:pPr marL="0" indent="0" algn="l">
              <a:buNone/>
            </a:pPr>
            <a:r>
              <a:rPr sz="850" b="1" i="0">
                <a:solidFill>
                  <a:srgbClr val="C8102E"/>
                </a:solidFill>
              </a:rPr>
              <a:t>11 functional requirements</a:t>
            </a:r>
            <a:r>
              <a:rPr sz="850" b="0" i="0">
                <a:solidFill>
                  <a:srgbClr val="AAAAAA"/>
                </a:solidFill>
              </a:rPr>
              <a:t>   ·   </a:t>
            </a:r>
            <a:r>
              <a:rPr sz="850" b="1" i="0">
                <a:solidFill>
                  <a:srgbClr val="3D5298"/>
                </a:solidFill>
              </a:rPr>
              <a:t>6 screens</a:t>
            </a:r>
          </a:p>
        </p:txBody>
      </p:sp>
      <p:sp>
        <p:nvSpPr>
          <p:cNvPr id="12" name="TextBox 11"/>
          <p:cNvSpPr txBox="1"/>
          <p:nvPr/>
        </p:nvSpPr>
        <p:spPr>
          <a:xfrm>
            <a:off x="4297680" y="640080"/>
            <a:ext cx="7863840" cy="320040"/>
          </a:xfrm>
          <a:prstGeom prst="rect">
            <a:avLst/>
          </a:prstGeom>
          <a:noFill/>
        </p:spPr>
        <p:txBody>
          <a:bodyPr wrap="square" lIns="0" tIns="0" rIns="0" bIns="0" anchor="ctr">
            <a:spAutoFit/>
          </a:bodyPr>
          <a:lstStyle/>
          <a:p>
            <a:pPr marL="0" indent="0" algn="l">
              <a:buNone/>
            </a:pPr>
            <a:r>
              <a:rPr sz="800" b="0" i="0">
                <a:solidFill>
                  <a:srgbClr val="555555"/>
                </a:solidFill>
              </a:rPr>
              <a:t>The heaviest module — fulfilment choice, service and slot rules, product management, promotions.</a:t>
            </a:r>
          </a:p>
        </p:txBody>
      </p:sp>
      <p:graphicFrame>
        <p:nvGraphicFramePr>
          <p:cNvPr id="13" name="Table 12"/>
          <p:cNvGraphicFramePr>
            <a:graphicFrameLocks noGrp="1"/>
          </p:cNvGraphicFramePr>
          <p:nvPr/>
        </p:nvGraphicFramePr>
        <p:xfrm>
          <a:off x="274320" y="1097280"/>
          <a:ext cx="11612880" cy="4809744"/>
        </p:xfrm>
        <a:graphic>
          <a:graphicData uri="http://schemas.openxmlformats.org/drawingml/2006/table">
            <a:tbl>
              <a:tblPr/>
              <a:tblGrid>
                <a:gridCol w="5943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62179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tblGrid>
              <a:tr h="182880">
                <a:tc>
                  <a:txBody>
                    <a:bodyPr/>
                    <a:lstStyle/>
                    <a:p>
                      <a:pPr marL="0" indent="0" algn="ctr">
                        <a:buNone/>
                      </a:pPr>
                      <a:r>
                        <a:rPr sz="680" b="1" i="0">
                          <a:solidFill>
                            <a:srgbClr val="FFFFFF"/>
                          </a:solidFill>
                        </a:rPr>
                        <a:t>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Requirement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Description / business rules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Pri.</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Screen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624">
                <a:tc>
                  <a:txBody>
                    <a:bodyPr/>
                    <a:lstStyle/>
                    <a:p>
                      <a:pPr marL="0" indent="0" algn="ctr">
                        <a:buNone/>
                      </a:pPr>
                      <a:r>
                        <a:rPr sz="680" b="0" i="0">
                          <a:solidFill>
                            <a:srgbClr val="222222"/>
                          </a:solidFill>
                        </a:rPr>
                        <a:t>CT-01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Open the 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Authentication is verified first (HP-07), then the Cart is displayed.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SCR-CRT-01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BRL-05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624">
                <a:tc>
                  <a:txBody>
                    <a:bodyPr/>
                    <a:lstStyle/>
                    <a:p>
                      <a:pPr marL="0" indent="0" algn="ctr">
                        <a:buNone/>
                      </a:pPr>
                      <a:r>
                        <a:rPr sz="680" b="0" i="0">
                          <a:solidFill>
                            <a:srgbClr val="222222"/>
                          </a:solidFill>
                        </a:rPr>
                        <a:t>CT-02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Choose Delivery or Pickup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Delivery — address, service and slot chosen on the Homepage are carried in and shown pre-filled; the customer changes them only if they want to. The system verifies a store serves the address, then resolves the service (60-Minute / Standard / Next-day). Pickup — collector name and phone (may differ from the account holder), pick-up store, pick-up slot. Both branches converge on the serving store.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SCR-CRT-01 / 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BRL-10 … BRL-12 · BRL-30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624">
                <a:tc>
                  <a:txBody>
                    <a:bodyPr/>
                    <a:lstStyle/>
                    <a:p>
                      <a:pPr marL="0" indent="0" algn="ctr">
                        <a:buNone/>
                      </a:pPr>
                      <a:r>
                        <a:rPr sz="680" b="0" i="0">
                          <a:solidFill>
                            <a:srgbClr val="222222"/>
                          </a:solidFill>
                        </a:rPr>
                        <a:t>CT-03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Add products to reach Freeship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Progress toward the 150,000 ₫ Standard threshold is shown with suggested products. The suggestion logic is not yet defined (OQ-15).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Should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SCR-CRT-01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BRL-19 · OQ-15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624">
                <a:tc>
                  <a:txBody>
                    <a:bodyPr/>
                    <a:lstStyle/>
                    <a:p>
                      <a:pPr marL="0" indent="0" algn="ctr">
                        <a:buNone/>
                      </a:pPr>
                      <a:r>
                        <a:rPr sz="680" b="0" i="0">
                          <a:solidFill>
                            <a:srgbClr val="222222"/>
                          </a:solidFill>
                        </a:rPr>
                        <a:t>CT-04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Filter the product list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Two independent filters that can be combined: 60-Minute eligible, and BNPL eligible.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Should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SCR-CRT-01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624">
                <a:tc>
                  <a:txBody>
                    <a:bodyPr/>
                    <a:lstStyle/>
                    <a:p>
                      <a:pPr marL="0" indent="0" algn="ctr">
                        <a:buNone/>
                      </a:pPr>
                      <a:r>
                        <a:rPr sz="680" b="0" i="0">
                          <a:solidFill>
                            <a:srgbClr val="222222"/>
                          </a:solidFill>
                        </a:rPr>
                        <a:t>CT-05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Select products for 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Add / reduce quantity, delete, and add a per-product note. Maximum 30 items per checkout; exceeding it raises an error and returns to selection. Deletion is triggered either by swiping the row left or by reducing the quantity to zero — both raise the same confirmation “Are you sure you want to remove this product?” with No / Confirm; only Confirm removes it.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SCR-CRT-01 / 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BRL-31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624">
                <a:tc>
                  <a:txBody>
                    <a:bodyPr/>
                    <a:lstStyle/>
                    <a:p>
                      <a:pPr marL="0" indent="0" algn="ctr">
                        <a:buNone/>
                      </a:pPr>
                      <a:r>
                        <a:rPr sz="680" b="0" i="0">
                          <a:solidFill>
                            <a:srgbClr val="222222"/>
                          </a:solidFill>
                        </a:rPr>
                        <a:t>CT-06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Coupons, refill, PwP, subtotal, out of stock</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Coupons apply automatically by default. Refill timing is shown for recurring products. Purchase-with-Purchase offers are unlocked by spend milestones. The provisional payment summary recalculates in real time. Out-of-stock items are separated and replacements offered.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Should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SCR-CRT-01 / 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BRL-32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420624">
                <a:tc>
                  <a:txBody>
                    <a:bodyPr/>
                    <a:lstStyle/>
                    <a:p>
                      <a:pPr marL="0" indent="0" algn="ctr">
                        <a:buNone/>
                      </a:pPr>
                      <a:r>
                        <a:rPr sz="680" b="0" i="0">
                          <a:solidFill>
                            <a:srgbClr val="222222"/>
                          </a:solidFill>
                        </a:rPr>
                        <a:t>CT-07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Change the serving store inside the 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The store list is pre-filtered to stores that serve the current order address. Two impact groups are evaluated — products (price change, out of stock, no longer sold) and service / slot (zone change, slot capacity). Any impact raises one consolidated warning; the customer confirms Continue or Cancel. The layout of that warning when several impacts coincide is not yet designed (OQ-25).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SCR-CRT-06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BRL-24 · OQ-25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420624">
                <a:tc>
                  <a:txBody>
                    <a:bodyPr/>
                    <a:lstStyle/>
                    <a:p>
                      <a:pPr marL="0" indent="0" algn="ctr">
                        <a:buNone/>
                      </a:pPr>
                      <a:r>
                        <a:rPr sz="680" b="0" i="0">
                          <a:solidFill>
                            <a:srgbClr val="222222"/>
                          </a:solidFill>
                        </a:rPr>
                        <a:t>CT-08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Delivery service rules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60-Minute within a 3–5 km radius per store; Standard within a per-store radius (10 / 15 km, possibly replaced by map-drawn service areas); Next-day by configured area / ward. Fees, slot warning threshold and slot re-opening follow configuration. Slot suggestion uses the customer's two-month history per address.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SCR-CRT-02 / 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BRL-10 … BRL-23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r h="420624">
                <a:tc>
                  <a:txBody>
                    <a:bodyPr/>
                    <a:lstStyle/>
                    <a:p>
                      <a:pPr marL="0" indent="0" algn="ctr">
                        <a:buNone/>
                      </a:pPr>
                      <a:r>
                        <a:rPr sz="680" b="0" i="0">
                          <a:solidFill>
                            <a:srgbClr val="222222"/>
                          </a:solidFill>
                        </a:rPr>
                        <a:t>CT-09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Pickup rules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Slot suggestion, display and re-opening mirror Delivery. Cash payment at pickup is newly allowed for selected tiers — Platinum and Diamond first — which is a change from As-Is.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SCR-CRT-04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BRL-25 … BRL-29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9"/>
                  </a:ext>
                </a:extLst>
              </a:tr>
              <a:tr h="420624">
                <a:tc>
                  <a:txBody>
                    <a:bodyPr/>
                    <a:lstStyle/>
                    <a:p>
                      <a:pPr marL="0" indent="0" algn="ctr">
                        <a:buNone/>
                      </a:pPr>
                      <a:r>
                        <a:rPr sz="680" b="0" i="0">
                          <a:solidFill>
                            <a:srgbClr val="222222"/>
                          </a:solidFill>
                        </a:rPr>
                        <a:t>CT-10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Lockers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Near-home locker belongs to Delivery; in-store locker belongs to Pickup. Full rules are pending from LOTTE MART (OQ-23).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Should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SCR-CRT-04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OQ-23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10"/>
                  </a:ext>
                </a:extLst>
              </a:tr>
              <a:tr h="420624">
                <a:tc>
                  <a:txBody>
                    <a:bodyPr/>
                    <a:lstStyle/>
                    <a:p>
                      <a:pPr marL="0" indent="0" algn="ctr">
                        <a:buNone/>
                      </a:pPr>
                      <a:r>
                        <a:rPr sz="680" b="0" i="0">
                          <a:solidFill>
                            <a:srgbClr val="222222"/>
                          </a:solidFill>
                        </a:rPr>
                        <a:t>CT-11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Proceed to 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Hands the frozen order over to the Checkout flow.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SCR-CHK-01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BRL-31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3  ·  Checkout  (CO)  &amp;  Non-Functional Requirements</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26</a:t>
            </a:r>
          </a:p>
        </p:txBody>
      </p:sp>
      <p:sp>
        <p:nvSpPr>
          <p:cNvPr id="9" name="Rounded Rectangle 8"/>
          <p:cNvSpPr/>
          <p:nvPr/>
        </p:nvSpPr>
        <p:spPr>
          <a:xfrm>
            <a:off x="274320" y="640080"/>
            <a:ext cx="640080" cy="320040"/>
          </a:xfrm>
          <a:prstGeom prst="roundRect">
            <a:avLst>
              <a:gd name="adj" fmla="val 15000"/>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274320" y="640080"/>
            <a:ext cx="640080" cy="320040"/>
          </a:xfrm>
          <a:prstGeom prst="rect">
            <a:avLst/>
          </a:prstGeom>
          <a:noFill/>
        </p:spPr>
        <p:txBody>
          <a:bodyPr wrap="square" lIns="0" tIns="0" rIns="0" bIns="0" anchor="ctr">
            <a:spAutoFit/>
          </a:bodyPr>
          <a:lstStyle/>
          <a:p>
            <a:pPr marL="0" indent="0" algn="ctr">
              <a:buNone/>
            </a:pPr>
            <a:r>
              <a:rPr sz="1000" b="1" i="0">
                <a:solidFill>
                  <a:srgbClr val="FFFFFF"/>
                </a:solidFill>
              </a:rPr>
              <a:t>CO</a:t>
            </a:r>
          </a:p>
        </p:txBody>
      </p:sp>
      <p:sp>
        <p:nvSpPr>
          <p:cNvPr id="11" name="TextBox 10"/>
          <p:cNvSpPr txBox="1"/>
          <p:nvPr/>
        </p:nvSpPr>
        <p:spPr>
          <a:xfrm>
            <a:off x="1005840" y="640080"/>
            <a:ext cx="3200400" cy="320040"/>
          </a:xfrm>
          <a:prstGeom prst="rect">
            <a:avLst/>
          </a:prstGeom>
          <a:noFill/>
        </p:spPr>
        <p:txBody>
          <a:bodyPr wrap="square" lIns="0" tIns="0" rIns="0" bIns="0" anchor="ctr">
            <a:spAutoFit/>
          </a:bodyPr>
          <a:lstStyle/>
          <a:p>
            <a:pPr marL="0" indent="0" algn="l">
              <a:buNone/>
            </a:pPr>
            <a:r>
              <a:rPr sz="850" b="1" i="0">
                <a:solidFill>
                  <a:srgbClr val="C8102E"/>
                </a:solidFill>
              </a:rPr>
              <a:t>10 functional requirements</a:t>
            </a:r>
            <a:r>
              <a:rPr sz="850" b="0" i="0">
                <a:solidFill>
                  <a:srgbClr val="AAAAAA"/>
                </a:solidFill>
              </a:rPr>
              <a:t>   ·   </a:t>
            </a:r>
            <a:r>
              <a:rPr sz="850" b="1" i="0">
                <a:solidFill>
                  <a:srgbClr val="3D5298"/>
                </a:solidFill>
              </a:rPr>
              <a:t>3 screens</a:t>
            </a:r>
          </a:p>
        </p:txBody>
      </p:sp>
      <p:sp>
        <p:nvSpPr>
          <p:cNvPr id="12" name="TextBox 11"/>
          <p:cNvSpPr txBox="1"/>
          <p:nvPr/>
        </p:nvSpPr>
        <p:spPr>
          <a:xfrm>
            <a:off x="4297680" y="640080"/>
            <a:ext cx="7863840" cy="320040"/>
          </a:xfrm>
          <a:prstGeom prst="rect">
            <a:avLst/>
          </a:prstGeom>
          <a:noFill/>
        </p:spPr>
        <p:txBody>
          <a:bodyPr wrap="square" lIns="0" tIns="0" rIns="0" bIns="0" anchor="ctr">
            <a:spAutoFit/>
          </a:bodyPr>
          <a:lstStyle/>
          <a:p>
            <a:pPr marL="0" indent="0" algn="l">
              <a:buNone/>
            </a:pPr>
            <a:r>
              <a:rPr sz="800" b="0" i="0">
                <a:solidFill>
                  <a:srgbClr val="555555"/>
                </a:solidFill>
              </a:rPr>
              <a:t>Read-only order review, payment instruments and commitment.</a:t>
            </a:r>
          </a:p>
        </p:txBody>
      </p:sp>
      <p:graphicFrame>
        <p:nvGraphicFramePr>
          <p:cNvPr id="13" name="Table 12"/>
          <p:cNvGraphicFramePr>
            <a:graphicFrameLocks noGrp="1"/>
          </p:cNvGraphicFramePr>
          <p:nvPr/>
        </p:nvGraphicFramePr>
        <p:xfrm>
          <a:off x="274320" y="1097280"/>
          <a:ext cx="11612880" cy="3017520"/>
        </p:xfrm>
        <a:graphic>
          <a:graphicData uri="http://schemas.openxmlformats.org/drawingml/2006/table">
            <a:tbl>
              <a:tblPr/>
              <a:tblGrid>
                <a:gridCol w="59436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630936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tblGrid>
              <a:tr h="182880">
                <a:tc>
                  <a:txBody>
                    <a:bodyPr/>
                    <a:lstStyle/>
                    <a:p>
                      <a:pPr marL="0" indent="0" algn="ctr">
                        <a:buNone/>
                      </a:pPr>
                      <a:r>
                        <a:rPr sz="680" b="1" i="0">
                          <a:solidFill>
                            <a:srgbClr val="FFFFFF"/>
                          </a:solidFill>
                        </a:rPr>
                        <a:t>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Requirement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Description / business rules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Pri.</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Screen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83464">
                <a:tc>
                  <a:txBody>
                    <a:bodyPr/>
                    <a:lstStyle/>
                    <a:p>
                      <a:pPr marL="0" indent="0" algn="ctr">
                        <a:buNone/>
                      </a:pPr>
                      <a:r>
                        <a:rPr sz="680" b="0" i="0">
                          <a:solidFill>
                            <a:srgbClr val="222222"/>
                          </a:solidFill>
                        </a:rPr>
                        <a:t>CO-01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Review the order  (read-only)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Delivery or collection details and the product list are locked. A Detail / Compact toggle changes the density of the product list for large orders. Any correction requires returning to the 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SCR-CHK-01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BRL-31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83464">
                <a:tc>
                  <a:txBody>
                    <a:bodyPr/>
                    <a:lstStyle/>
                    <a:p>
                      <a:pPr marL="0" indent="0" algn="ctr">
                        <a:buNone/>
                      </a:pPr>
                      <a:r>
                        <a:rPr sz="680" b="0" i="0">
                          <a:solidFill>
                            <a:srgbClr val="222222"/>
                          </a:solidFill>
                        </a:rPr>
                        <a:t>CO-02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Order note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Free-text note at order level, plus an out-of-stock notification preference.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Should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SCR-CHK-01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83464">
                <a:tc>
                  <a:txBody>
                    <a:bodyPr/>
                    <a:lstStyle/>
                    <a:p>
                      <a:pPr marL="0" indent="0" algn="ctr">
                        <a:buNone/>
                      </a:pPr>
                      <a:r>
                        <a:rPr sz="680" b="0" i="0">
                          <a:solidFill>
                            <a:srgbClr val="222222"/>
                          </a:solidFill>
                        </a:rPr>
                        <a:t>CO-03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Carton packing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The customer chooses whether the order is packed in a carton. Fee impact is not yet confirmed (OQ-16).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Should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SCR-CHK-01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OQ-16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83464">
                <a:tc>
                  <a:txBody>
                    <a:bodyPr/>
                    <a:lstStyle/>
                    <a:p>
                      <a:pPr marL="0" indent="0" algn="ctr">
                        <a:buNone/>
                      </a:pPr>
                      <a:r>
                        <a:rPr sz="680" b="0" i="0">
                          <a:solidFill>
                            <a:srgbClr val="222222"/>
                          </a:solidFill>
                        </a:rPr>
                        <a:t>CO-04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GotIt / gift card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Code entered manually or scanned, then applied to the order total.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Should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SCR-CHK-02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283464">
                <a:tc>
                  <a:txBody>
                    <a:bodyPr/>
                    <a:lstStyle/>
                    <a:p>
                      <a:pPr marL="0" indent="0" algn="ctr">
                        <a:buNone/>
                      </a:pPr>
                      <a:r>
                        <a:rPr sz="680" b="0" i="0">
                          <a:solidFill>
                            <a:srgbClr val="222222"/>
                          </a:solidFill>
                        </a:rPr>
                        <a:t>CO-05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Coupons and loyalty points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Coupons applied in the Cart are shown for confirmation, split into delivery coupons and order / product coupons. Points can be entered as an amount or applied in full. Whether the points to be earned are also displayed is open (OQ-20).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Should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SCR-CHK-02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BRL-32 · OQ-20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283464">
                <a:tc>
                  <a:txBody>
                    <a:bodyPr/>
                    <a:lstStyle/>
                    <a:p>
                      <a:pPr marL="0" indent="0" algn="ctr">
                        <a:buNone/>
                      </a:pPr>
                      <a:r>
                        <a:rPr sz="680" b="0" i="0">
                          <a:solidFill>
                            <a:srgbClr val="222222"/>
                          </a:solidFill>
                        </a:rPr>
                        <a:t>CO-06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Payment method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MoMo, ZaloPay, card and BNPL, each able to carry its own promotion badge. If BNPL was selected in the Cart it is pre-selected here.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SCR-CHK-02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BRL-33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283464">
                <a:tc>
                  <a:txBody>
                    <a:bodyPr/>
                    <a:lstStyle/>
                    <a:p>
                      <a:pPr marL="0" indent="0" algn="ctr">
                        <a:buNone/>
                      </a:pPr>
                      <a:r>
                        <a:rPr sz="680" b="0" i="0">
                          <a:solidFill>
                            <a:srgbClr val="222222"/>
                          </a:solidFill>
                        </a:rPr>
                        <a:t>CO-07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VAT invoice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Request and capture invoice details. Whether the To-Be rules differ from today is open (OQ-19).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Should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SCR-CHK-02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OQ-19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283464">
                <a:tc>
                  <a:txBody>
                    <a:bodyPr/>
                    <a:lstStyle/>
                    <a:p>
                      <a:pPr marL="0" indent="0" algn="ctr">
                        <a:buNone/>
                      </a:pPr>
                      <a:r>
                        <a:rPr sz="680" b="0" i="0">
                          <a:solidFill>
                            <a:srgbClr val="222222"/>
                          </a:solidFill>
                        </a:rPr>
                        <a:t>CO-08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Final payment summary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Order value, nylon bag, delivery fee, bulky surcharge, product and delivery discounts, amount payable, and expected points.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SCR-CHK-02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BRL-34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r h="283464">
                <a:tc>
                  <a:txBody>
                    <a:bodyPr/>
                    <a:lstStyle/>
                    <a:p>
                      <a:pPr marL="0" indent="0" algn="ctr">
                        <a:buNone/>
                      </a:pPr>
                      <a:r>
                        <a:rPr sz="680" b="0" i="0">
                          <a:solidFill>
                            <a:srgbClr val="222222"/>
                          </a:solidFill>
                        </a:rPr>
                        <a:t>CO-09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Policies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Return, purchase and privacy policies are linked. Content must be supplied by LOTTE MART (OQ-21).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SCR-CHK-02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OQ-21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9"/>
                  </a:ext>
                </a:extLst>
              </a:tr>
              <a:tr h="283464">
                <a:tc>
                  <a:txBody>
                    <a:bodyPr/>
                    <a:lstStyle/>
                    <a:p>
                      <a:pPr marL="0" indent="0" algn="ctr">
                        <a:buNone/>
                      </a:pPr>
                      <a:r>
                        <a:rPr sz="680" b="0" i="0">
                          <a:solidFill>
                            <a:srgbClr val="222222"/>
                          </a:solidFill>
                        </a:rPr>
                        <a:t>CO-10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Place order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Commits the order. Everything after this point is out of scope for this document.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SCR-CHK-02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10"/>
                  </a:ext>
                </a:extLst>
              </a:tr>
            </a:tbl>
          </a:graphicData>
        </a:graphic>
      </p:graphicFrame>
      <p:sp>
        <p:nvSpPr>
          <p:cNvPr id="14" name="Rectangle 13"/>
          <p:cNvSpPr/>
          <p:nvPr/>
        </p:nvSpPr>
        <p:spPr>
          <a:xfrm>
            <a:off x="274320" y="429768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TextBox 14"/>
          <p:cNvSpPr txBox="1"/>
          <p:nvPr/>
        </p:nvSpPr>
        <p:spPr>
          <a:xfrm>
            <a:off x="402336" y="4297680"/>
            <a:ext cx="11612880" cy="256032"/>
          </a:xfrm>
          <a:prstGeom prst="rect">
            <a:avLst/>
          </a:prstGeom>
          <a:noFill/>
        </p:spPr>
        <p:txBody>
          <a:bodyPr wrap="square" lIns="0" tIns="0" rIns="0" bIns="0" anchor="ctr">
            <a:spAutoFit/>
          </a:bodyPr>
          <a:lstStyle/>
          <a:p>
            <a:pPr marL="0" indent="0" algn="l">
              <a:buNone/>
            </a:pPr>
            <a:r>
              <a:rPr sz="1000" b="1" i="0">
                <a:solidFill>
                  <a:srgbClr val="1E2F6E"/>
                </a:solidFill>
              </a:rPr>
              <a:t>Non-functional requirements</a:t>
            </a:r>
          </a:p>
        </p:txBody>
      </p:sp>
      <p:graphicFrame>
        <p:nvGraphicFramePr>
          <p:cNvPr id="16" name="Table 15"/>
          <p:cNvGraphicFramePr>
            <a:graphicFrameLocks noGrp="1"/>
          </p:cNvGraphicFramePr>
          <p:nvPr/>
        </p:nvGraphicFramePr>
        <p:xfrm>
          <a:off x="274320" y="4572000"/>
          <a:ext cx="11612880" cy="1609344"/>
        </p:xfrm>
        <a:graphic>
          <a:graphicData uri="http://schemas.openxmlformats.org/drawingml/2006/table">
            <a:tbl>
              <a:tblPr/>
              <a:tblGrid>
                <a:gridCol w="6858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8046720">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tblGrid>
              <a:tr h="192024">
                <a:tc>
                  <a:txBody>
                    <a:bodyPr/>
                    <a:lstStyle/>
                    <a:p>
                      <a:pPr marL="0" indent="0" algn="ctr">
                        <a:buNone/>
                      </a:pPr>
                      <a:r>
                        <a:rPr sz="700" b="1" i="0">
                          <a:solidFill>
                            <a:srgbClr val="FFFFFF"/>
                          </a:solidFill>
                        </a:rPr>
                        <a:t>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Category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Requirement / target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Status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83464">
                <a:tc>
                  <a:txBody>
                    <a:bodyPr/>
                    <a:lstStyle/>
                    <a:p>
                      <a:pPr marL="0" indent="0" algn="ctr">
                        <a:buNone/>
                      </a:pPr>
                      <a:r>
                        <a:rPr sz="700" b="0" i="0">
                          <a:solidFill>
                            <a:srgbClr val="222222"/>
                          </a:solidFill>
                        </a:rPr>
                        <a:t>NFR-01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Security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 wrong-attempt limit on both OTP and PIN is mandatory, because accounts carry payment methods, BNPL eligibility and loyalty points. Proposed: temporary lock after N wrong OTP entries, a cap on OTP requests per period, and PIN lock after N failures forcing OTP re-verification. Exact values are not set.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Assumption — OQ-03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83464">
                <a:tc>
                  <a:txBody>
                    <a:bodyPr/>
                    <a:lstStyle/>
                    <a:p>
                      <a:pPr marL="0" indent="0" algn="ctr">
                        <a:buNone/>
                      </a:pPr>
                      <a:r>
                        <a:rPr sz="700" b="0" i="0">
                          <a:solidFill>
                            <a:srgbClr val="222222"/>
                          </a:solidFill>
                        </a:rPr>
                        <a:t>NFR-02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Security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One device holds one active biometric ticket at a time. Overwriting the ticket between accounts must be preceded by an explicit warning.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Proposed — OQ-07, OQ-11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83464">
                <a:tc>
                  <a:txBody>
                    <a:bodyPr/>
                    <a:lstStyle/>
                    <a:p>
                      <a:pPr marL="0" indent="0" algn="ctr">
                        <a:buNone/>
                      </a:pPr>
                      <a:r>
                        <a:rPr sz="700" b="0" i="0">
                          <a:solidFill>
                            <a:srgbClr val="222222"/>
                          </a:solidFill>
                        </a:rPr>
                        <a:t>NFR-03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Privacy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delivery address is cleared on logout so it is not exposed to the next user of a shared device. The selected store is retained — it is not personal data and is always required to browse.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83464">
                <a:tc>
                  <a:txBody>
                    <a:bodyPr/>
                    <a:lstStyle/>
                    <a:p>
                      <a:pPr marL="0" indent="0" algn="ctr">
                        <a:buNone/>
                      </a:pPr>
                      <a:r>
                        <a:rPr sz="700" b="0" i="0">
                          <a:solidFill>
                            <a:srgbClr val="222222"/>
                          </a:solidFill>
                        </a:rPr>
                        <a:t>NFR-04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Data integrity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order is locked read-only at Checkout so price, promotion set and total cannot drift between review and payment.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283464">
                <a:tc>
                  <a:txBody>
                    <a:bodyPr/>
                    <a:lstStyle/>
                    <a:p>
                      <a:pPr marL="0" indent="0" algn="ctr">
                        <a:buNone/>
                      </a:pPr>
                      <a:r>
                        <a:rPr sz="700" b="0" i="0">
                          <a:solidFill>
                            <a:srgbClr val="222222"/>
                          </a:solidFill>
                        </a:rPr>
                        <a:t>NFR-05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Cost control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OTP is sent over Zalo before SMS, and never falls back automatically — the customer triggers a resend or a channel change explicitly.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128016" cy="68580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005840" y="2011680"/>
            <a:ext cx="2000000" cy="700000"/>
          </a:xfrm>
          <a:prstGeom prst="rect">
            <a:avLst/>
          </a:prstGeom>
          <a:noFill/>
        </p:spPr>
        <p:txBody>
          <a:bodyPr wrap="square" lIns="0" tIns="0" rIns="0" bIns="0" anchor="ctr">
            <a:spAutoFit/>
          </a:bodyPr>
          <a:lstStyle/>
          <a:p>
            <a:pPr marL="0" indent="0" algn="l">
              <a:buNone/>
            </a:pPr>
            <a:r>
              <a:rPr sz="5400" b="1" i="0">
                <a:solidFill>
                  <a:srgbClr val="C8102E"/>
                </a:solidFill>
              </a:rPr>
              <a:t>PART 4</a:t>
            </a:r>
          </a:p>
        </p:txBody>
      </p:sp>
      <p:sp>
        <p:nvSpPr>
          <p:cNvPr id="5" name="TextBox 4"/>
          <p:cNvSpPr txBox="1"/>
          <p:nvPr/>
        </p:nvSpPr>
        <p:spPr>
          <a:xfrm>
            <a:off x="1005840" y="2743200"/>
            <a:ext cx="9000000" cy="640080"/>
          </a:xfrm>
          <a:prstGeom prst="rect">
            <a:avLst/>
          </a:prstGeom>
          <a:noFill/>
        </p:spPr>
        <p:txBody>
          <a:bodyPr wrap="square" lIns="0" tIns="0" rIns="0" bIns="0" anchor="ctr">
            <a:spAutoFit/>
          </a:bodyPr>
          <a:lstStyle/>
          <a:p>
            <a:pPr marL="0" indent="0" algn="l">
              <a:buNone/>
            </a:pPr>
            <a:r>
              <a:rPr sz="3000" b="1" i="0">
                <a:solidFill>
                  <a:srgbClr val="FFFFFF"/>
                </a:solidFill>
              </a:rPr>
              <a:t>Business Rules</a:t>
            </a:r>
          </a:p>
        </p:txBody>
      </p:sp>
      <p:sp>
        <p:nvSpPr>
          <p:cNvPr id="6" name="TextBox 5"/>
          <p:cNvSpPr txBox="1"/>
          <p:nvPr/>
        </p:nvSpPr>
        <p:spPr>
          <a:xfrm>
            <a:off x="1005840" y="3429000"/>
            <a:ext cx="9000000" cy="320040"/>
          </a:xfrm>
          <a:prstGeom prst="rect">
            <a:avLst/>
          </a:prstGeom>
          <a:noFill/>
        </p:spPr>
        <p:txBody>
          <a:bodyPr wrap="square" lIns="0" tIns="0" rIns="0" bIns="0" anchor="ctr">
            <a:spAutoFit/>
          </a:bodyPr>
          <a:lstStyle/>
          <a:p>
            <a:pPr marL="0" indent="0" algn="l">
              <a:buNone/>
            </a:pPr>
            <a:r>
              <a:rPr sz="1200" b="0" i="0">
                <a:solidFill>
                  <a:srgbClr val="AAAACC"/>
                </a:solidFill>
              </a:rPr>
              <a:t>12 business requirements and 34 detailed rules — BR-01 … BR-12 · BRL-01 … BRL-34</a:t>
            </a:r>
          </a:p>
        </p:txBody>
      </p:sp>
      <p:sp>
        <p:nvSpPr>
          <p:cNvPr id="7" name="Oval 6"/>
          <p:cNvSpPr/>
          <p:nvPr/>
        </p:nvSpPr>
        <p:spPr>
          <a:xfrm>
            <a:off x="1005840" y="420624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 name="TextBox 7"/>
          <p:cNvSpPr txBox="1"/>
          <p:nvPr/>
        </p:nvSpPr>
        <p:spPr>
          <a:xfrm>
            <a:off x="1188720" y="411480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Business requirements state why a capability exists</a:t>
            </a:r>
          </a:p>
        </p:txBody>
      </p:sp>
      <p:sp>
        <p:nvSpPr>
          <p:cNvPr id="9" name="Oval 8"/>
          <p:cNvSpPr/>
          <p:nvPr/>
        </p:nvSpPr>
        <p:spPr>
          <a:xfrm>
            <a:off x="1005840" y="452628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1188720" y="443484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Business rules state the exact condition, threshold or precedence that governs it</a:t>
            </a:r>
          </a:p>
        </p:txBody>
      </p:sp>
      <p:sp>
        <p:nvSpPr>
          <p:cNvPr id="11" name="Oval 10"/>
          <p:cNvSpPr/>
          <p:nvPr/>
        </p:nvSpPr>
        <p:spPr>
          <a:xfrm>
            <a:off x="1005840" y="484632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1188720" y="475488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Every rule carries a status: Agreed · Proposed · May change · Open</a:t>
            </a:r>
          </a:p>
        </p:txBody>
      </p:sp>
      <p:sp>
        <p:nvSpPr>
          <p:cNvPr id="13" name="Oval 12"/>
          <p:cNvSpPr/>
          <p:nvPr/>
        </p:nvSpPr>
        <p:spPr>
          <a:xfrm>
            <a:off x="1005840" y="516636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1188720" y="507492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Configuration parameters are named so they can be tuned without a flow change</a:t>
            </a:r>
          </a:p>
        </p:txBody>
      </p:sp>
      <p:sp>
        <p:nvSpPr>
          <p:cNvPr id="15" name="Rectangle 14"/>
          <p:cNvSpPr/>
          <p:nvPr/>
        </p:nvSpPr>
        <p:spPr>
          <a:xfrm>
            <a:off x="0" y="6473952"/>
            <a:ext cx="12161520" cy="201168"/>
          </a:xfrm>
          <a:prstGeom prst="rect">
            <a:avLst/>
          </a:prstGeom>
          <a:solidFill>
            <a:srgbClr val="16234F"/>
          </a:solidFill>
          <a:ln w="12700">
            <a:solidFill>
              <a:srgbClr val="16234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6E7CA8"/>
                </a:solidFill>
              </a:rPr>
              <a:t>LOTTE MART VN Online Renewal 2026  —  Simplify User Flow  |  CONFIDENTIAL</a:t>
            </a:r>
          </a:p>
        </p:txBody>
      </p:sp>
      <p:sp>
        <p:nvSpPr>
          <p:cNvPr id="17" name="TextBox 16"/>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6E7CA8"/>
                </a:solidFill>
              </a:rPr>
              <a:t>27</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4  ·  Business Requirements  (BR-01 … BR-12)</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28</a:t>
            </a:r>
          </a:p>
        </p:txBody>
      </p:sp>
      <p:sp>
        <p:nvSpPr>
          <p:cNvPr id="9" name="TextBox 8"/>
          <p:cNvSpPr txBox="1"/>
          <p:nvPr/>
        </p:nvSpPr>
        <p:spPr>
          <a:xfrm>
            <a:off x="274320" y="640080"/>
            <a:ext cx="11612880" cy="210000"/>
          </a:xfrm>
          <a:prstGeom prst="rect">
            <a:avLst/>
          </a:prstGeom>
          <a:noFill/>
        </p:spPr>
        <p:txBody>
          <a:bodyPr wrap="square" lIns="0" tIns="0" rIns="0" bIns="0" anchor="ctr">
            <a:spAutoFit/>
          </a:bodyPr>
          <a:lstStyle/>
          <a:p>
            <a:pPr marL="0" indent="0" algn="l">
              <a:buNone/>
            </a:pPr>
            <a:r>
              <a:rPr sz="850" b="0" i="0">
                <a:solidFill>
                  <a:srgbClr val="555555"/>
                </a:solidFill>
              </a:rPr>
              <a:t>The twelve statements below are the business case for the flow. Every detailed rule in the rest of Part 4 exists to satisfy one of them.</a:t>
            </a:r>
          </a:p>
        </p:txBody>
      </p:sp>
      <p:graphicFrame>
        <p:nvGraphicFramePr>
          <p:cNvPr id="10" name="Table 9"/>
          <p:cNvGraphicFramePr>
            <a:graphicFrameLocks noGrp="1"/>
          </p:cNvGraphicFramePr>
          <p:nvPr/>
        </p:nvGraphicFramePr>
        <p:xfrm>
          <a:off x="274320" y="960120"/>
          <a:ext cx="11612880" cy="4142232"/>
        </p:xfrm>
        <a:graphic>
          <a:graphicData uri="http://schemas.openxmlformats.org/drawingml/2006/table">
            <a:tbl>
              <a:tblPr/>
              <a:tblGrid>
                <a:gridCol w="59436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gridCol w="3383280">
                  <a:extLst>
                    <a:ext uri="{9D8B030D-6E8A-4147-A177-3AD203B41FA5}">
                      <a16:colId xmlns:a16="http://schemas.microsoft.com/office/drawing/2014/main" val="20004"/>
                    </a:ext>
                  </a:extLst>
                </a:gridCol>
              </a:tblGrid>
              <a:tr h="192024">
                <a:tc>
                  <a:txBody>
                    <a:bodyPr/>
                    <a:lstStyle/>
                    <a:p>
                      <a:pPr marL="0" indent="0" algn="ctr">
                        <a:buNone/>
                      </a:pPr>
                      <a:r>
                        <a:rPr sz="700" b="1" i="0">
                          <a:solidFill>
                            <a:srgbClr val="FFFFFF"/>
                          </a:solidFill>
                        </a:rPr>
                        <a:t>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Business requirement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Rationale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Pri.</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Realised by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329184">
                <a:tc>
                  <a:txBody>
                    <a:bodyPr/>
                    <a:lstStyle/>
                    <a:p>
                      <a:pPr marL="0" indent="0" algn="ctr">
                        <a:buNone/>
                      </a:pPr>
                      <a:r>
                        <a:rPr sz="700" b="0" i="0">
                          <a:solidFill>
                            <a:srgbClr val="222222"/>
                          </a:solidFill>
                        </a:rPr>
                        <a:t>BR-01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Allow Guests to browse the Homepage and product pages freely, with no account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Lowers the barrier to entry and lets customers explore the catalogue before committing to registration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ONB-07 · HP-01 … HP-04 · BRL-04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329184">
                <a:tc>
                  <a:txBody>
                    <a:bodyPr/>
                    <a:lstStyle/>
                    <a:p>
                      <a:pPr marL="0" indent="0" algn="ctr">
                        <a:buNone/>
                      </a:pPr>
                      <a:r>
                        <a:rPr sz="700" b="0" i="0">
                          <a:solidFill>
                            <a:srgbClr val="222222"/>
                          </a:solidFill>
                        </a:rPr>
                        <a:t>BR-02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Enforce login at exactly two points — Add to Cart, and Cart entry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Guarantees every transaction is tied to an authenticated account, without blocking the customer any earlier than necessary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HP-06 · HP-07 · BRL-05 … BRL-08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329184">
                <a:tc>
                  <a:txBody>
                    <a:bodyPr/>
                    <a:lstStyle/>
                    <a:p>
                      <a:pPr marL="0" indent="0" algn="ctr">
                        <a:buNone/>
                      </a:pPr>
                      <a:r>
                        <a:rPr sz="700" b="0" i="0">
                          <a:solidFill>
                            <a:srgbClr val="222222"/>
                          </a:solidFill>
                        </a:rPr>
                        <a:t>BR-03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Require store selection at Onboarding, before any product is shown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Price, promotion and stock all depend on the store, so the context has to be established first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ONB-05 · BRL-01 · BRL-02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329184">
                <a:tc>
                  <a:txBody>
                    <a:bodyPr/>
                    <a:lstStyle/>
                    <a:p>
                      <a:pPr marL="0" indent="0" algn="ctr">
                        <a:buNone/>
                      </a:pPr>
                      <a:r>
                        <a:rPr sz="700" b="0" i="0">
                          <a:solidFill>
                            <a:srgbClr val="222222"/>
                          </a:solidFill>
                        </a:rPr>
                        <a:t>BR-04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Require the delivery address only at the Cart, not at the Homepage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Reduces browsing friction — information is requested only when it is actually needed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Should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HP-02 … HP-04 · CT-02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329184">
                <a:tc>
                  <a:txBody>
                    <a:bodyPr/>
                    <a:lstStyle/>
                    <a:p>
                      <a:pPr marL="0" indent="0" algn="ctr">
                        <a:buNone/>
                      </a:pPr>
                      <a:r>
                        <a:rPr sz="700" b="0" i="0">
                          <a:solidFill>
                            <a:srgbClr val="222222"/>
                          </a:solidFill>
                        </a:rPr>
                        <a:t>BR-05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Register and authenticate by phone number, using OTP (Zalo preferred, SMS alternative), a 6-digit PIN and optional biometrics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Matches mainstream Vietnamese user behaviour and keeps OTP delivery cost down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SU-01 … SU-04 · LI-01 … LI-02 · BRL-13 … BRL-17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329184">
                <a:tc>
                  <a:txBody>
                    <a:bodyPr/>
                    <a:lstStyle/>
                    <a:p>
                      <a:pPr marL="0" indent="0" algn="ctr">
                        <a:buNone/>
                      </a:pPr>
                      <a:r>
                        <a:rPr sz="700" b="0" i="0">
                          <a:solidFill>
                            <a:srgbClr val="222222"/>
                          </a:solidFill>
                        </a:rPr>
                        <a:t>BR-06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Show two price levels per SKU — Guest and Member — wherever they exist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Makes the benefit of membership concrete at the moment of browsing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Should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HP-01 · BRL-04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329184">
                <a:tc>
                  <a:txBody>
                    <a:bodyPr/>
                    <a:lstStyle/>
                    <a:p>
                      <a:pPr marL="0" indent="0" algn="ctr">
                        <a:buNone/>
                      </a:pPr>
                      <a:r>
                        <a:rPr sz="700" b="0" i="0">
                          <a:solidFill>
                            <a:srgbClr val="222222"/>
                          </a:solidFill>
                        </a:rPr>
                        <a:t>BR-07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Support free delivery above an order threshold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Increases average order value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Should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CT-03 · BRL-19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329184">
                <a:tc>
                  <a:txBody>
                    <a:bodyPr/>
                    <a:lstStyle/>
                    <a:p>
                      <a:pPr marL="0" indent="0" algn="ctr">
                        <a:buNone/>
                      </a:pPr>
                      <a:r>
                        <a:rPr sz="700" b="0" i="0">
                          <a:solidFill>
                            <a:srgbClr val="222222"/>
                          </a:solidFill>
                        </a:rPr>
                        <a:t>BR-08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Support three fulfilment options — home delivery (60-Minute / Standard / Next-day), self pick-up, and lockers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Gives the customer a choice that matches their situation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CT-02 · CT-08 … CT-10 · BRL-10 … BRL-12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r h="329184">
                <a:tc>
                  <a:txBody>
                    <a:bodyPr/>
                    <a:lstStyle/>
                    <a:p>
                      <a:pPr marL="0" indent="0" algn="ctr">
                        <a:buNone/>
                      </a:pPr>
                      <a:r>
                        <a:rPr sz="700" b="0" i="0">
                          <a:solidFill>
                            <a:srgbClr val="222222"/>
                          </a:solidFill>
                        </a:rPr>
                        <a:t>BR-09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Lock the order at Checkout (read-only); any change must return to the 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Protects the integrity of price and total, and prevents mid-payment drift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CO-01 · CO-08 · BRL-31 · NFR-04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9"/>
                  </a:ext>
                </a:extLst>
              </a:tr>
              <a:tr h="329184">
                <a:tc>
                  <a:txBody>
                    <a:bodyPr/>
                    <a:lstStyle/>
                    <a:p>
                      <a:pPr marL="0" indent="0" algn="ctr">
                        <a:buNone/>
                      </a:pPr>
                      <a:r>
                        <a:rPr sz="700" b="0" i="0">
                          <a:solidFill>
                            <a:srgbClr val="222222"/>
                          </a:solidFill>
                        </a:rPr>
                        <a:t>BR-10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Handle mid-journey store and address changes differently by context — immediate on the Homepage, confirmed in the 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Balances a smooth experience against the risk of losing a composed basket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HP-08 · HP-09 · CT-07 · BRL-08 · BRL-09 · BRL-24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10"/>
                  </a:ext>
                </a:extLst>
              </a:tr>
              <a:tr h="329184">
                <a:tc>
                  <a:txBody>
                    <a:bodyPr/>
                    <a:lstStyle/>
                    <a:p>
                      <a:pPr marL="0" indent="0" algn="ctr">
                        <a:buNone/>
                      </a:pPr>
                      <a:r>
                        <a:rPr sz="700" b="0" i="0">
                          <a:solidFill>
                            <a:srgbClr val="222222"/>
                          </a:solidFill>
                        </a:rPr>
                        <a:t>BR-11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Apply security limits to authentication steps (wrong OTP / PIN attempts)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Accounts carry payment instruments, BNPL eligibility and loyalty points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LI-06 · NFR-01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11"/>
                  </a:ext>
                </a:extLst>
              </a:tr>
              <a:tr h="329184">
                <a:tc>
                  <a:txBody>
                    <a:bodyPr/>
                    <a:lstStyle/>
                    <a:p>
                      <a:pPr marL="0" indent="0" algn="ctr">
                        <a:buNone/>
                      </a:pPr>
                      <a:r>
                        <a:rPr sz="700" b="0" i="0">
                          <a:solidFill>
                            <a:srgbClr val="222222"/>
                          </a:solidFill>
                        </a:rPr>
                        <a:t>BR-12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Apply a T+4 delivery window and a separate surcharge to bulky orders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Keeps the delivery promise achievable for large orders in real operations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CT-08 · BRL-22 · BRL-23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12"/>
                  </a:ext>
                </a:extLst>
              </a:tr>
            </a:tbl>
          </a:graphicData>
        </a:graphic>
      </p:graphicFrame>
      <p:sp>
        <p:nvSpPr>
          <p:cNvPr id="11" name="Rectangle 10"/>
          <p:cNvSpPr/>
          <p:nvPr/>
        </p:nvSpPr>
        <p:spPr>
          <a:xfrm>
            <a:off x="274320" y="5303520"/>
            <a:ext cx="11612880" cy="502920"/>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411480" y="5349240"/>
            <a:ext cx="11338560" cy="411480"/>
          </a:xfrm>
          <a:prstGeom prst="rect">
            <a:avLst/>
          </a:prstGeom>
          <a:noFill/>
        </p:spPr>
        <p:txBody>
          <a:bodyPr wrap="square" lIns="0" tIns="0" rIns="0" bIns="0" anchor="t">
            <a:spAutoFit/>
          </a:bodyPr>
          <a:lstStyle/>
          <a:p>
            <a:pPr marL="0" indent="0" algn="l">
              <a:buNone/>
            </a:pPr>
            <a:r>
              <a:rPr sz="750" b="0" i="0">
                <a:solidFill>
                  <a:srgbClr val="6B6800"/>
                </a:solidFill>
              </a:rPr>
              <a:t>Priority column — a BA proposal based on the nature of each requirement: security and data integrity are Must, growth and promotion are Should. Not yet formally confirmed by LOTTE MART (OQ-24).</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4  ·  Business Rule Index  (BRL-01 … BRL-34)</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29</a:t>
            </a:r>
          </a:p>
        </p:txBody>
      </p:sp>
      <p:sp>
        <p:nvSpPr>
          <p:cNvPr id="9" name="Rounded Rectangle 8"/>
          <p:cNvSpPr/>
          <p:nvPr/>
        </p:nvSpPr>
        <p:spPr>
          <a:xfrm>
            <a:off x="274320" y="731520"/>
            <a:ext cx="2903220" cy="1097280"/>
          </a:xfrm>
          <a:prstGeom prst="roundRect">
            <a:avLst>
              <a:gd name="adj" fmla="val 6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Rectangle 9"/>
          <p:cNvSpPr/>
          <p:nvPr/>
        </p:nvSpPr>
        <p:spPr>
          <a:xfrm>
            <a:off x="274320" y="731520"/>
            <a:ext cx="2903220" cy="4572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 name="TextBox 10"/>
          <p:cNvSpPr txBox="1"/>
          <p:nvPr/>
        </p:nvSpPr>
        <p:spPr>
          <a:xfrm>
            <a:off x="411480" y="822960"/>
            <a:ext cx="411480" cy="274320"/>
          </a:xfrm>
          <a:prstGeom prst="rect">
            <a:avLst/>
          </a:prstGeom>
          <a:noFill/>
        </p:spPr>
        <p:txBody>
          <a:bodyPr wrap="square" lIns="0" tIns="0" rIns="0" bIns="0" anchor="ctr">
            <a:spAutoFit/>
          </a:bodyPr>
          <a:lstStyle/>
          <a:p>
            <a:pPr marL="0" indent="0" algn="l">
              <a:buNone/>
            </a:pPr>
            <a:r>
              <a:rPr sz="1600" b="1" i="0">
                <a:solidFill>
                  <a:srgbClr val="1E2F6E"/>
                </a:solidFill>
              </a:rPr>
              <a:t>A</a:t>
            </a:r>
          </a:p>
        </p:txBody>
      </p:sp>
      <p:sp>
        <p:nvSpPr>
          <p:cNvPr id="12" name="TextBox 11"/>
          <p:cNvSpPr txBox="1"/>
          <p:nvPr/>
        </p:nvSpPr>
        <p:spPr>
          <a:xfrm>
            <a:off x="868680" y="822960"/>
            <a:ext cx="2194560" cy="182880"/>
          </a:xfrm>
          <a:prstGeom prst="rect">
            <a:avLst/>
          </a:prstGeom>
          <a:noFill/>
        </p:spPr>
        <p:txBody>
          <a:bodyPr wrap="square" lIns="0" tIns="0" rIns="0" bIns="0" anchor="ctr">
            <a:spAutoFit/>
          </a:bodyPr>
          <a:lstStyle/>
          <a:p>
            <a:pPr marL="0" indent="0" algn="l">
              <a:buNone/>
            </a:pPr>
            <a:r>
              <a:rPr sz="850" b="1" i="0">
                <a:solidFill>
                  <a:srgbClr val="1E2F6E"/>
                </a:solidFill>
              </a:rPr>
              <a:t>Context, access &amp; session</a:t>
            </a:r>
          </a:p>
        </p:txBody>
      </p:sp>
      <p:sp>
        <p:nvSpPr>
          <p:cNvPr id="13" name="TextBox 12"/>
          <p:cNvSpPr txBox="1"/>
          <p:nvPr/>
        </p:nvSpPr>
        <p:spPr>
          <a:xfrm>
            <a:off x="868680" y="1005840"/>
            <a:ext cx="2194560" cy="164592"/>
          </a:xfrm>
          <a:prstGeom prst="rect">
            <a:avLst/>
          </a:prstGeom>
          <a:noFill/>
        </p:spPr>
        <p:txBody>
          <a:bodyPr wrap="square" lIns="0" tIns="0" rIns="0" bIns="0" anchor="ctr">
            <a:spAutoFit/>
          </a:bodyPr>
          <a:lstStyle/>
          <a:p>
            <a:pPr marL="0" indent="0" algn="l">
              <a:buNone/>
            </a:pPr>
            <a:r>
              <a:rPr sz="650" b="1" i="0">
                <a:solidFill>
                  <a:srgbClr val="1E2F6E"/>
                </a:solidFill>
              </a:rPr>
              <a:t>BRL-01 … BRL-09</a:t>
            </a:r>
            <a:r>
              <a:rPr sz="650" b="0" i="0">
                <a:solidFill>
                  <a:srgbClr val="888888"/>
                </a:solidFill>
              </a:rPr>
              <a:t>   ·   9 rules</a:t>
            </a:r>
          </a:p>
        </p:txBody>
      </p:sp>
      <p:sp>
        <p:nvSpPr>
          <p:cNvPr id="14" name="TextBox 13"/>
          <p:cNvSpPr txBox="1"/>
          <p:nvPr/>
        </p:nvSpPr>
        <p:spPr>
          <a:xfrm>
            <a:off x="411480" y="1234440"/>
            <a:ext cx="2651760" cy="502920"/>
          </a:xfrm>
          <a:prstGeom prst="rect">
            <a:avLst/>
          </a:prstGeom>
          <a:noFill/>
        </p:spPr>
        <p:txBody>
          <a:bodyPr wrap="square" lIns="0" tIns="0" rIns="0" bIns="0" anchor="t">
            <a:spAutoFit/>
          </a:bodyPr>
          <a:lstStyle/>
          <a:p>
            <a:pPr marL="0" indent="0" algn="l">
              <a:buNone/>
            </a:pPr>
            <a:r>
              <a:rPr sz="680" b="0" i="0">
                <a:solidFill>
                  <a:srgbClr val="555555"/>
                </a:solidFill>
              </a:rPr>
              <a:t>Store context, address ownership, the two login gates, resume behaviour and context changes on the Homepage</a:t>
            </a:r>
          </a:p>
        </p:txBody>
      </p:sp>
      <p:sp>
        <p:nvSpPr>
          <p:cNvPr id="15" name="Rounded Rectangle 14"/>
          <p:cNvSpPr/>
          <p:nvPr/>
        </p:nvSpPr>
        <p:spPr>
          <a:xfrm>
            <a:off x="3246120" y="731520"/>
            <a:ext cx="2903220" cy="1097280"/>
          </a:xfrm>
          <a:prstGeom prst="roundRect">
            <a:avLst>
              <a:gd name="adj" fmla="val 6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Rectangle 15"/>
          <p:cNvSpPr/>
          <p:nvPr/>
        </p:nvSpPr>
        <p:spPr>
          <a:xfrm>
            <a:off x="3246120" y="731520"/>
            <a:ext cx="2903220" cy="4572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TextBox 16"/>
          <p:cNvSpPr txBox="1"/>
          <p:nvPr/>
        </p:nvSpPr>
        <p:spPr>
          <a:xfrm>
            <a:off x="3383280" y="822960"/>
            <a:ext cx="411480" cy="274320"/>
          </a:xfrm>
          <a:prstGeom prst="rect">
            <a:avLst/>
          </a:prstGeom>
          <a:noFill/>
        </p:spPr>
        <p:txBody>
          <a:bodyPr wrap="square" lIns="0" tIns="0" rIns="0" bIns="0" anchor="ctr">
            <a:spAutoFit/>
          </a:bodyPr>
          <a:lstStyle/>
          <a:p>
            <a:pPr marL="0" indent="0" algn="l">
              <a:buNone/>
            </a:pPr>
            <a:r>
              <a:rPr sz="1600" b="1" i="0">
                <a:solidFill>
                  <a:srgbClr val="C8102E"/>
                </a:solidFill>
              </a:rPr>
              <a:t>B</a:t>
            </a:r>
          </a:p>
        </p:txBody>
      </p:sp>
      <p:sp>
        <p:nvSpPr>
          <p:cNvPr id="18" name="TextBox 17"/>
          <p:cNvSpPr txBox="1"/>
          <p:nvPr/>
        </p:nvSpPr>
        <p:spPr>
          <a:xfrm>
            <a:off x="3840480" y="822960"/>
            <a:ext cx="2194560" cy="182880"/>
          </a:xfrm>
          <a:prstGeom prst="rect">
            <a:avLst/>
          </a:prstGeom>
          <a:noFill/>
        </p:spPr>
        <p:txBody>
          <a:bodyPr wrap="square" lIns="0" tIns="0" rIns="0" bIns="0" anchor="ctr">
            <a:spAutoFit/>
          </a:bodyPr>
          <a:lstStyle/>
          <a:p>
            <a:pPr marL="0" indent="0" algn="l">
              <a:buNone/>
            </a:pPr>
            <a:r>
              <a:rPr sz="850" b="1" i="0">
                <a:solidFill>
                  <a:srgbClr val="1E2F6E"/>
                </a:solidFill>
              </a:rPr>
              <a:t>Delivery service, zone &amp; fee</a:t>
            </a:r>
          </a:p>
        </p:txBody>
      </p:sp>
      <p:sp>
        <p:nvSpPr>
          <p:cNvPr id="19" name="TextBox 18"/>
          <p:cNvSpPr txBox="1"/>
          <p:nvPr/>
        </p:nvSpPr>
        <p:spPr>
          <a:xfrm>
            <a:off x="3840480" y="1005840"/>
            <a:ext cx="2194560" cy="164592"/>
          </a:xfrm>
          <a:prstGeom prst="rect">
            <a:avLst/>
          </a:prstGeom>
          <a:noFill/>
        </p:spPr>
        <p:txBody>
          <a:bodyPr wrap="square" lIns="0" tIns="0" rIns="0" bIns="0" anchor="ctr">
            <a:spAutoFit/>
          </a:bodyPr>
          <a:lstStyle/>
          <a:p>
            <a:pPr marL="0" indent="0" algn="l">
              <a:buNone/>
            </a:pPr>
            <a:r>
              <a:rPr sz="650" b="1" i="0">
                <a:solidFill>
                  <a:srgbClr val="C8102E"/>
                </a:solidFill>
              </a:rPr>
              <a:t>BRL-10 … BRL-19</a:t>
            </a:r>
            <a:r>
              <a:rPr sz="650" b="0" i="0">
                <a:solidFill>
                  <a:srgbClr val="888888"/>
                </a:solidFill>
              </a:rPr>
              <a:t>   ·   10 rules</a:t>
            </a:r>
          </a:p>
        </p:txBody>
      </p:sp>
      <p:sp>
        <p:nvSpPr>
          <p:cNvPr id="20" name="TextBox 19"/>
          <p:cNvSpPr txBox="1"/>
          <p:nvPr/>
        </p:nvSpPr>
        <p:spPr>
          <a:xfrm>
            <a:off x="3383280" y="1234440"/>
            <a:ext cx="2651760" cy="502920"/>
          </a:xfrm>
          <a:prstGeom prst="rect">
            <a:avLst/>
          </a:prstGeom>
          <a:noFill/>
        </p:spPr>
        <p:txBody>
          <a:bodyPr wrap="square" lIns="0" tIns="0" rIns="0" bIns="0" anchor="t">
            <a:spAutoFit/>
          </a:bodyPr>
          <a:lstStyle/>
          <a:p>
            <a:pPr marL="0" indent="0" algn="l">
              <a:buNone/>
            </a:pPr>
            <a:r>
              <a:rPr sz="680" b="0" i="0">
                <a:solidFill>
                  <a:srgbClr val="555555"/>
                </a:solidFill>
              </a:rPr>
              <a:t>Service radii, OTP channel economics, PIN, delivery fees and the freeship threshold</a:t>
            </a:r>
          </a:p>
        </p:txBody>
      </p:sp>
      <p:sp>
        <p:nvSpPr>
          <p:cNvPr id="21" name="Rounded Rectangle 20"/>
          <p:cNvSpPr/>
          <p:nvPr/>
        </p:nvSpPr>
        <p:spPr>
          <a:xfrm>
            <a:off x="6217920" y="731520"/>
            <a:ext cx="2903220" cy="1097280"/>
          </a:xfrm>
          <a:prstGeom prst="roundRect">
            <a:avLst>
              <a:gd name="adj" fmla="val 6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Rectangle 21"/>
          <p:cNvSpPr/>
          <p:nvPr/>
        </p:nvSpPr>
        <p:spPr>
          <a:xfrm>
            <a:off x="6217920" y="731520"/>
            <a:ext cx="2903220" cy="45720"/>
          </a:xfrm>
          <a:prstGeom prst="rect">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TextBox 22"/>
          <p:cNvSpPr txBox="1"/>
          <p:nvPr/>
        </p:nvSpPr>
        <p:spPr>
          <a:xfrm>
            <a:off x="6355080" y="822960"/>
            <a:ext cx="411480" cy="274320"/>
          </a:xfrm>
          <a:prstGeom prst="rect">
            <a:avLst/>
          </a:prstGeom>
          <a:noFill/>
        </p:spPr>
        <p:txBody>
          <a:bodyPr wrap="square" lIns="0" tIns="0" rIns="0" bIns="0" anchor="ctr">
            <a:spAutoFit/>
          </a:bodyPr>
          <a:lstStyle/>
          <a:p>
            <a:pPr marL="0" indent="0" algn="l">
              <a:buNone/>
            </a:pPr>
            <a:r>
              <a:rPr sz="1600" b="1" i="0">
                <a:solidFill>
                  <a:srgbClr val="3D5298"/>
                </a:solidFill>
              </a:rPr>
              <a:t>C</a:t>
            </a:r>
          </a:p>
        </p:txBody>
      </p:sp>
      <p:sp>
        <p:nvSpPr>
          <p:cNvPr id="24" name="TextBox 23"/>
          <p:cNvSpPr txBox="1"/>
          <p:nvPr/>
        </p:nvSpPr>
        <p:spPr>
          <a:xfrm>
            <a:off x="6812280" y="822960"/>
            <a:ext cx="2194560" cy="182880"/>
          </a:xfrm>
          <a:prstGeom prst="rect">
            <a:avLst/>
          </a:prstGeom>
          <a:noFill/>
        </p:spPr>
        <p:txBody>
          <a:bodyPr wrap="square" lIns="0" tIns="0" rIns="0" bIns="0" anchor="ctr">
            <a:spAutoFit/>
          </a:bodyPr>
          <a:lstStyle/>
          <a:p>
            <a:pPr marL="0" indent="0" algn="l">
              <a:buNone/>
            </a:pPr>
            <a:r>
              <a:rPr sz="850" b="1" i="0">
                <a:solidFill>
                  <a:srgbClr val="1E2F6E"/>
                </a:solidFill>
              </a:rPr>
              <a:t>Slot capacity &amp; bulky orders</a:t>
            </a:r>
          </a:p>
        </p:txBody>
      </p:sp>
      <p:sp>
        <p:nvSpPr>
          <p:cNvPr id="25" name="TextBox 24"/>
          <p:cNvSpPr txBox="1"/>
          <p:nvPr/>
        </p:nvSpPr>
        <p:spPr>
          <a:xfrm>
            <a:off x="6812280" y="1005840"/>
            <a:ext cx="2194560" cy="164592"/>
          </a:xfrm>
          <a:prstGeom prst="rect">
            <a:avLst/>
          </a:prstGeom>
          <a:noFill/>
        </p:spPr>
        <p:txBody>
          <a:bodyPr wrap="square" lIns="0" tIns="0" rIns="0" bIns="0" anchor="ctr">
            <a:spAutoFit/>
          </a:bodyPr>
          <a:lstStyle/>
          <a:p>
            <a:pPr marL="0" indent="0" algn="l">
              <a:buNone/>
            </a:pPr>
            <a:r>
              <a:rPr sz="650" b="1" i="0">
                <a:solidFill>
                  <a:srgbClr val="3D5298"/>
                </a:solidFill>
              </a:rPr>
              <a:t>BRL-20 … BRL-23</a:t>
            </a:r>
            <a:r>
              <a:rPr sz="650" b="0" i="0">
                <a:solidFill>
                  <a:srgbClr val="888888"/>
                </a:solidFill>
              </a:rPr>
              <a:t>   ·   4 rules</a:t>
            </a:r>
          </a:p>
        </p:txBody>
      </p:sp>
      <p:sp>
        <p:nvSpPr>
          <p:cNvPr id="26" name="TextBox 25"/>
          <p:cNvSpPr txBox="1"/>
          <p:nvPr/>
        </p:nvSpPr>
        <p:spPr>
          <a:xfrm>
            <a:off x="6355080" y="1234440"/>
            <a:ext cx="2651760" cy="502920"/>
          </a:xfrm>
          <a:prstGeom prst="rect">
            <a:avLst/>
          </a:prstGeom>
          <a:noFill/>
        </p:spPr>
        <p:txBody>
          <a:bodyPr wrap="square" lIns="0" tIns="0" rIns="0" bIns="0" anchor="t">
            <a:spAutoFit/>
          </a:bodyPr>
          <a:lstStyle/>
          <a:p>
            <a:pPr marL="0" indent="0" algn="l">
              <a:buNone/>
            </a:pPr>
            <a:r>
              <a:rPr sz="680" b="0" i="0">
                <a:solidFill>
                  <a:srgbClr val="555555"/>
                </a:solidFill>
              </a:rPr>
              <a:t>Slot warning threshold, slot re-opening, the bulky definition and its effect on the delivery window</a:t>
            </a:r>
          </a:p>
        </p:txBody>
      </p:sp>
      <p:sp>
        <p:nvSpPr>
          <p:cNvPr id="27" name="Rounded Rectangle 26"/>
          <p:cNvSpPr/>
          <p:nvPr/>
        </p:nvSpPr>
        <p:spPr>
          <a:xfrm>
            <a:off x="9189720" y="731520"/>
            <a:ext cx="2903220" cy="1097280"/>
          </a:xfrm>
          <a:prstGeom prst="roundRect">
            <a:avLst>
              <a:gd name="adj" fmla="val 6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Rectangle 27"/>
          <p:cNvSpPr/>
          <p:nvPr/>
        </p:nvSpPr>
        <p:spPr>
          <a:xfrm>
            <a:off x="9189720" y="731520"/>
            <a:ext cx="2903220" cy="45720"/>
          </a:xfrm>
          <a:prstGeom prst="rect">
            <a:avLst/>
          </a:prstGeom>
          <a:solidFill>
            <a:srgbClr val="6B6800"/>
          </a:solidFill>
          <a:ln w="12700">
            <a:solidFill>
              <a:srgbClr val="6B6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9" name="TextBox 28"/>
          <p:cNvSpPr txBox="1"/>
          <p:nvPr/>
        </p:nvSpPr>
        <p:spPr>
          <a:xfrm>
            <a:off x="9326880" y="822960"/>
            <a:ext cx="411480" cy="274320"/>
          </a:xfrm>
          <a:prstGeom prst="rect">
            <a:avLst/>
          </a:prstGeom>
          <a:noFill/>
        </p:spPr>
        <p:txBody>
          <a:bodyPr wrap="square" lIns="0" tIns="0" rIns="0" bIns="0" anchor="ctr">
            <a:spAutoFit/>
          </a:bodyPr>
          <a:lstStyle/>
          <a:p>
            <a:pPr marL="0" indent="0" algn="l">
              <a:buNone/>
            </a:pPr>
            <a:r>
              <a:rPr sz="1600" b="1" i="0">
                <a:solidFill>
                  <a:srgbClr val="6B6800"/>
                </a:solidFill>
              </a:rPr>
              <a:t>D</a:t>
            </a:r>
          </a:p>
        </p:txBody>
      </p:sp>
      <p:sp>
        <p:nvSpPr>
          <p:cNvPr id="30" name="TextBox 29"/>
          <p:cNvSpPr txBox="1"/>
          <p:nvPr/>
        </p:nvSpPr>
        <p:spPr>
          <a:xfrm>
            <a:off x="9784080" y="822960"/>
            <a:ext cx="2194560" cy="182880"/>
          </a:xfrm>
          <a:prstGeom prst="rect">
            <a:avLst/>
          </a:prstGeom>
          <a:noFill/>
        </p:spPr>
        <p:txBody>
          <a:bodyPr wrap="square" lIns="0" tIns="0" rIns="0" bIns="0" anchor="ctr">
            <a:spAutoFit/>
          </a:bodyPr>
          <a:lstStyle/>
          <a:p>
            <a:pPr marL="0" indent="0" algn="l">
              <a:buNone/>
            </a:pPr>
            <a:r>
              <a:rPr sz="850" b="1" i="0">
                <a:solidFill>
                  <a:srgbClr val="1E2F6E"/>
                </a:solidFill>
              </a:rPr>
              <a:t>Store change, pickup &amp; checkout</a:t>
            </a:r>
          </a:p>
        </p:txBody>
      </p:sp>
      <p:sp>
        <p:nvSpPr>
          <p:cNvPr id="31" name="TextBox 30"/>
          <p:cNvSpPr txBox="1"/>
          <p:nvPr/>
        </p:nvSpPr>
        <p:spPr>
          <a:xfrm>
            <a:off x="9784080" y="1005840"/>
            <a:ext cx="2194560" cy="164592"/>
          </a:xfrm>
          <a:prstGeom prst="rect">
            <a:avLst/>
          </a:prstGeom>
          <a:noFill/>
        </p:spPr>
        <p:txBody>
          <a:bodyPr wrap="square" lIns="0" tIns="0" rIns="0" bIns="0" anchor="ctr">
            <a:spAutoFit/>
          </a:bodyPr>
          <a:lstStyle/>
          <a:p>
            <a:pPr marL="0" indent="0" algn="l">
              <a:buNone/>
            </a:pPr>
            <a:r>
              <a:rPr sz="650" b="1" i="0">
                <a:solidFill>
                  <a:srgbClr val="6B6800"/>
                </a:solidFill>
              </a:rPr>
              <a:t>BRL-24 … BRL-34</a:t>
            </a:r>
            <a:r>
              <a:rPr sz="650" b="0" i="0">
                <a:solidFill>
                  <a:srgbClr val="888888"/>
                </a:solidFill>
              </a:rPr>
              <a:t>   ·   11 rules</a:t>
            </a:r>
          </a:p>
        </p:txBody>
      </p:sp>
      <p:sp>
        <p:nvSpPr>
          <p:cNvPr id="32" name="TextBox 31"/>
          <p:cNvSpPr txBox="1"/>
          <p:nvPr/>
        </p:nvSpPr>
        <p:spPr>
          <a:xfrm>
            <a:off x="9326880" y="1234440"/>
            <a:ext cx="2651760" cy="502920"/>
          </a:xfrm>
          <a:prstGeom prst="rect">
            <a:avLst/>
          </a:prstGeom>
          <a:noFill/>
        </p:spPr>
        <p:txBody>
          <a:bodyPr wrap="square" lIns="0" tIns="0" rIns="0" bIns="0" anchor="t">
            <a:spAutoFit/>
          </a:bodyPr>
          <a:lstStyle/>
          <a:p>
            <a:pPr marL="0" indent="0" algn="l">
              <a:buNone/>
            </a:pPr>
            <a:r>
              <a:rPr sz="680" b="0" i="0">
                <a:solidFill>
                  <a:srgbClr val="555555"/>
                </a:solidFill>
              </a:rPr>
              <a:t>Cart store change, slot suggestion precedence, pickup rules, cart limits, coupon grouping and the payment summary</a:t>
            </a:r>
          </a:p>
        </p:txBody>
      </p:sp>
      <p:sp>
        <p:nvSpPr>
          <p:cNvPr id="33" name="Rectangle 32"/>
          <p:cNvSpPr/>
          <p:nvPr/>
        </p:nvSpPr>
        <p:spPr>
          <a:xfrm>
            <a:off x="274320" y="201168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402336" y="2011680"/>
            <a:ext cx="11612880" cy="256032"/>
          </a:xfrm>
          <a:prstGeom prst="rect">
            <a:avLst/>
          </a:prstGeom>
          <a:noFill/>
        </p:spPr>
        <p:txBody>
          <a:bodyPr wrap="square" lIns="0" tIns="0" rIns="0" bIns="0" anchor="ctr">
            <a:spAutoFit/>
          </a:bodyPr>
          <a:lstStyle/>
          <a:p>
            <a:pPr marL="0" indent="0" algn="l">
              <a:buNone/>
            </a:pPr>
            <a:r>
              <a:rPr sz="1000" b="1" i="0">
                <a:solidFill>
                  <a:srgbClr val="1E2F6E"/>
                </a:solidFill>
              </a:rPr>
              <a:t>Status of every rule</a:t>
            </a:r>
          </a:p>
        </p:txBody>
      </p:sp>
      <p:graphicFrame>
        <p:nvGraphicFramePr>
          <p:cNvPr id="35" name="Table 34"/>
          <p:cNvGraphicFramePr>
            <a:graphicFrameLocks noGrp="1"/>
          </p:cNvGraphicFramePr>
          <p:nvPr/>
        </p:nvGraphicFramePr>
        <p:xfrm>
          <a:off x="274320" y="2286000"/>
          <a:ext cx="11612880" cy="1343856"/>
        </p:xfrm>
        <a:graphic>
          <a:graphicData uri="http://schemas.openxmlformats.org/drawingml/2006/table">
            <a:tbl>
              <a:tblPr/>
              <a:tblGrid>
                <a:gridCol w="1188720">
                  <a:extLst>
                    <a:ext uri="{9D8B030D-6E8A-4147-A177-3AD203B41FA5}">
                      <a16:colId xmlns:a16="http://schemas.microsoft.com/office/drawing/2014/main" val="20000"/>
                    </a:ext>
                  </a:extLst>
                </a:gridCol>
                <a:gridCol w="630936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3383280">
                  <a:extLst>
                    <a:ext uri="{9D8B030D-6E8A-4147-A177-3AD203B41FA5}">
                      <a16:colId xmlns:a16="http://schemas.microsoft.com/office/drawing/2014/main" val="20003"/>
                    </a:ext>
                  </a:extLst>
                </a:gridCol>
              </a:tblGrid>
              <a:tr h="210000">
                <a:tc>
                  <a:txBody>
                    <a:bodyPr/>
                    <a:lstStyle/>
                    <a:p>
                      <a:pPr marL="0" indent="0" algn="ctr">
                        <a:buNone/>
                      </a:pPr>
                      <a:r>
                        <a:rPr sz="750" b="1" i="0">
                          <a:solidFill>
                            <a:srgbClr val="FFFFFF"/>
                          </a:solidFill>
                        </a:rPr>
                        <a:t>Status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Meaning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Count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Effect on development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83464">
                <a:tc>
                  <a:txBody>
                    <a:bodyPr/>
                    <a:lstStyle/>
                    <a:p>
                      <a:pPr marL="0" indent="0" algn="ctr">
                        <a:buNone/>
                      </a:pPr>
                      <a:r>
                        <a:rPr sz="75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tc>
                  <a:txBody>
                    <a:bodyPr/>
                    <a:lstStyle/>
                    <a:p>
                      <a:pPr marL="0" indent="0" algn="l">
                        <a:buNone/>
                      </a:pPr>
                      <a:r>
                        <a:rPr sz="750" b="0" i="0">
                          <a:solidFill>
                            <a:srgbClr val="222222"/>
                          </a:solidFill>
                        </a:rPr>
                        <a:t>Confirmed in the UX / BA design session and carried into this specification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50" b="0" i="0">
                          <a:solidFill>
                            <a:srgbClr val="222222"/>
                          </a:solidFill>
                        </a:rPr>
                        <a:t>24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Can be built as written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83464">
                <a:tc>
                  <a:txBody>
                    <a:bodyPr/>
                    <a:lstStyle/>
                    <a:p>
                      <a:pPr marL="0" indent="0" algn="ctr">
                        <a:buNone/>
                      </a:pPr>
                      <a:r>
                        <a:rPr sz="750" b="0" i="0">
                          <a:solidFill>
                            <a:srgbClr val="222222"/>
                          </a:solidFill>
                        </a:rPr>
                        <a:t>Proposed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tc>
                  <a:txBody>
                    <a:bodyPr/>
                    <a:lstStyle/>
                    <a:p>
                      <a:pPr marL="0" indent="0" algn="l">
                        <a:buNone/>
                      </a:pPr>
                      <a:r>
                        <a:rPr sz="750" b="0" i="0">
                          <a:solidFill>
                            <a:srgbClr val="222222"/>
                          </a:solidFill>
                        </a:rPr>
                        <a:t>The BA's recommendation, awaiting confirmation from LOTTE MART, Security / Dev or the Product Owner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5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Build behind a configuration switch, or wait for confirmation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83464">
                <a:tc>
                  <a:txBody>
                    <a:bodyPr/>
                    <a:lstStyle/>
                    <a:p>
                      <a:pPr marL="0" indent="0" algn="ctr">
                        <a:buNone/>
                      </a:pPr>
                      <a:r>
                        <a:rPr sz="750" b="0" i="0">
                          <a:solidFill>
                            <a:srgbClr val="222222"/>
                          </a:solidFill>
                        </a:rPr>
                        <a:t>May change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tc>
                  <a:txBody>
                    <a:bodyPr/>
                    <a:lstStyle/>
                    <a:p>
                      <a:pPr marL="0" indent="0" algn="l">
                        <a:buNone/>
                      </a:pPr>
                      <a:r>
                        <a:rPr sz="750" b="0" i="0">
                          <a:solidFill>
                            <a:srgbClr val="222222"/>
                          </a:solidFill>
                        </a:rPr>
                        <a:t>Agreed today, but a parallel workstream may replace the mechanism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5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Design the rule as configuration, not as hard-coded logic</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83464">
                <a:tc>
                  <a:txBody>
                    <a:bodyPr/>
                    <a:lstStyle/>
                    <a:p>
                      <a:pPr marL="0" indent="0" algn="ctr">
                        <a:buNone/>
                      </a:pPr>
                      <a:r>
                        <a:rPr sz="750" b="0" i="0">
                          <a:solidFill>
                            <a:srgbClr val="222222"/>
                          </a:solidFill>
                        </a:rPr>
                        <a:t>Open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DECEE"/>
                    </a:solidFill>
                  </a:tcPr>
                </a:tc>
                <a:tc>
                  <a:txBody>
                    <a:bodyPr/>
                    <a:lstStyle/>
                    <a:p>
                      <a:pPr marL="0" indent="0" algn="l">
                        <a:buNone/>
                      </a:pPr>
                      <a:r>
                        <a:rPr sz="750" b="0" i="0">
                          <a:solidFill>
                            <a:srgbClr val="222222"/>
                          </a:solidFill>
                        </a:rPr>
                        <a:t>No agreed answer yet — the rule is a placeholder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5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Blocks the affected screen or calculation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bl>
          </a:graphicData>
        </a:graphic>
      </p:graphicFrame>
      <p:sp>
        <p:nvSpPr>
          <p:cNvPr id="36" name="Rectangle 35"/>
          <p:cNvSpPr/>
          <p:nvPr/>
        </p:nvSpPr>
        <p:spPr>
          <a:xfrm>
            <a:off x="274320" y="365760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TextBox 36"/>
          <p:cNvSpPr txBox="1"/>
          <p:nvPr/>
        </p:nvSpPr>
        <p:spPr>
          <a:xfrm>
            <a:off x="402336" y="3657600"/>
            <a:ext cx="11612880" cy="256032"/>
          </a:xfrm>
          <a:prstGeom prst="rect">
            <a:avLst/>
          </a:prstGeom>
          <a:noFill/>
        </p:spPr>
        <p:txBody>
          <a:bodyPr wrap="square" lIns="0" tIns="0" rIns="0" bIns="0" anchor="ctr">
            <a:spAutoFit/>
          </a:bodyPr>
          <a:lstStyle/>
          <a:p>
            <a:pPr marL="0" indent="0" algn="l">
              <a:buNone/>
            </a:pPr>
            <a:r>
              <a:rPr sz="1000" b="1" i="0">
                <a:solidFill>
                  <a:srgbClr val="1E2F6E"/>
                </a:solidFill>
              </a:rPr>
              <a:t>Configuration parameters — tunable without changing the flow</a:t>
            </a:r>
          </a:p>
        </p:txBody>
      </p:sp>
      <p:graphicFrame>
        <p:nvGraphicFramePr>
          <p:cNvPr id="38" name="Table 37"/>
          <p:cNvGraphicFramePr>
            <a:graphicFrameLocks noGrp="1"/>
          </p:cNvGraphicFramePr>
          <p:nvPr/>
        </p:nvGraphicFramePr>
        <p:xfrm>
          <a:off x="274320" y="3931920"/>
          <a:ext cx="11612880" cy="1855920"/>
        </p:xfrm>
        <a:graphic>
          <a:graphicData uri="http://schemas.openxmlformats.org/drawingml/2006/table">
            <a:tbl>
              <a:tblPr/>
              <a:tblGrid>
                <a:gridCol w="338328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210000">
                <a:tc>
                  <a:txBody>
                    <a:bodyPr/>
                    <a:lstStyle/>
                    <a:p>
                      <a:pPr marL="0" indent="0" algn="ctr">
                        <a:buNone/>
                      </a:pPr>
                      <a:r>
                        <a:rPr sz="750" b="1" i="0">
                          <a:solidFill>
                            <a:srgbClr val="FFFFFF"/>
                          </a:solidFill>
                        </a:rPr>
                        <a:t>Parameter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Owner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Current value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Used by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164592">
                <a:tc>
                  <a:txBody>
                    <a:bodyPr/>
                    <a:lstStyle/>
                    <a:p>
                      <a:pPr marL="0" indent="0" algn="l">
                        <a:buNone/>
                      </a:pPr>
                      <a:r>
                        <a:rPr sz="750" b="0" i="0">
                          <a:solidFill>
                            <a:srgbClr val="222222"/>
                          </a:solidFill>
                        </a:rPr>
                        <a:t>60-Minute service radius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Store configuration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3 – 5 km, per store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50" b="0" i="0">
                          <a:solidFill>
                            <a:srgbClr val="222222"/>
                          </a:solidFill>
                        </a:rPr>
                        <a:t>BRL-10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164592">
                <a:tc>
                  <a:txBody>
                    <a:bodyPr/>
                    <a:lstStyle/>
                    <a:p>
                      <a:pPr marL="0" indent="0" algn="l">
                        <a:buNone/>
                      </a:pPr>
                      <a:r>
                        <a:rPr sz="750" b="0" i="0">
                          <a:solidFill>
                            <a:srgbClr val="222222"/>
                          </a:solidFill>
                        </a:rPr>
                        <a:t>Standard service radius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Store configuration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10 km / 15 km, per store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50" b="0" i="0">
                          <a:solidFill>
                            <a:srgbClr val="222222"/>
                          </a:solidFill>
                        </a:rPr>
                        <a:t>BRL-11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164592">
                <a:tc>
                  <a:txBody>
                    <a:bodyPr/>
                    <a:lstStyle/>
                    <a:p>
                      <a:pPr marL="0" indent="0" algn="l">
                        <a:buNone/>
                      </a:pPr>
                      <a:r>
                        <a:rPr sz="750" b="0" i="0">
                          <a:solidFill>
                            <a:srgbClr val="222222"/>
                          </a:solidFill>
                        </a:rPr>
                        <a:t>Next-day coverage areas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Store configuration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By ward / area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50" b="0" i="0">
                          <a:solidFill>
                            <a:srgbClr val="222222"/>
                          </a:solidFill>
                        </a:rPr>
                        <a:t>BRL-12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164592">
                <a:tc>
                  <a:txBody>
                    <a:bodyPr/>
                    <a:lstStyle/>
                    <a:p>
                      <a:pPr marL="0" indent="0" algn="l">
                        <a:buNone/>
                      </a:pPr>
                      <a:r>
                        <a:rPr sz="750" b="0" i="0">
                          <a:solidFill>
                            <a:srgbClr val="222222"/>
                          </a:solidFill>
                        </a:rPr>
                        <a:t>Freeship threshold (Standard)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Commercial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150,000 ₫</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50" b="0" i="0">
                          <a:solidFill>
                            <a:srgbClr val="222222"/>
                          </a:solidFill>
                        </a:rPr>
                        <a:t>BRL-19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164592">
                <a:tc>
                  <a:txBody>
                    <a:bodyPr/>
                    <a:lstStyle/>
                    <a:p>
                      <a:pPr marL="0" indent="0" algn="l">
                        <a:buNone/>
                      </a:pPr>
                      <a:r>
                        <a:rPr sz="750" b="0" i="0">
                          <a:solidFill>
                            <a:srgbClr val="222222"/>
                          </a:solidFill>
                        </a:rPr>
                        <a:t>60-Minute slot warning threshold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Operations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1 remaining slot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50" b="0" i="0">
                          <a:solidFill>
                            <a:srgbClr val="222222"/>
                          </a:solidFill>
                        </a:rPr>
                        <a:t>BRL-20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164592">
                <a:tc>
                  <a:txBody>
                    <a:bodyPr/>
                    <a:lstStyle/>
                    <a:p>
                      <a:pPr marL="0" indent="0" algn="l">
                        <a:buNone/>
                      </a:pPr>
                      <a:r>
                        <a:rPr sz="750" b="0" i="0">
                          <a:solidFill>
                            <a:srgbClr val="222222"/>
                          </a:solidFill>
                        </a:rPr>
                        <a:t>Bulky weight threshold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Operations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15 kg total order weight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50" b="0" i="0">
                          <a:solidFill>
                            <a:srgbClr val="222222"/>
                          </a:solidFill>
                        </a:rPr>
                        <a:t>BRL-22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164592">
                <a:tc>
                  <a:txBody>
                    <a:bodyPr/>
                    <a:lstStyle/>
                    <a:p>
                      <a:pPr marL="0" indent="0" algn="l">
                        <a:buNone/>
                      </a:pPr>
                      <a:r>
                        <a:rPr sz="750" b="0" i="0">
                          <a:solidFill>
                            <a:srgbClr val="222222"/>
                          </a:solidFill>
                        </a:rPr>
                        <a:t>Bulky delivery window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Operations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T+4 (standard orders: 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50" b="0" i="0">
                          <a:solidFill>
                            <a:srgbClr val="222222"/>
                          </a:solidFill>
                        </a:rPr>
                        <a:t>BRL-23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164592">
                <a:tc>
                  <a:txBody>
                    <a:bodyPr/>
                    <a:lstStyle/>
                    <a:p>
                      <a:pPr marL="0" indent="0" algn="l">
                        <a:buNone/>
                      </a:pPr>
                      <a:r>
                        <a:rPr sz="750" b="0" i="0">
                          <a:solidFill>
                            <a:srgbClr val="222222"/>
                          </a:solidFill>
                        </a:rPr>
                        <a:t>Maximum items per 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Product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30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50" b="0" i="0">
                          <a:solidFill>
                            <a:srgbClr val="222222"/>
                          </a:solidFill>
                        </a:rPr>
                        <a:t>BRL-31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r h="164592">
                <a:tc>
                  <a:txBody>
                    <a:bodyPr/>
                    <a:lstStyle/>
                    <a:p>
                      <a:pPr marL="0" indent="0" algn="l">
                        <a:buNone/>
                      </a:pPr>
                      <a:r>
                        <a:rPr sz="750" b="0" i="0">
                          <a:solidFill>
                            <a:srgbClr val="222222"/>
                          </a:solidFill>
                        </a:rPr>
                        <a:t>Cash-at-pickup eligible tiers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Commercial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Platinum, Diamond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50" b="0" i="0">
                          <a:solidFill>
                            <a:srgbClr val="222222"/>
                          </a:solidFill>
                        </a:rPr>
                        <a:t>BRL-29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9"/>
                  </a:ext>
                </a:extLst>
              </a:tr>
              <a:tr h="164592">
                <a:tc>
                  <a:txBody>
                    <a:bodyPr/>
                    <a:lstStyle/>
                    <a:p>
                      <a:pPr marL="0" indent="0" algn="l">
                        <a:buNone/>
                      </a:pPr>
                      <a:r>
                        <a:rPr sz="750" b="0" i="0">
                          <a:solidFill>
                            <a:srgbClr val="222222"/>
                          </a:solidFill>
                        </a:rPr>
                        <a:t>Point-earning time slots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Commercial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11:00–13:00 · 13:00–15:00 · 18:00–20:00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50" b="0" i="0">
                          <a:solidFill>
                            <a:srgbClr val="222222"/>
                          </a:solidFill>
                        </a:rPr>
                        <a:t>BRL-27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10"/>
                  </a:ext>
                </a:extLst>
              </a:tr>
            </a:tbl>
          </a:graphicData>
        </a:graphic>
      </p:graphicFrame>
      <p:sp>
        <p:nvSpPr>
          <p:cNvPr id="39" name="TextBox 38"/>
          <p:cNvSpPr txBox="1"/>
          <p:nvPr/>
        </p:nvSpPr>
        <p:spPr>
          <a:xfrm>
            <a:off x="274320" y="5760720"/>
            <a:ext cx="11612880" cy="210000"/>
          </a:xfrm>
          <a:prstGeom prst="rect">
            <a:avLst/>
          </a:prstGeom>
          <a:noFill/>
        </p:spPr>
        <p:txBody>
          <a:bodyPr wrap="square" lIns="0" tIns="0" rIns="0" bIns="0" anchor="ctr">
            <a:spAutoFit/>
          </a:bodyPr>
          <a:lstStyle/>
          <a:p>
            <a:pPr marL="0" indent="0" algn="l">
              <a:buNone/>
            </a:pPr>
            <a:r>
              <a:rPr sz="750" b="0" i="1">
                <a:solidFill>
                  <a:srgbClr val="6B6800"/>
                </a:solidFill>
              </a:rPr>
              <a:t>Every value above is data, not code. Changing one must not require a change to any flow, screen or requirement in this document.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4  ·  Group A  —  Context, Access &amp; Session</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30</a:t>
            </a:r>
          </a:p>
        </p:txBody>
      </p:sp>
      <p:graphicFrame>
        <p:nvGraphicFramePr>
          <p:cNvPr id="9" name="Table 8"/>
          <p:cNvGraphicFramePr>
            <a:graphicFrameLocks noGrp="1"/>
          </p:cNvGraphicFramePr>
          <p:nvPr/>
        </p:nvGraphicFramePr>
        <p:xfrm>
          <a:off x="274320" y="685800"/>
          <a:ext cx="11612880" cy="4306824"/>
        </p:xfrm>
        <a:graphic>
          <a:graphicData uri="http://schemas.openxmlformats.org/drawingml/2006/table">
            <a:tbl>
              <a:tblPr/>
              <a:tblGrid>
                <a:gridCol w="7315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685800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tblGrid>
              <a:tr h="192024">
                <a:tc>
                  <a:txBody>
                    <a:bodyPr/>
                    <a:lstStyle/>
                    <a:p>
                      <a:pPr marL="0" indent="0" algn="ctr">
                        <a:buNone/>
                      </a:pPr>
                      <a:r>
                        <a:rPr sz="700" b="1" i="0">
                          <a:solidFill>
                            <a:srgbClr val="FFFFFF"/>
                          </a:solidFill>
                        </a:rPr>
                        <a:t>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Definition / condition / threshold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Traces to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Status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57200">
                <a:tc>
                  <a:txBody>
                    <a:bodyPr/>
                    <a:lstStyle/>
                    <a:p>
                      <a:pPr marL="0" indent="0" algn="ctr">
                        <a:buNone/>
                      </a:pPr>
                      <a:r>
                        <a:rPr sz="700" b="0" i="0">
                          <a:solidFill>
                            <a:srgbClr val="222222"/>
                          </a:solidFill>
                        </a:rPr>
                        <a:t>BRL-01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Store selection is mandatory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customer cannot reach the Homepage without selecting a LOTTE MART store. The selection persists across sessions and survives logout, because catalogue, price, stock, promotion and every delivery rule are resolved against it.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BR-03 · ONB-05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1"/>
                  </a:ext>
                </a:extLst>
              </a:tr>
              <a:tr h="457200">
                <a:tc>
                  <a:txBody>
                    <a:bodyPr/>
                    <a:lstStyle/>
                    <a:p>
                      <a:pPr marL="0" indent="0" algn="ctr">
                        <a:buNone/>
                      </a:pPr>
                      <a:r>
                        <a:rPr sz="700" b="0" i="0">
                          <a:solidFill>
                            <a:srgbClr val="222222"/>
                          </a:solidFill>
                        </a:rPr>
                        <a:t>BRL-02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Default store from GPS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Location permission granted → the nearest store by GPS is pre-selected and can be changed. Permission denied → no default is offered and the customer selects manually. Denial never blocks the step, it only removes the shortcut.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BR-03 · ONB-04 · ONB-05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2"/>
                  </a:ext>
                </a:extLst>
              </a:tr>
              <a:tr h="457200">
                <a:tc>
                  <a:txBody>
                    <a:bodyPr/>
                    <a:lstStyle/>
                    <a:p>
                      <a:pPr marL="0" indent="0" algn="ctr">
                        <a:buNone/>
                      </a:pPr>
                      <a:r>
                        <a:rPr sz="700" b="0" i="0">
                          <a:solidFill>
                            <a:srgbClr val="222222"/>
                          </a:solidFill>
                        </a:rPr>
                        <a:t>BRL-03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Address ownership and synchronisation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 Guest address lives on the device only. On the first successful authentication it is uploaded, bound to the account, set active for the session, and the local copy is deleted. If the account already holds addresses the new one is appended — an existing address is never overwritten. GPS only pre-fills a suggestion; the customer must complete the detail (house number, floor) and confirm.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BR-04 · HP-02 · HP-03 · HP-05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3"/>
                  </a:ext>
                </a:extLst>
              </a:tr>
              <a:tr h="457200">
                <a:tc>
                  <a:txBody>
                    <a:bodyPr/>
                    <a:lstStyle/>
                    <a:p>
                      <a:pPr marL="0" indent="0" algn="ctr">
                        <a:buNone/>
                      </a:pPr>
                      <a:r>
                        <a:rPr sz="700" b="0" i="0">
                          <a:solidFill>
                            <a:srgbClr val="222222"/>
                          </a:solidFill>
                        </a:rPr>
                        <a:t>BRL-04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Guest browsing is unrestricted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Homepage, category, search and product detail are fully available without an account. Where a SKU carries both a Guest and a Member price, both are displayed.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BR-01 · BR-06 · ONB-07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4"/>
                  </a:ext>
                </a:extLst>
              </a:tr>
              <a:tr h="457200">
                <a:tc>
                  <a:txBody>
                    <a:bodyPr/>
                    <a:lstStyle/>
                    <a:p>
                      <a:pPr marL="0" indent="0" algn="ctr">
                        <a:buNone/>
                      </a:pPr>
                      <a:r>
                        <a:rPr sz="700" b="0" i="0">
                          <a:solidFill>
                            <a:srgbClr val="222222"/>
                          </a:solidFill>
                        </a:rPr>
                        <a:t>BRL-05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Login is enforced at exactly two points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Add to Cart, and entry to the Cart. No other action in this journey triggers authentication, and the gate is never moved earlier.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BR-02 · HP-06 · HP-07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5"/>
                  </a:ext>
                </a:extLst>
              </a:tr>
              <a:tr h="457200">
                <a:tc>
                  <a:txBody>
                    <a:bodyPr/>
                    <a:lstStyle/>
                    <a:p>
                      <a:pPr marL="0" indent="0" algn="ctr">
                        <a:buNone/>
                      </a:pPr>
                      <a:r>
                        <a:rPr sz="700" b="0" i="0">
                          <a:solidFill>
                            <a:srgbClr val="222222"/>
                          </a:solidFill>
                        </a:rPr>
                        <a:t>BRL-06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Cart icon is always visible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icon is never hidden or disabled for a Guest. Tapping it opens the login gate rather than an error or a dead end.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BR-02 · HP-07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6"/>
                  </a:ext>
                </a:extLst>
              </a:tr>
              <a:tr h="457200">
                <a:tc>
                  <a:txBody>
                    <a:bodyPr/>
                    <a:lstStyle/>
                    <a:p>
                      <a:pPr marL="0" indent="0" algn="ctr">
                        <a:buNone/>
                      </a:pPr>
                      <a:r>
                        <a:rPr sz="700" b="0" i="0">
                          <a:solidFill>
                            <a:srgbClr val="222222"/>
                          </a:solidFill>
                        </a:rPr>
                        <a:t>BRL-07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original action is always resumed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After authentication the system re-executes whatever triggered the gate — adding that specific product, or opening the Cart — without asking the customer to repeat it. Any locally-stored Guest address is synced in the same step.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BR-02 · HP-06 · SU-08 · LI-03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7"/>
                  </a:ext>
                </a:extLst>
              </a:tr>
              <a:tr h="457200">
                <a:tc>
                  <a:txBody>
                    <a:bodyPr/>
                    <a:lstStyle/>
                    <a:p>
                      <a:pPr marL="0" indent="0" algn="ctr">
                        <a:buNone/>
                      </a:pPr>
                      <a:r>
                        <a:rPr sz="700" b="0" i="0">
                          <a:solidFill>
                            <a:srgbClr val="222222"/>
                          </a:solidFill>
                        </a:rPr>
                        <a:t>BRL-08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Store change on the Homepage is immediate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Applied without confirmation. If the active address falls into a different service zone under the new store — for example losing 60-Minute and Standard and keeping only Next-day — the service falls back automatically and the customer is notified. Which address to use when the active one is no longer valid is unresolved (OQ-01).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BR-10 · HP-08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8"/>
                  </a:ext>
                </a:extLst>
              </a:tr>
              <a:tr h="457200">
                <a:tc>
                  <a:txBody>
                    <a:bodyPr/>
                    <a:lstStyle/>
                    <a:p>
                      <a:pPr marL="0" indent="0" algn="ctr">
                        <a:buNone/>
                      </a:pPr>
                      <a:r>
                        <a:rPr sz="700" b="0" i="0">
                          <a:solidFill>
                            <a:srgbClr val="222222"/>
                          </a:solidFill>
                        </a:rPr>
                        <a:t>BRL-09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Address change on the Homepage may reassign the store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Current store still serves the new address → keep the store, refresh the address and the estimate. Not served, exactly one other store qualifies → switch to it immediately, without asking. Not served, several qualify → switch to the nearest by distance, also without asking.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BR-10 · HP-09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9"/>
                  </a:ext>
                </a:extLst>
              </a:tr>
            </a:tbl>
          </a:graphicData>
        </a:graphic>
      </p:graphicFrame>
      <p:sp>
        <p:nvSpPr>
          <p:cNvPr id="10" name="Rectangle 9"/>
          <p:cNvSpPr/>
          <p:nvPr/>
        </p:nvSpPr>
        <p:spPr>
          <a:xfrm>
            <a:off x="274320" y="4937760"/>
            <a:ext cx="11612880" cy="685800"/>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 name="TextBox 10"/>
          <p:cNvSpPr txBox="1"/>
          <p:nvPr/>
        </p:nvSpPr>
        <p:spPr>
          <a:xfrm>
            <a:off x="411480" y="4983480"/>
            <a:ext cx="11338560" cy="594360"/>
          </a:xfrm>
          <a:prstGeom prst="rect">
            <a:avLst/>
          </a:prstGeom>
          <a:noFill/>
        </p:spPr>
        <p:txBody>
          <a:bodyPr wrap="square" lIns="0" tIns="0" rIns="0" bIns="0" anchor="t">
            <a:spAutoFit/>
          </a:bodyPr>
          <a:lstStyle/>
          <a:p>
            <a:pPr marL="0" indent="0" algn="l">
              <a:buNone/>
            </a:pPr>
            <a:r>
              <a:rPr sz="750" b="0" i="0">
                <a:solidFill>
                  <a:srgbClr val="6B6800"/>
                </a:solidFill>
              </a:rPr>
              <a:t>Open items in this group — OQ-01: the fallback order for choosing a replacement address after a store change. Interim proposal: (1) the address most recently chosen for the new store, even without a completed order; (2) otherwise the address of the most recent successful order at that store; (3) otherwise the global default address if it is valid; (4) otherwise leave it blank for the customer to choose. OQ-26 asks the same question after logout and re-login.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4  ·  Group B  —  Delivery Zones, Authentication Channels &amp; Fees</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31</a:t>
            </a:r>
          </a:p>
        </p:txBody>
      </p:sp>
      <p:graphicFrame>
        <p:nvGraphicFramePr>
          <p:cNvPr id="9" name="Table 8"/>
          <p:cNvGraphicFramePr>
            <a:graphicFrameLocks noGrp="1"/>
          </p:cNvGraphicFramePr>
          <p:nvPr/>
        </p:nvGraphicFramePr>
        <p:xfrm>
          <a:off x="274320" y="685800"/>
          <a:ext cx="11612880" cy="4306824"/>
        </p:xfrm>
        <a:graphic>
          <a:graphicData uri="http://schemas.openxmlformats.org/drawingml/2006/table">
            <a:tbl>
              <a:tblPr/>
              <a:tblGrid>
                <a:gridCol w="7315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685800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tblGrid>
              <a:tr h="192024">
                <a:tc>
                  <a:txBody>
                    <a:bodyPr/>
                    <a:lstStyle/>
                    <a:p>
                      <a:pPr marL="0" indent="0" algn="ctr">
                        <a:buNone/>
                      </a:pPr>
                      <a:r>
                        <a:rPr sz="700" b="1" i="0">
                          <a:solidFill>
                            <a:srgbClr val="FFFFFF"/>
                          </a:solidFill>
                        </a:rPr>
                        <a:t>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Definition / condition / threshold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Traces to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Status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11480">
                <a:tc>
                  <a:txBody>
                    <a:bodyPr/>
                    <a:lstStyle/>
                    <a:p>
                      <a:pPr marL="0" indent="0" algn="ctr">
                        <a:buNone/>
                      </a:pPr>
                      <a:r>
                        <a:rPr sz="700" b="0" i="0">
                          <a:solidFill>
                            <a:srgbClr val="222222"/>
                          </a:solidFill>
                        </a:rPr>
                        <a:t>BRL-10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60-Minute service radius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Within 3 – 5 km of the serving store, configured per store. Inside this radius both 60-Minute and Standard are offered; Standard remains the default and the customer may switch to 60-Minute.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BR-08 · HP-04 · CT-08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1"/>
                  </a:ext>
                </a:extLst>
              </a:tr>
              <a:tr h="411480">
                <a:tc>
                  <a:txBody>
                    <a:bodyPr/>
                    <a:lstStyle/>
                    <a:p>
                      <a:pPr marL="0" indent="0" algn="ctr">
                        <a:buNone/>
                      </a:pPr>
                      <a:r>
                        <a:rPr sz="700" b="0" i="0">
                          <a:solidFill>
                            <a:srgbClr val="222222"/>
                          </a:solidFill>
                        </a:rPr>
                        <a:t>BRL-11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Standard service radius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Within a per-store configured radius (for example 10 km or 15 km), outside the 60-Minute radius. Only Standard is offered. The SI team is preparing map-drawn service areas which may replace radius-based resolution.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BR-08 · HP-04 · CT-08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May change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extLst>
                  <a:ext uri="{0D108BD9-81ED-4DB2-BD59-A6C34878D82A}">
                    <a16:rowId xmlns:a16="http://schemas.microsoft.com/office/drawing/2014/main" val="10002"/>
                  </a:ext>
                </a:extLst>
              </a:tr>
              <a:tr h="411480">
                <a:tc>
                  <a:txBody>
                    <a:bodyPr/>
                    <a:lstStyle/>
                    <a:p>
                      <a:pPr marL="0" indent="0" algn="ctr">
                        <a:buNone/>
                      </a:pPr>
                      <a:r>
                        <a:rPr sz="700" b="0" i="0">
                          <a:solidFill>
                            <a:srgbClr val="222222"/>
                          </a:solidFill>
                        </a:rPr>
                        <a:t>BRL-12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Next-day coverage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Beyond the Standard radius, in areas configured by ward. Only Next-day is offered, and the customer chooses a delivery date instead of a time slot. Whether coverage is complete across Vietnam is unresolved (OQ-09).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BR-08 · HP-04 · CT-08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Open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DECEE"/>
                    </a:solidFill>
                  </a:tcPr>
                </a:tc>
                <a:extLst>
                  <a:ext uri="{0D108BD9-81ED-4DB2-BD59-A6C34878D82A}">
                    <a16:rowId xmlns:a16="http://schemas.microsoft.com/office/drawing/2014/main" val="10003"/>
                  </a:ext>
                </a:extLst>
              </a:tr>
              <a:tr h="411480">
                <a:tc>
                  <a:txBody>
                    <a:bodyPr/>
                    <a:lstStyle/>
                    <a:p>
                      <a:pPr marL="0" indent="0" algn="ctr">
                        <a:buNone/>
                      </a:pPr>
                      <a:r>
                        <a:rPr sz="700" b="0" i="0">
                          <a:solidFill>
                            <a:srgbClr val="222222"/>
                          </a:solidFill>
                        </a:rPr>
                        <a:t>BRL-13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Zalo is the default OTP channel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Zalo is offered first because the cost per message is lower than SMS. SMS is always available as the alternative and the customer chooses.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BR-05 · SU-02 · NFR-05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4"/>
                  </a:ext>
                </a:extLst>
              </a:tr>
              <a:tr h="411480">
                <a:tc>
                  <a:txBody>
                    <a:bodyPr/>
                    <a:lstStyle/>
                    <a:p>
                      <a:pPr marL="0" indent="0" algn="ctr">
                        <a:buNone/>
                      </a:pPr>
                      <a:r>
                        <a:rPr sz="700" b="0" i="0">
                          <a:solidFill>
                            <a:srgbClr val="222222"/>
                          </a:solidFill>
                        </a:rPr>
                        <a:t>BRL-14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No automatic channel fallback</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If Zalo delivery fails the system does not silently re-send over SMS. The customer uses Resend; after the countdown expires the channel can be switched manually. Technical confirmation pending (OQ-08).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BR-05 · SU-03 · NFR-05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Proposed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extLst>
                  <a:ext uri="{0D108BD9-81ED-4DB2-BD59-A6C34878D82A}">
                    <a16:rowId xmlns:a16="http://schemas.microsoft.com/office/drawing/2014/main" val="10005"/>
                  </a:ext>
                </a:extLst>
              </a:tr>
              <a:tr h="411480">
                <a:tc>
                  <a:txBody>
                    <a:bodyPr/>
                    <a:lstStyle/>
                    <a:p>
                      <a:pPr marL="0" indent="0" algn="ctr">
                        <a:buNone/>
                      </a:pPr>
                      <a:r>
                        <a:rPr sz="700" b="0" i="0">
                          <a:solidFill>
                            <a:srgbClr val="222222"/>
                          </a:solidFill>
                        </a:rPr>
                        <a:t>BRL-15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Resend countdown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Resend is disabled for a countdown period after each send, to control cost and abuse.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BR-05 · SU-03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6"/>
                  </a:ext>
                </a:extLst>
              </a:tr>
              <a:tr h="411480">
                <a:tc>
                  <a:txBody>
                    <a:bodyPr/>
                    <a:lstStyle/>
                    <a:p>
                      <a:pPr marL="0" indent="0" algn="ctr">
                        <a:buNone/>
                      </a:pPr>
                      <a:r>
                        <a:rPr sz="700" b="0" i="0">
                          <a:solidFill>
                            <a:srgbClr val="222222"/>
                          </a:solidFill>
                        </a:rPr>
                        <a:t>BRL-16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PIN format and role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Six digits, entered twice at creation. Once set, the PIN is the primary re-authentication method whenever biometrics are unavailable.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BR-05 · SU-04 · LI-02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7"/>
                  </a:ext>
                </a:extLst>
              </a:tr>
              <a:tr h="411480">
                <a:tc>
                  <a:txBody>
                    <a:bodyPr/>
                    <a:lstStyle/>
                    <a:p>
                      <a:pPr marL="0" indent="0" algn="ctr">
                        <a:buNone/>
                      </a:pPr>
                      <a:r>
                        <a:rPr sz="700" b="0" i="0">
                          <a:solidFill>
                            <a:srgbClr val="222222"/>
                          </a:solidFill>
                        </a:rPr>
                        <a:t>BRL-17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PIN reset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 forgotten PIN is reset only after OTP re-verification.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BR-05 · LI-05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8"/>
                  </a:ext>
                </a:extLst>
              </a:tr>
              <a:tr h="411480">
                <a:tc>
                  <a:txBody>
                    <a:bodyPr/>
                    <a:lstStyle/>
                    <a:p>
                      <a:pPr marL="0" indent="0" algn="ctr">
                        <a:buNone/>
                      </a:pPr>
                      <a:r>
                        <a:rPr sz="700" b="0" i="0">
                          <a:solidFill>
                            <a:srgbClr val="222222"/>
                          </a:solidFill>
                        </a:rPr>
                        <a:t>BRL-18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60-Minute delivery fee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 fixed fee applies. It is never waived by order value — the only way to remove it is a delivery coupon that covers the full amount.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BR-07 · CT-08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9"/>
                  </a:ext>
                </a:extLst>
              </a:tr>
              <a:tr h="411480">
                <a:tc>
                  <a:txBody>
                    <a:bodyPr/>
                    <a:lstStyle/>
                    <a:p>
                      <a:pPr marL="0" indent="0" algn="ctr">
                        <a:buNone/>
                      </a:pPr>
                      <a:r>
                        <a:rPr sz="700" b="0" i="0">
                          <a:solidFill>
                            <a:srgbClr val="222222"/>
                          </a:solidFill>
                        </a:rPr>
                        <a:t>BRL-19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Standard freeship threshold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Orders of 150,000 ₫ or more qualify for free Standard delivery. Unchanged from the current site.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BR-07 · CT-03 · CT-08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10"/>
                  </a:ext>
                </a:extLst>
              </a:tr>
            </a:tbl>
          </a:graphicData>
        </a:graphic>
      </p:graphicFrame>
      <p:sp>
        <p:nvSpPr>
          <p:cNvPr id="10" name="Rectangle 9"/>
          <p:cNvSpPr/>
          <p:nvPr/>
        </p:nvSpPr>
        <p:spPr>
          <a:xfrm>
            <a:off x="274320" y="502920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 name="TextBox 10"/>
          <p:cNvSpPr txBox="1"/>
          <p:nvPr/>
        </p:nvSpPr>
        <p:spPr>
          <a:xfrm>
            <a:off x="402336" y="5029200"/>
            <a:ext cx="11612880" cy="256032"/>
          </a:xfrm>
          <a:prstGeom prst="rect">
            <a:avLst/>
          </a:prstGeom>
          <a:noFill/>
        </p:spPr>
        <p:txBody>
          <a:bodyPr wrap="square" lIns="0" tIns="0" rIns="0" bIns="0" anchor="ctr">
            <a:spAutoFit/>
          </a:bodyPr>
          <a:lstStyle/>
          <a:p>
            <a:pPr marL="0" indent="0" algn="l">
              <a:buNone/>
            </a:pPr>
            <a:r>
              <a:rPr sz="1000" b="1" i="0">
                <a:solidFill>
                  <a:srgbClr val="1E2F6E"/>
                </a:solidFill>
              </a:rPr>
              <a:t>Service-zone resolution  —  the four outcomes are mutually exclusive</a:t>
            </a:r>
          </a:p>
        </p:txBody>
      </p:sp>
      <p:graphicFrame>
        <p:nvGraphicFramePr>
          <p:cNvPr id="12" name="Table 11"/>
          <p:cNvGraphicFramePr>
            <a:graphicFrameLocks noGrp="1"/>
          </p:cNvGraphicFramePr>
          <p:nvPr/>
        </p:nvGraphicFramePr>
        <p:xfrm>
          <a:off x="274320" y="5303520"/>
          <a:ext cx="11612880" cy="850392"/>
        </p:xfrm>
        <a:graphic>
          <a:graphicData uri="http://schemas.openxmlformats.org/drawingml/2006/table">
            <a:tbl>
              <a:tblPr/>
              <a:tblGrid>
                <a:gridCol w="33832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4297680">
                  <a:extLst>
                    <a:ext uri="{9D8B030D-6E8A-4147-A177-3AD203B41FA5}">
                      <a16:colId xmlns:a16="http://schemas.microsoft.com/office/drawing/2014/main" val="20004"/>
                    </a:ext>
                  </a:extLst>
                </a:gridCol>
              </a:tblGrid>
              <a:tr h="192024">
                <a:tc>
                  <a:txBody>
                    <a:bodyPr/>
                    <a:lstStyle/>
                    <a:p>
                      <a:pPr marL="0" indent="0" algn="ctr">
                        <a:buNone/>
                      </a:pPr>
                      <a:r>
                        <a:rPr sz="700" b="1" i="0">
                          <a:solidFill>
                            <a:srgbClr val="FFFFFF"/>
                          </a:solidFill>
                        </a:rPr>
                        <a:t>Distance from the serving store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60-Minute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Standard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Next-day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Shown on the Homepage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164592">
                <a:tc>
                  <a:txBody>
                    <a:bodyPr/>
                    <a:lstStyle/>
                    <a:p>
                      <a:pPr marL="0" indent="0" algn="l">
                        <a:buNone/>
                      </a:pPr>
                      <a:r>
                        <a:rPr sz="700" b="0" i="0">
                          <a:solidFill>
                            <a:srgbClr val="222222"/>
                          </a:solidFill>
                        </a:rPr>
                        <a:t>Within the 60-Minute radius (3–5 km)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Available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Available (default)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Not offered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Estimated time using Standard, switchable to 60-Minute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164592">
                <a:tc>
                  <a:txBody>
                    <a:bodyPr/>
                    <a:lstStyle/>
                    <a:p>
                      <a:pPr marL="0" indent="0" algn="l">
                        <a:buNone/>
                      </a:pPr>
                      <a:r>
                        <a:rPr sz="700" b="0" i="0">
                          <a:solidFill>
                            <a:srgbClr val="222222"/>
                          </a:solidFill>
                        </a:rPr>
                        <a:t>Outside 60-Minute, within Standard (10–15 km)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Not offered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Available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Not offered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Estimated time using Standard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164592">
                <a:tc>
                  <a:txBody>
                    <a:bodyPr/>
                    <a:lstStyle/>
                    <a:p>
                      <a:pPr marL="0" indent="0" algn="l">
                        <a:buNone/>
                      </a:pPr>
                      <a:r>
                        <a:rPr sz="700" b="0" i="0">
                          <a:solidFill>
                            <a:srgbClr val="222222"/>
                          </a:solidFill>
                        </a:rPr>
                        <a:t>Outside Standard, inside a Next-day area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Not offered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Not offered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Available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Estimated delivery date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164592">
                <a:tc>
                  <a:txBody>
                    <a:bodyPr/>
                    <a:lstStyle/>
                    <a:p>
                      <a:pPr marL="0" indent="0" algn="l">
                        <a:buNone/>
                      </a:pPr>
                      <a:r>
                        <a:rPr sz="700" b="0" i="0">
                          <a:solidFill>
                            <a:srgbClr val="222222"/>
                          </a:solidFill>
                        </a:rPr>
                        <a:t>Outside every configured area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Not offered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Not offered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Not offered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No date and no time — message plus a Change address CTA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4  ·  Decision Matrices  —  Slot Suggestion, Bulky Orders &amp; Fees</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32</a:t>
            </a:r>
          </a:p>
        </p:txBody>
      </p:sp>
      <p:sp>
        <p:nvSpPr>
          <p:cNvPr id="9" name="Rectangle 8"/>
          <p:cNvSpPr/>
          <p:nvPr/>
        </p:nvSpPr>
        <p:spPr>
          <a:xfrm>
            <a:off x="274320" y="64008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402336" y="640080"/>
            <a:ext cx="5760720" cy="256032"/>
          </a:xfrm>
          <a:prstGeom prst="rect">
            <a:avLst/>
          </a:prstGeom>
          <a:noFill/>
        </p:spPr>
        <p:txBody>
          <a:bodyPr wrap="square" lIns="0" tIns="0" rIns="0" bIns="0" anchor="ctr">
            <a:spAutoFit/>
          </a:bodyPr>
          <a:lstStyle/>
          <a:p>
            <a:pPr marL="0" indent="0" algn="l">
              <a:buNone/>
            </a:pPr>
            <a:r>
              <a:rPr sz="1000" b="1" i="0">
                <a:solidFill>
                  <a:srgbClr val="1E2F6E"/>
                </a:solidFill>
              </a:rPr>
              <a:t>Standard delivery — slot suggestion precedence  (BRL-25 · BRL-26)</a:t>
            </a:r>
          </a:p>
        </p:txBody>
      </p:sp>
      <p:graphicFrame>
        <p:nvGraphicFramePr>
          <p:cNvPr id="11" name="Table 10"/>
          <p:cNvGraphicFramePr>
            <a:graphicFrameLocks noGrp="1"/>
          </p:cNvGraphicFramePr>
          <p:nvPr/>
        </p:nvGraphicFramePr>
        <p:xfrm>
          <a:off x="274320" y="914400"/>
          <a:ext cx="5760720" cy="1215840"/>
        </p:xfrm>
        <a:graphic>
          <a:graphicData uri="http://schemas.openxmlformats.org/drawingml/2006/table">
            <a:tbl>
              <a:tblPr/>
              <a:tblGrid>
                <a:gridCol w="237744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tblGrid>
              <a:tr h="210000">
                <a:tc>
                  <a:txBody>
                    <a:bodyPr/>
                    <a:lstStyle/>
                    <a:p>
                      <a:pPr marL="0" indent="0" algn="ctr">
                        <a:buNone/>
                      </a:pPr>
                      <a:r>
                        <a:rPr sz="750" b="1" i="0">
                          <a:solidFill>
                            <a:srgbClr val="FFFFFF"/>
                          </a:solidFill>
                        </a:rPr>
                        <a:t>Case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Order of suggestion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594360">
                <a:tc>
                  <a:txBody>
                    <a:bodyPr/>
                    <a:lstStyle/>
                    <a:p>
                      <a:pPr marL="0" indent="0" algn="l">
                        <a:buNone/>
                      </a:pPr>
                      <a:r>
                        <a:rPr sz="750" b="0" i="0">
                          <a:solidFill>
                            <a:srgbClr val="222222"/>
                          </a:solidFill>
                        </a:rPr>
                        <a:t>The customer did not actively change the delivery slot on the Homepage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1)  Earliest slot at the selected store
2)  Then: the slot the customer usually chooses  &gt;  earliest slot  &gt;  point-earning slot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sz="750" b="0" i="0">
                          <a:solidFill>
                            <a:srgbClr val="222222"/>
                          </a:solidFill>
                        </a:rPr>
                        <a:t>The customer actively selected a delivery slot on the Homepage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The usual slot is shown first  &gt;  usual slot  &gt;  earliest slot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bl>
          </a:graphicData>
        </a:graphic>
      </p:graphicFrame>
      <p:sp>
        <p:nvSpPr>
          <p:cNvPr id="12" name="Rectangle 11"/>
          <p:cNvSpPr/>
          <p:nvPr/>
        </p:nvSpPr>
        <p:spPr>
          <a:xfrm>
            <a:off x="274320" y="219456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 name="TextBox 12"/>
          <p:cNvSpPr txBox="1"/>
          <p:nvPr/>
        </p:nvSpPr>
        <p:spPr>
          <a:xfrm>
            <a:off x="402336" y="2194560"/>
            <a:ext cx="5760720" cy="256032"/>
          </a:xfrm>
          <a:prstGeom prst="rect">
            <a:avLst/>
          </a:prstGeom>
          <a:noFill/>
        </p:spPr>
        <p:txBody>
          <a:bodyPr wrap="square" lIns="0" tIns="0" rIns="0" bIns="0" anchor="ctr">
            <a:spAutoFit/>
          </a:bodyPr>
          <a:lstStyle/>
          <a:p>
            <a:pPr marL="0" indent="0" algn="l">
              <a:buNone/>
            </a:pPr>
            <a:r>
              <a:rPr sz="1000" b="1" i="0">
                <a:solidFill>
                  <a:srgbClr val="1E2F6E"/>
                </a:solidFill>
              </a:rPr>
              <a:t>Definition of “the slot the customer usually chooses”  (BRL-27)</a:t>
            </a:r>
          </a:p>
        </p:txBody>
      </p:sp>
      <p:graphicFrame>
        <p:nvGraphicFramePr>
          <p:cNvPr id="14" name="Table 13"/>
          <p:cNvGraphicFramePr>
            <a:graphicFrameLocks noGrp="1"/>
          </p:cNvGraphicFramePr>
          <p:nvPr/>
        </p:nvGraphicFramePr>
        <p:xfrm>
          <a:off x="274320" y="2468880"/>
          <a:ext cx="5760720" cy="1608408"/>
        </p:xfrm>
        <a:graphic>
          <a:graphicData uri="http://schemas.openxmlformats.org/drawingml/2006/table">
            <a:tbl>
              <a:tblPr/>
              <a:tblGrid>
                <a:gridCol w="173736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tblGrid>
              <a:tr h="210000">
                <a:tc>
                  <a:txBody>
                    <a:bodyPr/>
                    <a:lstStyle/>
                    <a:p>
                      <a:pPr marL="0" indent="0" algn="ctr">
                        <a:buNone/>
                      </a:pPr>
                      <a:r>
                        <a:rPr sz="750" b="1" i="0">
                          <a:solidFill>
                            <a:srgbClr val="FFFFFF"/>
                          </a:solidFill>
                        </a:rPr>
                        <a:t>Aspect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Definition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10000">
                <a:tc>
                  <a:txBody>
                    <a:bodyPr/>
                    <a:lstStyle/>
                    <a:p>
                      <a:pPr marL="0" indent="0" algn="l">
                        <a:buNone/>
                      </a:pPr>
                      <a:r>
                        <a:rPr sz="750" b="1" i="0">
                          <a:solidFill>
                            <a:srgbClr val="222222"/>
                          </a:solidFill>
                        </a:rPr>
                        <a:t>Measurement window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The most recent two months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46888">
                <a:tc>
                  <a:txBody>
                    <a:bodyPr/>
                    <a:lstStyle/>
                    <a:p>
                      <a:pPr marL="0" indent="0" algn="l">
                        <a:buNone/>
                      </a:pPr>
                      <a:r>
                        <a:rPr sz="750" b="1" i="0">
                          <a:solidFill>
                            <a:srgbClr val="222222"/>
                          </a:solidFill>
                        </a:rPr>
                        <a:t>Metric</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The time window with the largest share of the customer's selections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10000">
                <a:tc>
                  <a:txBody>
                    <a:bodyPr/>
                    <a:lstStyle/>
                    <a:p>
                      <a:pPr marL="0" indent="0" algn="l">
                        <a:buNone/>
                      </a:pPr>
                      <a:r>
                        <a:rPr sz="750" b="1" i="0">
                          <a:solidFill>
                            <a:srgbClr val="222222"/>
                          </a:solidFill>
                        </a:rPr>
                        <a:t>Tie-break</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If several windows are equal, the earliest window wins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sz="750" b="1" i="0">
                          <a:solidFill>
                            <a:srgbClr val="222222"/>
                          </a:solidFill>
                        </a:rPr>
                        <a:t>Scope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Calculated across all stores, but separately per delivery address — a customer with several addresses has an independent history for each</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365760">
                <a:tc>
                  <a:txBody>
                    <a:bodyPr/>
                    <a:lstStyle/>
                    <a:p>
                      <a:pPr marL="0" indent="0" algn="l">
                        <a:buNone/>
                      </a:pPr>
                      <a:r>
                        <a:rPr sz="750" b="1" i="0">
                          <a:solidFill>
                            <a:srgbClr val="222222"/>
                          </a:solidFill>
                        </a:rPr>
                        <a:t>Point-earning windows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Fixed low-demand windows, currently 11:00–13:00, 13:00–15:00 and 18:00–20:00. They carry loyalty points and no other benefit.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5" name="Rectangle 14"/>
          <p:cNvSpPr/>
          <p:nvPr/>
        </p:nvSpPr>
        <p:spPr>
          <a:xfrm>
            <a:off x="274320" y="429768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402336" y="4297680"/>
            <a:ext cx="5760720" cy="256032"/>
          </a:xfrm>
          <a:prstGeom prst="rect">
            <a:avLst/>
          </a:prstGeom>
          <a:noFill/>
        </p:spPr>
        <p:txBody>
          <a:bodyPr wrap="square" lIns="0" tIns="0" rIns="0" bIns="0" anchor="ctr">
            <a:spAutoFit/>
          </a:bodyPr>
          <a:lstStyle/>
          <a:p>
            <a:pPr marL="0" indent="0" algn="l">
              <a:buNone/>
            </a:pPr>
            <a:r>
              <a:rPr sz="1000" b="1" i="0">
                <a:solidFill>
                  <a:srgbClr val="1E2F6E"/>
                </a:solidFill>
              </a:rPr>
              <a:t>Comparison line when another store delivers sooner but holds fewer items</a:t>
            </a:r>
          </a:p>
        </p:txBody>
      </p:sp>
      <p:sp>
        <p:nvSpPr>
          <p:cNvPr id="17" name="Rectangle 16"/>
          <p:cNvSpPr/>
          <p:nvPr/>
        </p:nvSpPr>
        <p:spPr>
          <a:xfrm>
            <a:off x="274320" y="4572000"/>
            <a:ext cx="5760720" cy="685800"/>
          </a:xfrm>
          <a:prstGeom prst="rect">
            <a:avLst/>
          </a:prstGeom>
          <a:solidFill>
            <a:srgbClr val="F6F7F8"/>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457200" y="4617720"/>
            <a:ext cx="5394960" cy="594360"/>
          </a:xfrm>
          <a:prstGeom prst="rect">
            <a:avLst/>
          </a:prstGeom>
          <a:noFill/>
        </p:spPr>
        <p:txBody>
          <a:bodyPr wrap="square" lIns="0" tIns="0" rIns="0" bIns="0" anchor="t">
            <a:spAutoFit/>
          </a:bodyPr>
          <a:lstStyle/>
          <a:p>
            <a:pPr marL="0" indent="0" algn="l">
              <a:buNone/>
            </a:pPr>
            <a:r>
              <a:rPr sz="800" b="1" i="0">
                <a:solidFill>
                  <a:srgbClr val="1E2F6E"/>
                </a:solidFill>
              </a:rPr>
              <a:t>NSG:  earliest delivery 15:00–18:00,  10 / 10 products</a:t>
            </a:r>
          </a:p>
          <a:p>
            <a:pPr marL="0" indent="0" algn="l">
              <a:buNone/>
            </a:pPr>
            <a:r>
              <a:rPr sz="800" b="1" i="0">
                <a:solidFill>
                  <a:srgbClr val="1E2F6E"/>
                </a:solidFill>
              </a:rPr>
              <a:t>Tân Bình:  earliest delivery 11:00–13:00,  7 / 10 products</a:t>
            </a:r>
          </a:p>
        </p:txBody>
      </p:sp>
      <p:sp>
        <p:nvSpPr>
          <p:cNvPr id="19" name="TextBox 18"/>
          <p:cNvSpPr txBox="1"/>
          <p:nvPr/>
        </p:nvSpPr>
        <p:spPr>
          <a:xfrm>
            <a:off x="274320" y="5303520"/>
            <a:ext cx="5760720" cy="274320"/>
          </a:xfrm>
          <a:prstGeom prst="rect">
            <a:avLst/>
          </a:prstGeom>
          <a:noFill/>
        </p:spPr>
        <p:txBody>
          <a:bodyPr wrap="square" lIns="0" tIns="0" rIns="0" bIns="0" anchor="t">
            <a:spAutoFit/>
          </a:bodyPr>
          <a:lstStyle/>
          <a:p>
            <a:pPr marL="0" indent="0" algn="l">
              <a:buNone/>
            </a:pPr>
            <a:r>
              <a:rPr sz="700" b="0" i="1">
                <a:solidFill>
                  <a:srgbClr val="6B6800"/>
                </a:solidFill>
              </a:rPr>
              <a:t>⚠  The customer decides. The exact UI for this comparison is not yet designed — carried in Part 6.</a:t>
            </a:r>
          </a:p>
        </p:txBody>
      </p:sp>
      <p:sp>
        <p:nvSpPr>
          <p:cNvPr id="20" name="Rectangle 19"/>
          <p:cNvSpPr/>
          <p:nvPr/>
        </p:nvSpPr>
        <p:spPr>
          <a:xfrm>
            <a:off x="6217920" y="64008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1" name="TextBox 20"/>
          <p:cNvSpPr txBox="1"/>
          <p:nvPr/>
        </p:nvSpPr>
        <p:spPr>
          <a:xfrm>
            <a:off x="6345936" y="640080"/>
            <a:ext cx="5669280" cy="256032"/>
          </a:xfrm>
          <a:prstGeom prst="rect">
            <a:avLst/>
          </a:prstGeom>
          <a:noFill/>
        </p:spPr>
        <p:txBody>
          <a:bodyPr wrap="square" lIns="0" tIns="0" rIns="0" bIns="0" anchor="ctr">
            <a:spAutoFit/>
          </a:bodyPr>
          <a:lstStyle/>
          <a:p>
            <a:pPr marL="0" indent="0" algn="l">
              <a:buNone/>
            </a:pPr>
            <a:r>
              <a:rPr sz="1000" b="1" i="0">
                <a:solidFill>
                  <a:srgbClr val="1E2F6E"/>
                </a:solidFill>
              </a:rPr>
              <a:t>Bulky orders  (BRL-22 · BRL-23)</a:t>
            </a:r>
          </a:p>
        </p:txBody>
      </p:sp>
      <p:graphicFrame>
        <p:nvGraphicFramePr>
          <p:cNvPr id="22" name="Table 21"/>
          <p:cNvGraphicFramePr>
            <a:graphicFrameLocks noGrp="1"/>
          </p:cNvGraphicFramePr>
          <p:nvPr/>
        </p:nvGraphicFramePr>
        <p:xfrm>
          <a:off x="6217920" y="914400"/>
          <a:ext cx="5669280" cy="1818720"/>
        </p:xfrm>
        <a:graphic>
          <a:graphicData uri="http://schemas.openxmlformats.org/drawingml/2006/table">
            <a:tbl>
              <a:tblPr/>
              <a:tblGrid>
                <a:gridCol w="192024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tblGrid>
              <a:tr h="210000">
                <a:tc>
                  <a:txBody>
                    <a:bodyPr/>
                    <a:lstStyle/>
                    <a:p>
                      <a:pPr marL="0" indent="0" algn="ctr">
                        <a:buNone/>
                      </a:pPr>
                      <a:r>
                        <a:rPr sz="750" b="1" i="0">
                          <a:solidFill>
                            <a:srgbClr val="FFFFFF"/>
                          </a:solidFill>
                        </a:rPr>
                        <a:t>Aspect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320040">
                <a:tc>
                  <a:txBody>
                    <a:bodyPr/>
                    <a:lstStyle/>
                    <a:p>
                      <a:pPr marL="0" indent="0" algn="l">
                        <a:buNone/>
                      </a:pPr>
                      <a:r>
                        <a:rPr sz="750" b="1" i="0">
                          <a:solidFill>
                            <a:srgbClr val="222222"/>
                          </a:solidFill>
                        </a:rPr>
                        <a:t>How it is determined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Evaluated on the combination of products selected for checkout, not as a fixed attribute of any single product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320040">
                <a:tc>
                  <a:txBody>
                    <a:bodyPr/>
                    <a:lstStyle/>
                    <a:p>
                      <a:pPr marL="0" indent="0" algn="l">
                        <a:buNone/>
                      </a:pPr>
                      <a:r>
                        <a:rPr sz="750" b="1" i="0">
                          <a:solidFill>
                            <a:srgbClr val="222222"/>
                          </a:solidFill>
                        </a:rPr>
                        <a:t>Condition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Total order weight exceeds 15 kg  OR  the order contains at least one product carrying the “bulky” label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10000">
                <a:tc>
                  <a:txBody>
                    <a:bodyPr/>
                    <a:lstStyle/>
                    <a:p>
                      <a:pPr marL="0" indent="0" algn="l">
                        <a:buNone/>
                      </a:pPr>
                      <a:r>
                        <a:rPr sz="750" b="1" i="0">
                          <a:solidFill>
                            <a:srgbClr val="222222"/>
                          </a:solidFill>
                        </a:rPr>
                        <a:t>Effect on delivery window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Earliest selectable day moves from T+2 to 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10000">
                <a:tc>
                  <a:txBody>
                    <a:bodyPr/>
                    <a:lstStyle/>
                    <a:p>
                      <a:pPr marL="0" indent="0" algn="l">
                        <a:buNone/>
                      </a:pPr>
                      <a:r>
                        <a:rPr sz="750" b="1" i="0">
                          <a:solidFill>
                            <a:srgbClr val="222222"/>
                          </a:solidFill>
                        </a:rPr>
                        <a:t>Effect on pickup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Identical — T+4 instead of 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274320">
                <a:tc>
                  <a:txBody>
                    <a:bodyPr/>
                    <a:lstStyle/>
                    <a:p>
                      <a:pPr marL="0" indent="0" algn="l">
                        <a:buNone/>
                      </a:pPr>
                      <a:r>
                        <a:rPr sz="750" b="1" i="0">
                          <a:solidFill>
                            <a:srgbClr val="222222"/>
                          </a:solidFill>
                        </a:rPr>
                        <a:t>Effect on fee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The delivery fee of the chosen service (Standard or Next-day) applies, plus a bulky surcharge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274320">
                <a:tc>
                  <a:txBody>
                    <a:bodyPr/>
                    <a:lstStyle/>
                    <a:p>
                      <a:pPr marL="0" indent="0" algn="l">
                        <a:buNone/>
                      </a:pPr>
                      <a:r>
                        <a:rPr sz="750" b="1" i="0">
                          <a:solidFill>
                            <a:srgbClr val="222222"/>
                          </a:solidFill>
                        </a:rPr>
                        <a:t>Re-evaluation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Re-run whenever the selected product set changes, so removing an item can return the order to 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bl>
          </a:graphicData>
        </a:graphic>
      </p:graphicFrame>
      <p:sp>
        <p:nvSpPr>
          <p:cNvPr id="23" name="Rectangle 22"/>
          <p:cNvSpPr/>
          <p:nvPr/>
        </p:nvSpPr>
        <p:spPr>
          <a:xfrm>
            <a:off x="6217920" y="292608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6345936" y="2926080"/>
            <a:ext cx="5669280" cy="256032"/>
          </a:xfrm>
          <a:prstGeom prst="rect">
            <a:avLst/>
          </a:prstGeom>
          <a:noFill/>
        </p:spPr>
        <p:txBody>
          <a:bodyPr wrap="square" lIns="0" tIns="0" rIns="0" bIns="0" anchor="ctr">
            <a:spAutoFit/>
          </a:bodyPr>
          <a:lstStyle/>
          <a:p>
            <a:pPr marL="0" indent="0" algn="l">
              <a:buNone/>
            </a:pPr>
            <a:r>
              <a:rPr sz="1000" b="1" i="0">
                <a:solidFill>
                  <a:srgbClr val="1E2F6E"/>
                </a:solidFill>
              </a:rPr>
              <a:t>Delivery fee and freeship  (BRL-18 · BRL-19)</a:t>
            </a:r>
          </a:p>
        </p:txBody>
      </p:sp>
      <p:graphicFrame>
        <p:nvGraphicFramePr>
          <p:cNvPr id="25" name="Table 24"/>
          <p:cNvGraphicFramePr>
            <a:graphicFrameLocks noGrp="1"/>
          </p:cNvGraphicFramePr>
          <p:nvPr/>
        </p:nvGraphicFramePr>
        <p:xfrm>
          <a:off x="6217920" y="3200400"/>
          <a:ext cx="5669280" cy="1343856"/>
        </p:xfrm>
        <a:graphic>
          <a:graphicData uri="http://schemas.openxmlformats.org/drawingml/2006/table">
            <a:tbl>
              <a:tblPr/>
              <a:tblGrid>
                <a:gridCol w="15544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210000">
                <a:tc>
                  <a:txBody>
                    <a:bodyPr/>
                    <a:lstStyle/>
                    <a:p>
                      <a:pPr marL="0" indent="0" algn="ctr">
                        <a:buNone/>
                      </a:pPr>
                      <a:r>
                        <a:rPr sz="750" b="1" i="0">
                          <a:solidFill>
                            <a:srgbClr val="FFFFFF"/>
                          </a:solidFill>
                        </a:rPr>
                        <a:t>Service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Fee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Free when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83464">
                <a:tc>
                  <a:txBody>
                    <a:bodyPr/>
                    <a:lstStyle/>
                    <a:p>
                      <a:pPr marL="0" indent="0" algn="l">
                        <a:buNone/>
                      </a:pPr>
                      <a:r>
                        <a:rPr sz="750" b="0" i="0">
                          <a:solidFill>
                            <a:srgbClr val="222222"/>
                          </a:solidFill>
                        </a:rPr>
                        <a:t>60-Minute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Fixed fee per order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A delivery coupon covers the full fee. Never free on order value alone.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83464">
                <a:tc>
                  <a:txBody>
                    <a:bodyPr/>
                    <a:lstStyle/>
                    <a:p>
                      <a:pPr marL="0" indent="0" algn="l">
                        <a:buNone/>
                      </a:pPr>
                      <a:r>
                        <a:rPr sz="750" b="0" i="0">
                          <a:solidFill>
                            <a:srgbClr val="222222"/>
                          </a:solidFill>
                        </a:rPr>
                        <a:t>Standard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Standard fee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Order value ≥ 150,000 ₫, or a delivery coupon covers it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83464">
                <a:tc>
                  <a:txBody>
                    <a:bodyPr/>
                    <a:lstStyle/>
                    <a:p>
                      <a:pPr marL="0" indent="0" algn="l">
                        <a:buNone/>
                      </a:pPr>
                      <a:r>
                        <a:rPr sz="750" b="0" i="0">
                          <a:solidFill>
                            <a:srgbClr val="222222"/>
                          </a:solidFill>
                        </a:rPr>
                        <a:t>Next-day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Next-day fee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Per commercial configuration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83464">
                <a:tc>
                  <a:txBody>
                    <a:bodyPr/>
                    <a:lstStyle/>
                    <a:p>
                      <a:pPr marL="0" indent="0" algn="l">
                        <a:buNone/>
                      </a:pPr>
                      <a:r>
                        <a:rPr sz="750" b="0" i="0">
                          <a:solidFill>
                            <a:srgbClr val="222222"/>
                          </a:solidFill>
                        </a:rPr>
                        <a:t>Bulky surcharge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Added on top of the service fee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Never waived by the freeship threshold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bl>
          </a:graphicData>
        </a:graphic>
      </p:graphicFrame>
      <p:sp>
        <p:nvSpPr>
          <p:cNvPr id="26" name="Rectangle 25"/>
          <p:cNvSpPr/>
          <p:nvPr/>
        </p:nvSpPr>
        <p:spPr>
          <a:xfrm>
            <a:off x="6217920" y="466344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7" name="TextBox 26"/>
          <p:cNvSpPr txBox="1"/>
          <p:nvPr/>
        </p:nvSpPr>
        <p:spPr>
          <a:xfrm>
            <a:off x="6345936" y="4663440"/>
            <a:ext cx="5669280" cy="256032"/>
          </a:xfrm>
          <a:prstGeom prst="rect">
            <a:avLst/>
          </a:prstGeom>
          <a:noFill/>
        </p:spPr>
        <p:txBody>
          <a:bodyPr wrap="square" lIns="0" tIns="0" rIns="0" bIns="0" anchor="ctr">
            <a:spAutoFit/>
          </a:bodyPr>
          <a:lstStyle/>
          <a:p>
            <a:pPr marL="0" indent="0" algn="l">
              <a:buNone/>
            </a:pPr>
            <a:r>
              <a:rPr sz="1000" b="1" i="0">
                <a:solidFill>
                  <a:srgbClr val="1E2F6E"/>
                </a:solidFill>
              </a:rPr>
              <a:t>Slot capacity  (BRL-20 · BRL-21 · BRL-28)</a:t>
            </a:r>
          </a:p>
        </p:txBody>
      </p:sp>
      <p:graphicFrame>
        <p:nvGraphicFramePr>
          <p:cNvPr id="28" name="Table 27"/>
          <p:cNvGraphicFramePr>
            <a:graphicFrameLocks noGrp="1"/>
          </p:cNvGraphicFramePr>
          <p:nvPr/>
        </p:nvGraphicFramePr>
        <p:xfrm>
          <a:off x="6217920" y="4937760"/>
          <a:ext cx="5669280" cy="1307280"/>
        </p:xfrm>
        <a:graphic>
          <a:graphicData uri="http://schemas.openxmlformats.org/drawingml/2006/table">
            <a:tbl>
              <a:tblPr/>
              <a:tblGrid>
                <a:gridCol w="155448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210000">
                <a:tc>
                  <a:txBody>
                    <a:bodyPr/>
                    <a:lstStyle/>
                    <a:p>
                      <a:pPr marL="0" indent="0" algn="ctr">
                        <a:buNone/>
                      </a:pPr>
                      <a:r>
                        <a:rPr sz="750" b="1" i="0">
                          <a:solidFill>
                            <a:srgbClr val="FFFFFF"/>
                          </a:solidFill>
                        </a:rPr>
                        <a:t>Aspect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502920">
                <a:tc>
                  <a:txBody>
                    <a:bodyPr/>
                    <a:lstStyle/>
                    <a:p>
                      <a:pPr marL="0" indent="0" algn="l">
                        <a:buNone/>
                      </a:pPr>
                      <a:r>
                        <a:rPr sz="750" b="1" i="0">
                          <a:solidFill>
                            <a:srgbClr val="222222"/>
                          </a:solidFill>
                        </a:rPr>
                        <a:t>Warning threshold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When the remaining 60-Minute slots at the selected store reach the threshold — currently 1 — the customer is warned immediately in the Cart. The threshold is a system parameter and can be raised, for example to 5, without any flow change.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320040">
                <a:tc>
                  <a:txBody>
                    <a:bodyPr/>
                    <a:lstStyle/>
                    <a:p>
                      <a:pPr marL="0" indent="0" algn="l">
                        <a:buNone/>
                      </a:pPr>
                      <a:r>
                        <a:rPr sz="750" b="1" i="0">
                          <a:solidFill>
                            <a:srgbClr val="222222"/>
                          </a:solidFill>
                        </a:rPr>
                        <a:t>Re-opening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Capacity is released when an order is marked “ready for delivery”. While capacity remains, the slot re-opens automatically.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74320">
                <a:tc>
                  <a:txBody>
                    <a:bodyPr/>
                    <a:lstStyle/>
                    <a:p>
                      <a:pPr marL="0" indent="0" algn="l">
                        <a:buNone/>
                      </a:pPr>
                      <a:r>
                        <a:rPr sz="750" b="1" i="0">
                          <a:solidFill>
                            <a:srgbClr val="222222"/>
                          </a:solidFill>
                        </a:rPr>
                        <a:t>Display states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Open · Closing soon · Closed — unchanged from the current system, for both Delivery and Pickup.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4  ·  Group C &amp; D  —  Slots, Store Change &amp; Pickup</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33</a:t>
            </a:r>
          </a:p>
        </p:txBody>
      </p:sp>
      <p:graphicFrame>
        <p:nvGraphicFramePr>
          <p:cNvPr id="9" name="Table 8"/>
          <p:cNvGraphicFramePr>
            <a:graphicFrameLocks noGrp="1"/>
          </p:cNvGraphicFramePr>
          <p:nvPr/>
        </p:nvGraphicFramePr>
        <p:xfrm>
          <a:off x="274320" y="685800"/>
          <a:ext cx="11612880" cy="4416552"/>
        </p:xfrm>
        <a:graphic>
          <a:graphicData uri="http://schemas.openxmlformats.org/drawingml/2006/table">
            <a:tbl>
              <a:tblPr/>
              <a:tblGrid>
                <a:gridCol w="7315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685800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tblGrid>
              <a:tr h="192024">
                <a:tc>
                  <a:txBody>
                    <a:bodyPr/>
                    <a:lstStyle/>
                    <a:p>
                      <a:pPr marL="0" indent="0" algn="ctr">
                        <a:buNone/>
                      </a:pPr>
                      <a:r>
                        <a:rPr sz="700" b="1" i="0">
                          <a:solidFill>
                            <a:srgbClr val="FFFFFF"/>
                          </a:solidFill>
                        </a:rPr>
                        <a:t>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Definition / condition / threshold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Traces to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Status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384048">
                <a:tc>
                  <a:txBody>
                    <a:bodyPr/>
                    <a:lstStyle/>
                    <a:p>
                      <a:pPr marL="0" indent="0" algn="ctr">
                        <a:buNone/>
                      </a:pPr>
                      <a:r>
                        <a:rPr sz="700" b="0" i="0">
                          <a:solidFill>
                            <a:srgbClr val="222222"/>
                          </a:solidFill>
                        </a:rPr>
                        <a:t>BRL-20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60-Minute slot warning threshold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When the remaining slots at the selected store reach the configured threshold (currently 1), the customer is warned in the Cart at once. The threshold is a system parameter, not hard-coded logic.</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BR-08 · CT-08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1"/>
                  </a:ext>
                </a:extLst>
              </a:tr>
              <a:tr h="384048">
                <a:tc>
                  <a:txBody>
                    <a:bodyPr/>
                    <a:lstStyle/>
                    <a:p>
                      <a:pPr marL="0" indent="0" algn="ctr">
                        <a:buNone/>
                      </a:pPr>
                      <a:r>
                        <a:rPr sz="700" b="0" i="0">
                          <a:solidFill>
                            <a:srgbClr val="222222"/>
                          </a:solidFill>
                        </a:rPr>
                        <a:t>BRL-21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Slot re-opening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Capacity is released when an order is marked “ready for delivery”. While capacity remains, the slot re-opens automatically.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BR-08 · CT-08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2"/>
                  </a:ext>
                </a:extLst>
              </a:tr>
              <a:tr h="384048">
                <a:tc>
                  <a:txBody>
                    <a:bodyPr/>
                    <a:lstStyle/>
                    <a:p>
                      <a:pPr marL="0" indent="0" algn="ctr">
                        <a:buNone/>
                      </a:pPr>
                      <a:r>
                        <a:rPr sz="700" b="0" i="0">
                          <a:solidFill>
                            <a:srgbClr val="222222"/>
                          </a:solidFill>
                        </a:rPr>
                        <a:t>BRL-22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Bulky order definition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Evaluated on the combination of products selected for checkout: total order weight over 15 kg, or at least one product carrying the “bulky” label. It is not a fixed attribute of an individual product.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BR-12 · CT-05 · CT-08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3"/>
                  </a:ext>
                </a:extLst>
              </a:tr>
              <a:tr h="384048">
                <a:tc>
                  <a:txBody>
                    <a:bodyPr/>
                    <a:lstStyle/>
                    <a:p>
                      <a:pPr marL="0" indent="0" algn="ctr">
                        <a:buNone/>
                      </a:pPr>
                      <a:r>
                        <a:rPr sz="700" b="0" i="0">
                          <a:solidFill>
                            <a:srgbClr val="222222"/>
                          </a:solidFill>
                        </a:rPr>
                        <a:t>BRL-23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Bulky order effect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earliest selectable day moves from T+2 to T+4, for both Delivery and Pickup. The delivery fee of the chosen service applies plus a bulky surcharge, which the freeship threshold does not waive.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BR-12 · CT-08 · CT-09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4"/>
                  </a:ext>
                </a:extLst>
              </a:tr>
              <a:tr h="384048">
                <a:tc>
                  <a:txBody>
                    <a:bodyPr/>
                    <a:lstStyle/>
                    <a:p>
                      <a:pPr marL="0" indent="0" algn="ctr">
                        <a:buNone/>
                      </a:pPr>
                      <a:r>
                        <a:rPr sz="700" b="0" i="0">
                          <a:solidFill>
                            <a:srgbClr val="222222"/>
                          </a:solidFill>
                        </a:rPr>
                        <a:t>BRL-24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Store change inside the Cart requires confirmation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store list is pre-filtered to stores that serve the current order address, so an invalid store cannot be selected. Two impact groups are evaluated — products (price change, out of stock, no longer sold) and service / slot (zone change, slot capacity). No impact → the store changes immediately. Any impact → one consolidated warning listing every effect, then Continue or Cancel. On Continue, unavailable items move to a separate group, re-priced items update, and service and slot are re-suggested.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BR-10 · CT-07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5"/>
                  </a:ext>
                </a:extLst>
              </a:tr>
              <a:tr h="384048">
                <a:tc>
                  <a:txBody>
                    <a:bodyPr/>
                    <a:lstStyle/>
                    <a:p>
                      <a:pPr marL="0" indent="0" algn="ctr">
                        <a:buNone/>
                      </a:pPr>
                      <a:r>
                        <a:rPr sz="700" b="0" i="0">
                          <a:solidFill>
                            <a:srgbClr val="222222"/>
                          </a:solidFill>
                        </a:rPr>
                        <a:t>BRL-25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Slot suggestion — customer did not change the slot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Suggest the earliest slot at the selected store, then apply the precedence: usual slot &gt; earliest slot &gt; point-earning slot.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CT-08 · CT-09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6"/>
                  </a:ext>
                </a:extLst>
              </a:tr>
              <a:tr h="384048">
                <a:tc>
                  <a:txBody>
                    <a:bodyPr/>
                    <a:lstStyle/>
                    <a:p>
                      <a:pPr marL="0" indent="0" algn="ctr">
                        <a:buNone/>
                      </a:pPr>
                      <a:r>
                        <a:rPr sz="700" b="0" i="0">
                          <a:solidFill>
                            <a:srgbClr val="222222"/>
                          </a:solidFill>
                        </a:rPr>
                        <a:t>BRL-26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Slot suggestion — customer chose a slot on the Homepage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Show the usual slot first, then apply the precedence: usual slot &gt; earliest slot.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CT-08 · CT-09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7"/>
                  </a:ext>
                </a:extLst>
              </a:tr>
              <a:tr h="384048">
                <a:tc>
                  <a:txBody>
                    <a:bodyPr/>
                    <a:lstStyle/>
                    <a:p>
                      <a:pPr marL="0" indent="0" algn="ctr">
                        <a:buNone/>
                      </a:pPr>
                      <a:r>
                        <a:rPr sz="700" b="0" i="0">
                          <a:solidFill>
                            <a:srgbClr val="222222"/>
                          </a:solidFill>
                        </a:rPr>
                        <a:t>BRL-27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Definition of the usual slot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window with the largest share of the customer's selections over the last two months; ties resolve to the earliest window. Calculated across all stores but separately per delivery address. Point-earning windows are fixed low-demand windows (11:00–13:00, 13:00–15:00, 18:00–20:00) and carry no benefit other than points.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CT-08 · CT-09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8"/>
                  </a:ext>
                </a:extLst>
              </a:tr>
              <a:tr h="384048">
                <a:tc>
                  <a:txBody>
                    <a:bodyPr/>
                    <a:lstStyle/>
                    <a:p>
                      <a:pPr marL="0" indent="0" algn="ctr">
                        <a:buNone/>
                      </a:pPr>
                      <a:r>
                        <a:rPr sz="700" b="0" i="0">
                          <a:solidFill>
                            <a:srgbClr val="222222"/>
                          </a:solidFill>
                        </a:rPr>
                        <a:t>BRL-28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Pickup slot display and re-opening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Open / Closing soon / Closed, unchanged from the current system. Capacity is held per slot: open while capacity remains, closed when exhausted.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CT-09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9"/>
                  </a:ext>
                </a:extLst>
              </a:tr>
              <a:tr h="384048">
                <a:tc>
                  <a:txBody>
                    <a:bodyPr/>
                    <a:lstStyle/>
                    <a:p>
                      <a:pPr marL="0" indent="0" algn="ctr">
                        <a:buNone/>
                      </a:pPr>
                      <a:r>
                        <a:rPr sz="700" b="0" i="0">
                          <a:solidFill>
                            <a:srgbClr val="222222"/>
                          </a:solidFill>
                        </a:rPr>
                        <a:t>BRL-29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Cash payment at pickup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 change from As-Is, which does not allow cash at pickup. To-Be allows it for selected membership tiers, with Platinum and Diamond first.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CT-09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10"/>
                  </a:ext>
                </a:extLst>
              </a:tr>
              <a:tr h="384048">
                <a:tc>
                  <a:txBody>
                    <a:bodyPr/>
                    <a:lstStyle/>
                    <a:p>
                      <a:pPr marL="0" indent="0" algn="ctr">
                        <a:buNone/>
                      </a:pPr>
                      <a:r>
                        <a:rPr sz="700" b="0" i="0">
                          <a:solidFill>
                            <a:srgbClr val="222222"/>
                          </a:solidFill>
                        </a:rPr>
                        <a:t>BRL-30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collector may differ from the account holder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Pickup captures a collector name and phone independently of the account profile.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CT-02 · CT-09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4  ·  Group D  —  Cart Limits, Promotions &amp; Checkout</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34</a:t>
            </a:r>
          </a:p>
        </p:txBody>
      </p:sp>
      <p:graphicFrame>
        <p:nvGraphicFramePr>
          <p:cNvPr id="9" name="Table 8"/>
          <p:cNvGraphicFramePr>
            <a:graphicFrameLocks noGrp="1"/>
          </p:cNvGraphicFramePr>
          <p:nvPr/>
        </p:nvGraphicFramePr>
        <p:xfrm>
          <a:off x="274320" y="685800"/>
          <a:ext cx="11612880" cy="2569464"/>
        </p:xfrm>
        <a:graphic>
          <a:graphicData uri="http://schemas.openxmlformats.org/drawingml/2006/table">
            <a:tbl>
              <a:tblPr/>
              <a:tblGrid>
                <a:gridCol w="7315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685800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tblGrid>
              <a:tr h="192024">
                <a:tc>
                  <a:txBody>
                    <a:bodyPr/>
                    <a:lstStyle/>
                    <a:p>
                      <a:pPr marL="0" indent="0" algn="ctr">
                        <a:buNone/>
                      </a:pPr>
                      <a:r>
                        <a:rPr sz="700" b="1" i="0">
                          <a:solidFill>
                            <a:srgbClr val="FFFFFF"/>
                          </a:solidFill>
                        </a:rPr>
                        <a:t>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Definition / condition / threshold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Traces to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Status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594360">
                <a:tc>
                  <a:txBody>
                    <a:bodyPr/>
                    <a:lstStyle/>
                    <a:p>
                      <a:pPr marL="0" indent="0" algn="ctr">
                        <a:buNone/>
                      </a:pPr>
                      <a:r>
                        <a:rPr sz="700" b="0" i="0">
                          <a:solidFill>
                            <a:srgbClr val="222222"/>
                          </a:solidFill>
                        </a:rPr>
                        <a:t>BRL-31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Cart limits and order locking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 maximum of 30 items may be selected for one checkout; exceeding it raises an error and returns the customer to selection. Removing a product can be triggered either by swiping the row left or by reducing the quantity to zero; both raise the same confirmation, “Are you sure you want to remove this product?”, with No / Confirm, and only Confirm removes it. Once the customer proceeds to Checkout the order becomes read-only and any change must return to the 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BR-09 · CT-05 · CT-11 · CO-01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1"/>
                  </a:ext>
                </a:extLst>
              </a:tr>
              <a:tr h="594360">
                <a:tc>
                  <a:txBody>
                    <a:bodyPr/>
                    <a:lstStyle/>
                    <a:p>
                      <a:pPr marL="0" indent="0" algn="ctr">
                        <a:buNone/>
                      </a:pPr>
                      <a:r>
                        <a:rPr sz="700" b="0" i="0">
                          <a:solidFill>
                            <a:srgbClr val="222222"/>
                          </a:solidFill>
                        </a:rPr>
                        <a:t>BRL-32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Coupon grouping and automatic application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Coupons apply automatically by default. They are presented in two distinct groups — delivery coupons, and order / product coupons — so the customer can see what each one affects. Coupons applied in the Cart are shown again at Checkout for confirmation. The full catalogue of promotion types to display in the Cart is not yet supplied (OQ-17).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BR-07 · CT-06 · CO-05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Proposed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extLst>
                  <a:ext uri="{0D108BD9-81ED-4DB2-BD59-A6C34878D82A}">
                    <a16:rowId xmlns:a16="http://schemas.microsoft.com/office/drawing/2014/main" val="10002"/>
                  </a:ext>
                </a:extLst>
              </a:tr>
              <a:tr h="594360">
                <a:tc>
                  <a:txBody>
                    <a:bodyPr/>
                    <a:lstStyle/>
                    <a:p>
                      <a:pPr marL="0" indent="0" algn="ctr">
                        <a:buNone/>
                      </a:pPr>
                      <a:r>
                        <a:rPr sz="700" b="0" i="0">
                          <a:solidFill>
                            <a:srgbClr val="222222"/>
                          </a:solidFill>
                        </a:rPr>
                        <a:t>BRL-33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Payment method carry-over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If BNPL was selected in the Cart, BNPL is pre-selected as the payment method at Checkout. Each payment method may carry its own promotion badge.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CT-04 · CO-06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3"/>
                  </a:ext>
                </a:extLst>
              </a:tr>
              <a:tr h="594360">
                <a:tc>
                  <a:txBody>
                    <a:bodyPr/>
                    <a:lstStyle/>
                    <a:p>
                      <a:pPr marL="0" indent="0" algn="ctr">
                        <a:buNone/>
                      </a:pPr>
                      <a:r>
                        <a:rPr sz="700" b="0" i="0">
                          <a:solidFill>
                            <a:srgbClr val="222222"/>
                          </a:solidFill>
                        </a:rPr>
                        <a:t>BRL-34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Composition of the final payment summary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Order value · nylon bag · delivery fee · bulky surcharge · product discount · delivery discount · amount payable · points expected from the order. The summary is recomputed in real time in the Cart, including the status of out-of-stock gift items, and frozen at 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BR-09 · CT-06 · CO-08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4"/>
                  </a:ext>
                </a:extLst>
              </a:tr>
            </a:tbl>
          </a:graphicData>
        </a:graphic>
      </p:graphicFrame>
      <p:sp>
        <p:nvSpPr>
          <p:cNvPr id="10" name="Rectangle 9"/>
          <p:cNvSpPr/>
          <p:nvPr/>
        </p:nvSpPr>
        <p:spPr>
          <a:xfrm>
            <a:off x="274320" y="338328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 name="TextBox 10"/>
          <p:cNvSpPr txBox="1"/>
          <p:nvPr/>
        </p:nvSpPr>
        <p:spPr>
          <a:xfrm>
            <a:off x="402336" y="3383280"/>
            <a:ext cx="5760720" cy="256032"/>
          </a:xfrm>
          <a:prstGeom prst="rect">
            <a:avLst/>
          </a:prstGeom>
          <a:noFill/>
        </p:spPr>
        <p:txBody>
          <a:bodyPr wrap="square" lIns="0" tIns="0" rIns="0" bIns="0" anchor="ctr">
            <a:spAutoFit/>
          </a:bodyPr>
          <a:lstStyle/>
          <a:p>
            <a:pPr marL="0" indent="0" algn="l">
              <a:buNone/>
            </a:pPr>
            <a:r>
              <a:rPr sz="1000" b="1" i="0">
                <a:solidFill>
                  <a:srgbClr val="1E2F6E"/>
                </a:solidFill>
              </a:rPr>
              <a:t>Rules that changed relative to As-Is</a:t>
            </a:r>
          </a:p>
        </p:txBody>
      </p:sp>
      <p:graphicFrame>
        <p:nvGraphicFramePr>
          <p:cNvPr id="12" name="Table 11"/>
          <p:cNvGraphicFramePr>
            <a:graphicFrameLocks noGrp="1"/>
          </p:cNvGraphicFramePr>
          <p:nvPr/>
        </p:nvGraphicFramePr>
        <p:xfrm>
          <a:off x="274320" y="3657600"/>
          <a:ext cx="5760720" cy="1627320"/>
        </p:xfrm>
        <a:graphic>
          <a:graphicData uri="http://schemas.openxmlformats.org/drawingml/2006/table">
            <a:tbl>
              <a:tblPr/>
              <a:tblGrid>
                <a:gridCol w="17373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210000">
                <a:tc>
                  <a:txBody>
                    <a:bodyPr/>
                    <a:lstStyle/>
                    <a:p>
                      <a:pPr marL="0" indent="0" algn="ctr">
                        <a:buNone/>
                      </a:pPr>
                      <a:r>
                        <a:rPr sz="75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As-Is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To-Be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83464">
                <a:tc>
                  <a:txBody>
                    <a:bodyPr/>
                    <a:lstStyle/>
                    <a:p>
                      <a:pPr marL="0" indent="0" algn="l">
                        <a:buNone/>
                      </a:pPr>
                      <a:r>
                        <a:rPr sz="750" b="0" i="0">
                          <a:solidFill>
                            <a:srgbClr val="222222"/>
                          </a:solidFill>
                        </a:rPr>
                        <a:t>BRL-29  Cash at pickup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Not allowed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Allowed for Platinum and Diamond tiers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83464">
                <a:tc>
                  <a:txBody>
                    <a:bodyPr/>
                    <a:lstStyle/>
                    <a:p>
                      <a:pPr marL="0" indent="0" algn="l">
                        <a:buNone/>
                      </a:pPr>
                      <a:r>
                        <a:rPr sz="750" b="0" i="0">
                          <a:solidFill>
                            <a:srgbClr val="222222"/>
                          </a:solidFill>
                        </a:rPr>
                        <a:t>BRL-05  Login point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No clear, consistent gate in the purchase flow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Enforced at exactly two points — Add to Cart and Cart entry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83464">
                <a:tc>
                  <a:txBody>
                    <a:bodyPr/>
                    <a:lstStyle/>
                    <a:p>
                      <a:pPr marL="0" indent="0" algn="l">
                        <a:buNone/>
                      </a:pPr>
                      <a:r>
                        <a:rPr sz="750" b="0" i="0">
                          <a:solidFill>
                            <a:srgbClr val="222222"/>
                          </a:solidFill>
                        </a:rPr>
                        <a:t>BRL-01  Store selection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Established implicitly, late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Explicit and mandatory at Onboarding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83464">
                <a:tc>
                  <a:txBody>
                    <a:bodyPr/>
                    <a:lstStyle/>
                    <a:p>
                      <a:pPr marL="0" indent="0" algn="l">
                        <a:buNone/>
                      </a:pPr>
                      <a:r>
                        <a:rPr sz="750" b="0" i="0">
                          <a:solidFill>
                            <a:srgbClr val="222222"/>
                          </a:solidFill>
                        </a:rPr>
                        <a:t>BRL-12  Service naming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“Nationwide”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“Next-day”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283464">
                <a:tc>
                  <a:txBody>
                    <a:bodyPr/>
                    <a:lstStyle/>
                    <a:p>
                      <a:pPr marL="0" indent="0" algn="l">
                        <a:buNone/>
                      </a:pPr>
                      <a:r>
                        <a:rPr sz="750" b="0" i="0">
                          <a:solidFill>
                            <a:srgbClr val="222222"/>
                          </a:solidFill>
                        </a:rPr>
                        <a:t>BRL-32  Coupons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Presented as one undifferentiated list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Split into delivery coupons and order / product coupons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3" name="Rectangle 12"/>
          <p:cNvSpPr/>
          <p:nvPr/>
        </p:nvSpPr>
        <p:spPr>
          <a:xfrm>
            <a:off x="6217920" y="338328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6345936" y="3383280"/>
            <a:ext cx="5669280" cy="256032"/>
          </a:xfrm>
          <a:prstGeom prst="rect">
            <a:avLst/>
          </a:prstGeom>
          <a:noFill/>
        </p:spPr>
        <p:txBody>
          <a:bodyPr wrap="square" lIns="0" tIns="0" rIns="0" bIns="0" anchor="ctr">
            <a:spAutoFit/>
          </a:bodyPr>
          <a:lstStyle/>
          <a:p>
            <a:pPr marL="0" indent="0" algn="l">
              <a:buNone/>
            </a:pPr>
            <a:r>
              <a:rPr sz="1000" b="1" i="0">
                <a:solidFill>
                  <a:srgbClr val="1E2F6E"/>
                </a:solidFill>
              </a:rPr>
              <a:t>Rules that carry an unresolved dependency</a:t>
            </a:r>
          </a:p>
        </p:txBody>
      </p:sp>
      <p:graphicFrame>
        <p:nvGraphicFramePr>
          <p:cNvPr id="15" name="Table 14"/>
          <p:cNvGraphicFramePr>
            <a:graphicFrameLocks noGrp="1"/>
          </p:cNvGraphicFramePr>
          <p:nvPr/>
        </p:nvGraphicFramePr>
        <p:xfrm>
          <a:off x="6217920" y="3657600"/>
          <a:ext cx="5669280" cy="1691328"/>
        </p:xfrm>
        <a:graphic>
          <a:graphicData uri="http://schemas.openxmlformats.org/drawingml/2006/table">
            <a:tbl>
              <a:tblPr/>
              <a:tblGrid>
                <a:gridCol w="19202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210000">
                <a:tc>
                  <a:txBody>
                    <a:bodyPr/>
                    <a:lstStyle/>
                    <a:p>
                      <a:pPr marL="0" indent="0" algn="ctr">
                        <a:buNone/>
                      </a:pPr>
                      <a:r>
                        <a:rPr sz="75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Depends 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Owner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46888">
                <a:tc>
                  <a:txBody>
                    <a:bodyPr/>
                    <a:lstStyle/>
                    <a:p>
                      <a:pPr marL="0" indent="0" algn="l">
                        <a:buNone/>
                      </a:pPr>
                      <a:r>
                        <a:rPr sz="750" b="0" i="0">
                          <a:solidFill>
                            <a:srgbClr val="222222"/>
                          </a:solidFill>
                        </a:rPr>
                        <a:t>BRL-11  Standard radius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Map-drawn service areas replacing radius resolution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SI team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46888">
                <a:tc>
                  <a:txBody>
                    <a:bodyPr/>
                    <a:lstStyle/>
                    <a:p>
                      <a:pPr marL="0" indent="0" algn="l">
                        <a:buNone/>
                      </a:pPr>
                      <a:r>
                        <a:rPr sz="750" b="0" i="0">
                          <a:solidFill>
                            <a:srgbClr val="222222"/>
                          </a:solidFill>
                        </a:rPr>
                        <a:t>BRL-12  Next-day coverage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Whether coverage is complete or has gaps (OQ-09)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LOTTE MART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46888">
                <a:tc>
                  <a:txBody>
                    <a:bodyPr/>
                    <a:lstStyle/>
                    <a:p>
                      <a:pPr marL="0" indent="0" algn="l">
                        <a:buNone/>
                      </a:pPr>
                      <a:r>
                        <a:rPr sz="750" b="0" i="0">
                          <a:solidFill>
                            <a:srgbClr val="222222"/>
                          </a:solidFill>
                        </a:rPr>
                        <a:t>BRL-14  No auto fallback</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Technical confirmation of Zalo failure handling (OQ-08)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Dev</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46888">
                <a:tc>
                  <a:txBody>
                    <a:bodyPr/>
                    <a:lstStyle/>
                    <a:p>
                      <a:pPr marL="0" indent="0" algn="l">
                        <a:buNone/>
                      </a:pPr>
                      <a:r>
                        <a:rPr sz="750" b="0" i="0">
                          <a:solidFill>
                            <a:srgbClr val="222222"/>
                          </a:solidFill>
                        </a:rPr>
                        <a:t>BRL-32  Coupon grouping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The full promotion-type catalogue (OQ-17)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LOTTE MART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246888">
                <a:tc>
                  <a:txBody>
                    <a:bodyPr/>
                    <a:lstStyle/>
                    <a:p>
                      <a:pPr marL="0" indent="0" algn="l">
                        <a:buNone/>
                      </a:pPr>
                      <a:r>
                        <a:rPr sz="750" b="0" i="0">
                          <a:solidFill>
                            <a:srgbClr val="222222"/>
                          </a:solidFill>
                        </a:rPr>
                        <a:t>NFR-01  Attempt limits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Exact thresholds for OTP and PIN (OQ-03)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Security / Dev</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246888">
                <a:tc>
                  <a:txBody>
                    <a:bodyPr/>
                    <a:lstStyle/>
                    <a:p>
                      <a:pPr marL="0" indent="0" algn="l">
                        <a:buNone/>
                      </a:pPr>
                      <a:r>
                        <a:rPr sz="750" b="0" i="0">
                          <a:solidFill>
                            <a:srgbClr val="222222"/>
                          </a:solidFill>
                        </a:rPr>
                        <a:t>Carton packing fee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Whether a fee applies and how much (OQ-16)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LOTTE MART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bl>
          </a:graphicData>
        </a:graphic>
      </p:graphicFrame>
      <p:sp>
        <p:nvSpPr>
          <p:cNvPr id="16" name="Rectangle 15"/>
          <p:cNvSpPr/>
          <p:nvPr/>
        </p:nvSpPr>
        <p:spPr>
          <a:xfrm>
            <a:off x="274320" y="5486400"/>
            <a:ext cx="11612880" cy="502920"/>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TextBox 16"/>
          <p:cNvSpPr txBox="1"/>
          <p:nvPr/>
        </p:nvSpPr>
        <p:spPr>
          <a:xfrm>
            <a:off x="411480" y="5532120"/>
            <a:ext cx="11338560" cy="411480"/>
          </a:xfrm>
          <a:prstGeom prst="rect">
            <a:avLst/>
          </a:prstGeom>
          <a:noFill/>
        </p:spPr>
        <p:txBody>
          <a:bodyPr wrap="square" lIns="0" tIns="0" rIns="0" bIns="0" anchor="t">
            <a:spAutoFit/>
          </a:bodyPr>
          <a:lstStyle/>
          <a:p>
            <a:pPr marL="0" indent="0" algn="l">
              <a:buNone/>
            </a:pPr>
            <a:r>
              <a:rPr sz="750" b="0" i="0">
                <a:solidFill>
                  <a:srgbClr val="6B6800"/>
                </a:solidFill>
              </a:rPr>
              <a:t>Rule maintenance — when a rule changes, update it here first, then check the traceability matrix in Part 6 for every functional requirement, process flow and screen that cites it. No rule is stated twice in this document; the other parts reference it by ID.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128016" cy="68580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005840" y="2011680"/>
            <a:ext cx="2000000" cy="700000"/>
          </a:xfrm>
          <a:prstGeom prst="rect">
            <a:avLst/>
          </a:prstGeom>
          <a:noFill/>
        </p:spPr>
        <p:txBody>
          <a:bodyPr wrap="square" lIns="0" tIns="0" rIns="0" bIns="0" anchor="ctr">
            <a:spAutoFit/>
          </a:bodyPr>
          <a:lstStyle/>
          <a:p>
            <a:pPr marL="0" indent="0" algn="l">
              <a:buNone/>
            </a:pPr>
            <a:r>
              <a:rPr sz="5400" b="1" i="0">
                <a:solidFill>
                  <a:srgbClr val="C8102E"/>
                </a:solidFill>
              </a:rPr>
              <a:t>PART 5</a:t>
            </a:r>
          </a:p>
        </p:txBody>
      </p:sp>
      <p:sp>
        <p:nvSpPr>
          <p:cNvPr id="5" name="TextBox 4"/>
          <p:cNvSpPr txBox="1"/>
          <p:nvPr/>
        </p:nvSpPr>
        <p:spPr>
          <a:xfrm>
            <a:off x="1005840" y="2743200"/>
            <a:ext cx="9000000" cy="640080"/>
          </a:xfrm>
          <a:prstGeom prst="rect">
            <a:avLst/>
          </a:prstGeom>
          <a:noFill/>
        </p:spPr>
        <p:txBody>
          <a:bodyPr wrap="square" lIns="0" tIns="0" rIns="0" bIns="0" anchor="ctr">
            <a:spAutoFit/>
          </a:bodyPr>
          <a:lstStyle/>
          <a:p>
            <a:pPr marL="0" indent="0" algn="l">
              <a:buNone/>
            </a:pPr>
            <a:r>
              <a:rPr sz="3000" b="1" i="0">
                <a:solidFill>
                  <a:srgbClr val="FFFFFF"/>
                </a:solidFill>
              </a:rPr>
              <a:t>Screen Specifications</a:t>
            </a:r>
          </a:p>
        </p:txBody>
      </p:sp>
      <p:sp>
        <p:nvSpPr>
          <p:cNvPr id="6" name="TextBox 5"/>
          <p:cNvSpPr txBox="1"/>
          <p:nvPr/>
        </p:nvSpPr>
        <p:spPr>
          <a:xfrm>
            <a:off x="1005840" y="3429000"/>
            <a:ext cx="9000000" cy="320040"/>
          </a:xfrm>
          <a:prstGeom prst="rect">
            <a:avLst/>
          </a:prstGeom>
          <a:noFill/>
        </p:spPr>
        <p:txBody>
          <a:bodyPr wrap="square" lIns="0" tIns="0" rIns="0" bIns="0" anchor="ctr">
            <a:spAutoFit/>
          </a:bodyPr>
          <a:lstStyle/>
          <a:p>
            <a:pPr marL="0" indent="0" algn="l">
              <a:buNone/>
            </a:pPr>
            <a:r>
              <a:rPr sz="1200" b="0" i="0">
                <a:solidFill>
                  <a:srgbClr val="AAAACC"/>
                </a:solidFill>
              </a:rPr>
              <a:t>26 screens across five modules — annotated wireframes with behaviour rules</a:t>
            </a:r>
          </a:p>
        </p:txBody>
      </p:sp>
      <p:sp>
        <p:nvSpPr>
          <p:cNvPr id="7" name="Oval 6"/>
          <p:cNvSpPr/>
          <p:nvPr/>
        </p:nvSpPr>
        <p:spPr>
          <a:xfrm>
            <a:off x="1005840" y="420624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 name="TextBox 7"/>
          <p:cNvSpPr txBox="1"/>
          <p:nvPr/>
        </p:nvSpPr>
        <p:spPr>
          <a:xfrm>
            <a:off x="1188720" y="411480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Wireframes define structure, states and behaviour — not visual design</a:t>
            </a:r>
          </a:p>
        </p:txBody>
      </p:sp>
      <p:sp>
        <p:nvSpPr>
          <p:cNvPr id="9" name="Oval 8"/>
          <p:cNvSpPr/>
          <p:nvPr/>
        </p:nvSpPr>
        <p:spPr>
          <a:xfrm>
            <a:off x="1005840" y="452628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1188720" y="443484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Visual design is owned by DE02 Design System and the Figma “Checkout Flow - Review” file</a:t>
            </a:r>
          </a:p>
        </p:txBody>
      </p:sp>
      <p:sp>
        <p:nvSpPr>
          <p:cNvPr id="11" name="Oval 10"/>
          <p:cNvSpPr/>
          <p:nvPr/>
        </p:nvSpPr>
        <p:spPr>
          <a:xfrm>
            <a:off x="1005840" y="484632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1188720" y="475488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Every annotation row cites the functional requirement and the business rule it realises</a:t>
            </a:r>
          </a:p>
        </p:txBody>
      </p:sp>
      <p:sp>
        <p:nvSpPr>
          <p:cNvPr id="13" name="Oval 12"/>
          <p:cNvSpPr/>
          <p:nvPr/>
        </p:nvSpPr>
        <p:spPr>
          <a:xfrm>
            <a:off x="1005840" y="516636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1188720" y="507492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Remarks carry the open issues that still block each screen</a:t>
            </a:r>
          </a:p>
        </p:txBody>
      </p:sp>
      <p:sp>
        <p:nvSpPr>
          <p:cNvPr id="15" name="Rectangle 14"/>
          <p:cNvSpPr/>
          <p:nvPr/>
        </p:nvSpPr>
        <p:spPr>
          <a:xfrm>
            <a:off x="0" y="6473952"/>
            <a:ext cx="12161520" cy="201168"/>
          </a:xfrm>
          <a:prstGeom prst="rect">
            <a:avLst/>
          </a:prstGeom>
          <a:solidFill>
            <a:srgbClr val="16234F"/>
          </a:solidFill>
          <a:ln w="12700">
            <a:solidFill>
              <a:srgbClr val="16234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6E7CA8"/>
                </a:solidFill>
              </a:rPr>
              <a:t>LOTTE MART VN Online Renewal 2026  —  Simplify User Flow  |  CONFIDENTIAL</a:t>
            </a:r>
          </a:p>
        </p:txBody>
      </p:sp>
      <p:sp>
        <p:nvSpPr>
          <p:cNvPr id="17" name="TextBox 16"/>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6E7CA8"/>
                </a:solidFill>
              </a:rPr>
              <a:t>35</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5  ·  Screen Inventory</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36</a:t>
            </a:r>
          </a:p>
        </p:txBody>
      </p:sp>
      <p:sp>
        <p:nvSpPr>
          <p:cNvPr id="9" name="TextBox 8"/>
          <p:cNvSpPr txBox="1"/>
          <p:nvPr/>
        </p:nvSpPr>
        <p:spPr>
          <a:xfrm>
            <a:off x="274320" y="621792"/>
            <a:ext cx="11612880" cy="210000"/>
          </a:xfrm>
          <a:prstGeom prst="rect">
            <a:avLst/>
          </a:prstGeom>
          <a:noFill/>
        </p:spPr>
        <p:txBody>
          <a:bodyPr wrap="square" lIns="0" tIns="0" rIns="0" bIns="0" anchor="ctr">
            <a:spAutoFit/>
          </a:bodyPr>
          <a:lstStyle/>
          <a:p>
            <a:pPr marL="0" indent="0" algn="l">
              <a:buNone/>
            </a:pPr>
            <a:r>
              <a:rPr sz="800" b="0" i="0">
                <a:solidFill>
                  <a:srgbClr val="555555"/>
                </a:solidFill>
              </a:rPr>
              <a:t>Twenty-six screens. “Redesign” means the screen exists today on lottemart.vn and its behaviour changes; “New” means it does not exist in the As-Is flow.</a:t>
            </a:r>
          </a:p>
        </p:txBody>
      </p:sp>
      <p:graphicFrame>
        <p:nvGraphicFramePr>
          <p:cNvPr id="10" name="Table 9"/>
          <p:cNvGraphicFramePr>
            <a:graphicFrameLocks noGrp="1"/>
          </p:cNvGraphicFramePr>
          <p:nvPr/>
        </p:nvGraphicFramePr>
        <p:xfrm>
          <a:off x="274320" y="914400"/>
          <a:ext cx="7360920" cy="3401568"/>
        </p:xfrm>
        <a:graphic>
          <a:graphicData uri="http://schemas.openxmlformats.org/drawingml/2006/table">
            <a:tbl>
              <a:tblPr/>
              <a:tblGrid>
                <a:gridCol w="118872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192024">
                <a:tc>
                  <a:txBody>
                    <a:bodyPr/>
                    <a:lstStyle/>
                    <a:p>
                      <a:pPr marL="0" indent="0" algn="ctr">
                        <a:buNone/>
                      </a:pPr>
                      <a:r>
                        <a:rPr sz="700" b="1" i="0">
                          <a:solidFill>
                            <a:srgbClr val="FFFFFF"/>
                          </a:solidFill>
                        </a:rPr>
                        <a:t>Screen 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Screen name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Mod.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Realises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Type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46888">
                <a:tc>
                  <a:txBody>
                    <a:bodyPr/>
                    <a:lstStyle/>
                    <a:p>
                      <a:pPr marL="0" indent="0" algn="ctr">
                        <a:buNone/>
                      </a:pPr>
                      <a:r>
                        <a:rPr sz="700" b="0" i="0">
                          <a:solidFill>
                            <a:srgbClr val="222222"/>
                          </a:solidFill>
                        </a:rPr>
                        <a:t>SCR-ONB-01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Onboarding — Language selection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ONB</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ONB-01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New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1"/>
                  </a:ext>
                </a:extLst>
              </a:tr>
              <a:tr h="246888">
                <a:tc>
                  <a:txBody>
                    <a:bodyPr/>
                    <a:lstStyle/>
                    <a:p>
                      <a:pPr marL="0" indent="0" algn="ctr">
                        <a:buNone/>
                      </a:pPr>
                      <a:r>
                        <a:rPr sz="700" b="0" i="0">
                          <a:solidFill>
                            <a:srgbClr val="222222"/>
                          </a:solidFill>
                        </a:rPr>
                        <a:t>SCR-ONB-02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Onboarding — System permission requests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ONB</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ONB-02 … 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New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2"/>
                  </a:ext>
                </a:extLst>
              </a:tr>
              <a:tr h="246888">
                <a:tc>
                  <a:txBody>
                    <a:bodyPr/>
                    <a:lstStyle/>
                    <a:p>
                      <a:pPr marL="0" indent="0" algn="ctr">
                        <a:buNone/>
                      </a:pPr>
                      <a:r>
                        <a:rPr sz="700" b="0" i="0">
                          <a:solidFill>
                            <a:srgbClr val="222222"/>
                          </a:solidFill>
                        </a:rPr>
                        <a:t>SCR-ONB-03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Onboarding — Store selection (mandatory)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ONB</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ONB-05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New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3"/>
                  </a:ext>
                </a:extLst>
              </a:tr>
              <a:tr h="246888">
                <a:tc>
                  <a:txBody>
                    <a:bodyPr/>
                    <a:lstStyle/>
                    <a:p>
                      <a:pPr marL="0" indent="0" algn="ctr">
                        <a:buNone/>
                      </a:pPr>
                      <a:r>
                        <a:rPr sz="700" b="0" i="0">
                          <a:solidFill>
                            <a:srgbClr val="222222"/>
                          </a:solidFill>
                        </a:rPr>
                        <a:t>SCR-ONB-04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Onboarding — Introduction carousel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ONB</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ONB-06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New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4"/>
                  </a:ext>
                </a:extLst>
              </a:tr>
              <a:tr h="246888">
                <a:tc>
                  <a:txBody>
                    <a:bodyPr/>
                    <a:lstStyle/>
                    <a:p>
                      <a:pPr marL="0" indent="0" algn="ctr">
                        <a:buNone/>
                      </a:pPr>
                      <a:r>
                        <a:rPr sz="700" b="0" i="0">
                          <a:solidFill>
                            <a:srgbClr val="222222"/>
                          </a:solidFill>
                        </a:rPr>
                        <a:t>SCR-HOM-01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Homepage — Guest, store context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HP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HP-01, HP-04, HP-10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Redesign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EF1F9"/>
                    </a:solidFill>
                  </a:tcPr>
                </a:tc>
                <a:extLst>
                  <a:ext uri="{0D108BD9-81ED-4DB2-BD59-A6C34878D82A}">
                    <a16:rowId xmlns:a16="http://schemas.microsoft.com/office/drawing/2014/main" val="10005"/>
                  </a:ext>
                </a:extLst>
              </a:tr>
              <a:tr h="246888">
                <a:tc>
                  <a:txBody>
                    <a:bodyPr/>
                    <a:lstStyle/>
                    <a:p>
                      <a:pPr marL="0" indent="0" algn="ctr">
                        <a:buNone/>
                      </a:pPr>
                      <a:r>
                        <a:rPr sz="700" b="0" i="0">
                          <a:solidFill>
                            <a:srgbClr val="222222"/>
                          </a:solidFill>
                        </a:rPr>
                        <a:t>SCR-HOM-02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Homepage — Create delivery address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HP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HP-02, HP-03, HP-05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Redesign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EF1F9"/>
                    </a:solidFill>
                  </a:tcPr>
                </a:tc>
                <a:extLst>
                  <a:ext uri="{0D108BD9-81ED-4DB2-BD59-A6C34878D82A}">
                    <a16:rowId xmlns:a16="http://schemas.microsoft.com/office/drawing/2014/main" val="10006"/>
                  </a:ext>
                </a:extLst>
              </a:tr>
              <a:tr h="246888">
                <a:tc>
                  <a:txBody>
                    <a:bodyPr/>
                    <a:lstStyle/>
                    <a:p>
                      <a:pPr marL="0" indent="0" algn="ctr">
                        <a:buNone/>
                      </a:pPr>
                      <a:r>
                        <a:rPr sz="700" b="0" i="0">
                          <a:solidFill>
                            <a:srgbClr val="222222"/>
                          </a:solidFill>
                        </a:rPr>
                        <a:t>SCR-HOM-03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Homepage — Change address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HP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HP-09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New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7"/>
                  </a:ext>
                </a:extLst>
              </a:tr>
              <a:tr h="246888">
                <a:tc>
                  <a:txBody>
                    <a:bodyPr/>
                    <a:lstStyle/>
                    <a:p>
                      <a:pPr marL="0" indent="0" algn="ctr">
                        <a:buNone/>
                      </a:pPr>
                      <a:r>
                        <a:rPr sz="700" b="0" i="0">
                          <a:solidFill>
                            <a:srgbClr val="222222"/>
                          </a:solidFill>
                        </a:rPr>
                        <a:t>SCR-HOM-04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Homepage — Change store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HP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HP-08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Redesign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EF1F9"/>
                    </a:solidFill>
                  </a:tcPr>
                </a:tc>
                <a:extLst>
                  <a:ext uri="{0D108BD9-81ED-4DB2-BD59-A6C34878D82A}">
                    <a16:rowId xmlns:a16="http://schemas.microsoft.com/office/drawing/2014/main" val="10008"/>
                  </a:ext>
                </a:extLst>
              </a:tr>
              <a:tr h="246888">
                <a:tc>
                  <a:txBody>
                    <a:bodyPr/>
                    <a:lstStyle/>
                    <a:p>
                      <a:pPr marL="0" indent="0" algn="ctr">
                        <a:buNone/>
                      </a:pPr>
                      <a:r>
                        <a:rPr sz="700" b="0" i="0">
                          <a:solidFill>
                            <a:srgbClr val="222222"/>
                          </a:solidFill>
                        </a:rPr>
                        <a:t>SCR-HOM-05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Homepage — Delivery estimate states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HP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HP-04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New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9"/>
                  </a:ext>
                </a:extLst>
              </a:tr>
              <a:tr h="246888">
                <a:tc>
                  <a:txBody>
                    <a:bodyPr/>
                    <a:lstStyle/>
                    <a:p>
                      <a:pPr marL="0" indent="0" algn="ctr">
                        <a:buNone/>
                      </a:pPr>
                      <a:r>
                        <a:rPr sz="700" b="0" i="0">
                          <a:solidFill>
                            <a:srgbClr val="222222"/>
                          </a:solidFill>
                        </a:rPr>
                        <a:t>SCR-HOM-06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Homepage — Member state &amp; logout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HP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HP-01, HP-10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Redesign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EF1F9"/>
                    </a:solidFill>
                  </a:tcPr>
                </a:tc>
                <a:extLst>
                  <a:ext uri="{0D108BD9-81ED-4DB2-BD59-A6C34878D82A}">
                    <a16:rowId xmlns:a16="http://schemas.microsoft.com/office/drawing/2014/main" val="10010"/>
                  </a:ext>
                </a:extLst>
              </a:tr>
              <a:tr h="246888">
                <a:tc>
                  <a:txBody>
                    <a:bodyPr/>
                    <a:lstStyle/>
                    <a:p>
                      <a:pPr marL="0" indent="0" algn="ctr">
                        <a:buNone/>
                      </a:pPr>
                      <a:r>
                        <a:rPr sz="700" b="0" i="0">
                          <a:solidFill>
                            <a:srgbClr val="222222"/>
                          </a:solidFill>
                        </a:rPr>
                        <a:t>SCR-AUT-01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Login gate — Register or sign 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HP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HP-06, HP-07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New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11"/>
                  </a:ext>
                </a:extLst>
              </a:tr>
              <a:tr h="246888">
                <a:tc>
                  <a:txBody>
                    <a:bodyPr/>
                    <a:lstStyle/>
                    <a:p>
                      <a:pPr marL="0" indent="0" algn="ctr">
                        <a:buNone/>
                      </a:pPr>
                      <a:r>
                        <a:rPr sz="700" b="0" i="0">
                          <a:solidFill>
                            <a:srgbClr val="222222"/>
                          </a:solidFill>
                        </a:rPr>
                        <a:t>SCR-AUT-02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Signup — Phone number &amp; OTP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SU</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SU-01 … SU-03, SU-09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Redesign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EF1F9"/>
                    </a:solidFill>
                  </a:tcPr>
                </a:tc>
                <a:extLst>
                  <a:ext uri="{0D108BD9-81ED-4DB2-BD59-A6C34878D82A}">
                    <a16:rowId xmlns:a16="http://schemas.microsoft.com/office/drawing/2014/main" val="10012"/>
                  </a:ext>
                </a:extLst>
              </a:tr>
              <a:tr h="246888">
                <a:tc>
                  <a:txBody>
                    <a:bodyPr/>
                    <a:lstStyle/>
                    <a:p>
                      <a:pPr marL="0" indent="0" algn="ctr">
                        <a:buNone/>
                      </a:pPr>
                      <a:r>
                        <a:rPr sz="700" b="0" i="0">
                          <a:solidFill>
                            <a:srgbClr val="222222"/>
                          </a:solidFill>
                        </a:rPr>
                        <a:t>SCR-AUT-03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Signup — Create PIN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SU</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SU-04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New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13"/>
                  </a:ext>
                </a:extLst>
              </a:tr>
            </a:tbl>
          </a:graphicData>
        </a:graphic>
      </p:graphicFrame>
      <p:graphicFrame>
        <p:nvGraphicFramePr>
          <p:cNvPr id="11" name="Table 10"/>
          <p:cNvGraphicFramePr>
            <a:graphicFrameLocks noGrp="1"/>
          </p:cNvGraphicFramePr>
          <p:nvPr/>
        </p:nvGraphicFramePr>
        <p:xfrm>
          <a:off x="6217920" y="914400"/>
          <a:ext cx="7360920" cy="3401568"/>
        </p:xfrm>
        <a:graphic>
          <a:graphicData uri="http://schemas.openxmlformats.org/drawingml/2006/table">
            <a:tbl>
              <a:tblPr/>
              <a:tblGrid>
                <a:gridCol w="118872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192024">
                <a:tc>
                  <a:txBody>
                    <a:bodyPr/>
                    <a:lstStyle/>
                    <a:p>
                      <a:pPr marL="0" indent="0" algn="ctr">
                        <a:buNone/>
                      </a:pPr>
                      <a:r>
                        <a:rPr sz="700" b="1" i="0">
                          <a:solidFill>
                            <a:srgbClr val="FFFFFF"/>
                          </a:solidFill>
                        </a:rPr>
                        <a:t>Screen 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Screen name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Mod.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Realises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Type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46888">
                <a:tc>
                  <a:txBody>
                    <a:bodyPr/>
                    <a:lstStyle/>
                    <a:p>
                      <a:pPr marL="0" indent="0" algn="ctr">
                        <a:buNone/>
                      </a:pPr>
                      <a:r>
                        <a:rPr sz="700" b="0" i="0">
                          <a:solidFill>
                            <a:srgbClr val="222222"/>
                          </a:solidFill>
                        </a:rPr>
                        <a:t>SCR-AUT-04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Signup — Profile &amp; biometric offer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SU</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SU-05 … SU-08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Redesign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EF1F9"/>
                    </a:solidFill>
                  </a:tcPr>
                </a:tc>
                <a:extLst>
                  <a:ext uri="{0D108BD9-81ED-4DB2-BD59-A6C34878D82A}">
                    <a16:rowId xmlns:a16="http://schemas.microsoft.com/office/drawing/2014/main" val="10001"/>
                  </a:ext>
                </a:extLst>
              </a:tr>
              <a:tr h="246888">
                <a:tc>
                  <a:txBody>
                    <a:bodyPr/>
                    <a:lstStyle/>
                    <a:p>
                      <a:pPr marL="0" indent="0" algn="ctr">
                        <a:buNone/>
                      </a:pPr>
                      <a:r>
                        <a:rPr sz="700" b="0" i="0">
                          <a:solidFill>
                            <a:srgbClr val="222222"/>
                          </a:solidFill>
                        </a:rPr>
                        <a:t>SCR-AUT-05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Login — Authenticate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LI</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LI-01 … LI-04, LI-06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Redesign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EF1F9"/>
                    </a:solidFill>
                  </a:tcPr>
                </a:tc>
                <a:extLst>
                  <a:ext uri="{0D108BD9-81ED-4DB2-BD59-A6C34878D82A}">
                    <a16:rowId xmlns:a16="http://schemas.microsoft.com/office/drawing/2014/main" val="10002"/>
                  </a:ext>
                </a:extLst>
              </a:tr>
              <a:tr h="246888">
                <a:tc>
                  <a:txBody>
                    <a:bodyPr/>
                    <a:lstStyle/>
                    <a:p>
                      <a:pPr marL="0" indent="0" algn="ctr">
                        <a:buNone/>
                      </a:pPr>
                      <a:r>
                        <a:rPr sz="700" b="0" i="0">
                          <a:solidFill>
                            <a:srgbClr val="222222"/>
                          </a:solidFill>
                        </a:rPr>
                        <a:t>SCR-AUT-06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Login — Forgot PIN &amp; reset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LI</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LI-05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New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3"/>
                  </a:ext>
                </a:extLst>
              </a:tr>
              <a:tr h="246888">
                <a:tc>
                  <a:txBody>
                    <a:bodyPr/>
                    <a:lstStyle/>
                    <a:p>
                      <a:pPr marL="0" indent="0" algn="ctr">
                        <a:buNone/>
                      </a:pPr>
                      <a:r>
                        <a:rPr sz="700" b="0" i="0">
                          <a:solidFill>
                            <a:srgbClr val="222222"/>
                          </a:solidFill>
                        </a:rPr>
                        <a:t>SCR-CRT-01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Cart — Standard delivery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CT-01 … CT-06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Redesign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EF1F9"/>
                    </a:solidFill>
                  </a:tcPr>
                </a:tc>
                <a:extLst>
                  <a:ext uri="{0D108BD9-81ED-4DB2-BD59-A6C34878D82A}">
                    <a16:rowId xmlns:a16="http://schemas.microsoft.com/office/drawing/2014/main" val="10004"/>
                  </a:ext>
                </a:extLst>
              </a:tr>
              <a:tr h="246888">
                <a:tc>
                  <a:txBody>
                    <a:bodyPr/>
                    <a:lstStyle/>
                    <a:p>
                      <a:pPr marL="0" indent="0" algn="ctr">
                        <a:buNone/>
                      </a:pPr>
                      <a:r>
                        <a:rPr sz="700" b="0" i="0">
                          <a:solidFill>
                            <a:srgbClr val="222222"/>
                          </a:solidFill>
                        </a:rPr>
                        <a:t>SCR-CRT-02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Cart — 60-Minute delivery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CT-08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New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5"/>
                  </a:ext>
                </a:extLst>
              </a:tr>
              <a:tr h="246888">
                <a:tc>
                  <a:txBody>
                    <a:bodyPr/>
                    <a:lstStyle/>
                    <a:p>
                      <a:pPr marL="0" indent="0" algn="ctr">
                        <a:buNone/>
                      </a:pPr>
                      <a:r>
                        <a:rPr sz="700" b="0" i="0">
                          <a:solidFill>
                            <a:srgbClr val="222222"/>
                          </a:solidFill>
                        </a:rPr>
                        <a:t>SCR-CRT-03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Cart — Next-day delivery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CT-08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New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6"/>
                  </a:ext>
                </a:extLst>
              </a:tr>
              <a:tr h="246888">
                <a:tc>
                  <a:txBody>
                    <a:bodyPr/>
                    <a:lstStyle/>
                    <a:p>
                      <a:pPr marL="0" indent="0" algn="ctr">
                        <a:buNone/>
                      </a:pPr>
                      <a:r>
                        <a:rPr sz="700" b="0" i="0">
                          <a:solidFill>
                            <a:srgbClr val="222222"/>
                          </a:solidFill>
                        </a:rPr>
                        <a:t>SCR-CRT-04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Cart — Pickup &amp; locker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CT-02, CT-09, CT-10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Redesign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EF1F9"/>
                    </a:solidFill>
                  </a:tcPr>
                </a:tc>
                <a:extLst>
                  <a:ext uri="{0D108BD9-81ED-4DB2-BD59-A6C34878D82A}">
                    <a16:rowId xmlns:a16="http://schemas.microsoft.com/office/drawing/2014/main" val="10007"/>
                  </a:ext>
                </a:extLst>
              </a:tr>
              <a:tr h="246888">
                <a:tc>
                  <a:txBody>
                    <a:bodyPr/>
                    <a:lstStyle/>
                    <a:p>
                      <a:pPr marL="0" indent="0" algn="ctr">
                        <a:buNone/>
                      </a:pPr>
                      <a:r>
                        <a:rPr sz="700" b="0" i="0">
                          <a:solidFill>
                            <a:srgbClr val="222222"/>
                          </a:solidFill>
                        </a:rPr>
                        <a:t>SCR-CRT-05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Cart — Item limit &amp; remove confirmation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CT-05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New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8"/>
                  </a:ext>
                </a:extLst>
              </a:tr>
              <a:tr h="246888">
                <a:tc>
                  <a:txBody>
                    <a:bodyPr/>
                    <a:lstStyle/>
                    <a:p>
                      <a:pPr marL="0" indent="0" algn="ctr">
                        <a:buNone/>
                      </a:pPr>
                      <a:r>
                        <a:rPr sz="700" b="0" i="0">
                          <a:solidFill>
                            <a:srgbClr val="222222"/>
                          </a:solidFill>
                        </a:rPr>
                        <a:t>SCR-CRT-06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Cart — Store change warning &amp; out of stock</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CT-07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New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9"/>
                  </a:ext>
                </a:extLst>
              </a:tr>
              <a:tr h="246888">
                <a:tc>
                  <a:txBody>
                    <a:bodyPr/>
                    <a:lstStyle/>
                    <a:p>
                      <a:pPr marL="0" indent="0" algn="ctr">
                        <a:buNone/>
                      </a:pPr>
                      <a:r>
                        <a:rPr sz="700" b="0" i="0">
                          <a:solidFill>
                            <a:srgbClr val="222222"/>
                          </a:solidFill>
                        </a:rPr>
                        <a:t>SCR-CRT-07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Cart — Slot and store selection sheets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CT-08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Redesign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EF1F9"/>
                    </a:solidFill>
                  </a:tcPr>
                </a:tc>
                <a:extLst>
                  <a:ext uri="{0D108BD9-81ED-4DB2-BD59-A6C34878D82A}">
                    <a16:rowId xmlns:a16="http://schemas.microsoft.com/office/drawing/2014/main" val="10010"/>
                  </a:ext>
                </a:extLst>
              </a:tr>
              <a:tr h="246888">
                <a:tc>
                  <a:txBody>
                    <a:bodyPr/>
                    <a:lstStyle/>
                    <a:p>
                      <a:pPr marL="0" indent="0" algn="ctr">
                        <a:buNone/>
                      </a:pPr>
                      <a:r>
                        <a:rPr sz="700" b="0" i="0">
                          <a:solidFill>
                            <a:srgbClr val="222222"/>
                          </a:solidFill>
                        </a:rPr>
                        <a:t>SCR-CHK-01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Checkout — Locked order review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CO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CO-01 … CO-03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Redesign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EF1F9"/>
                    </a:solidFill>
                  </a:tcPr>
                </a:tc>
                <a:extLst>
                  <a:ext uri="{0D108BD9-81ED-4DB2-BD59-A6C34878D82A}">
                    <a16:rowId xmlns:a16="http://schemas.microsoft.com/office/drawing/2014/main" val="10011"/>
                  </a:ext>
                </a:extLst>
              </a:tr>
              <a:tr h="246888">
                <a:tc>
                  <a:txBody>
                    <a:bodyPr/>
                    <a:lstStyle/>
                    <a:p>
                      <a:pPr marL="0" indent="0" algn="ctr">
                        <a:buNone/>
                      </a:pPr>
                      <a:r>
                        <a:rPr sz="700" b="0" i="0">
                          <a:solidFill>
                            <a:srgbClr val="222222"/>
                          </a:solidFill>
                        </a:rPr>
                        <a:t>SCR-CHK-02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Checkout — Payment, points &amp; summary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CO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CO-04 … CO-10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Redesign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EF1F9"/>
                    </a:solidFill>
                  </a:tcPr>
                </a:tc>
                <a:extLst>
                  <a:ext uri="{0D108BD9-81ED-4DB2-BD59-A6C34878D82A}">
                    <a16:rowId xmlns:a16="http://schemas.microsoft.com/office/drawing/2014/main" val="10012"/>
                  </a:ext>
                </a:extLst>
              </a:tr>
              <a:tr h="246888">
                <a:tc>
                  <a:txBody>
                    <a:bodyPr/>
                    <a:lstStyle/>
                    <a:p>
                      <a:pPr marL="0" indent="0" algn="ctr">
                        <a:buNone/>
                      </a:pPr>
                      <a:r>
                        <a:rPr sz="700" b="0" i="0">
                          <a:solidFill>
                            <a:srgbClr val="222222"/>
                          </a:solidFill>
                        </a:rPr>
                        <a:t>SCR-CHK-03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Checkout — Pickup variant &amp; compact list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CO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CO-01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New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13"/>
                  </a:ext>
                </a:extLst>
              </a:tr>
            </a:tbl>
          </a:graphicData>
        </a:graphic>
      </p:graphicFrame>
      <p:sp>
        <p:nvSpPr>
          <p:cNvPr id="12" name="Rectangle 11"/>
          <p:cNvSpPr/>
          <p:nvPr/>
        </p:nvSpPr>
        <p:spPr>
          <a:xfrm>
            <a:off x="274320" y="429768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 name="TextBox 12"/>
          <p:cNvSpPr txBox="1"/>
          <p:nvPr/>
        </p:nvSpPr>
        <p:spPr>
          <a:xfrm>
            <a:off x="402336" y="4297680"/>
            <a:ext cx="11612880" cy="256032"/>
          </a:xfrm>
          <a:prstGeom prst="rect">
            <a:avLst/>
          </a:prstGeom>
          <a:noFill/>
        </p:spPr>
        <p:txBody>
          <a:bodyPr wrap="square" lIns="0" tIns="0" rIns="0" bIns="0" anchor="ctr">
            <a:spAutoFit/>
          </a:bodyPr>
          <a:lstStyle/>
          <a:p>
            <a:pPr marL="0" indent="0" algn="l">
              <a:buNone/>
            </a:pPr>
            <a:r>
              <a:rPr sz="1000" b="1" i="0">
                <a:solidFill>
                  <a:srgbClr val="1E2F6E"/>
                </a:solidFill>
              </a:rPr>
              <a:t>Screens per module</a:t>
            </a:r>
          </a:p>
        </p:txBody>
      </p:sp>
      <p:sp>
        <p:nvSpPr>
          <p:cNvPr id="14" name="Rectangle 13"/>
          <p:cNvSpPr/>
          <p:nvPr/>
        </p:nvSpPr>
        <p:spPr>
          <a:xfrm>
            <a:off x="274320" y="4572000"/>
            <a:ext cx="2286000" cy="59436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274320" y="4572000"/>
            <a:ext cx="36576" cy="59436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411480" y="4572000"/>
            <a:ext cx="640080" cy="594360"/>
          </a:xfrm>
          <a:prstGeom prst="rect">
            <a:avLst/>
          </a:prstGeom>
          <a:noFill/>
        </p:spPr>
        <p:txBody>
          <a:bodyPr wrap="square" lIns="0" tIns="0" rIns="0" bIns="0" anchor="ctr">
            <a:spAutoFit/>
          </a:bodyPr>
          <a:lstStyle/>
          <a:p>
            <a:pPr marL="0" indent="0" algn="l">
              <a:buNone/>
            </a:pPr>
            <a:r>
              <a:rPr sz="1800" b="1" i="0">
                <a:solidFill>
                  <a:srgbClr val="1E2F6E"/>
                </a:solidFill>
              </a:rPr>
              <a:t>4</a:t>
            </a:r>
          </a:p>
        </p:txBody>
      </p:sp>
      <p:sp>
        <p:nvSpPr>
          <p:cNvPr id="17" name="TextBox 16"/>
          <p:cNvSpPr txBox="1"/>
          <p:nvPr/>
        </p:nvSpPr>
        <p:spPr>
          <a:xfrm>
            <a:off x="1097280" y="4617720"/>
            <a:ext cx="1371600" cy="182880"/>
          </a:xfrm>
          <a:prstGeom prst="rect">
            <a:avLst/>
          </a:prstGeom>
          <a:noFill/>
        </p:spPr>
        <p:txBody>
          <a:bodyPr wrap="square" lIns="0" tIns="0" rIns="0" bIns="0" anchor="ctr">
            <a:spAutoFit/>
          </a:bodyPr>
          <a:lstStyle/>
          <a:p>
            <a:pPr marL="0" indent="0" algn="l">
              <a:buNone/>
            </a:pPr>
            <a:r>
              <a:rPr sz="800" b="1" i="0">
                <a:solidFill>
                  <a:srgbClr val="1E2F6E"/>
                </a:solidFill>
              </a:rPr>
              <a:t>ONB</a:t>
            </a:r>
          </a:p>
        </p:txBody>
      </p:sp>
      <p:sp>
        <p:nvSpPr>
          <p:cNvPr id="18" name="TextBox 17"/>
          <p:cNvSpPr txBox="1"/>
          <p:nvPr/>
        </p:nvSpPr>
        <p:spPr>
          <a:xfrm>
            <a:off x="1097280" y="4800600"/>
            <a:ext cx="1371600" cy="182880"/>
          </a:xfrm>
          <a:prstGeom prst="rect">
            <a:avLst/>
          </a:prstGeom>
          <a:noFill/>
        </p:spPr>
        <p:txBody>
          <a:bodyPr wrap="square" lIns="0" tIns="0" rIns="0" bIns="0" anchor="ctr">
            <a:spAutoFit/>
          </a:bodyPr>
          <a:lstStyle/>
          <a:p>
            <a:pPr marL="0" indent="0" algn="l">
              <a:buNone/>
            </a:pPr>
            <a:r>
              <a:rPr sz="700" b="0" i="0">
                <a:solidFill>
                  <a:srgbClr val="555555"/>
                </a:solidFill>
              </a:rPr>
              <a:t>Onboarding</a:t>
            </a:r>
          </a:p>
        </p:txBody>
      </p:sp>
      <p:sp>
        <p:nvSpPr>
          <p:cNvPr id="19" name="Rectangle 18"/>
          <p:cNvSpPr/>
          <p:nvPr/>
        </p:nvSpPr>
        <p:spPr>
          <a:xfrm>
            <a:off x="2651760" y="4572000"/>
            <a:ext cx="2286000" cy="59436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Rectangle 19"/>
          <p:cNvSpPr/>
          <p:nvPr/>
        </p:nvSpPr>
        <p:spPr>
          <a:xfrm>
            <a:off x="2651760" y="4572000"/>
            <a:ext cx="36576" cy="59436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1" name="TextBox 20"/>
          <p:cNvSpPr txBox="1"/>
          <p:nvPr/>
        </p:nvSpPr>
        <p:spPr>
          <a:xfrm>
            <a:off x="2788920" y="4572000"/>
            <a:ext cx="640080" cy="594360"/>
          </a:xfrm>
          <a:prstGeom prst="rect">
            <a:avLst/>
          </a:prstGeom>
          <a:noFill/>
        </p:spPr>
        <p:txBody>
          <a:bodyPr wrap="square" lIns="0" tIns="0" rIns="0" bIns="0" anchor="ctr">
            <a:spAutoFit/>
          </a:bodyPr>
          <a:lstStyle/>
          <a:p>
            <a:pPr marL="0" indent="0" algn="l">
              <a:buNone/>
            </a:pPr>
            <a:r>
              <a:rPr sz="1800" b="1" i="0">
                <a:solidFill>
                  <a:srgbClr val="C8102E"/>
                </a:solidFill>
              </a:rPr>
              <a:t>6</a:t>
            </a:r>
          </a:p>
        </p:txBody>
      </p:sp>
      <p:sp>
        <p:nvSpPr>
          <p:cNvPr id="22" name="TextBox 21"/>
          <p:cNvSpPr txBox="1"/>
          <p:nvPr/>
        </p:nvSpPr>
        <p:spPr>
          <a:xfrm>
            <a:off x="3474720" y="4617720"/>
            <a:ext cx="1371600" cy="182880"/>
          </a:xfrm>
          <a:prstGeom prst="rect">
            <a:avLst/>
          </a:prstGeom>
          <a:noFill/>
        </p:spPr>
        <p:txBody>
          <a:bodyPr wrap="square" lIns="0" tIns="0" rIns="0" bIns="0" anchor="ctr">
            <a:spAutoFit/>
          </a:bodyPr>
          <a:lstStyle/>
          <a:p>
            <a:pPr marL="0" indent="0" algn="l">
              <a:buNone/>
            </a:pPr>
            <a:r>
              <a:rPr sz="800" b="1" i="0">
                <a:solidFill>
                  <a:srgbClr val="C8102E"/>
                </a:solidFill>
              </a:rPr>
              <a:t>HP</a:t>
            </a:r>
          </a:p>
        </p:txBody>
      </p:sp>
      <p:sp>
        <p:nvSpPr>
          <p:cNvPr id="23" name="TextBox 22"/>
          <p:cNvSpPr txBox="1"/>
          <p:nvPr/>
        </p:nvSpPr>
        <p:spPr>
          <a:xfrm>
            <a:off x="3474720" y="4800600"/>
            <a:ext cx="1371600" cy="182880"/>
          </a:xfrm>
          <a:prstGeom prst="rect">
            <a:avLst/>
          </a:prstGeom>
          <a:noFill/>
        </p:spPr>
        <p:txBody>
          <a:bodyPr wrap="square" lIns="0" tIns="0" rIns="0" bIns="0" anchor="ctr">
            <a:spAutoFit/>
          </a:bodyPr>
          <a:lstStyle/>
          <a:p>
            <a:pPr marL="0" indent="0" algn="l">
              <a:buNone/>
            </a:pPr>
            <a:r>
              <a:rPr sz="700" b="0" i="0">
                <a:solidFill>
                  <a:srgbClr val="555555"/>
                </a:solidFill>
              </a:rPr>
              <a:t>Homepage</a:t>
            </a:r>
          </a:p>
        </p:txBody>
      </p:sp>
      <p:sp>
        <p:nvSpPr>
          <p:cNvPr id="24" name="Rectangle 23"/>
          <p:cNvSpPr/>
          <p:nvPr/>
        </p:nvSpPr>
        <p:spPr>
          <a:xfrm>
            <a:off x="5029200" y="4572000"/>
            <a:ext cx="2286000" cy="59436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5" name="Rectangle 24"/>
          <p:cNvSpPr/>
          <p:nvPr/>
        </p:nvSpPr>
        <p:spPr>
          <a:xfrm>
            <a:off x="5029200" y="4572000"/>
            <a:ext cx="36576" cy="594360"/>
          </a:xfrm>
          <a:prstGeom prst="rect">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6" name="TextBox 25"/>
          <p:cNvSpPr txBox="1"/>
          <p:nvPr/>
        </p:nvSpPr>
        <p:spPr>
          <a:xfrm>
            <a:off x="5166360" y="4572000"/>
            <a:ext cx="640080" cy="594360"/>
          </a:xfrm>
          <a:prstGeom prst="rect">
            <a:avLst/>
          </a:prstGeom>
          <a:noFill/>
        </p:spPr>
        <p:txBody>
          <a:bodyPr wrap="square" lIns="0" tIns="0" rIns="0" bIns="0" anchor="ctr">
            <a:spAutoFit/>
          </a:bodyPr>
          <a:lstStyle/>
          <a:p>
            <a:pPr marL="0" indent="0" algn="l">
              <a:buNone/>
            </a:pPr>
            <a:r>
              <a:rPr sz="1800" b="1" i="0">
                <a:solidFill>
                  <a:srgbClr val="3D5298"/>
                </a:solidFill>
              </a:rPr>
              <a:t>6</a:t>
            </a:r>
          </a:p>
        </p:txBody>
      </p:sp>
      <p:sp>
        <p:nvSpPr>
          <p:cNvPr id="27" name="TextBox 26"/>
          <p:cNvSpPr txBox="1"/>
          <p:nvPr/>
        </p:nvSpPr>
        <p:spPr>
          <a:xfrm>
            <a:off x="5852160" y="4617720"/>
            <a:ext cx="1371600" cy="182880"/>
          </a:xfrm>
          <a:prstGeom prst="rect">
            <a:avLst/>
          </a:prstGeom>
          <a:noFill/>
        </p:spPr>
        <p:txBody>
          <a:bodyPr wrap="square" lIns="0" tIns="0" rIns="0" bIns="0" anchor="ctr">
            <a:spAutoFit/>
          </a:bodyPr>
          <a:lstStyle/>
          <a:p>
            <a:pPr marL="0" indent="0" algn="l">
              <a:buNone/>
            </a:pPr>
            <a:r>
              <a:rPr sz="800" b="1" i="0">
                <a:solidFill>
                  <a:srgbClr val="3D5298"/>
                </a:solidFill>
              </a:rPr>
              <a:t>SU / LI</a:t>
            </a:r>
          </a:p>
        </p:txBody>
      </p:sp>
      <p:sp>
        <p:nvSpPr>
          <p:cNvPr id="28" name="TextBox 27"/>
          <p:cNvSpPr txBox="1"/>
          <p:nvPr/>
        </p:nvSpPr>
        <p:spPr>
          <a:xfrm>
            <a:off x="5852160" y="4800600"/>
            <a:ext cx="1371600" cy="182880"/>
          </a:xfrm>
          <a:prstGeom prst="rect">
            <a:avLst/>
          </a:prstGeom>
          <a:noFill/>
        </p:spPr>
        <p:txBody>
          <a:bodyPr wrap="square" lIns="0" tIns="0" rIns="0" bIns="0" anchor="ctr">
            <a:spAutoFit/>
          </a:bodyPr>
          <a:lstStyle/>
          <a:p>
            <a:pPr marL="0" indent="0" algn="l">
              <a:buNone/>
            </a:pPr>
            <a:r>
              <a:rPr sz="700" b="0" i="0">
                <a:solidFill>
                  <a:srgbClr val="555555"/>
                </a:solidFill>
              </a:rPr>
              <a:t>Signup &amp; Login</a:t>
            </a:r>
          </a:p>
        </p:txBody>
      </p:sp>
      <p:sp>
        <p:nvSpPr>
          <p:cNvPr id="29" name="Rectangle 28"/>
          <p:cNvSpPr/>
          <p:nvPr/>
        </p:nvSpPr>
        <p:spPr>
          <a:xfrm>
            <a:off x="7406640" y="4572000"/>
            <a:ext cx="2286000" cy="59436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0" name="Rectangle 29"/>
          <p:cNvSpPr/>
          <p:nvPr/>
        </p:nvSpPr>
        <p:spPr>
          <a:xfrm>
            <a:off x="7406640" y="4572000"/>
            <a:ext cx="36576" cy="594360"/>
          </a:xfrm>
          <a:prstGeom prst="rect">
            <a:avLst/>
          </a:prstGeom>
          <a:solidFill>
            <a:srgbClr val="6B6800"/>
          </a:solidFill>
          <a:ln w="12700">
            <a:solidFill>
              <a:srgbClr val="6B6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TextBox 30"/>
          <p:cNvSpPr txBox="1"/>
          <p:nvPr/>
        </p:nvSpPr>
        <p:spPr>
          <a:xfrm>
            <a:off x="7543800" y="4572000"/>
            <a:ext cx="640080" cy="594360"/>
          </a:xfrm>
          <a:prstGeom prst="rect">
            <a:avLst/>
          </a:prstGeom>
          <a:noFill/>
        </p:spPr>
        <p:txBody>
          <a:bodyPr wrap="square" lIns="0" tIns="0" rIns="0" bIns="0" anchor="ctr">
            <a:spAutoFit/>
          </a:bodyPr>
          <a:lstStyle/>
          <a:p>
            <a:pPr marL="0" indent="0" algn="l">
              <a:buNone/>
            </a:pPr>
            <a:r>
              <a:rPr sz="1800" b="1" i="0">
                <a:solidFill>
                  <a:srgbClr val="6B6800"/>
                </a:solidFill>
              </a:rPr>
              <a:t>7</a:t>
            </a:r>
          </a:p>
        </p:txBody>
      </p:sp>
      <p:sp>
        <p:nvSpPr>
          <p:cNvPr id="32" name="TextBox 31"/>
          <p:cNvSpPr txBox="1"/>
          <p:nvPr/>
        </p:nvSpPr>
        <p:spPr>
          <a:xfrm>
            <a:off x="8229600" y="4617720"/>
            <a:ext cx="1371600" cy="182880"/>
          </a:xfrm>
          <a:prstGeom prst="rect">
            <a:avLst/>
          </a:prstGeom>
          <a:noFill/>
        </p:spPr>
        <p:txBody>
          <a:bodyPr wrap="square" lIns="0" tIns="0" rIns="0" bIns="0" anchor="ctr">
            <a:spAutoFit/>
          </a:bodyPr>
          <a:lstStyle/>
          <a:p>
            <a:pPr marL="0" indent="0" algn="l">
              <a:buNone/>
            </a:pPr>
            <a:r>
              <a:rPr sz="800" b="1" i="0">
                <a:solidFill>
                  <a:srgbClr val="6B6800"/>
                </a:solidFill>
              </a:rPr>
              <a:t>CT</a:t>
            </a:r>
          </a:p>
        </p:txBody>
      </p:sp>
      <p:sp>
        <p:nvSpPr>
          <p:cNvPr id="33" name="TextBox 32"/>
          <p:cNvSpPr txBox="1"/>
          <p:nvPr/>
        </p:nvSpPr>
        <p:spPr>
          <a:xfrm>
            <a:off x="8229600" y="4800600"/>
            <a:ext cx="1371600" cy="182880"/>
          </a:xfrm>
          <a:prstGeom prst="rect">
            <a:avLst/>
          </a:prstGeom>
          <a:noFill/>
        </p:spPr>
        <p:txBody>
          <a:bodyPr wrap="square" lIns="0" tIns="0" rIns="0" bIns="0" anchor="ctr">
            <a:spAutoFit/>
          </a:bodyPr>
          <a:lstStyle/>
          <a:p>
            <a:pPr marL="0" indent="0" algn="l">
              <a:buNone/>
            </a:pPr>
            <a:r>
              <a:rPr sz="700" b="0" i="0">
                <a:solidFill>
                  <a:srgbClr val="555555"/>
                </a:solidFill>
              </a:rPr>
              <a:t>Cart</a:t>
            </a:r>
          </a:p>
        </p:txBody>
      </p:sp>
      <p:sp>
        <p:nvSpPr>
          <p:cNvPr id="34" name="Rectangle 33"/>
          <p:cNvSpPr/>
          <p:nvPr/>
        </p:nvSpPr>
        <p:spPr>
          <a:xfrm>
            <a:off x="9784080" y="4572000"/>
            <a:ext cx="2286000" cy="59436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5" name="Rectangle 34"/>
          <p:cNvSpPr/>
          <p:nvPr/>
        </p:nvSpPr>
        <p:spPr>
          <a:xfrm>
            <a:off x="9784080" y="4572000"/>
            <a:ext cx="36576" cy="594360"/>
          </a:xfrm>
          <a:prstGeom prst="rect">
            <a:avLst/>
          </a:prstGeom>
          <a:solidFill>
            <a:srgbClr val="1B7F4B"/>
          </a:solidFill>
          <a:ln w="1270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TextBox 35"/>
          <p:cNvSpPr txBox="1"/>
          <p:nvPr/>
        </p:nvSpPr>
        <p:spPr>
          <a:xfrm>
            <a:off x="9921240" y="4572000"/>
            <a:ext cx="640080" cy="594360"/>
          </a:xfrm>
          <a:prstGeom prst="rect">
            <a:avLst/>
          </a:prstGeom>
          <a:noFill/>
        </p:spPr>
        <p:txBody>
          <a:bodyPr wrap="square" lIns="0" tIns="0" rIns="0" bIns="0" anchor="ctr">
            <a:spAutoFit/>
          </a:bodyPr>
          <a:lstStyle/>
          <a:p>
            <a:pPr marL="0" indent="0" algn="l">
              <a:buNone/>
            </a:pPr>
            <a:r>
              <a:rPr sz="1800" b="1" i="0">
                <a:solidFill>
                  <a:srgbClr val="1B7F4B"/>
                </a:solidFill>
              </a:rPr>
              <a:t>3</a:t>
            </a:r>
          </a:p>
        </p:txBody>
      </p:sp>
      <p:sp>
        <p:nvSpPr>
          <p:cNvPr id="37" name="TextBox 36"/>
          <p:cNvSpPr txBox="1"/>
          <p:nvPr/>
        </p:nvSpPr>
        <p:spPr>
          <a:xfrm>
            <a:off x="10607040" y="4617720"/>
            <a:ext cx="1371600" cy="182880"/>
          </a:xfrm>
          <a:prstGeom prst="rect">
            <a:avLst/>
          </a:prstGeom>
          <a:noFill/>
        </p:spPr>
        <p:txBody>
          <a:bodyPr wrap="square" lIns="0" tIns="0" rIns="0" bIns="0" anchor="ctr">
            <a:spAutoFit/>
          </a:bodyPr>
          <a:lstStyle/>
          <a:p>
            <a:pPr marL="0" indent="0" algn="l">
              <a:buNone/>
            </a:pPr>
            <a:r>
              <a:rPr sz="800" b="1" i="0">
                <a:solidFill>
                  <a:srgbClr val="1B7F4B"/>
                </a:solidFill>
              </a:rPr>
              <a:t>CO</a:t>
            </a:r>
          </a:p>
        </p:txBody>
      </p:sp>
      <p:sp>
        <p:nvSpPr>
          <p:cNvPr id="38" name="TextBox 37"/>
          <p:cNvSpPr txBox="1"/>
          <p:nvPr/>
        </p:nvSpPr>
        <p:spPr>
          <a:xfrm>
            <a:off x="10607040" y="4800600"/>
            <a:ext cx="1371600" cy="182880"/>
          </a:xfrm>
          <a:prstGeom prst="rect">
            <a:avLst/>
          </a:prstGeom>
          <a:noFill/>
        </p:spPr>
        <p:txBody>
          <a:bodyPr wrap="square" lIns="0" tIns="0" rIns="0" bIns="0" anchor="ctr">
            <a:spAutoFit/>
          </a:bodyPr>
          <a:lstStyle/>
          <a:p>
            <a:pPr marL="0" indent="0" algn="l">
              <a:buNone/>
            </a:pPr>
            <a:r>
              <a:rPr sz="700" b="0" i="0">
                <a:solidFill>
                  <a:srgbClr val="555555"/>
                </a:solidFill>
              </a:rPr>
              <a:t>Checkout</a:t>
            </a:r>
          </a:p>
        </p:txBody>
      </p:sp>
      <p:sp>
        <p:nvSpPr>
          <p:cNvPr id="39" name="Rectangle 38"/>
          <p:cNvSpPr/>
          <p:nvPr/>
        </p:nvSpPr>
        <p:spPr>
          <a:xfrm>
            <a:off x="274320" y="5303520"/>
            <a:ext cx="11612880" cy="594360"/>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TextBox 39"/>
          <p:cNvSpPr txBox="1"/>
          <p:nvPr/>
        </p:nvSpPr>
        <p:spPr>
          <a:xfrm>
            <a:off x="411480" y="5349240"/>
            <a:ext cx="11338560" cy="502920"/>
          </a:xfrm>
          <a:prstGeom prst="rect">
            <a:avLst/>
          </a:prstGeom>
          <a:noFill/>
        </p:spPr>
        <p:txBody>
          <a:bodyPr wrap="square" lIns="0" tIns="0" rIns="0" bIns="0" anchor="t">
            <a:spAutoFit/>
          </a:bodyPr>
          <a:lstStyle/>
          <a:p>
            <a:pPr marL="0" indent="0" algn="l">
              <a:buNone/>
            </a:pPr>
            <a:r>
              <a:rPr sz="750" b="0" i="0">
                <a:solidFill>
                  <a:srgbClr val="6B6800"/>
                </a:solidFill>
              </a:rPr>
              <a:t>Not specified here — product listing, product detail, search, category, order tracking and account management. They are outside the Simplify User Flow scope (Part 1) and are covered by the Homepage, Product Card and Order Management deliverables.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Onboarding (ONB)</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ONB-01</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SCR-ONB-01</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Onboarding — Language Selection</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37</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State 1  ·  First launch, no selection</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594360" y="998018"/>
            <a:ext cx="2011679" cy="38516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Rounded Rectangle 27"/>
          <p:cNvSpPr/>
          <p:nvPr/>
        </p:nvSpPr>
        <p:spPr>
          <a:xfrm>
            <a:off x="1329293" y="1362803"/>
            <a:ext cx="536448" cy="536448"/>
          </a:xfrm>
          <a:prstGeom prst="roundRect">
            <a:avLst>
              <a:gd name="adj" fmla="val 28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9" name="TextBox 28"/>
          <p:cNvSpPr txBox="1"/>
          <p:nvPr/>
        </p:nvSpPr>
        <p:spPr>
          <a:xfrm>
            <a:off x="1329293" y="1362803"/>
            <a:ext cx="536448" cy="536448"/>
          </a:xfrm>
          <a:prstGeom prst="rect">
            <a:avLst/>
          </a:prstGeom>
          <a:noFill/>
        </p:spPr>
        <p:txBody>
          <a:bodyPr wrap="square" lIns="0" tIns="0" rIns="0" bIns="0" anchor="ctr">
            <a:spAutoFit/>
          </a:bodyPr>
          <a:lstStyle/>
          <a:p>
            <a:pPr marL="0" indent="0" algn="ctr">
              <a:buNone/>
            </a:pPr>
            <a:r>
              <a:rPr sz="2200" b="1" i="0">
                <a:solidFill>
                  <a:srgbClr val="FFFFFF"/>
                </a:solidFill>
              </a:rPr>
              <a:t>L</a:t>
            </a:r>
          </a:p>
        </p:txBody>
      </p:sp>
      <p:sp>
        <p:nvSpPr>
          <p:cNvPr id="30" name="TextBox 29"/>
          <p:cNvSpPr txBox="1"/>
          <p:nvPr/>
        </p:nvSpPr>
        <p:spPr>
          <a:xfrm>
            <a:off x="755294" y="2005534"/>
            <a:ext cx="1689811" cy="184404"/>
          </a:xfrm>
          <a:prstGeom prst="rect">
            <a:avLst/>
          </a:prstGeom>
          <a:noFill/>
        </p:spPr>
        <p:txBody>
          <a:bodyPr wrap="square" lIns="0" tIns="0" rIns="0" bIns="0" anchor="ctr">
            <a:spAutoFit/>
          </a:bodyPr>
          <a:lstStyle/>
          <a:p>
            <a:pPr marL="0" indent="0" algn="ctr">
              <a:buNone/>
            </a:pPr>
            <a:r>
              <a:rPr sz="1100" b="1" i="0">
                <a:solidFill>
                  <a:srgbClr val="3A3A3A"/>
                </a:solidFill>
              </a:rPr>
              <a:t>LOTTE MART</a:t>
            </a:r>
          </a:p>
        </p:txBody>
      </p:sp>
      <p:sp>
        <p:nvSpPr>
          <p:cNvPr id="31" name="TextBox 30"/>
          <p:cNvSpPr txBox="1"/>
          <p:nvPr/>
        </p:nvSpPr>
        <p:spPr>
          <a:xfrm>
            <a:off x="755294" y="2199662"/>
            <a:ext cx="1689811" cy="96560"/>
          </a:xfrm>
          <a:prstGeom prst="rect">
            <a:avLst/>
          </a:prstGeom>
          <a:noFill/>
        </p:spPr>
        <p:txBody>
          <a:bodyPr wrap="square" lIns="0" tIns="0" rIns="0" bIns="0" anchor="ctr">
            <a:spAutoFit/>
          </a:bodyPr>
          <a:lstStyle/>
          <a:p>
            <a:pPr marL="0" indent="0" algn="ctr">
              <a:buNone/>
            </a:pPr>
            <a:r>
              <a:rPr sz="560" b="0" i="0">
                <a:solidFill>
                  <a:srgbClr val="888888"/>
                </a:solidFill>
              </a:rPr>
              <a:t>Chọn ngôn ngữ  ·  Select language  ·  언어 선택</a:t>
            </a:r>
          </a:p>
        </p:txBody>
      </p:sp>
      <p:sp>
        <p:nvSpPr>
          <p:cNvPr id="32" name="Rounded Rectangle 31"/>
          <p:cNvSpPr/>
          <p:nvPr/>
        </p:nvSpPr>
        <p:spPr>
          <a:xfrm>
            <a:off x="723107" y="2489343"/>
            <a:ext cx="1754184" cy="289681"/>
          </a:xfrm>
          <a:prstGeom prst="roundRect">
            <a:avLst>
              <a:gd name="adj" fmla="val 14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3" name="TextBox 32"/>
          <p:cNvSpPr txBox="1"/>
          <p:nvPr/>
        </p:nvSpPr>
        <p:spPr>
          <a:xfrm>
            <a:off x="830397" y="2537959"/>
            <a:ext cx="1072896" cy="117348"/>
          </a:xfrm>
          <a:prstGeom prst="rect">
            <a:avLst/>
          </a:prstGeom>
          <a:noFill/>
        </p:spPr>
        <p:txBody>
          <a:bodyPr wrap="square" lIns="0" tIns="0" rIns="0" bIns="0" anchor="ctr">
            <a:spAutoFit/>
          </a:bodyPr>
          <a:lstStyle/>
          <a:p>
            <a:pPr marL="0" indent="0" algn="l">
              <a:buNone/>
            </a:pPr>
            <a:r>
              <a:rPr sz="700" b="1" i="0">
                <a:solidFill>
                  <a:srgbClr val="C8102E"/>
                </a:solidFill>
              </a:rPr>
              <a:t>Tiếng Việt</a:t>
            </a:r>
          </a:p>
        </p:txBody>
      </p:sp>
      <p:sp>
        <p:nvSpPr>
          <p:cNvPr id="34" name="TextBox 33"/>
          <p:cNvSpPr txBox="1"/>
          <p:nvPr/>
        </p:nvSpPr>
        <p:spPr>
          <a:xfrm>
            <a:off x="830397" y="2638879"/>
            <a:ext cx="1072896" cy="87172"/>
          </a:xfrm>
          <a:prstGeom prst="rect">
            <a:avLst/>
          </a:prstGeom>
          <a:noFill/>
        </p:spPr>
        <p:txBody>
          <a:bodyPr wrap="square" lIns="0" tIns="0" rIns="0" bIns="0" anchor="ctr">
            <a:spAutoFit/>
          </a:bodyPr>
          <a:lstStyle/>
          <a:p>
            <a:pPr marL="0" indent="0" algn="l">
              <a:buNone/>
            </a:pPr>
            <a:r>
              <a:rPr sz="520" b="0" i="0">
                <a:solidFill>
                  <a:srgbClr val="888888"/>
                </a:solidFill>
              </a:rPr>
              <a:t>Vietnamese</a:t>
            </a:r>
          </a:p>
        </p:txBody>
      </p:sp>
      <p:sp>
        <p:nvSpPr>
          <p:cNvPr id="35" name="Rounded Rectangle 34"/>
          <p:cNvSpPr/>
          <p:nvPr/>
        </p:nvSpPr>
        <p:spPr>
          <a:xfrm>
            <a:off x="2257348" y="2591269"/>
            <a:ext cx="85831" cy="85831"/>
          </a:xfrm>
          <a:prstGeom prst="roundRect">
            <a:avLst>
              <a:gd name="adj" fmla="val 5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TextBox 35"/>
          <p:cNvSpPr txBox="1"/>
          <p:nvPr/>
        </p:nvSpPr>
        <p:spPr>
          <a:xfrm>
            <a:off x="2257348" y="2591269"/>
            <a:ext cx="85831" cy="85831"/>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37" name="Rounded Rectangle 36"/>
          <p:cNvSpPr/>
          <p:nvPr/>
        </p:nvSpPr>
        <p:spPr>
          <a:xfrm>
            <a:off x="723107" y="2843399"/>
            <a:ext cx="1754184" cy="289681"/>
          </a:xfrm>
          <a:prstGeom prst="roundRect">
            <a:avLst>
              <a:gd name="adj" fmla="val 14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TextBox 37"/>
          <p:cNvSpPr txBox="1"/>
          <p:nvPr/>
        </p:nvSpPr>
        <p:spPr>
          <a:xfrm>
            <a:off x="830397" y="2892015"/>
            <a:ext cx="1072896" cy="117348"/>
          </a:xfrm>
          <a:prstGeom prst="rect">
            <a:avLst/>
          </a:prstGeom>
          <a:noFill/>
        </p:spPr>
        <p:txBody>
          <a:bodyPr wrap="square" lIns="0" tIns="0" rIns="0" bIns="0" anchor="ctr">
            <a:spAutoFit/>
          </a:bodyPr>
          <a:lstStyle/>
          <a:p>
            <a:pPr marL="0" indent="0" algn="l">
              <a:buNone/>
            </a:pPr>
            <a:r>
              <a:rPr sz="700" b="1" i="0">
                <a:solidFill>
                  <a:srgbClr val="222222"/>
                </a:solidFill>
              </a:rPr>
              <a:t>English</a:t>
            </a:r>
          </a:p>
        </p:txBody>
      </p:sp>
      <p:sp>
        <p:nvSpPr>
          <p:cNvPr id="39" name="TextBox 38"/>
          <p:cNvSpPr txBox="1"/>
          <p:nvPr/>
        </p:nvSpPr>
        <p:spPr>
          <a:xfrm>
            <a:off x="830397" y="2992935"/>
            <a:ext cx="1072896" cy="87172"/>
          </a:xfrm>
          <a:prstGeom prst="rect">
            <a:avLst/>
          </a:prstGeom>
          <a:noFill/>
        </p:spPr>
        <p:txBody>
          <a:bodyPr wrap="square" lIns="0" tIns="0" rIns="0" bIns="0" anchor="ctr">
            <a:spAutoFit/>
          </a:bodyPr>
          <a:lstStyle/>
          <a:p>
            <a:pPr marL="0" indent="0" algn="l">
              <a:buNone/>
            </a:pPr>
            <a:r>
              <a:rPr sz="520" b="0" i="0">
                <a:solidFill>
                  <a:srgbClr val="888888"/>
                </a:solidFill>
              </a:rPr>
              <a:t>English</a:t>
            </a:r>
          </a:p>
        </p:txBody>
      </p:sp>
      <p:sp>
        <p:nvSpPr>
          <p:cNvPr id="40" name="Rounded Rectangle 39"/>
          <p:cNvSpPr/>
          <p:nvPr/>
        </p:nvSpPr>
        <p:spPr>
          <a:xfrm>
            <a:off x="2257348" y="2945324"/>
            <a:ext cx="85831" cy="85831"/>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Rounded Rectangle 40"/>
          <p:cNvSpPr/>
          <p:nvPr/>
        </p:nvSpPr>
        <p:spPr>
          <a:xfrm>
            <a:off x="723107" y="3197455"/>
            <a:ext cx="1754184" cy="289681"/>
          </a:xfrm>
          <a:prstGeom prst="roundRect">
            <a:avLst>
              <a:gd name="adj" fmla="val 14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TextBox 41"/>
          <p:cNvSpPr txBox="1"/>
          <p:nvPr/>
        </p:nvSpPr>
        <p:spPr>
          <a:xfrm>
            <a:off x="830397" y="3246071"/>
            <a:ext cx="1072896" cy="117348"/>
          </a:xfrm>
          <a:prstGeom prst="rect">
            <a:avLst/>
          </a:prstGeom>
          <a:noFill/>
        </p:spPr>
        <p:txBody>
          <a:bodyPr wrap="square" lIns="0" tIns="0" rIns="0" bIns="0" anchor="ctr">
            <a:spAutoFit/>
          </a:bodyPr>
          <a:lstStyle/>
          <a:p>
            <a:pPr marL="0" indent="0" algn="l">
              <a:buNone/>
            </a:pPr>
            <a:r>
              <a:rPr sz="700" b="1" i="0">
                <a:solidFill>
                  <a:srgbClr val="222222"/>
                </a:solidFill>
              </a:rPr>
              <a:t>한국어</a:t>
            </a:r>
          </a:p>
        </p:txBody>
      </p:sp>
      <p:sp>
        <p:nvSpPr>
          <p:cNvPr id="43" name="TextBox 42"/>
          <p:cNvSpPr txBox="1"/>
          <p:nvPr/>
        </p:nvSpPr>
        <p:spPr>
          <a:xfrm>
            <a:off x="830397" y="3346990"/>
            <a:ext cx="1072896" cy="87172"/>
          </a:xfrm>
          <a:prstGeom prst="rect">
            <a:avLst/>
          </a:prstGeom>
          <a:noFill/>
        </p:spPr>
        <p:txBody>
          <a:bodyPr wrap="square" lIns="0" tIns="0" rIns="0" bIns="0" anchor="ctr">
            <a:spAutoFit/>
          </a:bodyPr>
          <a:lstStyle/>
          <a:p>
            <a:pPr marL="0" indent="0" algn="l">
              <a:buNone/>
            </a:pPr>
            <a:r>
              <a:rPr sz="520" b="0" i="0">
                <a:solidFill>
                  <a:srgbClr val="888888"/>
                </a:solidFill>
              </a:rPr>
              <a:t>Korean</a:t>
            </a:r>
          </a:p>
        </p:txBody>
      </p:sp>
      <p:sp>
        <p:nvSpPr>
          <p:cNvPr id="44" name="Rounded Rectangle 43"/>
          <p:cNvSpPr/>
          <p:nvPr/>
        </p:nvSpPr>
        <p:spPr>
          <a:xfrm>
            <a:off x="2257348" y="3299380"/>
            <a:ext cx="85831" cy="85831"/>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Rounded Rectangle 44"/>
          <p:cNvSpPr/>
          <p:nvPr/>
        </p:nvSpPr>
        <p:spPr>
          <a:xfrm>
            <a:off x="723107" y="3669529"/>
            <a:ext cx="1754184" cy="236037"/>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TextBox 45"/>
          <p:cNvSpPr txBox="1"/>
          <p:nvPr/>
        </p:nvSpPr>
        <p:spPr>
          <a:xfrm>
            <a:off x="723107" y="3669529"/>
            <a:ext cx="1754184" cy="236037"/>
          </a:xfrm>
          <a:prstGeom prst="rect">
            <a:avLst/>
          </a:prstGeom>
          <a:noFill/>
        </p:spPr>
        <p:txBody>
          <a:bodyPr wrap="square" lIns="0" tIns="0" rIns="0" bIns="0" anchor="ctr">
            <a:spAutoFit/>
          </a:bodyPr>
          <a:lstStyle/>
          <a:p>
            <a:pPr marL="0" indent="0" algn="ctr">
              <a:buNone/>
            </a:pPr>
            <a:r>
              <a:rPr sz="750" b="1" i="0">
                <a:solidFill>
                  <a:srgbClr val="FFFFFF"/>
                </a:solidFill>
              </a:rPr>
              <a:t>Tiếp tục  /  Continue</a:t>
            </a:r>
          </a:p>
        </p:txBody>
      </p:sp>
      <p:sp>
        <p:nvSpPr>
          <p:cNvPr id="47" name="TextBox 46"/>
          <p:cNvSpPr txBox="1"/>
          <p:nvPr/>
        </p:nvSpPr>
        <p:spPr>
          <a:xfrm>
            <a:off x="723107" y="3980669"/>
            <a:ext cx="1754184" cy="160934"/>
          </a:xfrm>
          <a:prstGeom prst="rect">
            <a:avLst/>
          </a:prstGeom>
          <a:noFill/>
        </p:spPr>
        <p:txBody>
          <a:bodyPr wrap="square" lIns="0" tIns="0" rIns="0" bIns="0" anchor="ctr">
            <a:spAutoFit/>
          </a:bodyPr>
          <a:lstStyle/>
          <a:p>
            <a:pPr marL="0" indent="0" algn="ctr">
              <a:buNone/>
            </a:pPr>
            <a:r>
              <a:rPr sz="520" b="0" i="0">
                <a:solidFill>
                  <a:srgbClr val="888888"/>
                </a:solidFill>
              </a:rPr>
              <a:t>You can change the language at any time in Settings.</a:t>
            </a:r>
          </a:p>
        </p:txBody>
      </p:sp>
      <p:sp>
        <p:nvSpPr>
          <p:cNvPr id="48" name="Oval 47"/>
          <p:cNvSpPr/>
          <p:nvPr/>
        </p:nvSpPr>
        <p:spPr>
          <a:xfrm>
            <a:off x="379781" y="2027998"/>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9" name="TextBox 48"/>
          <p:cNvSpPr txBox="1"/>
          <p:nvPr/>
        </p:nvSpPr>
        <p:spPr>
          <a:xfrm>
            <a:off x="379781" y="2027998"/>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50" name="Oval 49"/>
          <p:cNvSpPr/>
          <p:nvPr/>
        </p:nvSpPr>
        <p:spPr>
          <a:xfrm>
            <a:off x="379781" y="2553717"/>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1" name="TextBox 50"/>
          <p:cNvSpPr txBox="1"/>
          <p:nvPr/>
        </p:nvSpPr>
        <p:spPr>
          <a:xfrm>
            <a:off x="379781" y="2553717"/>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52" name="Oval 51"/>
          <p:cNvSpPr/>
          <p:nvPr/>
        </p:nvSpPr>
        <p:spPr>
          <a:xfrm>
            <a:off x="379781" y="3669529"/>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TextBox 52"/>
          <p:cNvSpPr txBox="1"/>
          <p:nvPr/>
        </p:nvSpPr>
        <p:spPr>
          <a:xfrm>
            <a:off x="379781" y="3669529"/>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54" name="Oval 53"/>
          <p:cNvSpPr/>
          <p:nvPr/>
        </p:nvSpPr>
        <p:spPr>
          <a:xfrm>
            <a:off x="379781" y="3980669"/>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5" name="TextBox 54"/>
          <p:cNvSpPr txBox="1"/>
          <p:nvPr/>
        </p:nvSpPr>
        <p:spPr>
          <a:xfrm>
            <a:off x="379781" y="3980669"/>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56" name="Rounded Rectangle 55"/>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7" name="Rectangle 56"/>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8" name="TextBox 57"/>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State 2  ·  Language switched to English</a:t>
            </a:r>
          </a:p>
        </p:txBody>
      </p:sp>
      <p:sp>
        <p:nvSpPr>
          <p:cNvPr id="59" name="TextBox 58"/>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60" name="TextBox 59"/>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61" name="Rectangle 60"/>
          <p:cNvSpPr/>
          <p:nvPr/>
        </p:nvSpPr>
        <p:spPr>
          <a:xfrm>
            <a:off x="3383280" y="998018"/>
            <a:ext cx="2011679" cy="38516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2" name="Rounded Rectangle 61"/>
          <p:cNvSpPr/>
          <p:nvPr/>
        </p:nvSpPr>
        <p:spPr>
          <a:xfrm>
            <a:off x="4118213" y="1362803"/>
            <a:ext cx="536448" cy="536448"/>
          </a:xfrm>
          <a:prstGeom prst="roundRect">
            <a:avLst>
              <a:gd name="adj" fmla="val 28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3" name="TextBox 62"/>
          <p:cNvSpPr txBox="1"/>
          <p:nvPr/>
        </p:nvSpPr>
        <p:spPr>
          <a:xfrm>
            <a:off x="4118213" y="1362803"/>
            <a:ext cx="536448" cy="536448"/>
          </a:xfrm>
          <a:prstGeom prst="rect">
            <a:avLst/>
          </a:prstGeom>
          <a:noFill/>
        </p:spPr>
        <p:txBody>
          <a:bodyPr wrap="square" lIns="0" tIns="0" rIns="0" bIns="0" anchor="ctr">
            <a:spAutoFit/>
          </a:bodyPr>
          <a:lstStyle/>
          <a:p>
            <a:pPr marL="0" indent="0" algn="ctr">
              <a:buNone/>
            </a:pPr>
            <a:r>
              <a:rPr sz="2200" b="1" i="0">
                <a:solidFill>
                  <a:srgbClr val="FFFFFF"/>
                </a:solidFill>
              </a:rPr>
              <a:t>L</a:t>
            </a:r>
          </a:p>
        </p:txBody>
      </p:sp>
      <p:sp>
        <p:nvSpPr>
          <p:cNvPr id="64" name="TextBox 63"/>
          <p:cNvSpPr txBox="1"/>
          <p:nvPr/>
        </p:nvSpPr>
        <p:spPr>
          <a:xfrm>
            <a:off x="3544214" y="2005534"/>
            <a:ext cx="1689811" cy="184404"/>
          </a:xfrm>
          <a:prstGeom prst="rect">
            <a:avLst/>
          </a:prstGeom>
          <a:noFill/>
        </p:spPr>
        <p:txBody>
          <a:bodyPr wrap="square" lIns="0" tIns="0" rIns="0" bIns="0" anchor="ctr">
            <a:spAutoFit/>
          </a:bodyPr>
          <a:lstStyle/>
          <a:p>
            <a:pPr marL="0" indent="0" algn="ctr">
              <a:buNone/>
            </a:pPr>
            <a:r>
              <a:rPr sz="1100" b="1" i="0">
                <a:solidFill>
                  <a:srgbClr val="3A3A3A"/>
                </a:solidFill>
              </a:rPr>
              <a:t>LOTTE MART</a:t>
            </a:r>
          </a:p>
        </p:txBody>
      </p:sp>
      <p:sp>
        <p:nvSpPr>
          <p:cNvPr id="65" name="TextBox 64"/>
          <p:cNvSpPr txBox="1"/>
          <p:nvPr/>
        </p:nvSpPr>
        <p:spPr>
          <a:xfrm>
            <a:off x="3544214" y="2199662"/>
            <a:ext cx="1689811" cy="96560"/>
          </a:xfrm>
          <a:prstGeom prst="rect">
            <a:avLst/>
          </a:prstGeom>
          <a:noFill/>
        </p:spPr>
        <p:txBody>
          <a:bodyPr wrap="square" lIns="0" tIns="0" rIns="0" bIns="0" anchor="ctr">
            <a:spAutoFit/>
          </a:bodyPr>
          <a:lstStyle/>
          <a:p>
            <a:pPr marL="0" indent="0" algn="ctr">
              <a:buNone/>
            </a:pPr>
            <a:r>
              <a:rPr sz="560" b="0" i="0">
                <a:solidFill>
                  <a:srgbClr val="888888"/>
                </a:solidFill>
              </a:rPr>
              <a:t>Select your language</a:t>
            </a:r>
          </a:p>
        </p:txBody>
      </p:sp>
      <p:sp>
        <p:nvSpPr>
          <p:cNvPr id="66" name="Rounded Rectangle 65"/>
          <p:cNvSpPr/>
          <p:nvPr/>
        </p:nvSpPr>
        <p:spPr>
          <a:xfrm>
            <a:off x="3512027" y="2489343"/>
            <a:ext cx="1754184" cy="289681"/>
          </a:xfrm>
          <a:prstGeom prst="roundRect">
            <a:avLst>
              <a:gd name="adj" fmla="val 14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7" name="TextBox 66"/>
          <p:cNvSpPr txBox="1"/>
          <p:nvPr/>
        </p:nvSpPr>
        <p:spPr>
          <a:xfrm>
            <a:off x="3619317" y="2537959"/>
            <a:ext cx="1072896" cy="117348"/>
          </a:xfrm>
          <a:prstGeom prst="rect">
            <a:avLst/>
          </a:prstGeom>
          <a:noFill/>
        </p:spPr>
        <p:txBody>
          <a:bodyPr wrap="square" lIns="0" tIns="0" rIns="0" bIns="0" anchor="ctr">
            <a:spAutoFit/>
          </a:bodyPr>
          <a:lstStyle/>
          <a:p>
            <a:pPr marL="0" indent="0" algn="l">
              <a:buNone/>
            </a:pPr>
            <a:r>
              <a:rPr sz="700" b="1" i="0">
                <a:solidFill>
                  <a:srgbClr val="222222"/>
                </a:solidFill>
              </a:rPr>
              <a:t>Tiếng Việt</a:t>
            </a:r>
          </a:p>
        </p:txBody>
      </p:sp>
      <p:sp>
        <p:nvSpPr>
          <p:cNvPr id="68" name="TextBox 67"/>
          <p:cNvSpPr txBox="1"/>
          <p:nvPr/>
        </p:nvSpPr>
        <p:spPr>
          <a:xfrm>
            <a:off x="3619317" y="2638879"/>
            <a:ext cx="1072896" cy="87172"/>
          </a:xfrm>
          <a:prstGeom prst="rect">
            <a:avLst/>
          </a:prstGeom>
          <a:noFill/>
        </p:spPr>
        <p:txBody>
          <a:bodyPr wrap="square" lIns="0" tIns="0" rIns="0" bIns="0" anchor="ctr">
            <a:spAutoFit/>
          </a:bodyPr>
          <a:lstStyle/>
          <a:p>
            <a:pPr marL="0" indent="0" algn="l">
              <a:buNone/>
            </a:pPr>
            <a:r>
              <a:rPr sz="520" b="0" i="0">
                <a:solidFill>
                  <a:srgbClr val="888888"/>
                </a:solidFill>
              </a:rPr>
              <a:t>Vietnamese</a:t>
            </a:r>
          </a:p>
        </p:txBody>
      </p:sp>
      <p:sp>
        <p:nvSpPr>
          <p:cNvPr id="69" name="Rounded Rectangle 68"/>
          <p:cNvSpPr/>
          <p:nvPr/>
        </p:nvSpPr>
        <p:spPr>
          <a:xfrm>
            <a:off x="5046268" y="2591269"/>
            <a:ext cx="85831" cy="85831"/>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0" name="Rounded Rectangle 69"/>
          <p:cNvSpPr/>
          <p:nvPr/>
        </p:nvSpPr>
        <p:spPr>
          <a:xfrm>
            <a:off x="3512027" y="2843399"/>
            <a:ext cx="1754184" cy="289681"/>
          </a:xfrm>
          <a:prstGeom prst="roundRect">
            <a:avLst>
              <a:gd name="adj" fmla="val 14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1" name="TextBox 70"/>
          <p:cNvSpPr txBox="1"/>
          <p:nvPr/>
        </p:nvSpPr>
        <p:spPr>
          <a:xfrm>
            <a:off x="3619317" y="2892015"/>
            <a:ext cx="1072896" cy="117348"/>
          </a:xfrm>
          <a:prstGeom prst="rect">
            <a:avLst/>
          </a:prstGeom>
          <a:noFill/>
        </p:spPr>
        <p:txBody>
          <a:bodyPr wrap="square" lIns="0" tIns="0" rIns="0" bIns="0" anchor="ctr">
            <a:spAutoFit/>
          </a:bodyPr>
          <a:lstStyle/>
          <a:p>
            <a:pPr marL="0" indent="0" algn="l">
              <a:buNone/>
            </a:pPr>
            <a:r>
              <a:rPr sz="700" b="1" i="0">
                <a:solidFill>
                  <a:srgbClr val="C8102E"/>
                </a:solidFill>
              </a:rPr>
              <a:t>English</a:t>
            </a:r>
          </a:p>
        </p:txBody>
      </p:sp>
      <p:sp>
        <p:nvSpPr>
          <p:cNvPr id="72" name="TextBox 71"/>
          <p:cNvSpPr txBox="1"/>
          <p:nvPr/>
        </p:nvSpPr>
        <p:spPr>
          <a:xfrm>
            <a:off x="3619317" y="2992935"/>
            <a:ext cx="1072896" cy="87172"/>
          </a:xfrm>
          <a:prstGeom prst="rect">
            <a:avLst/>
          </a:prstGeom>
          <a:noFill/>
        </p:spPr>
        <p:txBody>
          <a:bodyPr wrap="square" lIns="0" tIns="0" rIns="0" bIns="0" anchor="ctr">
            <a:spAutoFit/>
          </a:bodyPr>
          <a:lstStyle/>
          <a:p>
            <a:pPr marL="0" indent="0" algn="l">
              <a:buNone/>
            </a:pPr>
            <a:r>
              <a:rPr sz="520" b="0" i="0">
                <a:solidFill>
                  <a:srgbClr val="888888"/>
                </a:solidFill>
              </a:rPr>
              <a:t>English</a:t>
            </a:r>
          </a:p>
        </p:txBody>
      </p:sp>
      <p:sp>
        <p:nvSpPr>
          <p:cNvPr id="73" name="Rounded Rectangle 72"/>
          <p:cNvSpPr/>
          <p:nvPr/>
        </p:nvSpPr>
        <p:spPr>
          <a:xfrm>
            <a:off x="5046268" y="2945324"/>
            <a:ext cx="85831" cy="85831"/>
          </a:xfrm>
          <a:prstGeom prst="roundRect">
            <a:avLst>
              <a:gd name="adj" fmla="val 5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TextBox 73"/>
          <p:cNvSpPr txBox="1"/>
          <p:nvPr/>
        </p:nvSpPr>
        <p:spPr>
          <a:xfrm>
            <a:off x="5046268" y="2945324"/>
            <a:ext cx="85831" cy="85831"/>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75" name="Rounded Rectangle 74"/>
          <p:cNvSpPr/>
          <p:nvPr/>
        </p:nvSpPr>
        <p:spPr>
          <a:xfrm>
            <a:off x="3512027" y="3197455"/>
            <a:ext cx="1754184" cy="289681"/>
          </a:xfrm>
          <a:prstGeom prst="roundRect">
            <a:avLst>
              <a:gd name="adj" fmla="val 14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6" name="TextBox 75"/>
          <p:cNvSpPr txBox="1"/>
          <p:nvPr/>
        </p:nvSpPr>
        <p:spPr>
          <a:xfrm>
            <a:off x="3619317" y="3246071"/>
            <a:ext cx="1072896" cy="117348"/>
          </a:xfrm>
          <a:prstGeom prst="rect">
            <a:avLst/>
          </a:prstGeom>
          <a:noFill/>
        </p:spPr>
        <p:txBody>
          <a:bodyPr wrap="square" lIns="0" tIns="0" rIns="0" bIns="0" anchor="ctr">
            <a:spAutoFit/>
          </a:bodyPr>
          <a:lstStyle/>
          <a:p>
            <a:pPr marL="0" indent="0" algn="l">
              <a:buNone/>
            </a:pPr>
            <a:r>
              <a:rPr sz="700" b="1" i="0">
                <a:solidFill>
                  <a:srgbClr val="222222"/>
                </a:solidFill>
              </a:rPr>
              <a:t>한국어</a:t>
            </a:r>
          </a:p>
        </p:txBody>
      </p:sp>
      <p:sp>
        <p:nvSpPr>
          <p:cNvPr id="77" name="TextBox 76"/>
          <p:cNvSpPr txBox="1"/>
          <p:nvPr/>
        </p:nvSpPr>
        <p:spPr>
          <a:xfrm>
            <a:off x="3619317" y="3346990"/>
            <a:ext cx="1072896" cy="87172"/>
          </a:xfrm>
          <a:prstGeom prst="rect">
            <a:avLst/>
          </a:prstGeom>
          <a:noFill/>
        </p:spPr>
        <p:txBody>
          <a:bodyPr wrap="square" lIns="0" tIns="0" rIns="0" bIns="0" anchor="ctr">
            <a:spAutoFit/>
          </a:bodyPr>
          <a:lstStyle/>
          <a:p>
            <a:pPr marL="0" indent="0" algn="l">
              <a:buNone/>
            </a:pPr>
            <a:r>
              <a:rPr sz="520" b="0" i="0">
                <a:solidFill>
                  <a:srgbClr val="888888"/>
                </a:solidFill>
              </a:rPr>
              <a:t>Korean</a:t>
            </a:r>
          </a:p>
        </p:txBody>
      </p:sp>
      <p:sp>
        <p:nvSpPr>
          <p:cNvPr id="78" name="Rounded Rectangle 77"/>
          <p:cNvSpPr/>
          <p:nvPr/>
        </p:nvSpPr>
        <p:spPr>
          <a:xfrm>
            <a:off x="5046268" y="3299380"/>
            <a:ext cx="85831" cy="85831"/>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Rounded Rectangle 78"/>
          <p:cNvSpPr/>
          <p:nvPr/>
        </p:nvSpPr>
        <p:spPr>
          <a:xfrm>
            <a:off x="3512027" y="3669529"/>
            <a:ext cx="1754184" cy="236037"/>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0" name="TextBox 79"/>
          <p:cNvSpPr txBox="1"/>
          <p:nvPr/>
        </p:nvSpPr>
        <p:spPr>
          <a:xfrm>
            <a:off x="3512027" y="3669529"/>
            <a:ext cx="1754184" cy="236037"/>
          </a:xfrm>
          <a:prstGeom prst="rect">
            <a:avLst/>
          </a:prstGeom>
          <a:noFill/>
        </p:spPr>
        <p:txBody>
          <a:bodyPr wrap="square" lIns="0" tIns="0" rIns="0" bIns="0" anchor="ctr">
            <a:spAutoFit/>
          </a:bodyPr>
          <a:lstStyle/>
          <a:p>
            <a:pPr marL="0" indent="0" algn="ctr">
              <a:buNone/>
            </a:pPr>
            <a:r>
              <a:rPr sz="750" b="1" i="0">
                <a:solidFill>
                  <a:srgbClr val="FFFFFF"/>
                </a:solidFill>
              </a:rPr>
              <a:t>Continue</a:t>
            </a:r>
          </a:p>
        </p:txBody>
      </p:sp>
      <p:sp>
        <p:nvSpPr>
          <p:cNvPr id="81" name="TextBox 80"/>
          <p:cNvSpPr txBox="1"/>
          <p:nvPr/>
        </p:nvSpPr>
        <p:spPr>
          <a:xfrm>
            <a:off x="3512027" y="3980669"/>
            <a:ext cx="1754184" cy="160934"/>
          </a:xfrm>
          <a:prstGeom prst="rect">
            <a:avLst/>
          </a:prstGeom>
          <a:noFill/>
        </p:spPr>
        <p:txBody>
          <a:bodyPr wrap="square" lIns="0" tIns="0" rIns="0" bIns="0" anchor="ctr">
            <a:spAutoFit/>
          </a:bodyPr>
          <a:lstStyle/>
          <a:p>
            <a:pPr marL="0" indent="0" algn="ctr">
              <a:buNone/>
            </a:pPr>
            <a:r>
              <a:rPr sz="520" b="0" i="0">
                <a:solidFill>
                  <a:srgbClr val="888888"/>
                </a:solidFill>
              </a:rPr>
              <a:t>You can change the language at any time in Settings.</a:t>
            </a:r>
          </a:p>
        </p:txBody>
      </p:sp>
      <p:sp>
        <p:nvSpPr>
          <p:cNvPr id="82" name="Oval 81"/>
          <p:cNvSpPr/>
          <p:nvPr/>
        </p:nvSpPr>
        <p:spPr>
          <a:xfrm>
            <a:off x="3168701" y="219966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TextBox 82"/>
          <p:cNvSpPr txBox="1"/>
          <p:nvPr/>
        </p:nvSpPr>
        <p:spPr>
          <a:xfrm>
            <a:off x="3168701" y="219966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graphicFrame>
        <p:nvGraphicFramePr>
          <p:cNvPr id="84" name="Table 83"/>
          <p:cNvGraphicFramePr>
            <a:graphicFrameLocks noGrp="1"/>
          </p:cNvGraphicFramePr>
          <p:nvPr/>
        </p:nvGraphicFramePr>
        <p:xfrm>
          <a:off x="7196328" y="886968"/>
          <a:ext cx="4718304" cy="252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Brand block</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LOTTE MART mark and name. Static, non-interactive. Uses the corporate red DA291C / C8102E per DE02 Design System.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Language options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Three options — Tiếng Việt · English · 한국어 (ONB-01). Single selection, always exactly one selected. Default is derived from the device locale; when the locale matches none of the three, Tiếng Việt is selected.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Continue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Always enabled, because a language is always selected. Advances to the system permission sequence (SCR-ONB-02).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Change-later hint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States that the choice is reversible in Settings, so the customer does not treat this as a permanent decision.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Live re-render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Selecting a language re-renders every label on this screen immediately, before Continue is tapped — the customer sees the effect of the choice before committing to it.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85" name="TextBox 84"/>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Applies to first launch only; the screen is not shown again unless the app data is cleared. Language also sets number, currency and date formatting for the whole session. No open questions on this screen.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Onboarding (ONB)</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ONB-02 … ONB-04</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SCR-ONB-02</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Onboarding — System Permission Requests</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38</a:t>
            </a:r>
          </a:p>
        </p:txBody>
      </p:sp>
      <p:sp>
        <p:nvSpPr>
          <p:cNvPr id="22" name="Rounded Rectangle 21"/>
          <p:cNvSpPr/>
          <p:nvPr/>
        </p:nvSpPr>
        <p:spPr>
          <a:xfrm>
            <a:off x="383683" y="852203"/>
            <a:ext cx="1792955" cy="3483985"/>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411480" y="880000"/>
            <a:ext cx="1737360" cy="3428390"/>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383683" y="4354719"/>
            <a:ext cx="1792955" cy="120456"/>
          </a:xfrm>
          <a:prstGeom prst="rect">
            <a:avLst/>
          </a:prstGeom>
          <a:noFill/>
        </p:spPr>
        <p:txBody>
          <a:bodyPr wrap="square" lIns="0" tIns="0" rIns="0" bIns="0" anchor="t">
            <a:spAutoFit/>
          </a:bodyPr>
          <a:lstStyle/>
          <a:p>
            <a:pPr marL="0" indent="0" algn="ctr">
              <a:buNone/>
            </a:pPr>
            <a:r>
              <a:rPr sz="750" b="1" i="0">
                <a:solidFill>
                  <a:srgbClr val="1E2F6E"/>
                </a:solidFill>
              </a:rPr>
              <a:t>1  ·  Activity tracking</a:t>
            </a:r>
          </a:p>
        </p:txBody>
      </p:sp>
      <p:sp>
        <p:nvSpPr>
          <p:cNvPr id="25" name="TextBox 24"/>
          <p:cNvSpPr txBox="1"/>
          <p:nvPr/>
        </p:nvSpPr>
        <p:spPr>
          <a:xfrm>
            <a:off x="476341" y="875596"/>
            <a:ext cx="277977" cy="92202"/>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1806000" y="879787"/>
            <a:ext cx="277977" cy="8382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411480" y="981925"/>
            <a:ext cx="1737360" cy="3326465"/>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Rounded Rectangle 27"/>
          <p:cNvSpPr/>
          <p:nvPr/>
        </p:nvSpPr>
        <p:spPr>
          <a:xfrm>
            <a:off x="485607" y="1065318"/>
            <a:ext cx="1589105" cy="555955"/>
          </a:xfrm>
          <a:prstGeom prst="roundRect">
            <a:avLst>
              <a:gd name="adj" fmla="val 6000"/>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9" name="TextBox 28"/>
          <p:cNvSpPr txBox="1"/>
          <p:nvPr/>
        </p:nvSpPr>
        <p:spPr>
          <a:xfrm>
            <a:off x="541202" y="1121584"/>
            <a:ext cx="926592" cy="100584"/>
          </a:xfrm>
          <a:prstGeom prst="rect">
            <a:avLst/>
          </a:prstGeom>
          <a:noFill/>
        </p:spPr>
        <p:txBody>
          <a:bodyPr wrap="square" lIns="0" tIns="0" rIns="0" bIns="0" anchor="ctr">
            <a:spAutoFit/>
          </a:bodyPr>
          <a:lstStyle/>
          <a:p>
            <a:pPr marL="0" indent="0" algn="l">
              <a:buNone/>
            </a:pPr>
            <a:r>
              <a:rPr sz="600" b="1" i="0">
                <a:solidFill>
                  <a:srgbClr val="AAAAAA"/>
                </a:solidFill>
              </a:rPr>
              <a:t>LOTTE MART</a:t>
            </a:r>
          </a:p>
        </p:txBody>
      </p:sp>
      <p:sp>
        <p:nvSpPr>
          <p:cNvPr id="30" name="Rounded Rectangle 29"/>
          <p:cNvSpPr/>
          <p:nvPr/>
        </p:nvSpPr>
        <p:spPr>
          <a:xfrm>
            <a:off x="541202" y="1259902"/>
            <a:ext cx="1477914" cy="55595"/>
          </a:xfrm>
          <a:prstGeom prst="roundRect">
            <a:avLst>
              <a:gd name="adj" fmla="val 40000"/>
            </a:avLst>
          </a:prstGeom>
          <a:solidFill>
            <a:srgbClr val="E0E0E0"/>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Rounded Rectangle 30"/>
          <p:cNvSpPr/>
          <p:nvPr/>
        </p:nvSpPr>
        <p:spPr>
          <a:xfrm>
            <a:off x="541202" y="1371093"/>
            <a:ext cx="1292595" cy="55595"/>
          </a:xfrm>
          <a:prstGeom prst="roundRect">
            <a:avLst>
              <a:gd name="adj" fmla="val 40000"/>
            </a:avLst>
          </a:prstGeom>
          <a:solidFill>
            <a:srgbClr val="E0E0E0"/>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Rounded Rectangle 31"/>
          <p:cNvSpPr/>
          <p:nvPr/>
        </p:nvSpPr>
        <p:spPr>
          <a:xfrm>
            <a:off x="541202" y="1482284"/>
            <a:ext cx="1107277" cy="55595"/>
          </a:xfrm>
          <a:prstGeom prst="roundRect">
            <a:avLst>
              <a:gd name="adj" fmla="val 40000"/>
            </a:avLst>
          </a:prstGeom>
          <a:solidFill>
            <a:srgbClr val="E0E0E0"/>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3" name="Rectangle 32"/>
          <p:cNvSpPr/>
          <p:nvPr/>
        </p:nvSpPr>
        <p:spPr>
          <a:xfrm>
            <a:off x="411480" y="1713932"/>
            <a:ext cx="1737360" cy="1853184"/>
          </a:xfrm>
          <a:prstGeom prst="rect">
            <a:avLst/>
          </a:prstGeom>
          <a:solidFill>
            <a:srgbClr val="1A1A1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Rounded Rectangle 33"/>
          <p:cNvSpPr/>
          <p:nvPr/>
        </p:nvSpPr>
        <p:spPr>
          <a:xfrm>
            <a:off x="619963" y="1973378"/>
            <a:ext cx="1320393" cy="1213835"/>
          </a:xfrm>
          <a:prstGeom prst="roundRect">
            <a:avLst>
              <a:gd name="adj" fmla="val 9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5" name="TextBox 34"/>
          <p:cNvSpPr txBox="1"/>
          <p:nvPr/>
        </p:nvSpPr>
        <p:spPr>
          <a:xfrm>
            <a:off x="703356" y="2056771"/>
            <a:ext cx="1153607" cy="361370"/>
          </a:xfrm>
          <a:prstGeom prst="rect">
            <a:avLst/>
          </a:prstGeom>
          <a:noFill/>
        </p:spPr>
        <p:txBody>
          <a:bodyPr wrap="square" lIns="0" tIns="0" rIns="0" bIns="0" anchor="t">
            <a:spAutoFit/>
          </a:bodyPr>
          <a:lstStyle/>
          <a:p>
            <a:pPr marL="0" indent="0" algn="ctr">
              <a:buNone/>
            </a:pPr>
            <a:r>
              <a:rPr sz="620" b="1" i="0">
                <a:solidFill>
                  <a:srgbClr val="3A3A3A"/>
                </a:solidFill>
              </a:rPr>
              <a:t>Allow “LOTTE MART” to track your</a:t>
            </a:r>
          </a:p>
          <a:p>
            <a:pPr marL="0" indent="0" algn="ctr">
              <a:buNone/>
            </a:pPr>
            <a:r>
              <a:rPr sz="620" b="1" i="0">
                <a:solidFill>
                  <a:srgbClr val="3A3A3A"/>
                </a:solidFill>
              </a:rPr>
              <a:t>activity across other apps and</a:t>
            </a:r>
          </a:p>
          <a:p>
            <a:pPr marL="0" indent="0" algn="ctr">
              <a:buNone/>
            </a:pPr>
            <a:r>
              <a:rPr sz="620" b="1" i="0">
                <a:solidFill>
                  <a:srgbClr val="3A3A3A"/>
                </a:solidFill>
              </a:rPr>
              <a:t>websites?</a:t>
            </a:r>
          </a:p>
        </p:txBody>
      </p:sp>
      <p:sp>
        <p:nvSpPr>
          <p:cNvPr id="36" name="TextBox 35"/>
          <p:cNvSpPr txBox="1"/>
          <p:nvPr/>
        </p:nvSpPr>
        <p:spPr>
          <a:xfrm>
            <a:off x="703356" y="2473738"/>
            <a:ext cx="1153607" cy="277977"/>
          </a:xfrm>
          <a:prstGeom prst="rect">
            <a:avLst/>
          </a:prstGeom>
          <a:noFill/>
        </p:spPr>
        <p:txBody>
          <a:bodyPr wrap="square" lIns="0" tIns="0" rIns="0" bIns="0" anchor="t">
            <a:spAutoFit/>
          </a:bodyPr>
          <a:lstStyle/>
          <a:p>
            <a:pPr marL="0" indent="0" algn="ctr">
              <a:buNone/>
            </a:pPr>
            <a:r>
              <a:rPr sz="540" b="0" i="0">
                <a:solidFill>
                  <a:srgbClr val="888888"/>
                </a:solidFill>
              </a:rPr>
              <a:t>Your data will be used to deliver</a:t>
            </a:r>
          </a:p>
          <a:p>
            <a:pPr marL="0" indent="0" algn="ctr">
              <a:buNone/>
            </a:pPr>
            <a:r>
              <a:rPr sz="540" b="0" i="0">
                <a:solidFill>
                  <a:srgbClr val="888888"/>
                </a:solidFill>
              </a:rPr>
              <a:t>personalised offers.</a:t>
            </a:r>
          </a:p>
        </p:txBody>
      </p:sp>
      <p:sp>
        <p:nvSpPr>
          <p:cNvPr id="37" name="Rectangle 36"/>
          <p:cNvSpPr/>
          <p:nvPr/>
        </p:nvSpPr>
        <p:spPr>
          <a:xfrm>
            <a:off x="619963" y="2807311"/>
            <a:ext cx="1320393" cy="4632"/>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TextBox 37"/>
          <p:cNvSpPr txBox="1"/>
          <p:nvPr/>
        </p:nvSpPr>
        <p:spPr>
          <a:xfrm>
            <a:off x="619963" y="2816577"/>
            <a:ext cx="657880" cy="185318"/>
          </a:xfrm>
          <a:prstGeom prst="rect">
            <a:avLst/>
          </a:prstGeom>
          <a:noFill/>
        </p:spPr>
        <p:txBody>
          <a:bodyPr wrap="square" lIns="0" tIns="0" rIns="0" bIns="0" anchor="ctr">
            <a:spAutoFit/>
          </a:bodyPr>
          <a:lstStyle/>
          <a:p>
            <a:pPr marL="0" indent="0" algn="ctr">
              <a:buNone/>
            </a:pPr>
            <a:r>
              <a:rPr sz="580" b="0" i="0">
                <a:solidFill>
                  <a:srgbClr val="0A63D6"/>
                </a:solidFill>
              </a:rPr>
              <a:t>Ask App Not to Track</a:t>
            </a:r>
          </a:p>
        </p:txBody>
      </p:sp>
      <p:sp>
        <p:nvSpPr>
          <p:cNvPr id="39" name="TextBox 38"/>
          <p:cNvSpPr txBox="1"/>
          <p:nvPr/>
        </p:nvSpPr>
        <p:spPr>
          <a:xfrm>
            <a:off x="1282476" y="2816577"/>
            <a:ext cx="657880" cy="185318"/>
          </a:xfrm>
          <a:prstGeom prst="rect">
            <a:avLst/>
          </a:prstGeom>
          <a:noFill/>
        </p:spPr>
        <p:txBody>
          <a:bodyPr wrap="square" lIns="0" tIns="0" rIns="0" bIns="0" anchor="ctr">
            <a:spAutoFit/>
          </a:bodyPr>
          <a:lstStyle/>
          <a:p>
            <a:pPr marL="0" indent="0" algn="ctr">
              <a:buNone/>
            </a:pPr>
            <a:r>
              <a:rPr sz="580" b="1" i="0">
                <a:solidFill>
                  <a:srgbClr val="0A63D6"/>
                </a:solidFill>
              </a:rPr>
              <a:t>Allow</a:t>
            </a:r>
          </a:p>
        </p:txBody>
      </p:sp>
      <p:sp>
        <p:nvSpPr>
          <p:cNvPr id="40" name="Rectangle 39"/>
          <p:cNvSpPr/>
          <p:nvPr/>
        </p:nvSpPr>
        <p:spPr>
          <a:xfrm>
            <a:off x="1277843" y="2816577"/>
            <a:ext cx="4632" cy="185318"/>
          </a:xfrm>
          <a:prstGeom prst="rect">
            <a:avLst/>
          </a:prstGeom>
          <a:solidFill>
            <a:srgbClr val="E0E0E0"/>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TextBox 40"/>
          <p:cNvSpPr txBox="1"/>
          <p:nvPr/>
        </p:nvSpPr>
        <p:spPr>
          <a:xfrm>
            <a:off x="619963" y="3057491"/>
            <a:ext cx="1320393" cy="111191"/>
          </a:xfrm>
          <a:prstGeom prst="rect">
            <a:avLst/>
          </a:prstGeom>
          <a:noFill/>
        </p:spPr>
        <p:txBody>
          <a:bodyPr wrap="square" lIns="0" tIns="0" rIns="0" bIns="0" anchor="ctr">
            <a:spAutoFit/>
          </a:bodyPr>
          <a:lstStyle/>
          <a:p>
            <a:pPr marL="0" indent="0" algn="ctr">
              <a:buNone/>
            </a:pPr>
            <a:r>
              <a:rPr sz="480" b="0" i="0">
                <a:solidFill>
                  <a:srgbClr val="AAAAAA"/>
                </a:solidFill>
              </a:rPr>
              <a:t>System dialog — wording set by the OS</a:t>
            </a:r>
          </a:p>
        </p:txBody>
      </p:sp>
      <p:sp>
        <p:nvSpPr>
          <p:cNvPr id="42" name="Oval 41"/>
          <p:cNvSpPr/>
          <p:nvPr/>
        </p:nvSpPr>
        <p:spPr>
          <a:xfrm>
            <a:off x="244694" y="1973378"/>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3" name="TextBox 42"/>
          <p:cNvSpPr txBox="1"/>
          <p:nvPr/>
        </p:nvSpPr>
        <p:spPr>
          <a:xfrm>
            <a:off x="244694" y="1973378"/>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44" name="Rounded Rectangle 43"/>
          <p:cNvSpPr/>
          <p:nvPr/>
        </p:nvSpPr>
        <p:spPr>
          <a:xfrm>
            <a:off x="2523883" y="852203"/>
            <a:ext cx="1792955" cy="3483985"/>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Rectangle 44"/>
          <p:cNvSpPr/>
          <p:nvPr/>
        </p:nvSpPr>
        <p:spPr>
          <a:xfrm>
            <a:off x="2551680" y="880000"/>
            <a:ext cx="1737360" cy="3428390"/>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TextBox 45"/>
          <p:cNvSpPr txBox="1"/>
          <p:nvPr/>
        </p:nvSpPr>
        <p:spPr>
          <a:xfrm>
            <a:off x="2523883" y="4354719"/>
            <a:ext cx="1792955" cy="120456"/>
          </a:xfrm>
          <a:prstGeom prst="rect">
            <a:avLst/>
          </a:prstGeom>
          <a:noFill/>
        </p:spPr>
        <p:txBody>
          <a:bodyPr wrap="square" lIns="0" tIns="0" rIns="0" bIns="0" anchor="t">
            <a:spAutoFit/>
          </a:bodyPr>
          <a:lstStyle/>
          <a:p>
            <a:pPr marL="0" indent="0" algn="ctr">
              <a:buNone/>
            </a:pPr>
            <a:r>
              <a:rPr sz="750" b="1" i="0">
                <a:solidFill>
                  <a:srgbClr val="1E2F6E"/>
                </a:solidFill>
              </a:rPr>
              <a:t>2  ·  Notifications</a:t>
            </a:r>
          </a:p>
        </p:txBody>
      </p:sp>
      <p:sp>
        <p:nvSpPr>
          <p:cNvPr id="47" name="TextBox 46"/>
          <p:cNvSpPr txBox="1"/>
          <p:nvPr/>
        </p:nvSpPr>
        <p:spPr>
          <a:xfrm>
            <a:off x="2616541" y="875596"/>
            <a:ext cx="277977" cy="92202"/>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48" name="TextBox 47"/>
          <p:cNvSpPr txBox="1"/>
          <p:nvPr/>
        </p:nvSpPr>
        <p:spPr>
          <a:xfrm>
            <a:off x="3946200" y="879787"/>
            <a:ext cx="277977" cy="8382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49" name="Rectangle 48"/>
          <p:cNvSpPr/>
          <p:nvPr/>
        </p:nvSpPr>
        <p:spPr>
          <a:xfrm>
            <a:off x="2551680" y="981925"/>
            <a:ext cx="1737360" cy="3326465"/>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Rounded Rectangle 49"/>
          <p:cNvSpPr/>
          <p:nvPr/>
        </p:nvSpPr>
        <p:spPr>
          <a:xfrm>
            <a:off x="2625807" y="1065318"/>
            <a:ext cx="1589105" cy="555955"/>
          </a:xfrm>
          <a:prstGeom prst="roundRect">
            <a:avLst>
              <a:gd name="adj" fmla="val 6000"/>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1" name="TextBox 50"/>
          <p:cNvSpPr txBox="1"/>
          <p:nvPr/>
        </p:nvSpPr>
        <p:spPr>
          <a:xfrm>
            <a:off x="2681402" y="1121584"/>
            <a:ext cx="926592" cy="100584"/>
          </a:xfrm>
          <a:prstGeom prst="rect">
            <a:avLst/>
          </a:prstGeom>
          <a:noFill/>
        </p:spPr>
        <p:txBody>
          <a:bodyPr wrap="square" lIns="0" tIns="0" rIns="0" bIns="0" anchor="ctr">
            <a:spAutoFit/>
          </a:bodyPr>
          <a:lstStyle/>
          <a:p>
            <a:pPr marL="0" indent="0" algn="l">
              <a:buNone/>
            </a:pPr>
            <a:r>
              <a:rPr sz="600" b="1" i="0">
                <a:solidFill>
                  <a:srgbClr val="AAAAAA"/>
                </a:solidFill>
              </a:rPr>
              <a:t>LOTTE MART</a:t>
            </a:r>
          </a:p>
        </p:txBody>
      </p:sp>
      <p:sp>
        <p:nvSpPr>
          <p:cNvPr id="52" name="Rounded Rectangle 51"/>
          <p:cNvSpPr/>
          <p:nvPr/>
        </p:nvSpPr>
        <p:spPr>
          <a:xfrm>
            <a:off x="2681402" y="1259902"/>
            <a:ext cx="1477914" cy="55595"/>
          </a:xfrm>
          <a:prstGeom prst="roundRect">
            <a:avLst>
              <a:gd name="adj" fmla="val 40000"/>
            </a:avLst>
          </a:prstGeom>
          <a:solidFill>
            <a:srgbClr val="E0E0E0"/>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Rounded Rectangle 52"/>
          <p:cNvSpPr/>
          <p:nvPr/>
        </p:nvSpPr>
        <p:spPr>
          <a:xfrm>
            <a:off x="2681402" y="1371093"/>
            <a:ext cx="1292595" cy="55595"/>
          </a:xfrm>
          <a:prstGeom prst="roundRect">
            <a:avLst>
              <a:gd name="adj" fmla="val 40000"/>
            </a:avLst>
          </a:prstGeom>
          <a:solidFill>
            <a:srgbClr val="E0E0E0"/>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4" name="Rounded Rectangle 53"/>
          <p:cNvSpPr/>
          <p:nvPr/>
        </p:nvSpPr>
        <p:spPr>
          <a:xfrm>
            <a:off x="2681402" y="1482284"/>
            <a:ext cx="1107277" cy="55595"/>
          </a:xfrm>
          <a:prstGeom prst="roundRect">
            <a:avLst>
              <a:gd name="adj" fmla="val 40000"/>
            </a:avLst>
          </a:prstGeom>
          <a:solidFill>
            <a:srgbClr val="E0E0E0"/>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5" name="Rectangle 54"/>
          <p:cNvSpPr/>
          <p:nvPr/>
        </p:nvSpPr>
        <p:spPr>
          <a:xfrm>
            <a:off x="2551680" y="1713932"/>
            <a:ext cx="1737360" cy="1853184"/>
          </a:xfrm>
          <a:prstGeom prst="rect">
            <a:avLst/>
          </a:prstGeom>
          <a:solidFill>
            <a:srgbClr val="1A1A1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6" name="Rounded Rectangle 55"/>
          <p:cNvSpPr/>
          <p:nvPr/>
        </p:nvSpPr>
        <p:spPr>
          <a:xfrm>
            <a:off x="2760163" y="1973378"/>
            <a:ext cx="1320393" cy="1213835"/>
          </a:xfrm>
          <a:prstGeom prst="roundRect">
            <a:avLst>
              <a:gd name="adj" fmla="val 9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7" name="TextBox 56"/>
          <p:cNvSpPr txBox="1"/>
          <p:nvPr/>
        </p:nvSpPr>
        <p:spPr>
          <a:xfrm>
            <a:off x="2843556" y="2056771"/>
            <a:ext cx="1153607" cy="361370"/>
          </a:xfrm>
          <a:prstGeom prst="rect">
            <a:avLst/>
          </a:prstGeom>
          <a:noFill/>
        </p:spPr>
        <p:txBody>
          <a:bodyPr wrap="square" lIns="0" tIns="0" rIns="0" bIns="0" anchor="t">
            <a:spAutoFit/>
          </a:bodyPr>
          <a:lstStyle/>
          <a:p>
            <a:pPr marL="0" indent="0" algn="ctr">
              <a:buNone/>
            </a:pPr>
            <a:r>
              <a:rPr sz="620" b="1" i="0">
                <a:solidFill>
                  <a:srgbClr val="3A3A3A"/>
                </a:solidFill>
              </a:rPr>
              <a:t>“LOTTE MART” Would Like to Send</a:t>
            </a:r>
          </a:p>
          <a:p>
            <a:pPr marL="0" indent="0" algn="ctr">
              <a:buNone/>
            </a:pPr>
            <a:r>
              <a:rPr sz="620" b="1" i="0">
                <a:solidFill>
                  <a:srgbClr val="3A3A3A"/>
                </a:solidFill>
              </a:rPr>
              <a:t>You Notifications</a:t>
            </a:r>
          </a:p>
        </p:txBody>
      </p:sp>
      <p:sp>
        <p:nvSpPr>
          <p:cNvPr id="58" name="TextBox 57"/>
          <p:cNvSpPr txBox="1"/>
          <p:nvPr/>
        </p:nvSpPr>
        <p:spPr>
          <a:xfrm>
            <a:off x="2843556" y="2473738"/>
            <a:ext cx="1153607" cy="277977"/>
          </a:xfrm>
          <a:prstGeom prst="rect">
            <a:avLst/>
          </a:prstGeom>
          <a:noFill/>
        </p:spPr>
        <p:txBody>
          <a:bodyPr wrap="square" lIns="0" tIns="0" rIns="0" bIns="0" anchor="t">
            <a:spAutoFit/>
          </a:bodyPr>
          <a:lstStyle/>
          <a:p>
            <a:pPr marL="0" indent="0" algn="ctr">
              <a:buNone/>
            </a:pPr>
            <a:r>
              <a:rPr sz="540" b="0" i="0">
                <a:solidFill>
                  <a:srgbClr val="888888"/>
                </a:solidFill>
              </a:rPr>
              <a:t>Notifications may include order</a:t>
            </a:r>
          </a:p>
          <a:p>
            <a:pPr marL="0" indent="0" algn="ctr">
              <a:buNone/>
            </a:pPr>
            <a:r>
              <a:rPr sz="540" b="0" i="0">
                <a:solidFill>
                  <a:srgbClr val="888888"/>
                </a:solidFill>
              </a:rPr>
              <a:t>updates, promotions and alerts.</a:t>
            </a:r>
          </a:p>
        </p:txBody>
      </p:sp>
      <p:sp>
        <p:nvSpPr>
          <p:cNvPr id="59" name="Rectangle 58"/>
          <p:cNvSpPr/>
          <p:nvPr/>
        </p:nvSpPr>
        <p:spPr>
          <a:xfrm>
            <a:off x="2760163" y="2807311"/>
            <a:ext cx="1320393" cy="4632"/>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0" name="TextBox 59"/>
          <p:cNvSpPr txBox="1"/>
          <p:nvPr/>
        </p:nvSpPr>
        <p:spPr>
          <a:xfrm>
            <a:off x="2760163" y="2816577"/>
            <a:ext cx="657880" cy="185318"/>
          </a:xfrm>
          <a:prstGeom prst="rect">
            <a:avLst/>
          </a:prstGeom>
          <a:noFill/>
        </p:spPr>
        <p:txBody>
          <a:bodyPr wrap="square" lIns="0" tIns="0" rIns="0" bIns="0" anchor="ctr">
            <a:spAutoFit/>
          </a:bodyPr>
          <a:lstStyle/>
          <a:p>
            <a:pPr marL="0" indent="0" algn="ctr">
              <a:buNone/>
            </a:pPr>
            <a:r>
              <a:rPr sz="580" b="0" i="0">
                <a:solidFill>
                  <a:srgbClr val="0A63D6"/>
                </a:solidFill>
              </a:rPr>
              <a:t>Don't Allow</a:t>
            </a:r>
          </a:p>
        </p:txBody>
      </p:sp>
      <p:sp>
        <p:nvSpPr>
          <p:cNvPr id="61" name="TextBox 60"/>
          <p:cNvSpPr txBox="1"/>
          <p:nvPr/>
        </p:nvSpPr>
        <p:spPr>
          <a:xfrm>
            <a:off x="3422676" y="2816577"/>
            <a:ext cx="657880" cy="185318"/>
          </a:xfrm>
          <a:prstGeom prst="rect">
            <a:avLst/>
          </a:prstGeom>
          <a:noFill/>
        </p:spPr>
        <p:txBody>
          <a:bodyPr wrap="square" lIns="0" tIns="0" rIns="0" bIns="0" anchor="ctr">
            <a:spAutoFit/>
          </a:bodyPr>
          <a:lstStyle/>
          <a:p>
            <a:pPr marL="0" indent="0" algn="ctr">
              <a:buNone/>
            </a:pPr>
            <a:r>
              <a:rPr sz="580" b="1" i="0">
                <a:solidFill>
                  <a:srgbClr val="0A63D6"/>
                </a:solidFill>
              </a:rPr>
              <a:t>Allow</a:t>
            </a:r>
          </a:p>
        </p:txBody>
      </p:sp>
      <p:sp>
        <p:nvSpPr>
          <p:cNvPr id="62" name="Rectangle 61"/>
          <p:cNvSpPr/>
          <p:nvPr/>
        </p:nvSpPr>
        <p:spPr>
          <a:xfrm>
            <a:off x="3418043" y="2816577"/>
            <a:ext cx="4632" cy="185318"/>
          </a:xfrm>
          <a:prstGeom prst="rect">
            <a:avLst/>
          </a:prstGeom>
          <a:solidFill>
            <a:srgbClr val="E0E0E0"/>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3" name="TextBox 62"/>
          <p:cNvSpPr txBox="1"/>
          <p:nvPr/>
        </p:nvSpPr>
        <p:spPr>
          <a:xfrm>
            <a:off x="2760163" y="3057491"/>
            <a:ext cx="1320393" cy="111191"/>
          </a:xfrm>
          <a:prstGeom prst="rect">
            <a:avLst/>
          </a:prstGeom>
          <a:noFill/>
        </p:spPr>
        <p:txBody>
          <a:bodyPr wrap="square" lIns="0" tIns="0" rIns="0" bIns="0" anchor="ctr">
            <a:spAutoFit/>
          </a:bodyPr>
          <a:lstStyle/>
          <a:p>
            <a:pPr marL="0" indent="0" algn="ctr">
              <a:buNone/>
            </a:pPr>
            <a:r>
              <a:rPr sz="480" b="0" i="0">
                <a:solidFill>
                  <a:srgbClr val="AAAAAA"/>
                </a:solidFill>
              </a:rPr>
              <a:t>System dialog — wording set by the OS</a:t>
            </a:r>
          </a:p>
        </p:txBody>
      </p:sp>
      <p:sp>
        <p:nvSpPr>
          <p:cNvPr id="64" name="Oval 63"/>
          <p:cNvSpPr/>
          <p:nvPr/>
        </p:nvSpPr>
        <p:spPr>
          <a:xfrm>
            <a:off x="2384894" y="1973378"/>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5" name="TextBox 64"/>
          <p:cNvSpPr txBox="1"/>
          <p:nvPr/>
        </p:nvSpPr>
        <p:spPr>
          <a:xfrm>
            <a:off x="2384894" y="1973378"/>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66" name="Rounded Rectangle 65"/>
          <p:cNvSpPr/>
          <p:nvPr/>
        </p:nvSpPr>
        <p:spPr>
          <a:xfrm>
            <a:off x="4664083" y="852203"/>
            <a:ext cx="1792955" cy="3483985"/>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7" name="Rectangle 66"/>
          <p:cNvSpPr/>
          <p:nvPr/>
        </p:nvSpPr>
        <p:spPr>
          <a:xfrm>
            <a:off x="4691880" y="880000"/>
            <a:ext cx="1737360" cy="3428390"/>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8" name="TextBox 67"/>
          <p:cNvSpPr txBox="1"/>
          <p:nvPr/>
        </p:nvSpPr>
        <p:spPr>
          <a:xfrm>
            <a:off x="4664083" y="4354719"/>
            <a:ext cx="1792955" cy="120456"/>
          </a:xfrm>
          <a:prstGeom prst="rect">
            <a:avLst/>
          </a:prstGeom>
          <a:noFill/>
        </p:spPr>
        <p:txBody>
          <a:bodyPr wrap="square" lIns="0" tIns="0" rIns="0" bIns="0" anchor="t">
            <a:spAutoFit/>
          </a:bodyPr>
          <a:lstStyle/>
          <a:p>
            <a:pPr marL="0" indent="0" algn="ctr">
              <a:buNone/>
            </a:pPr>
            <a:r>
              <a:rPr sz="750" b="1" i="0">
                <a:solidFill>
                  <a:srgbClr val="1E2F6E"/>
                </a:solidFill>
              </a:rPr>
              <a:t>3  ·  Location</a:t>
            </a:r>
          </a:p>
        </p:txBody>
      </p:sp>
      <p:sp>
        <p:nvSpPr>
          <p:cNvPr id="69" name="TextBox 68"/>
          <p:cNvSpPr txBox="1"/>
          <p:nvPr/>
        </p:nvSpPr>
        <p:spPr>
          <a:xfrm>
            <a:off x="4756741" y="875596"/>
            <a:ext cx="277977" cy="92202"/>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70" name="TextBox 69"/>
          <p:cNvSpPr txBox="1"/>
          <p:nvPr/>
        </p:nvSpPr>
        <p:spPr>
          <a:xfrm>
            <a:off x="6086400" y="879787"/>
            <a:ext cx="277977" cy="8382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71" name="Rectangle 70"/>
          <p:cNvSpPr/>
          <p:nvPr/>
        </p:nvSpPr>
        <p:spPr>
          <a:xfrm>
            <a:off x="4691880" y="981925"/>
            <a:ext cx="1737360" cy="3326465"/>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2" name="Rounded Rectangle 71"/>
          <p:cNvSpPr/>
          <p:nvPr/>
        </p:nvSpPr>
        <p:spPr>
          <a:xfrm>
            <a:off x="4766007" y="1065318"/>
            <a:ext cx="1589105" cy="555955"/>
          </a:xfrm>
          <a:prstGeom prst="roundRect">
            <a:avLst>
              <a:gd name="adj" fmla="val 6000"/>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3" name="TextBox 72"/>
          <p:cNvSpPr txBox="1"/>
          <p:nvPr/>
        </p:nvSpPr>
        <p:spPr>
          <a:xfrm>
            <a:off x="4821602" y="1121584"/>
            <a:ext cx="926592" cy="100584"/>
          </a:xfrm>
          <a:prstGeom prst="rect">
            <a:avLst/>
          </a:prstGeom>
          <a:noFill/>
        </p:spPr>
        <p:txBody>
          <a:bodyPr wrap="square" lIns="0" tIns="0" rIns="0" bIns="0" anchor="ctr">
            <a:spAutoFit/>
          </a:bodyPr>
          <a:lstStyle/>
          <a:p>
            <a:pPr marL="0" indent="0" algn="l">
              <a:buNone/>
            </a:pPr>
            <a:r>
              <a:rPr sz="600" b="1" i="0">
                <a:solidFill>
                  <a:srgbClr val="AAAAAA"/>
                </a:solidFill>
              </a:rPr>
              <a:t>LOTTE MART</a:t>
            </a:r>
          </a:p>
        </p:txBody>
      </p:sp>
      <p:sp>
        <p:nvSpPr>
          <p:cNvPr id="74" name="Rounded Rectangle 73"/>
          <p:cNvSpPr/>
          <p:nvPr/>
        </p:nvSpPr>
        <p:spPr>
          <a:xfrm>
            <a:off x="4821602" y="1259902"/>
            <a:ext cx="1477914" cy="55595"/>
          </a:xfrm>
          <a:prstGeom prst="roundRect">
            <a:avLst>
              <a:gd name="adj" fmla="val 40000"/>
            </a:avLst>
          </a:prstGeom>
          <a:solidFill>
            <a:srgbClr val="E0E0E0"/>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5" name="Rounded Rectangle 74"/>
          <p:cNvSpPr/>
          <p:nvPr/>
        </p:nvSpPr>
        <p:spPr>
          <a:xfrm>
            <a:off x="4821602" y="1371093"/>
            <a:ext cx="1292595" cy="55595"/>
          </a:xfrm>
          <a:prstGeom prst="roundRect">
            <a:avLst>
              <a:gd name="adj" fmla="val 40000"/>
            </a:avLst>
          </a:prstGeom>
          <a:solidFill>
            <a:srgbClr val="E0E0E0"/>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6" name="Rounded Rectangle 75"/>
          <p:cNvSpPr/>
          <p:nvPr/>
        </p:nvSpPr>
        <p:spPr>
          <a:xfrm>
            <a:off x="4821602" y="1482284"/>
            <a:ext cx="1107277" cy="55595"/>
          </a:xfrm>
          <a:prstGeom prst="roundRect">
            <a:avLst>
              <a:gd name="adj" fmla="val 40000"/>
            </a:avLst>
          </a:prstGeom>
          <a:solidFill>
            <a:srgbClr val="E0E0E0"/>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7" name="Rectangle 76"/>
          <p:cNvSpPr/>
          <p:nvPr/>
        </p:nvSpPr>
        <p:spPr>
          <a:xfrm>
            <a:off x="4691880" y="1713932"/>
            <a:ext cx="1737360" cy="1853184"/>
          </a:xfrm>
          <a:prstGeom prst="rect">
            <a:avLst/>
          </a:prstGeom>
          <a:solidFill>
            <a:srgbClr val="1A1A1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8" name="Rounded Rectangle 77"/>
          <p:cNvSpPr/>
          <p:nvPr/>
        </p:nvSpPr>
        <p:spPr>
          <a:xfrm>
            <a:off x="4900363" y="1973378"/>
            <a:ext cx="1320393" cy="1213835"/>
          </a:xfrm>
          <a:prstGeom prst="roundRect">
            <a:avLst>
              <a:gd name="adj" fmla="val 9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TextBox 78"/>
          <p:cNvSpPr txBox="1"/>
          <p:nvPr/>
        </p:nvSpPr>
        <p:spPr>
          <a:xfrm>
            <a:off x="4983756" y="2056771"/>
            <a:ext cx="1153607" cy="361370"/>
          </a:xfrm>
          <a:prstGeom prst="rect">
            <a:avLst/>
          </a:prstGeom>
          <a:noFill/>
        </p:spPr>
        <p:txBody>
          <a:bodyPr wrap="square" lIns="0" tIns="0" rIns="0" bIns="0" anchor="t">
            <a:spAutoFit/>
          </a:bodyPr>
          <a:lstStyle/>
          <a:p>
            <a:pPr marL="0" indent="0" algn="ctr">
              <a:buNone/>
            </a:pPr>
            <a:r>
              <a:rPr sz="620" b="1" i="0">
                <a:solidFill>
                  <a:srgbClr val="3A3A3A"/>
                </a:solidFill>
              </a:rPr>
              <a:t>Allow “LOTTE MART” to use your</a:t>
            </a:r>
          </a:p>
          <a:p>
            <a:pPr marL="0" indent="0" algn="ctr">
              <a:buNone/>
            </a:pPr>
            <a:r>
              <a:rPr sz="620" b="1" i="0">
                <a:solidFill>
                  <a:srgbClr val="3A3A3A"/>
                </a:solidFill>
              </a:rPr>
              <a:t>location?</a:t>
            </a:r>
          </a:p>
        </p:txBody>
      </p:sp>
      <p:sp>
        <p:nvSpPr>
          <p:cNvPr id="80" name="TextBox 79"/>
          <p:cNvSpPr txBox="1"/>
          <p:nvPr/>
        </p:nvSpPr>
        <p:spPr>
          <a:xfrm>
            <a:off x="4983756" y="2473738"/>
            <a:ext cx="1153607" cy="277977"/>
          </a:xfrm>
          <a:prstGeom prst="rect">
            <a:avLst/>
          </a:prstGeom>
          <a:noFill/>
        </p:spPr>
        <p:txBody>
          <a:bodyPr wrap="square" lIns="0" tIns="0" rIns="0" bIns="0" anchor="t">
            <a:spAutoFit/>
          </a:bodyPr>
          <a:lstStyle/>
          <a:p>
            <a:pPr marL="0" indent="0" algn="ctr">
              <a:buNone/>
            </a:pPr>
            <a:r>
              <a:rPr sz="540" b="0" i="0">
                <a:solidFill>
                  <a:srgbClr val="888888"/>
                </a:solidFill>
              </a:rPr>
              <a:t>Used to suggest the nearest store</a:t>
            </a:r>
          </a:p>
          <a:p>
            <a:pPr marL="0" indent="0" algn="ctr">
              <a:buNone/>
            </a:pPr>
            <a:r>
              <a:rPr sz="540" b="0" i="0">
                <a:solidFill>
                  <a:srgbClr val="888888"/>
                </a:solidFill>
              </a:rPr>
              <a:t>and estimate delivery time.</a:t>
            </a:r>
          </a:p>
        </p:txBody>
      </p:sp>
      <p:sp>
        <p:nvSpPr>
          <p:cNvPr id="81" name="Rectangle 80"/>
          <p:cNvSpPr/>
          <p:nvPr/>
        </p:nvSpPr>
        <p:spPr>
          <a:xfrm>
            <a:off x="4900363" y="2807311"/>
            <a:ext cx="1320393" cy="4632"/>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2" name="TextBox 81"/>
          <p:cNvSpPr txBox="1"/>
          <p:nvPr/>
        </p:nvSpPr>
        <p:spPr>
          <a:xfrm>
            <a:off x="4900363" y="2816577"/>
            <a:ext cx="657880" cy="185318"/>
          </a:xfrm>
          <a:prstGeom prst="rect">
            <a:avLst/>
          </a:prstGeom>
          <a:noFill/>
        </p:spPr>
        <p:txBody>
          <a:bodyPr wrap="square" lIns="0" tIns="0" rIns="0" bIns="0" anchor="ctr">
            <a:spAutoFit/>
          </a:bodyPr>
          <a:lstStyle/>
          <a:p>
            <a:pPr marL="0" indent="0" algn="ctr">
              <a:buNone/>
            </a:pPr>
            <a:r>
              <a:rPr sz="580" b="0" i="0">
                <a:solidFill>
                  <a:srgbClr val="0A63D6"/>
                </a:solidFill>
              </a:rPr>
              <a:t>Don't Allow</a:t>
            </a:r>
          </a:p>
        </p:txBody>
      </p:sp>
      <p:sp>
        <p:nvSpPr>
          <p:cNvPr id="83" name="TextBox 82"/>
          <p:cNvSpPr txBox="1"/>
          <p:nvPr/>
        </p:nvSpPr>
        <p:spPr>
          <a:xfrm>
            <a:off x="5562876" y="2816577"/>
            <a:ext cx="657880" cy="185318"/>
          </a:xfrm>
          <a:prstGeom prst="rect">
            <a:avLst/>
          </a:prstGeom>
          <a:noFill/>
        </p:spPr>
        <p:txBody>
          <a:bodyPr wrap="square" lIns="0" tIns="0" rIns="0" bIns="0" anchor="ctr">
            <a:spAutoFit/>
          </a:bodyPr>
          <a:lstStyle/>
          <a:p>
            <a:pPr marL="0" indent="0" algn="ctr">
              <a:buNone/>
            </a:pPr>
            <a:r>
              <a:rPr sz="580" b="1" i="0">
                <a:solidFill>
                  <a:srgbClr val="0A63D6"/>
                </a:solidFill>
              </a:rPr>
              <a:t>Allow While Using App</a:t>
            </a:r>
          </a:p>
        </p:txBody>
      </p:sp>
      <p:sp>
        <p:nvSpPr>
          <p:cNvPr id="84" name="Rectangle 83"/>
          <p:cNvSpPr/>
          <p:nvPr/>
        </p:nvSpPr>
        <p:spPr>
          <a:xfrm>
            <a:off x="5558243" y="2816577"/>
            <a:ext cx="4632" cy="185318"/>
          </a:xfrm>
          <a:prstGeom prst="rect">
            <a:avLst/>
          </a:prstGeom>
          <a:solidFill>
            <a:srgbClr val="E0E0E0"/>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5" name="TextBox 84"/>
          <p:cNvSpPr txBox="1"/>
          <p:nvPr/>
        </p:nvSpPr>
        <p:spPr>
          <a:xfrm>
            <a:off x="4900363" y="3057491"/>
            <a:ext cx="1320393" cy="111191"/>
          </a:xfrm>
          <a:prstGeom prst="rect">
            <a:avLst/>
          </a:prstGeom>
          <a:noFill/>
        </p:spPr>
        <p:txBody>
          <a:bodyPr wrap="square" lIns="0" tIns="0" rIns="0" bIns="0" anchor="ctr">
            <a:spAutoFit/>
          </a:bodyPr>
          <a:lstStyle/>
          <a:p>
            <a:pPr marL="0" indent="0" algn="ctr">
              <a:buNone/>
            </a:pPr>
            <a:r>
              <a:rPr sz="480" b="0" i="0">
                <a:solidFill>
                  <a:srgbClr val="AAAAAA"/>
                </a:solidFill>
              </a:rPr>
              <a:t>System dialog — wording set by the OS</a:t>
            </a:r>
          </a:p>
        </p:txBody>
      </p:sp>
      <p:sp>
        <p:nvSpPr>
          <p:cNvPr id="86" name="Oval 85"/>
          <p:cNvSpPr/>
          <p:nvPr/>
        </p:nvSpPr>
        <p:spPr>
          <a:xfrm>
            <a:off x="4525094" y="1973378"/>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7" name="TextBox 86"/>
          <p:cNvSpPr txBox="1"/>
          <p:nvPr/>
        </p:nvSpPr>
        <p:spPr>
          <a:xfrm>
            <a:off x="4525094" y="1973378"/>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88" name="Oval 87"/>
          <p:cNvSpPr/>
          <p:nvPr/>
        </p:nvSpPr>
        <p:spPr>
          <a:xfrm>
            <a:off x="4525094" y="2816577"/>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9" name="TextBox 88"/>
          <p:cNvSpPr txBox="1"/>
          <p:nvPr/>
        </p:nvSpPr>
        <p:spPr>
          <a:xfrm>
            <a:off x="4525094" y="2816577"/>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graphicFrame>
        <p:nvGraphicFramePr>
          <p:cNvPr id="90" name="Table 89"/>
          <p:cNvGraphicFramePr>
            <a:graphicFrameLocks noGrp="1"/>
          </p:cNvGraphicFramePr>
          <p:nvPr/>
        </p:nvGraphicFramePr>
        <p:xfrm>
          <a:off x="7196328" y="886968"/>
          <a:ext cx="4718304" cy="210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Activity tracking permission (ONB-02)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iOS ATT / Android equivalent. Deny or Allow. The answer has no effect on the journey — a customer who denies continues to the next step unchanged. Used only for cross-app personalisation.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Notification permission (ONB-03)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Deny or Allow. No effect on the journey. If denied, order-status messaging falls back to in-app and Zalo / SMS channels.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Location permission (ONB-04)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Deny or Allow. This is the only permission that changes what the next screen shows: Allowed → the nearest store is pre-selected by GPS at SCR-ONB-03; Denied → no default store is offered and the customer selects manually (BRL-02).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Dialog controls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System-rendered — LOTTE MART cannot restyle the buttons or the copy beyond the purpose string. Each dialog is shown once by the OS; a customer who declines can only change it later in device settings.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bl>
          </a:graphicData>
        </a:graphic>
      </p:graphicFrame>
      <p:sp>
        <p:nvSpPr>
          <p:cNvPr id="91" name="TextBox 90"/>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All three dialogs are presented before store selection, deliberately: a customer who allows location reaches the Homepage in the fewest taps. Denying any permission removes a convenience, never a capability — no permission is a pre-condition for browsing or buying. Purpose strings must be approved by LOTTE MART before store submission.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Onboarding (ONB)</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ONB-05</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SCR-ONB-03</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Onboarding — Store Selection  (mandatory)</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39</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State A  ·  Location allowed — nearest store pre-selected</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59436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6946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Select your store</a:t>
            </a:r>
          </a:p>
        </p:txBody>
      </p:sp>
      <p:sp>
        <p:nvSpPr>
          <p:cNvPr id="29" name="Rectangle 28"/>
          <p:cNvSpPr/>
          <p:nvPr/>
        </p:nvSpPr>
        <p:spPr>
          <a:xfrm>
            <a:off x="59436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0" name="TextBox 29"/>
          <p:cNvSpPr txBox="1"/>
          <p:nvPr/>
        </p:nvSpPr>
        <p:spPr>
          <a:xfrm>
            <a:off x="669462" y="1244449"/>
            <a:ext cx="1861474" cy="97231"/>
          </a:xfrm>
          <a:prstGeom prst="rect">
            <a:avLst/>
          </a:prstGeom>
          <a:noFill/>
        </p:spPr>
        <p:txBody>
          <a:bodyPr wrap="square" lIns="0" tIns="0" rIns="0" bIns="0" anchor="ctr">
            <a:spAutoFit/>
          </a:bodyPr>
          <a:lstStyle/>
          <a:p>
            <a:pPr marL="0" indent="0" algn="l">
              <a:buNone/>
            </a:pPr>
            <a:r>
              <a:rPr sz="580" b="0" i="0">
                <a:solidFill>
                  <a:srgbClr val="888888"/>
                </a:solidFill>
              </a:rPr>
              <a:t>Choose the LOTTE MART store you want to shop from</a:t>
            </a:r>
          </a:p>
        </p:txBody>
      </p:sp>
      <p:sp>
        <p:nvSpPr>
          <p:cNvPr id="31" name="Rounded Rectangle 30"/>
          <p:cNvSpPr/>
          <p:nvPr/>
        </p:nvSpPr>
        <p:spPr>
          <a:xfrm>
            <a:off x="669462" y="1378896"/>
            <a:ext cx="1861474" cy="160934"/>
          </a:xfrm>
          <a:prstGeom prst="roundRect">
            <a:avLst>
              <a:gd name="adj" fmla="val 20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744565" y="1417043"/>
            <a:ext cx="1609343" cy="84639"/>
          </a:xfrm>
          <a:prstGeom prst="rect">
            <a:avLst/>
          </a:prstGeom>
          <a:noFill/>
        </p:spPr>
        <p:txBody>
          <a:bodyPr wrap="square" lIns="0" tIns="0" rIns="0" bIns="0" anchor="ctr">
            <a:spAutoFit/>
          </a:bodyPr>
          <a:lstStyle/>
          <a:p>
            <a:r>
              <a:rPr sz="550" b="0" i="0" dirty="0">
                <a:solidFill>
                  <a:srgbClr val="AAAAAA"/>
                </a:solidFill>
              </a:rPr>
              <a:t>Search store</a:t>
            </a:r>
            <a:r>
              <a:rPr lang="en-US" sz="550" dirty="0">
                <a:solidFill>
                  <a:srgbClr val="AAAAAA"/>
                </a:solidFill>
              </a:rPr>
              <a:t> name</a:t>
            </a:r>
            <a:r>
              <a:rPr sz="550" b="0" i="0">
                <a:solidFill>
                  <a:srgbClr val="AAAAAA"/>
                </a:solidFill>
              </a:rPr>
              <a:t> or </a:t>
            </a:r>
            <a:r>
              <a:rPr lang="en-US" sz="550">
                <a:solidFill>
                  <a:srgbClr val="AAAAAA"/>
                </a:solidFill>
              </a:rPr>
              <a:t>province/city</a:t>
            </a:r>
            <a:endParaRPr lang="en-US" sz="550" b="0" i="0" dirty="0">
              <a:solidFill>
                <a:srgbClr val="AAAAAA"/>
              </a:solidFill>
              <a:ea typeface="Calibri"/>
              <a:cs typeface="Calibri"/>
            </a:endParaRPr>
          </a:p>
        </p:txBody>
      </p:sp>
      <p:sp>
        <p:nvSpPr>
          <p:cNvPr id="33" name="Rounded Rectangle 32"/>
          <p:cNvSpPr/>
          <p:nvPr/>
        </p:nvSpPr>
        <p:spPr>
          <a:xfrm>
            <a:off x="648004" y="1593475"/>
            <a:ext cx="1904390" cy="150205"/>
          </a:xfrm>
          <a:prstGeom prst="roundRect">
            <a:avLst>
              <a:gd name="adj" fmla="val 15000"/>
            </a:avLst>
          </a:prstGeom>
          <a:solidFill>
            <a:srgbClr val="E8F5EE"/>
          </a:solidFill>
          <a:ln w="6350">
            <a:solidFill>
              <a:srgbClr val="E8F5E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690920" y="1593475"/>
            <a:ext cx="96560" cy="150205"/>
          </a:xfrm>
          <a:prstGeom prst="rect">
            <a:avLst/>
          </a:prstGeom>
          <a:noFill/>
        </p:spPr>
        <p:txBody>
          <a:bodyPr wrap="square" lIns="0" tIns="0" rIns="0" bIns="0" anchor="ctr">
            <a:spAutoFit/>
          </a:bodyPr>
          <a:lstStyle/>
          <a:p>
            <a:pPr marL="0" indent="0" algn="ctr">
              <a:buNone/>
            </a:pPr>
            <a:r>
              <a:rPr sz="550" b="1" i="0">
                <a:solidFill>
                  <a:srgbClr val="1B7F4B"/>
                </a:solidFill>
              </a:rPr>
              <a:t>◉</a:t>
            </a:r>
          </a:p>
        </p:txBody>
      </p:sp>
      <p:sp>
        <p:nvSpPr>
          <p:cNvPr id="35" name="TextBox 34"/>
          <p:cNvSpPr txBox="1"/>
          <p:nvPr/>
        </p:nvSpPr>
        <p:spPr>
          <a:xfrm>
            <a:off x="819668" y="1593475"/>
            <a:ext cx="1700540" cy="150205"/>
          </a:xfrm>
          <a:prstGeom prst="rect">
            <a:avLst/>
          </a:prstGeom>
          <a:noFill/>
        </p:spPr>
        <p:txBody>
          <a:bodyPr wrap="square" lIns="0" tIns="0" rIns="0" bIns="0" anchor="ctr">
            <a:spAutoFit/>
          </a:bodyPr>
          <a:lstStyle/>
          <a:p>
            <a:pPr marL="0" indent="0" algn="l">
              <a:buNone/>
            </a:pPr>
            <a:r>
              <a:rPr sz="540" b="0" i="0">
                <a:solidFill>
                  <a:srgbClr val="1B7F4B"/>
                </a:solidFill>
              </a:rPr>
              <a:t>Nearest store found from your location</a:t>
            </a:r>
          </a:p>
        </p:txBody>
      </p:sp>
      <p:sp>
        <p:nvSpPr>
          <p:cNvPr id="36" name="Rounded Rectangle 35"/>
          <p:cNvSpPr/>
          <p:nvPr/>
        </p:nvSpPr>
        <p:spPr>
          <a:xfrm>
            <a:off x="669462" y="1775868"/>
            <a:ext cx="1861474" cy="300410"/>
          </a:xfrm>
          <a:prstGeom prst="roundRect">
            <a:avLst>
              <a:gd name="adj" fmla="val 12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TextBox 36"/>
          <p:cNvSpPr txBox="1"/>
          <p:nvPr/>
        </p:nvSpPr>
        <p:spPr>
          <a:xfrm>
            <a:off x="755294" y="1809731"/>
            <a:ext cx="1233830" cy="103936"/>
          </a:xfrm>
          <a:prstGeom prst="rect">
            <a:avLst/>
          </a:prstGeom>
          <a:noFill/>
        </p:spPr>
        <p:txBody>
          <a:bodyPr wrap="square" lIns="0" tIns="0" rIns="0" bIns="0" anchor="ctr">
            <a:spAutoFit/>
          </a:bodyPr>
          <a:lstStyle/>
          <a:p>
            <a:pPr marL="0" indent="0" algn="l">
              <a:buNone/>
            </a:pPr>
            <a:r>
              <a:rPr sz="620" b="1" i="0">
                <a:solidFill>
                  <a:srgbClr val="C8102E"/>
                </a:solidFill>
              </a:rPr>
              <a:t>LOTTE Mart Nam Sài Gòn</a:t>
            </a:r>
          </a:p>
        </p:txBody>
      </p:sp>
      <p:sp>
        <p:nvSpPr>
          <p:cNvPr id="38" name="TextBox 37"/>
          <p:cNvSpPr txBox="1"/>
          <p:nvPr/>
        </p:nvSpPr>
        <p:spPr>
          <a:xfrm>
            <a:off x="755294" y="1903945"/>
            <a:ext cx="1341120" cy="87172"/>
          </a:xfrm>
          <a:prstGeom prst="rect">
            <a:avLst/>
          </a:prstGeom>
          <a:noFill/>
        </p:spPr>
        <p:txBody>
          <a:bodyPr wrap="square" lIns="0" tIns="0" rIns="0" bIns="0" anchor="ctr">
            <a:spAutoFit/>
          </a:bodyPr>
          <a:lstStyle/>
          <a:p>
            <a:pPr marL="0" indent="0" algn="l">
              <a:buNone/>
            </a:pPr>
            <a:r>
              <a:rPr sz="520" b="0" i="0">
                <a:solidFill>
                  <a:srgbClr val="888888"/>
                </a:solidFill>
              </a:rPr>
              <a:t>Q.7  ·  2.1 km  ·  Open until 22:00</a:t>
            </a:r>
          </a:p>
        </p:txBody>
      </p:sp>
      <p:sp>
        <p:nvSpPr>
          <p:cNvPr id="39" name="Rounded Rectangle 38"/>
          <p:cNvSpPr/>
          <p:nvPr/>
        </p:nvSpPr>
        <p:spPr>
          <a:xfrm>
            <a:off x="2375367" y="1883157"/>
            <a:ext cx="80467" cy="80467"/>
          </a:xfrm>
          <a:prstGeom prst="roundRect">
            <a:avLst>
              <a:gd name="adj" fmla="val 5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TextBox 39"/>
          <p:cNvSpPr txBox="1"/>
          <p:nvPr/>
        </p:nvSpPr>
        <p:spPr>
          <a:xfrm>
            <a:off x="2375367" y="1883157"/>
            <a:ext cx="80467" cy="80467"/>
          </a:xfrm>
          <a:prstGeom prst="rect">
            <a:avLst/>
          </a:prstGeom>
          <a:noFill/>
        </p:spPr>
        <p:txBody>
          <a:bodyPr wrap="square" lIns="0" tIns="0" rIns="0" bIns="0" anchor="ctr">
            <a:spAutoFit/>
          </a:bodyPr>
          <a:lstStyle/>
          <a:p>
            <a:pPr marL="0" indent="0" algn="ctr">
              <a:buNone/>
            </a:pPr>
            <a:r>
              <a:rPr sz="459" b="1" i="0">
                <a:solidFill>
                  <a:srgbClr val="FFFFFF"/>
                </a:solidFill>
              </a:rPr>
              <a:t>✓</a:t>
            </a:r>
          </a:p>
        </p:txBody>
      </p:sp>
      <p:sp>
        <p:nvSpPr>
          <p:cNvPr id="41" name="Rounded Rectangle 40"/>
          <p:cNvSpPr/>
          <p:nvPr/>
        </p:nvSpPr>
        <p:spPr>
          <a:xfrm>
            <a:off x="2032040" y="1818783"/>
            <a:ext cx="278952" cy="75102"/>
          </a:xfrm>
          <a:prstGeom prst="roundRect">
            <a:avLst>
              <a:gd name="adj" fmla="val 50000"/>
            </a:avLst>
          </a:prstGeom>
          <a:solidFill>
            <a:srgbClr val="E8F5EE"/>
          </a:solidFill>
          <a:ln w="635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TextBox 41"/>
          <p:cNvSpPr txBox="1"/>
          <p:nvPr/>
        </p:nvSpPr>
        <p:spPr>
          <a:xfrm>
            <a:off x="2032040" y="1818783"/>
            <a:ext cx="278952" cy="75102"/>
          </a:xfrm>
          <a:prstGeom prst="rect">
            <a:avLst/>
          </a:prstGeom>
          <a:noFill/>
        </p:spPr>
        <p:txBody>
          <a:bodyPr wrap="square" lIns="0" tIns="0" rIns="0" bIns="0" anchor="ctr">
            <a:spAutoFit/>
          </a:bodyPr>
          <a:lstStyle/>
          <a:p>
            <a:pPr marL="0" indent="0" algn="ctr">
              <a:buNone/>
            </a:pPr>
            <a:r>
              <a:rPr sz="440" b="1" i="0">
                <a:solidFill>
                  <a:srgbClr val="1B7F4B"/>
                </a:solidFill>
              </a:rPr>
              <a:t>Nearest</a:t>
            </a:r>
          </a:p>
        </p:txBody>
      </p:sp>
      <p:sp>
        <p:nvSpPr>
          <p:cNvPr id="43" name="Rounded Rectangle 42"/>
          <p:cNvSpPr/>
          <p:nvPr/>
        </p:nvSpPr>
        <p:spPr>
          <a:xfrm>
            <a:off x="669462" y="2119194"/>
            <a:ext cx="1861474" cy="300410"/>
          </a:xfrm>
          <a:prstGeom prst="roundRect">
            <a:avLst>
              <a:gd name="adj" fmla="val 12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4" name="TextBox 43"/>
          <p:cNvSpPr txBox="1"/>
          <p:nvPr/>
        </p:nvSpPr>
        <p:spPr>
          <a:xfrm>
            <a:off x="755294" y="2153058"/>
            <a:ext cx="1233830" cy="103936"/>
          </a:xfrm>
          <a:prstGeom prst="rect">
            <a:avLst/>
          </a:prstGeom>
          <a:noFill/>
        </p:spPr>
        <p:txBody>
          <a:bodyPr wrap="square" lIns="0" tIns="0" rIns="0" bIns="0" anchor="ctr">
            <a:spAutoFit/>
          </a:bodyPr>
          <a:lstStyle/>
          <a:p>
            <a:pPr marL="0" indent="0" algn="l">
              <a:buNone/>
            </a:pPr>
            <a:r>
              <a:rPr sz="620" b="1" i="0">
                <a:solidFill>
                  <a:srgbClr val="222222"/>
                </a:solidFill>
              </a:rPr>
              <a:t>LOTTE Mart Tân Bình</a:t>
            </a:r>
          </a:p>
        </p:txBody>
      </p:sp>
      <p:sp>
        <p:nvSpPr>
          <p:cNvPr id="45" name="TextBox 44"/>
          <p:cNvSpPr txBox="1"/>
          <p:nvPr/>
        </p:nvSpPr>
        <p:spPr>
          <a:xfrm>
            <a:off x="755294" y="2247272"/>
            <a:ext cx="1341120" cy="87172"/>
          </a:xfrm>
          <a:prstGeom prst="rect">
            <a:avLst/>
          </a:prstGeom>
          <a:noFill/>
        </p:spPr>
        <p:txBody>
          <a:bodyPr wrap="square" lIns="0" tIns="0" rIns="0" bIns="0" anchor="ctr">
            <a:spAutoFit/>
          </a:bodyPr>
          <a:lstStyle/>
          <a:p>
            <a:pPr marL="0" indent="0" algn="l">
              <a:buNone/>
            </a:pPr>
            <a:r>
              <a:rPr sz="520" b="0" i="0">
                <a:solidFill>
                  <a:srgbClr val="888888"/>
                </a:solidFill>
              </a:rPr>
              <a:t>Q. Tân Bình  ·  6.8 km  ·  Open until 22:00</a:t>
            </a:r>
          </a:p>
        </p:txBody>
      </p:sp>
      <p:sp>
        <p:nvSpPr>
          <p:cNvPr id="46" name="Rounded Rectangle 45"/>
          <p:cNvSpPr/>
          <p:nvPr/>
        </p:nvSpPr>
        <p:spPr>
          <a:xfrm>
            <a:off x="2375367" y="2226484"/>
            <a:ext cx="80467" cy="80467"/>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Rounded Rectangle 46"/>
          <p:cNvSpPr/>
          <p:nvPr/>
        </p:nvSpPr>
        <p:spPr>
          <a:xfrm>
            <a:off x="669462" y="2462521"/>
            <a:ext cx="1861474" cy="300410"/>
          </a:xfrm>
          <a:prstGeom prst="roundRect">
            <a:avLst>
              <a:gd name="adj" fmla="val 12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8" name="TextBox 47"/>
          <p:cNvSpPr txBox="1"/>
          <p:nvPr/>
        </p:nvSpPr>
        <p:spPr>
          <a:xfrm>
            <a:off x="755294" y="2496384"/>
            <a:ext cx="1233830" cy="103936"/>
          </a:xfrm>
          <a:prstGeom prst="rect">
            <a:avLst/>
          </a:prstGeom>
          <a:noFill/>
        </p:spPr>
        <p:txBody>
          <a:bodyPr wrap="square" lIns="0" tIns="0" rIns="0" bIns="0" anchor="ctr">
            <a:spAutoFit/>
          </a:bodyPr>
          <a:lstStyle/>
          <a:p>
            <a:pPr marL="0" indent="0" algn="l">
              <a:buNone/>
            </a:pPr>
            <a:r>
              <a:rPr sz="620" b="1" i="0">
                <a:solidFill>
                  <a:srgbClr val="222222"/>
                </a:solidFill>
              </a:rPr>
              <a:t>LOTTE Mart Gò Vấp</a:t>
            </a:r>
          </a:p>
        </p:txBody>
      </p:sp>
      <p:sp>
        <p:nvSpPr>
          <p:cNvPr id="49" name="TextBox 48"/>
          <p:cNvSpPr txBox="1"/>
          <p:nvPr/>
        </p:nvSpPr>
        <p:spPr>
          <a:xfrm>
            <a:off x="755294" y="2590599"/>
            <a:ext cx="1341120" cy="87172"/>
          </a:xfrm>
          <a:prstGeom prst="rect">
            <a:avLst/>
          </a:prstGeom>
          <a:noFill/>
        </p:spPr>
        <p:txBody>
          <a:bodyPr wrap="square" lIns="0" tIns="0" rIns="0" bIns="0" anchor="ctr">
            <a:spAutoFit/>
          </a:bodyPr>
          <a:lstStyle/>
          <a:p>
            <a:pPr marL="0" indent="0" algn="l">
              <a:buNone/>
            </a:pPr>
            <a:r>
              <a:rPr sz="520" b="0" i="0">
                <a:solidFill>
                  <a:srgbClr val="888888"/>
                </a:solidFill>
              </a:rPr>
              <a:t>Q. Gò Vấp  ·  9.4 km  ·  Open until 22:00</a:t>
            </a:r>
          </a:p>
        </p:txBody>
      </p:sp>
      <p:sp>
        <p:nvSpPr>
          <p:cNvPr id="50" name="Rounded Rectangle 49"/>
          <p:cNvSpPr/>
          <p:nvPr/>
        </p:nvSpPr>
        <p:spPr>
          <a:xfrm>
            <a:off x="2375367" y="2569811"/>
            <a:ext cx="80467" cy="80467"/>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1" name="Rounded Rectangle 50"/>
          <p:cNvSpPr/>
          <p:nvPr/>
        </p:nvSpPr>
        <p:spPr>
          <a:xfrm>
            <a:off x="669462" y="2805848"/>
            <a:ext cx="1861474" cy="300410"/>
          </a:xfrm>
          <a:prstGeom prst="roundRect">
            <a:avLst>
              <a:gd name="adj" fmla="val 12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2" name="TextBox 51"/>
          <p:cNvSpPr txBox="1"/>
          <p:nvPr/>
        </p:nvSpPr>
        <p:spPr>
          <a:xfrm>
            <a:off x="755294" y="2839711"/>
            <a:ext cx="1233830" cy="103936"/>
          </a:xfrm>
          <a:prstGeom prst="rect">
            <a:avLst/>
          </a:prstGeom>
          <a:noFill/>
        </p:spPr>
        <p:txBody>
          <a:bodyPr wrap="square" lIns="0" tIns="0" rIns="0" bIns="0" anchor="ctr">
            <a:spAutoFit/>
          </a:bodyPr>
          <a:lstStyle/>
          <a:p>
            <a:pPr marL="0" indent="0" algn="l">
              <a:buNone/>
            </a:pPr>
            <a:r>
              <a:rPr sz="620" b="1" i="0">
                <a:solidFill>
                  <a:srgbClr val="222222"/>
                </a:solidFill>
              </a:rPr>
              <a:t>LOTTE Mart Phú Thọ</a:t>
            </a:r>
          </a:p>
        </p:txBody>
      </p:sp>
      <p:sp>
        <p:nvSpPr>
          <p:cNvPr id="53" name="TextBox 52"/>
          <p:cNvSpPr txBox="1"/>
          <p:nvPr/>
        </p:nvSpPr>
        <p:spPr>
          <a:xfrm>
            <a:off x="755294" y="2933925"/>
            <a:ext cx="1341120" cy="87172"/>
          </a:xfrm>
          <a:prstGeom prst="rect">
            <a:avLst/>
          </a:prstGeom>
          <a:noFill/>
        </p:spPr>
        <p:txBody>
          <a:bodyPr wrap="square" lIns="0" tIns="0" rIns="0" bIns="0" anchor="ctr">
            <a:spAutoFit/>
          </a:bodyPr>
          <a:lstStyle/>
          <a:p>
            <a:pPr marL="0" indent="0" algn="l">
              <a:buNone/>
            </a:pPr>
            <a:r>
              <a:rPr sz="520" b="0" i="0">
                <a:solidFill>
                  <a:srgbClr val="888888"/>
                </a:solidFill>
              </a:rPr>
              <a:t>Q.11  ·  11.2 km  ·  Open until 22:00</a:t>
            </a:r>
          </a:p>
        </p:txBody>
      </p:sp>
      <p:sp>
        <p:nvSpPr>
          <p:cNvPr id="54" name="Rounded Rectangle 53"/>
          <p:cNvSpPr/>
          <p:nvPr/>
        </p:nvSpPr>
        <p:spPr>
          <a:xfrm>
            <a:off x="2375367" y="2913137"/>
            <a:ext cx="80467" cy="80467"/>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5" name="Rectangle 54"/>
          <p:cNvSpPr/>
          <p:nvPr/>
        </p:nvSpPr>
        <p:spPr>
          <a:xfrm>
            <a:off x="594360" y="4506388"/>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6" name="Rectangle 55"/>
          <p:cNvSpPr/>
          <p:nvPr/>
        </p:nvSpPr>
        <p:spPr>
          <a:xfrm>
            <a:off x="594360" y="4506388"/>
            <a:ext cx="2011679" cy="34332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7" name="Rounded Rectangle 56"/>
          <p:cNvSpPr/>
          <p:nvPr/>
        </p:nvSpPr>
        <p:spPr>
          <a:xfrm>
            <a:off x="669462" y="4570762"/>
            <a:ext cx="1861474" cy="160934"/>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8" name="TextBox 57"/>
          <p:cNvSpPr txBox="1"/>
          <p:nvPr/>
        </p:nvSpPr>
        <p:spPr>
          <a:xfrm>
            <a:off x="669462" y="4570762"/>
            <a:ext cx="1861474" cy="160934"/>
          </a:xfrm>
          <a:prstGeom prst="rect">
            <a:avLst/>
          </a:prstGeom>
          <a:noFill/>
        </p:spPr>
        <p:txBody>
          <a:bodyPr wrap="square" lIns="0" tIns="0" rIns="0" bIns="0" anchor="ctr">
            <a:spAutoFit/>
          </a:bodyPr>
          <a:lstStyle/>
          <a:p>
            <a:pPr marL="0" indent="0" algn="ctr">
              <a:buNone/>
            </a:pPr>
            <a:r>
              <a:rPr sz="650" b="1" i="0">
                <a:solidFill>
                  <a:srgbClr val="FFFFFF"/>
                </a:solidFill>
              </a:rPr>
              <a:t>Continue</a:t>
            </a:r>
          </a:p>
        </p:txBody>
      </p:sp>
      <p:sp>
        <p:nvSpPr>
          <p:cNvPr id="59" name="Oval 58"/>
          <p:cNvSpPr/>
          <p:nvPr/>
        </p:nvSpPr>
        <p:spPr>
          <a:xfrm>
            <a:off x="379781" y="1212597"/>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0" name="TextBox 59"/>
          <p:cNvSpPr txBox="1"/>
          <p:nvPr/>
        </p:nvSpPr>
        <p:spPr>
          <a:xfrm>
            <a:off x="379781" y="1212597"/>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61" name="Oval 60"/>
          <p:cNvSpPr/>
          <p:nvPr/>
        </p:nvSpPr>
        <p:spPr>
          <a:xfrm>
            <a:off x="379781" y="1416448"/>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2" name="TextBox 61"/>
          <p:cNvSpPr txBox="1"/>
          <p:nvPr/>
        </p:nvSpPr>
        <p:spPr>
          <a:xfrm>
            <a:off x="379781" y="1416448"/>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63" name="Oval 62"/>
          <p:cNvSpPr/>
          <p:nvPr/>
        </p:nvSpPr>
        <p:spPr>
          <a:xfrm>
            <a:off x="379781" y="178123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4" name="TextBox 63"/>
          <p:cNvSpPr txBox="1"/>
          <p:nvPr/>
        </p:nvSpPr>
        <p:spPr>
          <a:xfrm>
            <a:off x="379781" y="178123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65" name="Oval 64"/>
          <p:cNvSpPr/>
          <p:nvPr/>
        </p:nvSpPr>
        <p:spPr>
          <a:xfrm>
            <a:off x="379781" y="2124559"/>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6" name="TextBox 65"/>
          <p:cNvSpPr txBox="1"/>
          <p:nvPr/>
        </p:nvSpPr>
        <p:spPr>
          <a:xfrm>
            <a:off x="379781" y="2124559"/>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67" name="Oval 66"/>
          <p:cNvSpPr/>
          <p:nvPr/>
        </p:nvSpPr>
        <p:spPr>
          <a:xfrm>
            <a:off x="379781" y="4581491"/>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8" name="TextBox 67"/>
          <p:cNvSpPr txBox="1"/>
          <p:nvPr/>
        </p:nvSpPr>
        <p:spPr>
          <a:xfrm>
            <a:off x="379781" y="4581491"/>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sp>
        <p:nvSpPr>
          <p:cNvPr id="69" name="Rounded Rectangle 68"/>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0" name="Rectangle 69"/>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1" name="TextBox 70"/>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State B  ·  Location denied — no default, manual selection</a:t>
            </a:r>
          </a:p>
        </p:txBody>
      </p:sp>
      <p:sp>
        <p:nvSpPr>
          <p:cNvPr id="72" name="TextBox 71"/>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73" name="TextBox 72"/>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74" name="Rectangle 73"/>
          <p:cNvSpPr/>
          <p:nvPr/>
        </p:nvSpPr>
        <p:spPr>
          <a:xfrm>
            <a:off x="338328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5" name="TextBox 74"/>
          <p:cNvSpPr txBox="1"/>
          <p:nvPr/>
        </p:nvSpPr>
        <p:spPr>
          <a:xfrm>
            <a:off x="345838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Select your store</a:t>
            </a:r>
          </a:p>
        </p:txBody>
      </p:sp>
      <p:sp>
        <p:nvSpPr>
          <p:cNvPr id="76" name="Rectangle 75"/>
          <p:cNvSpPr/>
          <p:nvPr/>
        </p:nvSpPr>
        <p:spPr>
          <a:xfrm>
            <a:off x="338328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7" name="TextBox 76"/>
          <p:cNvSpPr txBox="1"/>
          <p:nvPr/>
        </p:nvSpPr>
        <p:spPr>
          <a:xfrm>
            <a:off x="3458382" y="1244449"/>
            <a:ext cx="1861474" cy="97231"/>
          </a:xfrm>
          <a:prstGeom prst="rect">
            <a:avLst/>
          </a:prstGeom>
          <a:noFill/>
        </p:spPr>
        <p:txBody>
          <a:bodyPr wrap="square" lIns="0" tIns="0" rIns="0" bIns="0" anchor="ctr">
            <a:spAutoFit/>
          </a:bodyPr>
          <a:lstStyle/>
          <a:p>
            <a:pPr marL="0" indent="0" algn="l">
              <a:buNone/>
            </a:pPr>
            <a:r>
              <a:rPr sz="580" b="0" i="0">
                <a:solidFill>
                  <a:srgbClr val="888888"/>
                </a:solidFill>
              </a:rPr>
              <a:t>Choose the LOTTE MART store you want to shop from</a:t>
            </a:r>
          </a:p>
        </p:txBody>
      </p:sp>
      <p:sp>
        <p:nvSpPr>
          <p:cNvPr id="78" name="Rounded Rectangle 77"/>
          <p:cNvSpPr/>
          <p:nvPr/>
        </p:nvSpPr>
        <p:spPr>
          <a:xfrm>
            <a:off x="3458382" y="1378896"/>
            <a:ext cx="1861474" cy="160934"/>
          </a:xfrm>
          <a:prstGeom prst="roundRect">
            <a:avLst>
              <a:gd name="adj" fmla="val 20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TextBox 78"/>
          <p:cNvSpPr txBox="1"/>
          <p:nvPr/>
        </p:nvSpPr>
        <p:spPr>
          <a:xfrm>
            <a:off x="3533485" y="1417043"/>
            <a:ext cx="1609343" cy="84639"/>
          </a:xfrm>
          <a:prstGeom prst="rect">
            <a:avLst/>
          </a:prstGeom>
          <a:noFill/>
        </p:spPr>
        <p:txBody>
          <a:bodyPr wrap="square" lIns="0" tIns="0" rIns="0" bIns="0" anchor="ctr">
            <a:spAutoFit/>
          </a:bodyPr>
          <a:lstStyle/>
          <a:p>
            <a:r>
              <a:rPr sz="550" b="0" i="0">
                <a:solidFill>
                  <a:srgbClr val="AAAAAA"/>
                </a:solidFill>
              </a:rPr>
              <a:t>Search store </a:t>
            </a:r>
            <a:r>
              <a:rPr lang="en-US" sz="550">
                <a:solidFill>
                  <a:srgbClr val="AAAAAA"/>
                </a:solidFill>
              </a:rPr>
              <a:t>name or province/city</a:t>
            </a:r>
            <a:endParaRPr sz="580" b="0" i="0">
              <a:solidFill>
                <a:srgbClr val="AAAAAA"/>
              </a:solidFill>
            </a:endParaRPr>
          </a:p>
        </p:txBody>
      </p:sp>
      <p:sp>
        <p:nvSpPr>
          <p:cNvPr id="80" name="Rounded Rectangle 79"/>
          <p:cNvSpPr/>
          <p:nvPr/>
        </p:nvSpPr>
        <p:spPr>
          <a:xfrm>
            <a:off x="3436924" y="1593475"/>
            <a:ext cx="1904390" cy="150205"/>
          </a:xfrm>
          <a:prstGeom prst="roundRect">
            <a:avLst>
              <a:gd name="adj" fmla="val 15000"/>
            </a:avLst>
          </a:prstGeom>
          <a:solidFill>
            <a:srgbClr val="FFF6E5"/>
          </a:solidFill>
          <a:ln w="6350">
            <a:solidFill>
              <a:srgbClr val="FFF6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1" name="TextBox 80"/>
          <p:cNvSpPr txBox="1"/>
          <p:nvPr/>
        </p:nvSpPr>
        <p:spPr>
          <a:xfrm>
            <a:off x="3479840" y="1593475"/>
            <a:ext cx="96560" cy="150205"/>
          </a:xfrm>
          <a:prstGeom prst="rect">
            <a:avLst/>
          </a:prstGeom>
          <a:noFill/>
        </p:spPr>
        <p:txBody>
          <a:bodyPr wrap="square" lIns="0" tIns="0" rIns="0" bIns="0" anchor="ctr">
            <a:spAutoFit/>
          </a:bodyPr>
          <a:lstStyle/>
          <a:p>
            <a:pPr marL="0" indent="0" algn="ctr">
              <a:buNone/>
            </a:pPr>
            <a:r>
              <a:rPr sz="550" b="1" i="0">
                <a:solidFill>
                  <a:srgbClr val="B26A00"/>
                </a:solidFill>
              </a:rPr>
              <a:t>!</a:t>
            </a:r>
          </a:p>
        </p:txBody>
      </p:sp>
      <p:sp>
        <p:nvSpPr>
          <p:cNvPr id="82" name="TextBox 81"/>
          <p:cNvSpPr txBox="1"/>
          <p:nvPr/>
        </p:nvSpPr>
        <p:spPr>
          <a:xfrm>
            <a:off x="3608588" y="1593475"/>
            <a:ext cx="1700540" cy="150205"/>
          </a:xfrm>
          <a:prstGeom prst="rect">
            <a:avLst/>
          </a:prstGeom>
          <a:noFill/>
        </p:spPr>
        <p:txBody>
          <a:bodyPr wrap="square" lIns="0" tIns="0" rIns="0" bIns="0" anchor="ctr">
            <a:spAutoFit/>
          </a:bodyPr>
          <a:lstStyle/>
          <a:p>
            <a:pPr marL="0" indent="0" algn="l">
              <a:buNone/>
            </a:pPr>
            <a:r>
              <a:rPr sz="540" b="0" i="0">
                <a:solidFill>
                  <a:srgbClr val="B26A00"/>
                </a:solidFill>
              </a:rPr>
              <a:t>Location is off — select a store manually, or turn location on</a:t>
            </a:r>
          </a:p>
        </p:txBody>
      </p:sp>
      <p:sp>
        <p:nvSpPr>
          <p:cNvPr id="83" name="Rounded Rectangle 82"/>
          <p:cNvSpPr/>
          <p:nvPr/>
        </p:nvSpPr>
        <p:spPr>
          <a:xfrm>
            <a:off x="3458382" y="1775868"/>
            <a:ext cx="1861474" cy="300410"/>
          </a:xfrm>
          <a:prstGeom prst="roundRect">
            <a:avLst>
              <a:gd name="adj" fmla="val 12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4" name="TextBox 83"/>
          <p:cNvSpPr txBox="1"/>
          <p:nvPr/>
        </p:nvSpPr>
        <p:spPr>
          <a:xfrm>
            <a:off x="3544214" y="1809731"/>
            <a:ext cx="1233830" cy="103936"/>
          </a:xfrm>
          <a:prstGeom prst="rect">
            <a:avLst/>
          </a:prstGeom>
          <a:noFill/>
        </p:spPr>
        <p:txBody>
          <a:bodyPr wrap="square" lIns="0" tIns="0" rIns="0" bIns="0" anchor="ctr">
            <a:spAutoFit/>
          </a:bodyPr>
          <a:lstStyle/>
          <a:p>
            <a:pPr marL="0" indent="0" algn="l">
              <a:buNone/>
            </a:pPr>
            <a:r>
              <a:rPr sz="620" b="1" i="0">
                <a:solidFill>
                  <a:srgbClr val="222222"/>
                </a:solidFill>
              </a:rPr>
              <a:t>LOTTE Mart Nam Sài Gòn</a:t>
            </a:r>
          </a:p>
        </p:txBody>
      </p:sp>
      <p:sp>
        <p:nvSpPr>
          <p:cNvPr id="85" name="TextBox 84"/>
          <p:cNvSpPr txBox="1"/>
          <p:nvPr/>
        </p:nvSpPr>
        <p:spPr>
          <a:xfrm>
            <a:off x="3544214" y="1903945"/>
            <a:ext cx="1341120" cy="87172"/>
          </a:xfrm>
          <a:prstGeom prst="rect">
            <a:avLst/>
          </a:prstGeom>
          <a:noFill/>
        </p:spPr>
        <p:txBody>
          <a:bodyPr wrap="square" lIns="0" tIns="0" rIns="0" bIns="0" anchor="ctr">
            <a:spAutoFit/>
          </a:bodyPr>
          <a:lstStyle/>
          <a:p>
            <a:pPr marL="0" indent="0" algn="l">
              <a:buNone/>
            </a:pPr>
            <a:r>
              <a:rPr sz="520" b="0" i="0">
                <a:solidFill>
                  <a:srgbClr val="888888"/>
                </a:solidFill>
              </a:rPr>
              <a:t>Q.7  ·  Open until 22:00</a:t>
            </a:r>
          </a:p>
        </p:txBody>
      </p:sp>
      <p:sp>
        <p:nvSpPr>
          <p:cNvPr id="86" name="Rounded Rectangle 85"/>
          <p:cNvSpPr/>
          <p:nvPr/>
        </p:nvSpPr>
        <p:spPr>
          <a:xfrm>
            <a:off x="5164287" y="1883157"/>
            <a:ext cx="80467" cy="80467"/>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7" name="Rounded Rectangle 86"/>
          <p:cNvSpPr/>
          <p:nvPr/>
        </p:nvSpPr>
        <p:spPr>
          <a:xfrm>
            <a:off x="3458382" y="2119194"/>
            <a:ext cx="1861474" cy="300410"/>
          </a:xfrm>
          <a:prstGeom prst="roundRect">
            <a:avLst>
              <a:gd name="adj" fmla="val 12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8" name="TextBox 87"/>
          <p:cNvSpPr txBox="1"/>
          <p:nvPr/>
        </p:nvSpPr>
        <p:spPr>
          <a:xfrm>
            <a:off x="3544214" y="2153058"/>
            <a:ext cx="1233830" cy="103936"/>
          </a:xfrm>
          <a:prstGeom prst="rect">
            <a:avLst/>
          </a:prstGeom>
          <a:noFill/>
        </p:spPr>
        <p:txBody>
          <a:bodyPr wrap="square" lIns="0" tIns="0" rIns="0" bIns="0" anchor="ctr">
            <a:spAutoFit/>
          </a:bodyPr>
          <a:lstStyle/>
          <a:p>
            <a:pPr marL="0" indent="0" algn="l">
              <a:buNone/>
            </a:pPr>
            <a:r>
              <a:rPr sz="620" b="1" i="0">
                <a:solidFill>
                  <a:srgbClr val="222222"/>
                </a:solidFill>
              </a:rPr>
              <a:t>LOTTE Mart Tân Bình</a:t>
            </a:r>
          </a:p>
        </p:txBody>
      </p:sp>
      <p:sp>
        <p:nvSpPr>
          <p:cNvPr id="89" name="TextBox 88"/>
          <p:cNvSpPr txBox="1"/>
          <p:nvPr/>
        </p:nvSpPr>
        <p:spPr>
          <a:xfrm>
            <a:off x="3544214" y="2247272"/>
            <a:ext cx="1341120" cy="87172"/>
          </a:xfrm>
          <a:prstGeom prst="rect">
            <a:avLst/>
          </a:prstGeom>
          <a:noFill/>
        </p:spPr>
        <p:txBody>
          <a:bodyPr wrap="square" lIns="0" tIns="0" rIns="0" bIns="0" anchor="ctr">
            <a:spAutoFit/>
          </a:bodyPr>
          <a:lstStyle/>
          <a:p>
            <a:pPr marL="0" indent="0" algn="l">
              <a:buNone/>
            </a:pPr>
            <a:r>
              <a:rPr sz="520" b="0" i="0">
                <a:solidFill>
                  <a:srgbClr val="888888"/>
                </a:solidFill>
              </a:rPr>
              <a:t>Q. Tân Bình  ·  Open until 22:00</a:t>
            </a:r>
          </a:p>
        </p:txBody>
      </p:sp>
      <p:sp>
        <p:nvSpPr>
          <p:cNvPr id="90" name="Rounded Rectangle 89"/>
          <p:cNvSpPr/>
          <p:nvPr/>
        </p:nvSpPr>
        <p:spPr>
          <a:xfrm>
            <a:off x="5164287" y="2226484"/>
            <a:ext cx="80467" cy="80467"/>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1" name="Rounded Rectangle 90"/>
          <p:cNvSpPr/>
          <p:nvPr/>
        </p:nvSpPr>
        <p:spPr>
          <a:xfrm>
            <a:off x="3458382" y="2462521"/>
            <a:ext cx="1861474" cy="300410"/>
          </a:xfrm>
          <a:prstGeom prst="roundRect">
            <a:avLst>
              <a:gd name="adj" fmla="val 12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2" name="TextBox 91"/>
          <p:cNvSpPr txBox="1"/>
          <p:nvPr/>
        </p:nvSpPr>
        <p:spPr>
          <a:xfrm>
            <a:off x="3544214" y="2496384"/>
            <a:ext cx="1233830" cy="103936"/>
          </a:xfrm>
          <a:prstGeom prst="rect">
            <a:avLst/>
          </a:prstGeom>
          <a:noFill/>
        </p:spPr>
        <p:txBody>
          <a:bodyPr wrap="square" lIns="0" tIns="0" rIns="0" bIns="0" anchor="ctr">
            <a:spAutoFit/>
          </a:bodyPr>
          <a:lstStyle/>
          <a:p>
            <a:pPr marL="0" indent="0" algn="l">
              <a:buNone/>
            </a:pPr>
            <a:r>
              <a:rPr sz="620" b="1" i="0">
                <a:solidFill>
                  <a:srgbClr val="222222"/>
                </a:solidFill>
              </a:rPr>
              <a:t>LOTTE Mart Gò Vấp</a:t>
            </a:r>
          </a:p>
        </p:txBody>
      </p:sp>
      <p:sp>
        <p:nvSpPr>
          <p:cNvPr id="93" name="TextBox 92"/>
          <p:cNvSpPr txBox="1"/>
          <p:nvPr/>
        </p:nvSpPr>
        <p:spPr>
          <a:xfrm>
            <a:off x="3544214" y="2590599"/>
            <a:ext cx="1341120" cy="87172"/>
          </a:xfrm>
          <a:prstGeom prst="rect">
            <a:avLst/>
          </a:prstGeom>
          <a:noFill/>
        </p:spPr>
        <p:txBody>
          <a:bodyPr wrap="square" lIns="0" tIns="0" rIns="0" bIns="0" anchor="ctr">
            <a:spAutoFit/>
          </a:bodyPr>
          <a:lstStyle/>
          <a:p>
            <a:pPr marL="0" indent="0" algn="l">
              <a:buNone/>
            </a:pPr>
            <a:r>
              <a:rPr sz="520" b="0" i="0">
                <a:solidFill>
                  <a:srgbClr val="888888"/>
                </a:solidFill>
              </a:rPr>
              <a:t>Q. Gò Vấp  ·  Open until 22:00</a:t>
            </a:r>
          </a:p>
        </p:txBody>
      </p:sp>
      <p:sp>
        <p:nvSpPr>
          <p:cNvPr id="94" name="Rounded Rectangle 93"/>
          <p:cNvSpPr/>
          <p:nvPr/>
        </p:nvSpPr>
        <p:spPr>
          <a:xfrm>
            <a:off x="5164287" y="2569811"/>
            <a:ext cx="80467" cy="80467"/>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5" name="Rounded Rectangle 94"/>
          <p:cNvSpPr/>
          <p:nvPr/>
        </p:nvSpPr>
        <p:spPr>
          <a:xfrm>
            <a:off x="3458382" y="2805848"/>
            <a:ext cx="1861474" cy="300410"/>
          </a:xfrm>
          <a:prstGeom prst="roundRect">
            <a:avLst>
              <a:gd name="adj" fmla="val 12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6" name="TextBox 95"/>
          <p:cNvSpPr txBox="1"/>
          <p:nvPr/>
        </p:nvSpPr>
        <p:spPr>
          <a:xfrm>
            <a:off x="3544214" y="2839711"/>
            <a:ext cx="1233830" cy="103936"/>
          </a:xfrm>
          <a:prstGeom prst="rect">
            <a:avLst/>
          </a:prstGeom>
          <a:noFill/>
        </p:spPr>
        <p:txBody>
          <a:bodyPr wrap="square" lIns="0" tIns="0" rIns="0" bIns="0" anchor="ctr">
            <a:spAutoFit/>
          </a:bodyPr>
          <a:lstStyle/>
          <a:p>
            <a:pPr marL="0" indent="0" algn="l">
              <a:buNone/>
            </a:pPr>
            <a:r>
              <a:rPr sz="620" b="1" i="0">
                <a:solidFill>
                  <a:srgbClr val="222222"/>
                </a:solidFill>
              </a:rPr>
              <a:t>LOTTE Mart Phú Thọ</a:t>
            </a:r>
          </a:p>
        </p:txBody>
      </p:sp>
      <p:sp>
        <p:nvSpPr>
          <p:cNvPr id="97" name="TextBox 96"/>
          <p:cNvSpPr txBox="1"/>
          <p:nvPr/>
        </p:nvSpPr>
        <p:spPr>
          <a:xfrm>
            <a:off x="3544214" y="2933925"/>
            <a:ext cx="1341120" cy="87172"/>
          </a:xfrm>
          <a:prstGeom prst="rect">
            <a:avLst/>
          </a:prstGeom>
          <a:noFill/>
        </p:spPr>
        <p:txBody>
          <a:bodyPr wrap="square" lIns="0" tIns="0" rIns="0" bIns="0" anchor="ctr">
            <a:spAutoFit/>
          </a:bodyPr>
          <a:lstStyle/>
          <a:p>
            <a:pPr marL="0" indent="0" algn="l">
              <a:buNone/>
            </a:pPr>
            <a:r>
              <a:rPr sz="520" b="0" i="0">
                <a:solidFill>
                  <a:srgbClr val="888888"/>
                </a:solidFill>
              </a:rPr>
              <a:t>Q.11  ·  Open until 22:00</a:t>
            </a:r>
          </a:p>
        </p:txBody>
      </p:sp>
      <p:sp>
        <p:nvSpPr>
          <p:cNvPr id="98" name="Rounded Rectangle 97"/>
          <p:cNvSpPr/>
          <p:nvPr/>
        </p:nvSpPr>
        <p:spPr>
          <a:xfrm>
            <a:off x="5164287" y="2913137"/>
            <a:ext cx="80467" cy="80467"/>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9" name="Rectangle 98"/>
          <p:cNvSpPr/>
          <p:nvPr/>
        </p:nvSpPr>
        <p:spPr>
          <a:xfrm>
            <a:off x="3383280" y="4506388"/>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0" name="Rectangle 99"/>
          <p:cNvSpPr/>
          <p:nvPr/>
        </p:nvSpPr>
        <p:spPr>
          <a:xfrm>
            <a:off x="3383280" y="4506388"/>
            <a:ext cx="2011679" cy="34332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1" name="Rounded Rectangle 100"/>
          <p:cNvSpPr/>
          <p:nvPr/>
        </p:nvSpPr>
        <p:spPr>
          <a:xfrm>
            <a:off x="3458382" y="4570762"/>
            <a:ext cx="1861474" cy="160934"/>
          </a:xfrm>
          <a:prstGeom prst="roundRect">
            <a:avLst>
              <a:gd name="adj" fmla="val 20000"/>
            </a:avLst>
          </a:prstGeom>
          <a:solidFill>
            <a:srgbClr val="E0E0E0"/>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2" name="TextBox 101"/>
          <p:cNvSpPr txBox="1"/>
          <p:nvPr/>
        </p:nvSpPr>
        <p:spPr>
          <a:xfrm>
            <a:off x="3458382" y="4570762"/>
            <a:ext cx="1861474" cy="160934"/>
          </a:xfrm>
          <a:prstGeom prst="rect">
            <a:avLst/>
          </a:prstGeom>
          <a:noFill/>
        </p:spPr>
        <p:txBody>
          <a:bodyPr wrap="square" lIns="0" tIns="0" rIns="0" bIns="0" anchor="ctr">
            <a:spAutoFit/>
          </a:bodyPr>
          <a:lstStyle/>
          <a:p>
            <a:pPr marL="0" indent="0" algn="ctr">
              <a:buNone/>
            </a:pPr>
            <a:r>
              <a:rPr sz="650" b="1" i="0">
                <a:solidFill>
                  <a:srgbClr val="888888"/>
                </a:solidFill>
              </a:rPr>
              <a:t>Continue</a:t>
            </a:r>
          </a:p>
        </p:txBody>
      </p:sp>
      <p:sp>
        <p:nvSpPr>
          <p:cNvPr id="103" name="Oval 102"/>
          <p:cNvSpPr/>
          <p:nvPr/>
        </p:nvSpPr>
        <p:spPr>
          <a:xfrm>
            <a:off x="3168701" y="178123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4" name="TextBox 103"/>
          <p:cNvSpPr txBox="1"/>
          <p:nvPr/>
        </p:nvSpPr>
        <p:spPr>
          <a:xfrm>
            <a:off x="3168701" y="178123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105" name="Oval 104"/>
          <p:cNvSpPr/>
          <p:nvPr/>
        </p:nvSpPr>
        <p:spPr>
          <a:xfrm>
            <a:off x="3168701" y="4581491"/>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6" name="TextBox 105"/>
          <p:cNvSpPr txBox="1"/>
          <p:nvPr/>
        </p:nvSpPr>
        <p:spPr>
          <a:xfrm>
            <a:off x="3168701" y="4581491"/>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graphicFrame>
        <p:nvGraphicFramePr>
          <p:cNvPr id="107" name="Table 106"/>
          <p:cNvGraphicFramePr>
            <a:graphicFrameLocks noGrp="1"/>
          </p:cNvGraphicFramePr>
          <p:nvPr/>
        </p:nvGraphicFramePr>
        <p:xfrm>
          <a:off x="7196328" y="886968"/>
          <a:ext cx="4718304" cy="336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Screen title &amp; purpose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No back control — the step cannot be skipped or dismissed (BRL-01). Store selection is the only mandatory decision before the Homepage.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Store search</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Filters the list by store name or district. Does not change the mandatory nature of the step.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Location-derived banner (State 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Shown when location permission was granted at ONB-04. Explains why a store is already selected.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Store list with GPS default (State 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nearest store by GPS is pre-selected and badged “Nearest” (BRL-02). Distance and opening hours are shown per store. The customer may select any other store — the default is a shortcut, not a constraint.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Store list without default (State B)</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Shown when location was denied. No store is pre-selected, no distance is displayed, and an amber banner offers to turn location on. The customer must choose one store explicitly.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7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Continue — disabled (State B)</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Disabled until a store is selected. This is the enforcement point for BRL-01.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420000">
                <a:tc>
                  <a:txBody>
                    <a:bodyPr/>
                    <a:lstStyle/>
                    <a:p>
                      <a:pPr marL="0" indent="0" algn="ctr">
                        <a:buNone/>
                      </a:pPr>
                      <a:r>
                        <a:rPr sz="70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Continue — enabled (State 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Enabled immediately, because the GPS default already satisfies the mandatory selection. Advances to SCR-ONB-04.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108" name="TextBox 107"/>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The selected store persists across sessions and survives logout (BRL-01, HP-10), because catalogue, price, stock, promotion and every delivery rule resolve against it. It can be changed later from the Homepage header (SCR-HOM-04) and is pre-filled as the registered store during signup (SU-05).</a:t>
            </a:r>
          </a:p>
        </p:txBody>
      </p:sp>
    </p:spTree>
  </p:cSld>
  <p:clrMapOvr>
    <a:masterClrMapping/>
  </p:clrMapOvr>
  <p:extLst>
    <p:ext uri="{6950BFC3-D8DA-4A85-94F7-54DA5524770B}">
      <p188:commentRel xmlns:p188="http://schemas.microsoft.com/office/powerpoint/2018/8/main" r:id="rId2"/>
    </p:ext>
  </p:extLs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Onboarding (ONB)</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ONB-06 · ONB-07</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SCR-ONB-04</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Onboarding — Introduction Carousel</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40</a:t>
            </a:r>
          </a:p>
        </p:txBody>
      </p:sp>
      <p:sp>
        <p:nvSpPr>
          <p:cNvPr id="22" name="Rounded Rectangle 21"/>
          <p:cNvSpPr/>
          <p:nvPr/>
        </p:nvSpPr>
        <p:spPr>
          <a:xfrm>
            <a:off x="383683" y="852203"/>
            <a:ext cx="1792955" cy="3483985"/>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411480" y="880000"/>
            <a:ext cx="1737360" cy="3428390"/>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383683" y="4354719"/>
            <a:ext cx="1792955" cy="120456"/>
          </a:xfrm>
          <a:prstGeom prst="rect">
            <a:avLst/>
          </a:prstGeom>
          <a:noFill/>
        </p:spPr>
        <p:txBody>
          <a:bodyPr wrap="square" lIns="0" tIns="0" rIns="0" bIns="0" anchor="t">
            <a:spAutoFit/>
          </a:bodyPr>
          <a:lstStyle/>
          <a:p>
            <a:pPr marL="0" indent="0" algn="ctr">
              <a:buNone/>
            </a:pPr>
            <a:r>
              <a:rPr sz="750" b="1" i="0">
                <a:solidFill>
                  <a:srgbClr val="1E2F6E"/>
                </a:solidFill>
              </a:rPr>
              <a:t>Screen 1 of 3</a:t>
            </a:r>
          </a:p>
        </p:txBody>
      </p:sp>
      <p:sp>
        <p:nvSpPr>
          <p:cNvPr id="25" name="TextBox 24"/>
          <p:cNvSpPr txBox="1"/>
          <p:nvPr/>
        </p:nvSpPr>
        <p:spPr>
          <a:xfrm>
            <a:off x="476341" y="875596"/>
            <a:ext cx="277977" cy="92202"/>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1806000" y="879787"/>
            <a:ext cx="277977" cy="8382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TextBox 26"/>
          <p:cNvSpPr txBox="1"/>
          <p:nvPr/>
        </p:nvSpPr>
        <p:spPr>
          <a:xfrm>
            <a:off x="1592884" y="1015026"/>
            <a:ext cx="491093" cy="100584"/>
          </a:xfrm>
          <a:prstGeom prst="rect">
            <a:avLst/>
          </a:prstGeom>
          <a:noFill/>
        </p:spPr>
        <p:txBody>
          <a:bodyPr wrap="square" lIns="0" tIns="0" rIns="0" bIns="0" anchor="ctr">
            <a:spAutoFit/>
          </a:bodyPr>
          <a:lstStyle/>
          <a:p>
            <a:pPr marL="0" indent="0" algn="r">
              <a:buNone/>
            </a:pPr>
            <a:r>
              <a:rPr sz="600" b="1" i="0">
                <a:solidFill>
                  <a:srgbClr val="888888"/>
                </a:solidFill>
              </a:rPr>
              <a:t>Skip</a:t>
            </a:r>
          </a:p>
        </p:txBody>
      </p:sp>
      <p:sp>
        <p:nvSpPr>
          <p:cNvPr id="28" name="Rounded Rectangle 27"/>
          <p:cNvSpPr/>
          <p:nvPr/>
        </p:nvSpPr>
        <p:spPr>
          <a:xfrm>
            <a:off x="643128" y="1296966"/>
            <a:ext cx="1274064" cy="1111910"/>
          </a:xfrm>
          <a:prstGeom prst="roundRect">
            <a:avLst>
              <a:gd name="adj" fmla="val 8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9" name="TextBox 28"/>
          <p:cNvSpPr txBox="1"/>
          <p:nvPr/>
        </p:nvSpPr>
        <p:spPr>
          <a:xfrm>
            <a:off x="643128" y="1296966"/>
            <a:ext cx="1274064" cy="1111910"/>
          </a:xfrm>
          <a:prstGeom prst="rect">
            <a:avLst/>
          </a:prstGeom>
          <a:noFill/>
        </p:spPr>
        <p:txBody>
          <a:bodyPr wrap="square" lIns="0" tIns="0" rIns="0" bIns="0" anchor="ctr">
            <a:spAutoFit/>
          </a:bodyPr>
          <a:lstStyle/>
          <a:p>
            <a:pPr marL="0" indent="0" algn="ctr">
              <a:buNone/>
            </a:pPr>
            <a:r>
              <a:rPr sz="600" b="0" i="0">
                <a:solidFill>
                  <a:srgbClr val="AAAAAA"/>
                </a:solidFill>
              </a:rPr>
              <a:t>ILLUSTRATION</a:t>
            </a:r>
          </a:p>
          <a:p>
            <a:pPr marL="0" indent="0" algn="ctr">
              <a:buNone/>
            </a:pPr>
            <a:r>
              <a:rPr sz="600" b="0" i="0">
                <a:solidFill>
                  <a:srgbClr val="AAAAAA"/>
                </a:solidFill>
              </a:rPr>
              <a:t>(TBC — OQ-06)</a:t>
            </a:r>
          </a:p>
        </p:txBody>
      </p:sp>
      <p:sp>
        <p:nvSpPr>
          <p:cNvPr id="30" name="TextBox 29"/>
          <p:cNvSpPr txBox="1"/>
          <p:nvPr/>
        </p:nvSpPr>
        <p:spPr>
          <a:xfrm>
            <a:off x="550468" y="2575663"/>
            <a:ext cx="1459382" cy="259445"/>
          </a:xfrm>
          <a:prstGeom prst="rect">
            <a:avLst/>
          </a:prstGeom>
          <a:noFill/>
        </p:spPr>
        <p:txBody>
          <a:bodyPr wrap="square" lIns="0" tIns="0" rIns="0" bIns="0" anchor="t">
            <a:spAutoFit/>
          </a:bodyPr>
          <a:lstStyle/>
          <a:p>
            <a:pPr marL="0" indent="0" algn="ctr">
              <a:buNone/>
            </a:pPr>
            <a:r>
              <a:rPr sz="950" b="1" i="0">
                <a:solidFill>
                  <a:srgbClr val="3A3A3A"/>
                </a:solidFill>
              </a:rPr>
              <a:t>Shop your store,</a:t>
            </a:r>
          </a:p>
          <a:p>
            <a:pPr marL="0" indent="0" algn="ctr">
              <a:buNone/>
            </a:pPr>
            <a:r>
              <a:rPr sz="950" b="1" i="0">
                <a:solidFill>
                  <a:srgbClr val="3A3A3A"/>
                </a:solidFill>
              </a:rPr>
              <a:t>not a catalogue</a:t>
            </a:r>
          </a:p>
        </p:txBody>
      </p:sp>
      <p:sp>
        <p:nvSpPr>
          <p:cNvPr id="31" name="TextBox 30"/>
          <p:cNvSpPr txBox="1"/>
          <p:nvPr/>
        </p:nvSpPr>
        <p:spPr>
          <a:xfrm>
            <a:off x="550468" y="2890704"/>
            <a:ext cx="1459382" cy="277977"/>
          </a:xfrm>
          <a:prstGeom prst="rect">
            <a:avLst/>
          </a:prstGeom>
          <a:noFill/>
        </p:spPr>
        <p:txBody>
          <a:bodyPr wrap="square" lIns="0" tIns="0" rIns="0" bIns="0" anchor="t">
            <a:spAutoFit/>
          </a:bodyPr>
          <a:lstStyle/>
          <a:p>
            <a:pPr marL="0" indent="0" algn="ctr">
              <a:buNone/>
            </a:pPr>
            <a:r>
              <a:rPr sz="580" b="0" i="0">
                <a:solidFill>
                  <a:srgbClr val="888888"/>
                </a:solidFill>
              </a:rPr>
              <a:t>Prices, stock and promotions are always the ones at the LOTTE MART store you selected.</a:t>
            </a:r>
          </a:p>
        </p:txBody>
      </p:sp>
      <p:sp>
        <p:nvSpPr>
          <p:cNvPr id="32" name="Rounded Rectangle 31"/>
          <p:cNvSpPr/>
          <p:nvPr/>
        </p:nvSpPr>
        <p:spPr>
          <a:xfrm>
            <a:off x="1199083" y="3289139"/>
            <a:ext cx="92659" cy="32430"/>
          </a:xfrm>
          <a:prstGeom prst="roundRect">
            <a:avLst>
              <a:gd name="adj" fmla="val 5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3" name="Rounded Rectangle 32"/>
          <p:cNvSpPr/>
          <p:nvPr/>
        </p:nvSpPr>
        <p:spPr>
          <a:xfrm>
            <a:off x="1236146" y="3289139"/>
            <a:ext cx="32430" cy="32430"/>
          </a:xfrm>
          <a:prstGeom prst="roundRect">
            <a:avLst>
              <a:gd name="adj" fmla="val 50000"/>
            </a:avLst>
          </a:prstGeom>
          <a:solidFill>
            <a:srgbClr val="CCCCCC"/>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Rounded Rectangle 33"/>
          <p:cNvSpPr/>
          <p:nvPr/>
        </p:nvSpPr>
        <p:spPr>
          <a:xfrm>
            <a:off x="1301008" y="3289139"/>
            <a:ext cx="32430" cy="32430"/>
          </a:xfrm>
          <a:prstGeom prst="roundRect">
            <a:avLst>
              <a:gd name="adj" fmla="val 50000"/>
            </a:avLst>
          </a:prstGeom>
          <a:solidFill>
            <a:srgbClr val="CCCCCC"/>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5" name="Rounded Rectangle 34"/>
          <p:cNvSpPr/>
          <p:nvPr/>
        </p:nvSpPr>
        <p:spPr>
          <a:xfrm>
            <a:off x="522671" y="3474457"/>
            <a:ext cx="1514977" cy="203850"/>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TextBox 35"/>
          <p:cNvSpPr txBox="1"/>
          <p:nvPr/>
        </p:nvSpPr>
        <p:spPr>
          <a:xfrm>
            <a:off x="522671" y="3474457"/>
            <a:ext cx="1514977" cy="203850"/>
          </a:xfrm>
          <a:prstGeom prst="rect">
            <a:avLst/>
          </a:prstGeom>
          <a:noFill/>
        </p:spPr>
        <p:txBody>
          <a:bodyPr wrap="square" lIns="0" tIns="0" rIns="0" bIns="0" anchor="ctr">
            <a:spAutoFit/>
          </a:bodyPr>
          <a:lstStyle/>
          <a:p>
            <a:pPr marL="0" indent="0" algn="ctr">
              <a:buNone/>
            </a:pPr>
            <a:r>
              <a:rPr sz="750" b="1" i="0">
                <a:solidFill>
                  <a:srgbClr val="FFFFFF"/>
                </a:solidFill>
              </a:rPr>
              <a:t>Next</a:t>
            </a:r>
          </a:p>
        </p:txBody>
      </p:sp>
      <p:sp>
        <p:nvSpPr>
          <p:cNvPr id="37" name="Oval 36"/>
          <p:cNvSpPr/>
          <p:nvPr/>
        </p:nvSpPr>
        <p:spPr>
          <a:xfrm>
            <a:off x="253960" y="1018988"/>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TextBox 37"/>
          <p:cNvSpPr txBox="1"/>
          <p:nvPr/>
        </p:nvSpPr>
        <p:spPr>
          <a:xfrm>
            <a:off x="253960" y="1018988"/>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39" name="Oval 38"/>
          <p:cNvSpPr/>
          <p:nvPr/>
        </p:nvSpPr>
        <p:spPr>
          <a:xfrm>
            <a:off x="253960" y="1296966"/>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TextBox 39"/>
          <p:cNvSpPr txBox="1"/>
          <p:nvPr/>
        </p:nvSpPr>
        <p:spPr>
          <a:xfrm>
            <a:off x="253960" y="1296966"/>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41" name="Rounded Rectangle 40"/>
          <p:cNvSpPr/>
          <p:nvPr/>
        </p:nvSpPr>
        <p:spPr>
          <a:xfrm>
            <a:off x="2523883" y="852203"/>
            <a:ext cx="1792955" cy="3483985"/>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Rectangle 41"/>
          <p:cNvSpPr/>
          <p:nvPr/>
        </p:nvSpPr>
        <p:spPr>
          <a:xfrm>
            <a:off x="2551680" y="880000"/>
            <a:ext cx="1737360" cy="3428390"/>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3" name="TextBox 42"/>
          <p:cNvSpPr txBox="1"/>
          <p:nvPr/>
        </p:nvSpPr>
        <p:spPr>
          <a:xfrm>
            <a:off x="2523883" y="4354719"/>
            <a:ext cx="1792955" cy="120456"/>
          </a:xfrm>
          <a:prstGeom prst="rect">
            <a:avLst/>
          </a:prstGeom>
          <a:noFill/>
        </p:spPr>
        <p:txBody>
          <a:bodyPr wrap="square" lIns="0" tIns="0" rIns="0" bIns="0" anchor="t">
            <a:spAutoFit/>
          </a:bodyPr>
          <a:lstStyle/>
          <a:p>
            <a:pPr marL="0" indent="0" algn="ctr">
              <a:buNone/>
            </a:pPr>
            <a:r>
              <a:rPr sz="750" b="1" i="0">
                <a:solidFill>
                  <a:srgbClr val="1E2F6E"/>
                </a:solidFill>
              </a:rPr>
              <a:t>Screen 2 of 3</a:t>
            </a:r>
          </a:p>
        </p:txBody>
      </p:sp>
      <p:sp>
        <p:nvSpPr>
          <p:cNvPr id="44" name="TextBox 43"/>
          <p:cNvSpPr txBox="1"/>
          <p:nvPr/>
        </p:nvSpPr>
        <p:spPr>
          <a:xfrm>
            <a:off x="2616541" y="875596"/>
            <a:ext cx="277977" cy="92202"/>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45" name="TextBox 44"/>
          <p:cNvSpPr txBox="1"/>
          <p:nvPr/>
        </p:nvSpPr>
        <p:spPr>
          <a:xfrm>
            <a:off x="3946200" y="879787"/>
            <a:ext cx="277977" cy="8382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46" name="TextBox 45"/>
          <p:cNvSpPr txBox="1"/>
          <p:nvPr/>
        </p:nvSpPr>
        <p:spPr>
          <a:xfrm>
            <a:off x="3733084" y="1015026"/>
            <a:ext cx="491093" cy="100584"/>
          </a:xfrm>
          <a:prstGeom prst="rect">
            <a:avLst/>
          </a:prstGeom>
          <a:noFill/>
        </p:spPr>
        <p:txBody>
          <a:bodyPr wrap="square" lIns="0" tIns="0" rIns="0" bIns="0" anchor="ctr">
            <a:spAutoFit/>
          </a:bodyPr>
          <a:lstStyle/>
          <a:p>
            <a:pPr marL="0" indent="0" algn="r">
              <a:buNone/>
            </a:pPr>
            <a:r>
              <a:rPr sz="600" b="1" i="0">
                <a:solidFill>
                  <a:srgbClr val="888888"/>
                </a:solidFill>
              </a:rPr>
              <a:t>Skip</a:t>
            </a:r>
          </a:p>
        </p:txBody>
      </p:sp>
      <p:sp>
        <p:nvSpPr>
          <p:cNvPr id="47" name="Rounded Rectangle 46"/>
          <p:cNvSpPr/>
          <p:nvPr/>
        </p:nvSpPr>
        <p:spPr>
          <a:xfrm>
            <a:off x="2783328" y="1296966"/>
            <a:ext cx="1274064" cy="1111910"/>
          </a:xfrm>
          <a:prstGeom prst="roundRect">
            <a:avLst>
              <a:gd name="adj" fmla="val 8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8" name="TextBox 47"/>
          <p:cNvSpPr txBox="1"/>
          <p:nvPr/>
        </p:nvSpPr>
        <p:spPr>
          <a:xfrm>
            <a:off x="2783328" y="1296966"/>
            <a:ext cx="1274064" cy="1111910"/>
          </a:xfrm>
          <a:prstGeom prst="rect">
            <a:avLst/>
          </a:prstGeom>
          <a:noFill/>
        </p:spPr>
        <p:txBody>
          <a:bodyPr wrap="square" lIns="0" tIns="0" rIns="0" bIns="0" anchor="ctr">
            <a:spAutoFit/>
          </a:bodyPr>
          <a:lstStyle/>
          <a:p>
            <a:pPr marL="0" indent="0" algn="ctr">
              <a:buNone/>
            </a:pPr>
            <a:r>
              <a:rPr sz="600" b="0" i="0">
                <a:solidFill>
                  <a:srgbClr val="AAAAAA"/>
                </a:solidFill>
              </a:rPr>
              <a:t>ILLUSTRATION</a:t>
            </a:r>
          </a:p>
          <a:p>
            <a:pPr marL="0" indent="0" algn="ctr">
              <a:buNone/>
            </a:pPr>
            <a:r>
              <a:rPr sz="600" b="0" i="0">
                <a:solidFill>
                  <a:srgbClr val="AAAAAA"/>
                </a:solidFill>
              </a:rPr>
              <a:t>(TBC — OQ-06)</a:t>
            </a:r>
          </a:p>
        </p:txBody>
      </p:sp>
      <p:sp>
        <p:nvSpPr>
          <p:cNvPr id="49" name="TextBox 48"/>
          <p:cNvSpPr txBox="1"/>
          <p:nvPr/>
        </p:nvSpPr>
        <p:spPr>
          <a:xfrm>
            <a:off x="2690668" y="2575663"/>
            <a:ext cx="1459382" cy="259445"/>
          </a:xfrm>
          <a:prstGeom prst="rect">
            <a:avLst/>
          </a:prstGeom>
          <a:noFill/>
        </p:spPr>
        <p:txBody>
          <a:bodyPr wrap="square" lIns="0" tIns="0" rIns="0" bIns="0" anchor="t">
            <a:spAutoFit/>
          </a:bodyPr>
          <a:lstStyle/>
          <a:p>
            <a:pPr marL="0" indent="0" algn="ctr">
              <a:buNone/>
            </a:pPr>
            <a:r>
              <a:rPr sz="950" b="1" i="0">
                <a:solidFill>
                  <a:srgbClr val="3A3A3A"/>
                </a:solidFill>
              </a:rPr>
              <a:t>Delivery that tells you</a:t>
            </a:r>
          </a:p>
          <a:p>
            <a:pPr marL="0" indent="0" algn="ctr">
              <a:buNone/>
            </a:pPr>
            <a:r>
              <a:rPr sz="950" b="1" i="0">
                <a:solidFill>
                  <a:srgbClr val="3A3A3A"/>
                </a:solidFill>
              </a:rPr>
              <a:t>the truth</a:t>
            </a:r>
          </a:p>
        </p:txBody>
      </p:sp>
      <p:sp>
        <p:nvSpPr>
          <p:cNvPr id="50" name="TextBox 49"/>
          <p:cNvSpPr txBox="1"/>
          <p:nvPr/>
        </p:nvSpPr>
        <p:spPr>
          <a:xfrm>
            <a:off x="2690668" y="2890704"/>
            <a:ext cx="1459382" cy="277977"/>
          </a:xfrm>
          <a:prstGeom prst="rect">
            <a:avLst/>
          </a:prstGeom>
          <a:noFill/>
        </p:spPr>
        <p:txBody>
          <a:bodyPr wrap="square" lIns="0" tIns="0" rIns="0" bIns="0" anchor="t">
            <a:spAutoFit/>
          </a:bodyPr>
          <a:lstStyle/>
          <a:p>
            <a:pPr marL="0" indent="0" algn="ctr">
              <a:buNone/>
            </a:pPr>
            <a:r>
              <a:rPr sz="580" b="0" i="0">
                <a:solidFill>
                  <a:srgbClr val="888888"/>
                </a:solidFill>
              </a:rPr>
              <a:t>See the real service and the real time slot for your address before you add anything to the cart.</a:t>
            </a:r>
          </a:p>
        </p:txBody>
      </p:sp>
      <p:sp>
        <p:nvSpPr>
          <p:cNvPr id="51" name="Rounded Rectangle 50"/>
          <p:cNvSpPr/>
          <p:nvPr/>
        </p:nvSpPr>
        <p:spPr>
          <a:xfrm>
            <a:off x="3339283" y="3289139"/>
            <a:ext cx="32430" cy="32430"/>
          </a:xfrm>
          <a:prstGeom prst="roundRect">
            <a:avLst>
              <a:gd name="adj" fmla="val 50000"/>
            </a:avLst>
          </a:prstGeom>
          <a:solidFill>
            <a:srgbClr val="CCCCCC"/>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2" name="Rounded Rectangle 51"/>
          <p:cNvSpPr/>
          <p:nvPr/>
        </p:nvSpPr>
        <p:spPr>
          <a:xfrm>
            <a:off x="3404144" y="3289139"/>
            <a:ext cx="92659" cy="32430"/>
          </a:xfrm>
          <a:prstGeom prst="roundRect">
            <a:avLst>
              <a:gd name="adj" fmla="val 5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Rounded Rectangle 52"/>
          <p:cNvSpPr/>
          <p:nvPr/>
        </p:nvSpPr>
        <p:spPr>
          <a:xfrm>
            <a:off x="3441208" y="3289139"/>
            <a:ext cx="32430" cy="32430"/>
          </a:xfrm>
          <a:prstGeom prst="roundRect">
            <a:avLst>
              <a:gd name="adj" fmla="val 50000"/>
            </a:avLst>
          </a:prstGeom>
          <a:solidFill>
            <a:srgbClr val="CCCCCC"/>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4" name="Rounded Rectangle 53"/>
          <p:cNvSpPr/>
          <p:nvPr/>
        </p:nvSpPr>
        <p:spPr>
          <a:xfrm>
            <a:off x="2662871" y="3474457"/>
            <a:ext cx="1514977" cy="203850"/>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5" name="TextBox 54"/>
          <p:cNvSpPr txBox="1"/>
          <p:nvPr/>
        </p:nvSpPr>
        <p:spPr>
          <a:xfrm>
            <a:off x="2662871" y="3474457"/>
            <a:ext cx="1514977" cy="203850"/>
          </a:xfrm>
          <a:prstGeom prst="rect">
            <a:avLst/>
          </a:prstGeom>
          <a:noFill/>
        </p:spPr>
        <p:txBody>
          <a:bodyPr wrap="square" lIns="0" tIns="0" rIns="0" bIns="0" anchor="ctr">
            <a:spAutoFit/>
          </a:bodyPr>
          <a:lstStyle/>
          <a:p>
            <a:pPr marL="0" indent="0" algn="ctr">
              <a:buNone/>
            </a:pPr>
            <a:r>
              <a:rPr sz="750" b="1" i="0">
                <a:solidFill>
                  <a:srgbClr val="FFFFFF"/>
                </a:solidFill>
              </a:rPr>
              <a:t>Next</a:t>
            </a:r>
          </a:p>
        </p:txBody>
      </p:sp>
      <p:sp>
        <p:nvSpPr>
          <p:cNvPr id="56" name="Oval 55"/>
          <p:cNvSpPr/>
          <p:nvPr/>
        </p:nvSpPr>
        <p:spPr>
          <a:xfrm>
            <a:off x="2394160" y="3289139"/>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7" name="TextBox 56"/>
          <p:cNvSpPr txBox="1"/>
          <p:nvPr/>
        </p:nvSpPr>
        <p:spPr>
          <a:xfrm>
            <a:off x="2394160" y="3289139"/>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58" name="Rounded Rectangle 57"/>
          <p:cNvSpPr/>
          <p:nvPr/>
        </p:nvSpPr>
        <p:spPr>
          <a:xfrm>
            <a:off x="4664083" y="852203"/>
            <a:ext cx="1792955" cy="3483985"/>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9" name="Rectangle 58"/>
          <p:cNvSpPr/>
          <p:nvPr/>
        </p:nvSpPr>
        <p:spPr>
          <a:xfrm>
            <a:off x="4691880" y="880000"/>
            <a:ext cx="1737360" cy="3428390"/>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0" name="TextBox 59"/>
          <p:cNvSpPr txBox="1"/>
          <p:nvPr/>
        </p:nvSpPr>
        <p:spPr>
          <a:xfrm>
            <a:off x="4664083" y="4354719"/>
            <a:ext cx="1792955" cy="120456"/>
          </a:xfrm>
          <a:prstGeom prst="rect">
            <a:avLst/>
          </a:prstGeom>
          <a:noFill/>
        </p:spPr>
        <p:txBody>
          <a:bodyPr wrap="square" lIns="0" tIns="0" rIns="0" bIns="0" anchor="t">
            <a:spAutoFit/>
          </a:bodyPr>
          <a:lstStyle/>
          <a:p>
            <a:pPr marL="0" indent="0" algn="ctr">
              <a:buNone/>
            </a:pPr>
            <a:r>
              <a:rPr sz="750" b="1" i="0">
                <a:solidFill>
                  <a:srgbClr val="1E2F6E"/>
                </a:solidFill>
              </a:rPr>
              <a:t>Screen 3 of 3  ·  final</a:t>
            </a:r>
          </a:p>
        </p:txBody>
      </p:sp>
      <p:sp>
        <p:nvSpPr>
          <p:cNvPr id="61" name="TextBox 60"/>
          <p:cNvSpPr txBox="1"/>
          <p:nvPr/>
        </p:nvSpPr>
        <p:spPr>
          <a:xfrm>
            <a:off x="4756741" y="875596"/>
            <a:ext cx="277977" cy="92202"/>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62" name="TextBox 61"/>
          <p:cNvSpPr txBox="1"/>
          <p:nvPr/>
        </p:nvSpPr>
        <p:spPr>
          <a:xfrm>
            <a:off x="6086400" y="879787"/>
            <a:ext cx="277977" cy="8382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63" name="TextBox 62"/>
          <p:cNvSpPr txBox="1"/>
          <p:nvPr/>
        </p:nvSpPr>
        <p:spPr>
          <a:xfrm>
            <a:off x="5873284" y="1015026"/>
            <a:ext cx="491093" cy="100584"/>
          </a:xfrm>
          <a:prstGeom prst="rect">
            <a:avLst/>
          </a:prstGeom>
          <a:noFill/>
        </p:spPr>
        <p:txBody>
          <a:bodyPr wrap="square" lIns="0" tIns="0" rIns="0" bIns="0" anchor="ctr">
            <a:spAutoFit/>
          </a:bodyPr>
          <a:lstStyle/>
          <a:p>
            <a:pPr marL="0" indent="0" algn="r">
              <a:buNone/>
            </a:pPr>
            <a:r>
              <a:rPr sz="600" b="1" i="0">
                <a:solidFill>
                  <a:srgbClr val="888888"/>
                </a:solidFill>
              </a:rPr>
              <a:t>Skip</a:t>
            </a:r>
          </a:p>
        </p:txBody>
      </p:sp>
      <p:sp>
        <p:nvSpPr>
          <p:cNvPr id="64" name="Rounded Rectangle 63"/>
          <p:cNvSpPr/>
          <p:nvPr/>
        </p:nvSpPr>
        <p:spPr>
          <a:xfrm>
            <a:off x="4923528" y="1296966"/>
            <a:ext cx="1274064" cy="1111910"/>
          </a:xfrm>
          <a:prstGeom prst="roundRect">
            <a:avLst>
              <a:gd name="adj" fmla="val 8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5" name="TextBox 64"/>
          <p:cNvSpPr txBox="1"/>
          <p:nvPr/>
        </p:nvSpPr>
        <p:spPr>
          <a:xfrm>
            <a:off x="4923528" y="1296966"/>
            <a:ext cx="1274064" cy="1111910"/>
          </a:xfrm>
          <a:prstGeom prst="rect">
            <a:avLst/>
          </a:prstGeom>
          <a:noFill/>
        </p:spPr>
        <p:txBody>
          <a:bodyPr wrap="square" lIns="0" tIns="0" rIns="0" bIns="0" anchor="ctr">
            <a:spAutoFit/>
          </a:bodyPr>
          <a:lstStyle/>
          <a:p>
            <a:pPr marL="0" indent="0" algn="ctr">
              <a:buNone/>
            </a:pPr>
            <a:r>
              <a:rPr sz="600" b="0" i="0">
                <a:solidFill>
                  <a:srgbClr val="AAAAAA"/>
                </a:solidFill>
              </a:rPr>
              <a:t>ILLUSTRATION</a:t>
            </a:r>
          </a:p>
          <a:p>
            <a:pPr marL="0" indent="0" algn="ctr">
              <a:buNone/>
            </a:pPr>
            <a:r>
              <a:rPr sz="600" b="0" i="0">
                <a:solidFill>
                  <a:srgbClr val="AAAAAA"/>
                </a:solidFill>
              </a:rPr>
              <a:t>(TBC — OQ-06)</a:t>
            </a:r>
          </a:p>
        </p:txBody>
      </p:sp>
      <p:sp>
        <p:nvSpPr>
          <p:cNvPr id="66" name="TextBox 65"/>
          <p:cNvSpPr txBox="1"/>
          <p:nvPr/>
        </p:nvSpPr>
        <p:spPr>
          <a:xfrm>
            <a:off x="4830868" y="2575663"/>
            <a:ext cx="1459382" cy="259445"/>
          </a:xfrm>
          <a:prstGeom prst="rect">
            <a:avLst/>
          </a:prstGeom>
          <a:noFill/>
        </p:spPr>
        <p:txBody>
          <a:bodyPr wrap="square" lIns="0" tIns="0" rIns="0" bIns="0" anchor="t">
            <a:spAutoFit/>
          </a:bodyPr>
          <a:lstStyle/>
          <a:p>
            <a:pPr marL="0" indent="0" algn="ctr">
              <a:buNone/>
            </a:pPr>
            <a:r>
              <a:rPr sz="950" b="1" i="0">
                <a:solidFill>
                  <a:srgbClr val="3A3A3A"/>
                </a:solidFill>
              </a:rPr>
              <a:t>One tap to reorder</a:t>
            </a:r>
          </a:p>
          <a:p>
            <a:pPr marL="0" indent="0" algn="ctr">
              <a:buNone/>
            </a:pPr>
            <a:r>
              <a:rPr sz="950" b="1" i="0">
                <a:solidFill>
                  <a:srgbClr val="3A3A3A"/>
                </a:solidFill>
              </a:rPr>
              <a:t>what you always buy</a:t>
            </a:r>
          </a:p>
        </p:txBody>
      </p:sp>
      <p:sp>
        <p:nvSpPr>
          <p:cNvPr id="67" name="TextBox 66"/>
          <p:cNvSpPr txBox="1"/>
          <p:nvPr/>
        </p:nvSpPr>
        <p:spPr>
          <a:xfrm>
            <a:off x="4830868" y="2890704"/>
            <a:ext cx="1459382" cy="277977"/>
          </a:xfrm>
          <a:prstGeom prst="rect">
            <a:avLst/>
          </a:prstGeom>
          <a:noFill/>
        </p:spPr>
        <p:txBody>
          <a:bodyPr wrap="square" lIns="0" tIns="0" rIns="0" bIns="0" anchor="t">
            <a:spAutoFit/>
          </a:bodyPr>
          <a:lstStyle/>
          <a:p>
            <a:pPr marL="0" indent="0" algn="ctr">
              <a:buNone/>
            </a:pPr>
            <a:r>
              <a:rPr sz="580" b="0" i="0">
                <a:solidFill>
                  <a:srgbClr val="888888"/>
                </a:solidFill>
              </a:rPr>
              <a:t>Refill reminders, saved addresses and faster checkout once you sign in.</a:t>
            </a:r>
          </a:p>
        </p:txBody>
      </p:sp>
      <p:sp>
        <p:nvSpPr>
          <p:cNvPr id="68" name="Rounded Rectangle 67"/>
          <p:cNvSpPr/>
          <p:nvPr/>
        </p:nvSpPr>
        <p:spPr>
          <a:xfrm>
            <a:off x="5479483" y="3289139"/>
            <a:ext cx="32430" cy="32430"/>
          </a:xfrm>
          <a:prstGeom prst="roundRect">
            <a:avLst>
              <a:gd name="adj" fmla="val 50000"/>
            </a:avLst>
          </a:prstGeom>
          <a:solidFill>
            <a:srgbClr val="CCCCCC"/>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9" name="Rounded Rectangle 68"/>
          <p:cNvSpPr/>
          <p:nvPr/>
        </p:nvSpPr>
        <p:spPr>
          <a:xfrm>
            <a:off x="5544344" y="3289139"/>
            <a:ext cx="32430" cy="32430"/>
          </a:xfrm>
          <a:prstGeom prst="roundRect">
            <a:avLst>
              <a:gd name="adj" fmla="val 50000"/>
            </a:avLst>
          </a:prstGeom>
          <a:solidFill>
            <a:srgbClr val="CCCCCC"/>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0" name="Rounded Rectangle 69"/>
          <p:cNvSpPr/>
          <p:nvPr/>
        </p:nvSpPr>
        <p:spPr>
          <a:xfrm>
            <a:off x="5609206" y="3289139"/>
            <a:ext cx="92659" cy="32430"/>
          </a:xfrm>
          <a:prstGeom prst="roundRect">
            <a:avLst>
              <a:gd name="adj" fmla="val 5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1" name="Rounded Rectangle 70"/>
          <p:cNvSpPr/>
          <p:nvPr/>
        </p:nvSpPr>
        <p:spPr>
          <a:xfrm>
            <a:off x="4803071" y="3474457"/>
            <a:ext cx="1514977" cy="203850"/>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2" name="TextBox 71"/>
          <p:cNvSpPr txBox="1"/>
          <p:nvPr/>
        </p:nvSpPr>
        <p:spPr>
          <a:xfrm>
            <a:off x="4803071" y="3474457"/>
            <a:ext cx="1514977" cy="203850"/>
          </a:xfrm>
          <a:prstGeom prst="rect">
            <a:avLst/>
          </a:prstGeom>
          <a:noFill/>
        </p:spPr>
        <p:txBody>
          <a:bodyPr wrap="square" lIns="0" tIns="0" rIns="0" bIns="0" anchor="ctr">
            <a:spAutoFit/>
          </a:bodyPr>
          <a:lstStyle/>
          <a:p>
            <a:pPr marL="0" indent="0" algn="ctr">
              <a:buNone/>
            </a:pPr>
            <a:r>
              <a:rPr sz="750" b="1" i="0">
                <a:solidFill>
                  <a:srgbClr val="FFFFFF"/>
                </a:solidFill>
              </a:rPr>
              <a:t>Start shopping</a:t>
            </a:r>
          </a:p>
        </p:txBody>
      </p:sp>
      <p:sp>
        <p:nvSpPr>
          <p:cNvPr id="73" name="Oval 72"/>
          <p:cNvSpPr/>
          <p:nvPr/>
        </p:nvSpPr>
        <p:spPr>
          <a:xfrm>
            <a:off x="4534360" y="3474457"/>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TextBox 73"/>
          <p:cNvSpPr txBox="1"/>
          <p:nvPr/>
        </p:nvSpPr>
        <p:spPr>
          <a:xfrm>
            <a:off x="4534360" y="3474457"/>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graphicFrame>
        <p:nvGraphicFramePr>
          <p:cNvPr id="75" name="Table 74"/>
          <p:cNvGraphicFramePr>
            <a:graphicFrameLocks noGrp="1"/>
          </p:cNvGraphicFramePr>
          <p:nvPr/>
        </p:nvGraphicFramePr>
        <p:xfrm>
          <a:off x="7196328" y="886968"/>
          <a:ext cx="4718304" cy="210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Skip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Present on all three screens. Goes straight to the Homepage (ONB-06), skipping the remaining screens. The carousel is never mandatory.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Illustration area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One illustration per screen. Artwork and final copy are not yet defined — carried as OQ-06. The layout reserves a fixed region so replacing the content does not change the structure.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Progress indicator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Three dots; the active one is elongated. Swiping left and right moves between screens in both directions.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Final CTA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On the third screen the primary action becomes “Start shopping” and enters the Homepage in Guest state, rendered for the store selected at SCR-ONB-03 (ONB-07).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bl>
          </a:graphicData>
        </a:graphic>
      </p:graphicFrame>
      <p:sp>
        <p:nvSpPr>
          <p:cNvPr id="76" name="TextBox 75"/>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Open — OQ-06: the content of the three introduction screens has not been discussed with LOTTE MART. The three propositions shown here are the BA's proposal, chosen to preview the three changes that most affect the customer: store context, honest delivery expectations, and the benefit of signing in. The carousel is shown on first launch only.</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Homepage (HP)</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HP-01 · HP-04 · HP-10</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SCR-HOM-01</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Homepage — Guest, Store Context</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41</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State A  ·  Guest, no address yet</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FFFFFF"/>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FFFFFF"/>
                </a:solidFill>
              </a:rPr>
              <a:t>▮▮▮  ⌁  ▰</a:t>
            </a:r>
          </a:p>
        </p:txBody>
      </p:sp>
      <p:sp>
        <p:nvSpPr>
          <p:cNvPr id="27" name="Rectangle 26"/>
          <p:cNvSpPr/>
          <p:nvPr/>
        </p:nvSpPr>
        <p:spPr>
          <a:xfrm>
            <a:off x="594360" y="998018"/>
            <a:ext cx="2011679" cy="396971"/>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69462" y="1022829"/>
            <a:ext cx="75102" cy="100584"/>
          </a:xfrm>
          <a:prstGeom prst="rect">
            <a:avLst/>
          </a:prstGeom>
          <a:noFill/>
        </p:spPr>
        <p:txBody>
          <a:bodyPr wrap="square" lIns="0" tIns="0" rIns="0" bIns="0" anchor="ctr">
            <a:spAutoFit/>
          </a:bodyPr>
          <a:lstStyle/>
          <a:p>
            <a:pPr marL="0" indent="0" algn="l">
              <a:buNone/>
            </a:pPr>
            <a:r>
              <a:rPr sz="600" b="0" i="0">
                <a:solidFill>
                  <a:srgbClr val="FFD9DE"/>
                </a:solidFill>
              </a:rPr>
              <a:t>▣</a:t>
            </a:r>
          </a:p>
        </p:txBody>
      </p:sp>
      <p:sp>
        <p:nvSpPr>
          <p:cNvPr id="29" name="TextBox 28"/>
          <p:cNvSpPr txBox="1"/>
          <p:nvPr/>
        </p:nvSpPr>
        <p:spPr>
          <a:xfrm>
            <a:off x="766023" y="1019476"/>
            <a:ext cx="1126540" cy="107289"/>
          </a:xfrm>
          <a:prstGeom prst="rect">
            <a:avLst/>
          </a:prstGeom>
          <a:noFill/>
        </p:spPr>
        <p:txBody>
          <a:bodyPr wrap="square" lIns="0" tIns="0" rIns="0" bIns="0" anchor="ctr">
            <a:spAutoFit/>
          </a:bodyPr>
          <a:lstStyle/>
          <a:p>
            <a:pPr marL="0" indent="0" algn="l">
              <a:buNone/>
            </a:pPr>
            <a:r>
              <a:rPr sz="640" b="1" i="0">
                <a:solidFill>
                  <a:srgbClr val="FFFFFF"/>
                </a:solidFill>
              </a:rPr>
              <a:t>LOTTE Mart Nam Sài Gòn</a:t>
            </a:r>
          </a:p>
        </p:txBody>
      </p:sp>
      <p:sp>
        <p:nvSpPr>
          <p:cNvPr id="30" name="TextBox 29"/>
          <p:cNvSpPr txBox="1"/>
          <p:nvPr/>
        </p:nvSpPr>
        <p:spPr>
          <a:xfrm>
            <a:off x="1892564" y="1027020"/>
            <a:ext cx="64373" cy="92202"/>
          </a:xfrm>
          <a:prstGeom prst="rect">
            <a:avLst/>
          </a:prstGeom>
          <a:noFill/>
        </p:spPr>
        <p:txBody>
          <a:bodyPr wrap="square" lIns="0" tIns="0" rIns="0" bIns="0" anchor="ctr">
            <a:spAutoFit/>
          </a:bodyPr>
          <a:lstStyle/>
          <a:p>
            <a:pPr marL="0" indent="0" algn="l">
              <a:buNone/>
            </a:pPr>
            <a:r>
              <a:rPr sz="550" b="0" i="0">
                <a:solidFill>
                  <a:srgbClr val="FFFFFF"/>
                </a:solidFill>
              </a:rPr>
              <a:t>▾</a:t>
            </a:r>
          </a:p>
        </p:txBody>
      </p:sp>
      <p:sp>
        <p:nvSpPr>
          <p:cNvPr id="31" name="TextBox 30"/>
          <p:cNvSpPr txBox="1"/>
          <p:nvPr/>
        </p:nvSpPr>
        <p:spPr>
          <a:xfrm>
            <a:off x="2203703" y="1014447"/>
            <a:ext cx="118018" cy="117348"/>
          </a:xfrm>
          <a:prstGeom prst="rect">
            <a:avLst/>
          </a:prstGeom>
          <a:noFill/>
        </p:spPr>
        <p:txBody>
          <a:bodyPr wrap="square" lIns="0" tIns="0" rIns="0" bIns="0" anchor="ctr">
            <a:spAutoFit/>
          </a:bodyPr>
          <a:lstStyle/>
          <a:p>
            <a:pPr marL="0" indent="0" algn="ctr">
              <a:buNone/>
            </a:pPr>
            <a:r>
              <a:rPr sz="700" b="0" i="0">
                <a:solidFill>
                  <a:srgbClr val="FFFFFF"/>
                </a:solidFill>
              </a:rPr>
              <a:t>⌕</a:t>
            </a:r>
          </a:p>
        </p:txBody>
      </p:sp>
      <p:sp>
        <p:nvSpPr>
          <p:cNvPr id="32" name="TextBox 31"/>
          <p:cNvSpPr txBox="1"/>
          <p:nvPr/>
        </p:nvSpPr>
        <p:spPr>
          <a:xfrm>
            <a:off x="2364638" y="1022829"/>
            <a:ext cx="118018" cy="100584"/>
          </a:xfrm>
          <a:prstGeom prst="rect">
            <a:avLst/>
          </a:prstGeom>
          <a:noFill/>
        </p:spPr>
        <p:txBody>
          <a:bodyPr wrap="square" lIns="0" tIns="0" rIns="0" bIns="0" anchor="ctr">
            <a:spAutoFit/>
          </a:bodyPr>
          <a:lstStyle/>
          <a:p>
            <a:pPr marL="0" indent="0" algn="ctr">
              <a:buNone/>
            </a:pPr>
            <a:r>
              <a:rPr sz="600" b="0" i="0">
                <a:solidFill>
                  <a:srgbClr val="FFFFFF"/>
                </a:solidFill>
              </a:rPr>
              <a:t>♡</a:t>
            </a:r>
          </a:p>
        </p:txBody>
      </p:sp>
      <p:sp>
        <p:nvSpPr>
          <p:cNvPr id="33" name="TextBox 32"/>
          <p:cNvSpPr txBox="1"/>
          <p:nvPr/>
        </p:nvSpPr>
        <p:spPr>
          <a:xfrm>
            <a:off x="669462" y="1140513"/>
            <a:ext cx="75102" cy="90525"/>
          </a:xfrm>
          <a:prstGeom prst="rect">
            <a:avLst/>
          </a:prstGeom>
          <a:noFill/>
        </p:spPr>
        <p:txBody>
          <a:bodyPr wrap="square" lIns="0" tIns="0" rIns="0" bIns="0" anchor="ctr">
            <a:spAutoFit/>
          </a:bodyPr>
          <a:lstStyle/>
          <a:p>
            <a:pPr marL="0" indent="0" algn="l">
              <a:buNone/>
            </a:pPr>
            <a:r>
              <a:rPr sz="540" b="0" i="0">
                <a:solidFill>
                  <a:srgbClr val="FFD9DE"/>
                </a:solidFill>
              </a:rPr>
              <a:t>◎</a:t>
            </a:r>
          </a:p>
        </p:txBody>
      </p:sp>
      <p:sp>
        <p:nvSpPr>
          <p:cNvPr id="34" name="TextBox 33"/>
          <p:cNvSpPr txBox="1"/>
          <p:nvPr/>
        </p:nvSpPr>
        <p:spPr>
          <a:xfrm>
            <a:off x="766023" y="1138836"/>
            <a:ext cx="1341120" cy="93878"/>
          </a:xfrm>
          <a:prstGeom prst="rect">
            <a:avLst/>
          </a:prstGeom>
          <a:noFill/>
        </p:spPr>
        <p:txBody>
          <a:bodyPr wrap="square" lIns="0" tIns="0" rIns="0" bIns="0" anchor="ctr">
            <a:spAutoFit/>
          </a:bodyPr>
          <a:lstStyle/>
          <a:p>
            <a:pPr marL="0" indent="0" algn="l">
              <a:buNone/>
            </a:pPr>
            <a:r>
              <a:rPr sz="560" b="0" i="0">
                <a:solidFill>
                  <a:srgbClr val="FFD0D6"/>
                </a:solidFill>
              </a:rPr>
              <a:t>Choose delivery address</a:t>
            </a:r>
          </a:p>
        </p:txBody>
      </p:sp>
      <p:sp>
        <p:nvSpPr>
          <p:cNvPr id="35" name="TextBox 34"/>
          <p:cNvSpPr txBox="1"/>
          <p:nvPr/>
        </p:nvSpPr>
        <p:spPr>
          <a:xfrm>
            <a:off x="2117872" y="1143865"/>
            <a:ext cx="64373" cy="83820"/>
          </a:xfrm>
          <a:prstGeom prst="rect">
            <a:avLst/>
          </a:prstGeom>
          <a:noFill/>
        </p:spPr>
        <p:txBody>
          <a:bodyPr wrap="square" lIns="0" tIns="0" rIns="0" bIns="0" anchor="ctr">
            <a:spAutoFit/>
          </a:bodyPr>
          <a:lstStyle/>
          <a:p>
            <a:pPr marL="0" indent="0" algn="l">
              <a:buNone/>
            </a:pPr>
            <a:r>
              <a:rPr sz="500" b="0" i="0">
                <a:solidFill>
                  <a:srgbClr val="FFD9DE"/>
                </a:solidFill>
              </a:rPr>
              <a:t>▾</a:t>
            </a:r>
          </a:p>
        </p:txBody>
      </p:sp>
      <p:sp>
        <p:nvSpPr>
          <p:cNvPr id="36" name="TextBox 35"/>
          <p:cNvSpPr txBox="1"/>
          <p:nvPr/>
        </p:nvSpPr>
        <p:spPr>
          <a:xfrm>
            <a:off x="669462" y="1238749"/>
            <a:ext cx="75102" cy="87172"/>
          </a:xfrm>
          <a:prstGeom prst="rect">
            <a:avLst/>
          </a:prstGeom>
          <a:noFill/>
        </p:spPr>
        <p:txBody>
          <a:bodyPr wrap="square" lIns="0" tIns="0" rIns="0" bIns="0" anchor="ctr">
            <a:spAutoFit/>
          </a:bodyPr>
          <a:lstStyle/>
          <a:p>
            <a:pPr marL="0" indent="0" algn="l">
              <a:buNone/>
            </a:pPr>
            <a:r>
              <a:rPr sz="520" b="0" i="0">
                <a:solidFill>
                  <a:srgbClr val="FFD9DE"/>
                </a:solidFill>
              </a:rPr>
              <a:t>◷</a:t>
            </a:r>
          </a:p>
        </p:txBody>
      </p:sp>
      <p:sp>
        <p:nvSpPr>
          <p:cNvPr id="37" name="TextBox 36"/>
          <p:cNvSpPr txBox="1"/>
          <p:nvPr/>
        </p:nvSpPr>
        <p:spPr>
          <a:xfrm>
            <a:off x="766023" y="1237073"/>
            <a:ext cx="1609343" cy="90525"/>
          </a:xfrm>
          <a:prstGeom prst="rect">
            <a:avLst/>
          </a:prstGeom>
          <a:noFill/>
        </p:spPr>
        <p:txBody>
          <a:bodyPr wrap="square" lIns="0" tIns="0" rIns="0" bIns="0" anchor="ctr">
            <a:spAutoFit/>
          </a:bodyPr>
          <a:lstStyle/>
          <a:p>
            <a:pPr marL="0" indent="0" algn="l">
              <a:buNone/>
            </a:pPr>
            <a:r>
              <a:rPr sz="540" b="0" i="0">
                <a:solidFill>
                  <a:srgbClr val="FFE4E8"/>
                </a:solidFill>
              </a:rPr>
              <a:t>Standard  ·  today 15:00–18:00</a:t>
            </a:r>
          </a:p>
        </p:txBody>
      </p:sp>
      <p:sp>
        <p:nvSpPr>
          <p:cNvPr id="38" name="Rectangle 37"/>
          <p:cNvSpPr/>
          <p:nvPr/>
        </p:nvSpPr>
        <p:spPr>
          <a:xfrm>
            <a:off x="594360" y="1394990"/>
            <a:ext cx="2011679" cy="16093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Rounded Rectangle 38"/>
          <p:cNvSpPr/>
          <p:nvPr/>
        </p:nvSpPr>
        <p:spPr>
          <a:xfrm>
            <a:off x="669462" y="1416448"/>
            <a:ext cx="1861474" cy="128747"/>
          </a:xfrm>
          <a:prstGeom prst="roundRect">
            <a:avLst>
              <a:gd name="adj" fmla="val 30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TextBox 39"/>
          <p:cNvSpPr txBox="1"/>
          <p:nvPr/>
        </p:nvSpPr>
        <p:spPr>
          <a:xfrm>
            <a:off x="744565" y="1416448"/>
            <a:ext cx="1609343" cy="128747"/>
          </a:xfrm>
          <a:prstGeom prst="rect">
            <a:avLst/>
          </a:prstGeom>
          <a:noFill/>
        </p:spPr>
        <p:txBody>
          <a:bodyPr wrap="square" lIns="0" tIns="0" rIns="0" bIns="0" anchor="ctr">
            <a:spAutoFit/>
          </a:bodyPr>
          <a:lstStyle/>
          <a:p>
            <a:pPr marL="0" indent="0" algn="l">
              <a:buNone/>
            </a:pPr>
            <a:r>
              <a:rPr sz="540" b="0" i="0">
                <a:solidFill>
                  <a:srgbClr val="AAAAAA"/>
                </a:solidFill>
              </a:rPr>
              <a:t>⌕   Search 30,000+ products</a:t>
            </a:r>
          </a:p>
        </p:txBody>
      </p:sp>
      <p:sp>
        <p:nvSpPr>
          <p:cNvPr id="41" name="Rounded Rectangle 40"/>
          <p:cNvSpPr/>
          <p:nvPr/>
        </p:nvSpPr>
        <p:spPr>
          <a:xfrm>
            <a:off x="669462" y="1577382"/>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TextBox 41"/>
          <p:cNvSpPr txBox="1"/>
          <p:nvPr/>
        </p:nvSpPr>
        <p:spPr>
          <a:xfrm>
            <a:off x="669462" y="1598840"/>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43" name="TextBox 42"/>
          <p:cNvSpPr txBox="1"/>
          <p:nvPr/>
        </p:nvSpPr>
        <p:spPr>
          <a:xfrm>
            <a:off x="669462" y="1715852"/>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Fresh</a:t>
            </a:r>
          </a:p>
        </p:txBody>
      </p:sp>
      <p:sp>
        <p:nvSpPr>
          <p:cNvPr id="44" name="Rounded Rectangle 43"/>
          <p:cNvSpPr/>
          <p:nvPr/>
        </p:nvSpPr>
        <p:spPr>
          <a:xfrm>
            <a:off x="1044976" y="1577382"/>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TextBox 44"/>
          <p:cNvSpPr txBox="1"/>
          <p:nvPr/>
        </p:nvSpPr>
        <p:spPr>
          <a:xfrm>
            <a:off x="1044976" y="1598840"/>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46" name="TextBox 45"/>
          <p:cNvSpPr txBox="1"/>
          <p:nvPr/>
        </p:nvSpPr>
        <p:spPr>
          <a:xfrm>
            <a:off x="1044976" y="1715852"/>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Frozen</a:t>
            </a:r>
          </a:p>
        </p:txBody>
      </p:sp>
      <p:sp>
        <p:nvSpPr>
          <p:cNvPr id="47" name="Rounded Rectangle 46"/>
          <p:cNvSpPr/>
          <p:nvPr/>
        </p:nvSpPr>
        <p:spPr>
          <a:xfrm>
            <a:off x="1420489" y="1577382"/>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8" name="TextBox 47"/>
          <p:cNvSpPr txBox="1"/>
          <p:nvPr/>
        </p:nvSpPr>
        <p:spPr>
          <a:xfrm>
            <a:off x="1420489" y="1598840"/>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49" name="TextBox 48"/>
          <p:cNvSpPr txBox="1"/>
          <p:nvPr/>
        </p:nvSpPr>
        <p:spPr>
          <a:xfrm>
            <a:off x="1420489" y="1715852"/>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Drinks</a:t>
            </a:r>
          </a:p>
        </p:txBody>
      </p:sp>
      <p:sp>
        <p:nvSpPr>
          <p:cNvPr id="50" name="Rounded Rectangle 49"/>
          <p:cNvSpPr/>
          <p:nvPr/>
        </p:nvSpPr>
        <p:spPr>
          <a:xfrm>
            <a:off x="1796003" y="1577382"/>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1" name="TextBox 50"/>
          <p:cNvSpPr txBox="1"/>
          <p:nvPr/>
        </p:nvSpPr>
        <p:spPr>
          <a:xfrm>
            <a:off x="1796003" y="1598840"/>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52" name="TextBox 51"/>
          <p:cNvSpPr txBox="1"/>
          <p:nvPr/>
        </p:nvSpPr>
        <p:spPr>
          <a:xfrm>
            <a:off x="1796003" y="1715852"/>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Home</a:t>
            </a:r>
          </a:p>
        </p:txBody>
      </p:sp>
      <p:sp>
        <p:nvSpPr>
          <p:cNvPr id="53" name="Rounded Rectangle 52"/>
          <p:cNvSpPr/>
          <p:nvPr/>
        </p:nvSpPr>
        <p:spPr>
          <a:xfrm>
            <a:off x="2171517" y="1577382"/>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4" name="TextBox 53"/>
          <p:cNvSpPr txBox="1"/>
          <p:nvPr/>
        </p:nvSpPr>
        <p:spPr>
          <a:xfrm>
            <a:off x="2171517" y="1598840"/>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55" name="TextBox 54"/>
          <p:cNvSpPr txBox="1"/>
          <p:nvPr/>
        </p:nvSpPr>
        <p:spPr>
          <a:xfrm>
            <a:off x="2171517" y="1715852"/>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Baby</a:t>
            </a:r>
          </a:p>
        </p:txBody>
      </p:sp>
      <p:sp>
        <p:nvSpPr>
          <p:cNvPr id="56" name="Rounded Rectangle 55"/>
          <p:cNvSpPr/>
          <p:nvPr/>
        </p:nvSpPr>
        <p:spPr>
          <a:xfrm>
            <a:off x="669462" y="1877793"/>
            <a:ext cx="1861474" cy="321868"/>
          </a:xfrm>
          <a:prstGeom prst="roundRect">
            <a:avLst>
              <a:gd name="adj" fmla="val 10000"/>
            </a:avLst>
          </a:prstGeom>
          <a:solidFill>
            <a:srgbClr val="EEF1F9"/>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7" name="TextBox 56"/>
          <p:cNvSpPr txBox="1"/>
          <p:nvPr/>
        </p:nvSpPr>
        <p:spPr>
          <a:xfrm>
            <a:off x="669462" y="1877793"/>
            <a:ext cx="1861474" cy="321868"/>
          </a:xfrm>
          <a:prstGeom prst="rect">
            <a:avLst/>
          </a:prstGeom>
          <a:noFill/>
        </p:spPr>
        <p:txBody>
          <a:bodyPr wrap="square" lIns="0" tIns="0" rIns="0" bIns="0" anchor="ctr">
            <a:spAutoFit/>
          </a:bodyPr>
          <a:lstStyle/>
          <a:p>
            <a:pPr marL="0" indent="0" algn="ctr">
              <a:buNone/>
            </a:pPr>
            <a:r>
              <a:rPr sz="600" b="0" i="0">
                <a:solidFill>
                  <a:srgbClr val="AAAAAA"/>
                </a:solidFill>
              </a:rPr>
              <a:t>PROMOTION BANNER</a:t>
            </a:r>
          </a:p>
        </p:txBody>
      </p:sp>
      <p:sp>
        <p:nvSpPr>
          <p:cNvPr id="58" name="TextBox 57"/>
          <p:cNvSpPr txBox="1"/>
          <p:nvPr/>
        </p:nvSpPr>
        <p:spPr>
          <a:xfrm>
            <a:off x="669462" y="2240901"/>
            <a:ext cx="1072896" cy="110642"/>
          </a:xfrm>
          <a:prstGeom prst="rect">
            <a:avLst/>
          </a:prstGeom>
          <a:noFill/>
        </p:spPr>
        <p:txBody>
          <a:bodyPr wrap="square" lIns="0" tIns="0" rIns="0" bIns="0" anchor="ctr">
            <a:spAutoFit/>
          </a:bodyPr>
          <a:lstStyle/>
          <a:p>
            <a:pPr marL="0" indent="0" algn="l">
              <a:buNone/>
            </a:pPr>
            <a:r>
              <a:rPr sz="660" b="1" i="0">
                <a:solidFill>
                  <a:srgbClr val="3A3A3A"/>
                </a:solidFill>
              </a:rPr>
              <a:t>Best sellers at this store</a:t>
            </a:r>
          </a:p>
        </p:txBody>
      </p:sp>
      <p:sp>
        <p:nvSpPr>
          <p:cNvPr id="59" name="TextBox 58"/>
          <p:cNvSpPr txBox="1"/>
          <p:nvPr/>
        </p:nvSpPr>
        <p:spPr>
          <a:xfrm>
            <a:off x="2203703" y="2253306"/>
            <a:ext cx="327233" cy="85831"/>
          </a:xfrm>
          <a:prstGeom prst="rect">
            <a:avLst/>
          </a:prstGeom>
          <a:noFill/>
        </p:spPr>
        <p:txBody>
          <a:bodyPr wrap="square" lIns="0" tIns="0" rIns="0" bIns="0" anchor="ctr">
            <a:spAutoFit/>
          </a:bodyPr>
          <a:lstStyle/>
          <a:p>
            <a:pPr marL="0" indent="0" algn="r">
              <a:buNone/>
            </a:pPr>
            <a:r>
              <a:rPr sz="500" b="0" i="0">
                <a:solidFill>
                  <a:srgbClr val="C8102E"/>
                </a:solidFill>
              </a:rPr>
              <a:t>See all ›</a:t>
            </a:r>
          </a:p>
        </p:txBody>
      </p:sp>
      <p:sp>
        <p:nvSpPr>
          <p:cNvPr id="60" name="Rounded Rectangle 59"/>
          <p:cNvSpPr/>
          <p:nvPr/>
        </p:nvSpPr>
        <p:spPr>
          <a:xfrm>
            <a:off x="669462" y="2371325"/>
            <a:ext cx="590092" cy="826129"/>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1" name="Rounded Rectangle 60"/>
          <p:cNvSpPr/>
          <p:nvPr/>
        </p:nvSpPr>
        <p:spPr>
          <a:xfrm>
            <a:off x="712378" y="2414241"/>
            <a:ext cx="504261" cy="35405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2" name="TextBox 61"/>
          <p:cNvSpPr txBox="1"/>
          <p:nvPr/>
        </p:nvSpPr>
        <p:spPr>
          <a:xfrm>
            <a:off x="712378" y="2414241"/>
            <a:ext cx="504261" cy="354055"/>
          </a:xfrm>
          <a:prstGeom prst="rect">
            <a:avLst/>
          </a:prstGeom>
          <a:noFill/>
        </p:spPr>
        <p:txBody>
          <a:bodyPr wrap="square" lIns="0" tIns="0" rIns="0" bIns="0" anchor="ctr">
            <a:spAutoFit/>
          </a:bodyPr>
          <a:lstStyle/>
          <a:p>
            <a:pPr marL="0" indent="0" algn="ctr">
              <a:buNone/>
            </a:pPr>
            <a:r>
              <a:rPr sz="500" b="0" i="0">
                <a:solidFill>
                  <a:srgbClr val="AAAAAA"/>
                </a:solidFill>
              </a:rPr>
              <a:t>IMG</a:t>
            </a:r>
          </a:p>
        </p:txBody>
      </p:sp>
      <p:sp>
        <p:nvSpPr>
          <p:cNvPr id="63" name="Rounded Rectangle 62"/>
          <p:cNvSpPr/>
          <p:nvPr/>
        </p:nvSpPr>
        <p:spPr>
          <a:xfrm>
            <a:off x="1077163" y="2628820"/>
            <a:ext cx="118018" cy="118018"/>
          </a:xfrm>
          <a:prstGeom prst="roundRect">
            <a:avLst>
              <a:gd name="adj" fmla="val 35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4" name="TextBox 63"/>
          <p:cNvSpPr txBox="1"/>
          <p:nvPr/>
        </p:nvSpPr>
        <p:spPr>
          <a:xfrm>
            <a:off x="1077163" y="2628820"/>
            <a:ext cx="118018" cy="118018"/>
          </a:xfrm>
          <a:prstGeom prst="rect">
            <a:avLst/>
          </a:prstGeom>
          <a:noFill/>
        </p:spPr>
        <p:txBody>
          <a:bodyPr wrap="square" lIns="0" tIns="0" rIns="0" bIns="0" anchor="ctr">
            <a:spAutoFit/>
          </a:bodyPr>
          <a:lstStyle/>
          <a:p>
            <a:pPr marL="0" indent="0" algn="ctr">
              <a:buNone/>
            </a:pPr>
            <a:r>
              <a:rPr sz="650" b="1" i="0">
                <a:solidFill>
                  <a:srgbClr val="FFFFFF"/>
                </a:solidFill>
              </a:rPr>
              <a:t>+</a:t>
            </a:r>
          </a:p>
        </p:txBody>
      </p:sp>
      <p:sp>
        <p:nvSpPr>
          <p:cNvPr id="65" name="TextBox 64"/>
          <p:cNvSpPr txBox="1"/>
          <p:nvPr/>
        </p:nvSpPr>
        <p:spPr>
          <a:xfrm>
            <a:off x="712378" y="2800483"/>
            <a:ext cx="504261" cy="118018"/>
          </a:xfrm>
          <a:prstGeom prst="rect">
            <a:avLst/>
          </a:prstGeom>
          <a:noFill/>
        </p:spPr>
        <p:txBody>
          <a:bodyPr wrap="square" lIns="0" tIns="0" rIns="0" bIns="0" anchor="t">
            <a:spAutoFit/>
          </a:bodyPr>
          <a:lstStyle/>
          <a:p>
            <a:pPr marL="0" indent="0" algn="l">
              <a:buNone/>
            </a:pPr>
            <a:r>
              <a:rPr sz="459" b="0" i="0">
                <a:solidFill>
                  <a:srgbClr val="222222"/>
                </a:solidFill>
              </a:rPr>
              <a:t>Product name line</a:t>
            </a:r>
          </a:p>
        </p:txBody>
      </p:sp>
      <p:sp>
        <p:nvSpPr>
          <p:cNvPr id="66" name="TextBox 65"/>
          <p:cNvSpPr txBox="1"/>
          <p:nvPr/>
        </p:nvSpPr>
        <p:spPr>
          <a:xfrm>
            <a:off x="712378" y="2950689"/>
            <a:ext cx="504261" cy="80467"/>
          </a:xfrm>
          <a:prstGeom prst="rect">
            <a:avLst/>
          </a:prstGeom>
          <a:noFill/>
        </p:spPr>
        <p:txBody>
          <a:bodyPr wrap="square" lIns="0" tIns="0" rIns="0" bIns="0" anchor="ctr">
            <a:spAutoFit/>
          </a:bodyPr>
          <a:lstStyle/>
          <a:p>
            <a:pPr marL="0" indent="0" algn="l">
              <a:buNone/>
            </a:pPr>
            <a:r>
              <a:rPr sz="480" b="1" i="0">
                <a:solidFill>
                  <a:srgbClr val="222222"/>
                </a:solidFill>
              </a:rPr>
              <a:t>Guest  59,000 ₫</a:t>
            </a:r>
          </a:p>
        </p:txBody>
      </p:sp>
      <p:sp>
        <p:nvSpPr>
          <p:cNvPr id="67" name="TextBox 66"/>
          <p:cNvSpPr txBox="1"/>
          <p:nvPr/>
        </p:nvSpPr>
        <p:spPr>
          <a:xfrm>
            <a:off x="712378" y="3047249"/>
            <a:ext cx="504261" cy="69738"/>
          </a:xfrm>
          <a:prstGeom prst="rect">
            <a:avLst/>
          </a:prstGeom>
          <a:noFill/>
        </p:spPr>
        <p:txBody>
          <a:bodyPr wrap="square" lIns="0" tIns="0" rIns="0" bIns="0" anchor="ctr">
            <a:spAutoFit/>
          </a:bodyPr>
          <a:lstStyle/>
          <a:p>
            <a:pPr marL="0" indent="0" algn="l">
              <a:buNone/>
            </a:pPr>
            <a:r>
              <a:rPr sz="400" b="0" i="0">
                <a:solidFill>
                  <a:srgbClr val="C8102E"/>
                </a:solidFill>
              </a:rPr>
              <a:t>Member  49,000 ₫</a:t>
            </a:r>
          </a:p>
        </p:txBody>
      </p:sp>
      <p:sp>
        <p:nvSpPr>
          <p:cNvPr id="68" name="Rounded Rectangle 67"/>
          <p:cNvSpPr/>
          <p:nvPr/>
        </p:nvSpPr>
        <p:spPr>
          <a:xfrm>
            <a:off x="1302471" y="2371325"/>
            <a:ext cx="590092" cy="826129"/>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9" name="Rounded Rectangle 68"/>
          <p:cNvSpPr/>
          <p:nvPr/>
        </p:nvSpPr>
        <p:spPr>
          <a:xfrm>
            <a:off x="1345387" y="2414241"/>
            <a:ext cx="504261" cy="35405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0" name="TextBox 69"/>
          <p:cNvSpPr txBox="1"/>
          <p:nvPr/>
        </p:nvSpPr>
        <p:spPr>
          <a:xfrm>
            <a:off x="1345387" y="2414241"/>
            <a:ext cx="504261" cy="354055"/>
          </a:xfrm>
          <a:prstGeom prst="rect">
            <a:avLst/>
          </a:prstGeom>
          <a:noFill/>
        </p:spPr>
        <p:txBody>
          <a:bodyPr wrap="square" lIns="0" tIns="0" rIns="0" bIns="0" anchor="ctr">
            <a:spAutoFit/>
          </a:bodyPr>
          <a:lstStyle/>
          <a:p>
            <a:pPr marL="0" indent="0" algn="ctr">
              <a:buNone/>
            </a:pPr>
            <a:r>
              <a:rPr sz="500" b="0" i="0">
                <a:solidFill>
                  <a:srgbClr val="AAAAAA"/>
                </a:solidFill>
              </a:rPr>
              <a:t>IMG</a:t>
            </a:r>
          </a:p>
        </p:txBody>
      </p:sp>
      <p:sp>
        <p:nvSpPr>
          <p:cNvPr id="71" name="Rounded Rectangle 70"/>
          <p:cNvSpPr/>
          <p:nvPr/>
        </p:nvSpPr>
        <p:spPr>
          <a:xfrm>
            <a:off x="1710171" y="2628820"/>
            <a:ext cx="118018" cy="118018"/>
          </a:xfrm>
          <a:prstGeom prst="roundRect">
            <a:avLst>
              <a:gd name="adj" fmla="val 35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2" name="TextBox 71"/>
          <p:cNvSpPr txBox="1"/>
          <p:nvPr/>
        </p:nvSpPr>
        <p:spPr>
          <a:xfrm>
            <a:off x="1710171" y="2628820"/>
            <a:ext cx="118018" cy="118018"/>
          </a:xfrm>
          <a:prstGeom prst="rect">
            <a:avLst/>
          </a:prstGeom>
          <a:noFill/>
        </p:spPr>
        <p:txBody>
          <a:bodyPr wrap="square" lIns="0" tIns="0" rIns="0" bIns="0" anchor="ctr">
            <a:spAutoFit/>
          </a:bodyPr>
          <a:lstStyle/>
          <a:p>
            <a:pPr marL="0" indent="0" algn="ctr">
              <a:buNone/>
            </a:pPr>
            <a:r>
              <a:rPr sz="650" b="1" i="0">
                <a:solidFill>
                  <a:srgbClr val="FFFFFF"/>
                </a:solidFill>
              </a:rPr>
              <a:t>+</a:t>
            </a:r>
          </a:p>
        </p:txBody>
      </p:sp>
      <p:sp>
        <p:nvSpPr>
          <p:cNvPr id="73" name="TextBox 72"/>
          <p:cNvSpPr txBox="1"/>
          <p:nvPr/>
        </p:nvSpPr>
        <p:spPr>
          <a:xfrm>
            <a:off x="1345387" y="2800483"/>
            <a:ext cx="504261" cy="118018"/>
          </a:xfrm>
          <a:prstGeom prst="rect">
            <a:avLst/>
          </a:prstGeom>
          <a:noFill/>
        </p:spPr>
        <p:txBody>
          <a:bodyPr wrap="square" lIns="0" tIns="0" rIns="0" bIns="0" anchor="t">
            <a:spAutoFit/>
          </a:bodyPr>
          <a:lstStyle/>
          <a:p>
            <a:pPr marL="0" indent="0" algn="l">
              <a:buNone/>
            </a:pPr>
            <a:r>
              <a:rPr sz="459" b="0" i="0">
                <a:solidFill>
                  <a:srgbClr val="222222"/>
                </a:solidFill>
              </a:rPr>
              <a:t>Product name line</a:t>
            </a:r>
          </a:p>
        </p:txBody>
      </p:sp>
      <p:sp>
        <p:nvSpPr>
          <p:cNvPr id="74" name="TextBox 73"/>
          <p:cNvSpPr txBox="1"/>
          <p:nvPr/>
        </p:nvSpPr>
        <p:spPr>
          <a:xfrm>
            <a:off x="1345387" y="2950689"/>
            <a:ext cx="504261" cy="80467"/>
          </a:xfrm>
          <a:prstGeom prst="rect">
            <a:avLst/>
          </a:prstGeom>
          <a:noFill/>
        </p:spPr>
        <p:txBody>
          <a:bodyPr wrap="square" lIns="0" tIns="0" rIns="0" bIns="0" anchor="ctr">
            <a:spAutoFit/>
          </a:bodyPr>
          <a:lstStyle/>
          <a:p>
            <a:pPr marL="0" indent="0" algn="l">
              <a:buNone/>
            </a:pPr>
            <a:r>
              <a:rPr sz="480" b="1" i="0">
                <a:solidFill>
                  <a:srgbClr val="222222"/>
                </a:solidFill>
              </a:rPr>
              <a:t>Guest  59,000 ₫</a:t>
            </a:r>
          </a:p>
        </p:txBody>
      </p:sp>
      <p:sp>
        <p:nvSpPr>
          <p:cNvPr id="75" name="TextBox 74"/>
          <p:cNvSpPr txBox="1"/>
          <p:nvPr/>
        </p:nvSpPr>
        <p:spPr>
          <a:xfrm>
            <a:off x="1345387" y="3047249"/>
            <a:ext cx="504261" cy="69738"/>
          </a:xfrm>
          <a:prstGeom prst="rect">
            <a:avLst/>
          </a:prstGeom>
          <a:noFill/>
        </p:spPr>
        <p:txBody>
          <a:bodyPr wrap="square" lIns="0" tIns="0" rIns="0" bIns="0" anchor="ctr">
            <a:spAutoFit/>
          </a:bodyPr>
          <a:lstStyle/>
          <a:p>
            <a:pPr marL="0" indent="0" algn="l">
              <a:buNone/>
            </a:pPr>
            <a:r>
              <a:rPr sz="400" b="0" i="0">
                <a:solidFill>
                  <a:srgbClr val="C8102E"/>
                </a:solidFill>
              </a:rPr>
              <a:t>Member  49,000 ₫</a:t>
            </a:r>
          </a:p>
        </p:txBody>
      </p:sp>
      <p:sp>
        <p:nvSpPr>
          <p:cNvPr id="76" name="Rounded Rectangle 75"/>
          <p:cNvSpPr/>
          <p:nvPr/>
        </p:nvSpPr>
        <p:spPr>
          <a:xfrm>
            <a:off x="1935480" y="2371325"/>
            <a:ext cx="590092" cy="826129"/>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7" name="Rounded Rectangle 76"/>
          <p:cNvSpPr/>
          <p:nvPr/>
        </p:nvSpPr>
        <p:spPr>
          <a:xfrm>
            <a:off x="1978395" y="2414241"/>
            <a:ext cx="504261" cy="35405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8" name="TextBox 77"/>
          <p:cNvSpPr txBox="1"/>
          <p:nvPr/>
        </p:nvSpPr>
        <p:spPr>
          <a:xfrm>
            <a:off x="1978395" y="2414241"/>
            <a:ext cx="504261" cy="354055"/>
          </a:xfrm>
          <a:prstGeom prst="rect">
            <a:avLst/>
          </a:prstGeom>
          <a:noFill/>
        </p:spPr>
        <p:txBody>
          <a:bodyPr wrap="square" lIns="0" tIns="0" rIns="0" bIns="0" anchor="ctr">
            <a:spAutoFit/>
          </a:bodyPr>
          <a:lstStyle/>
          <a:p>
            <a:pPr marL="0" indent="0" algn="ctr">
              <a:buNone/>
            </a:pPr>
            <a:r>
              <a:rPr sz="500" b="0" i="0">
                <a:solidFill>
                  <a:srgbClr val="AAAAAA"/>
                </a:solidFill>
              </a:rPr>
              <a:t>IMG</a:t>
            </a:r>
          </a:p>
        </p:txBody>
      </p:sp>
      <p:sp>
        <p:nvSpPr>
          <p:cNvPr id="79" name="Rounded Rectangle 78"/>
          <p:cNvSpPr/>
          <p:nvPr/>
        </p:nvSpPr>
        <p:spPr>
          <a:xfrm>
            <a:off x="2343180" y="2628820"/>
            <a:ext cx="118018" cy="118018"/>
          </a:xfrm>
          <a:prstGeom prst="roundRect">
            <a:avLst>
              <a:gd name="adj" fmla="val 35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0" name="TextBox 79"/>
          <p:cNvSpPr txBox="1"/>
          <p:nvPr/>
        </p:nvSpPr>
        <p:spPr>
          <a:xfrm>
            <a:off x="2343180" y="2628820"/>
            <a:ext cx="118018" cy="118018"/>
          </a:xfrm>
          <a:prstGeom prst="rect">
            <a:avLst/>
          </a:prstGeom>
          <a:noFill/>
        </p:spPr>
        <p:txBody>
          <a:bodyPr wrap="square" lIns="0" tIns="0" rIns="0" bIns="0" anchor="ctr">
            <a:spAutoFit/>
          </a:bodyPr>
          <a:lstStyle/>
          <a:p>
            <a:pPr marL="0" indent="0" algn="ctr">
              <a:buNone/>
            </a:pPr>
            <a:r>
              <a:rPr sz="650" b="1" i="0">
                <a:solidFill>
                  <a:srgbClr val="FFFFFF"/>
                </a:solidFill>
              </a:rPr>
              <a:t>+</a:t>
            </a:r>
          </a:p>
        </p:txBody>
      </p:sp>
      <p:sp>
        <p:nvSpPr>
          <p:cNvPr id="81" name="TextBox 80"/>
          <p:cNvSpPr txBox="1"/>
          <p:nvPr/>
        </p:nvSpPr>
        <p:spPr>
          <a:xfrm>
            <a:off x="1978395" y="2800483"/>
            <a:ext cx="504261" cy="118018"/>
          </a:xfrm>
          <a:prstGeom prst="rect">
            <a:avLst/>
          </a:prstGeom>
          <a:noFill/>
        </p:spPr>
        <p:txBody>
          <a:bodyPr wrap="square" lIns="0" tIns="0" rIns="0" bIns="0" anchor="t">
            <a:spAutoFit/>
          </a:bodyPr>
          <a:lstStyle/>
          <a:p>
            <a:pPr marL="0" indent="0" algn="l">
              <a:buNone/>
            </a:pPr>
            <a:r>
              <a:rPr sz="459" b="0" i="0">
                <a:solidFill>
                  <a:srgbClr val="222222"/>
                </a:solidFill>
              </a:rPr>
              <a:t>Product name line</a:t>
            </a:r>
          </a:p>
        </p:txBody>
      </p:sp>
      <p:sp>
        <p:nvSpPr>
          <p:cNvPr id="82" name="TextBox 81"/>
          <p:cNvSpPr txBox="1"/>
          <p:nvPr/>
        </p:nvSpPr>
        <p:spPr>
          <a:xfrm>
            <a:off x="1978395" y="2950689"/>
            <a:ext cx="504261" cy="80467"/>
          </a:xfrm>
          <a:prstGeom prst="rect">
            <a:avLst/>
          </a:prstGeom>
          <a:noFill/>
        </p:spPr>
        <p:txBody>
          <a:bodyPr wrap="square" lIns="0" tIns="0" rIns="0" bIns="0" anchor="ctr">
            <a:spAutoFit/>
          </a:bodyPr>
          <a:lstStyle/>
          <a:p>
            <a:pPr marL="0" indent="0" algn="l">
              <a:buNone/>
            </a:pPr>
            <a:r>
              <a:rPr sz="480" b="1" i="0">
                <a:solidFill>
                  <a:srgbClr val="222222"/>
                </a:solidFill>
              </a:rPr>
              <a:t>Guest  59,000 ₫</a:t>
            </a:r>
          </a:p>
        </p:txBody>
      </p:sp>
      <p:sp>
        <p:nvSpPr>
          <p:cNvPr id="83" name="TextBox 82"/>
          <p:cNvSpPr txBox="1"/>
          <p:nvPr/>
        </p:nvSpPr>
        <p:spPr>
          <a:xfrm>
            <a:off x="1978395" y="3047249"/>
            <a:ext cx="504261" cy="69738"/>
          </a:xfrm>
          <a:prstGeom prst="rect">
            <a:avLst/>
          </a:prstGeom>
          <a:noFill/>
        </p:spPr>
        <p:txBody>
          <a:bodyPr wrap="square" lIns="0" tIns="0" rIns="0" bIns="0" anchor="ctr">
            <a:spAutoFit/>
          </a:bodyPr>
          <a:lstStyle/>
          <a:p>
            <a:pPr marL="0" indent="0" algn="l">
              <a:buNone/>
            </a:pPr>
            <a:r>
              <a:rPr sz="400" b="0" i="0">
                <a:solidFill>
                  <a:srgbClr val="C8102E"/>
                </a:solidFill>
              </a:rPr>
              <a:t>Member  49,000 ₫</a:t>
            </a:r>
          </a:p>
        </p:txBody>
      </p:sp>
      <p:sp>
        <p:nvSpPr>
          <p:cNvPr id="84" name="Rectangle 83"/>
          <p:cNvSpPr/>
          <p:nvPr/>
        </p:nvSpPr>
        <p:spPr>
          <a:xfrm>
            <a:off x="594360" y="4667322"/>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5" name="TextBox 84"/>
          <p:cNvSpPr txBox="1"/>
          <p:nvPr/>
        </p:nvSpPr>
        <p:spPr>
          <a:xfrm>
            <a:off x="594360" y="4665310"/>
            <a:ext cx="502919" cy="100584"/>
          </a:xfrm>
          <a:prstGeom prst="rect">
            <a:avLst/>
          </a:prstGeom>
          <a:noFill/>
        </p:spPr>
        <p:txBody>
          <a:bodyPr wrap="square" lIns="0" tIns="0" rIns="0" bIns="0" anchor="ctr">
            <a:spAutoFit/>
          </a:bodyPr>
          <a:lstStyle/>
          <a:p>
            <a:pPr marL="0" indent="0" algn="ctr">
              <a:buNone/>
            </a:pPr>
            <a:r>
              <a:rPr sz="600" b="0" i="0">
                <a:solidFill>
                  <a:srgbClr val="C8102E"/>
                </a:solidFill>
              </a:rPr>
              <a:t>▣</a:t>
            </a:r>
          </a:p>
        </p:txBody>
      </p:sp>
      <p:sp>
        <p:nvSpPr>
          <p:cNvPr id="86" name="TextBox 85"/>
          <p:cNvSpPr txBox="1"/>
          <p:nvPr/>
        </p:nvSpPr>
        <p:spPr>
          <a:xfrm>
            <a:off x="594360" y="4745107"/>
            <a:ext cx="502919" cy="80467"/>
          </a:xfrm>
          <a:prstGeom prst="rect">
            <a:avLst/>
          </a:prstGeom>
          <a:noFill/>
        </p:spPr>
        <p:txBody>
          <a:bodyPr wrap="square" lIns="0" tIns="0" rIns="0" bIns="0" anchor="ctr">
            <a:spAutoFit/>
          </a:bodyPr>
          <a:lstStyle/>
          <a:p>
            <a:pPr marL="0" indent="0" algn="ctr">
              <a:buNone/>
            </a:pPr>
            <a:r>
              <a:rPr sz="480" b="1" i="0">
                <a:solidFill>
                  <a:srgbClr val="C8102E"/>
                </a:solidFill>
              </a:rPr>
              <a:t>Home</a:t>
            </a:r>
          </a:p>
        </p:txBody>
      </p:sp>
      <p:sp>
        <p:nvSpPr>
          <p:cNvPr id="87" name="TextBox 86"/>
          <p:cNvSpPr txBox="1"/>
          <p:nvPr/>
        </p:nvSpPr>
        <p:spPr>
          <a:xfrm>
            <a:off x="1097279" y="4665310"/>
            <a:ext cx="502919" cy="100584"/>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88" name="TextBox 87"/>
          <p:cNvSpPr txBox="1"/>
          <p:nvPr/>
        </p:nvSpPr>
        <p:spPr>
          <a:xfrm>
            <a:off x="1097279" y="4745107"/>
            <a:ext cx="502919" cy="80467"/>
          </a:xfrm>
          <a:prstGeom prst="rect">
            <a:avLst/>
          </a:prstGeom>
          <a:noFill/>
        </p:spPr>
        <p:txBody>
          <a:bodyPr wrap="square" lIns="0" tIns="0" rIns="0" bIns="0" anchor="ctr">
            <a:spAutoFit/>
          </a:bodyPr>
          <a:lstStyle/>
          <a:p>
            <a:pPr marL="0" indent="0" algn="ctr">
              <a:buNone/>
            </a:pPr>
            <a:r>
              <a:rPr sz="480" b="0" i="0">
                <a:solidFill>
                  <a:srgbClr val="888888"/>
                </a:solidFill>
              </a:rPr>
              <a:t>Category</a:t>
            </a:r>
          </a:p>
        </p:txBody>
      </p:sp>
      <p:sp>
        <p:nvSpPr>
          <p:cNvPr id="89" name="TextBox 88"/>
          <p:cNvSpPr txBox="1"/>
          <p:nvPr/>
        </p:nvSpPr>
        <p:spPr>
          <a:xfrm>
            <a:off x="1600199" y="4665310"/>
            <a:ext cx="502919" cy="100584"/>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90" name="TextBox 89"/>
          <p:cNvSpPr txBox="1"/>
          <p:nvPr/>
        </p:nvSpPr>
        <p:spPr>
          <a:xfrm>
            <a:off x="1600199" y="4745107"/>
            <a:ext cx="502919" cy="80467"/>
          </a:xfrm>
          <a:prstGeom prst="rect">
            <a:avLst/>
          </a:prstGeom>
          <a:noFill/>
        </p:spPr>
        <p:txBody>
          <a:bodyPr wrap="square" lIns="0" tIns="0" rIns="0" bIns="0" anchor="ctr">
            <a:spAutoFit/>
          </a:bodyPr>
          <a:lstStyle/>
          <a:p>
            <a:pPr marL="0" indent="0" algn="ctr">
              <a:buNone/>
            </a:pPr>
            <a:r>
              <a:rPr sz="480" b="0" i="0">
                <a:solidFill>
                  <a:srgbClr val="888888"/>
                </a:solidFill>
              </a:rPr>
              <a:t>Cart</a:t>
            </a:r>
          </a:p>
        </p:txBody>
      </p:sp>
      <p:sp>
        <p:nvSpPr>
          <p:cNvPr id="91" name="TextBox 90"/>
          <p:cNvSpPr txBox="1"/>
          <p:nvPr/>
        </p:nvSpPr>
        <p:spPr>
          <a:xfrm>
            <a:off x="2103119" y="4665310"/>
            <a:ext cx="502919" cy="100584"/>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92" name="TextBox 91"/>
          <p:cNvSpPr txBox="1"/>
          <p:nvPr/>
        </p:nvSpPr>
        <p:spPr>
          <a:xfrm>
            <a:off x="2103119" y="4745107"/>
            <a:ext cx="502919" cy="80467"/>
          </a:xfrm>
          <a:prstGeom prst="rect">
            <a:avLst/>
          </a:prstGeom>
          <a:noFill/>
        </p:spPr>
        <p:txBody>
          <a:bodyPr wrap="square" lIns="0" tIns="0" rIns="0" bIns="0" anchor="ctr">
            <a:spAutoFit/>
          </a:bodyPr>
          <a:lstStyle/>
          <a:p>
            <a:pPr marL="0" indent="0" algn="ctr">
              <a:buNone/>
            </a:pPr>
            <a:r>
              <a:rPr sz="480" b="0" i="0">
                <a:solidFill>
                  <a:srgbClr val="888888"/>
                </a:solidFill>
              </a:rPr>
              <a:t>My</a:t>
            </a:r>
          </a:p>
        </p:txBody>
      </p:sp>
      <p:sp>
        <p:nvSpPr>
          <p:cNvPr id="93" name="Oval 92"/>
          <p:cNvSpPr/>
          <p:nvPr/>
        </p:nvSpPr>
        <p:spPr>
          <a:xfrm>
            <a:off x="379781" y="1030205"/>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4" name="TextBox 93"/>
          <p:cNvSpPr txBox="1"/>
          <p:nvPr/>
        </p:nvSpPr>
        <p:spPr>
          <a:xfrm>
            <a:off x="379781" y="1030205"/>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95" name="Oval 94"/>
          <p:cNvSpPr/>
          <p:nvPr/>
        </p:nvSpPr>
        <p:spPr>
          <a:xfrm>
            <a:off x="379781" y="1148224"/>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6" name="TextBox 95"/>
          <p:cNvSpPr txBox="1"/>
          <p:nvPr/>
        </p:nvSpPr>
        <p:spPr>
          <a:xfrm>
            <a:off x="379781" y="1148224"/>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97" name="Oval 96"/>
          <p:cNvSpPr/>
          <p:nvPr/>
        </p:nvSpPr>
        <p:spPr>
          <a:xfrm>
            <a:off x="379781" y="1244784"/>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8" name="TextBox 97"/>
          <p:cNvSpPr txBox="1"/>
          <p:nvPr/>
        </p:nvSpPr>
        <p:spPr>
          <a:xfrm>
            <a:off x="379781" y="1244784"/>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99" name="Oval 98"/>
          <p:cNvSpPr/>
          <p:nvPr/>
        </p:nvSpPr>
        <p:spPr>
          <a:xfrm>
            <a:off x="379781" y="1416448"/>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0" name="TextBox 99"/>
          <p:cNvSpPr txBox="1"/>
          <p:nvPr/>
        </p:nvSpPr>
        <p:spPr>
          <a:xfrm>
            <a:off x="379781" y="1416448"/>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101" name="Oval 100"/>
          <p:cNvSpPr/>
          <p:nvPr/>
        </p:nvSpPr>
        <p:spPr>
          <a:xfrm>
            <a:off x="379781" y="2489343"/>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2" name="TextBox 101"/>
          <p:cNvSpPr txBox="1"/>
          <p:nvPr/>
        </p:nvSpPr>
        <p:spPr>
          <a:xfrm>
            <a:off x="379781" y="2489343"/>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sp>
        <p:nvSpPr>
          <p:cNvPr id="103" name="Oval 102"/>
          <p:cNvSpPr/>
          <p:nvPr/>
        </p:nvSpPr>
        <p:spPr>
          <a:xfrm>
            <a:off x="379781" y="466732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4" name="TextBox 103"/>
          <p:cNvSpPr txBox="1"/>
          <p:nvPr/>
        </p:nvSpPr>
        <p:spPr>
          <a:xfrm>
            <a:off x="379781" y="466732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8</a:t>
            </a:r>
          </a:p>
        </p:txBody>
      </p:sp>
      <p:sp>
        <p:nvSpPr>
          <p:cNvPr id="105" name="Rounded Rectangle 104"/>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6" name="Rectangle 105"/>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7" name="TextBox 106"/>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State B  ·  Guest, address entered, 60-Minute zone</a:t>
            </a:r>
          </a:p>
        </p:txBody>
      </p:sp>
      <p:sp>
        <p:nvSpPr>
          <p:cNvPr id="108" name="TextBox 107"/>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FFFFFF"/>
                </a:solidFill>
              </a:rPr>
              <a:t>9:41</a:t>
            </a:r>
          </a:p>
        </p:txBody>
      </p:sp>
      <p:sp>
        <p:nvSpPr>
          <p:cNvPr id="109" name="TextBox 108"/>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FFFFFF"/>
                </a:solidFill>
              </a:rPr>
              <a:t>▮▮▮  ⌁  ▰</a:t>
            </a:r>
          </a:p>
        </p:txBody>
      </p:sp>
      <p:sp>
        <p:nvSpPr>
          <p:cNvPr id="110" name="Rectangle 109"/>
          <p:cNvSpPr/>
          <p:nvPr/>
        </p:nvSpPr>
        <p:spPr>
          <a:xfrm>
            <a:off x="3383280" y="998018"/>
            <a:ext cx="2011679" cy="396971"/>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1" name="TextBox 110"/>
          <p:cNvSpPr txBox="1"/>
          <p:nvPr/>
        </p:nvSpPr>
        <p:spPr>
          <a:xfrm>
            <a:off x="3458382" y="1022829"/>
            <a:ext cx="75102" cy="100584"/>
          </a:xfrm>
          <a:prstGeom prst="rect">
            <a:avLst/>
          </a:prstGeom>
          <a:noFill/>
        </p:spPr>
        <p:txBody>
          <a:bodyPr wrap="square" lIns="0" tIns="0" rIns="0" bIns="0" anchor="ctr">
            <a:spAutoFit/>
          </a:bodyPr>
          <a:lstStyle/>
          <a:p>
            <a:pPr marL="0" indent="0" algn="l">
              <a:buNone/>
            </a:pPr>
            <a:r>
              <a:rPr sz="600" b="0" i="0">
                <a:solidFill>
                  <a:srgbClr val="FFD9DE"/>
                </a:solidFill>
              </a:rPr>
              <a:t>▣</a:t>
            </a:r>
          </a:p>
        </p:txBody>
      </p:sp>
      <p:sp>
        <p:nvSpPr>
          <p:cNvPr id="112" name="TextBox 111"/>
          <p:cNvSpPr txBox="1"/>
          <p:nvPr/>
        </p:nvSpPr>
        <p:spPr>
          <a:xfrm>
            <a:off x="3554943" y="1019476"/>
            <a:ext cx="1126540" cy="107289"/>
          </a:xfrm>
          <a:prstGeom prst="rect">
            <a:avLst/>
          </a:prstGeom>
          <a:noFill/>
        </p:spPr>
        <p:txBody>
          <a:bodyPr wrap="square" lIns="0" tIns="0" rIns="0" bIns="0" anchor="ctr">
            <a:spAutoFit/>
          </a:bodyPr>
          <a:lstStyle/>
          <a:p>
            <a:pPr marL="0" indent="0" algn="l">
              <a:buNone/>
            </a:pPr>
            <a:r>
              <a:rPr sz="640" b="1" i="0">
                <a:solidFill>
                  <a:srgbClr val="FFFFFF"/>
                </a:solidFill>
              </a:rPr>
              <a:t>LOTTE Mart Nam Sài Gòn</a:t>
            </a:r>
          </a:p>
        </p:txBody>
      </p:sp>
      <p:sp>
        <p:nvSpPr>
          <p:cNvPr id="113" name="TextBox 112"/>
          <p:cNvSpPr txBox="1"/>
          <p:nvPr/>
        </p:nvSpPr>
        <p:spPr>
          <a:xfrm>
            <a:off x="4681484" y="1027020"/>
            <a:ext cx="64373" cy="92202"/>
          </a:xfrm>
          <a:prstGeom prst="rect">
            <a:avLst/>
          </a:prstGeom>
          <a:noFill/>
        </p:spPr>
        <p:txBody>
          <a:bodyPr wrap="square" lIns="0" tIns="0" rIns="0" bIns="0" anchor="ctr">
            <a:spAutoFit/>
          </a:bodyPr>
          <a:lstStyle/>
          <a:p>
            <a:pPr marL="0" indent="0" algn="l">
              <a:buNone/>
            </a:pPr>
            <a:r>
              <a:rPr sz="550" b="0" i="0">
                <a:solidFill>
                  <a:srgbClr val="FFFFFF"/>
                </a:solidFill>
              </a:rPr>
              <a:t>▾</a:t>
            </a:r>
          </a:p>
        </p:txBody>
      </p:sp>
      <p:sp>
        <p:nvSpPr>
          <p:cNvPr id="114" name="TextBox 113"/>
          <p:cNvSpPr txBox="1"/>
          <p:nvPr/>
        </p:nvSpPr>
        <p:spPr>
          <a:xfrm>
            <a:off x="4992623" y="1014447"/>
            <a:ext cx="118018" cy="117348"/>
          </a:xfrm>
          <a:prstGeom prst="rect">
            <a:avLst/>
          </a:prstGeom>
          <a:noFill/>
        </p:spPr>
        <p:txBody>
          <a:bodyPr wrap="square" lIns="0" tIns="0" rIns="0" bIns="0" anchor="ctr">
            <a:spAutoFit/>
          </a:bodyPr>
          <a:lstStyle/>
          <a:p>
            <a:pPr marL="0" indent="0" algn="ctr">
              <a:buNone/>
            </a:pPr>
            <a:r>
              <a:rPr sz="700" b="0" i="0">
                <a:solidFill>
                  <a:srgbClr val="FFFFFF"/>
                </a:solidFill>
              </a:rPr>
              <a:t>⌕</a:t>
            </a:r>
          </a:p>
        </p:txBody>
      </p:sp>
      <p:sp>
        <p:nvSpPr>
          <p:cNvPr id="115" name="TextBox 114"/>
          <p:cNvSpPr txBox="1"/>
          <p:nvPr/>
        </p:nvSpPr>
        <p:spPr>
          <a:xfrm>
            <a:off x="5153558" y="1022829"/>
            <a:ext cx="118018" cy="100584"/>
          </a:xfrm>
          <a:prstGeom prst="rect">
            <a:avLst/>
          </a:prstGeom>
          <a:noFill/>
        </p:spPr>
        <p:txBody>
          <a:bodyPr wrap="square" lIns="0" tIns="0" rIns="0" bIns="0" anchor="ctr">
            <a:spAutoFit/>
          </a:bodyPr>
          <a:lstStyle/>
          <a:p>
            <a:pPr marL="0" indent="0" algn="ctr">
              <a:buNone/>
            </a:pPr>
            <a:r>
              <a:rPr sz="600" b="0" i="0">
                <a:solidFill>
                  <a:srgbClr val="FFFFFF"/>
                </a:solidFill>
              </a:rPr>
              <a:t>♡</a:t>
            </a:r>
          </a:p>
        </p:txBody>
      </p:sp>
      <p:sp>
        <p:nvSpPr>
          <p:cNvPr id="116" name="TextBox 115"/>
          <p:cNvSpPr txBox="1"/>
          <p:nvPr/>
        </p:nvSpPr>
        <p:spPr>
          <a:xfrm>
            <a:off x="3458382" y="1140513"/>
            <a:ext cx="75102" cy="90525"/>
          </a:xfrm>
          <a:prstGeom prst="rect">
            <a:avLst/>
          </a:prstGeom>
          <a:noFill/>
        </p:spPr>
        <p:txBody>
          <a:bodyPr wrap="square" lIns="0" tIns="0" rIns="0" bIns="0" anchor="ctr">
            <a:spAutoFit/>
          </a:bodyPr>
          <a:lstStyle/>
          <a:p>
            <a:pPr marL="0" indent="0" algn="l">
              <a:buNone/>
            </a:pPr>
            <a:r>
              <a:rPr sz="540" b="0" i="0">
                <a:solidFill>
                  <a:srgbClr val="FFD9DE"/>
                </a:solidFill>
              </a:rPr>
              <a:t>◎</a:t>
            </a:r>
          </a:p>
        </p:txBody>
      </p:sp>
      <p:sp>
        <p:nvSpPr>
          <p:cNvPr id="117" name="TextBox 116"/>
          <p:cNvSpPr txBox="1"/>
          <p:nvPr/>
        </p:nvSpPr>
        <p:spPr>
          <a:xfrm>
            <a:off x="3554943" y="1138836"/>
            <a:ext cx="1341120" cy="93878"/>
          </a:xfrm>
          <a:prstGeom prst="rect">
            <a:avLst/>
          </a:prstGeom>
          <a:noFill/>
        </p:spPr>
        <p:txBody>
          <a:bodyPr wrap="square" lIns="0" tIns="0" rIns="0" bIns="0" anchor="ctr">
            <a:spAutoFit/>
          </a:bodyPr>
          <a:lstStyle/>
          <a:p>
            <a:pPr marL="0" indent="0" algn="l">
              <a:buNone/>
            </a:pPr>
            <a:r>
              <a:rPr sz="560" b="1" i="0">
                <a:solidFill>
                  <a:srgbClr val="FFFFFF"/>
                </a:solidFill>
              </a:rPr>
              <a:t>123 Nguyễn Thị Thập, Q.7</a:t>
            </a:r>
          </a:p>
        </p:txBody>
      </p:sp>
      <p:sp>
        <p:nvSpPr>
          <p:cNvPr id="118" name="TextBox 117"/>
          <p:cNvSpPr txBox="1"/>
          <p:nvPr/>
        </p:nvSpPr>
        <p:spPr>
          <a:xfrm>
            <a:off x="4906792" y="1143865"/>
            <a:ext cx="64373" cy="83820"/>
          </a:xfrm>
          <a:prstGeom prst="rect">
            <a:avLst/>
          </a:prstGeom>
          <a:noFill/>
        </p:spPr>
        <p:txBody>
          <a:bodyPr wrap="square" lIns="0" tIns="0" rIns="0" bIns="0" anchor="ctr">
            <a:spAutoFit/>
          </a:bodyPr>
          <a:lstStyle/>
          <a:p>
            <a:pPr marL="0" indent="0" algn="l">
              <a:buNone/>
            </a:pPr>
            <a:r>
              <a:rPr sz="500" b="0" i="0">
                <a:solidFill>
                  <a:srgbClr val="FFD9DE"/>
                </a:solidFill>
              </a:rPr>
              <a:t>▾</a:t>
            </a:r>
          </a:p>
        </p:txBody>
      </p:sp>
      <p:sp>
        <p:nvSpPr>
          <p:cNvPr id="119" name="TextBox 118"/>
          <p:cNvSpPr txBox="1"/>
          <p:nvPr/>
        </p:nvSpPr>
        <p:spPr>
          <a:xfrm>
            <a:off x="3458382" y="1238749"/>
            <a:ext cx="75102" cy="87172"/>
          </a:xfrm>
          <a:prstGeom prst="rect">
            <a:avLst/>
          </a:prstGeom>
          <a:noFill/>
        </p:spPr>
        <p:txBody>
          <a:bodyPr wrap="square" lIns="0" tIns="0" rIns="0" bIns="0" anchor="ctr">
            <a:spAutoFit/>
          </a:bodyPr>
          <a:lstStyle/>
          <a:p>
            <a:pPr marL="0" indent="0" algn="l">
              <a:buNone/>
            </a:pPr>
            <a:r>
              <a:rPr sz="520" b="0" i="0">
                <a:solidFill>
                  <a:srgbClr val="FFD9DE"/>
                </a:solidFill>
              </a:rPr>
              <a:t>◷</a:t>
            </a:r>
          </a:p>
        </p:txBody>
      </p:sp>
      <p:sp>
        <p:nvSpPr>
          <p:cNvPr id="120" name="TextBox 119"/>
          <p:cNvSpPr txBox="1"/>
          <p:nvPr/>
        </p:nvSpPr>
        <p:spPr>
          <a:xfrm>
            <a:off x="3554943" y="1243863"/>
            <a:ext cx="1609343" cy="76944"/>
          </a:xfrm>
          <a:prstGeom prst="rect">
            <a:avLst/>
          </a:prstGeom>
          <a:noFill/>
        </p:spPr>
        <p:txBody>
          <a:bodyPr wrap="square" lIns="0" tIns="0" rIns="0" bIns="0" anchor="ctr">
            <a:spAutoFit/>
          </a:bodyPr>
          <a:lstStyle/>
          <a:p>
            <a:pPr marL="0" indent="0" algn="l">
              <a:buNone/>
            </a:pPr>
            <a:r>
              <a:rPr sz="500" b="0" i="0">
                <a:solidFill>
                  <a:srgbClr val="FFE4E8"/>
                </a:solidFill>
              </a:rPr>
              <a:t>Standard  ·  today 15:00–18:00</a:t>
            </a:r>
            <a:endParaRPr lang="en-US" sz="500" b="0" i="0">
              <a:solidFill>
                <a:srgbClr val="FFE4E8"/>
              </a:solidFill>
              <a:ea typeface="Calibri"/>
              <a:cs typeface="Calibri"/>
            </a:endParaRPr>
          </a:p>
        </p:txBody>
      </p:sp>
      <p:sp>
        <p:nvSpPr>
          <p:cNvPr id="121" name="Rounded Rectangle 120"/>
          <p:cNvSpPr/>
          <p:nvPr/>
        </p:nvSpPr>
        <p:spPr>
          <a:xfrm>
            <a:off x="3436924" y="1416448"/>
            <a:ext cx="1904390" cy="150205"/>
          </a:xfrm>
          <a:prstGeom prst="roundRect">
            <a:avLst>
              <a:gd name="adj" fmla="val 15000"/>
            </a:avLst>
          </a:prstGeom>
          <a:solidFill>
            <a:srgbClr val="E8F5EE"/>
          </a:solidFill>
          <a:ln w="6350">
            <a:solidFill>
              <a:srgbClr val="E8F5E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2" name="TextBox 121"/>
          <p:cNvSpPr txBox="1"/>
          <p:nvPr/>
        </p:nvSpPr>
        <p:spPr>
          <a:xfrm>
            <a:off x="3479840" y="1416448"/>
            <a:ext cx="96560" cy="150205"/>
          </a:xfrm>
          <a:prstGeom prst="rect">
            <a:avLst/>
          </a:prstGeom>
          <a:noFill/>
        </p:spPr>
        <p:txBody>
          <a:bodyPr wrap="square" lIns="0" tIns="0" rIns="0" bIns="0" anchor="ctr">
            <a:spAutoFit/>
          </a:bodyPr>
          <a:lstStyle/>
          <a:p>
            <a:pPr marL="0" indent="0" algn="ctr">
              <a:buNone/>
            </a:pPr>
            <a:r>
              <a:rPr sz="550" b="1" i="0">
                <a:solidFill>
                  <a:srgbClr val="1B7F4B"/>
                </a:solidFill>
              </a:rPr>
              <a:t>⚡</a:t>
            </a:r>
          </a:p>
        </p:txBody>
      </p:sp>
      <p:sp>
        <p:nvSpPr>
          <p:cNvPr id="123" name="TextBox 122"/>
          <p:cNvSpPr txBox="1"/>
          <p:nvPr/>
        </p:nvSpPr>
        <p:spPr>
          <a:xfrm>
            <a:off x="3608588" y="1416448"/>
            <a:ext cx="1700540" cy="150205"/>
          </a:xfrm>
          <a:prstGeom prst="rect">
            <a:avLst/>
          </a:prstGeom>
          <a:noFill/>
        </p:spPr>
        <p:txBody>
          <a:bodyPr wrap="square" lIns="0" tIns="0" rIns="0" bIns="0" anchor="ctr">
            <a:spAutoFit/>
          </a:bodyPr>
          <a:lstStyle/>
          <a:p>
            <a:pPr marL="0" indent="0" algn="l">
              <a:buNone/>
            </a:pPr>
            <a:r>
              <a:rPr sz="540" b="0" i="0">
                <a:solidFill>
                  <a:srgbClr val="1B7F4B"/>
                </a:solidFill>
              </a:rPr>
              <a:t>60-Minute delivery is available for this address</a:t>
            </a:r>
          </a:p>
        </p:txBody>
      </p:sp>
      <p:sp>
        <p:nvSpPr>
          <p:cNvPr id="124" name="Rectangle 123"/>
          <p:cNvSpPr/>
          <p:nvPr/>
        </p:nvSpPr>
        <p:spPr>
          <a:xfrm>
            <a:off x="3383280" y="1598840"/>
            <a:ext cx="2011679" cy="16093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5" name="Rounded Rectangle 124"/>
          <p:cNvSpPr/>
          <p:nvPr/>
        </p:nvSpPr>
        <p:spPr>
          <a:xfrm>
            <a:off x="3458382" y="1620298"/>
            <a:ext cx="1861474" cy="128747"/>
          </a:xfrm>
          <a:prstGeom prst="roundRect">
            <a:avLst>
              <a:gd name="adj" fmla="val 30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6" name="TextBox 125"/>
          <p:cNvSpPr txBox="1"/>
          <p:nvPr/>
        </p:nvSpPr>
        <p:spPr>
          <a:xfrm>
            <a:off x="3533485" y="1620298"/>
            <a:ext cx="1609343" cy="128747"/>
          </a:xfrm>
          <a:prstGeom prst="rect">
            <a:avLst/>
          </a:prstGeom>
          <a:noFill/>
        </p:spPr>
        <p:txBody>
          <a:bodyPr wrap="square" lIns="0" tIns="0" rIns="0" bIns="0" anchor="ctr">
            <a:spAutoFit/>
          </a:bodyPr>
          <a:lstStyle/>
          <a:p>
            <a:pPr marL="0" indent="0" algn="l">
              <a:buNone/>
            </a:pPr>
            <a:r>
              <a:rPr sz="540" b="0" i="0">
                <a:solidFill>
                  <a:srgbClr val="AAAAAA"/>
                </a:solidFill>
              </a:rPr>
              <a:t>⌕   Search 30,000+ products</a:t>
            </a:r>
          </a:p>
        </p:txBody>
      </p:sp>
      <p:sp>
        <p:nvSpPr>
          <p:cNvPr id="127" name="Rounded Rectangle 126"/>
          <p:cNvSpPr/>
          <p:nvPr/>
        </p:nvSpPr>
        <p:spPr>
          <a:xfrm>
            <a:off x="3458382" y="1781232"/>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8" name="TextBox 127"/>
          <p:cNvSpPr txBox="1"/>
          <p:nvPr/>
        </p:nvSpPr>
        <p:spPr>
          <a:xfrm>
            <a:off x="3458382" y="1802690"/>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29" name="TextBox 128"/>
          <p:cNvSpPr txBox="1"/>
          <p:nvPr/>
        </p:nvSpPr>
        <p:spPr>
          <a:xfrm>
            <a:off x="3458382" y="1919703"/>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Fresh</a:t>
            </a:r>
          </a:p>
        </p:txBody>
      </p:sp>
      <p:sp>
        <p:nvSpPr>
          <p:cNvPr id="130" name="Rounded Rectangle 129"/>
          <p:cNvSpPr/>
          <p:nvPr/>
        </p:nvSpPr>
        <p:spPr>
          <a:xfrm>
            <a:off x="3833896" y="1781232"/>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1" name="TextBox 130"/>
          <p:cNvSpPr txBox="1"/>
          <p:nvPr/>
        </p:nvSpPr>
        <p:spPr>
          <a:xfrm>
            <a:off x="3833896" y="1802690"/>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32" name="TextBox 131"/>
          <p:cNvSpPr txBox="1"/>
          <p:nvPr/>
        </p:nvSpPr>
        <p:spPr>
          <a:xfrm>
            <a:off x="3833896" y="1919703"/>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Frozen</a:t>
            </a:r>
          </a:p>
        </p:txBody>
      </p:sp>
      <p:sp>
        <p:nvSpPr>
          <p:cNvPr id="133" name="Rounded Rectangle 132"/>
          <p:cNvSpPr/>
          <p:nvPr/>
        </p:nvSpPr>
        <p:spPr>
          <a:xfrm>
            <a:off x="4209409" y="1781232"/>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4" name="TextBox 133"/>
          <p:cNvSpPr txBox="1"/>
          <p:nvPr/>
        </p:nvSpPr>
        <p:spPr>
          <a:xfrm>
            <a:off x="4209409" y="1802690"/>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35" name="TextBox 134"/>
          <p:cNvSpPr txBox="1"/>
          <p:nvPr/>
        </p:nvSpPr>
        <p:spPr>
          <a:xfrm>
            <a:off x="4209409" y="1919703"/>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Drinks</a:t>
            </a:r>
          </a:p>
        </p:txBody>
      </p:sp>
      <p:sp>
        <p:nvSpPr>
          <p:cNvPr id="136" name="Rounded Rectangle 135"/>
          <p:cNvSpPr/>
          <p:nvPr/>
        </p:nvSpPr>
        <p:spPr>
          <a:xfrm>
            <a:off x="4584923" y="1781232"/>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7" name="TextBox 136"/>
          <p:cNvSpPr txBox="1"/>
          <p:nvPr/>
        </p:nvSpPr>
        <p:spPr>
          <a:xfrm>
            <a:off x="4584923" y="1802690"/>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38" name="TextBox 137"/>
          <p:cNvSpPr txBox="1"/>
          <p:nvPr/>
        </p:nvSpPr>
        <p:spPr>
          <a:xfrm>
            <a:off x="4584923" y="1919703"/>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Home</a:t>
            </a:r>
          </a:p>
        </p:txBody>
      </p:sp>
      <p:sp>
        <p:nvSpPr>
          <p:cNvPr id="139" name="Rounded Rectangle 138"/>
          <p:cNvSpPr/>
          <p:nvPr/>
        </p:nvSpPr>
        <p:spPr>
          <a:xfrm>
            <a:off x="4960437" y="1781232"/>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0" name="TextBox 139"/>
          <p:cNvSpPr txBox="1"/>
          <p:nvPr/>
        </p:nvSpPr>
        <p:spPr>
          <a:xfrm>
            <a:off x="4960437" y="1802690"/>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41" name="TextBox 140"/>
          <p:cNvSpPr txBox="1"/>
          <p:nvPr/>
        </p:nvSpPr>
        <p:spPr>
          <a:xfrm>
            <a:off x="4960437" y="1919703"/>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Baby</a:t>
            </a:r>
          </a:p>
        </p:txBody>
      </p:sp>
      <p:sp>
        <p:nvSpPr>
          <p:cNvPr id="142" name="Rounded Rectangle 141"/>
          <p:cNvSpPr/>
          <p:nvPr/>
        </p:nvSpPr>
        <p:spPr>
          <a:xfrm>
            <a:off x="3458382" y="2081643"/>
            <a:ext cx="1861474" cy="321868"/>
          </a:xfrm>
          <a:prstGeom prst="roundRect">
            <a:avLst>
              <a:gd name="adj" fmla="val 10000"/>
            </a:avLst>
          </a:prstGeom>
          <a:solidFill>
            <a:srgbClr val="EEF1F9"/>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3" name="TextBox 142"/>
          <p:cNvSpPr txBox="1"/>
          <p:nvPr/>
        </p:nvSpPr>
        <p:spPr>
          <a:xfrm>
            <a:off x="3458382" y="2081643"/>
            <a:ext cx="1861474" cy="321868"/>
          </a:xfrm>
          <a:prstGeom prst="rect">
            <a:avLst/>
          </a:prstGeom>
          <a:noFill/>
        </p:spPr>
        <p:txBody>
          <a:bodyPr wrap="square" lIns="0" tIns="0" rIns="0" bIns="0" anchor="ctr">
            <a:spAutoFit/>
          </a:bodyPr>
          <a:lstStyle/>
          <a:p>
            <a:pPr marL="0" indent="0" algn="ctr">
              <a:buNone/>
            </a:pPr>
            <a:r>
              <a:rPr sz="600" b="0" i="0">
                <a:solidFill>
                  <a:srgbClr val="AAAAAA"/>
                </a:solidFill>
              </a:rPr>
              <a:t>PROMOTION BANNER</a:t>
            </a:r>
          </a:p>
        </p:txBody>
      </p:sp>
      <p:sp>
        <p:nvSpPr>
          <p:cNvPr id="144" name="TextBox 143"/>
          <p:cNvSpPr txBox="1"/>
          <p:nvPr/>
        </p:nvSpPr>
        <p:spPr>
          <a:xfrm>
            <a:off x="3458382" y="2444752"/>
            <a:ext cx="1072896" cy="110642"/>
          </a:xfrm>
          <a:prstGeom prst="rect">
            <a:avLst/>
          </a:prstGeom>
          <a:noFill/>
        </p:spPr>
        <p:txBody>
          <a:bodyPr wrap="square" lIns="0" tIns="0" rIns="0" bIns="0" anchor="ctr">
            <a:spAutoFit/>
          </a:bodyPr>
          <a:lstStyle/>
          <a:p>
            <a:pPr marL="0" indent="0" algn="l">
              <a:buNone/>
            </a:pPr>
            <a:r>
              <a:rPr sz="660" b="1" i="0">
                <a:solidFill>
                  <a:srgbClr val="3A3A3A"/>
                </a:solidFill>
              </a:rPr>
              <a:t>Best sellers at this store</a:t>
            </a:r>
          </a:p>
        </p:txBody>
      </p:sp>
      <p:sp>
        <p:nvSpPr>
          <p:cNvPr id="145" name="TextBox 144"/>
          <p:cNvSpPr txBox="1"/>
          <p:nvPr/>
        </p:nvSpPr>
        <p:spPr>
          <a:xfrm>
            <a:off x="4992623" y="2457157"/>
            <a:ext cx="327233" cy="85831"/>
          </a:xfrm>
          <a:prstGeom prst="rect">
            <a:avLst/>
          </a:prstGeom>
          <a:noFill/>
        </p:spPr>
        <p:txBody>
          <a:bodyPr wrap="square" lIns="0" tIns="0" rIns="0" bIns="0" anchor="ctr">
            <a:spAutoFit/>
          </a:bodyPr>
          <a:lstStyle/>
          <a:p>
            <a:pPr marL="0" indent="0" algn="r">
              <a:buNone/>
            </a:pPr>
            <a:r>
              <a:rPr sz="500" b="0" i="0">
                <a:solidFill>
                  <a:srgbClr val="C8102E"/>
                </a:solidFill>
              </a:rPr>
              <a:t>See all ›</a:t>
            </a:r>
          </a:p>
        </p:txBody>
      </p:sp>
      <p:sp>
        <p:nvSpPr>
          <p:cNvPr id="146" name="Rounded Rectangle 145"/>
          <p:cNvSpPr/>
          <p:nvPr/>
        </p:nvSpPr>
        <p:spPr>
          <a:xfrm>
            <a:off x="3458382" y="2575175"/>
            <a:ext cx="590092" cy="826129"/>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7" name="Rounded Rectangle 146"/>
          <p:cNvSpPr/>
          <p:nvPr/>
        </p:nvSpPr>
        <p:spPr>
          <a:xfrm>
            <a:off x="3501298" y="2618091"/>
            <a:ext cx="504261" cy="35405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8" name="TextBox 147"/>
          <p:cNvSpPr txBox="1"/>
          <p:nvPr/>
        </p:nvSpPr>
        <p:spPr>
          <a:xfrm>
            <a:off x="3501298" y="2618091"/>
            <a:ext cx="504261" cy="354055"/>
          </a:xfrm>
          <a:prstGeom prst="rect">
            <a:avLst/>
          </a:prstGeom>
          <a:noFill/>
        </p:spPr>
        <p:txBody>
          <a:bodyPr wrap="square" lIns="0" tIns="0" rIns="0" bIns="0" anchor="ctr">
            <a:spAutoFit/>
          </a:bodyPr>
          <a:lstStyle/>
          <a:p>
            <a:pPr marL="0" indent="0" algn="ctr">
              <a:buNone/>
            </a:pPr>
            <a:r>
              <a:rPr sz="500" b="0" i="0">
                <a:solidFill>
                  <a:srgbClr val="AAAAAA"/>
                </a:solidFill>
              </a:rPr>
              <a:t>IMG</a:t>
            </a:r>
          </a:p>
        </p:txBody>
      </p:sp>
      <p:sp>
        <p:nvSpPr>
          <p:cNvPr id="149" name="Rounded Rectangle 148"/>
          <p:cNvSpPr/>
          <p:nvPr/>
        </p:nvSpPr>
        <p:spPr>
          <a:xfrm>
            <a:off x="3866083" y="2832670"/>
            <a:ext cx="118018" cy="118018"/>
          </a:xfrm>
          <a:prstGeom prst="roundRect">
            <a:avLst>
              <a:gd name="adj" fmla="val 35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0" name="TextBox 149"/>
          <p:cNvSpPr txBox="1"/>
          <p:nvPr/>
        </p:nvSpPr>
        <p:spPr>
          <a:xfrm>
            <a:off x="3866083" y="2832670"/>
            <a:ext cx="118018" cy="118018"/>
          </a:xfrm>
          <a:prstGeom prst="rect">
            <a:avLst/>
          </a:prstGeom>
          <a:noFill/>
        </p:spPr>
        <p:txBody>
          <a:bodyPr wrap="square" lIns="0" tIns="0" rIns="0" bIns="0" anchor="ctr">
            <a:spAutoFit/>
          </a:bodyPr>
          <a:lstStyle/>
          <a:p>
            <a:pPr marL="0" indent="0" algn="ctr">
              <a:buNone/>
            </a:pPr>
            <a:r>
              <a:rPr sz="650" b="1" i="0">
                <a:solidFill>
                  <a:srgbClr val="FFFFFF"/>
                </a:solidFill>
              </a:rPr>
              <a:t>+</a:t>
            </a:r>
          </a:p>
        </p:txBody>
      </p:sp>
      <p:sp>
        <p:nvSpPr>
          <p:cNvPr id="151" name="TextBox 150"/>
          <p:cNvSpPr txBox="1"/>
          <p:nvPr/>
        </p:nvSpPr>
        <p:spPr>
          <a:xfrm>
            <a:off x="3501298" y="3004334"/>
            <a:ext cx="504261" cy="118018"/>
          </a:xfrm>
          <a:prstGeom prst="rect">
            <a:avLst/>
          </a:prstGeom>
          <a:noFill/>
        </p:spPr>
        <p:txBody>
          <a:bodyPr wrap="square" lIns="0" tIns="0" rIns="0" bIns="0" anchor="t">
            <a:spAutoFit/>
          </a:bodyPr>
          <a:lstStyle/>
          <a:p>
            <a:pPr marL="0" indent="0" algn="l">
              <a:buNone/>
            </a:pPr>
            <a:r>
              <a:rPr sz="459" b="0" i="0">
                <a:solidFill>
                  <a:srgbClr val="222222"/>
                </a:solidFill>
              </a:rPr>
              <a:t>Product name line</a:t>
            </a:r>
          </a:p>
        </p:txBody>
      </p:sp>
      <p:sp>
        <p:nvSpPr>
          <p:cNvPr id="152" name="TextBox 151"/>
          <p:cNvSpPr txBox="1"/>
          <p:nvPr/>
        </p:nvSpPr>
        <p:spPr>
          <a:xfrm>
            <a:off x="3501298" y="3154539"/>
            <a:ext cx="504261" cy="80467"/>
          </a:xfrm>
          <a:prstGeom prst="rect">
            <a:avLst/>
          </a:prstGeom>
          <a:noFill/>
        </p:spPr>
        <p:txBody>
          <a:bodyPr wrap="square" lIns="0" tIns="0" rIns="0" bIns="0" anchor="ctr">
            <a:spAutoFit/>
          </a:bodyPr>
          <a:lstStyle/>
          <a:p>
            <a:pPr marL="0" indent="0" algn="l">
              <a:buNone/>
            </a:pPr>
            <a:r>
              <a:rPr sz="480" b="1" i="0">
                <a:solidFill>
                  <a:srgbClr val="222222"/>
                </a:solidFill>
              </a:rPr>
              <a:t>Guest  59,000 ₫</a:t>
            </a:r>
          </a:p>
        </p:txBody>
      </p:sp>
      <p:sp>
        <p:nvSpPr>
          <p:cNvPr id="153" name="TextBox 152"/>
          <p:cNvSpPr txBox="1"/>
          <p:nvPr/>
        </p:nvSpPr>
        <p:spPr>
          <a:xfrm>
            <a:off x="3501298" y="3251100"/>
            <a:ext cx="504261" cy="69738"/>
          </a:xfrm>
          <a:prstGeom prst="rect">
            <a:avLst/>
          </a:prstGeom>
          <a:noFill/>
        </p:spPr>
        <p:txBody>
          <a:bodyPr wrap="square" lIns="0" tIns="0" rIns="0" bIns="0" anchor="ctr">
            <a:spAutoFit/>
          </a:bodyPr>
          <a:lstStyle/>
          <a:p>
            <a:pPr marL="0" indent="0" algn="l">
              <a:buNone/>
            </a:pPr>
            <a:r>
              <a:rPr sz="400" b="0" i="0">
                <a:solidFill>
                  <a:srgbClr val="C8102E"/>
                </a:solidFill>
              </a:rPr>
              <a:t>Member  49,000 ₫</a:t>
            </a:r>
          </a:p>
        </p:txBody>
      </p:sp>
      <p:sp>
        <p:nvSpPr>
          <p:cNvPr id="154" name="Rounded Rectangle 153"/>
          <p:cNvSpPr/>
          <p:nvPr/>
        </p:nvSpPr>
        <p:spPr>
          <a:xfrm>
            <a:off x="4091391" y="2575175"/>
            <a:ext cx="590092" cy="826129"/>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5" name="Rounded Rectangle 154"/>
          <p:cNvSpPr/>
          <p:nvPr/>
        </p:nvSpPr>
        <p:spPr>
          <a:xfrm>
            <a:off x="4134307" y="2618091"/>
            <a:ext cx="504261" cy="35405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6" name="TextBox 155"/>
          <p:cNvSpPr txBox="1"/>
          <p:nvPr/>
        </p:nvSpPr>
        <p:spPr>
          <a:xfrm>
            <a:off x="4134307" y="2618091"/>
            <a:ext cx="504261" cy="354055"/>
          </a:xfrm>
          <a:prstGeom prst="rect">
            <a:avLst/>
          </a:prstGeom>
          <a:noFill/>
        </p:spPr>
        <p:txBody>
          <a:bodyPr wrap="square" lIns="0" tIns="0" rIns="0" bIns="0" anchor="ctr">
            <a:spAutoFit/>
          </a:bodyPr>
          <a:lstStyle/>
          <a:p>
            <a:pPr marL="0" indent="0" algn="ctr">
              <a:buNone/>
            </a:pPr>
            <a:r>
              <a:rPr sz="500" b="0" i="0">
                <a:solidFill>
                  <a:srgbClr val="AAAAAA"/>
                </a:solidFill>
              </a:rPr>
              <a:t>IMG</a:t>
            </a:r>
          </a:p>
        </p:txBody>
      </p:sp>
      <p:sp>
        <p:nvSpPr>
          <p:cNvPr id="157" name="Rounded Rectangle 156"/>
          <p:cNvSpPr/>
          <p:nvPr/>
        </p:nvSpPr>
        <p:spPr>
          <a:xfrm>
            <a:off x="4499091" y="2832670"/>
            <a:ext cx="118018" cy="118018"/>
          </a:xfrm>
          <a:prstGeom prst="roundRect">
            <a:avLst>
              <a:gd name="adj" fmla="val 35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8" name="TextBox 157"/>
          <p:cNvSpPr txBox="1"/>
          <p:nvPr/>
        </p:nvSpPr>
        <p:spPr>
          <a:xfrm>
            <a:off x="4499091" y="2832670"/>
            <a:ext cx="118018" cy="118018"/>
          </a:xfrm>
          <a:prstGeom prst="rect">
            <a:avLst/>
          </a:prstGeom>
          <a:noFill/>
        </p:spPr>
        <p:txBody>
          <a:bodyPr wrap="square" lIns="0" tIns="0" rIns="0" bIns="0" anchor="ctr">
            <a:spAutoFit/>
          </a:bodyPr>
          <a:lstStyle/>
          <a:p>
            <a:pPr marL="0" indent="0" algn="ctr">
              <a:buNone/>
            </a:pPr>
            <a:r>
              <a:rPr sz="650" b="1" i="0">
                <a:solidFill>
                  <a:srgbClr val="FFFFFF"/>
                </a:solidFill>
              </a:rPr>
              <a:t>+</a:t>
            </a:r>
          </a:p>
        </p:txBody>
      </p:sp>
      <p:sp>
        <p:nvSpPr>
          <p:cNvPr id="159" name="TextBox 158"/>
          <p:cNvSpPr txBox="1"/>
          <p:nvPr/>
        </p:nvSpPr>
        <p:spPr>
          <a:xfrm>
            <a:off x="4134307" y="3004334"/>
            <a:ext cx="504261" cy="118018"/>
          </a:xfrm>
          <a:prstGeom prst="rect">
            <a:avLst/>
          </a:prstGeom>
          <a:noFill/>
        </p:spPr>
        <p:txBody>
          <a:bodyPr wrap="square" lIns="0" tIns="0" rIns="0" bIns="0" anchor="t">
            <a:spAutoFit/>
          </a:bodyPr>
          <a:lstStyle/>
          <a:p>
            <a:pPr marL="0" indent="0" algn="l">
              <a:buNone/>
            </a:pPr>
            <a:r>
              <a:rPr sz="459" b="0" i="0">
                <a:solidFill>
                  <a:srgbClr val="222222"/>
                </a:solidFill>
              </a:rPr>
              <a:t>Product name line</a:t>
            </a:r>
          </a:p>
        </p:txBody>
      </p:sp>
      <p:sp>
        <p:nvSpPr>
          <p:cNvPr id="160" name="TextBox 159"/>
          <p:cNvSpPr txBox="1"/>
          <p:nvPr/>
        </p:nvSpPr>
        <p:spPr>
          <a:xfrm>
            <a:off x="4134307" y="3154539"/>
            <a:ext cx="504261" cy="80467"/>
          </a:xfrm>
          <a:prstGeom prst="rect">
            <a:avLst/>
          </a:prstGeom>
          <a:noFill/>
        </p:spPr>
        <p:txBody>
          <a:bodyPr wrap="square" lIns="0" tIns="0" rIns="0" bIns="0" anchor="ctr">
            <a:spAutoFit/>
          </a:bodyPr>
          <a:lstStyle/>
          <a:p>
            <a:pPr marL="0" indent="0" algn="l">
              <a:buNone/>
            </a:pPr>
            <a:r>
              <a:rPr sz="480" b="1" i="0">
                <a:solidFill>
                  <a:srgbClr val="222222"/>
                </a:solidFill>
              </a:rPr>
              <a:t>Guest  59,000 ₫</a:t>
            </a:r>
          </a:p>
        </p:txBody>
      </p:sp>
      <p:sp>
        <p:nvSpPr>
          <p:cNvPr id="161" name="TextBox 160"/>
          <p:cNvSpPr txBox="1"/>
          <p:nvPr/>
        </p:nvSpPr>
        <p:spPr>
          <a:xfrm>
            <a:off x="4134307" y="3251100"/>
            <a:ext cx="504261" cy="69738"/>
          </a:xfrm>
          <a:prstGeom prst="rect">
            <a:avLst/>
          </a:prstGeom>
          <a:noFill/>
        </p:spPr>
        <p:txBody>
          <a:bodyPr wrap="square" lIns="0" tIns="0" rIns="0" bIns="0" anchor="ctr">
            <a:spAutoFit/>
          </a:bodyPr>
          <a:lstStyle/>
          <a:p>
            <a:pPr marL="0" indent="0" algn="l">
              <a:buNone/>
            </a:pPr>
            <a:r>
              <a:rPr sz="400" b="0" i="0">
                <a:solidFill>
                  <a:srgbClr val="C8102E"/>
                </a:solidFill>
              </a:rPr>
              <a:t>Member  49,000 ₫</a:t>
            </a:r>
          </a:p>
        </p:txBody>
      </p:sp>
      <p:sp>
        <p:nvSpPr>
          <p:cNvPr id="162" name="Rounded Rectangle 161"/>
          <p:cNvSpPr/>
          <p:nvPr/>
        </p:nvSpPr>
        <p:spPr>
          <a:xfrm>
            <a:off x="4724400" y="2575175"/>
            <a:ext cx="590092" cy="826129"/>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3" name="Rounded Rectangle 162"/>
          <p:cNvSpPr/>
          <p:nvPr/>
        </p:nvSpPr>
        <p:spPr>
          <a:xfrm>
            <a:off x="4767315" y="2618091"/>
            <a:ext cx="504261" cy="35405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4" name="TextBox 163"/>
          <p:cNvSpPr txBox="1"/>
          <p:nvPr/>
        </p:nvSpPr>
        <p:spPr>
          <a:xfrm>
            <a:off x="4767315" y="2618091"/>
            <a:ext cx="504261" cy="354055"/>
          </a:xfrm>
          <a:prstGeom prst="rect">
            <a:avLst/>
          </a:prstGeom>
          <a:noFill/>
        </p:spPr>
        <p:txBody>
          <a:bodyPr wrap="square" lIns="0" tIns="0" rIns="0" bIns="0" anchor="ctr">
            <a:spAutoFit/>
          </a:bodyPr>
          <a:lstStyle/>
          <a:p>
            <a:pPr marL="0" indent="0" algn="ctr">
              <a:buNone/>
            </a:pPr>
            <a:r>
              <a:rPr sz="500" b="0" i="0">
                <a:solidFill>
                  <a:srgbClr val="AAAAAA"/>
                </a:solidFill>
              </a:rPr>
              <a:t>IMG</a:t>
            </a:r>
          </a:p>
        </p:txBody>
      </p:sp>
      <p:sp>
        <p:nvSpPr>
          <p:cNvPr id="165" name="Rounded Rectangle 164"/>
          <p:cNvSpPr/>
          <p:nvPr/>
        </p:nvSpPr>
        <p:spPr>
          <a:xfrm>
            <a:off x="5132100" y="2832670"/>
            <a:ext cx="118018" cy="118018"/>
          </a:xfrm>
          <a:prstGeom prst="roundRect">
            <a:avLst>
              <a:gd name="adj" fmla="val 35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6" name="TextBox 165"/>
          <p:cNvSpPr txBox="1"/>
          <p:nvPr/>
        </p:nvSpPr>
        <p:spPr>
          <a:xfrm>
            <a:off x="5132100" y="2832670"/>
            <a:ext cx="118018" cy="118018"/>
          </a:xfrm>
          <a:prstGeom prst="rect">
            <a:avLst/>
          </a:prstGeom>
          <a:noFill/>
        </p:spPr>
        <p:txBody>
          <a:bodyPr wrap="square" lIns="0" tIns="0" rIns="0" bIns="0" anchor="ctr">
            <a:spAutoFit/>
          </a:bodyPr>
          <a:lstStyle/>
          <a:p>
            <a:pPr marL="0" indent="0" algn="ctr">
              <a:buNone/>
            </a:pPr>
            <a:r>
              <a:rPr sz="650" b="1" i="0">
                <a:solidFill>
                  <a:srgbClr val="FFFFFF"/>
                </a:solidFill>
              </a:rPr>
              <a:t>+</a:t>
            </a:r>
          </a:p>
        </p:txBody>
      </p:sp>
      <p:sp>
        <p:nvSpPr>
          <p:cNvPr id="167" name="TextBox 166"/>
          <p:cNvSpPr txBox="1"/>
          <p:nvPr/>
        </p:nvSpPr>
        <p:spPr>
          <a:xfrm>
            <a:off x="4767315" y="3004334"/>
            <a:ext cx="504261" cy="118018"/>
          </a:xfrm>
          <a:prstGeom prst="rect">
            <a:avLst/>
          </a:prstGeom>
          <a:noFill/>
        </p:spPr>
        <p:txBody>
          <a:bodyPr wrap="square" lIns="0" tIns="0" rIns="0" bIns="0" anchor="t">
            <a:spAutoFit/>
          </a:bodyPr>
          <a:lstStyle/>
          <a:p>
            <a:pPr marL="0" indent="0" algn="l">
              <a:buNone/>
            </a:pPr>
            <a:r>
              <a:rPr sz="459" b="0" i="0">
                <a:solidFill>
                  <a:srgbClr val="222222"/>
                </a:solidFill>
              </a:rPr>
              <a:t>Product name line</a:t>
            </a:r>
          </a:p>
        </p:txBody>
      </p:sp>
      <p:sp>
        <p:nvSpPr>
          <p:cNvPr id="168" name="TextBox 167"/>
          <p:cNvSpPr txBox="1"/>
          <p:nvPr/>
        </p:nvSpPr>
        <p:spPr>
          <a:xfrm>
            <a:off x="4767315" y="3154539"/>
            <a:ext cx="504261" cy="80467"/>
          </a:xfrm>
          <a:prstGeom prst="rect">
            <a:avLst/>
          </a:prstGeom>
          <a:noFill/>
        </p:spPr>
        <p:txBody>
          <a:bodyPr wrap="square" lIns="0" tIns="0" rIns="0" bIns="0" anchor="ctr">
            <a:spAutoFit/>
          </a:bodyPr>
          <a:lstStyle/>
          <a:p>
            <a:pPr marL="0" indent="0" algn="l">
              <a:buNone/>
            </a:pPr>
            <a:r>
              <a:rPr sz="480" b="1" i="0">
                <a:solidFill>
                  <a:srgbClr val="222222"/>
                </a:solidFill>
              </a:rPr>
              <a:t>Guest  59,000 ₫</a:t>
            </a:r>
          </a:p>
        </p:txBody>
      </p:sp>
      <p:sp>
        <p:nvSpPr>
          <p:cNvPr id="169" name="TextBox 168"/>
          <p:cNvSpPr txBox="1"/>
          <p:nvPr/>
        </p:nvSpPr>
        <p:spPr>
          <a:xfrm>
            <a:off x="4767315" y="3251100"/>
            <a:ext cx="504261" cy="69738"/>
          </a:xfrm>
          <a:prstGeom prst="rect">
            <a:avLst/>
          </a:prstGeom>
          <a:noFill/>
        </p:spPr>
        <p:txBody>
          <a:bodyPr wrap="square" lIns="0" tIns="0" rIns="0" bIns="0" anchor="ctr">
            <a:spAutoFit/>
          </a:bodyPr>
          <a:lstStyle/>
          <a:p>
            <a:pPr marL="0" indent="0" algn="l">
              <a:buNone/>
            </a:pPr>
            <a:r>
              <a:rPr sz="400" b="0" i="0">
                <a:solidFill>
                  <a:srgbClr val="C8102E"/>
                </a:solidFill>
              </a:rPr>
              <a:t>Member  49,000 ₫</a:t>
            </a:r>
          </a:p>
        </p:txBody>
      </p:sp>
      <p:sp>
        <p:nvSpPr>
          <p:cNvPr id="170" name="Rectangle 169"/>
          <p:cNvSpPr/>
          <p:nvPr/>
        </p:nvSpPr>
        <p:spPr>
          <a:xfrm>
            <a:off x="3383280" y="4667322"/>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1" name="TextBox 170"/>
          <p:cNvSpPr txBox="1"/>
          <p:nvPr/>
        </p:nvSpPr>
        <p:spPr>
          <a:xfrm>
            <a:off x="3383280" y="4665310"/>
            <a:ext cx="502919" cy="100584"/>
          </a:xfrm>
          <a:prstGeom prst="rect">
            <a:avLst/>
          </a:prstGeom>
          <a:noFill/>
        </p:spPr>
        <p:txBody>
          <a:bodyPr wrap="square" lIns="0" tIns="0" rIns="0" bIns="0" anchor="ctr">
            <a:spAutoFit/>
          </a:bodyPr>
          <a:lstStyle/>
          <a:p>
            <a:pPr marL="0" indent="0" algn="ctr">
              <a:buNone/>
            </a:pPr>
            <a:r>
              <a:rPr sz="600" b="0" i="0">
                <a:solidFill>
                  <a:srgbClr val="C8102E"/>
                </a:solidFill>
              </a:rPr>
              <a:t>▣</a:t>
            </a:r>
          </a:p>
        </p:txBody>
      </p:sp>
      <p:sp>
        <p:nvSpPr>
          <p:cNvPr id="172" name="TextBox 171"/>
          <p:cNvSpPr txBox="1"/>
          <p:nvPr/>
        </p:nvSpPr>
        <p:spPr>
          <a:xfrm>
            <a:off x="3383280" y="4745107"/>
            <a:ext cx="502919" cy="80467"/>
          </a:xfrm>
          <a:prstGeom prst="rect">
            <a:avLst/>
          </a:prstGeom>
          <a:noFill/>
        </p:spPr>
        <p:txBody>
          <a:bodyPr wrap="square" lIns="0" tIns="0" rIns="0" bIns="0" anchor="ctr">
            <a:spAutoFit/>
          </a:bodyPr>
          <a:lstStyle/>
          <a:p>
            <a:pPr marL="0" indent="0" algn="ctr">
              <a:buNone/>
            </a:pPr>
            <a:r>
              <a:rPr sz="480" b="1" i="0">
                <a:solidFill>
                  <a:srgbClr val="C8102E"/>
                </a:solidFill>
              </a:rPr>
              <a:t>Home</a:t>
            </a:r>
          </a:p>
        </p:txBody>
      </p:sp>
      <p:sp>
        <p:nvSpPr>
          <p:cNvPr id="173" name="TextBox 172"/>
          <p:cNvSpPr txBox="1"/>
          <p:nvPr/>
        </p:nvSpPr>
        <p:spPr>
          <a:xfrm>
            <a:off x="3886199" y="4665310"/>
            <a:ext cx="502919" cy="100584"/>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74" name="TextBox 173"/>
          <p:cNvSpPr txBox="1"/>
          <p:nvPr/>
        </p:nvSpPr>
        <p:spPr>
          <a:xfrm>
            <a:off x="3886199" y="4745107"/>
            <a:ext cx="502919" cy="80467"/>
          </a:xfrm>
          <a:prstGeom prst="rect">
            <a:avLst/>
          </a:prstGeom>
          <a:noFill/>
        </p:spPr>
        <p:txBody>
          <a:bodyPr wrap="square" lIns="0" tIns="0" rIns="0" bIns="0" anchor="ctr">
            <a:spAutoFit/>
          </a:bodyPr>
          <a:lstStyle/>
          <a:p>
            <a:pPr marL="0" indent="0" algn="ctr">
              <a:buNone/>
            </a:pPr>
            <a:r>
              <a:rPr sz="480" b="0" i="0">
                <a:solidFill>
                  <a:srgbClr val="888888"/>
                </a:solidFill>
              </a:rPr>
              <a:t>Category</a:t>
            </a:r>
          </a:p>
        </p:txBody>
      </p:sp>
      <p:sp>
        <p:nvSpPr>
          <p:cNvPr id="175" name="TextBox 174"/>
          <p:cNvSpPr txBox="1"/>
          <p:nvPr/>
        </p:nvSpPr>
        <p:spPr>
          <a:xfrm>
            <a:off x="4389119" y="4665310"/>
            <a:ext cx="502919" cy="100584"/>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76" name="TextBox 175"/>
          <p:cNvSpPr txBox="1"/>
          <p:nvPr/>
        </p:nvSpPr>
        <p:spPr>
          <a:xfrm>
            <a:off x="4389119" y="4745107"/>
            <a:ext cx="502919" cy="80467"/>
          </a:xfrm>
          <a:prstGeom prst="rect">
            <a:avLst/>
          </a:prstGeom>
          <a:noFill/>
        </p:spPr>
        <p:txBody>
          <a:bodyPr wrap="square" lIns="0" tIns="0" rIns="0" bIns="0" anchor="ctr">
            <a:spAutoFit/>
          </a:bodyPr>
          <a:lstStyle/>
          <a:p>
            <a:pPr marL="0" indent="0" algn="ctr">
              <a:buNone/>
            </a:pPr>
            <a:r>
              <a:rPr sz="480" b="0" i="0">
                <a:solidFill>
                  <a:srgbClr val="888888"/>
                </a:solidFill>
              </a:rPr>
              <a:t>Cart</a:t>
            </a:r>
          </a:p>
        </p:txBody>
      </p:sp>
      <p:sp>
        <p:nvSpPr>
          <p:cNvPr id="177" name="TextBox 176"/>
          <p:cNvSpPr txBox="1"/>
          <p:nvPr/>
        </p:nvSpPr>
        <p:spPr>
          <a:xfrm>
            <a:off x="4892039" y="4665310"/>
            <a:ext cx="502919" cy="100584"/>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78" name="TextBox 177"/>
          <p:cNvSpPr txBox="1"/>
          <p:nvPr/>
        </p:nvSpPr>
        <p:spPr>
          <a:xfrm>
            <a:off x="4892039" y="4745107"/>
            <a:ext cx="502919" cy="80467"/>
          </a:xfrm>
          <a:prstGeom prst="rect">
            <a:avLst/>
          </a:prstGeom>
          <a:noFill/>
        </p:spPr>
        <p:txBody>
          <a:bodyPr wrap="square" lIns="0" tIns="0" rIns="0" bIns="0" anchor="ctr">
            <a:spAutoFit/>
          </a:bodyPr>
          <a:lstStyle/>
          <a:p>
            <a:pPr marL="0" indent="0" algn="ctr">
              <a:buNone/>
            </a:pPr>
            <a:r>
              <a:rPr sz="480" b="0" i="0">
                <a:solidFill>
                  <a:srgbClr val="888888"/>
                </a:solidFill>
              </a:rPr>
              <a:t>My</a:t>
            </a:r>
          </a:p>
        </p:txBody>
      </p:sp>
      <p:sp>
        <p:nvSpPr>
          <p:cNvPr id="179" name="Oval 178"/>
          <p:cNvSpPr/>
          <p:nvPr/>
        </p:nvSpPr>
        <p:spPr>
          <a:xfrm>
            <a:off x="3168701" y="1148224"/>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0" name="TextBox 179"/>
          <p:cNvSpPr txBox="1"/>
          <p:nvPr/>
        </p:nvSpPr>
        <p:spPr>
          <a:xfrm>
            <a:off x="3168701" y="1148224"/>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181" name="Oval 180"/>
          <p:cNvSpPr/>
          <p:nvPr/>
        </p:nvSpPr>
        <p:spPr>
          <a:xfrm>
            <a:off x="3168701" y="1416448"/>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2" name="TextBox 181"/>
          <p:cNvSpPr txBox="1"/>
          <p:nvPr/>
        </p:nvSpPr>
        <p:spPr>
          <a:xfrm>
            <a:off x="3168701" y="1416448"/>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graphicFrame>
        <p:nvGraphicFramePr>
          <p:cNvPr id="183" name="Table 182"/>
          <p:cNvGraphicFramePr>
            <a:graphicFrameLocks noGrp="1"/>
          </p:cNvGraphicFramePr>
          <p:nvPr/>
        </p:nvGraphicFramePr>
        <p:xfrm>
          <a:off x="7196328" y="886968"/>
          <a:ext cx="4718304" cy="378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65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5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5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65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Store selector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Shows the store chosen at Onboarding. Tapping it opens the store change sheet (SCR-HOM-04). Everything below the header — catalogue, price, stock, promotion — is rendered for this store (BRL-01).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65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Delivery address — empty (State 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Reads “Choose delivery address” until an address exists. Tapping it opens the address form (SCR-HOM-02). The customer is never forced to fill it in order to browse (BR-04).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65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Estimated delivery time — no address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With no address the system shows Standard delivery and the earliest slot still bookable at the selected store (HP-04). It is a store-level estimate, not an address-level promise.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65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Search and category entry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Fully available to a Guest — no login is requested anywhere on this screen (BRL-04).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65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Delivery address — set (State B)</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Once an address exists it is displayed and kept in two-way sync with the address selected in the Cart (HP-01). A Guest address is held on the device only until first login (BRL-03).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65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Dual pricing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Where a SKU carries both, Guest and Member prices are shown together so the value of an account is visible before signup (BR-06).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420000">
                <a:tc>
                  <a:txBody>
                    <a:bodyPr/>
                    <a:lstStyle/>
                    <a:p>
                      <a:pPr marL="0" indent="0" algn="ctr">
                        <a:buNone/>
                      </a:pPr>
                      <a:r>
                        <a:rPr sz="65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Service-zone banner (State B)</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Appears only when the resolved zone offers 60-Minute. Standard remains the default selection; the banner is an offer, not a switch (BRL-10).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420000">
                <a:tc>
                  <a:txBody>
                    <a:bodyPr/>
                    <a:lstStyle/>
                    <a:p>
                      <a:pPr marL="0" indent="0" algn="ctr">
                        <a:buNone/>
                      </a:pPr>
                      <a:r>
                        <a:rPr sz="650" b="0" i="0">
                          <a:solidFill>
                            <a:srgbClr val="222222"/>
                          </a:solidFill>
                        </a:rPr>
                        <a:t>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Cart icon in the tab bar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Always visible for a Guest, never hidden or disabled. Tapping it opens the login gate (BRL-06, HP-07).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bl>
          </a:graphicData>
        </a:graphic>
      </p:graphicFrame>
      <p:sp>
        <p:nvSpPr>
          <p:cNvPr id="184" name="TextBox 183"/>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Logout returns this screen to State A: the store is retained, the address is cleared (HP-10, NFR-03). Which saved address becomes active after logging back in is unresolved — OQ-26.</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Homepage (HP)</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HP-02 · HP-03 · HP-05</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SCR-HOM-02</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Homepage — Create Delivery Address</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42</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State A  ·  Guest form — no recipient fields</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59436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5873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29" name="TextBox 28"/>
          <p:cNvSpPr txBox="1"/>
          <p:nvPr/>
        </p:nvSpPr>
        <p:spPr>
          <a:xfrm>
            <a:off x="77675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Add delivery address</a:t>
            </a:r>
          </a:p>
        </p:txBody>
      </p:sp>
      <p:sp>
        <p:nvSpPr>
          <p:cNvPr id="30" name="Rectangle 29"/>
          <p:cNvSpPr/>
          <p:nvPr/>
        </p:nvSpPr>
        <p:spPr>
          <a:xfrm>
            <a:off x="59436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Rectangle 30"/>
          <p:cNvSpPr/>
          <p:nvPr/>
        </p:nvSpPr>
        <p:spPr>
          <a:xfrm>
            <a:off x="594360" y="1217962"/>
            <a:ext cx="2011679" cy="590092"/>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594360" y="1235397"/>
            <a:ext cx="2011679" cy="93878"/>
          </a:xfrm>
          <a:prstGeom prst="rect">
            <a:avLst/>
          </a:prstGeom>
          <a:noFill/>
        </p:spPr>
        <p:txBody>
          <a:bodyPr wrap="square" lIns="0" tIns="0" rIns="0" bIns="0" anchor="ctr">
            <a:spAutoFit/>
          </a:bodyPr>
          <a:lstStyle/>
          <a:p>
            <a:pPr marL="0" indent="0" algn="ctr">
              <a:buNone/>
            </a:pPr>
            <a:r>
              <a:rPr sz="560" b="0" i="0">
                <a:solidFill>
                  <a:srgbClr val="AAAAAA"/>
                </a:solidFill>
              </a:rPr>
              <a:t>MAP  —  drag the pin to adjust</a:t>
            </a:r>
          </a:p>
        </p:txBody>
      </p:sp>
      <p:sp>
        <p:nvSpPr>
          <p:cNvPr id="33" name="TextBox 32"/>
          <p:cNvSpPr txBox="1"/>
          <p:nvPr/>
        </p:nvSpPr>
        <p:spPr>
          <a:xfrm>
            <a:off x="1452676" y="1433882"/>
            <a:ext cx="295046" cy="201168"/>
          </a:xfrm>
          <a:prstGeom prst="rect">
            <a:avLst/>
          </a:prstGeom>
          <a:noFill/>
        </p:spPr>
        <p:txBody>
          <a:bodyPr wrap="square" lIns="0" tIns="0" rIns="0" bIns="0" anchor="ctr">
            <a:spAutoFit/>
          </a:bodyPr>
          <a:lstStyle/>
          <a:p>
            <a:pPr marL="0" indent="0" algn="ctr">
              <a:buNone/>
            </a:pPr>
            <a:r>
              <a:rPr sz="1200" b="0" i="0">
                <a:solidFill>
                  <a:srgbClr val="C8102E"/>
                </a:solidFill>
              </a:rPr>
              <a:t>◉</a:t>
            </a:r>
          </a:p>
        </p:txBody>
      </p:sp>
      <p:sp>
        <p:nvSpPr>
          <p:cNvPr id="34" name="Rounded Rectangle 33"/>
          <p:cNvSpPr/>
          <p:nvPr/>
        </p:nvSpPr>
        <p:spPr>
          <a:xfrm>
            <a:off x="1935480" y="1668578"/>
            <a:ext cx="590092" cy="96560"/>
          </a:xfrm>
          <a:prstGeom prst="roundRect">
            <a:avLst>
              <a:gd name="adj" fmla="val 50000"/>
            </a:avLst>
          </a:prstGeom>
          <a:solidFill>
            <a:srgbClr val="EEF1F9"/>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5" name="TextBox 34"/>
          <p:cNvSpPr txBox="1"/>
          <p:nvPr/>
        </p:nvSpPr>
        <p:spPr>
          <a:xfrm>
            <a:off x="1935480" y="1668578"/>
            <a:ext cx="590092" cy="96560"/>
          </a:xfrm>
          <a:prstGeom prst="rect">
            <a:avLst/>
          </a:prstGeom>
          <a:noFill/>
        </p:spPr>
        <p:txBody>
          <a:bodyPr wrap="square" lIns="0" tIns="0" rIns="0" bIns="0" anchor="ctr">
            <a:spAutoFit/>
          </a:bodyPr>
          <a:lstStyle/>
          <a:p>
            <a:pPr marL="0" indent="0" algn="ctr">
              <a:buNone/>
            </a:pPr>
            <a:r>
              <a:rPr sz="480" b="1" i="0">
                <a:solidFill>
                  <a:srgbClr val="3D5298"/>
                </a:solidFill>
              </a:rPr>
              <a:t>Use my location</a:t>
            </a:r>
          </a:p>
        </p:txBody>
      </p:sp>
      <p:sp>
        <p:nvSpPr>
          <p:cNvPr id="36" name="TextBox 35"/>
          <p:cNvSpPr txBox="1"/>
          <p:nvPr/>
        </p:nvSpPr>
        <p:spPr>
          <a:xfrm>
            <a:off x="669462" y="1847785"/>
            <a:ext cx="1341120" cy="92202"/>
          </a:xfrm>
          <a:prstGeom prst="rect">
            <a:avLst/>
          </a:prstGeom>
          <a:noFill/>
        </p:spPr>
        <p:txBody>
          <a:bodyPr wrap="square" lIns="0" tIns="0" rIns="0" bIns="0" anchor="ctr">
            <a:spAutoFit/>
          </a:bodyPr>
          <a:lstStyle/>
          <a:p>
            <a:pPr marL="0" indent="0" algn="l">
              <a:buNone/>
            </a:pPr>
            <a:r>
              <a:rPr sz="550" b="1" i="0">
                <a:solidFill>
                  <a:srgbClr val="555555"/>
                </a:solidFill>
              </a:rPr>
              <a:t>Address</a:t>
            </a:r>
            <a:r>
              <a:rPr sz="550" b="1" i="0">
                <a:solidFill>
                  <a:srgbClr val="C8102E"/>
                </a:solidFill>
              </a:rPr>
              <a:t> *</a:t>
            </a:r>
          </a:p>
        </p:txBody>
      </p:sp>
      <p:sp>
        <p:nvSpPr>
          <p:cNvPr id="37" name="Rounded Rectangle 36"/>
          <p:cNvSpPr/>
          <p:nvPr/>
        </p:nvSpPr>
        <p:spPr>
          <a:xfrm>
            <a:off x="669462" y="1931438"/>
            <a:ext cx="1861474" cy="160934"/>
          </a:xfrm>
          <a:prstGeom prst="roundRect">
            <a:avLst>
              <a:gd name="adj" fmla="val 18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TextBox 37"/>
          <p:cNvSpPr txBox="1"/>
          <p:nvPr/>
        </p:nvSpPr>
        <p:spPr>
          <a:xfrm>
            <a:off x="723107" y="1931438"/>
            <a:ext cx="1689811" cy="160934"/>
          </a:xfrm>
          <a:prstGeom prst="rect">
            <a:avLst/>
          </a:prstGeom>
          <a:noFill/>
        </p:spPr>
        <p:txBody>
          <a:bodyPr wrap="square" lIns="0" tIns="0" rIns="0" bIns="0" anchor="ctr">
            <a:spAutoFit/>
          </a:bodyPr>
          <a:lstStyle/>
          <a:p>
            <a:pPr marL="0" indent="0" algn="l">
              <a:buNone/>
            </a:pPr>
            <a:r>
              <a:rPr sz="600" b="0" i="0">
                <a:solidFill>
                  <a:srgbClr val="222222"/>
                </a:solidFill>
              </a:rPr>
              <a:t>123 Nguyễn Thị Thập, Tân Phú, Q.7</a:t>
            </a:r>
          </a:p>
        </p:txBody>
      </p:sp>
      <p:sp>
        <p:nvSpPr>
          <p:cNvPr id="39" name="TextBox 38"/>
          <p:cNvSpPr txBox="1"/>
          <p:nvPr/>
        </p:nvSpPr>
        <p:spPr>
          <a:xfrm>
            <a:off x="669462" y="2093378"/>
            <a:ext cx="1861474" cy="83820"/>
          </a:xfrm>
          <a:prstGeom prst="rect">
            <a:avLst/>
          </a:prstGeom>
          <a:noFill/>
        </p:spPr>
        <p:txBody>
          <a:bodyPr wrap="square" lIns="0" tIns="0" rIns="0" bIns="0" anchor="ctr">
            <a:spAutoFit/>
          </a:bodyPr>
          <a:lstStyle/>
          <a:p>
            <a:pPr marL="0" indent="0" algn="l">
              <a:buNone/>
            </a:pPr>
            <a:r>
              <a:rPr sz="500" b="0" i="0">
                <a:solidFill>
                  <a:srgbClr val="888888"/>
                </a:solidFill>
              </a:rPr>
              <a:t>GPS filled a suggestion — add house number, floor, block</a:t>
            </a:r>
          </a:p>
        </p:txBody>
      </p:sp>
      <p:sp>
        <p:nvSpPr>
          <p:cNvPr id="40" name="TextBox 39"/>
          <p:cNvSpPr txBox="1"/>
          <p:nvPr/>
        </p:nvSpPr>
        <p:spPr>
          <a:xfrm>
            <a:off x="669462" y="2191112"/>
            <a:ext cx="1341120" cy="92202"/>
          </a:xfrm>
          <a:prstGeom prst="rect">
            <a:avLst/>
          </a:prstGeom>
          <a:noFill/>
        </p:spPr>
        <p:txBody>
          <a:bodyPr wrap="square" lIns="0" tIns="0" rIns="0" bIns="0" anchor="ctr">
            <a:spAutoFit/>
          </a:bodyPr>
          <a:lstStyle/>
          <a:p>
            <a:pPr marL="0" indent="0" algn="l">
              <a:buNone/>
            </a:pPr>
            <a:r>
              <a:rPr sz="550" b="1" i="0">
                <a:solidFill>
                  <a:srgbClr val="555555"/>
                </a:solidFill>
              </a:rPr>
              <a:t>what3words  (optional)</a:t>
            </a:r>
          </a:p>
        </p:txBody>
      </p:sp>
      <p:sp>
        <p:nvSpPr>
          <p:cNvPr id="41" name="Rounded Rectangle 40"/>
          <p:cNvSpPr/>
          <p:nvPr/>
        </p:nvSpPr>
        <p:spPr>
          <a:xfrm>
            <a:off x="669462" y="2274764"/>
            <a:ext cx="1861474" cy="160934"/>
          </a:xfrm>
          <a:prstGeom prst="roundRect">
            <a:avLst>
              <a:gd name="adj" fmla="val 18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TextBox 41"/>
          <p:cNvSpPr txBox="1"/>
          <p:nvPr/>
        </p:nvSpPr>
        <p:spPr>
          <a:xfrm>
            <a:off x="723107" y="2274764"/>
            <a:ext cx="1689811" cy="160934"/>
          </a:xfrm>
          <a:prstGeom prst="rect">
            <a:avLst/>
          </a:prstGeom>
          <a:noFill/>
        </p:spPr>
        <p:txBody>
          <a:bodyPr wrap="square" lIns="0" tIns="0" rIns="0" bIns="0" anchor="ctr">
            <a:spAutoFit/>
          </a:bodyPr>
          <a:lstStyle/>
          <a:p>
            <a:pPr marL="0" indent="0" algn="l">
              <a:buNone/>
            </a:pPr>
            <a:r>
              <a:rPr sz="600" b="0" i="0">
                <a:solidFill>
                  <a:srgbClr val="222222"/>
                </a:solidFill>
              </a:rPr>
              <a:t>///filled.count.soap</a:t>
            </a:r>
          </a:p>
        </p:txBody>
      </p:sp>
      <p:sp>
        <p:nvSpPr>
          <p:cNvPr id="43" name="TextBox 42"/>
          <p:cNvSpPr txBox="1"/>
          <p:nvPr/>
        </p:nvSpPr>
        <p:spPr>
          <a:xfrm>
            <a:off x="669462" y="2464701"/>
            <a:ext cx="1341120" cy="92202"/>
          </a:xfrm>
          <a:prstGeom prst="rect">
            <a:avLst/>
          </a:prstGeom>
          <a:noFill/>
        </p:spPr>
        <p:txBody>
          <a:bodyPr wrap="square" lIns="0" tIns="0" rIns="0" bIns="0" anchor="ctr">
            <a:spAutoFit/>
          </a:bodyPr>
          <a:lstStyle/>
          <a:p>
            <a:pPr marL="0" indent="0" algn="l">
              <a:buNone/>
            </a:pPr>
            <a:r>
              <a:rPr sz="550" b="1" i="0">
                <a:solidFill>
                  <a:srgbClr val="555555"/>
                </a:solidFill>
              </a:rPr>
              <a:t>Address type  (optional)</a:t>
            </a:r>
          </a:p>
        </p:txBody>
      </p:sp>
      <p:sp>
        <p:nvSpPr>
          <p:cNvPr id="44" name="Rounded Rectangle 43"/>
          <p:cNvSpPr/>
          <p:nvPr/>
        </p:nvSpPr>
        <p:spPr>
          <a:xfrm>
            <a:off x="669462" y="2564446"/>
            <a:ext cx="579363" cy="118018"/>
          </a:xfrm>
          <a:prstGeom prst="roundRect">
            <a:avLst>
              <a:gd name="adj" fmla="val 50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TextBox 44"/>
          <p:cNvSpPr txBox="1"/>
          <p:nvPr/>
        </p:nvSpPr>
        <p:spPr>
          <a:xfrm>
            <a:off x="669462" y="2564446"/>
            <a:ext cx="579363" cy="118018"/>
          </a:xfrm>
          <a:prstGeom prst="rect">
            <a:avLst/>
          </a:prstGeom>
          <a:noFill/>
        </p:spPr>
        <p:txBody>
          <a:bodyPr wrap="square" lIns="0" tIns="0" rIns="0" bIns="0" anchor="ctr">
            <a:spAutoFit/>
          </a:bodyPr>
          <a:lstStyle/>
          <a:p>
            <a:pPr marL="0" indent="0" algn="ctr">
              <a:buNone/>
            </a:pPr>
            <a:r>
              <a:rPr sz="500" b="1" i="0">
                <a:solidFill>
                  <a:srgbClr val="C8102E"/>
                </a:solidFill>
              </a:rPr>
              <a:t>Home</a:t>
            </a:r>
          </a:p>
        </p:txBody>
      </p:sp>
      <p:sp>
        <p:nvSpPr>
          <p:cNvPr id="46" name="Rounded Rectangle 45"/>
          <p:cNvSpPr/>
          <p:nvPr/>
        </p:nvSpPr>
        <p:spPr>
          <a:xfrm>
            <a:off x="1291742" y="2564446"/>
            <a:ext cx="579363" cy="118018"/>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TextBox 46"/>
          <p:cNvSpPr txBox="1"/>
          <p:nvPr/>
        </p:nvSpPr>
        <p:spPr>
          <a:xfrm>
            <a:off x="1291742" y="2564446"/>
            <a:ext cx="579363" cy="118018"/>
          </a:xfrm>
          <a:prstGeom prst="rect">
            <a:avLst/>
          </a:prstGeom>
          <a:noFill/>
        </p:spPr>
        <p:txBody>
          <a:bodyPr wrap="square" lIns="0" tIns="0" rIns="0" bIns="0" anchor="ctr">
            <a:spAutoFit/>
          </a:bodyPr>
          <a:lstStyle/>
          <a:p>
            <a:pPr marL="0" indent="0" algn="ctr">
              <a:buNone/>
            </a:pPr>
            <a:r>
              <a:rPr sz="500" b="0" i="0">
                <a:solidFill>
                  <a:srgbClr val="555555"/>
                </a:solidFill>
              </a:rPr>
              <a:t>Office</a:t>
            </a:r>
          </a:p>
        </p:txBody>
      </p:sp>
      <p:sp>
        <p:nvSpPr>
          <p:cNvPr id="48" name="Rounded Rectangle 47"/>
          <p:cNvSpPr/>
          <p:nvPr/>
        </p:nvSpPr>
        <p:spPr>
          <a:xfrm>
            <a:off x="1914022" y="2564446"/>
            <a:ext cx="579363" cy="118018"/>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9" name="TextBox 48"/>
          <p:cNvSpPr txBox="1"/>
          <p:nvPr/>
        </p:nvSpPr>
        <p:spPr>
          <a:xfrm>
            <a:off x="1914022" y="2564446"/>
            <a:ext cx="579363" cy="118018"/>
          </a:xfrm>
          <a:prstGeom prst="rect">
            <a:avLst/>
          </a:prstGeom>
          <a:noFill/>
        </p:spPr>
        <p:txBody>
          <a:bodyPr wrap="square" lIns="0" tIns="0" rIns="0" bIns="0" anchor="ctr">
            <a:spAutoFit/>
          </a:bodyPr>
          <a:lstStyle/>
          <a:p>
            <a:pPr marL="0" indent="0" algn="ctr">
              <a:buNone/>
            </a:pPr>
            <a:r>
              <a:rPr sz="500" b="0" i="0">
                <a:solidFill>
                  <a:srgbClr val="555555"/>
                </a:solidFill>
              </a:rPr>
              <a:t>Apartment</a:t>
            </a:r>
          </a:p>
        </p:txBody>
      </p:sp>
      <p:sp>
        <p:nvSpPr>
          <p:cNvPr id="50" name="Rounded Rectangle 49"/>
          <p:cNvSpPr/>
          <p:nvPr/>
        </p:nvSpPr>
        <p:spPr>
          <a:xfrm>
            <a:off x="669462" y="2714652"/>
            <a:ext cx="579363" cy="118018"/>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1" name="TextBox 50"/>
          <p:cNvSpPr txBox="1"/>
          <p:nvPr/>
        </p:nvSpPr>
        <p:spPr>
          <a:xfrm>
            <a:off x="669462" y="2714652"/>
            <a:ext cx="579363" cy="118018"/>
          </a:xfrm>
          <a:prstGeom prst="rect">
            <a:avLst/>
          </a:prstGeom>
          <a:noFill/>
        </p:spPr>
        <p:txBody>
          <a:bodyPr wrap="square" lIns="0" tIns="0" rIns="0" bIns="0" anchor="ctr">
            <a:spAutoFit/>
          </a:bodyPr>
          <a:lstStyle/>
          <a:p>
            <a:pPr marL="0" indent="0" algn="ctr">
              <a:buNone/>
            </a:pPr>
            <a:r>
              <a:rPr sz="500" b="0" i="0">
                <a:solidFill>
                  <a:srgbClr val="555555"/>
                </a:solidFill>
              </a:rPr>
              <a:t>Hotel</a:t>
            </a:r>
          </a:p>
        </p:txBody>
      </p:sp>
      <p:sp>
        <p:nvSpPr>
          <p:cNvPr id="52" name="Rounded Rectangle 51"/>
          <p:cNvSpPr/>
          <p:nvPr/>
        </p:nvSpPr>
        <p:spPr>
          <a:xfrm>
            <a:off x="1291742" y="2714652"/>
            <a:ext cx="579363" cy="118018"/>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TextBox 52"/>
          <p:cNvSpPr txBox="1"/>
          <p:nvPr/>
        </p:nvSpPr>
        <p:spPr>
          <a:xfrm>
            <a:off x="1291742" y="2714652"/>
            <a:ext cx="579363" cy="118018"/>
          </a:xfrm>
          <a:prstGeom prst="rect">
            <a:avLst/>
          </a:prstGeom>
          <a:noFill/>
        </p:spPr>
        <p:txBody>
          <a:bodyPr wrap="square" lIns="0" tIns="0" rIns="0" bIns="0" anchor="ctr">
            <a:spAutoFit/>
          </a:bodyPr>
          <a:lstStyle/>
          <a:p>
            <a:pPr marL="0" indent="0" algn="ctr">
              <a:buNone/>
            </a:pPr>
            <a:r>
              <a:rPr sz="500" b="0" i="0">
                <a:solidFill>
                  <a:srgbClr val="555555"/>
                </a:solidFill>
              </a:rPr>
              <a:t>Resort</a:t>
            </a:r>
          </a:p>
        </p:txBody>
      </p:sp>
      <p:sp>
        <p:nvSpPr>
          <p:cNvPr id="54" name="Rounded Rectangle 53"/>
          <p:cNvSpPr/>
          <p:nvPr/>
        </p:nvSpPr>
        <p:spPr>
          <a:xfrm>
            <a:off x="1914022" y="2714652"/>
            <a:ext cx="579363" cy="118018"/>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5" name="TextBox 54"/>
          <p:cNvSpPr txBox="1"/>
          <p:nvPr/>
        </p:nvSpPr>
        <p:spPr>
          <a:xfrm>
            <a:off x="1914022" y="2714652"/>
            <a:ext cx="579363" cy="118018"/>
          </a:xfrm>
          <a:prstGeom prst="rect">
            <a:avLst/>
          </a:prstGeom>
          <a:noFill/>
        </p:spPr>
        <p:txBody>
          <a:bodyPr wrap="square" lIns="0" tIns="0" rIns="0" bIns="0" anchor="ctr">
            <a:spAutoFit/>
          </a:bodyPr>
          <a:lstStyle/>
          <a:p>
            <a:pPr marL="0" indent="0" algn="ctr">
              <a:buNone/>
            </a:pPr>
            <a:r>
              <a:rPr sz="500" b="0" i="0">
                <a:solidFill>
                  <a:srgbClr val="555555"/>
                </a:solidFill>
              </a:rPr>
              <a:t>Other</a:t>
            </a:r>
          </a:p>
        </p:txBody>
      </p:sp>
      <p:sp>
        <p:nvSpPr>
          <p:cNvPr id="56" name="Rectangle 55"/>
          <p:cNvSpPr/>
          <p:nvPr/>
        </p:nvSpPr>
        <p:spPr>
          <a:xfrm>
            <a:off x="594360" y="4506388"/>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7" name="Rectangle 56"/>
          <p:cNvSpPr/>
          <p:nvPr/>
        </p:nvSpPr>
        <p:spPr>
          <a:xfrm>
            <a:off x="594360" y="4506388"/>
            <a:ext cx="2011679" cy="34332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8" name="Rounded Rectangle 57"/>
          <p:cNvSpPr/>
          <p:nvPr/>
        </p:nvSpPr>
        <p:spPr>
          <a:xfrm>
            <a:off x="669462" y="4570762"/>
            <a:ext cx="1861474" cy="160934"/>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9" name="TextBox 58"/>
          <p:cNvSpPr txBox="1"/>
          <p:nvPr/>
        </p:nvSpPr>
        <p:spPr>
          <a:xfrm>
            <a:off x="669462" y="4570762"/>
            <a:ext cx="1861474" cy="160934"/>
          </a:xfrm>
          <a:prstGeom prst="rect">
            <a:avLst/>
          </a:prstGeom>
          <a:noFill/>
        </p:spPr>
        <p:txBody>
          <a:bodyPr wrap="square" lIns="0" tIns="0" rIns="0" bIns="0" anchor="ctr">
            <a:spAutoFit/>
          </a:bodyPr>
          <a:lstStyle/>
          <a:p>
            <a:pPr marL="0" indent="0" algn="ctr">
              <a:buNone/>
            </a:pPr>
            <a:r>
              <a:rPr sz="650" b="1" i="0">
                <a:solidFill>
                  <a:srgbClr val="FFFFFF"/>
                </a:solidFill>
              </a:rPr>
              <a:t>Save address</a:t>
            </a:r>
          </a:p>
        </p:txBody>
      </p:sp>
      <p:sp>
        <p:nvSpPr>
          <p:cNvPr id="60" name="Oval 59"/>
          <p:cNvSpPr/>
          <p:nvPr/>
        </p:nvSpPr>
        <p:spPr>
          <a:xfrm>
            <a:off x="379781" y="1416448"/>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1" name="TextBox 60"/>
          <p:cNvSpPr txBox="1"/>
          <p:nvPr/>
        </p:nvSpPr>
        <p:spPr>
          <a:xfrm>
            <a:off x="379781" y="1416448"/>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62" name="Oval 61"/>
          <p:cNvSpPr/>
          <p:nvPr/>
        </p:nvSpPr>
        <p:spPr>
          <a:xfrm>
            <a:off x="379781" y="1738316"/>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3" name="TextBox 62"/>
          <p:cNvSpPr txBox="1"/>
          <p:nvPr/>
        </p:nvSpPr>
        <p:spPr>
          <a:xfrm>
            <a:off x="379781" y="1738316"/>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64" name="Oval 63"/>
          <p:cNvSpPr/>
          <p:nvPr/>
        </p:nvSpPr>
        <p:spPr>
          <a:xfrm>
            <a:off x="379781" y="219966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5" name="TextBox 64"/>
          <p:cNvSpPr txBox="1"/>
          <p:nvPr/>
        </p:nvSpPr>
        <p:spPr>
          <a:xfrm>
            <a:off x="379781" y="219966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66" name="Oval 65"/>
          <p:cNvSpPr/>
          <p:nvPr/>
        </p:nvSpPr>
        <p:spPr>
          <a:xfrm>
            <a:off x="379781" y="2467886"/>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7" name="TextBox 66"/>
          <p:cNvSpPr txBox="1"/>
          <p:nvPr/>
        </p:nvSpPr>
        <p:spPr>
          <a:xfrm>
            <a:off x="379781" y="2467886"/>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68" name="Oval 67"/>
          <p:cNvSpPr/>
          <p:nvPr/>
        </p:nvSpPr>
        <p:spPr>
          <a:xfrm>
            <a:off x="379781" y="4635135"/>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9" name="TextBox 68"/>
          <p:cNvSpPr txBox="1"/>
          <p:nvPr/>
        </p:nvSpPr>
        <p:spPr>
          <a:xfrm>
            <a:off x="379781" y="4635135"/>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sp>
        <p:nvSpPr>
          <p:cNvPr id="70" name="Rounded Rectangle 69"/>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1" name="Rectangle 70"/>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2" name="TextBox 71"/>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State B  ·  Member form — recipient fields present</a:t>
            </a:r>
          </a:p>
        </p:txBody>
      </p:sp>
      <p:sp>
        <p:nvSpPr>
          <p:cNvPr id="73" name="TextBox 72"/>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74" name="TextBox 73"/>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75" name="Rectangle 74"/>
          <p:cNvSpPr/>
          <p:nvPr/>
        </p:nvSpPr>
        <p:spPr>
          <a:xfrm>
            <a:off x="338328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6" name="TextBox 75"/>
          <p:cNvSpPr txBox="1"/>
          <p:nvPr/>
        </p:nvSpPr>
        <p:spPr>
          <a:xfrm>
            <a:off x="344765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77" name="TextBox 76"/>
          <p:cNvSpPr txBox="1"/>
          <p:nvPr/>
        </p:nvSpPr>
        <p:spPr>
          <a:xfrm>
            <a:off x="356567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Add delivery address</a:t>
            </a:r>
          </a:p>
        </p:txBody>
      </p:sp>
      <p:sp>
        <p:nvSpPr>
          <p:cNvPr id="78" name="Rectangle 77"/>
          <p:cNvSpPr/>
          <p:nvPr/>
        </p:nvSpPr>
        <p:spPr>
          <a:xfrm>
            <a:off x="338328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Rectangle 78"/>
          <p:cNvSpPr/>
          <p:nvPr/>
        </p:nvSpPr>
        <p:spPr>
          <a:xfrm>
            <a:off x="3383280" y="1217962"/>
            <a:ext cx="2011679" cy="450616"/>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0" name="TextBox 79"/>
          <p:cNvSpPr txBox="1"/>
          <p:nvPr/>
        </p:nvSpPr>
        <p:spPr>
          <a:xfrm>
            <a:off x="3383280" y="1217962"/>
            <a:ext cx="2011679" cy="450616"/>
          </a:xfrm>
          <a:prstGeom prst="rect">
            <a:avLst/>
          </a:prstGeom>
          <a:noFill/>
        </p:spPr>
        <p:txBody>
          <a:bodyPr wrap="square" lIns="0" tIns="0" rIns="0" bIns="0" anchor="ctr">
            <a:spAutoFit/>
          </a:bodyPr>
          <a:lstStyle/>
          <a:p>
            <a:pPr marL="0" indent="0" algn="ctr">
              <a:buNone/>
            </a:pPr>
            <a:r>
              <a:rPr sz="600" b="0" i="0">
                <a:solidFill>
                  <a:srgbClr val="AAAAAA"/>
                </a:solidFill>
              </a:rPr>
              <a:t>MAP  —  drag the pin to adjust</a:t>
            </a:r>
          </a:p>
        </p:txBody>
      </p:sp>
      <p:sp>
        <p:nvSpPr>
          <p:cNvPr id="81" name="TextBox 80"/>
          <p:cNvSpPr txBox="1"/>
          <p:nvPr/>
        </p:nvSpPr>
        <p:spPr>
          <a:xfrm>
            <a:off x="3458382" y="1708309"/>
            <a:ext cx="1341120" cy="92202"/>
          </a:xfrm>
          <a:prstGeom prst="rect">
            <a:avLst/>
          </a:prstGeom>
          <a:noFill/>
        </p:spPr>
        <p:txBody>
          <a:bodyPr wrap="square" lIns="0" tIns="0" rIns="0" bIns="0" anchor="ctr">
            <a:spAutoFit/>
          </a:bodyPr>
          <a:lstStyle/>
          <a:p>
            <a:pPr marL="0" indent="0" algn="l">
              <a:buNone/>
            </a:pPr>
            <a:r>
              <a:rPr sz="550" b="1" i="0">
                <a:solidFill>
                  <a:srgbClr val="555555"/>
                </a:solidFill>
              </a:rPr>
              <a:t>Recipient name</a:t>
            </a:r>
            <a:r>
              <a:rPr sz="550" b="1" i="0">
                <a:solidFill>
                  <a:srgbClr val="C8102E"/>
                </a:solidFill>
              </a:rPr>
              <a:t> *</a:t>
            </a:r>
          </a:p>
        </p:txBody>
      </p:sp>
      <p:sp>
        <p:nvSpPr>
          <p:cNvPr id="82" name="Rounded Rectangle 81"/>
          <p:cNvSpPr/>
          <p:nvPr/>
        </p:nvSpPr>
        <p:spPr>
          <a:xfrm>
            <a:off x="3458382" y="1791961"/>
            <a:ext cx="1861474" cy="139476"/>
          </a:xfrm>
          <a:prstGeom prst="roundRect">
            <a:avLst>
              <a:gd name="adj" fmla="val 18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TextBox 82"/>
          <p:cNvSpPr txBox="1"/>
          <p:nvPr/>
        </p:nvSpPr>
        <p:spPr>
          <a:xfrm>
            <a:off x="3512027" y="1791961"/>
            <a:ext cx="1689811" cy="139476"/>
          </a:xfrm>
          <a:prstGeom prst="rect">
            <a:avLst/>
          </a:prstGeom>
          <a:noFill/>
        </p:spPr>
        <p:txBody>
          <a:bodyPr wrap="square" lIns="0" tIns="0" rIns="0" bIns="0" anchor="ctr">
            <a:spAutoFit/>
          </a:bodyPr>
          <a:lstStyle/>
          <a:p>
            <a:pPr marL="0" indent="0" algn="l">
              <a:buNone/>
            </a:pPr>
            <a:r>
              <a:rPr sz="600" b="0" i="0">
                <a:solidFill>
                  <a:srgbClr val="222222"/>
                </a:solidFill>
              </a:rPr>
              <a:t>Thái Bảo Ngọc</a:t>
            </a:r>
          </a:p>
        </p:txBody>
      </p:sp>
      <p:sp>
        <p:nvSpPr>
          <p:cNvPr id="84" name="TextBox 83"/>
          <p:cNvSpPr txBox="1"/>
          <p:nvPr/>
        </p:nvSpPr>
        <p:spPr>
          <a:xfrm>
            <a:off x="3458382" y="1960439"/>
            <a:ext cx="1341120" cy="92202"/>
          </a:xfrm>
          <a:prstGeom prst="rect">
            <a:avLst/>
          </a:prstGeom>
          <a:noFill/>
        </p:spPr>
        <p:txBody>
          <a:bodyPr wrap="square" lIns="0" tIns="0" rIns="0" bIns="0" anchor="ctr">
            <a:spAutoFit/>
          </a:bodyPr>
          <a:lstStyle/>
          <a:p>
            <a:pPr marL="0" indent="0" algn="l">
              <a:buNone/>
            </a:pPr>
            <a:r>
              <a:rPr sz="550" b="1" i="0">
                <a:solidFill>
                  <a:srgbClr val="555555"/>
                </a:solidFill>
              </a:rPr>
              <a:t>Recipient phone</a:t>
            </a:r>
            <a:r>
              <a:rPr sz="550" b="1" i="0">
                <a:solidFill>
                  <a:srgbClr val="C8102E"/>
                </a:solidFill>
              </a:rPr>
              <a:t> *</a:t>
            </a:r>
          </a:p>
        </p:txBody>
      </p:sp>
      <p:sp>
        <p:nvSpPr>
          <p:cNvPr id="85" name="Rounded Rectangle 84"/>
          <p:cNvSpPr/>
          <p:nvPr/>
        </p:nvSpPr>
        <p:spPr>
          <a:xfrm>
            <a:off x="3458382" y="2044092"/>
            <a:ext cx="1861474" cy="139476"/>
          </a:xfrm>
          <a:prstGeom prst="roundRect">
            <a:avLst>
              <a:gd name="adj" fmla="val 18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6" name="TextBox 85"/>
          <p:cNvSpPr txBox="1"/>
          <p:nvPr/>
        </p:nvSpPr>
        <p:spPr>
          <a:xfrm>
            <a:off x="3512027" y="2044092"/>
            <a:ext cx="1689811" cy="139476"/>
          </a:xfrm>
          <a:prstGeom prst="rect">
            <a:avLst/>
          </a:prstGeom>
          <a:noFill/>
        </p:spPr>
        <p:txBody>
          <a:bodyPr wrap="square" lIns="0" tIns="0" rIns="0" bIns="0" anchor="ctr">
            <a:spAutoFit/>
          </a:bodyPr>
          <a:lstStyle/>
          <a:p>
            <a:pPr marL="0" indent="0" algn="l">
              <a:buNone/>
            </a:pPr>
            <a:r>
              <a:rPr sz="600" b="0" i="0">
                <a:solidFill>
                  <a:srgbClr val="222222"/>
                </a:solidFill>
              </a:rPr>
              <a:t>09xx xxx xxx</a:t>
            </a:r>
          </a:p>
        </p:txBody>
      </p:sp>
      <p:sp>
        <p:nvSpPr>
          <p:cNvPr id="87" name="TextBox 86"/>
          <p:cNvSpPr txBox="1"/>
          <p:nvPr/>
        </p:nvSpPr>
        <p:spPr>
          <a:xfrm>
            <a:off x="3458382" y="2212570"/>
            <a:ext cx="1341120" cy="92202"/>
          </a:xfrm>
          <a:prstGeom prst="rect">
            <a:avLst/>
          </a:prstGeom>
          <a:noFill/>
        </p:spPr>
        <p:txBody>
          <a:bodyPr wrap="square" lIns="0" tIns="0" rIns="0" bIns="0" anchor="ctr">
            <a:spAutoFit/>
          </a:bodyPr>
          <a:lstStyle/>
          <a:p>
            <a:pPr marL="0" indent="0" algn="l">
              <a:buNone/>
            </a:pPr>
            <a:r>
              <a:rPr sz="550" b="1" i="0">
                <a:solidFill>
                  <a:srgbClr val="555555"/>
                </a:solidFill>
              </a:rPr>
              <a:t>Address</a:t>
            </a:r>
            <a:r>
              <a:rPr sz="550" b="1" i="0">
                <a:solidFill>
                  <a:srgbClr val="C8102E"/>
                </a:solidFill>
              </a:rPr>
              <a:t> *</a:t>
            </a:r>
          </a:p>
        </p:txBody>
      </p:sp>
      <p:sp>
        <p:nvSpPr>
          <p:cNvPr id="88" name="Rounded Rectangle 87"/>
          <p:cNvSpPr/>
          <p:nvPr/>
        </p:nvSpPr>
        <p:spPr>
          <a:xfrm>
            <a:off x="3458382" y="2296222"/>
            <a:ext cx="1861474" cy="139476"/>
          </a:xfrm>
          <a:prstGeom prst="roundRect">
            <a:avLst>
              <a:gd name="adj" fmla="val 18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9" name="TextBox 88"/>
          <p:cNvSpPr txBox="1"/>
          <p:nvPr/>
        </p:nvSpPr>
        <p:spPr>
          <a:xfrm>
            <a:off x="3512027" y="2296222"/>
            <a:ext cx="1689811" cy="139476"/>
          </a:xfrm>
          <a:prstGeom prst="rect">
            <a:avLst/>
          </a:prstGeom>
          <a:noFill/>
        </p:spPr>
        <p:txBody>
          <a:bodyPr wrap="square" lIns="0" tIns="0" rIns="0" bIns="0" anchor="ctr">
            <a:spAutoFit/>
          </a:bodyPr>
          <a:lstStyle/>
          <a:p>
            <a:pPr marL="0" indent="0" algn="l">
              <a:buNone/>
            </a:pPr>
            <a:r>
              <a:rPr sz="600" b="0" i="0">
                <a:solidFill>
                  <a:srgbClr val="222222"/>
                </a:solidFill>
              </a:rPr>
              <a:t>123 Nguyễn Thị Thập, Q.7</a:t>
            </a:r>
          </a:p>
        </p:txBody>
      </p:sp>
      <p:sp>
        <p:nvSpPr>
          <p:cNvPr id="90" name="TextBox 89"/>
          <p:cNvSpPr txBox="1"/>
          <p:nvPr/>
        </p:nvSpPr>
        <p:spPr>
          <a:xfrm>
            <a:off x="3458382" y="2464701"/>
            <a:ext cx="1341120" cy="92202"/>
          </a:xfrm>
          <a:prstGeom prst="rect">
            <a:avLst/>
          </a:prstGeom>
          <a:noFill/>
        </p:spPr>
        <p:txBody>
          <a:bodyPr wrap="square" lIns="0" tIns="0" rIns="0" bIns="0" anchor="ctr">
            <a:spAutoFit/>
          </a:bodyPr>
          <a:lstStyle/>
          <a:p>
            <a:pPr marL="0" indent="0" algn="l">
              <a:buNone/>
            </a:pPr>
            <a:r>
              <a:rPr sz="550" b="1" i="0">
                <a:solidFill>
                  <a:srgbClr val="555555"/>
                </a:solidFill>
              </a:rPr>
              <a:t>what3words  (optional)</a:t>
            </a:r>
          </a:p>
        </p:txBody>
      </p:sp>
      <p:sp>
        <p:nvSpPr>
          <p:cNvPr id="91" name="Rounded Rectangle 90"/>
          <p:cNvSpPr/>
          <p:nvPr/>
        </p:nvSpPr>
        <p:spPr>
          <a:xfrm>
            <a:off x="3458382" y="2548353"/>
            <a:ext cx="1861474" cy="139476"/>
          </a:xfrm>
          <a:prstGeom prst="roundRect">
            <a:avLst>
              <a:gd name="adj" fmla="val 18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2" name="TextBox 91"/>
          <p:cNvSpPr txBox="1"/>
          <p:nvPr/>
        </p:nvSpPr>
        <p:spPr>
          <a:xfrm>
            <a:off x="3512027" y="2548353"/>
            <a:ext cx="1689811" cy="139476"/>
          </a:xfrm>
          <a:prstGeom prst="rect">
            <a:avLst/>
          </a:prstGeom>
          <a:noFill/>
        </p:spPr>
        <p:txBody>
          <a:bodyPr wrap="square" lIns="0" tIns="0" rIns="0" bIns="0" anchor="ctr">
            <a:spAutoFit/>
          </a:bodyPr>
          <a:lstStyle/>
          <a:p>
            <a:pPr marL="0" indent="0" algn="l">
              <a:buNone/>
            </a:pPr>
            <a:r>
              <a:rPr sz="600" b="0" i="0">
                <a:solidFill>
                  <a:srgbClr val="222222"/>
                </a:solidFill>
              </a:rPr>
              <a:t>///filled.count.soap</a:t>
            </a:r>
          </a:p>
        </p:txBody>
      </p:sp>
      <p:sp>
        <p:nvSpPr>
          <p:cNvPr id="93" name="TextBox 92"/>
          <p:cNvSpPr txBox="1"/>
          <p:nvPr/>
        </p:nvSpPr>
        <p:spPr>
          <a:xfrm>
            <a:off x="3458382" y="2716831"/>
            <a:ext cx="1341120" cy="92202"/>
          </a:xfrm>
          <a:prstGeom prst="rect">
            <a:avLst/>
          </a:prstGeom>
          <a:noFill/>
        </p:spPr>
        <p:txBody>
          <a:bodyPr wrap="square" lIns="0" tIns="0" rIns="0" bIns="0" anchor="ctr">
            <a:spAutoFit/>
          </a:bodyPr>
          <a:lstStyle/>
          <a:p>
            <a:pPr marL="0" indent="0" algn="l">
              <a:buNone/>
            </a:pPr>
            <a:r>
              <a:rPr sz="550" b="1" i="0">
                <a:solidFill>
                  <a:srgbClr val="555555"/>
                </a:solidFill>
              </a:rPr>
              <a:t>Address type  (optional)</a:t>
            </a:r>
          </a:p>
        </p:txBody>
      </p:sp>
      <p:sp>
        <p:nvSpPr>
          <p:cNvPr id="94" name="Rounded Rectangle 93"/>
          <p:cNvSpPr/>
          <p:nvPr/>
        </p:nvSpPr>
        <p:spPr>
          <a:xfrm>
            <a:off x="3458382" y="2816577"/>
            <a:ext cx="579363" cy="118018"/>
          </a:xfrm>
          <a:prstGeom prst="roundRect">
            <a:avLst>
              <a:gd name="adj" fmla="val 50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5" name="TextBox 94"/>
          <p:cNvSpPr txBox="1"/>
          <p:nvPr/>
        </p:nvSpPr>
        <p:spPr>
          <a:xfrm>
            <a:off x="3458382" y="2816577"/>
            <a:ext cx="579363" cy="118018"/>
          </a:xfrm>
          <a:prstGeom prst="rect">
            <a:avLst/>
          </a:prstGeom>
          <a:noFill/>
        </p:spPr>
        <p:txBody>
          <a:bodyPr wrap="square" lIns="0" tIns="0" rIns="0" bIns="0" anchor="ctr">
            <a:spAutoFit/>
          </a:bodyPr>
          <a:lstStyle/>
          <a:p>
            <a:pPr marL="0" indent="0" algn="ctr">
              <a:buNone/>
            </a:pPr>
            <a:r>
              <a:rPr sz="500" b="1" i="0">
                <a:solidFill>
                  <a:srgbClr val="C8102E"/>
                </a:solidFill>
              </a:rPr>
              <a:t>Home</a:t>
            </a:r>
          </a:p>
        </p:txBody>
      </p:sp>
      <p:sp>
        <p:nvSpPr>
          <p:cNvPr id="96" name="Rounded Rectangle 95"/>
          <p:cNvSpPr/>
          <p:nvPr/>
        </p:nvSpPr>
        <p:spPr>
          <a:xfrm>
            <a:off x="4080662" y="2816577"/>
            <a:ext cx="579363" cy="118018"/>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7" name="TextBox 96"/>
          <p:cNvSpPr txBox="1"/>
          <p:nvPr/>
        </p:nvSpPr>
        <p:spPr>
          <a:xfrm>
            <a:off x="4080662" y="2816577"/>
            <a:ext cx="579363" cy="118018"/>
          </a:xfrm>
          <a:prstGeom prst="rect">
            <a:avLst/>
          </a:prstGeom>
          <a:noFill/>
        </p:spPr>
        <p:txBody>
          <a:bodyPr wrap="square" lIns="0" tIns="0" rIns="0" bIns="0" anchor="ctr">
            <a:spAutoFit/>
          </a:bodyPr>
          <a:lstStyle/>
          <a:p>
            <a:pPr marL="0" indent="0" algn="ctr">
              <a:buNone/>
            </a:pPr>
            <a:r>
              <a:rPr sz="500" b="0" i="0">
                <a:solidFill>
                  <a:srgbClr val="555555"/>
                </a:solidFill>
              </a:rPr>
              <a:t>Office</a:t>
            </a:r>
          </a:p>
        </p:txBody>
      </p:sp>
      <p:sp>
        <p:nvSpPr>
          <p:cNvPr id="98" name="Rounded Rectangle 97"/>
          <p:cNvSpPr/>
          <p:nvPr/>
        </p:nvSpPr>
        <p:spPr>
          <a:xfrm>
            <a:off x="4702942" y="2816577"/>
            <a:ext cx="579363" cy="118018"/>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9" name="TextBox 98"/>
          <p:cNvSpPr txBox="1"/>
          <p:nvPr/>
        </p:nvSpPr>
        <p:spPr>
          <a:xfrm>
            <a:off x="4702942" y="2816577"/>
            <a:ext cx="579363" cy="118018"/>
          </a:xfrm>
          <a:prstGeom prst="rect">
            <a:avLst/>
          </a:prstGeom>
          <a:noFill/>
        </p:spPr>
        <p:txBody>
          <a:bodyPr wrap="square" lIns="0" tIns="0" rIns="0" bIns="0" anchor="ctr">
            <a:spAutoFit/>
          </a:bodyPr>
          <a:lstStyle/>
          <a:p>
            <a:pPr marL="0" indent="0" algn="ctr">
              <a:buNone/>
            </a:pPr>
            <a:r>
              <a:rPr sz="500" b="0" i="0">
                <a:solidFill>
                  <a:srgbClr val="555555"/>
                </a:solidFill>
              </a:rPr>
              <a:t>Apartment</a:t>
            </a:r>
          </a:p>
        </p:txBody>
      </p:sp>
      <p:sp>
        <p:nvSpPr>
          <p:cNvPr id="100" name="Rectangle 99"/>
          <p:cNvSpPr/>
          <p:nvPr/>
        </p:nvSpPr>
        <p:spPr>
          <a:xfrm>
            <a:off x="3383280" y="4506388"/>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1" name="Rectangle 100"/>
          <p:cNvSpPr/>
          <p:nvPr/>
        </p:nvSpPr>
        <p:spPr>
          <a:xfrm>
            <a:off x="3383280" y="4506388"/>
            <a:ext cx="2011679" cy="34332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2" name="Rounded Rectangle 101"/>
          <p:cNvSpPr/>
          <p:nvPr/>
        </p:nvSpPr>
        <p:spPr>
          <a:xfrm>
            <a:off x="3458382" y="4570762"/>
            <a:ext cx="1861474" cy="160934"/>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3" name="TextBox 102"/>
          <p:cNvSpPr txBox="1"/>
          <p:nvPr/>
        </p:nvSpPr>
        <p:spPr>
          <a:xfrm>
            <a:off x="3458382" y="4570762"/>
            <a:ext cx="1861474" cy="160934"/>
          </a:xfrm>
          <a:prstGeom prst="rect">
            <a:avLst/>
          </a:prstGeom>
          <a:noFill/>
        </p:spPr>
        <p:txBody>
          <a:bodyPr wrap="square" lIns="0" tIns="0" rIns="0" bIns="0" anchor="ctr">
            <a:spAutoFit/>
          </a:bodyPr>
          <a:lstStyle/>
          <a:p>
            <a:pPr marL="0" indent="0" algn="ctr">
              <a:buNone/>
            </a:pPr>
            <a:r>
              <a:rPr sz="650" b="1" i="0">
                <a:solidFill>
                  <a:srgbClr val="FFFFFF"/>
                </a:solidFill>
              </a:rPr>
              <a:t>Save address</a:t>
            </a:r>
          </a:p>
        </p:txBody>
      </p:sp>
      <p:sp>
        <p:nvSpPr>
          <p:cNvPr id="104" name="Oval 103"/>
          <p:cNvSpPr/>
          <p:nvPr/>
        </p:nvSpPr>
        <p:spPr>
          <a:xfrm>
            <a:off x="3168701" y="1502279"/>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5" name="TextBox 104"/>
          <p:cNvSpPr txBox="1"/>
          <p:nvPr/>
        </p:nvSpPr>
        <p:spPr>
          <a:xfrm>
            <a:off x="3168701" y="1502279"/>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106" name="Oval 105"/>
          <p:cNvSpPr/>
          <p:nvPr/>
        </p:nvSpPr>
        <p:spPr>
          <a:xfrm>
            <a:off x="3168701" y="178123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7" name="TextBox 106"/>
          <p:cNvSpPr txBox="1"/>
          <p:nvPr/>
        </p:nvSpPr>
        <p:spPr>
          <a:xfrm>
            <a:off x="3168701" y="178123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graphicFrame>
        <p:nvGraphicFramePr>
          <p:cNvPr id="108" name="Table 107"/>
          <p:cNvGraphicFramePr>
            <a:graphicFrameLocks noGrp="1"/>
          </p:cNvGraphicFramePr>
          <p:nvPr/>
        </p:nvGraphicFramePr>
        <p:xfrm>
          <a:off x="7196328" y="886968"/>
          <a:ext cx="4718304" cy="3446592"/>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Map with draggable pin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Optional aid. The customer may pin the exact entrance, which matters for apartment blocks and alleys.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GPS pre-fill, not auto-accept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Location only pre-fills a suggestion. The customer must review it and add the detail GPS cannot know — house number, floor, block — then confirm (HP-02, BRL-03). A saved address is reused on later launches; the app does not re-locate on every Homepage open.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what3words  (optional)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Alternative three-word location format, offered but never required (HP-03).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Address type  (optional)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Home / Office / Apartment / Hotel / Resort / Other. Used by the driver and for delivery-instruction defaults (HP-03).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Recipient name — member only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Required when logged in, defaulted from the account holder and editable. Omitted entirely from the Guest form, because there is no account to default from (HP-03).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7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Recipient phone — member only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Same rule as the name: required, defaulted, editable, and absent for Guests.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420000">
                <a:tc>
                  <a:txBody>
                    <a:bodyPr/>
                    <a:lstStyle/>
                    <a:p>
                      <a:pPr marL="0" indent="0" algn="ctr">
                        <a:buNone/>
                      </a:pPr>
                      <a:r>
                        <a:rPr sz="70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Save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Guest → the address is stored on the device only. On the first successful login or signup it is uploaded, bound to the account, set active, and the local copy deleted. If the account already holds addresses, this one is appended — nothing is overwritten (HP-05, BRL-03).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109" name="TextBox 108"/>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Saving an address immediately re-resolves the service zone and refreshes the estimated delivery time in the header (HP-04). If the address falls outside every configured service area, the estimate is replaced by a message and a Change address CTA — see SCR-HOM-05, state D.</a:t>
            </a:r>
          </a:p>
        </p:txBody>
      </p:sp>
      <p:sp>
        <p:nvSpPr>
          <p:cNvPr id="124" name="Rounded Rectangle 95">
            <a:extLst>
              <a:ext uri="{FF2B5EF4-FFF2-40B4-BE49-F238E27FC236}">
                <a16:creationId xmlns:a16="http://schemas.microsoft.com/office/drawing/2014/main" id="{10781C15-8ED8-446F-B7F9-A70C97430222}"/>
              </a:ext>
            </a:extLst>
          </p:cNvPr>
          <p:cNvSpPr/>
          <p:nvPr/>
        </p:nvSpPr>
        <p:spPr>
          <a:xfrm>
            <a:off x="3453132" y="2973458"/>
            <a:ext cx="579363" cy="118018"/>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5" name="TextBox 124">
            <a:extLst>
              <a:ext uri="{FF2B5EF4-FFF2-40B4-BE49-F238E27FC236}">
                <a16:creationId xmlns:a16="http://schemas.microsoft.com/office/drawing/2014/main" id="{041B0EC0-8DE2-30CC-E622-5F73F785AC5D}"/>
              </a:ext>
            </a:extLst>
          </p:cNvPr>
          <p:cNvSpPr txBox="1"/>
          <p:nvPr/>
        </p:nvSpPr>
        <p:spPr>
          <a:xfrm>
            <a:off x="3453132" y="2993996"/>
            <a:ext cx="579363" cy="76944"/>
          </a:xfrm>
          <a:prstGeom prst="rect">
            <a:avLst/>
          </a:prstGeom>
          <a:noFill/>
        </p:spPr>
        <p:txBody>
          <a:bodyPr wrap="square" lIns="0" tIns="0" rIns="0" bIns="0" anchor="ctr">
            <a:spAutoFit/>
          </a:bodyPr>
          <a:lstStyle/>
          <a:p>
            <a:pPr marL="0" indent="0" algn="ctr">
              <a:buNone/>
            </a:pPr>
            <a:r>
              <a:rPr lang="en-US" sz="500">
                <a:solidFill>
                  <a:srgbClr val="555555"/>
                </a:solidFill>
                <a:ea typeface="Calibri"/>
                <a:cs typeface="Calibri"/>
              </a:rPr>
              <a:t>Hotel</a:t>
            </a:r>
            <a:endParaRPr lang="en-US" sz="500" b="0" i="0" dirty="0">
              <a:solidFill>
                <a:srgbClr val="555555"/>
              </a:solidFill>
              <a:ea typeface="Calibri"/>
              <a:cs typeface="Calibri"/>
            </a:endParaRPr>
          </a:p>
        </p:txBody>
      </p:sp>
      <p:sp>
        <p:nvSpPr>
          <p:cNvPr id="126" name="Rounded Rectangle 95">
            <a:extLst>
              <a:ext uri="{FF2B5EF4-FFF2-40B4-BE49-F238E27FC236}">
                <a16:creationId xmlns:a16="http://schemas.microsoft.com/office/drawing/2014/main" id="{D70C1A8B-334C-90A9-43AD-8A33171F6313}"/>
              </a:ext>
            </a:extLst>
          </p:cNvPr>
          <p:cNvSpPr/>
          <p:nvPr/>
        </p:nvSpPr>
        <p:spPr>
          <a:xfrm>
            <a:off x="4080661" y="2973458"/>
            <a:ext cx="579363" cy="118018"/>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7" name="Rounded Rectangle 95">
            <a:extLst>
              <a:ext uri="{FF2B5EF4-FFF2-40B4-BE49-F238E27FC236}">
                <a16:creationId xmlns:a16="http://schemas.microsoft.com/office/drawing/2014/main" id="{2D79D74D-BA36-7D77-E9F7-CD782F509C1C}"/>
              </a:ext>
            </a:extLst>
          </p:cNvPr>
          <p:cNvSpPr/>
          <p:nvPr/>
        </p:nvSpPr>
        <p:spPr>
          <a:xfrm>
            <a:off x="4708191" y="2973458"/>
            <a:ext cx="579363" cy="118018"/>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8" name="TextBox 127">
            <a:extLst>
              <a:ext uri="{FF2B5EF4-FFF2-40B4-BE49-F238E27FC236}">
                <a16:creationId xmlns:a16="http://schemas.microsoft.com/office/drawing/2014/main" id="{84CB7320-29FA-1E8F-C6A6-184632A642E1}"/>
              </a:ext>
            </a:extLst>
          </p:cNvPr>
          <p:cNvSpPr txBox="1"/>
          <p:nvPr/>
        </p:nvSpPr>
        <p:spPr>
          <a:xfrm>
            <a:off x="4080661" y="2993996"/>
            <a:ext cx="579363" cy="76944"/>
          </a:xfrm>
          <a:prstGeom prst="rect">
            <a:avLst/>
          </a:prstGeom>
          <a:noFill/>
        </p:spPr>
        <p:txBody>
          <a:bodyPr wrap="square" lIns="0" tIns="0" rIns="0" bIns="0" anchor="ctr">
            <a:spAutoFit/>
          </a:bodyPr>
          <a:lstStyle/>
          <a:p>
            <a:pPr marL="0" indent="0" algn="ctr">
              <a:buNone/>
            </a:pPr>
            <a:r>
              <a:rPr lang="en-US" sz="500">
                <a:solidFill>
                  <a:srgbClr val="555555"/>
                </a:solidFill>
                <a:ea typeface="Calibri"/>
                <a:cs typeface="Calibri"/>
              </a:rPr>
              <a:t>Resort</a:t>
            </a:r>
            <a:endParaRPr lang="en-US" sz="500" b="0" i="0" dirty="0">
              <a:solidFill>
                <a:srgbClr val="555555"/>
              </a:solidFill>
              <a:ea typeface="Calibri"/>
              <a:cs typeface="Calibri"/>
            </a:endParaRPr>
          </a:p>
        </p:txBody>
      </p:sp>
      <p:sp>
        <p:nvSpPr>
          <p:cNvPr id="129" name="TextBox 128">
            <a:extLst>
              <a:ext uri="{FF2B5EF4-FFF2-40B4-BE49-F238E27FC236}">
                <a16:creationId xmlns:a16="http://schemas.microsoft.com/office/drawing/2014/main" id="{462E7C6D-2270-8B90-AF37-CC291B7C3FBE}"/>
              </a:ext>
            </a:extLst>
          </p:cNvPr>
          <p:cNvSpPr txBox="1"/>
          <p:nvPr/>
        </p:nvSpPr>
        <p:spPr>
          <a:xfrm>
            <a:off x="4708190" y="2993995"/>
            <a:ext cx="579363" cy="76944"/>
          </a:xfrm>
          <a:prstGeom prst="rect">
            <a:avLst/>
          </a:prstGeom>
          <a:noFill/>
        </p:spPr>
        <p:txBody>
          <a:bodyPr wrap="square" lIns="0" tIns="0" rIns="0" bIns="0" anchor="ctr">
            <a:spAutoFit/>
          </a:bodyPr>
          <a:lstStyle/>
          <a:p>
            <a:pPr marL="0" indent="0" algn="ctr">
              <a:buNone/>
            </a:pPr>
            <a:r>
              <a:rPr lang="en-US" sz="500">
                <a:solidFill>
                  <a:srgbClr val="555555"/>
                </a:solidFill>
              </a:rPr>
              <a:t>Other</a:t>
            </a:r>
            <a:endParaRPr sz="500" b="0" i="0">
              <a:solidFill>
                <a:srgbClr val="555555"/>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Homepage (HP)</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HP-09</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SCR-HOM-03</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Homepage — Change Delivery Address</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43</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Step 1  ·  Address sheet</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FFFFFF"/>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FFFFFF"/>
                </a:solidFill>
              </a:rPr>
              <a:t>▮▮▮  ⌁  ▰</a:t>
            </a:r>
          </a:p>
        </p:txBody>
      </p:sp>
      <p:sp>
        <p:nvSpPr>
          <p:cNvPr id="27" name="Rectangle 26"/>
          <p:cNvSpPr/>
          <p:nvPr/>
        </p:nvSpPr>
        <p:spPr>
          <a:xfrm>
            <a:off x="594360" y="998018"/>
            <a:ext cx="2011679" cy="396971"/>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69462" y="1022829"/>
            <a:ext cx="75102" cy="100584"/>
          </a:xfrm>
          <a:prstGeom prst="rect">
            <a:avLst/>
          </a:prstGeom>
          <a:noFill/>
        </p:spPr>
        <p:txBody>
          <a:bodyPr wrap="square" lIns="0" tIns="0" rIns="0" bIns="0" anchor="ctr">
            <a:spAutoFit/>
          </a:bodyPr>
          <a:lstStyle/>
          <a:p>
            <a:pPr marL="0" indent="0" algn="l">
              <a:buNone/>
            </a:pPr>
            <a:r>
              <a:rPr sz="600" b="0" i="0">
                <a:solidFill>
                  <a:srgbClr val="FFD9DE"/>
                </a:solidFill>
              </a:rPr>
              <a:t>▣</a:t>
            </a:r>
          </a:p>
        </p:txBody>
      </p:sp>
      <p:sp>
        <p:nvSpPr>
          <p:cNvPr id="29" name="TextBox 28"/>
          <p:cNvSpPr txBox="1"/>
          <p:nvPr/>
        </p:nvSpPr>
        <p:spPr>
          <a:xfrm>
            <a:off x="766023" y="1019476"/>
            <a:ext cx="1126540" cy="107289"/>
          </a:xfrm>
          <a:prstGeom prst="rect">
            <a:avLst/>
          </a:prstGeom>
          <a:noFill/>
        </p:spPr>
        <p:txBody>
          <a:bodyPr wrap="square" lIns="0" tIns="0" rIns="0" bIns="0" anchor="ctr">
            <a:spAutoFit/>
          </a:bodyPr>
          <a:lstStyle/>
          <a:p>
            <a:pPr marL="0" indent="0" algn="l">
              <a:buNone/>
            </a:pPr>
            <a:r>
              <a:rPr sz="640" b="1" i="0">
                <a:solidFill>
                  <a:srgbClr val="FFFFFF"/>
                </a:solidFill>
              </a:rPr>
              <a:t>LOTTE Mart Nam Sài Gòn</a:t>
            </a:r>
          </a:p>
        </p:txBody>
      </p:sp>
      <p:sp>
        <p:nvSpPr>
          <p:cNvPr id="30" name="TextBox 29"/>
          <p:cNvSpPr txBox="1"/>
          <p:nvPr/>
        </p:nvSpPr>
        <p:spPr>
          <a:xfrm>
            <a:off x="1892564" y="1027020"/>
            <a:ext cx="64373" cy="92202"/>
          </a:xfrm>
          <a:prstGeom prst="rect">
            <a:avLst/>
          </a:prstGeom>
          <a:noFill/>
        </p:spPr>
        <p:txBody>
          <a:bodyPr wrap="square" lIns="0" tIns="0" rIns="0" bIns="0" anchor="ctr">
            <a:spAutoFit/>
          </a:bodyPr>
          <a:lstStyle/>
          <a:p>
            <a:pPr marL="0" indent="0" algn="l">
              <a:buNone/>
            </a:pPr>
            <a:r>
              <a:rPr sz="550" b="0" i="0">
                <a:solidFill>
                  <a:srgbClr val="FFFFFF"/>
                </a:solidFill>
              </a:rPr>
              <a:t>▾</a:t>
            </a:r>
          </a:p>
        </p:txBody>
      </p:sp>
      <p:sp>
        <p:nvSpPr>
          <p:cNvPr id="31" name="TextBox 30"/>
          <p:cNvSpPr txBox="1"/>
          <p:nvPr/>
        </p:nvSpPr>
        <p:spPr>
          <a:xfrm>
            <a:off x="2203703" y="1014447"/>
            <a:ext cx="118018" cy="117348"/>
          </a:xfrm>
          <a:prstGeom prst="rect">
            <a:avLst/>
          </a:prstGeom>
          <a:noFill/>
        </p:spPr>
        <p:txBody>
          <a:bodyPr wrap="square" lIns="0" tIns="0" rIns="0" bIns="0" anchor="ctr">
            <a:spAutoFit/>
          </a:bodyPr>
          <a:lstStyle/>
          <a:p>
            <a:pPr marL="0" indent="0" algn="ctr">
              <a:buNone/>
            </a:pPr>
            <a:r>
              <a:rPr sz="700" b="0" i="0">
                <a:solidFill>
                  <a:srgbClr val="FFFFFF"/>
                </a:solidFill>
              </a:rPr>
              <a:t>⌕</a:t>
            </a:r>
          </a:p>
        </p:txBody>
      </p:sp>
      <p:sp>
        <p:nvSpPr>
          <p:cNvPr id="32" name="TextBox 31"/>
          <p:cNvSpPr txBox="1"/>
          <p:nvPr/>
        </p:nvSpPr>
        <p:spPr>
          <a:xfrm>
            <a:off x="2364638" y="1022829"/>
            <a:ext cx="118018" cy="100584"/>
          </a:xfrm>
          <a:prstGeom prst="rect">
            <a:avLst/>
          </a:prstGeom>
          <a:noFill/>
        </p:spPr>
        <p:txBody>
          <a:bodyPr wrap="square" lIns="0" tIns="0" rIns="0" bIns="0" anchor="ctr">
            <a:spAutoFit/>
          </a:bodyPr>
          <a:lstStyle/>
          <a:p>
            <a:pPr marL="0" indent="0" algn="ctr">
              <a:buNone/>
            </a:pPr>
            <a:r>
              <a:rPr sz="600" b="0" i="0">
                <a:solidFill>
                  <a:srgbClr val="FFFFFF"/>
                </a:solidFill>
              </a:rPr>
              <a:t>♡</a:t>
            </a:r>
          </a:p>
        </p:txBody>
      </p:sp>
      <p:sp>
        <p:nvSpPr>
          <p:cNvPr id="33" name="TextBox 32"/>
          <p:cNvSpPr txBox="1"/>
          <p:nvPr/>
        </p:nvSpPr>
        <p:spPr>
          <a:xfrm>
            <a:off x="669462" y="1140513"/>
            <a:ext cx="75102" cy="90525"/>
          </a:xfrm>
          <a:prstGeom prst="rect">
            <a:avLst/>
          </a:prstGeom>
          <a:noFill/>
        </p:spPr>
        <p:txBody>
          <a:bodyPr wrap="square" lIns="0" tIns="0" rIns="0" bIns="0" anchor="ctr">
            <a:spAutoFit/>
          </a:bodyPr>
          <a:lstStyle/>
          <a:p>
            <a:pPr marL="0" indent="0" algn="l">
              <a:buNone/>
            </a:pPr>
            <a:r>
              <a:rPr sz="540" b="0" i="0">
                <a:solidFill>
                  <a:srgbClr val="FFD9DE"/>
                </a:solidFill>
              </a:rPr>
              <a:t>◎</a:t>
            </a:r>
          </a:p>
        </p:txBody>
      </p:sp>
      <p:sp>
        <p:nvSpPr>
          <p:cNvPr id="34" name="TextBox 33"/>
          <p:cNvSpPr txBox="1"/>
          <p:nvPr/>
        </p:nvSpPr>
        <p:spPr>
          <a:xfrm>
            <a:off x="766023" y="1138836"/>
            <a:ext cx="1341120" cy="93878"/>
          </a:xfrm>
          <a:prstGeom prst="rect">
            <a:avLst/>
          </a:prstGeom>
          <a:noFill/>
        </p:spPr>
        <p:txBody>
          <a:bodyPr wrap="square" lIns="0" tIns="0" rIns="0" bIns="0" anchor="ctr">
            <a:spAutoFit/>
          </a:bodyPr>
          <a:lstStyle/>
          <a:p>
            <a:pPr marL="0" indent="0" algn="l">
              <a:buNone/>
            </a:pPr>
            <a:r>
              <a:rPr sz="560" b="1" i="0">
                <a:solidFill>
                  <a:srgbClr val="FFFFFF"/>
                </a:solidFill>
              </a:rPr>
              <a:t>123 Nguyễn Thị Thập, Q.7</a:t>
            </a:r>
          </a:p>
        </p:txBody>
      </p:sp>
      <p:sp>
        <p:nvSpPr>
          <p:cNvPr id="35" name="TextBox 34"/>
          <p:cNvSpPr txBox="1"/>
          <p:nvPr/>
        </p:nvSpPr>
        <p:spPr>
          <a:xfrm>
            <a:off x="2117872" y="1143865"/>
            <a:ext cx="64373" cy="83820"/>
          </a:xfrm>
          <a:prstGeom prst="rect">
            <a:avLst/>
          </a:prstGeom>
          <a:noFill/>
        </p:spPr>
        <p:txBody>
          <a:bodyPr wrap="square" lIns="0" tIns="0" rIns="0" bIns="0" anchor="ctr">
            <a:spAutoFit/>
          </a:bodyPr>
          <a:lstStyle/>
          <a:p>
            <a:pPr marL="0" indent="0" algn="l">
              <a:buNone/>
            </a:pPr>
            <a:r>
              <a:rPr sz="500" b="0" i="0">
                <a:solidFill>
                  <a:srgbClr val="FFD9DE"/>
                </a:solidFill>
              </a:rPr>
              <a:t>▾</a:t>
            </a:r>
          </a:p>
        </p:txBody>
      </p:sp>
      <p:sp>
        <p:nvSpPr>
          <p:cNvPr id="36" name="TextBox 35"/>
          <p:cNvSpPr txBox="1"/>
          <p:nvPr/>
        </p:nvSpPr>
        <p:spPr>
          <a:xfrm>
            <a:off x="669462" y="1238749"/>
            <a:ext cx="75102" cy="87172"/>
          </a:xfrm>
          <a:prstGeom prst="rect">
            <a:avLst/>
          </a:prstGeom>
          <a:noFill/>
        </p:spPr>
        <p:txBody>
          <a:bodyPr wrap="square" lIns="0" tIns="0" rIns="0" bIns="0" anchor="ctr">
            <a:spAutoFit/>
          </a:bodyPr>
          <a:lstStyle/>
          <a:p>
            <a:pPr marL="0" indent="0" algn="l">
              <a:buNone/>
            </a:pPr>
            <a:r>
              <a:rPr sz="520" b="0" i="0">
                <a:solidFill>
                  <a:srgbClr val="FFD9DE"/>
                </a:solidFill>
              </a:rPr>
              <a:t>◷</a:t>
            </a:r>
          </a:p>
        </p:txBody>
      </p:sp>
      <p:sp>
        <p:nvSpPr>
          <p:cNvPr id="37" name="TextBox 36"/>
          <p:cNvSpPr txBox="1"/>
          <p:nvPr/>
        </p:nvSpPr>
        <p:spPr>
          <a:xfrm>
            <a:off x="766023" y="1237073"/>
            <a:ext cx="1609343" cy="90525"/>
          </a:xfrm>
          <a:prstGeom prst="rect">
            <a:avLst/>
          </a:prstGeom>
          <a:noFill/>
        </p:spPr>
        <p:txBody>
          <a:bodyPr wrap="square" lIns="0" tIns="0" rIns="0" bIns="0" anchor="ctr">
            <a:spAutoFit/>
          </a:bodyPr>
          <a:lstStyle/>
          <a:p>
            <a:pPr marL="0" indent="0" algn="l">
              <a:buNone/>
            </a:pPr>
            <a:r>
              <a:rPr sz="540" b="0" i="0">
                <a:solidFill>
                  <a:srgbClr val="FFE4E8"/>
                </a:solidFill>
              </a:rPr>
              <a:t>Standard  ·  today 15:00–18:00</a:t>
            </a:r>
          </a:p>
        </p:txBody>
      </p:sp>
      <p:sp>
        <p:nvSpPr>
          <p:cNvPr id="38" name="Rectangle 37"/>
          <p:cNvSpPr/>
          <p:nvPr/>
        </p:nvSpPr>
        <p:spPr>
          <a:xfrm>
            <a:off x="594360" y="1394990"/>
            <a:ext cx="2011679" cy="3454725"/>
          </a:xfrm>
          <a:prstGeom prst="rect">
            <a:avLst/>
          </a:prstGeom>
          <a:solidFill>
            <a:srgbClr val="1A1A1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Rounded Rectangle 38"/>
          <p:cNvSpPr/>
          <p:nvPr/>
        </p:nvSpPr>
        <p:spPr>
          <a:xfrm>
            <a:off x="594360" y="2489343"/>
            <a:ext cx="2011679" cy="2360371"/>
          </a:xfrm>
          <a:prstGeom prst="roundRect">
            <a:avLst>
              <a:gd name="adj" fmla="val 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Rounded Rectangle 39"/>
          <p:cNvSpPr/>
          <p:nvPr/>
        </p:nvSpPr>
        <p:spPr>
          <a:xfrm>
            <a:off x="1503639" y="2526895"/>
            <a:ext cx="193121" cy="21457"/>
          </a:xfrm>
          <a:prstGeom prst="roundRect">
            <a:avLst>
              <a:gd name="adj" fmla="val 50000"/>
            </a:avLst>
          </a:prstGeom>
          <a:solidFill>
            <a:srgbClr val="CCCCCC"/>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TextBox 40"/>
          <p:cNvSpPr txBox="1"/>
          <p:nvPr/>
        </p:nvSpPr>
        <p:spPr>
          <a:xfrm>
            <a:off x="680191" y="2570146"/>
            <a:ext cx="1689811" cy="117348"/>
          </a:xfrm>
          <a:prstGeom prst="rect">
            <a:avLst/>
          </a:prstGeom>
          <a:noFill/>
        </p:spPr>
        <p:txBody>
          <a:bodyPr wrap="square" lIns="0" tIns="0" rIns="0" bIns="0" anchor="ctr">
            <a:spAutoFit/>
          </a:bodyPr>
          <a:lstStyle/>
          <a:p>
            <a:pPr marL="0" indent="0" algn="l">
              <a:buNone/>
            </a:pPr>
            <a:r>
              <a:rPr sz="700" b="1" i="0">
                <a:solidFill>
                  <a:srgbClr val="1A1A1A"/>
                </a:solidFill>
              </a:rPr>
              <a:t>Delivery address</a:t>
            </a:r>
          </a:p>
        </p:txBody>
      </p:sp>
      <p:sp>
        <p:nvSpPr>
          <p:cNvPr id="42" name="TextBox 41"/>
          <p:cNvSpPr txBox="1"/>
          <p:nvPr/>
        </p:nvSpPr>
        <p:spPr>
          <a:xfrm>
            <a:off x="2434376" y="2575175"/>
            <a:ext cx="107289" cy="107289"/>
          </a:xfrm>
          <a:prstGeom prst="rect">
            <a:avLst/>
          </a:prstGeom>
          <a:noFill/>
        </p:spPr>
        <p:txBody>
          <a:bodyPr wrap="square" lIns="0" tIns="0" rIns="0" bIns="0" anchor="ctr">
            <a:spAutoFit/>
          </a:bodyPr>
          <a:lstStyle/>
          <a:p>
            <a:pPr marL="0" indent="0" algn="ctr">
              <a:buNone/>
            </a:pPr>
            <a:r>
              <a:rPr sz="600" b="0" i="0">
                <a:solidFill>
                  <a:srgbClr val="888888"/>
                </a:solidFill>
              </a:rPr>
              <a:t>✕</a:t>
            </a:r>
          </a:p>
        </p:txBody>
      </p:sp>
      <p:sp>
        <p:nvSpPr>
          <p:cNvPr id="43" name="Rectangle 42"/>
          <p:cNvSpPr/>
          <p:nvPr/>
        </p:nvSpPr>
        <p:spPr>
          <a:xfrm>
            <a:off x="594360" y="2703923"/>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4" name="Rounded Rectangle 43"/>
          <p:cNvSpPr/>
          <p:nvPr/>
        </p:nvSpPr>
        <p:spPr>
          <a:xfrm>
            <a:off x="669462" y="2736110"/>
            <a:ext cx="1861474" cy="332597"/>
          </a:xfrm>
          <a:prstGeom prst="roundRect">
            <a:avLst>
              <a:gd name="adj" fmla="val 12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Rounded Rectangle 44"/>
          <p:cNvSpPr/>
          <p:nvPr/>
        </p:nvSpPr>
        <p:spPr>
          <a:xfrm>
            <a:off x="744565" y="2779025"/>
            <a:ext cx="289681" cy="80467"/>
          </a:xfrm>
          <a:prstGeom prst="roundRect">
            <a:avLst>
              <a:gd name="adj" fmla="val 50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TextBox 45"/>
          <p:cNvSpPr txBox="1"/>
          <p:nvPr/>
        </p:nvSpPr>
        <p:spPr>
          <a:xfrm>
            <a:off x="744565" y="2779025"/>
            <a:ext cx="289681" cy="80467"/>
          </a:xfrm>
          <a:prstGeom prst="rect">
            <a:avLst/>
          </a:prstGeom>
          <a:noFill/>
        </p:spPr>
        <p:txBody>
          <a:bodyPr wrap="square" lIns="0" tIns="0" rIns="0" bIns="0" anchor="ctr">
            <a:spAutoFit/>
          </a:bodyPr>
          <a:lstStyle/>
          <a:p>
            <a:pPr marL="0" indent="0" algn="ctr">
              <a:buNone/>
            </a:pPr>
            <a:r>
              <a:rPr sz="459" b="1" i="0">
                <a:solidFill>
                  <a:srgbClr val="C8102E"/>
                </a:solidFill>
              </a:rPr>
              <a:t>Home</a:t>
            </a:r>
          </a:p>
        </p:txBody>
      </p:sp>
      <p:sp>
        <p:nvSpPr>
          <p:cNvPr id="47" name="TextBox 46"/>
          <p:cNvSpPr txBox="1"/>
          <p:nvPr/>
        </p:nvSpPr>
        <p:spPr>
          <a:xfrm>
            <a:off x="744565" y="2867875"/>
            <a:ext cx="1609343" cy="90525"/>
          </a:xfrm>
          <a:prstGeom prst="rect">
            <a:avLst/>
          </a:prstGeom>
          <a:noFill/>
        </p:spPr>
        <p:txBody>
          <a:bodyPr wrap="square" lIns="0" tIns="0" rIns="0" bIns="0" anchor="ctr">
            <a:spAutoFit/>
          </a:bodyPr>
          <a:lstStyle/>
          <a:p>
            <a:pPr marL="0" indent="0" algn="l">
              <a:buNone/>
            </a:pPr>
            <a:r>
              <a:rPr sz="540" b="1" i="0">
                <a:solidFill>
                  <a:srgbClr val="222222"/>
                </a:solidFill>
              </a:rPr>
              <a:t>123 Nguyễn Thị Thập, Tân Phú, Q.7</a:t>
            </a:r>
          </a:p>
        </p:txBody>
      </p:sp>
      <p:sp>
        <p:nvSpPr>
          <p:cNvPr id="48" name="TextBox 47"/>
          <p:cNvSpPr txBox="1"/>
          <p:nvPr/>
        </p:nvSpPr>
        <p:spPr>
          <a:xfrm>
            <a:off x="744565" y="2953371"/>
            <a:ext cx="1609343" cy="80467"/>
          </a:xfrm>
          <a:prstGeom prst="rect">
            <a:avLst/>
          </a:prstGeom>
          <a:noFill/>
        </p:spPr>
        <p:txBody>
          <a:bodyPr wrap="square" lIns="0" tIns="0" rIns="0" bIns="0" anchor="ctr">
            <a:spAutoFit/>
          </a:bodyPr>
          <a:lstStyle/>
          <a:p>
            <a:pPr marL="0" indent="0" algn="l">
              <a:buNone/>
            </a:pPr>
            <a:r>
              <a:rPr sz="480" b="0" i="0">
                <a:solidFill>
                  <a:srgbClr val="888888"/>
                </a:solidFill>
              </a:rPr>
              <a:t>Served by Nam Sài Gòn</a:t>
            </a:r>
          </a:p>
        </p:txBody>
      </p:sp>
      <p:sp>
        <p:nvSpPr>
          <p:cNvPr id="49" name="Rounded Rectangle 48"/>
          <p:cNvSpPr/>
          <p:nvPr/>
        </p:nvSpPr>
        <p:spPr>
          <a:xfrm>
            <a:off x="2375367" y="2864857"/>
            <a:ext cx="80467" cy="80467"/>
          </a:xfrm>
          <a:prstGeom prst="roundRect">
            <a:avLst>
              <a:gd name="adj" fmla="val 5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Rounded Rectangle 49"/>
          <p:cNvSpPr/>
          <p:nvPr/>
        </p:nvSpPr>
        <p:spPr>
          <a:xfrm>
            <a:off x="669462" y="3111623"/>
            <a:ext cx="1861474" cy="332597"/>
          </a:xfrm>
          <a:prstGeom prst="roundRect">
            <a:avLst>
              <a:gd name="adj" fmla="val 12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1" name="Rounded Rectangle 50"/>
          <p:cNvSpPr/>
          <p:nvPr/>
        </p:nvSpPr>
        <p:spPr>
          <a:xfrm>
            <a:off x="744565" y="3154539"/>
            <a:ext cx="289681" cy="80467"/>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2" name="TextBox 51"/>
          <p:cNvSpPr txBox="1"/>
          <p:nvPr/>
        </p:nvSpPr>
        <p:spPr>
          <a:xfrm>
            <a:off x="744565" y="3154539"/>
            <a:ext cx="289681" cy="80467"/>
          </a:xfrm>
          <a:prstGeom prst="rect">
            <a:avLst/>
          </a:prstGeom>
          <a:noFill/>
        </p:spPr>
        <p:txBody>
          <a:bodyPr wrap="square" lIns="0" tIns="0" rIns="0" bIns="0" anchor="ctr">
            <a:spAutoFit/>
          </a:bodyPr>
          <a:lstStyle/>
          <a:p>
            <a:pPr marL="0" indent="0" algn="ctr">
              <a:buNone/>
            </a:pPr>
            <a:r>
              <a:rPr sz="459" b="0" i="0">
                <a:solidFill>
                  <a:srgbClr val="555555"/>
                </a:solidFill>
              </a:rPr>
              <a:t>Office</a:t>
            </a:r>
          </a:p>
        </p:txBody>
      </p:sp>
      <p:sp>
        <p:nvSpPr>
          <p:cNvPr id="53" name="TextBox 52"/>
          <p:cNvSpPr txBox="1"/>
          <p:nvPr/>
        </p:nvSpPr>
        <p:spPr>
          <a:xfrm>
            <a:off x="744565" y="3243389"/>
            <a:ext cx="1609343" cy="90525"/>
          </a:xfrm>
          <a:prstGeom prst="rect">
            <a:avLst/>
          </a:prstGeom>
          <a:noFill/>
        </p:spPr>
        <p:txBody>
          <a:bodyPr wrap="square" lIns="0" tIns="0" rIns="0" bIns="0" anchor="ctr">
            <a:spAutoFit/>
          </a:bodyPr>
          <a:lstStyle/>
          <a:p>
            <a:pPr marL="0" indent="0" algn="l">
              <a:buNone/>
            </a:pPr>
            <a:r>
              <a:rPr sz="540" b="1" i="0">
                <a:solidFill>
                  <a:srgbClr val="222222"/>
                </a:solidFill>
              </a:rPr>
              <a:t>72 Lê Thánh Tôn, Bến Nghé, Q.1</a:t>
            </a:r>
          </a:p>
        </p:txBody>
      </p:sp>
      <p:sp>
        <p:nvSpPr>
          <p:cNvPr id="54" name="TextBox 53"/>
          <p:cNvSpPr txBox="1"/>
          <p:nvPr/>
        </p:nvSpPr>
        <p:spPr>
          <a:xfrm>
            <a:off x="744565" y="3328884"/>
            <a:ext cx="1609343" cy="80467"/>
          </a:xfrm>
          <a:prstGeom prst="rect">
            <a:avLst/>
          </a:prstGeom>
          <a:noFill/>
        </p:spPr>
        <p:txBody>
          <a:bodyPr wrap="square" lIns="0" tIns="0" rIns="0" bIns="0" anchor="ctr">
            <a:spAutoFit/>
          </a:bodyPr>
          <a:lstStyle/>
          <a:p>
            <a:pPr marL="0" indent="0" algn="l">
              <a:buNone/>
            </a:pPr>
            <a:r>
              <a:rPr sz="480" b="0" i="0">
                <a:solidFill>
                  <a:srgbClr val="888888"/>
                </a:solidFill>
              </a:rPr>
              <a:t>Served by Nam Sài Gòn</a:t>
            </a:r>
          </a:p>
        </p:txBody>
      </p:sp>
      <p:sp>
        <p:nvSpPr>
          <p:cNvPr id="55" name="Rounded Rectangle 54"/>
          <p:cNvSpPr/>
          <p:nvPr/>
        </p:nvSpPr>
        <p:spPr>
          <a:xfrm>
            <a:off x="2375367" y="3240371"/>
            <a:ext cx="80467" cy="80467"/>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6" name="Rounded Rectangle 55"/>
          <p:cNvSpPr/>
          <p:nvPr/>
        </p:nvSpPr>
        <p:spPr>
          <a:xfrm>
            <a:off x="669462" y="3487137"/>
            <a:ext cx="1861474" cy="332597"/>
          </a:xfrm>
          <a:prstGeom prst="roundRect">
            <a:avLst>
              <a:gd name="adj" fmla="val 12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7" name="Rounded Rectangle 56"/>
          <p:cNvSpPr/>
          <p:nvPr/>
        </p:nvSpPr>
        <p:spPr>
          <a:xfrm>
            <a:off x="744565" y="3530053"/>
            <a:ext cx="289681" cy="80467"/>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8" name="TextBox 57"/>
          <p:cNvSpPr txBox="1"/>
          <p:nvPr/>
        </p:nvSpPr>
        <p:spPr>
          <a:xfrm>
            <a:off x="744565" y="3530053"/>
            <a:ext cx="289681" cy="80467"/>
          </a:xfrm>
          <a:prstGeom prst="rect">
            <a:avLst/>
          </a:prstGeom>
          <a:noFill/>
        </p:spPr>
        <p:txBody>
          <a:bodyPr wrap="square" lIns="0" tIns="0" rIns="0" bIns="0" anchor="ctr">
            <a:spAutoFit/>
          </a:bodyPr>
          <a:lstStyle/>
          <a:p>
            <a:pPr marL="0" indent="0" algn="ctr">
              <a:buNone/>
            </a:pPr>
            <a:r>
              <a:rPr sz="459" b="0" i="0">
                <a:solidFill>
                  <a:srgbClr val="555555"/>
                </a:solidFill>
              </a:rPr>
              <a:t>Parents</a:t>
            </a:r>
          </a:p>
        </p:txBody>
      </p:sp>
      <p:sp>
        <p:nvSpPr>
          <p:cNvPr id="59" name="TextBox 58"/>
          <p:cNvSpPr txBox="1"/>
          <p:nvPr/>
        </p:nvSpPr>
        <p:spPr>
          <a:xfrm>
            <a:off x="744565" y="3618902"/>
            <a:ext cx="1609343" cy="90525"/>
          </a:xfrm>
          <a:prstGeom prst="rect">
            <a:avLst/>
          </a:prstGeom>
          <a:noFill/>
        </p:spPr>
        <p:txBody>
          <a:bodyPr wrap="square" lIns="0" tIns="0" rIns="0" bIns="0" anchor="ctr">
            <a:spAutoFit/>
          </a:bodyPr>
          <a:lstStyle/>
          <a:p>
            <a:pPr marL="0" indent="0" algn="l">
              <a:buNone/>
            </a:pPr>
            <a:r>
              <a:rPr sz="540" b="1" i="0">
                <a:solidFill>
                  <a:srgbClr val="222222"/>
                </a:solidFill>
              </a:rPr>
              <a:t>45 Nguyễn Văn Cừ, Long Biên, Hà Nội</a:t>
            </a:r>
          </a:p>
        </p:txBody>
      </p:sp>
      <p:sp>
        <p:nvSpPr>
          <p:cNvPr id="60" name="TextBox 59"/>
          <p:cNvSpPr txBox="1"/>
          <p:nvPr/>
        </p:nvSpPr>
        <p:spPr>
          <a:xfrm>
            <a:off x="744565" y="3704398"/>
            <a:ext cx="1609343" cy="80467"/>
          </a:xfrm>
          <a:prstGeom prst="rect">
            <a:avLst/>
          </a:prstGeom>
          <a:noFill/>
        </p:spPr>
        <p:txBody>
          <a:bodyPr wrap="square" lIns="0" tIns="0" rIns="0" bIns="0" anchor="ctr">
            <a:spAutoFit/>
          </a:bodyPr>
          <a:lstStyle/>
          <a:p>
            <a:pPr marL="0" indent="0" algn="l">
              <a:buNone/>
            </a:pPr>
            <a:r>
              <a:rPr sz="480" b="0" i="0">
                <a:solidFill>
                  <a:srgbClr val="888888"/>
                </a:solidFill>
              </a:rPr>
              <a:t>Next-day area — served by Long Biên</a:t>
            </a:r>
          </a:p>
        </p:txBody>
      </p:sp>
      <p:sp>
        <p:nvSpPr>
          <p:cNvPr id="61" name="Rounded Rectangle 60"/>
          <p:cNvSpPr/>
          <p:nvPr/>
        </p:nvSpPr>
        <p:spPr>
          <a:xfrm>
            <a:off x="2375367" y="3615884"/>
            <a:ext cx="80467" cy="80467"/>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2" name="Rounded Rectangle 61"/>
          <p:cNvSpPr/>
          <p:nvPr/>
        </p:nvSpPr>
        <p:spPr>
          <a:xfrm>
            <a:off x="669462" y="3894837"/>
            <a:ext cx="1861474" cy="182392"/>
          </a:xfrm>
          <a:prstGeom prst="roundRect">
            <a:avLst>
              <a:gd name="adj" fmla="val 2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3" name="TextBox 62"/>
          <p:cNvSpPr txBox="1"/>
          <p:nvPr/>
        </p:nvSpPr>
        <p:spPr>
          <a:xfrm>
            <a:off x="669462" y="3894837"/>
            <a:ext cx="1861474" cy="182392"/>
          </a:xfrm>
          <a:prstGeom prst="rect">
            <a:avLst/>
          </a:prstGeom>
          <a:noFill/>
        </p:spPr>
        <p:txBody>
          <a:bodyPr wrap="square" lIns="0" tIns="0" rIns="0" bIns="0" anchor="ctr">
            <a:spAutoFit/>
          </a:bodyPr>
          <a:lstStyle/>
          <a:p>
            <a:pPr marL="0" indent="0" algn="ctr">
              <a:buNone/>
            </a:pPr>
            <a:r>
              <a:rPr sz="620" b="1" i="0">
                <a:solidFill>
                  <a:srgbClr val="222222"/>
                </a:solidFill>
              </a:rPr>
              <a:t>+  Add a new address</a:t>
            </a:r>
          </a:p>
        </p:txBody>
      </p:sp>
      <p:sp>
        <p:nvSpPr>
          <p:cNvPr id="64" name="Oval 63"/>
          <p:cNvSpPr/>
          <p:nvPr/>
        </p:nvSpPr>
        <p:spPr>
          <a:xfrm>
            <a:off x="379781" y="2575175"/>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5" name="TextBox 64"/>
          <p:cNvSpPr txBox="1"/>
          <p:nvPr/>
        </p:nvSpPr>
        <p:spPr>
          <a:xfrm>
            <a:off x="379781" y="2575175"/>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66" name="Oval 65"/>
          <p:cNvSpPr/>
          <p:nvPr/>
        </p:nvSpPr>
        <p:spPr>
          <a:xfrm>
            <a:off x="379781" y="2800483"/>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7" name="TextBox 66"/>
          <p:cNvSpPr txBox="1"/>
          <p:nvPr/>
        </p:nvSpPr>
        <p:spPr>
          <a:xfrm>
            <a:off x="379781" y="2800483"/>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68" name="Oval 67"/>
          <p:cNvSpPr/>
          <p:nvPr/>
        </p:nvSpPr>
        <p:spPr>
          <a:xfrm>
            <a:off x="379781" y="3186726"/>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9" name="TextBox 68"/>
          <p:cNvSpPr txBox="1"/>
          <p:nvPr/>
        </p:nvSpPr>
        <p:spPr>
          <a:xfrm>
            <a:off x="379781" y="3186726"/>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70" name="Oval 69"/>
          <p:cNvSpPr/>
          <p:nvPr/>
        </p:nvSpPr>
        <p:spPr>
          <a:xfrm>
            <a:off x="379781" y="3916295"/>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1" name="TextBox 70"/>
          <p:cNvSpPr txBox="1"/>
          <p:nvPr/>
        </p:nvSpPr>
        <p:spPr>
          <a:xfrm>
            <a:off x="379781" y="3916295"/>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72" name="Rounded Rectangle 71"/>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3" name="Rectangle 72"/>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TextBox 73"/>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Step 2  ·  Store reassigned automatically</a:t>
            </a:r>
          </a:p>
        </p:txBody>
      </p:sp>
      <p:sp>
        <p:nvSpPr>
          <p:cNvPr id="75" name="TextBox 74"/>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FFFFFF"/>
                </a:solidFill>
              </a:rPr>
              <a:t>9:41</a:t>
            </a:r>
          </a:p>
        </p:txBody>
      </p:sp>
      <p:sp>
        <p:nvSpPr>
          <p:cNvPr id="76" name="TextBox 75"/>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FFFFFF"/>
                </a:solidFill>
              </a:rPr>
              <a:t>▮▮▮  ⌁  ▰</a:t>
            </a:r>
          </a:p>
        </p:txBody>
      </p:sp>
      <p:sp>
        <p:nvSpPr>
          <p:cNvPr id="77" name="Rectangle 76"/>
          <p:cNvSpPr/>
          <p:nvPr/>
        </p:nvSpPr>
        <p:spPr>
          <a:xfrm>
            <a:off x="3383280" y="998018"/>
            <a:ext cx="2011679" cy="396971"/>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8" name="TextBox 77"/>
          <p:cNvSpPr txBox="1"/>
          <p:nvPr/>
        </p:nvSpPr>
        <p:spPr>
          <a:xfrm>
            <a:off x="3458382" y="1022829"/>
            <a:ext cx="75102" cy="100584"/>
          </a:xfrm>
          <a:prstGeom prst="rect">
            <a:avLst/>
          </a:prstGeom>
          <a:noFill/>
        </p:spPr>
        <p:txBody>
          <a:bodyPr wrap="square" lIns="0" tIns="0" rIns="0" bIns="0" anchor="ctr">
            <a:spAutoFit/>
          </a:bodyPr>
          <a:lstStyle/>
          <a:p>
            <a:pPr marL="0" indent="0" algn="l">
              <a:buNone/>
            </a:pPr>
            <a:r>
              <a:rPr sz="600" b="0" i="0">
                <a:solidFill>
                  <a:srgbClr val="FFD9DE"/>
                </a:solidFill>
              </a:rPr>
              <a:t>▣</a:t>
            </a:r>
          </a:p>
        </p:txBody>
      </p:sp>
      <p:sp>
        <p:nvSpPr>
          <p:cNvPr id="79" name="TextBox 78"/>
          <p:cNvSpPr txBox="1"/>
          <p:nvPr/>
        </p:nvSpPr>
        <p:spPr>
          <a:xfrm>
            <a:off x="3554943" y="1019476"/>
            <a:ext cx="1126540" cy="107289"/>
          </a:xfrm>
          <a:prstGeom prst="rect">
            <a:avLst/>
          </a:prstGeom>
          <a:noFill/>
        </p:spPr>
        <p:txBody>
          <a:bodyPr wrap="square" lIns="0" tIns="0" rIns="0" bIns="0" anchor="ctr">
            <a:spAutoFit/>
          </a:bodyPr>
          <a:lstStyle/>
          <a:p>
            <a:pPr marL="0" indent="0" algn="l">
              <a:buNone/>
            </a:pPr>
            <a:r>
              <a:rPr sz="640" b="1" i="0">
                <a:solidFill>
                  <a:srgbClr val="FFFFFF"/>
                </a:solidFill>
              </a:rPr>
              <a:t>LOTTE Mart Long Biên</a:t>
            </a:r>
          </a:p>
        </p:txBody>
      </p:sp>
      <p:sp>
        <p:nvSpPr>
          <p:cNvPr id="80" name="TextBox 79"/>
          <p:cNvSpPr txBox="1"/>
          <p:nvPr/>
        </p:nvSpPr>
        <p:spPr>
          <a:xfrm>
            <a:off x="4681484" y="1027020"/>
            <a:ext cx="64373" cy="92202"/>
          </a:xfrm>
          <a:prstGeom prst="rect">
            <a:avLst/>
          </a:prstGeom>
          <a:noFill/>
        </p:spPr>
        <p:txBody>
          <a:bodyPr wrap="square" lIns="0" tIns="0" rIns="0" bIns="0" anchor="ctr">
            <a:spAutoFit/>
          </a:bodyPr>
          <a:lstStyle/>
          <a:p>
            <a:pPr marL="0" indent="0" algn="l">
              <a:buNone/>
            </a:pPr>
            <a:r>
              <a:rPr sz="550" b="0" i="0">
                <a:solidFill>
                  <a:srgbClr val="FFFFFF"/>
                </a:solidFill>
              </a:rPr>
              <a:t>▾</a:t>
            </a:r>
          </a:p>
        </p:txBody>
      </p:sp>
      <p:sp>
        <p:nvSpPr>
          <p:cNvPr id="81" name="TextBox 80"/>
          <p:cNvSpPr txBox="1"/>
          <p:nvPr/>
        </p:nvSpPr>
        <p:spPr>
          <a:xfrm>
            <a:off x="4992623" y="1014447"/>
            <a:ext cx="118018" cy="117348"/>
          </a:xfrm>
          <a:prstGeom prst="rect">
            <a:avLst/>
          </a:prstGeom>
          <a:noFill/>
        </p:spPr>
        <p:txBody>
          <a:bodyPr wrap="square" lIns="0" tIns="0" rIns="0" bIns="0" anchor="ctr">
            <a:spAutoFit/>
          </a:bodyPr>
          <a:lstStyle/>
          <a:p>
            <a:pPr marL="0" indent="0" algn="ctr">
              <a:buNone/>
            </a:pPr>
            <a:r>
              <a:rPr sz="700" b="0" i="0">
                <a:solidFill>
                  <a:srgbClr val="FFFFFF"/>
                </a:solidFill>
              </a:rPr>
              <a:t>⌕</a:t>
            </a:r>
          </a:p>
        </p:txBody>
      </p:sp>
      <p:sp>
        <p:nvSpPr>
          <p:cNvPr id="82" name="TextBox 81"/>
          <p:cNvSpPr txBox="1"/>
          <p:nvPr/>
        </p:nvSpPr>
        <p:spPr>
          <a:xfrm>
            <a:off x="5153558" y="1022829"/>
            <a:ext cx="118018" cy="100584"/>
          </a:xfrm>
          <a:prstGeom prst="rect">
            <a:avLst/>
          </a:prstGeom>
          <a:noFill/>
        </p:spPr>
        <p:txBody>
          <a:bodyPr wrap="square" lIns="0" tIns="0" rIns="0" bIns="0" anchor="ctr">
            <a:spAutoFit/>
          </a:bodyPr>
          <a:lstStyle/>
          <a:p>
            <a:pPr marL="0" indent="0" algn="ctr">
              <a:buNone/>
            </a:pPr>
            <a:r>
              <a:rPr sz="600" b="0" i="0">
                <a:solidFill>
                  <a:srgbClr val="FFFFFF"/>
                </a:solidFill>
              </a:rPr>
              <a:t>♡</a:t>
            </a:r>
          </a:p>
        </p:txBody>
      </p:sp>
      <p:sp>
        <p:nvSpPr>
          <p:cNvPr id="83" name="TextBox 82"/>
          <p:cNvSpPr txBox="1"/>
          <p:nvPr/>
        </p:nvSpPr>
        <p:spPr>
          <a:xfrm>
            <a:off x="3458382" y="1140513"/>
            <a:ext cx="75102" cy="90525"/>
          </a:xfrm>
          <a:prstGeom prst="rect">
            <a:avLst/>
          </a:prstGeom>
          <a:noFill/>
        </p:spPr>
        <p:txBody>
          <a:bodyPr wrap="square" lIns="0" tIns="0" rIns="0" bIns="0" anchor="ctr">
            <a:spAutoFit/>
          </a:bodyPr>
          <a:lstStyle/>
          <a:p>
            <a:pPr marL="0" indent="0" algn="l">
              <a:buNone/>
            </a:pPr>
            <a:r>
              <a:rPr sz="540" b="0" i="0">
                <a:solidFill>
                  <a:srgbClr val="FFD9DE"/>
                </a:solidFill>
              </a:rPr>
              <a:t>◎</a:t>
            </a:r>
          </a:p>
        </p:txBody>
      </p:sp>
      <p:sp>
        <p:nvSpPr>
          <p:cNvPr id="84" name="TextBox 83"/>
          <p:cNvSpPr txBox="1"/>
          <p:nvPr/>
        </p:nvSpPr>
        <p:spPr>
          <a:xfrm>
            <a:off x="3554943" y="1138836"/>
            <a:ext cx="1341120" cy="93878"/>
          </a:xfrm>
          <a:prstGeom prst="rect">
            <a:avLst/>
          </a:prstGeom>
          <a:noFill/>
        </p:spPr>
        <p:txBody>
          <a:bodyPr wrap="square" lIns="0" tIns="0" rIns="0" bIns="0" anchor="ctr">
            <a:spAutoFit/>
          </a:bodyPr>
          <a:lstStyle/>
          <a:p>
            <a:pPr marL="0" indent="0" algn="l">
              <a:buNone/>
            </a:pPr>
            <a:r>
              <a:rPr sz="560" b="1" i="0">
                <a:solidFill>
                  <a:srgbClr val="FFFFFF"/>
                </a:solidFill>
              </a:rPr>
              <a:t>45 Nguyễn Văn Cừ, Long Biên, Hà Nội</a:t>
            </a:r>
          </a:p>
        </p:txBody>
      </p:sp>
      <p:sp>
        <p:nvSpPr>
          <p:cNvPr id="85" name="TextBox 84"/>
          <p:cNvSpPr txBox="1"/>
          <p:nvPr/>
        </p:nvSpPr>
        <p:spPr>
          <a:xfrm>
            <a:off x="4906792" y="1143865"/>
            <a:ext cx="64373" cy="83820"/>
          </a:xfrm>
          <a:prstGeom prst="rect">
            <a:avLst/>
          </a:prstGeom>
          <a:noFill/>
        </p:spPr>
        <p:txBody>
          <a:bodyPr wrap="square" lIns="0" tIns="0" rIns="0" bIns="0" anchor="ctr">
            <a:spAutoFit/>
          </a:bodyPr>
          <a:lstStyle/>
          <a:p>
            <a:pPr marL="0" indent="0" algn="l">
              <a:buNone/>
            </a:pPr>
            <a:r>
              <a:rPr sz="500" b="0" i="0">
                <a:solidFill>
                  <a:srgbClr val="FFD9DE"/>
                </a:solidFill>
              </a:rPr>
              <a:t>▾</a:t>
            </a:r>
          </a:p>
        </p:txBody>
      </p:sp>
      <p:sp>
        <p:nvSpPr>
          <p:cNvPr id="86" name="TextBox 85"/>
          <p:cNvSpPr txBox="1"/>
          <p:nvPr/>
        </p:nvSpPr>
        <p:spPr>
          <a:xfrm>
            <a:off x="3458382" y="1238749"/>
            <a:ext cx="75102" cy="87172"/>
          </a:xfrm>
          <a:prstGeom prst="rect">
            <a:avLst/>
          </a:prstGeom>
          <a:noFill/>
        </p:spPr>
        <p:txBody>
          <a:bodyPr wrap="square" lIns="0" tIns="0" rIns="0" bIns="0" anchor="ctr">
            <a:spAutoFit/>
          </a:bodyPr>
          <a:lstStyle/>
          <a:p>
            <a:pPr marL="0" indent="0" algn="l">
              <a:buNone/>
            </a:pPr>
            <a:r>
              <a:rPr sz="520" b="0" i="0">
                <a:solidFill>
                  <a:srgbClr val="FFD9DE"/>
                </a:solidFill>
              </a:rPr>
              <a:t>◷</a:t>
            </a:r>
          </a:p>
        </p:txBody>
      </p:sp>
      <p:sp>
        <p:nvSpPr>
          <p:cNvPr id="87" name="TextBox 86"/>
          <p:cNvSpPr txBox="1"/>
          <p:nvPr/>
        </p:nvSpPr>
        <p:spPr>
          <a:xfrm>
            <a:off x="3554943" y="1237073"/>
            <a:ext cx="1609343" cy="90525"/>
          </a:xfrm>
          <a:prstGeom prst="rect">
            <a:avLst/>
          </a:prstGeom>
          <a:noFill/>
        </p:spPr>
        <p:txBody>
          <a:bodyPr wrap="square" lIns="0" tIns="0" rIns="0" bIns="0" anchor="ctr">
            <a:spAutoFit/>
          </a:bodyPr>
          <a:lstStyle/>
          <a:p>
            <a:pPr marL="0" indent="0" algn="l">
              <a:buNone/>
            </a:pPr>
            <a:r>
              <a:rPr sz="540" b="0" i="0">
                <a:solidFill>
                  <a:srgbClr val="FFE4E8"/>
                </a:solidFill>
              </a:rPr>
              <a:t>Next-day  ·  arrives Sat 16 Aug</a:t>
            </a:r>
          </a:p>
        </p:txBody>
      </p:sp>
      <p:sp>
        <p:nvSpPr>
          <p:cNvPr id="88" name="Rounded Rectangle 87"/>
          <p:cNvSpPr/>
          <p:nvPr/>
        </p:nvSpPr>
        <p:spPr>
          <a:xfrm>
            <a:off x="3490569" y="1448634"/>
            <a:ext cx="1797100" cy="160934"/>
          </a:xfrm>
          <a:prstGeom prst="roundRect">
            <a:avLst>
              <a:gd name="adj" fmla="val 2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9" name="TextBox 88"/>
          <p:cNvSpPr txBox="1"/>
          <p:nvPr/>
        </p:nvSpPr>
        <p:spPr>
          <a:xfrm>
            <a:off x="3554943" y="1448634"/>
            <a:ext cx="1668353" cy="160934"/>
          </a:xfrm>
          <a:prstGeom prst="rect">
            <a:avLst/>
          </a:prstGeom>
          <a:noFill/>
        </p:spPr>
        <p:txBody>
          <a:bodyPr wrap="square" lIns="0" tIns="0" rIns="0" bIns="0" anchor="ctr">
            <a:spAutoFit/>
          </a:bodyPr>
          <a:lstStyle/>
          <a:p>
            <a:pPr marL="0" indent="0" algn="l">
              <a:buNone/>
            </a:pPr>
            <a:r>
              <a:rPr sz="540" b="0" i="0">
                <a:solidFill>
                  <a:srgbClr val="FFFFFF"/>
                </a:solidFill>
              </a:rPr>
              <a:t>Store changed to LOTTE Mart Long Biên — it serves this address</a:t>
            </a:r>
          </a:p>
        </p:txBody>
      </p:sp>
      <p:sp>
        <p:nvSpPr>
          <p:cNvPr id="90" name="Rectangle 89"/>
          <p:cNvSpPr/>
          <p:nvPr/>
        </p:nvSpPr>
        <p:spPr>
          <a:xfrm>
            <a:off x="3383280" y="1673943"/>
            <a:ext cx="2011679" cy="16093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1" name="Rounded Rectangle 90"/>
          <p:cNvSpPr/>
          <p:nvPr/>
        </p:nvSpPr>
        <p:spPr>
          <a:xfrm>
            <a:off x="3458382" y="1695400"/>
            <a:ext cx="1861474" cy="128747"/>
          </a:xfrm>
          <a:prstGeom prst="roundRect">
            <a:avLst>
              <a:gd name="adj" fmla="val 30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2" name="TextBox 91"/>
          <p:cNvSpPr txBox="1"/>
          <p:nvPr/>
        </p:nvSpPr>
        <p:spPr>
          <a:xfrm>
            <a:off x="3533485" y="1695400"/>
            <a:ext cx="1609343" cy="128747"/>
          </a:xfrm>
          <a:prstGeom prst="rect">
            <a:avLst/>
          </a:prstGeom>
          <a:noFill/>
        </p:spPr>
        <p:txBody>
          <a:bodyPr wrap="square" lIns="0" tIns="0" rIns="0" bIns="0" anchor="ctr">
            <a:spAutoFit/>
          </a:bodyPr>
          <a:lstStyle/>
          <a:p>
            <a:pPr marL="0" indent="0" algn="l">
              <a:buNone/>
            </a:pPr>
            <a:r>
              <a:rPr sz="540" b="0" i="0">
                <a:solidFill>
                  <a:srgbClr val="AAAAAA"/>
                </a:solidFill>
              </a:rPr>
              <a:t>⌕   Search 30,000+ products</a:t>
            </a:r>
          </a:p>
        </p:txBody>
      </p:sp>
      <p:sp>
        <p:nvSpPr>
          <p:cNvPr id="93" name="Rounded Rectangle 92"/>
          <p:cNvSpPr/>
          <p:nvPr/>
        </p:nvSpPr>
        <p:spPr>
          <a:xfrm>
            <a:off x="3458382" y="1856335"/>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4" name="TextBox 93"/>
          <p:cNvSpPr txBox="1"/>
          <p:nvPr/>
        </p:nvSpPr>
        <p:spPr>
          <a:xfrm>
            <a:off x="3458382" y="1877793"/>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95" name="TextBox 94"/>
          <p:cNvSpPr txBox="1"/>
          <p:nvPr/>
        </p:nvSpPr>
        <p:spPr>
          <a:xfrm>
            <a:off x="3458382" y="1994805"/>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Fresh</a:t>
            </a:r>
          </a:p>
        </p:txBody>
      </p:sp>
      <p:sp>
        <p:nvSpPr>
          <p:cNvPr id="96" name="Rounded Rectangle 95"/>
          <p:cNvSpPr/>
          <p:nvPr/>
        </p:nvSpPr>
        <p:spPr>
          <a:xfrm>
            <a:off x="3833896" y="1856335"/>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7" name="TextBox 96"/>
          <p:cNvSpPr txBox="1"/>
          <p:nvPr/>
        </p:nvSpPr>
        <p:spPr>
          <a:xfrm>
            <a:off x="3833896" y="1877793"/>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98" name="TextBox 97"/>
          <p:cNvSpPr txBox="1"/>
          <p:nvPr/>
        </p:nvSpPr>
        <p:spPr>
          <a:xfrm>
            <a:off x="3833896" y="1994805"/>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Frozen</a:t>
            </a:r>
          </a:p>
        </p:txBody>
      </p:sp>
      <p:sp>
        <p:nvSpPr>
          <p:cNvPr id="99" name="Rounded Rectangle 98"/>
          <p:cNvSpPr/>
          <p:nvPr/>
        </p:nvSpPr>
        <p:spPr>
          <a:xfrm>
            <a:off x="4209409" y="1856335"/>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0" name="TextBox 99"/>
          <p:cNvSpPr txBox="1"/>
          <p:nvPr/>
        </p:nvSpPr>
        <p:spPr>
          <a:xfrm>
            <a:off x="4209409" y="1877793"/>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01" name="TextBox 100"/>
          <p:cNvSpPr txBox="1"/>
          <p:nvPr/>
        </p:nvSpPr>
        <p:spPr>
          <a:xfrm>
            <a:off x="4209409" y="1994805"/>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Drinks</a:t>
            </a:r>
          </a:p>
        </p:txBody>
      </p:sp>
      <p:sp>
        <p:nvSpPr>
          <p:cNvPr id="102" name="Rounded Rectangle 101"/>
          <p:cNvSpPr/>
          <p:nvPr/>
        </p:nvSpPr>
        <p:spPr>
          <a:xfrm>
            <a:off x="4584923" y="1856335"/>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3" name="TextBox 102"/>
          <p:cNvSpPr txBox="1"/>
          <p:nvPr/>
        </p:nvSpPr>
        <p:spPr>
          <a:xfrm>
            <a:off x="4584923" y="1877793"/>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04" name="TextBox 103"/>
          <p:cNvSpPr txBox="1"/>
          <p:nvPr/>
        </p:nvSpPr>
        <p:spPr>
          <a:xfrm>
            <a:off x="4584923" y="1994805"/>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Home</a:t>
            </a:r>
          </a:p>
        </p:txBody>
      </p:sp>
      <p:sp>
        <p:nvSpPr>
          <p:cNvPr id="105" name="Rounded Rectangle 104"/>
          <p:cNvSpPr/>
          <p:nvPr/>
        </p:nvSpPr>
        <p:spPr>
          <a:xfrm>
            <a:off x="4960437" y="1856335"/>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6" name="TextBox 105"/>
          <p:cNvSpPr txBox="1"/>
          <p:nvPr/>
        </p:nvSpPr>
        <p:spPr>
          <a:xfrm>
            <a:off x="4960437" y="1877793"/>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07" name="TextBox 106"/>
          <p:cNvSpPr txBox="1"/>
          <p:nvPr/>
        </p:nvSpPr>
        <p:spPr>
          <a:xfrm>
            <a:off x="4960437" y="1994805"/>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Baby</a:t>
            </a:r>
          </a:p>
        </p:txBody>
      </p:sp>
      <p:sp>
        <p:nvSpPr>
          <p:cNvPr id="108" name="Rounded Rectangle 107"/>
          <p:cNvSpPr/>
          <p:nvPr/>
        </p:nvSpPr>
        <p:spPr>
          <a:xfrm>
            <a:off x="3458382" y="2156746"/>
            <a:ext cx="1861474" cy="321868"/>
          </a:xfrm>
          <a:prstGeom prst="roundRect">
            <a:avLst>
              <a:gd name="adj" fmla="val 10000"/>
            </a:avLst>
          </a:prstGeom>
          <a:solidFill>
            <a:srgbClr val="EEF1F9"/>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9" name="TextBox 108"/>
          <p:cNvSpPr txBox="1"/>
          <p:nvPr/>
        </p:nvSpPr>
        <p:spPr>
          <a:xfrm>
            <a:off x="3458382" y="2156746"/>
            <a:ext cx="1861474" cy="321868"/>
          </a:xfrm>
          <a:prstGeom prst="rect">
            <a:avLst/>
          </a:prstGeom>
          <a:noFill/>
        </p:spPr>
        <p:txBody>
          <a:bodyPr wrap="square" lIns="0" tIns="0" rIns="0" bIns="0" anchor="ctr">
            <a:spAutoFit/>
          </a:bodyPr>
          <a:lstStyle/>
          <a:p>
            <a:pPr marL="0" indent="0" algn="ctr">
              <a:buNone/>
            </a:pPr>
            <a:r>
              <a:rPr sz="600" b="0" i="0">
                <a:solidFill>
                  <a:srgbClr val="AAAAAA"/>
                </a:solidFill>
              </a:rPr>
              <a:t>PROMOTION BANNER</a:t>
            </a:r>
          </a:p>
        </p:txBody>
      </p:sp>
      <p:sp>
        <p:nvSpPr>
          <p:cNvPr id="110" name="TextBox 109"/>
          <p:cNvSpPr txBox="1"/>
          <p:nvPr/>
        </p:nvSpPr>
        <p:spPr>
          <a:xfrm>
            <a:off x="3458382" y="2519854"/>
            <a:ext cx="1072896" cy="110642"/>
          </a:xfrm>
          <a:prstGeom prst="rect">
            <a:avLst/>
          </a:prstGeom>
          <a:noFill/>
        </p:spPr>
        <p:txBody>
          <a:bodyPr wrap="square" lIns="0" tIns="0" rIns="0" bIns="0" anchor="ctr">
            <a:spAutoFit/>
          </a:bodyPr>
          <a:lstStyle/>
          <a:p>
            <a:pPr marL="0" indent="0" algn="l">
              <a:buNone/>
            </a:pPr>
            <a:r>
              <a:rPr sz="660" b="1" i="0">
                <a:solidFill>
                  <a:srgbClr val="3A3A3A"/>
                </a:solidFill>
              </a:rPr>
              <a:t>Best sellers at this store</a:t>
            </a:r>
          </a:p>
        </p:txBody>
      </p:sp>
      <p:sp>
        <p:nvSpPr>
          <p:cNvPr id="111" name="TextBox 110"/>
          <p:cNvSpPr txBox="1"/>
          <p:nvPr/>
        </p:nvSpPr>
        <p:spPr>
          <a:xfrm>
            <a:off x="4992623" y="2532259"/>
            <a:ext cx="327233" cy="85831"/>
          </a:xfrm>
          <a:prstGeom prst="rect">
            <a:avLst/>
          </a:prstGeom>
          <a:noFill/>
        </p:spPr>
        <p:txBody>
          <a:bodyPr wrap="square" lIns="0" tIns="0" rIns="0" bIns="0" anchor="ctr">
            <a:spAutoFit/>
          </a:bodyPr>
          <a:lstStyle/>
          <a:p>
            <a:pPr marL="0" indent="0" algn="r">
              <a:buNone/>
            </a:pPr>
            <a:r>
              <a:rPr sz="500" b="0" i="0">
                <a:solidFill>
                  <a:srgbClr val="C8102E"/>
                </a:solidFill>
              </a:rPr>
              <a:t>See all ›</a:t>
            </a:r>
          </a:p>
        </p:txBody>
      </p:sp>
      <p:sp>
        <p:nvSpPr>
          <p:cNvPr id="112" name="Rounded Rectangle 111"/>
          <p:cNvSpPr/>
          <p:nvPr/>
        </p:nvSpPr>
        <p:spPr>
          <a:xfrm>
            <a:off x="3458382" y="2650278"/>
            <a:ext cx="590092" cy="826129"/>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3" name="Rounded Rectangle 112"/>
          <p:cNvSpPr/>
          <p:nvPr/>
        </p:nvSpPr>
        <p:spPr>
          <a:xfrm>
            <a:off x="3501298" y="2693194"/>
            <a:ext cx="504261" cy="35405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4" name="TextBox 113"/>
          <p:cNvSpPr txBox="1"/>
          <p:nvPr/>
        </p:nvSpPr>
        <p:spPr>
          <a:xfrm>
            <a:off x="3501298" y="2693194"/>
            <a:ext cx="504261" cy="354055"/>
          </a:xfrm>
          <a:prstGeom prst="rect">
            <a:avLst/>
          </a:prstGeom>
          <a:noFill/>
        </p:spPr>
        <p:txBody>
          <a:bodyPr wrap="square" lIns="0" tIns="0" rIns="0" bIns="0" anchor="ctr">
            <a:spAutoFit/>
          </a:bodyPr>
          <a:lstStyle/>
          <a:p>
            <a:pPr marL="0" indent="0" algn="ctr">
              <a:buNone/>
            </a:pPr>
            <a:r>
              <a:rPr sz="500" b="0" i="0">
                <a:solidFill>
                  <a:srgbClr val="AAAAAA"/>
                </a:solidFill>
              </a:rPr>
              <a:t>IMG</a:t>
            </a:r>
          </a:p>
        </p:txBody>
      </p:sp>
      <p:sp>
        <p:nvSpPr>
          <p:cNvPr id="115" name="Rounded Rectangle 114"/>
          <p:cNvSpPr/>
          <p:nvPr/>
        </p:nvSpPr>
        <p:spPr>
          <a:xfrm>
            <a:off x="3866083" y="2907773"/>
            <a:ext cx="118018" cy="118018"/>
          </a:xfrm>
          <a:prstGeom prst="roundRect">
            <a:avLst>
              <a:gd name="adj" fmla="val 35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6" name="TextBox 115"/>
          <p:cNvSpPr txBox="1"/>
          <p:nvPr/>
        </p:nvSpPr>
        <p:spPr>
          <a:xfrm>
            <a:off x="3866083" y="2907773"/>
            <a:ext cx="118018" cy="118018"/>
          </a:xfrm>
          <a:prstGeom prst="rect">
            <a:avLst/>
          </a:prstGeom>
          <a:noFill/>
        </p:spPr>
        <p:txBody>
          <a:bodyPr wrap="square" lIns="0" tIns="0" rIns="0" bIns="0" anchor="ctr">
            <a:spAutoFit/>
          </a:bodyPr>
          <a:lstStyle/>
          <a:p>
            <a:pPr marL="0" indent="0" algn="ctr">
              <a:buNone/>
            </a:pPr>
            <a:r>
              <a:rPr sz="650" b="1" i="0">
                <a:solidFill>
                  <a:srgbClr val="FFFFFF"/>
                </a:solidFill>
              </a:rPr>
              <a:t>+</a:t>
            </a:r>
          </a:p>
        </p:txBody>
      </p:sp>
      <p:sp>
        <p:nvSpPr>
          <p:cNvPr id="117" name="TextBox 116"/>
          <p:cNvSpPr txBox="1"/>
          <p:nvPr/>
        </p:nvSpPr>
        <p:spPr>
          <a:xfrm>
            <a:off x="3501298" y="3079436"/>
            <a:ext cx="504261" cy="118018"/>
          </a:xfrm>
          <a:prstGeom prst="rect">
            <a:avLst/>
          </a:prstGeom>
          <a:noFill/>
        </p:spPr>
        <p:txBody>
          <a:bodyPr wrap="square" lIns="0" tIns="0" rIns="0" bIns="0" anchor="t">
            <a:spAutoFit/>
          </a:bodyPr>
          <a:lstStyle/>
          <a:p>
            <a:pPr marL="0" indent="0" algn="l">
              <a:buNone/>
            </a:pPr>
            <a:r>
              <a:rPr sz="459" b="0" i="0">
                <a:solidFill>
                  <a:srgbClr val="222222"/>
                </a:solidFill>
              </a:rPr>
              <a:t>Product name line</a:t>
            </a:r>
          </a:p>
        </p:txBody>
      </p:sp>
      <p:sp>
        <p:nvSpPr>
          <p:cNvPr id="118" name="TextBox 117"/>
          <p:cNvSpPr txBox="1"/>
          <p:nvPr/>
        </p:nvSpPr>
        <p:spPr>
          <a:xfrm>
            <a:off x="3501298" y="3229642"/>
            <a:ext cx="504261" cy="80467"/>
          </a:xfrm>
          <a:prstGeom prst="rect">
            <a:avLst/>
          </a:prstGeom>
          <a:noFill/>
        </p:spPr>
        <p:txBody>
          <a:bodyPr wrap="square" lIns="0" tIns="0" rIns="0" bIns="0" anchor="ctr">
            <a:spAutoFit/>
          </a:bodyPr>
          <a:lstStyle/>
          <a:p>
            <a:pPr marL="0" indent="0" algn="l">
              <a:buNone/>
            </a:pPr>
            <a:r>
              <a:rPr sz="480" b="1" i="0">
                <a:solidFill>
                  <a:srgbClr val="222222"/>
                </a:solidFill>
              </a:rPr>
              <a:t>Guest  59,000 ₫</a:t>
            </a:r>
          </a:p>
        </p:txBody>
      </p:sp>
      <p:sp>
        <p:nvSpPr>
          <p:cNvPr id="119" name="TextBox 118"/>
          <p:cNvSpPr txBox="1"/>
          <p:nvPr/>
        </p:nvSpPr>
        <p:spPr>
          <a:xfrm>
            <a:off x="3501298" y="3326202"/>
            <a:ext cx="504261" cy="69738"/>
          </a:xfrm>
          <a:prstGeom prst="rect">
            <a:avLst/>
          </a:prstGeom>
          <a:noFill/>
        </p:spPr>
        <p:txBody>
          <a:bodyPr wrap="square" lIns="0" tIns="0" rIns="0" bIns="0" anchor="ctr">
            <a:spAutoFit/>
          </a:bodyPr>
          <a:lstStyle/>
          <a:p>
            <a:pPr marL="0" indent="0" algn="l">
              <a:buNone/>
            </a:pPr>
            <a:r>
              <a:rPr sz="400" b="0" i="0">
                <a:solidFill>
                  <a:srgbClr val="C8102E"/>
                </a:solidFill>
              </a:rPr>
              <a:t>Member  49,000 ₫</a:t>
            </a:r>
          </a:p>
        </p:txBody>
      </p:sp>
      <p:sp>
        <p:nvSpPr>
          <p:cNvPr id="120" name="Rounded Rectangle 119"/>
          <p:cNvSpPr/>
          <p:nvPr/>
        </p:nvSpPr>
        <p:spPr>
          <a:xfrm>
            <a:off x="4091391" y="2650278"/>
            <a:ext cx="590092" cy="826129"/>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1" name="Rounded Rectangle 120"/>
          <p:cNvSpPr/>
          <p:nvPr/>
        </p:nvSpPr>
        <p:spPr>
          <a:xfrm>
            <a:off x="4134307" y="2693194"/>
            <a:ext cx="504261" cy="35405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2" name="TextBox 121"/>
          <p:cNvSpPr txBox="1"/>
          <p:nvPr/>
        </p:nvSpPr>
        <p:spPr>
          <a:xfrm>
            <a:off x="4134307" y="2693194"/>
            <a:ext cx="504261" cy="354055"/>
          </a:xfrm>
          <a:prstGeom prst="rect">
            <a:avLst/>
          </a:prstGeom>
          <a:noFill/>
        </p:spPr>
        <p:txBody>
          <a:bodyPr wrap="square" lIns="0" tIns="0" rIns="0" bIns="0" anchor="ctr">
            <a:spAutoFit/>
          </a:bodyPr>
          <a:lstStyle/>
          <a:p>
            <a:pPr marL="0" indent="0" algn="ctr">
              <a:buNone/>
            </a:pPr>
            <a:r>
              <a:rPr sz="500" b="0" i="0">
                <a:solidFill>
                  <a:srgbClr val="AAAAAA"/>
                </a:solidFill>
              </a:rPr>
              <a:t>IMG</a:t>
            </a:r>
          </a:p>
        </p:txBody>
      </p:sp>
      <p:sp>
        <p:nvSpPr>
          <p:cNvPr id="123" name="Rounded Rectangle 122"/>
          <p:cNvSpPr/>
          <p:nvPr/>
        </p:nvSpPr>
        <p:spPr>
          <a:xfrm>
            <a:off x="4499091" y="2907773"/>
            <a:ext cx="118018" cy="118018"/>
          </a:xfrm>
          <a:prstGeom prst="roundRect">
            <a:avLst>
              <a:gd name="adj" fmla="val 35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4" name="TextBox 123"/>
          <p:cNvSpPr txBox="1"/>
          <p:nvPr/>
        </p:nvSpPr>
        <p:spPr>
          <a:xfrm>
            <a:off x="4499091" y="2907773"/>
            <a:ext cx="118018" cy="118018"/>
          </a:xfrm>
          <a:prstGeom prst="rect">
            <a:avLst/>
          </a:prstGeom>
          <a:noFill/>
        </p:spPr>
        <p:txBody>
          <a:bodyPr wrap="square" lIns="0" tIns="0" rIns="0" bIns="0" anchor="ctr">
            <a:spAutoFit/>
          </a:bodyPr>
          <a:lstStyle/>
          <a:p>
            <a:pPr marL="0" indent="0" algn="ctr">
              <a:buNone/>
            </a:pPr>
            <a:r>
              <a:rPr sz="650" b="1" i="0">
                <a:solidFill>
                  <a:srgbClr val="FFFFFF"/>
                </a:solidFill>
              </a:rPr>
              <a:t>+</a:t>
            </a:r>
          </a:p>
        </p:txBody>
      </p:sp>
      <p:sp>
        <p:nvSpPr>
          <p:cNvPr id="125" name="TextBox 124"/>
          <p:cNvSpPr txBox="1"/>
          <p:nvPr/>
        </p:nvSpPr>
        <p:spPr>
          <a:xfrm>
            <a:off x="4134307" y="3079436"/>
            <a:ext cx="504261" cy="118018"/>
          </a:xfrm>
          <a:prstGeom prst="rect">
            <a:avLst/>
          </a:prstGeom>
          <a:noFill/>
        </p:spPr>
        <p:txBody>
          <a:bodyPr wrap="square" lIns="0" tIns="0" rIns="0" bIns="0" anchor="t">
            <a:spAutoFit/>
          </a:bodyPr>
          <a:lstStyle/>
          <a:p>
            <a:pPr marL="0" indent="0" algn="l">
              <a:buNone/>
            </a:pPr>
            <a:r>
              <a:rPr sz="459" b="0" i="0">
                <a:solidFill>
                  <a:srgbClr val="222222"/>
                </a:solidFill>
              </a:rPr>
              <a:t>Product name line</a:t>
            </a:r>
          </a:p>
        </p:txBody>
      </p:sp>
      <p:sp>
        <p:nvSpPr>
          <p:cNvPr id="126" name="TextBox 125"/>
          <p:cNvSpPr txBox="1"/>
          <p:nvPr/>
        </p:nvSpPr>
        <p:spPr>
          <a:xfrm>
            <a:off x="4134307" y="3229642"/>
            <a:ext cx="504261" cy="80467"/>
          </a:xfrm>
          <a:prstGeom prst="rect">
            <a:avLst/>
          </a:prstGeom>
          <a:noFill/>
        </p:spPr>
        <p:txBody>
          <a:bodyPr wrap="square" lIns="0" tIns="0" rIns="0" bIns="0" anchor="ctr">
            <a:spAutoFit/>
          </a:bodyPr>
          <a:lstStyle/>
          <a:p>
            <a:pPr marL="0" indent="0" algn="l">
              <a:buNone/>
            </a:pPr>
            <a:r>
              <a:rPr sz="480" b="1" i="0">
                <a:solidFill>
                  <a:srgbClr val="222222"/>
                </a:solidFill>
              </a:rPr>
              <a:t>Guest  59,000 ₫</a:t>
            </a:r>
          </a:p>
        </p:txBody>
      </p:sp>
      <p:sp>
        <p:nvSpPr>
          <p:cNvPr id="127" name="TextBox 126"/>
          <p:cNvSpPr txBox="1"/>
          <p:nvPr/>
        </p:nvSpPr>
        <p:spPr>
          <a:xfrm>
            <a:off x="4134307" y="3326202"/>
            <a:ext cx="504261" cy="69738"/>
          </a:xfrm>
          <a:prstGeom prst="rect">
            <a:avLst/>
          </a:prstGeom>
          <a:noFill/>
        </p:spPr>
        <p:txBody>
          <a:bodyPr wrap="square" lIns="0" tIns="0" rIns="0" bIns="0" anchor="ctr">
            <a:spAutoFit/>
          </a:bodyPr>
          <a:lstStyle/>
          <a:p>
            <a:pPr marL="0" indent="0" algn="l">
              <a:buNone/>
            </a:pPr>
            <a:r>
              <a:rPr sz="400" b="0" i="0">
                <a:solidFill>
                  <a:srgbClr val="C8102E"/>
                </a:solidFill>
              </a:rPr>
              <a:t>Member  49,000 ₫</a:t>
            </a:r>
          </a:p>
        </p:txBody>
      </p:sp>
      <p:sp>
        <p:nvSpPr>
          <p:cNvPr id="128" name="Rounded Rectangle 127"/>
          <p:cNvSpPr/>
          <p:nvPr/>
        </p:nvSpPr>
        <p:spPr>
          <a:xfrm>
            <a:off x="4724400" y="2650278"/>
            <a:ext cx="590092" cy="826129"/>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9" name="Rounded Rectangle 128"/>
          <p:cNvSpPr/>
          <p:nvPr/>
        </p:nvSpPr>
        <p:spPr>
          <a:xfrm>
            <a:off x="4767315" y="2693194"/>
            <a:ext cx="504261" cy="35405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0" name="TextBox 129"/>
          <p:cNvSpPr txBox="1"/>
          <p:nvPr/>
        </p:nvSpPr>
        <p:spPr>
          <a:xfrm>
            <a:off x="4767315" y="2693194"/>
            <a:ext cx="504261" cy="354055"/>
          </a:xfrm>
          <a:prstGeom prst="rect">
            <a:avLst/>
          </a:prstGeom>
          <a:noFill/>
        </p:spPr>
        <p:txBody>
          <a:bodyPr wrap="square" lIns="0" tIns="0" rIns="0" bIns="0" anchor="ctr">
            <a:spAutoFit/>
          </a:bodyPr>
          <a:lstStyle/>
          <a:p>
            <a:pPr marL="0" indent="0" algn="ctr">
              <a:buNone/>
            </a:pPr>
            <a:r>
              <a:rPr sz="500" b="0" i="0">
                <a:solidFill>
                  <a:srgbClr val="AAAAAA"/>
                </a:solidFill>
              </a:rPr>
              <a:t>IMG</a:t>
            </a:r>
          </a:p>
        </p:txBody>
      </p:sp>
      <p:sp>
        <p:nvSpPr>
          <p:cNvPr id="131" name="Rounded Rectangle 130"/>
          <p:cNvSpPr/>
          <p:nvPr/>
        </p:nvSpPr>
        <p:spPr>
          <a:xfrm>
            <a:off x="5132100" y="2907773"/>
            <a:ext cx="118018" cy="118018"/>
          </a:xfrm>
          <a:prstGeom prst="roundRect">
            <a:avLst>
              <a:gd name="adj" fmla="val 35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2" name="TextBox 131"/>
          <p:cNvSpPr txBox="1"/>
          <p:nvPr/>
        </p:nvSpPr>
        <p:spPr>
          <a:xfrm>
            <a:off x="5132100" y="2907773"/>
            <a:ext cx="118018" cy="118018"/>
          </a:xfrm>
          <a:prstGeom prst="rect">
            <a:avLst/>
          </a:prstGeom>
          <a:noFill/>
        </p:spPr>
        <p:txBody>
          <a:bodyPr wrap="square" lIns="0" tIns="0" rIns="0" bIns="0" anchor="ctr">
            <a:spAutoFit/>
          </a:bodyPr>
          <a:lstStyle/>
          <a:p>
            <a:pPr marL="0" indent="0" algn="ctr">
              <a:buNone/>
            </a:pPr>
            <a:r>
              <a:rPr sz="650" b="1" i="0">
                <a:solidFill>
                  <a:srgbClr val="FFFFFF"/>
                </a:solidFill>
              </a:rPr>
              <a:t>+</a:t>
            </a:r>
          </a:p>
        </p:txBody>
      </p:sp>
      <p:sp>
        <p:nvSpPr>
          <p:cNvPr id="133" name="TextBox 132"/>
          <p:cNvSpPr txBox="1"/>
          <p:nvPr/>
        </p:nvSpPr>
        <p:spPr>
          <a:xfrm>
            <a:off x="4767315" y="3079436"/>
            <a:ext cx="504261" cy="118018"/>
          </a:xfrm>
          <a:prstGeom prst="rect">
            <a:avLst/>
          </a:prstGeom>
          <a:noFill/>
        </p:spPr>
        <p:txBody>
          <a:bodyPr wrap="square" lIns="0" tIns="0" rIns="0" bIns="0" anchor="t">
            <a:spAutoFit/>
          </a:bodyPr>
          <a:lstStyle/>
          <a:p>
            <a:pPr marL="0" indent="0" algn="l">
              <a:buNone/>
            </a:pPr>
            <a:r>
              <a:rPr sz="459" b="0" i="0">
                <a:solidFill>
                  <a:srgbClr val="222222"/>
                </a:solidFill>
              </a:rPr>
              <a:t>Product name line</a:t>
            </a:r>
          </a:p>
        </p:txBody>
      </p:sp>
      <p:sp>
        <p:nvSpPr>
          <p:cNvPr id="134" name="TextBox 133"/>
          <p:cNvSpPr txBox="1"/>
          <p:nvPr/>
        </p:nvSpPr>
        <p:spPr>
          <a:xfrm>
            <a:off x="4767315" y="3229642"/>
            <a:ext cx="504261" cy="80467"/>
          </a:xfrm>
          <a:prstGeom prst="rect">
            <a:avLst/>
          </a:prstGeom>
          <a:noFill/>
        </p:spPr>
        <p:txBody>
          <a:bodyPr wrap="square" lIns="0" tIns="0" rIns="0" bIns="0" anchor="ctr">
            <a:spAutoFit/>
          </a:bodyPr>
          <a:lstStyle/>
          <a:p>
            <a:pPr marL="0" indent="0" algn="l">
              <a:buNone/>
            </a:pPr>
            <a:r>
              <a:rPr sz="480" b="1" i="0">
                <a:solidFill>
                  <a:srgbClr val="222222"/>
                </a:solidFill>
              </a:rPr>
              <a:t>Guest  59,000 ₫</a:t>
            </a:r>
          </a:p>
        </p:txBody>
      </p:sp>
      <p:sp>
        <p:nvSpPr>
          <p:cNvPr id="135" name="TextBox 134"/>
          <p:cNvSpPr txBox="1"/>
          <p:nvPr/>
        </p:nvSpPr>
        <p:spPr>
          <a:xfrm>
            <a:off x="4767315" y="3326202"/>
            <a:ext cx="504261" cy="69738"/>
          </a:xfrm>
          <a:prstGeom prst="rect">
            <a:avLst/>
          </a:prstGeom>
          <a:noFill/>
        </p:spPr>
        <p:txBody>
          <a:bodyPr wrap="square" lIns="0" tIns="0" rIns="0" bIns="0" anchor="ctr">
            <a:spAutoFit/>
          </a:bodyPr>
          <a:lstStyle/>
          <a:p>
            <a:pPr marL="0" indent="0" algn="l">
              <a:buNone/>
            </a:pPr>
            <a:r>
              <a:rPr sz="400" b="0" i="0">
                <a:solidFill>
                  <a:srgbClr val="C8102E"/>
                </a:solidFill>
              </a:rPr>
              <a:t>Member  49,000 ₫</a:t>
            </a:r>
          </a:p>
        </p:txBody>
      </p:sp>
      <p:sp>
        <p:nvSpPr>
          <p:cNvPr id="136" name="Rectangle 135"/>
          <p:cNvSpPr/>
          <p:nvPr/>
        </p:nvSpPr>
        <p:spPr>
          <a:xfrm>
            <a:off x="3383280" y="4667322"/>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7" name="TextBox 136"/>
          <p:cNvSpPr txBox="1"/>
          <p:nvPr/>
        </p:nvSpPr>
        <p:spPr>
          <a:xfrm>
            <a:off x="3383280" y="4665310"/>
            <a:ext cx="502919" cy="100584"/>
          </a:xfrm>
          <a:prstGeom prst="rect">
            <a:avLst/>
          </a:prstGeom>
          <a:noFill/>
        </p:spPr>
        <p:txBody>
          <a:bodyPr wrap="square" lIns="0" tIns="0" rIns="0" bIns="0" anchor="ctr">
            <a:spAutoFit/>
          </a:bodyPr>
          <a:lstStyle/>
          <a:p>
            <a:pPr marL="0" indent="0" algn="ctr">
              <a:buNone/>
            </a:pPr>
            <a:r>
              <a:rPr sz="600" b="0" i="0">
                <a:solidFill>
                  <a:srgbClr val="C8102E"/>
                </a:solidFill>
              </a:rPr>
              <a:t>▣</a:t>
            </a:r>
          </a:p>
        </p:txBody>
      </p:sp>
      <p:sp>
        <p:nvSpPr>
          <p:cNvPr id="138" name="TextBox 137"/>
          <p:cNvSpPr txBox="1"/>
          <p:nvPr/>
        </p:nvSpPr>
        <p:spPr>
          <a:xfrm>
            <a:off x="3383280" y="4745107"/>
            <a:ext cx="502919" cy="80467"/>
          </a:xfrm>
          <a:prstGeom prst="rect">
            <a:avLst/>
          </a:prstGeom>
          <a:noFill/>
        </p:spPr>
        <p:txBody>
          <a:bodyPr wrap="square" lIns="0" tIns="0" rIns="0" bIns="0" anchor="ctr">
            <a:spAutoFit/>
          </a:bodyPr>
          <a:lstStyle/>
          <a:p>
            <a:pPr marL="0" indent="0" algn="ctr">
              <a:buNone/>
            </a:pPr>
            <a:r>
              <a:rPr sz="480" b="1" i="0">
                <a:solidFill>
                  <a:srgbClr val="C8102E"/>
                </a:solidFill>
              </a:rPr>
              <a:t>Home</a:t>
            </a:r>
          </a:p>
        </p:txBody>
      </p:sp>
      <p:sp>
        <p:nvSpPr>
          <p:cNvPr id="139" name="TextBox 138"/>
          <p:cNvSpPr txBox="1"/>
          <p:nvPr/>
        </p:nvSpPr>
        <p:spPr>
          <a:xfrm>
            <a:off x="3886199" y="4665310"/>
            <a:ext cx="502919" cy="100584"/>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40" name="TextBox 139"/>
          <p:cNvSpPr txBox="1"/>
          <p:nvPr/>
        </p:nvSpPr>
        <p:spPr>
          <a:xfrm>
            <a:off x="3886199" y="4745107"/>
            <a:ext cx="502919" cy="80467"/>
          </a:xfrm>
          <a:prstGeom prst="rect">
            <a:avLst/>
          </a:prstGeom>
          <a:noFill/>
        </p:spPr>
        <p:txBody>
          <a:bodyPr wrap="square" lIns="0" tIns="0" rIns="0" bIns="0" anchor="ctr">
            <a:spAutoFit/>
          </a:bodyPr>
          <a:lstStyle/>
          <a:p>
            <a:pPr marL="0" indent="0" algn="ctr">
              <a:buNone/>
            </a:pPr>
            <a:r>
              <a:rPr sz="480" b="0" i="0">
                <a:solidFill>
                  <a:srgbClr val="888888"/>
                </a:solidFill>
              </a:rPr>
              <a:t>Category</a:t>
            </a:r>
          </a:p>
        </p:txBody>
      </p:sp>
      <p:sp>
        <p:nvSpPr>
          <p:cNvPr id="141" name="TextBox 140"/>
          <p:cNvSpPr txBox="1"/>
          <p:nvPr/>
        </p:nvSpPr>
        <p:spPr>
          <a:xfrm>
            <a:off x="4389119" y="4665310"/>
            <a:ext cx="502919" cy="100584"/>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42" name="TextBox 141"/>
          <p:cNvSpPr txBox="1"/>
          <p:nvPr/>
        </p:nvSpPr>
        <p:spPr>
          <a:xfrm>
            <a:off x="4389119" y="4745107"/>
            <a:ext cx="502919" cy="80467"/>
          </a:xfrm>
          <a:prstGeom prst="rect">
            <a:avLst/>
          </a:prstGeom>
          <a:noFill/>
        </p:spPr>
        <p:txBody>
          <a:bodyPr wrap="square" lIns="0" tIns="0" rIns="0" bIns="0" anchor="ctr">
            <a:spAutoFit/>
          </a:bodyPr>
          <a:lstStyle/>
          <a:p>
            <a:pPr marL="0" indent="0" algn="ctr">
              <a:buNone/>
            </a:pPr>
            <a:r>
              <a:rPr sz="480" b="0" i="0">
                <a:solidFill>
                  <a:srgbClr val="888888"/>
                </a:solidFill>
              </a:rPr>
              <a:t>Cart</a:t>
            </a:r>
          </a:p>
        </p:txBody>
      </p:sp>
      <p:sp>
        <p:nvSpPr>
          <p:cNvPr id="143" name="TextBox 142"/>
          <p:cNvSpPr txBox="1"/>
          <p:nvPr/>
        </p:nvSpPr>
        <p:spPr>
          <a:xfrm>
            <a:off x="4892039" y="4665310"/>
            <a:ext cx="502919" cy="100584"/>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44" name="TextBox 143"/>
          <p:cNvSpPr txBox="1"/>
          <p:nvPr/>
        </p:nvSpPr>
        <p:spPr>
          <a:xfrm>
            <a:off x="4892039" y="4745107"/>
            <a:ext cx="502919" cy="80467"/>
          </a:xfrm>
          <a:prstGeom prst="rect">
            <a:avLst/>
          </a:prstGeom>
          <a:noFill/>
        </p:spPr>
        <p:txBody>
          <a:bodyPr wrap="square" lIns="0" tIns="0" rIns="0" bIns="0" anchor="ctr">
            <a:spAutoFit/>
          </a:bodyPr>
          <a:lstStyle/>
          <a:p>
            <a:pPr marL="0" indent="0" algn="ctr">
              <a:buNone/>
            </a:pPr>
            <a:r>
              <a:rPr sz="480" b="0" i="0">
                <a:solidFill>
                  <a:srgbClr val="888888"/>
                </a:solidFill>
              </a:rPr>
              <a:t>My</a:t>
            </a:r>
          </a:p>
        </p:txBody>
      </p:sp>
      <p:sp>
        <p:nvSpPr>
          <p:cNvPr id="145" name="Oval 144"/>
          <p:cNvSpPr/>
          <p:nvPr/>
        </p:nvSpPr>
        <p:spPr>
          <a:xfrm>
            <a:off x="3168701" y="1030205"/>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6" name="TextBox 145"/>
          <p:cNvSpPr txBox="1"/>
          <p:nvPr/>
        </p:nvSpPr>
        <p:spPr>
          <a:xfrm>
            <a:off x="3168701" y="1030205"/>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147" name="Oval 146"/>
          <p:cNvSpPr/>
          <p:nvPr/>
        </p:nvSpPr>
        <p:spPr>
          <a:xfrm>
            <a:off x="3168701" y="1244784"/>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8" name="TextBox 147"/>
          <p:cNvSpPr txBox="1"/>
          <p:nvPr/>
        </p:nvSpPr>
        <p:spPr>
          <a:xfrm>
            <a:off x="3168701" y="1244784"/>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sp>
        <p:nvSpPr>
          <p:cNvPr id="149" name="Oval 148"/>
          <p:cNvSpPr/>
          <p:nvPr/>
        </p:nvSpPr>
        <p:spPr>
          <a:xfrm>
            <a:off x="3168701" y="1448634"/>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0" name="TextBox 149"/>
          <p:cNvSpPr txBox="1"/>
          <p:nvPr/>
        </p:nvSpPr>
        <p:spPr>
          <a:xfrm>
            <a:off x="3168701" y="1448634"/>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graphicFrame>
        <p:nvGraphicFramePr>
          <p:cNvPr id="151" name="Table 150"/>
          <p:cNvGraphicFramePr>
            <a:graphicFrameLocks noGrp="1"/>
          </p:cNvGraphicFramePr>
          <p:nvPr/>
        </p:nvGraphicFramePr>
        <p:xfrm>
          <a:off x="7196328" y="886968"/>
          <a:ext cx="4718304" cy="336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Saved address list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Opened by tapping the address in the header. Shows every address on the account, the active one selected.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Serving-store hint per address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Each row states which store would serve it, so the consequence of switching is visible before the tap, not after.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Address in a different service zone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Selecting it triggers the reassignment rule: current store still serves it → keep the store and refresh the estimate; not served and exactly one store qualifies → switch to it; several qualify → switch to the nearest by distance (HP-09, BRL-09).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Add a new address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Opens SCR-HOM-02 in create mode.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Store changed automatically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No confirmation dialog is shown — on the Homepage the change is applied immediately, because only the browsing context is at risk (BR-10, BRL-09). The Cart behaves differently (SCR-CRT-06).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7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Estimate re-resolved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service and the estimate are recomputed for the new store-and-address pair. Here the address falls in a Next-day area, so a delivery date replaces the time slot (BRL-12).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420000">
                <a:tc>
                  <a:txBody>
                    <a:bodyPr/>
                    <a:lstStyle/>
                    <a:p>
                      <a:pPr marL="0" indent="0" algn="ctr">
                        <a:buNone/>
                      </a:pPr>
                      <a:r>
                        <a:rPr sz="70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Notification toast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customer is told what changed and why. Silent reassignment is not acceptable — the store determines price and availability.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152" name="TextBox 151"/>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Open — OQ-01: which address to select when the active one is no longer valid after a store change. Interim proposal: most recent address used at that store → address of the most recent successful order there → global default if valid → otherwise leave blank for the customer to choose.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Homepage (HP)</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HP-08</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SCR-HOM-04</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Homepage — Change Serving Store</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44</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Step 1  ·  Store sheet — all stores listed</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FFFFFF"/>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FFFFFF"/>
                </a:solidFill>
              </a:rPr>
              <a:t>▮▮▮  ⌁  ▰</a:t>
            </a:r>
          </a:p>
        </p:txBody>
      </p:sp>
      <p:sp>
        <p:nvSpPr>
          <p:cNvPr id="27" name="Rectangle 26"/>
          <p:cNvSpPr/>
          <p:nvPr/>
        </p:nvSpPr>
        <p:spPr>
          <a:xfrm>
            <a:off x="594360" y="998018"/>
            <a:ext cx="2011679" cy="396971"/>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69462" y="1022829"/>
            <a:ext cx="75102" cy="100584"/>
          </a:xfrm>
          <a:prstGeom prst="rect">
            <a:avLst/>
          </a:prstGeom>
          <a:noFill/>
        </p:spPr>
        <p:txBody>
          <a:bodyPr wrap="square" lIns="0" tIns="0" rIns="0" bIns="0" anchor="ctr">
            <a:spAutoFit/>
          </a:bodyPr>
          <a:lstStyle/>
          <a:p>
            <a:pPr marL="0" indent="0" algn="l">
              <a:buNone/>
            </a:pPr>
            <a:r>
              <a:rPr sz="600" b="0" i="0">
                <a:solidFill>
                  <a:srgbClr val="FFD9DE"/>
                </a:solidFill>
              </a:rPr>
              <a:t>▣</a:t>
            </a:r>
          </a:p>
        </p:txBody>
      </p:sp>
      <p:sp>
        <p:nvSpPr>
          <p:cNvPr id="29" name="TextBox 28"/>
          <p:cNvSpPr txBox="1"/>
          <p:nvPr/>
        </p:nvSpPr>
        <p:spPr>
          <a:xfrm>
            <a:off x="766023" y="1019476"/>
            <a:ext cx="1126540" cy="107289"/>
          </a:xfrm>
          <a:prstGeom prst="rect">
            <a:avLst/>
          </a:prstGeom>
          <a:noFill/>
        </p:spPr>
        <p:txBody>
          <a:bodyPr wrap="square" lIns="0" tIns="0" rIns="0" bIns="0" anchor="ctr">
            <a:spAutoFit/>
          </a:bodyPr>
          <a:lstStyle/>
          <a:p>
            <a:pPr marL="0" indent="0" algn="l">
              <a:buNone/>
            </a:pPr>
            <a:r>
              <a:rPr sz="640" b="1" i="0">
                <a:solidFill>
                  <a:srgbClr val="FFFFFF"/>
                </a:solidFill>
              </a:rPr>
              <a:t>LOTTE Mart Nam Sài Gòn</a:t>
            </a:r>
          </a:p>
        </p:txBody>
      </p:sp>
      <p:sp>
        <p:nvSpPr>
          <p:cNvPr id="30" name="TextBox 29"/>
          <p:cNvSpPr txBox="1"/>
          <p:nvPr/>
        </p:nvSpPr>
        <p:spPr>
          <a:xfrm>
            <a:off x="1892564" y="1027020"/>
            <a:ext cx="64373" cy="92202"/>
          </a:xfrm>
          <a:prstGeom prst="rect">
            <a:avLst/>
          </a:prstGeom>
          <a:noFill/>
        </p:spPr>
        <p:txBody>
          <a:bodyPr wrap="square" lIns="0" tIns="0" rIns="0" bIns="0" anchor="ctr">
            <a:spAutoFit/>
          </a:bodyPr>
          <a:lstStyle/>
          <a:p>
            <a:pPr marL="0" indent="0" algn="l">
              <a:buNone/>
            </a:pPr>
            <a:r>
              <a:rPr sz="550" b="0" i="0">
                <a:solidFill>
                  <a:srgbClr val="FFFFFF"/>
                </a:solidFill>
              </a:rPr>
              <a:t>▾</a:t>
            </a:r>
          </a:p>
        </p:txBody>
      </p:sp>
      <p:sp>
        <p:nvSpPr>
          <p:cNvPr id="31" name="TextBox 30"/>
          <p:cNvSpPr txBox="1"/>
          <p:nvPr/>
        </p:nvSpPr>
        <p:spPr>
          <a:xfrm>
            <a:off x="2203703" y="1014447"/>
            <a:ext cx="118018" cy="117348"/>
          </a:xfrm>
          <a:prstGeom prst="rect">
            <a:avLst/>
          </a:prstGeom>
          <a:noFill/>
        </p:spPr>
        <p:txBody>
          <a:bodyPr wrap="square" lIns="0" tIns="0" rIns="0" bIns="0" anchor="ctr">
            <a:spAutoFit/>
          </a:bodyPr>
          <a:lstStyle/>
          <a:p>
            <a:pPr marL="0" indent="0" algn="ctr">
              <a:buNone/>
            </a:pPr>
            <a:r>
              <a:rPr sz="700" b="0" i="0">
                <a:solidFill>
                  <a:srgbClr val="FFFFFF"/>
                </a:solidFill>
              </a:rPr>
              <a:t>⌕</a:t>
            </a:r>
          </a:p>
        </p:txBody>
      </p:sp>
      <p:sp>
        <p:nvSpPr>
          <p:cNvPr id="32" name="TextBox 31"/>
          <p:cNvSpPr txBox="1"/>
          <p:nvPr/>
        </p:nvSpPr>
        <p:spPr>
          <a:xfrm>
            <a:off x="2364638" y="1022829"/>
            <a:ext cx="118018" cy="100584"/>
          </a:xfrm>
          <a:prstGeom prst="rect">
            <a:avLst/>
          </a:prstGeom>
          <a:noFill/>
        </p:spPr>
        <p:txBody>
          <a:bodyPr wrap="square" lIns="0" tIns="0" rIns="0" bIns="0" anchor="ctr">
            <a:spAutoFit/>
          </a:bodyPr>
          <a:lstStyle/>
          <a:p>
            <a:pPr marL="0" indent="0" algn="ctr">
              <a:buNone/>
            </a:pPr>
            <a:r>
              <a:rPr sz="600" b="0" i="0">
                <a:solidFill>
                  <a:srgbClr val="FFFFFF"/>
                </a:solidFill>
              </a:rPr>
              <a:t>♡</a:t>
            </a:r>
          </a:p>
        </p:txBody>
      </p:sp>
      <p:sp>
        <p:nvSpPr>
          <p:cNvPr id="33" name="TextBox 32"/>
          <p:cNvSpPr txBox="1"/>
          <p:nvPr/>
        </p:nvSpPr>
        <p:spPr>
          <a:xfrm>
            <a:off x="669462" y="1140513"/>
            <a:ext cx="75102" cy="90525"/>
          </a:xfrm>
          <a:prstGeom prst="rect">
            <a:avLst/>
          </a:prstGeom>
          <a:noFill/>
        </p:spPr>
        <p:txBody>
          <a:bodyPr wrap="square" lIns="0" tIns="0" rIns="0" bIns="0" anchor="ctr">
            <a:spAutoFit/>
          </a:bodyPr>
          <a:lstStyle/>
          <a:p>
            <a:pPr marL="0" indent="0" algn="l">
              <a:buNone/>
            </a:pPr>
            <a:r>
              <a:rPr sz="540" b="0" i="0">
                <a:solidFill>
                  <a:srgbClr val="FFD9DE"/>
                </a:solidFill>
              </a:rPr>
              <a:t>◎</a:t>
            </a:r>
          </a:p>
        </p:txBody>
      </p:sp>
      <p:sp>
        <p:nvSpPr>
          <p:cNvPr id="34" name="TextBox 33"/>
          <p:cNvSpPr txBox="1"/>
          <p:nvPr/>
        </p:nvSpPr>
        <p:spPr>
          <a:xfrm>
            <a:off x="766023" y="1138836"/>
            <a:ext cx="1341120" cy="93878"/>
          </a:xfrm>
          <a:prstGeom prst="rect">
            <a:avLst/>
          </a:prstGeom>
          <a:noFill/>
        </p:spPr>
        <p:txBody>
          <a:bodyPr wrap="square" lIns="0" tIns="0" rIns="0" bIns="0" anchor="ctr">
            <a:spAutoFit/>
          </a:bodyPr>
          <a:lstStyle/>
          <a:p>
            <a:pPr marL="0" indent="0" algn="l">
              <a:buNone/>
            </a:pPr>
            <a:r>
              <a:rPr sz="560" b="1" i="0">
                <a:solidFill>
                  <a:srgbClr val="FFFFFF"/>
                </a:solidFill>
              </a:rPr>
              <a:t>123 Nguyễn Thị Thập, Q.7</a:t>
            </a:r>
          </a:p>
        </p:txBody>
      </p:sp>
      <p:sp>
        <p:nvSpPr>
          <p:cNvPr id="35" name="TextBox 34"/>
          <p:cNvSpPr txBox="1"/>
          <p:nvPr/>
        </p:nvSpPr>
        <p:spPr>
          <a:xfrm>
            <a:off x="2117872" y="1143865"/>
            <a:ext cx="64373" cy="83820"/>
          </a:xfrm>
          <a:prstGeom prst="rect">
            <a:avLst/>
          </a:prstGeom>
          <a:noFill/>
        </p:spPr>
        <p:txBody>
          <a:bodyPr wrap="square" lIns="0" tIns="0" rIns="0" bIns="0" anchor="ctr">
            <a:spAutoFit/>
          </a:bodyPr>
          <a:lstStyle/>
          <a:p>
            <a:pPr marL="0" indent="0" algn="l">
              <a:buNone/>
            </a:pPr>
            <a:r>
              <a:rPr sz="500" b="0" i="0">
                <a:solidFill>
                  <a:srgbClr val="FFD9DE"/>
                </a:solidFill>
              </a:rPr>
              <a:t>▾</a:t>
            </a:r>
          </a:p>
        </p:txBody>
      </p:sp>
      <p:sp>
        <p:nvSpPr>
          <p:cNvPr id="36" name="TextBox 35"/>
          <p:cNvSpPr txBox="1"/>
          <p:nvPr/>
        </p:nvSpPr>
        <p:spPr>
          <a:xfrm>
            <a:off x="669462" y="1238749"/>
            <a:ext cx="75102" cy="87172"/>
          </a:xfrm>
          <a:prstGeom prst="rect">
            <a:avLst/>
          </a:prstGeom>
          <a:noFill/>
        </p:spPr>
        <p:txBody>
          <a:bodyPr wrap="square" lIns="0" tIns="0" rIns="0" bIns="0" anchor="ctr">
            <a:spAutoFit/>
          </a:bodyPr>
          <a:lstStyle/>
          <a:p>
            <a:pPr marL="0" indent="0" algn="l">
              <a:buNone/>
            </a:pPr>
            <a:r>
              <a:rPr sz="520" b="0" i="0">
                <a:solidFill>
                  <a:srgbClr val="FFD9DE"/>
                </a:solidFill>
              </a:rPr>
              <a:t>◷</a:t>
            </a:r>
          </a:p>
        </p:txBody>
      </p:sp>
      <p:sp>
        <p:nvSpPr>
          <p:cNvPr id="37" name="TextBox 36"/>
          <p:cNvSpPr txBox="1"/>
          <p:nvPr/>
        </p:nvSpPr>
        <p:spPr>
          <a:xfrm>
            <a:off x="766023" y="1237073"/>
            <a:ext cx="1609343" cy="90525"/>
          </a:xfrm>
          <a:prstGeom prst="rect">
            <a:avLst/>
          </a:prstGeom>
          <a:noFill/>
        </p:spPr>
        <p:txBody>
          <a:bodyPr wrap="square" lIns="0" tIns="0" rIns="0" bIns="0" anchor="ctr">
            <a:spAutoFit/>
          </a:bodyPr>
          <a:lstStyle/>
          <a:p>
            <a:pPr marL="0" indent="0" algn="l">
              <a:buNone/>
            </a:pPr>
            <a:r>
              <a:rPr sz="540" b="0" i="0">
                <a:solidFill>
                  <a:srgbClr val="FFE4E8"/>
                </a:solidFill>
              </a:rPr>
              <a:t>Standard  ·  today 15:00–18:00</a:t>
            </a:r>
          </a:p>
        </p:txBody>
      </p:sp>
      <p:sp>
        <p:nvSpPr>
          <p:cNvPr id="38" name="Rectangle 37"/>
          <p:cNvSpPr/>
          <p:nvPr/>
        </p:nvSpPr>
        <p:spPr>
          <a:xfrm>
            <a:off x="594360" y="1394990"/>
            <a:ext cx="2011679" cy="3454725"/>
          </a:xfrm>
          <a:prstGeom prst="rect">
            <a:avLst/>
          </a:prstGeom>
          <a:solidFill>
            <a:srgbClr val="1A1A1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Rounded Rectangle 38"/>
          <p:cNvSpPr/>
          <p:nvPr/>
        </p:nvSpPr>
        <p:spPr>
          <a:xfrm>
            <a:off x="594360" y="2221120"/>
            <a:ext cx="2011679" cy="2628595"/>
          </a:xfrm>
          <a:prstGeom prst="roundRect">
            <a:avLst>
              <a:gd name="adj" fmla="val 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Rounded Rectangle 39"/>
          <p:cNvSpPr/>
          <p:nvPr/>
        </p:nvSpPr>
        <p:spPr>
          <a:xfrm>
            <a:off x="1503639" y="2258671"/>
            <a:ext cx="193121" cy="21457"/>
          </a:xfrm>
          <a:prstGeom prst="roundRect">
            <a:avLst>
              <a:gd name="adj" fmla="val 50000"/>
            </a:avLst>
          </a:prstGeom>
          <a:solidFill>
            <a:srgbClr val="CCCCCC"/>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TextBox 40"/>
          <p:cNvSpPr txBox="1"/>
          <p:nvPr/>
        </p:nvSpPr>
        <p:spPr>
          <a:xfrm>
            <a:off x="680191" y="2301922"/>
            <a:ext cx="1689811" cy="117348"/>
          </a:xfrm>
          <a:prstGeom prst="rect">
            <a:avLst/>
          </a:prstGeom>
          <a:noFill/>
        </p:spPr>
        <p:txBody>
          <a:bodyPr wrap="square" lIns="0" tIns="0" rIns="0" bIns="0" anchor="ctr">
            <a:spAutoFit/>
          </a:bodyPr>
          <a:lstStyle/>
          <a:p>
            <a:pPr marL="0" indent="0" algn="l">
              <a:buNone/>
            </a:pPr>
            <a:r>
              <a:rPr sz="700" b="1" i="0">
                <a:solidFill>
                  <a:srgbClr val="1A1A1A"/>
                </a:solidFill>
              </a:rPr>
              <a:t>Select store</a:t>
            </a:r>
          </a:p>
        </p:txBody>
      </p:sp>
      <p:sp>
        <p:nvSpPr>
          <p:cNvPr id="42" name="TextBox 41"/>
          <p:cNvSpPr txBox="1"/>
          <p:nvPr/>
        </p:nvSpPr>
        <p:spPr>
          <a:xfrm>
            <a:off x="2434376" y="2306951"/>
            <a:ext cx="107289" cy="107289"/>
          </a:xfrm>
          <a:prstGeom prst="rect">
            <a:avLst/>
          </a:prstGeom>
          <a:noFill/>
        </p:spPr>
        <p:txBody>
          <a:bodyPr wrap="square" lIns="0" tIns="0" rIns="0" bIns="0" anchor="ctr">
            <a:spAutoFit/>
          </a:bodyPr>
          <a:lstStyle/>
          <a:p>
            <a:pPr marL="0" indent="0" algn="ctr">
              <a:buNone/>
            </a:pPr>
            <a:r>
              <a:rPr sz="600" b="0" i="0">
                <a:solidFill>
                  <a:srgbClr val="888888"/>
                </a:solidFill>
              </a:rPr>
              <a:t>✕</a:t>
            </a:r>
          </a:p>
        </p:txBody>
      </p:sp>
      <p:sp>
        <p:nvSpPr>
          <p:cNvPr id="43" name="Rectangle 42"/>
          <p:cNvSpPr/>
          <p:nvPr/>
        </p:nvSpPr>
        <p:spPr>
          <a:xfrm>
            <a:off x="594360" y="2435699"/>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4" name="Rounded Rectangle 43"/>
          <p:cNvSpPr/>
          <p:nvPr/>
        </p:nvSpPr>
        <p:spPr>
          <a:xfrm>
            <a:off x="669462" y="2467886"/>
            <a:ext cx="1861474" cy="150205"/>
          </a:xfrm>
          <a:prstGeom prst="roundRect">
            <a:avLst>
              <a:gd name="adj" fmla="val 25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TextBox 44"/>
          <p:cNvSpPr txBox="1"/>
          <p:nvPr/>
        </p:nvSpPr>
        <p:spPr>
          <a:xfrm>
            <a:off x="744565" y="2467886"/>
            <a:ext cx="1609343" cy="150205"/>
          </a:xfrm>
          <a:prstGeom prst="rect">
            <a:avLst/>
          </a:prstGeom>
          <a:noFill/>
        </p:spPr>
        <p:txBody>
          <a:bodyPr wrap="square" lIns="0" tIns="0" rIns="0" bIns="0" anchor="ctr">
            <a:spAutoFit/>
          </a:bodyPr>
          <a:lstStyle/>
          <a:p>
            <a:pPr marL="0" indent="0" algn="l">
              <a:buNone/>
            </a:pPr>
            <a:r>
              <a:rPr sz="540" b="0" i="0">
                <a:solidFill>
                  <a:srgbClr val="AAAAAA"/>
                </a:solidFill>
              </a:rPr>
              <a:t>⌕   Search store or district</a:t>
            </a:r>
          </a:p>
        </p:txBody>
      </p:sp>
      <p:sp>
        <p:nvSpPr>
          <p:cNvPr id="46" name="Rounded Rectangle 45"/>
          <p:cNvSpPr/>
          <p:nvPr/>
        </p:nvSpPr>
        <p:spPr>
          <a:xfrm>
            <a:off x="669462" y="2671736"/>
            <a:ext cx="1861474" cy="311139"/>
          </a:xfrm>
          <a:prstGeom prst="roundRect">
            <a:avLst>
              <a:gd name="adj" fmla="val 12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TextBox 46"/>
          <p:cNvSpPr txBox="1"/>
          <p:nvPr/>
        </p:nvSpPr>
        <p:spPr>
          <a:xfrm>
            <a:off x="744565" y="2701911"/>
            <a:ext cx="1287475" cy="100584"/>
          </a:xfrm>
          <a:prstGeom prst="rect">
            <a:avLst/>
          </a:prstGeom>
          <a:noFill/>
        </p:spPr>
        <p:txBody>
          <a:bodyPr wrap="square" lIns="0" tIns="0" rIns="0" bIns="0" anchor="ctr">
            <a:spAutoFit/>
          </a:bodyPr>
          <a:lstStyle/>
          <a:p>
            <a:pPr marL="0" indent="0" algn="l">
              <a:buNone/>
            </a:pPr>
            <a:r>
              <a:rPr sz="600" b="1" i="0">
                <a:solidFill>
                  <a:srgbClr val="C8102E"/>
                </a:solidFill>
              </a:rPr>
              <a:t>LOTTE Mart Nam Sài Gòn</a:t>
            </a:r>
          </a:p>
        </p:txBody>
      </p:sp>
      <p:sp>
        <p:nvSpPr>
          <p:cNvPr id="48" name="TextBox 47"/>
          <p:cNvSpPr txBox="1"/>
          <p:nvPr/>
        </p:nvSpPr>
        <p:spPr>
          <a:xfrm>
            <a:off x="744565" y="2790760"/>
            <a:ext cx="1287475" cy="83820"/>
          </a:xfrm>
          <a:prstGeom prst="rect">
            <a:avLst/>
          </a:prstGeom>
          <a:noFill/>
        </p:spPr>
        <p:txBody>
          <a:bodyPr wrap="square" lIns="0" tIns="0" rIns="0" bIns="0" anchor="ctr">
            <a:spAutoFit/>
          </a:bodyPr>
          <a:lstStyle/>
          <a:p>
            <a:pPr marL="0" indent="0" algn="l">
              <a:buNone/>
            </a:pPr>
            <a:r>
              <a:rPr sz="500" b="0" i="0">
                <a:solidFill>
                  <a:srgbClr val="888888"/>
                </a:solidFill>
              </a:rPr>
              <a:t>Q.7 · 2.1 km</a:t>
            </a:r>
          </a:p>
        </p:txBody>
      </p:sp>
      <p:sp>
        <p:nvSpPr>
          <p:cNvPr id="49" name="Rounded Rectangle 48"/>
          <p:cNvSpPr/>
          <p:nvPr/>
        </p:nvSpPr>
        <p:spPr>
          <a:xfrm>
            <a:off x="744565" y="2875586"/>
            <a:ext cx="804671" cy="75102"/>
          </a:xfrm>
          <a:prstGeom prst="roundRect">
            <a:avLst>
              <a:gd name="adj" fmla="val 50000"/>
            </a:avLst>
          </a:prstGeom>
          <a:solidFill>
            <a:srgbClr val="E8F5EE"/>
          </a:solidFill>
          <a:ln w="635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TextBox 49"/>
          <p:cNvSpPr txBox="1"/>
          <p:nvPr/>
        </p:nvSpPr>
        <p:spPr>
          <a:xfrm>
            <a:off x="744565" y="2875586"/>
            <a:ext cx="804671" cy="75102"/>
          </a:xfrm>
          <a:prstGeom prst="rect">
            <a:avLst/>
          </a:prstGeom>
          <a:noFill/>
        </p:spPr>
        <p:txBody>
          <a:bodyPr wrap="square" lIns="0" tIns="0" rIns="0" bIns="0" anchor="ctr">
            <a:spAutoFit/>
          </a:bodyPr>
          <a:lstStyle/>
          <a:p>
            <a:pPr marL="0" indent="0" algn="ctr">
              <a:buNone/>
            </a:pPr>
            <a:r>
              <a:rPr sz="440" b="1" i="0">
                <a:solidFill>
                  <a:srgbClr val="1B7F4B"/>
                </a:solidFill>
              </a:rPr>
              <a:t>60-Minute + Standard</a:t>
            </a:r>
          </a:p>
        </p:txBody>
      </p:sp>
      <p:sp>
        <p:nvSpPr>
          <p:cNvPr id="51" name="Rounded Rectangle 50"/>
          <p:cNvSpPr/>
          <p:nvPr/>
        </p:nvSpPr>
        <p:spPr>
          <a:xfrm>
            <a:off x="2375367" y="2789754"/>
            <a:ext cx="80467" cy="80467"/>
          </a:xfrm>
          <a:prstGeom prst="roundRect">
            <a:avLst>
              <a:gd name="adj" fmla="val 5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2" name="Rounded Rectangle 51"/>
          <p:cNvSpPr/>
          <p:nvPr/>
        </p:nvSpPr>
        <p:spPr>
          <a:xfrm>
            <a:off x="669462" y="3025792"/>
            <a:ext cx="1861474" cy="311139"/>
          </a:xfrm>
          <a:prstGeom prst="roundRect">
            <a:avLst>
              <a:gd name="adj" fmla="val 12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TextBox 52"/>
          <p:cNvSpPr txBox="1"/>
          <p:nvPr/>
        </p:nvSpPr>
        <p:spPr>
          <a:xfrm>
            <a:off x="744565" y="3055966"/>
            <a:ext cx="1287475" cy="100584"/>
          </a:xfrm>
          <a:prstGeom prst="rect">
            <a:avLst/>
          </a:prstGeom>
          <a:noFill/>
        </p:spPr>
        <p:txBody>
          <a:bodyPr wrap="square" lIns="0" tIns="0" rIns="0" bIns="0" anchor="ctr">
            <a:spAutoFit/>
          </a:bodyPr>
          <a:lstStyle/>
          <a:p>
            <a:pPr marL="0" indent="0" algn="l">
              <a:buNone/>
            </a:pPr>
            <a:r>
              <a:rPr sz="600" b="1" i="0">
                <a:solidFill>
                  <a:srgbClr val="222222"/>
                </a:solidFill>
              </a:rPr>
              <a:t>LOTTE Mart Tân Bình</a:t>
            </a:r>
          </a:p>
        </p:txBody>
      </p:sp>
      <p:sp>
        <p:nvSpPr>
          <p:cNvPr id="54" name="TextBox 53"/>
          <p:cNvSpPr txBox="1"/>
          <p:nvPr/>
        </p:nvSpPr>
        <p:spPr>
          <a:xfrm>
            <a:off x="744565" y="3144816"/>
            <a:ext cx="1287475" cy="83820"/>
          </a:xfrm>
          <a:prstGeom prst="rect">
            <a:avLst/>
          </a:prstGeom>
          <a:noFill/>
        </p:spPr>
        <p:txBody>
          <a:bodyPr wrap="square" lIns="0" tIns="0" rIns="0" bIns="0" anchor="ctr">
            <a:spAutoFit/>
          </a:bodyPr>
          <a:lstStyle/>
          <a:p>
            <a:pPr marL="0" indent="0" algn="l">
              <a:buNone/>
            </a:pPr>
            <a:r>
              <a:rPr sz="500" b="0" i="0">
                <a:solidFill>
                  <a:srgbClr val="888888"/>
                </a:solidFill>
              </a:rPr>
              <a:t>Q. Tân Bình · 6.8 km</a:t>
            </a:r>
          </a:p>
        </p:txBody>
      </p:sp>
      <p:sp>
        <p:nvSpPr>
          <p:cNvPr id="55" name="Rounded Rectangle 54"/>
          <p:cNvSpPr/>
          <p:nvPr/>
        </p:nvSpPr>
        <p:spPr>
          <a:xfrm>
            <a:off x="744565" y="3229642"/>
            <a:ext cx="804671" cy="75102"/>
          </a:xfrm>
          <a:prstGeom prst="roundRect">
            <a:avLst>
              <a:gd name="adj" fmla="val 50000"/>
            </a:avLst>
          </a:prstGeom>
          <a:solidFill>
            <a:srgbClr val="EEF1F9"/>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6" name="TextBox 55"/>
          <p:cNvSpPr txBox="1"/>
          <p:nvPr/>
        </p:nvSpPr>
        <p:spPr>
          <a:xfrm>
            <a:off x="744565" y="3229642"/>
            <a:ext cx="804671" cy="75102"/>
          </a:xfrm>
          <a:prstGeom prst="rect">
            <a:avLst/>
          </a:prstGeom>
          <a:noFill/>
        </p:spPr>
        <p:txBody>
          <a:bodyPr wrap="square" lIns="0" tIns="0" rIns="0" bIns="0" anchor="ctr">
            <a:spAutoFit/>
          </a:bodyPr>
          <a:lstStyle/>
          <a:p>
            <a:pPr marL="0" indent="0" algn="ctr">
              <a:buNone/>
            </a:pPr>
            <a:r>
              <a:rPr sz="440" b="1" i="0">
                <a:solidFill>
                  <a:srgbClr val="3D5298"/>
                </a:solidFill>
              </a:rPr>
              <a:t>Standard only</a:t>
            </a:r>
          </a:p>
        </p:txBody>
      </p:sp>
      <p:sp>
        <p:nvSpPr>
          <p:cNvPr id="57" name="Rounded Rectangle 56"/>
          <p:cNvSpPr/>
          <p:nvPr/>
        </p:nvSpPr>
        <p:spPr>
          <a:xfrm>
            <a:off x="2375367" y="3143810"/>
            <a:ext cx="80467" cy="80467"/>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8" name="Rounded Rectangle 57"/>
          <p:cNvSpPr/>
          <p:nvPr/>
        </p:nvSpPr>
        <p:spPr>
          <a:xfrm>
            <a:off x="669462" y="3379847"/>
            <a:ext cx="1861474" cy="311139"/>
          </a:xfrm>
          <a:prstGeom prst="roundRect">
            <a:avLst>
              <a:gd name="adj" fmla="val 12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9" name="TextBox 58"/>
          <p:cNvSpPr txBox="1"/>
          <p:nvPr/>
        </p:nvSpPr>
        <p:spPr>
          <a:xfrm>
            <a:off x="744565" y="3410022"/>
            <a:ext cx="1287475" cy="100584"/>
          </a:xfrm>
          <a:prstGeom prst="rect">
            <a:avLst/>
          </a:prstGeom>
          <a:noFill/>
        </p:spPr>
        <p:txBody>
          <a:bodyPr wrap="square" lIns="0" tIns="0" rIns="0" bIns="0" anchor="ctr">
            <a:spAutoFit/>
          </a:bodyPr>
          <a:lstStyle/>
          <a:p>
            <a:pPr marL="0" indent="0" algn="l">
              <a:buNone/>
            </a:pPr>
            <a:r>
              <a:rPr sz="600" b="1" i="0">
                <a:solidFill>
                  <a:srgbClr val="222222"/>
                </a:solidFill>
              </a:rPr>
              <a:t>LOTTE Mart Gò Vấp</a:t>
            </a:r>
          </a:p>
        </p:txBody>
      </p:sp>
      <p:sp>
        <p:nvSpPr>
          <p:cNvPr id="60" name="TextBox 59"/>
          <p:cNvSpPr txBox="1"/>
          <p:nvPr/>
        </p:nvSpPr>
        <p:spPr>
          <a:xfrm>
            <a:off x="744565" y="3498872"/>
            <a:ext cx="1287475" cy="83820"/>
          </a:xfrm>
          <a:prstGeom prst="rect">
            <a:avLst/>
          </a:prstGeom>
          <a:noFill/>
        </p:spPr>
        <p:txBody>
          <a:bodyPr wrap="square" lIns="0" tIns="0" rIns="0" bIns="0" anchor="ctr">
            <a:spAutoFit/>
          </a:bodyPr>
          <a:lstStyle/>
          <a:p>
            <a:pPr marL="0" indent="0" algn="l">
              <a:buNone/>
            </a:pPr>
            <a:r>
              <a:rPr sz="500" b="0" i="0">
                <a:solidFill>
                  <a:srgbClr val="888888"/>
                </a:solidFill>
              </a:rPr>
              <a:t>Q. Gò Vấp · 9.4 km</a:t>
            </a:r>
          </a:p>
        </p:txBody>
      </p:sp>
      <p:sp>
        <p:nvSpPr>
          <p:cNvPr id="61" name="Rounded Rectangle 60"/>
          <p:cNvSpPr/>
          <p:nvPr/>
        </p:nvSpPr>
        <p:spPr>
          <a:xfrm>
            <a:off x="744565" y="3583697"/>
            <a:ext cx="804671" cy="75102"/>
          </a:xfrm>
          <a:prstGeom prst="roundRect">
            <a:avLst>
              <a:gd name="adj" fmla="val 50000"/>
            </a:avLst>
          </a:prstGeom>
          <a:solidFill>
            <a:srgbClr val="EEF1F9"/>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2" name="TextBox 61"/>
          <p:cNvSpPr txBox="1"/>
          <p:nvPr/>
        </p:nvSpPr>
        <p:spPr>
          <a:xfrm>
            <a:off x="744565" y="3583697"/>
            <a:ext cx="804671" cy="75102"/>
          </a:xfrm>
          <a:prstGeom prst="rect">
            <a:avLst/>
          </a:prstGeom>
          <a:noFill/>
        </p:spPr>
        <p:txBody>
          <a:bodyPr wrap="square" lIns="0" tIns="0" rIns="0" bIns="0" anchor="ctr">
            <a:spAutoFit/>
          </a:bodyPr>
          <a:lstStyle/>
          <a:p>
            <a:pPr marL="0" indent="0" algn="ctr">
              <a:buNone/>
            </a:pPr>
            <a:r>
              <a:rPr sz="440" b="1" i="0">
                <a:solidFill>
                  <a:srgbClr val="3D5298"/>
                </a:solidFill>
              </a:rPr>
              <a:t>Standard only</a:t>
            </a:r>
          </a:p>
        </p:txBody>
      </p:sp>
      <p:sp>
        <p:nvSpPr>
          <p:cNvPr id="63" name="Rounded Rectangle 62"/>
          <p:cNvSpPr/>
          <p:nvPr/>
        </p:nvSpPr>
        <p:spPr>
          <a:xfrm>
            <a:off x="2375367" y="3497866"/>
            <a:ext cx="80467" cy="80467"/>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4" name="Rounded Rectangle 63"/>
          <p:cNvSpPr/>
          <p:nvPr/>
        </p:nvSpPr>
        <p:spPr>
          <a:xfrm>
            <a:off x="669462" y="3733903"/>
            <a:ext cx="1861474" cy="311139"/>
          </a:xfrm>
          <a:prstGeom prst="roundRect">
            <a:avLst>
              <a:gd name="adj" fmla="val 12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5" name="TextBox 64"/>
          <p:cNvSpPr txBox="1"/>
          <p:nvPr/>
        </p:nvSpPr>
        <p:spPr>
          <a:xfrm>
            <a:off x="744565" y="3764078"/>
            <a:ext cx="1287475" cy="100584"/>
          </a:xfrm>
          <a:prstGeom prst="rect">
            <a:avLst/>
          </a:prstGeom>
          <a:noFill/>
        </p:spPr>
        <p:txBody>
          <a:bodyPr wrap="square" lIns="0" tIns="0" rIns="0" bIns="0" anchor="ctr">
            <a:spAutoFit/>
          </a:bodyPr>
          <a:lstStyle/>
          <a:p>
            <a:pPr marL="0" indent="0" algn="l">
              <a:buNone/>
            </a:pPr>
            <a:r>
              <a:rPr sz="600" b="1" i="0">
                <a:solidFill>
                  <a:srgbClr val="222222"/>
                </a:solidFill>
              </a:rPr>
              <a:t>LOTTE Mart Long Biên</a:t>
            </a:r>
          </a:p>
        </p:txBody>
      </p:sp>
      <p:sp>
        <p:nvSpPr>
          <p:cNvPr id="66" name="TextBox 65"/>
          <p:cNvSpPr txBox="1"/>
          <p:nvPr/>
        </p:nvSpPr>
        <p:spPr>
          <a:xfrm>
            <a:off x="744565" y="3852927"/>
            <a:ext cx="1287475" cy="83820"/>
          </a:xfrm>
          <a:prstGeom prst="rect">
            <a:avLst/>
          </a:prstGeom>
          <a:noFill/>
        </p:spPr>
        <p:txBody>
          <a:bodyPr wrap="square" lIns="0" tIns="0" rIns="0" bIns="0" anchor="ctr">
            <a:spAutoFit/>
          </a:bodyPr>
          <a:lstStyle/>
          <a:p>
            <a:pPr marL="0" indent="0" algn="l">
              <a:buNone/>
            </a:pPr>
            <a:r>
              <a:rPr sz="500" b="0" i="0">
                <a:solidFill>
                  <a:srgbClr val="888888"/>
                </a:solidFill>
              </a:rPr>
              <a:t>Hà Nội · 1,150 km</a:t>
            </a:r>
          </a:p>
        </p:txBody>
      </p:sp>
      <p:sp>
        <p:nvSpPr>
          <p:cNvPr id="67" name="Rounded Rectangle 66"/>
          <p:cNvSpPr/>
          <p:nvPr/>
        </p:nvSpPr>
        <p:spPr>
          <a:xfrm>
            <a:off x="744565" y="3937753"/>
            <a:ext cx="804671" cy="75102"/>
          </a:xfrm>
          <a:prstGeom prst="roundRect">
            <a:avLst>
              <a:gd name="adj" fmla="val 50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8" name="TextBox 67"/>
          <p:cNvSpPr txBox="1"/>
          <p:nvPr/>
        </p:nvSpPr>
        <p:spPr>
          <a:xfrm>
            <a:off x="744565" y="3937753"/>
            <a:ext cx="804671" cy="75102"/>
          </a:xfrm>
          <a:prstGeom prst="rect">
            <a:avLst/>
          </a:prstGeom>
          <a:noFill/>
        </p:spPr>
        <p:txBody>
          <a:bodyPr wrap="square" lIns="0" tIns="0" rIns="0" bIns="0" anchor="ctr">
            <a:spAutoFit/>
          </a:bodyPr>
          <a:lstStyle/>
          <a:p>
            <a:pPr marL="0" indent="0" algn="ctr">
              <a:buNone/>
            </a:pPr>
            <a:r>
              <a:rPr sz="440" b="1" i="0">
                <a:solidFill>
                  <a:srgbClr val="C8102E"/>
                </a:solidFill>
              </a:rPr>
              <a:t>Does not serve this address</a:t>
            </a:r>
          </a:p>
        </p:txBody>
      </p:sp>
      <p:sp>
        <p:nvSpPr>
          <p:cNvPr id="69" name="Rounded Rectangle 68"/>
          <p:cNvSpPr/>
          <p:nvPr/>
        </p:nvSpPr>
        <p:spPr>
          <a:xfrm>
            <a:off x="2375367" y="3851921"/>
            <a:ext cx="80467" cy="80467"/>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0" name="Oval 69"/>
          <p:cNvSpPr/>
          <p:nvPr/>
        </p:nvSpPr>
        <p:spPr>
          <a:xfrm>
            <a:off x="379781" y="2306951"/>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1" name="TextBox 70"/>
          <p:cNvSpPr txBox="1"/>
          <p:nvPr/>
        </p:nvSpPr>
        <p:spPr>
          <a:xfrm>
            <a:off x="379781" y="2306951"/>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72" name="Oval 71"/>
          <p:cNvSpPr/>
          <p:nvPr/>
        </p:nvSpPr>
        <p:spPr>
          <a:xfrm>
            <a:off x="379781" y="2489343"/>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3" name="TextBox 72"/>
          <p:cNvSpPr txBox="1"/>
          <p:nvPr/>
        </p:nvSpPr>
        <p:spPr>
          <a:xfrm>
            <a:off x="379781" y="2489343"/>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74" name="Oval 73"/>
          <p:cNvSpPr/>
          <p:nvPr/>
        </p:nvSpPr>
        <p:spPr>
          <a:xfrm>
            <a:off x="379781" y="2746839"/>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5" name="TextBox 74"/>
          <p:cNvSpPr txBox="1"/>
          <p:nvPr/>
        </p:nvSpPr>
        <p:spPr>
          <a:xfrm>
            <a:off x="379781" y="2746839"/>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76" name="Oval 75"/>
          <p:cNvSpPr/>
          <p:nvPr/>
        </p:nvSpPr>
        <p:spPr>
          <a:xfrm>
            <a:off x="379781" y="3809006"/>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7" name="TextBox 76"/>
          <p:cNvSpPr txBox="1"/>
          <p:nvPr/>
        </p:nvSpPr>
        <p:spPr>
          <a:xfrm>
            <a:off x="379781" y="3809006"/>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78" name="Rounded Rectangle 77"/>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Rectangle 78"/>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0" name="TextBox 79"/>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Step 2  ·  Store changed, service falls back</a:t>
            </a:r>
          </a:p>
        </p:txBody>
      </p:sp>
      <p:sp>
        <p:nvSpPr>
          <p:cNvPr id="81" name="TextBox 80"/>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FFFFFF"/>
                </a:solidFill>
              </a:rPr>
              <a:t>9:41</a:t>
            </a:r>
          </a:p>
        </p:txBody>
      </p:sp>
      <p:sp>
        <p:nvSpPr>
          <p:cNvPr id="82" name="TextBox 81"/>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FFFFFF"/>
                </a:solidFill>
              </a:rPr>
              <a:t>▮▮▮  ⌁  ▰</a:t>
            </a:r>
          </a:p>
        </p:txBody>
      </p:sp>
      <p:sp>
        <p:nvSpPr>
          <p:cNvPr id="83" name="Rectangle 82"/>
          <p:cNvSpPr/>
          <p:nvPr/>
        </p:nvSpPr>
        <p:spPr>
          <a:xfrm>
            <a:off x="3383280" y="998018"/>
            <a:ext cx="2011679" cy="396971"/>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4" name="TextBox 83"/>
          <p:cNvSpPr txBox="1"/>
          <p:nvPr/>
        </p:nvSpPr>
        <p:spPr>
          <a:xfrm>
            <a:off x="3458382" y="1022829"/>
            <a:ext cx="75102" cy="100584"/>
          </a:xfrm>
          <a:prstGeom prst="rect">
            <a:avLst/>
          </a:prstGeom>
          <a:noFill/>
        </p:spPr>
        <p:txBody>
          <a:bodyPr wrap="square" lIns="0" tIns="0" rIns="0" bIns="0" anchor="ctr">
            <a:spAutoFit/>
          </a:bodyPr>
          <a:lstStyle/>
          <a:p>
            <a:pPr marL="0" indent="0" algn="l">
              <a:buNone/>
            </a:pPr>
            <a:r>
              <a:rPr sz="600" b="0" i="0">
                <a:solidFill>
                  <a:srgbClr val="FFD9DE"/>
                </a:solidFill>
              </a:rPr>
              <a:t>▣</a:t>
            </a:r>
          </a:p>
        </p:txBody>
      </p:sp>
      <p:sp>
        <p:nvSpPr>
          <p:cNvPr id="85" name="TextBox 84"/>
          <p:cNvSpPr txBox="1"/>
          <p:nvPr/>
        </p:nvSpPr>
        <p:spPr>
          <a:xfrm>
            <a:off x="3554943" y="1019476"/>
            <a:ext cx="1126540" cy="107289"/>
          </a:xfrm>
          <a:prstGeom prst="rect">
            <a:avLst/>
          </a:prstGeom>
          <a:noFill/>
        </p:spPr>
        <p:txBody>
          <a:bodyPr wrap="square" lIns="0" tIns="0" rIns="0" bIns="0" anchor="ctr">
            <a:spAutoFit/>
          </a:bodyPr>
          <a:lstStyle/>
          <a:p>
            <a:pPr marL="0" indent="0" algn="l">
              <a:buNone/>
            </a:pPr>
            <a:r>
              <a:rPr sz="640" b="1" i="0">
                <a:solidFill>
                  <a:srgbClr val="FFFFFF"/>
                </a:solidFill>
              </a:rPr>
              <a:t>LOTTE Mart Tân Bình</a:t>
            </a:r>
          </a:p>
        </p:txBody>
      </p:sp>
      <p:sp>
        <p:nvSpPr>
          <p:cNvPr id="86" name="TextBox 85"/>
          <p:cNvSpPr txBox="1"/>
          <p:nvPr/>
        </p:nvSpPr>
        <p:spPr>
          <a:xfrm>
            <a:off x="4681484" y="1027020"/>
            <a:ext cx="64373" cy="92202"/>
          </a:xfrm>
          <a:prstGeom prst="rect">
            <a:avLst/>
          </a:prstGeom>
          <a:noFill/>
        </p:spPr>
        <p:txBody>
          <a:bodyPr wrap="square" lIns="0" tIns="0" rIns="0" bIns="0" anchor="ctr">
            <a:spAutoFit/>
          </a:bodyPr>
          <a:lstStyle/>
          <a:p>
            <a:pPr marL="0" indent="0" algn="l">
              <a:buNone/>
            </a:pPr>
            <a:r>
              <a:rPr sz="550" b="0" i="0">
                <a:solidFill>
                  <a:srgbClr val="FFFFFF"/>
                </a:solidFill>
              </a:rPr>
              <a:t>▾</a:t>
            </a:r>
          </a:p>
        </p:txBody>
      </p:sp>
      <p:sp>
        <p:nvSpPr>
          <p:cNvPr id="87" name="TextBox 86"/>
          <p:cNvSpPr txBox="1"/>
          <p:nvPr/>
        </p:nvSpPr>
        <p:spPr>
          <a:xfrm>
            <a:off x="4992623" y="1014447"/>
            <a:ext cx="118018" cy="117348"/>
          </a:xfrm>
          <a:prstGeom prst="rect">
            <a:avLst/>
          </a:prstGeom>
          <a:noFill/>
        </p:spPr>
        <p:txBody>
          <a:bodyPr wrap="square" lIns="0" tIns="0" rIns="0" bIns="0" anchor="ctr">
            <a:spAutoFit/>
          </a:bodyPr>
          <a:lstStyle/>
          <a:p>
            <a:pPr marL="0" indent="0" algn="ctr">
              <a:buNone/>
            </a:pPr>
            <a:r>
              <a:rPr sz="700" b="0" i="0">
                <a:solidFill>
                  <a:srgbClr val="FFFFFF"/>
                </a:solidFill>
              </a:rPr>
              <a:t>⌕</a:t>
            </a:r>
          </a:p>
        </p:txBody>
      </p:sp>
      <p:sp>
        <p:nvSpPr>
          <p:cNvPr id="88" name="TextBox 87"/>
          <p:cNvSpPr txBox="1"/>
          <p:nvPr/>
        </p:nvSpPr>
        <p:spPr>
          <a:xfrm>
            <a:off x="5153558" y="1022829"/>
            <a:ext cx="118018" cy="100584"/>
          </a:xfrm>
          <a:prstGeom prst="rect">
            <a:avLst/>
          </a:prstGeom>
          <a:noFill/>
        </p:spPr>
        <p:txBody>
          <a:bodyPr wrap="square" lIns="0" tIns="0" rIns="0" bIns="0" anchor="ctr">
            <a:spAutoFit/>
          </a:bodyPr>
          <a:lstStyle/>
          <a:p>
            <a:pPr marL="0" indent="0" algn="ctr">
              <a:buNone/>
            </a:pPr>
            <a:r>
              <a:rPr sz="600" b="0" i="0">
                <a:solidFill>
                  <a:srgbClr val="FFFFFF"/>
                </a:solidFill>
              </a:rPr>
              <a:t>♡</a:t>
            </a:r>
          </a:p>
        </p:txBody>
      </p:sp>
      <p:sp>
        <p:nvSpPr>
          <p:cNvPr id="89" name="TextBox 88"/>
          <p:cNvSpPr txBox="1"/>
          <p:nvPr/>
        </p:nvSpPr>
        <p:spPr>
          <a:xfrm>
            <a:off x="3458382" y="1140513"/>
            <a:ext cx="75102" cy="90525"/>
          </a:xfrm>
          <a:prstGeom prst="rect">
            <a:avLst/>
          </a:prstGeom>
          <a:noFill/>
        </p:spPr>
        <p:txBody>
          <a:bodyPr wrap="square" lIns="0" tIns="0" rIns="0" bIns="0" anchor="ctr">
            <a:spAutoFit/>
          </a:bodyPr>
          <a:lstStyle/>
          <a:p>
            <a:pPr marL="0" indent="0" algn="l">
              <a:buNone/>
            </a:pPr>
            <a:r>
              <a:rPr sz="540" b="0" i="0">
                <a:solidFill>
                  <a:srgbClr val="FFD9DE"/>
                </a:solidFill>
              </a:rPr>
              <a:t>◎</a:t>
            </a:r>
          </a:p>
        </p:txBody>
      </p:sp>
      <p:sp>
        <p:nvSpPr>
          <p:cNvPr id="90" name="TextBox 89"/>
          <p:cNvSpPr txBox="1"/>
          <p:nvPr/>
        </p:nvSpPr>
        <p:spPr>
          <a:xfrm>
            <a:off x="3554943" y="1138836"/>
            <a:ext cx="1341120" cy="93878"/>
          </a:xfrm>
          <a:prstGeom prst="rect">
            <a:avLst/>
          </a:prstGeom>
          <a:noFill/>
        </p:spPr>
        <p:txBody>
          <a:bodyPr wrap="square" lIns="0" tIns="0" rIns="0" bIns="0" anchor="ctr">
            <a:spAutoFit/>
          </a:bodyPr>
          <a:lstStyle/>
          <a:p>
            <a:pPr marL="0" indent="0" algn="l">
              <a:buNone/>
            </a:pPr>
            <a:r>
              <a:rPr sz="560" b="1" i="0">
                <a:solidFill>
                  <a:srgbClr val="FFFFFF"/>
                </a:solidFill>
              </a:rPr>
              <a:t>123 Nguyễn Thị Thập, Q.7</a:t>
            </a:r>
          </a:p>
        </p:txBody>
      </p:sp>
      <p:sp>
        <p:nvSpPr>
          <p:cNvPr id="91" name="TextBox 90"/>
          <p:cNvSpPr txBox="1"/>
          <p:nvPr/>
        </p:nvSpPr>
        <p:spPr>
          <a:xfrm>
            <a:off x="4906792" y="1143865"/>
            <a:ext cx="64373" cy="83820"/>
          </a:xfrm>
          <a:prstGeom prst="rect">
            <a:avLst/>
          </a:prstGeom>
          <a:noFill/>
        </p:spPr>
        <p:txBody>
          <a:bodyPr wrap="square" lIns="0" tIns="0" rIns="0" bIns="0" anchor="ctr">
            <a:spAutoFit/>
          </a:bodyPr>
          <a:lstStyle/>
          <a:p>
            <a:pPr marL="0" indent="0" algn="l">
              <a:buNone/>
            </a:pPr>
            <a:r>
              <a:rPr sz="500" b="0" i="0">
                <a:solidFill>
                  <a:srgbClr val="FFD9DE"/>
                </a:solidFill>
              </a:rPr>
              <a:t>▾</a:t>
            </a:r>
          </a:p>
        </p:txBody>
      </p:sp>
      <p:sp>
        <p:nvSpPr>
          <p:cNvPr id="92" name="TextBox 91"/>
          <p:cNvSpPr txBox="1"/>
          <p:nvPr/>
        </p:nvSpPr>
        <p:spPr>
          <a:xfrm>
            <a:off x="3458382" y="1238749"/>
            <a:ext cx="75102" cy="87172"/>
          </a:xfrm>
          <a:prstGeom prst="rect">
            <a:avLst/>
          </a:prstGeom>
          <a:noFill/>
        </p:spPr>
        <p:txBody>
          <a:bodyPr wrap="square" lIns="0" tIns="0" rIns="0" bIns="0" anchor="ctr">
            <a:spAutoFit/>
          </a:bodyPr>
          <a:lstStyle/>
          <a:p>
            <a:pPr marL="0" indent="0" algn="l">
              <a:buNone/>
            </a:pPr>
            <a:r>
              <a:rPr sz="520" b="0" i="0">
                <a:solidFill>
                  <a:srgbClr val="FFD9DE"/>
                </a:solidFill>
              </a:rPr>
              <a:t>◷</a:t>
            </a:r>
          </a:p>
        </p:txBody>
      </p:sp>
      <p:sp>
        <p:nvSpPr>
          <p:cNvPr id="93" name="TextBox 92"/>
          <p:cNvSpPr txBox="1"/>
          <p:nvPr/>
        </p:nvSpPr>
        <p:spPr>
          <a:xfrm>
            <a:off x="3554943" y="1237073"/>
            <a:ext cx="1609343" cy="90525"/>
          </a:xfrm>
          <a:prstGeom prst="rect">
            <a:avLst/>
          </a:prstGeom>
          <a:noFill/>
        </p:spPr>
        <p:txBody>
          <a:bodyPr wrap="square" lIns="0" tIns="0" rIns="0" bIns="0" anchor="ctr">
            <a:spAutoFit/>
          </a:bodyPr>
          <a:lstStyle/>
          <a:p>
            <a:pPr marL="0" indent="0" algn="l">
              <a:buNone/>
            </a:pPr>
            <a:r>
              <a:rPr sz="540" b="0" i="0">
                <a:solidFill>
                  <a:srgbClr val="FFE4E8"/>
                </a:solidFill>
              </a:rPr>
              <a:t>Standard  ·  today 15:00–18:00</a:t>
            </a:r>
          </a:p>
        </p:txBody>
      </p:sp>
      <p:sp>
        <p:nvSpPr>
          <p:cNvPr id="94" name="Rounded Rectangle 93"/>
          <p:cNvSpPr/>
          <p:nvPr/>
        </p:nvSpPr>
        <p:spPr>
          <a:xfrm>
            <a:off x="3490569" y="1448634"/>
            <a:ext cx="1797100" cy="160934"/>
          </a:xfrm>
          <a:prstGeom prst="roundRect">
            <a:avLst>
              <a:gd name="adj" fmla="val 2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5" name="TextBox 94"/>
          <p:cNvSpPr txBox="1"/>
          <p:nvPr/>
        </p:nvSpPr>
        <p:spPr>
          <a:xfrm>
            <a:off x="3554943" y="1448634"/>
            <a:ext cx="1668353" cy="160934"/>
          </a:xfrm>
          <a:prstGeom prst="rect">
            <a:avLst/>
          </a:prstGeom>
          <a:noFill/>
        </p:spPr>
        <p:txBody>
          <a:bodyPr wrap="square" lIns="0" tIns="0" rIns="0" bIns="0" anchor="ctr">
            <a:spAutoFit/>
          </a:bodyPr>
          <a:lstStyle/>
          <a:p>
            <a:pPr marL="0" indent="0" algn="l">
              <a:buNone/>
            </a:pPr>
            <a:r>
              <a:rPr sz="540" b="0" i="0">
                <a:solidFill>
                  <a:srgbClr val="FFFFFF"/>
                </a:solidFill>
              </a:rPr>
              <a:t>Store changed. 60-Minute is not available for this address at Tân Bình.</a:t>
            </a:r>
          </a:p>
        </p:txBody>
      </p:sp>
      <p:sp>
        <p:nvSpPr>
          <p:cNvPr id="96" name="Rectangle 95"/>
          <p:cNvSpPr/>
          <p:nvPr/>
        </p:nvSpPr>
        <p:spPr>
          <a:xfrm>
            <a:off x="3383280" y="1673943"/>
            <a:ext cx="2011679" cy="16093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7" name="Rounded Rectangle 96"/>
          <p:cNvSpPr/>
          <p:nvPr/>
        </p:nvSpPr>
        <p:spPr>
          <a:xfrm>
            <a:off x="3458382" y="1695400"/>
            <a:ext cx="1861474" cy="128747"/>
          </a:xfrm>
          <a:prstGeom prst="roundRect">
            <a:avLst>
              <a:gd name="adj" fmla="val 30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8" name="TextBox 97"/>
          <p:cNvSpPr txBox="1"/>
          <p:nvPr/>
        </p:nvSpPr>
        <p:spPr>
          <a:xfrm>
            <a:off x="3533485" y="1695400"/>
            <a:ext cx="1609343" cy="128747"/>
          </a:xfrm>
          <a:prstGeom prst="rect">
            <a:avLst/>
          </a:prstGeom>
          <a:noFill/>
        </p:spPr>
        <p:txBody>
          <a:bodyPr wrap="square" lIns="0" tIns="0" rIns="0" bIns="0" anchor="ctr">
            <a:spAutoFit/>
          </a:bodyPr>
          <a:lstStyle/>
          <a:p>
            <a:pPr marL="0" indent="0" algn="l">
              <a:buNone/>
            </a:pPr>
            <a:r>
              <a:rPr sz="540" b="0" i="0">
                <a:solidFill>
                  <a:srgbClr val="AAAAAA"/>
                </a:solidFill>
              </a:rPr>
              <a:t>⌕   Search 30,000+ products</a:t>
            </a:r>
          </a:p>
        </p:txBody>
      </p:sp>
      <p:sp>
        <p:nvSpPr>
          <p:cNvPr id="99" name="Rounded Rectangle 98"/>
          <p:cNvSpPr/>
          <p:nvPr/>
        </p:nvSpPr>
        <p:spPr>
          <a:xfrm>
            <a:off x="3458382" y="1856335"/>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0" name="TextBox 99"/>
          <p:cNvSpPr txBox="1"/>
          <p:nvPr/>
        </p:nvSpPr>
        <p:spPr>
          <a:xfrm>
            <a:off x="3458382" y="1877793"/>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01" name="TextBox 100"/>
          <p:cNvSpPr txBox="1"/>
          <p:nvPr/>
        </p:nvSpPr>
        <p:spPr>
          <a:xfrm>
            <a:off x="3458382" y="1994805"/>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Fresh</a:t>
            </a:r>
          </a:p>
        </p:txBody>
      </p:sp>
      <p:sp>
        <p:nvSpPr>
          <p:cNvPr id="102" name="Rounded Rectangle 101"/>
          <p:cNvSpPr/>
          <p:nvPr/>
        </p:nvSpPr>
        <p:spPr>
          <a:xfrm>
            <a:off x="3833896" y="1856335"/>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3" name="TextBox 102"/>
          <p:cNvSpPr txBox="1"/>
          <p:nvPr/>
        </p:nvSpPr>
        <p:spPr>
          <a:xfrm>
            <a:off x="3833896" y="1877793"/>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04" name="TextBox 103"/>
          <p:cNvSpPr txBox="1"/>
          <p:nvPr/>
        </p:nvSpPr>
        <p:spPr>
          <a:xfrm>
            <a:off x="3833896" y="1994805"/>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Frozen</a:t>
            </a:r>
          </a:p>
        </p:txBody>
      </p:sp>
      <p:sp>
        <p:nvSpPr>
          <p:cNvPr id="105" name="Rounded Rectangle 104"/>
          <p:cNvSpPr/>
          <p:nvPr/>
        </p:nvSpPr>
        <p:spPr>
          <a:xfrm>
            <a:off x="4209409" y="1856335"/>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6" name="TextBox 105"/>
          <p:cNvSpPr txBox="1"/>
          <p:nvPr/>
        </p:nvSpPr>
        <p:spPr>
          <a:xfrm>
            <a:off x="4209409" y="1877793"/>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07" name="TextBox 106"/>
          <p:cNvSpPr txBox="1"/>
          <p:nvPr/>
        </p:nvSpPr>
        <p:spPr>
          <a:xfrm>
            <a:off x="4209409" y="1994805"/>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Drinks</a:t>
            </a:r>
          </a:p>
        </p:txBody>
      </p:sp>
      <p:sp>
        <p:nvSpPr>
          <p:cNvPr id="108" name="Rounded Rectangle 107"/>
          <p:cNvSpPr/>
          <p:nvPr/>
        </p:nvSpPr>
        <p:spPr>
          <a:xfrm>
            <a:off x="4584923" y="1856335"/>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9" name="TextBox 108"/>
          <p:cNvSpPr txBox="1"/>
          <p:nvPr/>
        </p:nvSpPr>
        <p:spPr>
          <a:xfrm>
            <a:off x="4584923" y="1877793"/>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10" name="TextBox 109"/>
          <p:cNvSpPr txBox="1"/>
          <p:nvPr/>
        </p:nvSpPr>
        <p:spPr>
          <a:xfrm>
            <a:off x="4584923" y="1994805"/>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Home</a:t>
            </a:r>
          </a:p>
        </p:txBody>
      </p:sp>
      <p:sp>
        <p:nvSpPr>
          <p:cNvPr id="111" name="Rounded Rectangle 110"/>
          <p:cNvSpPr/>
          <p:nvPr/>
        </p:nvSpPr>
        <p:spPr>
          <a:xfrm>
            <a:off x="4960437" y="1856335"/>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2" name="TextBox 111"/>
          <p:cNvSpPr txBox="1"/>
          <p:nvPr/>
        </p:nvSpPr>
        <p:spPr>
          <a:xfrm>
            <a:off x="4960437" y="1877793"/>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13" name="TextBox 112"/>
          <p:cNvSpPr txBox="1"/>
          <p:nvPr/>
        </p:nvSpPr>
        <p:spPr>
          <a:xfrm>
            <a:off x="4960437" y="1994805"/>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Baby</a:t>
            </a:r>
          </a:p>
        </p:txBody>
      </p:sp>
      <p:sp>
        <p:nvSpPr>
          <p:cNvPr id="114" name="Rounded Rectangle 113"/>
          <p:cNvSpPr/>
          <p:nvPr/>
        </p:nvSpPr>
        <p:spPr>
          <a:xfrm>
            <a:off x="3458382" y="2156746"/>
            <a:ext cx="1861474" cy="321868"/>
          </a:xfrm>
          <a:prstGeom prst="roundRect">
            <a:avLst>
              <a:gd name="adj" fmla="val 10000"/>
            </a:avLst>
          </a:prstGeom>
          <a:solidFill>
            <a:srgbClr val="EEF1F9"/>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5" name="TextBox 114"/>
          <p:cNvSpPr txBox="1"/>
          <p:nvPr/>
        </p:nvSpPr>
        <p:spPr>
          <a:xfrm>
            <a:off x="3458382" y="2156746"/>
            <a:ext cx="1861474" cy="321868"/>
          </a:xfrm>
          <a:prstGeom prst="rect">
            <a:avLst/>
          </a:prstGeom>
          <a:noFill/>
        </p:spPr>
        <p:txBody>
          <a:bodyPr wrap="square" lIns="0" tIns="0" rIns="0" bIns="0" anchor="ctr">
            <a:spAutoFit/>
          </a:bodyPr>
          <a:lstStyle/>
          <a:p>
            <a:pPr marL="0" indent="0" algn="ctr">
              <a:buNone/>
            </a:pPr>
            <a:r>
              <a:rPr sz="600" b="0" i="0">
                <a:solidFill>
                  <a:srgbClr val="AAAAAA"/>
                </a:solidFill>
              </a:rPr>
              <a:t>PROMOTION BANNER</a:t>
            </a:r>
          </a:p>
        </p:txBody>
      </p:sp>
      <p:sp>
        <p:nvSpPr>
          <p:cNvPr id="116" name="TextBox 115"/>
          <p:cNvSpPr txBox="1"/>
          <p:nvPr/>
        </p:nvSpPr>
        <p:spPr>
          <a:xfrm>
            <a:off x="3458382" y="2519854"/>
            <a:ext cx="1072896" cy="110642"/>
          </a:xfrm>
          <a:prstGeom prst="rect">
            <a:avLst/>
          </a:prstGeom>
          <a:noFill/>
        </p:spPr>
        <p:txBody>
          <a:bodyPr wrap="square" lIns="0" tIns="0" rIns="0" bIns="0" anchor="ctr">
            <a:spAutoFit/>
          </a:bodyPr>
          <a:lstStyle/>
          <a:p>
            <a:pPr marL="0" indent="0" algn="l">
              <a:buNone/>
            </a:pPr>
            <a:r>
              <a:rPr sz="660" b="1" i="0">
                <a:solidFill>
                  <a:srgbClr val="3A3A3A"/>
                </a:solidFill>
              </a:rPr>
              <a:t>Best sellers at this store</a:t>
            </a:r>
          </a:p>
        </p:txBody>
      </p:sp>
      <p:sp>
        <p:nvSpPr>
          <p:cNvPr id="117" name="TextBox 116"/>
          <p:cNvSpPr txBox="1"/>
          <p:nvPr/>
        </p:nvSpPr>
        <p:spPr>
          <a:xfrm>
            <a:off x="4992623" y="2532259"/>
            <a:ext cx="327233" cy="85831"/>
          </a:xfrm>
          <a:prstGeom prst="rect">
            <a:avLst/>
          </a:prstGeom>
          <a:noFill/>
        </p:spPr>
        <p:txBody>
          <a:bodyPr wrap="square" lIns="0" tIns="0" rIns="0" bIns="0" anchor="ctr">
            <a:spAutoFit/>
          </a:bodyPr>
          <a:lstStyle/>
          <a:p>
            <a:pPr marL="0" indent="0" algn="r">
              <a:buNone/>
            </a:pPr>
            <a:r>
              <a:rPr sz="500" b="0" i="0">
                <a:solidFill>
                  <a:srgbClr val="C8102E"/>
                </a:solidFill>
              </a:rPr>
              <a:t>See all ›</a:t>
            </a:r>
          </a:p>
        </p:txBody>
      </p:sp>
      <p:sp>
        <p:nvSpPr>
          <p:cNvPr id="118" name="Rounded Rectangle 117"/>
          <p:cNvSpPr/>
          <p:nvPr/>
        </p:nvSpPr>
        <p:spPr>
          <a:xfrm>
            <a:off x="3458382" y="2650278"/>
            <a:ext cx="590092" cy="826129"/>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9" name="Rounded Rectangle 118"/>
          <p:cNvSpPr/>
          <p:nvPr/>
        </p:nvSpPr>
        <p:spPr>
          <a:xfrm>
            <a:off x="3501298" y="2693194"/>
            <a:ext cx="504261" cy="35405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0" name="TextBox 119"/>
          <p:cNvSpPr txBox="1"/>
          <p:nvPr/>
        </p:nvSpPr>
        <p:spPr>
          <a:xfrm>
            <a:off x="3501298" y="2693194"/>
            <a:ext cx="504261" cy="354055"/>
          </a:xfrm>
          <a:prstGeom prst="rect">
            <a:avLst/>
          </a:prstGeom>
          <a:noFill/>
        </p:spPr>
        <p:txBody>
          <a:bodyPr wrap="square" lIns="0" tIns="0" rIns="0" bIns="0" anchor="ctr">
            <a:spAutoFit/>
          </a:bodyPr>
          <a:lstStyle/>
          <a:p>
            <a:pPr marL="0" indent="0" algn="ctr">
              <a:buNone/>
            </a:pPr>
            <a:r>
              <a:rPr sz="500" b="0" i="0">
                <a:solidFill>
                  <a:srgbClr val="AAAAAA"/>
                </a:solidFill>
              </a:rPr>
              <a:t>IMG</a:t>
            </a:r>
          </a:p>
        </p:txBody>
      </p:sp>
      <p:sp>
        <p:nvSpPr>
          <p:cNvPr id="121" name="Rounded Rectangle 120"/>
          <p:cNvSpPr/>
          <p:nvPr/>
        </p:nvSpPr>
        <p:spPr>
          <a:xfrm>
            <a:off x="3866083" y="2907773"/>
            <a:ext cx="118018" cy="118018"/>
          </a:xfrm>
          <a:prstGeom prst="roundRect">
            <a:avLst>
              <a:gd name="adj" fmla="val 35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2" name="TextBox 121"/>
          <p:cNvSpPr txBox="1"/>
          <p:nvPr/>
        </p:nvSpPr>
        <p:spPr>
          <a:xfrm>
            <a:off x="3866083" y="2907773"/>
            <a:ext cx="118018" cy="118018"/>
          </a:xfrm>
          <a:prstGeom prst="rect">
            <a:avLst/>
          </a:prstGeom>
          <a:noFill/>
        </p:spPr>
        <p:txBody>
          <a:bodyPr wrap="square" lIns="0" tIns="0" rIns="0" bIns="0" anchor="ctr">
            <a:spAutoFit/>
          </a:bodyPr>
          <a:lstStyle/>
          <a:p>
            <a:pPr marL="0" indent="0" algn="ctr">
              <a:buNone/>
            </a:pPr>
            <a:r>
              <a:rPr sz="650" b="1" i="0">
                <a:solidFill>
                  <a:srgbClr val="FFFFFF"/>
                </a:solidFill>
              </a:rPr>
              <a:t>+</a:t>
            </a:r>
          </a:p>
        </p:txBody>
      </p:sp>
      <p:sp>
        <p:nvSpPr>
          <p:cNvPr id="123" name="TextBox 122"/>
          <p:cNvSpPr txBox="1"/>
          <p:nvPr/>
        </p:nvSpPr>
        <p:spPr>
          <a:xfrm>
            <a:off x="3501298" y="3079436"/>
            <a:ext cx="504261" cy="118018"/>
          </a:xfrm>
          <a:prstGeom prst="rect">
            <a:avLst/>
          </a:prstGeom>
          <a:noFill/>
        </p:spPr>
        <p:txBody>
          <a:bodyPr wrap="square" lIns="0" tIns="0" rIns="0" bIns="0" anchor="t">
            <a:spAutoFit/>
          </a:bodyPr>
          <a:lstStyle/>
          <a:p>
            <a:pPr marL="0" indent="0" algn="l">
              <a:buNone/>
            </a:pPr>
            <a:r>
              <a:rPr sz="459" b="0" i="0">
                <a:solidFill>
                  <a:srgbClr val="222222"/>
                </a:solidFill>
              </a:rPr>
              <a:t>Product name line</a:t>
            </a:r>
          </a:p>
        </p:txBody>
      </p:sp>
      <p:sp>
        <p:nvSpPr>
          <p:cNvPr id="124" name="TextBox 123"/>
          <p:cNvSpPr txBox="1"/>
          <p:nvPr/>
        </p:nvSpPr>
        <p:spPr>
          <a:xfrm>
            <a:off x="3501298" y="3229642"/>
            <a:ext cx="504261" cy="80467"/>
          </a:xfrm>
          <a:prstGeom prst="rect">
            <a:avLst/>
          </a:prstGeom>
          <a:noFill/>
        </p:spPr>
        <p:txBody>
          <a:bodyPr wrap="square" lIns="0" tIns="0" rIns="0" bIns="0" anchor="ctr">
            <a:spAutoFit/>
          </a:bodyPr>
          <a:lstStyle/>
          <a:p>
            <a:pPr marL="0" indent="0" algn="l">
              <a:buNone/>
            </a:pPr>
            <a:r>
              <a:rPr sz="480" b="1" i="0">
                <a:solidFill>
                  <a:srgbClr val="222222"/>
                </a:solidFill>
              </a:rPr>
              <a:t>Guest  59,000 ₫</a:t>
            </a:r>
          </a:p>
        </p:txBody>
      </p:sp>
      <p:sp>
        <p:nvSpPr>
          <p:cNvPr id="125" name="TextBox 124"/>
          <p:cNvSpPr txBox="1"/>
          <p:nvPr/>
        </p:nvSpPr>
        <p:spPr>
          <a:xfrm>
            <a:off x="3501298" y="3326202"/>
            <a:ext cx="504261" cy="69738"/>
          </a:xfrm>
          <a:prstGeom prst="rect">
            <a:avLst/>
          </a:prstGeom>
          <a:noFill/>
        </p:spPr>
        <p:txBody>
          <a:bodyPr wrap="square" lIns="0" tIns="0" rIns="0" bIns="0" anchor="ctr">
            <a:spAutoFit/>
          </a:bodyPr>
          <a:lstStyle/>
          <a:p>
            <a:pPr marL="0" indent="0" algn="l">
              <a:buNone/>
            </a:pPr>
            <a:r>
              <a:rPr sz="400" b="0" i="0">
                <a:solidFill>
                  <a:srgbClr val="C8102E"/>
                </a:solidFill>
              </a:rPr>
              <a:t>Member  49,000 ₫</a:t>
            </a:r>
          </a:p>
        </p:txBody>
      </p:sp>
      <p:sp>
        <p:nvSpPr>
          <p:cNvPr id="126" name="Rounded Rectangle 125"/>
          <p:cNvSpPr/>
          <p:nvPr/>
        </p:nvSpPr>
        <p:spPr>
          <a:xfrm>
            <a:off x="4091391" y="2650278"/>
            <a:ext cx="590092" cy="826129"/>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7" name="Rounded Rectangle 126"/>
          <p:cNvSpPr/>
          <p:nvPr/>
        </p:nvSpPr>
        <p:spPr>
          <a:xfrm>
            <a:off x="4134307" y="2693194"/>
            <a:ext cx="504261" cy="35405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8" name="TextBox 127"/>
          <p:cNvSpPr txBox="1"/>
          <p:nvPr/>
        </p:nvSpPr>
        <p:spPr>
          <a:xfrm>
            <a:off x="4134307" y="2693194"/>
            <a:ext cx="504261" cy="354055"/>
          </a:xfrm>
          <a:prstGeom prst="rect">
            <a:avLst/>
          </a:prstGeom>
          <a:noFill/>
        </p:spPr>
        <p:txBody>
          <a:bodyPr wrap="square" lIns="0" tIns="0" rIns="0" bIns="0" anchor="ctr">
            <a:spAutoFit/>
          </a:bodyPr>
          <a:lstStyle/>
          <a:p>
            <a:pPr marL="0" indent="0" algn="ctr">
              <a:buNone/>
            </a:pPr>
            <a:r>
              <a:rPr sz="500" b="0" i="0">
                <a:solidFill>
                  <a:srgbClr val="AAAAAA"/>
                </a:solidFill>
              </a:rPr>
              <a:t>IMG</a:t>
            </a:r>
          </a:p>
        </p:txBody>
      </p:sp>
      <p:sp>
        <p:nvSpPr>
          <p:cNvPr id="129" name="Rounded Rectangle 128"/>
          <p:cNvSpPr/>
          <p:nvPr/>
        </p:nvSpPr>
        <p:spPr>
          <a:xfrm>
            <a:off x="4499091" y="2907773"/>
            <a:ext cx="118018" cy="118018"/>
          </a:xfrm>
          <a:prstGeom prst="roundRect">
            <a:avLst>
              <a:gd name="adj" fmla="val 35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0" name="TextBox 129"/>
          <p:cNvSpPr txBox="1"/>
          <p:nvPr/>
        </p:nvSpPr>
        <p:spPr>
          <a:xfrm>
            <a:off x="4499091" y="2907773"/>
            <a:ext cx="118018" cy="118018"/>
          </a:xfrm>
          <a:prstGeom prst="rect">
            <a:avLst/>
          </a:prstGeom>
          <a:noFill/>
        </p:spPr>
        <p:txBody>
          <a:bodyPr wrap="square" lIns="0" tIns="0" rIns="0" bIns="0" anchor="ctr">
            <a:spAutoFit/>
          </a:bodyPr>
          <a:lstStyle/>
          <a:p>
            <a:pPr marL="0" indent="0" algn="ctr">
              <a:buNone/>
            </a:pPr>
            <a:r>
              <a:rPr sz="650" b="1" i="0">
                <a:solidFill>
                  <a:srgbClr val="FFFFFF"/>
                </a:solidFill>
              </a:rPr>
              <a:t>+</a:t>
            </a:r>
          </a:p>
        </p:txBody>
      </p:sp>
      <p:sp>
        <p:nvSpPr>
          <p:cNvPr id="131" name="TextBox 130"/>
          <p:cNvSpPr txBox="1"/>
          <p:nvPr/>
        </p:nvSpPr>
        <p:spPr>
          <a:xfrm>
            <a:off x="4134307" y="3079436"/>
            <a:ext cx="504261" cy="118018"/>
          </a:xfrm>
          <a:prstGeom prst="rect">
            <a:avLst/>
          </a:prstGeom>
          <a:noFill/>
        </p:spPr>
        <p:txBody>
          <a:bodyPr wrap="square" lIns="0" tIns="0" rIns="0" bIns="0" anchor="t">
            <a:spAutoFit/>
          </a:bodyPr>
          <a:lstStyle/>
          <a:p>
            <a:pPr marL="0" indent="0" algn="l">
              <a:buNone/>
            </a:pPr>
            <a:r>
              <a:rPr sz="459" b="0" i="0">
                <a:solidFill>
                  <a:srgbClr val="222222"/>
                </a:solidFill>
              </a:rPr>
              <a:t>Product name line</a:t>
            </a:r>
          </a:p>
        </p:txBody>
      </p:sp>
      <p:sp>
        <p:nvSpPr>
          <p:cNvPr id="132" name="TextBox 131"/>
          <p:cNvSpPr txBox="1"/>
          <p:nvPr/>
        </p:nvSpPr>
        <p:spPr>
          <a:xfrm>
            <a:off x="4134307" y="3229642"/>
            <a:ext cx="504261" cy="80467"/>
          </a:xfrm>
          <a:prstGeom prst="rect">
            <a:avLst/>
          </a:prstGeom>
          <a:noFill/>
        </p:spPr>
        <p:txBody>
          <a:bodyPr wrap="square" lIns="0" tIns="0" rIns="0" bIns="0" anchor="ctr">
            <a:spAutoFit/>
          </a:bodyPr>
          <a:lstStyle/>
          <a:p>
            <a:pPr marL="0" indent="0" algn="l">
              <a:buNone/>
            </a:pPr>
            <a:r>
              <a:rPr sz="480" b="1" i="0">
                <a:solidFill>
                  <a:srgbClr val="222222"/>
                </a:solidFill>
              </a:rPr>
              <a:t>Guest  59,000 ₫</a:t>
            </a:r>
          </a:p>
        </p:txBody>
      </p:sp>
      <p:sp>
        <p:nvSpPr>
          <p:cNvPr id="133" name="TextBox 132"/>
          <p:cNvSpPr txBox="1"/>
          <p:nvPr/>
        </p:nvSpPr>
        <p:spPr>
          <a:xfrm>
            <a:off x="4134307" y="3326202"/>
            <a:ext cx="504261" cy="69738"/>
          </a:xfrm>
          <a:prstGeom prst="rect">
            <a:avLst/>
          </a:prstGeom>
          <a:noFill/>
        </p:spPr>
        <p:txBody>
          <a:bodyPr wrap="square" lIns="0" tIns="0" rIns="0" bIns="0" anchor="ctr">
            <a:spAutoFit/>
          </a:bodyPr>
          <a:lstStyle/>
          <a:p>
            <a:pPr marL="0" indent="0" algn="l">
              <a:buNone/>
            </a:pPr>
            <a:r>
              <a:rPr sz="400" b="0" i="0">
                <a:solidFill>
                  <a:srgbClr val="C8102E"/>
                </a:solidFill>
              </a:rPr>
              <a:t>Member  49,000 ₫</a:t>
            </a:r>
          </a:p>
        </p:txBody>
      </p:sp>
      <p:sp>
        <p:nvSpPr>
          <p:cNvPr id="134" name="Rounded Rectangle 133"/>
          <p:cNvSpPr/>
          <p:nvPr/>
        </p:nvSpPr>
        <p:spPr>
          <a:xfrm>
            <a:off x="4724400" y="2650278"/>
            <a:ext cx="590092" cy="826129"/>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5" name="Rounded Rectangle 134"/>
          <p:cNvSpPr/>
          <p:nvPr/>
        </p:nvSpPr>
        <p:spPr>
          <a:xfrm>
            <a:off x="4767315" y="2693194"/>
            <a:ext cx="504261" cy="35405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6" name="TextBox 135"/>
          <p:cNvSpPr txBox="1"/>
          <p:nvPr/>
        </p:nvSpPr>
        <p:spPr>
          <a:xfrm>
            <a:off x="4767315" y="2693194"/>
            <a:ext cx="504261" cy="354055"/>
          </a:xfrm>
          <a:prstGeom prst="rect">
            <a:avLst/>
          </a:prstGeom>
          <a:noFill/>
        </p:spPr>
        <p:txBody>
          <a:bodyPr wrap="square" lIns="0" tIns="0" rIns="0" bIns="0" anchor="ctr">
            <a:spAutoFit/>
          </a:bodyPr>
          <a:lstStyle/>
          <a:p>
            <a:pPr marL="0" indent="0" algn="ctr">
              <a:buNone/>
            </a:pPr>
            <a:r>
              <a:rPr sz="500" b="0" i="0">
                <a:solidFill>
                  <a:srgbClr val="AAAAAA"/>
                </a:solidFill>
              </a:rPr>
              <a:t>IMG</a:t>
            </a:r>
          </a:p>
        </p:txBody>
      </p:sp>
      <p:sp>
        <p:nvSpPr>
          <p:cNvPr id="137" name="Rounded Rectangle 136"/>
          <p:cNvSpPr/>
          <p:nvPr/>
        </p:nvSpPr>
        <p:spPr>
          <a:xfrm>
            <a:off x="5132100" y="2907773"/>
            <a:ext cx="118018" cy="118018"/>
          </a:xfrm>
          <a:prstGeom prst="roundRect">
            <a:avLst>
              <a:gd name="adj" fmla="val 35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8" name="TextBox 137"/>
          <p:cNvSpPr txBox="1"/>
          <p:nvPr/>
        </p:nvSpPr>
        <p:spPr>
          <a:xfrm>
            <a:off x="5132100" y="2907773"/>
            <a:ext cx="118018" cy="118018"/>
          </a:xfrm>
          <a:prstGeom prst="rect">
            <a:avLst/>
          </a:prstGeom>
          <a:noFill/>
        </p:spPr>
        <p:txBody>
          <a:bodyPr wrap="square" lIns="0" tIns="0" rIns="0" bIns="0" anchor="ctr">
            <a:spAutoFit/>
          </a:bodyPr>
          <a:lstStyle/>
          <a:p>
            <a:pPr marL="0" indent="0" algn="ctr">
              <a:buNone/>
            </a:pPr>
            <a:r>
              <a:rPr sz="650" b="1" i="0">
                <a:solidFill>
                  <a:srgbClr val="FFFFFF"/>
                </a:solidFill>
              </a:rPr>
              <a:t>+</a:t>
            </a:r>
          </a:p>
        </p:txBody>
      </p:sp>
      <p:sp>
        <p:nvSpPr>
          <p:cNvPr id="139" name="TextBox 138"/>
          <p:cNvSpPr txBox="1"/>
          <p:nvPr/>
        </p:nvSpPr>
        <p:spPr>
          <a:xfrm>
            <a:off x="4767315" y="3079436"/>
            <a:ext cx="504261" cy="118018"/>
          </a:xfrm>
          <a:prstGeom prst="rect">
            <a:avLst/>
          </a:prstGeom>
          <a:noFill/>
        </p:spPr>
        <p:txBody>
          <a:bodyPr wrap="square" lIns="0" tIns="0" rIns="0" bIns="0" anchor="t">
            <a:spAutoFit/>
          </a:bodyPr>
          <a:lstStyle/>
          <a:p>
            <a:pPr marL="0" indent="0" algn="l">
              <a:buNone/>
            </a:pPr>
            <a:r>
              <a:rPr sz="459" b="0" i="0">
                <a:solidFill>
                  <a:srgbClr val="222222"/>
                </a:solidFill>
              </a:rPr>
              <a:t>Product name line</a:t>
            </a:r>
          </a:p>
        </p:txBody>
      </p:sp>
      <p:sp>
        <p:nvSpPr>
          <p:cNvPr id="140" name="TextBox 139"/>
          <p:cNvSpPr txBox="1"/>
          <p:nvPr/>
        </p:nvSpPr>
        <p:spPr>
          <a:xfrm>
            <a:off x="4767315" y="3229642"/>
            <a:ext cx="504261" cy="80467"/>
          </a:xfrm>
          <a:prstGeom prst="rect">
            <a:avLst/>
          </a:prstGeom>
          <a:noFill/>
        </p:spPr>
        <p:txBody>
          <a:bodyPr wrap="square" lIns="0" tIns="0" rIns="0" bIns="0" anchor="ctr">
            <a:spAutoFit/>
          </a:bodyPr>
          <a:lstStyle/>
          <a:p>
            <a:pPr marL="0" indent="0" algn="l">
              <a:buNone/>
            </a:pPr>
            <a:r>
              <a:rPr sz="480" b="1" i="0">
                <a:solidFill>
                  <a:srgbClr val="222222"/>
                </a:solidFill>
              </a:rPr>
              <a:t>Guest  59,000 ₫</a:t>
            </a:r>
          </a:p>
        </p:txBody>
      </p:sp>
      <p:sp>
        <p:nvSpPr>
          <p:cNvPr id="141" name="TextBox 140"/>
          <p:cNvSpPr txBox="1"/>
          <p:nvPr/>
        </p:nvSpPr>
        <p:spPr>
          <a:xfrm>
            <a:off x="4767315" y="3326202"/>
            <a:ext cx="504261" cy="69738"/>
          </a:xfrm>
          <a:prstGeom prst="rect">
            <a:avLst/>
          </a:prstGeom>
          <a:noFill/>
        </p:spPr>
        <p:txBody>
          <a:bodyPr wrap="square" lIns="0" tIns="0" rIns="0" bIns="0" anchor="ctr">
            <a:spAutoFit/>
          </a:bodyPr>
          <a:lstStyle/>
          <a:p>
            <a:pPr marL="0" indent="0" algn="l">
              <a:buNone/>
            </a:pPr>
            <a:r>
              <a:rPr sz="400" b="0" i="0">
                <a:solidFill>
                  <a:srgbClr val="C8102E"/>
                </a:solidFill>
              </a:rPr>
              <a:t>Member  49,000 ₫</a:t>
            </a:r>
          </a:p>
        </p:txBody>
      </p:sp>
      <p:sp>
        <p:nvSpPr>
          <p:cNvPr id="142" name="Rectangle 141"/>
          <p:cNvSpPr/>
          <p:nvPr/>
        </p:nvSpPr>
        <p:spPr>
          <a:xfrm>
            <a:off x="3383280" y="4667322"/>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3" name="TextBox 142"/>
          <p:cNvSpPr txBox="1"/>
          <p:nvPr/>
        </p:nvSpPr>
        <p:spPr>
          <a:xfrm>
            <a:off x="3383280" y="4665310"/>
            <a:ext cx="502919" cy="100584"/>
          </a:xfrm>
          <a:prstGeom prst="rect">
            <a:avLst/>
          </a:prstGeom>
          <a:noFill/>
        </p:spPr>
        <p:txBody>
          <a:bodyPr wrap="square" lIns="0" tIns="0" rIns="0" bIns="0" anchor="ctr">
            <a:spAutoFit/>
          </a:bodyPr>
          <a:lstStyle/>
          <a:p>
            <a:pPr marL="0" indent="0" algn="ctr">
              <a:buNone/>
            </a:pPr>
            <a:r>
              <a:rPr sz="600" b="0" i="0">
                <a:solidFill>
                  <a:srgbClr val="C8102E"/>
                </a:solidFill>
              </a:rPr>
              <a:t>▣</a:t>
            </a:r>
          </a:p>
        </p:txBody>
      </p:sp>
      <p:sp>
        <p:nvSpPr>
          <p:cNvPr id="144" name="TextBox 143"/>
          <p:cNvSpPr txBox="1"/>
          <p:nvPr/>
        </p:nvSpPr>
        <p:spPr>
          <a:xfrm>
            <a:off x="3383280" y="4745107"/>
            <a:ext cx="502919" cy="80467"/>
          </a:xfrm>
          <a:prstGeom prst="rect">
            <a:avLst/>
          </a:prstGeom>
          <a:noFill/>
        </p:spPr>
        <p:txBody>
          <a:bodyPr wrap="square" lIns="0" tIns="0" rIns="0" bIns="0" anchor="ctr">
            <a:spAutoFit/>
          </a:bodyPr>
          <a:lstStyle/>
          <a:p>
            <a:pPr marL="0" indent="0" algn="ctr">
              <a:buNone/>
            </a:pPr>
            <a:r>
              <a:rPr sz="480" b="1" i="0">
                <a:solidFill>
                  <a:srgbClr val="C8102E"/>
                </a:solidFill>
              </a:rPr>
              <a:t>Home</a:t>
            </a:r>
          </a:p>
        </p:txBody>
      </p:sp>
      <p:sp>
        <p:nvSpPr>
          <p:cNvPr id="145" name="TextBox 144"/>
          <p:cNvSpPr txBox="1"/>
          <p:nvPr/>
        </p:nvSpPr>
        <p:spPr>
          <a:xfrm>
            <a:off x="3886199" y="4665310"/>
            <a:ext cx="502919" cy="100584"/>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46" name="TextBox 145"/>
          <p:cNvSpPr txBox="1"/>
          <p:nvPr/>
        </p:nvSpPr>
        <p:spPr>
          <a:xfrm>
            <a:off x="3886199" y="4745107"/>
            <a:ext cx="502919" cy="80467"/>
          </a:xfrm>
          <a:prstGeom prst="rect">
            <a:avLst/>
          </a:prstGeom>
          <a:noFill/>
        </p:spPr>
        <p:txBody>
          <a:bodyPr wrap="square" lIns="0" tIns="0" rIns="0" bIns="0" anchor="ctr">
            <a:spAutoFit/>
          </a:bodyPr>
          <a:lstStyle/>
          <a:p>
            <a:pPr marL="0" indent="0" algn="ctr">
              <a:buNone/>
            </a:pPr>
            <a:r>
              <a:rPr sz="480" b="0" i="0">
                <a:solidFill>
                  <a:srgbClr val="888888"/>
                </a:solidFill>
              </a:rPr>
              <a:t>Category</a:t>
            </a:r>
          </a:p>
        </p:txBody>
      </p:sp>
      <p:sp>
        <p:nvSpPr>
          <p:cNvPr id="147" name="TextBox 146"/>
          <p:cNvSpPr txBox="1"/>
          <p:nvPr/>
        </p:nvSpPr>
        <p:spPr>
          <a:xfrm>
            <a:off x="4389119" y="4665310"/>
            <a:ext cx="502919" cy="100584"/>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48" name="TextBox 147"/>
          <p:cNvSpPr txBox="1"/>
          <p:nvPr/>
        </p:nvSpPr>
        <p:spPr>
          <a:xfrm>
            <a:off x="4389119" y="4745107"/>
            <a:ext cx="502919" cy="80467"/>
          </a:xfrm>
          <a:prstGeom prst="rect">
            <a:avLst/>
          </a:prstGeom>
          <a:noFill/>
        </p:spPr>
        <p:txBody>
          <a:bodyPr wrap="square" lIns="0" tIns="0" rIns="0" bIns="0" anchor="ctr">
            <a:spAutoFit/>
          </a:bodyPr>
          <a:lstStyle/>
          <a:p>
            <a:pPr marL="0" indent="0" algn="ctr">
              <a:buNone/>
            </a:pPr>
            <a:r>
              <a:rPr sz="480" b="0" i="0">
                <a:solidFill>
                  <a:srgbClr val="888888"/>
                </a:solidFill>
              </a:rPr>
              <a:t>Cart</a:t>
            </a:r>
          </a:p>
        </p:txBody>
      </p:sp>
      <p:sp>
        <p:nvSpPr>
          <p:cNvPr id="149" name="TextBox 148"/>
          <p:cNvSpPr txBox="1"/>
          <p:nvPr/>
        </p:nvSpPr>
        <p:spPr>
          <a:xfrm>
            <a:off x="4892039" y="4665310"/>
            <a:ext cx="502919" cy="100584"/>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50" name="TextBox 149"/>
          <p:cNvSpPr txBox="1"/>
          <p:nvPr/>
        </p:nvSpPr>
        <p:spPr>
          <a:xfrm>
            <a:off x="4892039" y="4745107"/>
            <a:ext cx="502919" cy="80467"/>
          </a:xfrm>
          <a:prstGeom prst="rect">
            <a:avLst/>
          </a:prstGeom>
          <a:noFill/>
        </p:spPr>
        <p:txBody>
          <a:bodyPr wrap="square" lIns="0" tIns="0" rIns="0" bIns="0" anchor="ctr">
            <a:spAutoFit/>
          </a:bodyPr>
          <a:lstStyle/>
          <a:p>
            <a:pPr marL="0" indent="0" algn="ctr">
              <a:buNone/>
            </a:pPr>
            <a:r>
              <a:rPr sz="480" b="0" i="0">
                <a:solidFill>
                  <a:srgbClr val="888888"/>
                </a:solidFill>
              </a:rPr>
              <a:t>My</a:t>
            </a:r>
          </a:p>
        </p:txBody>
      </p:sp>
      <p:sp>
        <p:nvSpPr>
          <p:cNvPr id="151" name="Oval 150"/>
          <p:cNvSpPr/>
          <p:nvPr/>
        </p:nvSpPr>
        <p:spPr>
          <a:xfrm>
            <a:off x="3168701" y="1030205"/>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2" name="TextBox 151"/>
          <p:cNvSpPr txBox="1"/>
          <p:nvPr/>
        </p:nvSpPr>
        <p:spPr>
          <a:xfrm>
            <a:off x="3168701" y="1030205"/>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153" name="Oval 152"/>
          <p:cNvSpPr/>
          <p:nvPr/>
        </p:nvSpPr>
        <p:spPr>
          <a:xfrm>
            <a:off x="3168701" y="1244784"/>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4" name="TextBox 153"/>
          <p:cNvSpPr txBox="1"/>
          <p:nvPr/>
        </p:nvSpPr>
        <p:spPr>
          <a:xfrm>
            <a:off x="3168701" y="1244784"/>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sp>
        <p:nvSpPr>
          <p:cNvPr id="155" name="Oval 154"/>
          <p:cNvSpPr/>
          <p:nvPr/>
        </p:nvSpPr>
        <p:spPr>
          <a:xfrm>
            <a:off x="3168701" y="1448634"/>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6" name="TextBox 155"/>
          <p:cNvSpPr txBox="1"/>
          <p:nvPr/>
        </p:nvSpPr>
        <p:spPr>
          <a:xfrm>
            <a:off x="3168701" y="1448634"/>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graphicFrame>
        <p:nvGraphicFramePr>
          <p:cNvPr id="157" name="Table 156"/>
          <p:cNvGraphicFramePr>
            <a:graphicFrameLocks noGrp="1"/>
          </p:cNvGraphicFramePr>
          <p:nvPr/>
        </p:nvGraphicFramePr>
        <p:xfrm>
          <a:off x="7196328" y="886968"/>
          <a:ext cx="4718304" cy="336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Store sheet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Opened from the store name in the header. On the Homepage the list is unfiltered — every store is offered, including stores that do not serve the current address. Inside the Cart the same sheet is pre-filtered (SCR-CRT-06).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Store search</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Filters by store name or district.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Service badge per store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States which services the current address would get at that store, resolved from the zone rules (BRL-10 … BRL-12). The customer sees the trade-off before selecting.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Store that cannot serve the address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Still selectable — browsing and Pickup remain valid at any store. Only Delivery to that address becomes unavailable, and the estimate switches to the not-served state (SCR-HOM-05 state 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Change applied immediately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No confirmation on the Homepage (HP-08, BRL-08). Catalogue, prices, stock and promotions re-render for the new store.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7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Automatic service fallback</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When the address moves into a different service zone under the new store — for example losing 60-Minute and keeping only Standard — the service falls back automatically (BRL-08).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420000">
                <a:tc>
                  <a:txBody>
                    <a:bodyPr/>
                    <a:lstStyle/>
                    <a:p>
                      <a:pPr marL="0" indent="0" algn="ctr">
                        <a:buNone/>
                      </a:pPr>
                      <a:r>
                        <a:rPr sz="70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Fallback notification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customer is told which service was lost or gained. This is required: a silent downgrade from 60-Minute to Standard would break the delivery expectation the customer already formed.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158" name="TextBox 157"/>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Open — OQ-01: the address-selection rule when the active address is no longer valid at the new store. Contrast with SCR-CRT-06: the same action inside the Cart requires an explicit confirmation, because a composed order is at risk (BR-10, BRL-24).</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Homepage (HP)</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HP-04</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SCR-HOM-05</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Homepage — Delivery Estimate, Four States</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45</a:t>
            </a:r>
          </a:p>
        </p:txBody>
      </p:sp>
      <p:sp>
        <p:nvSpPr>
          <p:cNvPr id="22" name="Rounded Rectangle 21"/>
          <p:cNvSpPr/>
          <p:nvPr/>
        </p:nvSpPr>
        <p:spPr>
          <a:xfrm>
            <a:off x="383683" y="852203"/>
            <a:ext cx="1792955" cy="2233086"/>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411480" y="880000"/>
            <a:ext cx="1737360" cy="2177491"/>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383683" y="3103820"/>
            <a:ext cx="1792955" cy="120456"/>
          </a:xfrm>
          <a:prstGeom prst="rect">
            <a:avLst/>
          </a:prstGeom>
          <a:noFill/>
        </p:spPr>
        <p:txBody>
          <a:bodyPr wrap="square" lIns="0" tIns="0" rIns="0" bIns="0" anchor="t">
            <a:spAutoFit/>
          </a:bodyPr>
          <a:lstStyle/>
          <a:p>
            <a:pPr marL="0" indent="0" algn="ctr">
              <a:buNone/>
            </a:pPr>
            <a:r>
              <a:rPr sz="750" b="1" i="0">
                <a:solidFill>
                  <a:srgbClr val="1E2F6E"/>
                </a:solidFill>
              </a:rPr>
              <a:t>A  ·  60-Minute zone  (3–5 km)</a:t>
            </a:r>
          </a:p>
        </p:txBody>
      </p:sp>
      <p:sp>
        <p:nvSpPr>
          <p:cNvPr id="25" name="TextBox 24"/>
          <p:cNvSpPr txBox="1"/>
          <p:nvPr/>
        </p:nvSpPr>
        <p:spPr>
          <a:xfrm>
            <a:off x="476341" y="875596"/>
            <a:ext cx="277977" cy="92202"/>
          </a:xfrm>
          <a:prstGeom prst="rect">
            <a:avLst/>
          </a:prstGeom>
          <a:noFill/>
        </p:spPr>
        <p:txBody>
          <a:bodyPr wrap="square" lIns="0" tIns="0" rIns="0" bIns="0" anchor="ctr">
            <a:spAutoFit/>
          </a:bodyPr>
          <a:lstStyle/>
          <a:p>
            <a:pPr marL="0" indent="0" algn="l">
              <a:buNone/>
            </a:pPr>
            <a:r>
              <a:rPr sz="550" b="1" i="0">
                <a:solidFill>
                  <a:srgbClr val="FFFFFF"/>
                </a:solidFill>
              </a:rPr>
              <a:t>9:41</a:t>
            </a:r>
          </a:p>
        </p:txBody>
      </p:sp>
      <p:sp>
        <p:nvSpPr>
          <p:cNvPr id="26" name="TextBox 25"/>
          <p:cNvSpPr txBox="1"/>
          <p:nvPr/>
        </p:nvSpPr>
        <p:spPr>
          <a:xfrm>
            <a:off x="1806000" y="879787"/>
            <a:ext cx="277977" cy="83820"/>
          </a:xfrm>
          <a:prstGeom prst="rect">
            <a:avLst/>
          </a:prstGeom>
          <a:noFill/>
        </p:spPr>
        <p:txBody>
          <a:bodyPr wrap="square" lIns="0" tIns="0" rIns="0" bIns="0" anchor="ctr">
            <a:spAutoFit/>
          </a:bodyPr>
          <a:lstStyle/>
          <a:p>
            <a:pPr marL="0" indent="0" algn="r">
              <a:buNone/>
            </a:pPr>
            <a:r>
              <a:rPr sz="500" b="0" i="0">
                <a:solidFill>
                  <a:srgbClr val="FFFFFF"/>
                </a:solidFill>
              </a:rPr>
              <a:t>▮▮▮  ⌁  ▰</a:t>
            </a:r>
          </a:p>
        </p:txBody>
      </p:sp>
      <p:sp>
        <p:nvSpPr>
          <p:cNvPr id="27" name="Rectangle 26"/>
          <p:cNvSpPr/>
          <p:nvPr/>
        </p:nvSpPr>
        <p:spPr>
          <a:xfrm>
            <a:off x="411480" y="981925"/>
            <a:ext cx="1737360" cy="342839"/>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476341" y="996494"/>
            <a:ext cx="64861" cy="100584"/>
          </a:xfrm>
          <a:prstGeom prst="rect">
            <a:avLst/>
          </a:prstGeom>
          <a:noFill/>
        </p:spPr>
        <p:txBody>
          <a:bodyPr wrap="square" lIns="0" tIns="0" rIns="0" bIns="0" anchor="ctr">
            <a:spAutoFit/>
          </a:bodyPr>
          <a:lstStyle/>
          <a:p>
            <a:pPr marL="0" indent="0" algn="l">
              <a:buNone/>
            </a:pPr>
            <a:r>
              <a:rPr sz="600" b="0" i="0">
                <a:solidFill>
                  <a:srgbClr val="FFD9DE"/>
                </a:solidFill>
              </a:rPr>
              <a:t>▣</a:t>
            </a:r>
          </a:p>
        </p:txBody>
      </p:sp>
      <p:sp>
        <p:nvSpPr>
          <p:cNvPr id="29" name="TextBox 28"/>
          <p:cNvSpPr txBox="1"/>
          <p:nvPr/>
        </p:nvSpPr>
        <p:spPr>
          <a:xfrm>
            <a:off x="559734" y="993141"/>
            <a:ext cx="972921" cy="107289"/>
          </a:xfrm>
          <a:prstGeom prst="rect">
            <a:avLst/>
          </a:prstGeom>
          <a:noFill/>
        </p:spPr>
        <p:txBody>
          <a:bodyPr wrap="square" lIns="0" tIns="0" rIns="0" bIns="0" anchor="ctr">
            <a:spAutoFit/>
          </a:bodyPr>
          <a:lstStyle/>
          <a:p>
            <a:pPr marL="0" indent="0" algn="l">
              <a:buNone/>
            </a:pPr>
            <a:r>
              <a:rPr sz="640" b="1" i="0">
                <a:solidFill>
                  <a:srgbClr val="FFFFFF"/>
                </a:solidFill>
              </a:rPr>
              <a:t>LOTTE Mart Nam Sài Gòn</a:t>
            </a:r>
          </a:p>
        </p:txBody>
      </p:sp>
      <p:sp>
        <p:nvSpPr>
          <p:cNvPr id="30" name="TextBox 29"/>
          <p:cNvSpPr txBox="1"/>
          <p:nvPr/>
        </p:nvSpPr>
        <p:spPr>
          <a:xfrm>
            <a:off x="1532656" y="1000685"/>
            <a:ext cx="55595" cy="92202"/>
          </a:xfrm>
          <a:prstGeom prst="rect">
            <a:avLst/>
          </a:prstGeom>
          <a:noFill/>
        </p:spPr>
        <p:txBody>
          <a:bodyPr wrap="square" lIns="0" tIns="0" rIns="0" bIns="0" anchor="ctr">
            <a:spAutoFit/>
          </a:bodyPr>
          <a:lstStyle/>
          <a:p>
            <a:pPr marL="0" indent="0" algn="l">
              <a:buNone/>
            </a:pPr>
            <a:r>
              <a:rPr sz="550" b="0" i="0">
                <a:solidFill>
                  <a:srgbClr val="FFFFFF"/>
                </a:solidFill>
              </a:rPr>
              <a:t>▾</a:t>
            </a:r>
          </a:p>
        </p:txBody>
      </p:sp>
      <p:sp>
        <p:nvSpPr>
          <p:cNvPr id="31" name="TextBox 30"/>
          <p:cNvSpPr txBox="1"/>
          <p:nvPr/>
        </p:nvSpPr>
        <p:spPr>
          <a:xfrm>
            <a:off x="1801368" y="988112"/>
            <a:ext cx="101925" cy="117348"/>
          </a:xfrm>
          <a:prstGeom prst="rect">
            <a:avLst/>
          </a:prstGeom>
          <a:noFill/>
        </p:spPr>
        <p:txBody>
          <a:bodyPr wrap="square" lIns="0" tIns="0" rIns="0" bIns="0" anchor="ctr">
            <a:spAutoFit/>
          </a:bodyPr>
          <a:lstStyle/>
          <a:p>
            <a:pPr marL="0" indent="0" algn="ctr">
              <a:buNone/>
            </a:pPr>
            <a:r>
              <a:rPr sz="700" b="0" i="0">
                <a:solidFill>
                  <a:srgbClr val="FFFFFF"/>
                </a:solidFill>
              </a:rPr>
              <a:t>⌕</a:t>
            </a:r>
          </a:p>
        </p:txBody>
      </p:sp>
      <p:sp>
        <p:nvSpPr>
          <p:cNvPr id="32" name="TextBox 31"/>
          <p:cNvSpPr txBox="1"/>
          <p:nvPr/>
        </p:nvSpPr>
        <p:spPr>
          <a:xfrm>
            <a:off x="1940356" y="996494"/>
            <a:ext cx="101925" cy="100584"/>
          </a:xfrm>
          <a:prstGeom prst="rect">
            <a:avLst/>
          </a:prstGeom>
          <a:noFill/>
        </p:spPr>
        <p:txBody>
          <a:bodyPr wrap="square" lIns="0" tIns="0" rIns="0" bIns="0" anchor="ctr">
            <a:spAutoFit/>
          </a:bodyPr>
          <a:lstStyle/>
          <a:p>
            <a:pPr marL="0" indent="0" algn="ctr">
              <a:buNone/>
            </a:pPr>
            <a:r>
              <a:rPr sz="600" b="0" i="0">
                <a:solidFill>
                  <a:srgbClr val="FFFFFF"/>
                </a:solidFill>
              </a:rPr>
              <a:t>♡</a:t>
            </a:r>
          </a:p>
        </p:txBody>
      </p:sp>
      <p:sp>
        <p:nvSpPr>
          <p:cNvPr id="33" name="TextBox 32"/>
          <p:cNvSpPr txBox="1"/>
          <p:nvPr/>
        </p:nvSpPr>
        <p:spPr>
          <a:xfrm>
            <a:off x="476341" y="1098816"/>
            <a:ext cx="64861" cy="90525"/>
          </a:xfrm>
          <a:prstGeom prst="rect">
            <a:avLst/>
          </a:prstGeom>
          <a:noFill/>
        </p:spPr>
        <p:txBody>
          <a:bodyPr wrap="square" lIns="0" tIns="0" rIns="0" bIns="0" anchor="ctr">
            <a:spAutoFit/>
          </a:bodyPr>
          <a:lstStyle/>
          <a:p>
            <a:pPr marL="0" indent="0" algn="l">
              <a:buNone/>
            </a:pPr>
            <a:r>
              <a:rPr sz="540" b="0" i="0">
                <a:solidFill>
                  <a:srgbClr val="FFD9DE"/>
                </a:solidFill>
              </a:rPr>
              <a:t>◎</a:t>
            </a:r>
          </a:p>
        </p:txBody>
      </p:sp>
      <p:sp>
        <p:nvSpPr>
          <p:cNvPr id="34" name="TextBox 33"/>
          <p:cNvSpPr txBox="1"/>
          <p:nvPr/>
        </p:nvSpPr>
        <p:spPr>
          <a:xfrm>
            <a:off x="559734" y="1097140"/>
            <a:ext cx="1158240" cy="93878"/>
          </a:xfrm>
          <a:prstGeom prst="rect">
            <a:avLst/>
          </a:prstGeom>
          <a:noFill/>
        </p:spPr>
        <p:txBody>
          <a:bodyPr wrap="square" lIns="0" tIns="0" rIns="0" bIns="0" anchor="ctr">
            <a:spAutoFit/>
          </a:bodyPr>
          <a:lstStyle/>
          <a:p>
            <a:pPr marL="0" indent="0" algn="l">
              <a:buNone/>
            </a:pPr>
            <a:r>
              <a:rPr sz="560" b="1" i="0">
                <a:solidFill>
                  <a:srgbClr val="FFFFFF"/>
                </a:solidFill>
              </a:rPr>
              <a:t>123 Nguyễn Thị Thập, Q.7</a:t>
            </a:r>
          </a:p>
        </p:txBody>
      </p:sp>
      <p:sp>
        <p:nvSpPr>
          <p:cNvPr id="35" name="TextBox 34"/>
          <p:cNvSpPr txBox="1"/>
          <p:nvPr/>
        </p:nvSpPr>
        <p:spPr>
          <a:xfrm>
            <a:off x="1727240" y="1102169"/>
            <a:ext cx="55595" cy="83820"/>
          </a:xfrm>
          <a:prstGeom prst="rect">
            <a:avLst/>
          </a:prstGeom>
          <a:noFill/>
        </p:spPr>
        <p:txBody>
          <a:bodyPr wrap="square" lIns="0" tIns="0" rIns="0" bIns="0" anchor="ctr">
            <a:spAutoFit/>
          </a:bodyPr>
          <a:lstStyle/>
          <a:p>
            <a:pPr marL="0" indent="0" algn="l">
              <a:buNone/>
            </a:pPr>
            <a:r>
              <a:rPr sz="500" b="0" i="0">
                <a:solidFill>
                  <a:srgbClr val="FFD9DE"/>
                </a:solidFill>
              </a:rPr>
              <a:t>▾</a:t>
            </a:r>
          </a:p>
        </p:txBody>
      </p:sp>
      <p:sp>
        <p:nvSpPr>
          <p:cNvPr id="36" name="TextBox 35"/>
          <p:cNvSpPr txBox="1"/>
          <p:nvPr/>
        </p:nvSpPr>
        <p:spPr>
          <a:xfrm>
            <a:off x="476341" y="1183886"/>
            <a:ext cx="64861" cy="87172"/>
          </a:xfrm>
          <a:prstGeom prst="rect">
            <a:avLst/>
          </a:prstGeom>
          <a:noFill/>
        </p:spPr>
        <p:txBody>
          <a:bodyPr wrap="square" lIns="0" tIns="0" rIns="0" bIns="0" anchor="ctr">
            <a:spAutoFit/>
          </a:bodyPr>
          <a:lstStyle/>
          <a:p>
            <a:pPr marL="0" indent="0" algn="l">
              <a:buNone/>
            </a:pPr>
            <a:r>
              <a:rPr sz="520" b="0" i="0">
                <a:solidFill>
                  <a:srgbClr val="FFD9DE"/>
                </a:solidFill>
              </a:rPr>
              <a:t>◷</a:t>
            </a:r>
          </a:p>
        </p:txBody>
      </p:sp>
      <p:sp>
        <p:nvSpPr>
          <p:cNvPr id="37" name="TextBox 36"/>
          <p:cNvSpPr txBox="1"/>
          <p:nvPr/>
        </p:nvSpPr>
        <p:spPr>
          <a:xfrm>
            <a:off x="559734" y="1182209"/>
            <a:ext cx="1389888" cy="90525"/>
          </a:xfrm>
          <a:prstGeom prst="rect">
            <a:avLst/>
          </a:prstGeom>
          <a:noFill/>
        </p:spPr>
        <p:txBody>
          <a:bodyPr wrap="square" lIns="0" tIns="0" rIns="0" bIns="0" anchor="ctr">
            <a:spAutoFit/>
          </a:bodyPr>
          <a:lstStyle/>
          <a:p>
            <a:pPr marL="0" indent="0" algn="l">
              <a:buNone/>
            </a:pPr>
            <a:r>
              <a:rPr sz="540" b="0" i="0">
                <a:solidFill>
                  <a:srgbClr val="FFE4E8"/>
                </a:solidFill>
              </a:rPr>
              <a:t>Standard  ·  today 15:00–18:00</a:t>
            </a:r>
          </a:p>
        </p:txBody>
      </p:sp>
      <p:sp>
        <p:nvSpPr>
          <p:cNvPr id="38" name="Rounded Rectangle 37"/>
          <p:cNvSpPr/>
          <p:nvPr/>
        </p:nvSpPr>
        <p:spPr>
          <a:xfrm>
            <a:off x="457809" y="1361827"/>
            <a:ext cx="1644700" cy="129722"/>
          </a:xfrm>
          <a:prstGeom prst="roundRect">
            <a:avLst>
              <a:gd name="adj" fmla="val 15000"/>
            </a:avLst>
          </a:prstGeom>
          <a:solidFill>
            <a:srgbClr val="E8F5EE"/>
          </a:solidFill>
          <a:ln w="6350">
            <a:solidFill>
              <a:srgbClr val="E8F5E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TextBox 38"/>
          <p:cNvSpPr txBox="1"/>
          <p:nvPr/>
        </p:nvSpPr>
        <p:spPr>
          <a:xfrm>
            <a:off x="494873" y="1361827"/>
            <a:ext cx="83393" cy="129722"/>
          </a:xfrm>
          <a:prstGeom prst="rect">
            <a:avLst/>
          </a:prstGeom>
          <a:noFill/>
        </p:spPr>
        <p:txBody>
          <a:bodyPr wrap="square" lIns="0" tIns="0" rIns="0" bIns="0" anchor="ctr">
            <a:spAutoFit/>
          </a:bodyPr>
          <a:lstStyle/>
          <a:p>
            <a:pPr marL="0" indent="0" algn="ctr">
              <a:buNone/>
            </a:pPr>
            <a:r>
              <a:rPr sz="550" b="1" i="0">
                <a:solidFill>
                  <a:srgbClr val="1B7F4B"/>
                </a:solidFill>
              </a:rPr>
              <a:t>⚡</a:t>
            </a:r>
          </a:p>
        </p:txBody>
      </p:sp>
      <p:sp>
        <p:nvSpPr>
          <p:cNvPr id="40" name="TextBox 39"/>
          <p:cNvSpPr txBox="1"/>
          <p:nvPr/>
        </p:nvSpPr>
        <p:spPr>
          <a:xfrm>
            <a:off x="606064" y="1361827"/>
            <a:ext cx="1468648" cy="129722"/>
          </a:xfrm>
          <a:prstGeom prst="rect">
            <a:avLst/>
          </a:prstGeom>
          <a:noFill/>
        </p:spPr>
        <p:txBody>
          <a:bodyPr wrap="square" lIns="0" tIns="0" rIns="0" bIns="0" anchor="ctr">
            <a:spAutoFit/>
          </a:bodyPr>
          <a:lstStyle/>
          <a:p>
            <a:pPr marL="0" indent="0" algn="l">
              <a:buNone/>
            </a:pPr>
            <a:r>
              <a:rPr sz="540" b="0" i="0">
                <a:solidFill>
                  <a:srgbClr val="1B7F4B"/>
                </a:solidFill>
              </a:rPr>
              <a:t>60-Minute available — arrives by 14:20</a:t>
            </a:r>
          </a:p>
        </p:txBody>
      </p:sp>
      <p:sp>
        <p:nvSpPr>
          <p:cNvPr id="41" name="Rounded Rectangle 40"/>
          <p:cNvSpPr/>
          <p:nvPr/>
        </p:nvSpPr>
        <p:spPr>
          <a:xfrm>
            <a:off x="476341" y="1537880"/>
            <a:ext cx="1607637" cy="138988"/>
          </a:xfrm>
          <a:prstGeom prst="roundRect">
            <a:avLst>
              <a:gd name="adj" fmla="val 30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TextBox 41"/>
          <p:cNvSpPr txBox="1"/>
          <p:nvPr/>
        </p:nvSpPr>
        <p:spPr>
          <a:xfrm>
            <a:off x="541202" y="1537880"/>
            <a:ext cx="1389888" cy="138988"/>
          </a:xfrm>
          <a:prstGeom prst="rect">
            <a:avLst/>
          </a:prstGeom>
          <a:noFill/>
        </p:spPr>
        <p:txBody>
          <a:bodyPr wrap="square" lIns="0" tIns="0" rIns="0" bIns="0" anchor="ctr">
            <a:spAutoFit/>
          </a:bodyPr>
          <a:lstStyle/>
          <a:p>
            <a:pPr marL="0" indent="0" algn="l">
              <a:buNone/>
            </a:pPr>
            <a:r>
              <a:rPr sz="540" b="0" i="0">
                <a:solidFill>
                  <a:srgbClr val="AAAAAA"/>
                </a:solidFill>
              </a:rPr>
              <a:t>⌕   Search 30,000+ products</a:t>
            </a:r>
          </a:p>
        </p:txBody>
      </p:sp>
      <p:sp>
        <p:nvSpPr>
          <p:cNvPr id="43" name="Rounded Rectangle 42"/>
          <p:cNvSpPr/>
          <p:nvPr/>
        </p:nvSpPr>
        <p:spPr>
          <a:xfrm>
            <a:off x="476341" y="1723198"/>
            <a:ext cx="509625" cy="463296"/>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4" name="Rounded Rectangle 43"/>
          <p:cNvSpPr/>
          <p:nvPr/>
        </p:nvSpPr>
        <p:spPr>
          <a:xfrm>
            <a:off x="513405" y="1760262"/>
            <a:ext cx="435498" cy="25944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TextBox 44"/>
          <p:cNvSpPr txBox="1"/>
          <p:nvPr/>
        </p:nvSpPr>
        <p:spPr>
          <a:xfrm>
            <a:off x="513405" y="2038240"/>
            <a:ext cx="435498" cy="111191"/>
          </a:xfrm>
          <a:prstGeom prst="rect">
            <a:avLst/>
          </a:prstGeom>
          <a:noFill/>
        </p:spPr>
        <p:txBody>
          <a:bodyPr wrap="square" lIns="0" tIns="0" rIns="0" bIns="0" anchor="t">
            <a:spAutoFit/>
          </a:bodyPr>
          <a:lstStyle/>
          <a:p>
            <a:pPr marL="0" indent="0" algn="l">
              <a:buNone/>
            </a:pPr>
            <a:r>
              <a:rPr sz="440" b="0" i="0">
                <a:solidFill>
                  <a:srgbClr val="555555"/>
                </a:solidFill>
              </a:rPr>
              <a:t>Product · 59,000 ₫</a:t>
            </a:r>
          </a:p>
        </p:txBody>
      </p:sp>
      <p:sp>
        <p:nvSpPr>
          <p:cNvPr id="46" name="Rounded Rectangle 45"/>
          <p:cNvSpPr/>
          <p:nvPr/>
        </p:nvSpPr>
        <p:spPr>
          <a:xfrm>
            <a:off x="1023030" y="1723198"/>
            <a:ext cx="509625" cy="463296"/>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Rounded Rectangle 46"/>
          <p:cNvSpPr/>
          <p:nvPr/>
        </p:nvSpPr>
        <p:spPr>
          <a:xfrm>
            <a:off x="1060094" y="1760262"/>
            <a:ext cx="435498" cy="25944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8" name="TextBox 47"/>
          <p:cNvSpPr txBox="1"/>
          <p:nvPr/>
        </p:nvSpPr>
        <p:spPr>
          <a:xfrm>
            <a:off x="1060094" y="2038240"/>
            <a:ext cx="435498" cy="111191"/>
          </a:xfrm>
          <a:prstGeom prst="rect">
            <a:avLst/>
          </a:prstGeom>
          <a:noFill/>
        </p:spPr>
        <p:txBody>
          <a:bodyPr wrap="square" lIns="0" tIns="0" rIns="0" bIns="0" anchor="t">
            <a:spAutoFit/>
          </a:bodyPr>
          <a:lstStyle/>
          <a:p>
            <a:pPr marL="0" indent="0" algn="l">
              <a:buNone/>
            </a:pPr>
            <a:r>
              <a:rPr sz="440" b="0" i="0">
                <a:solidFill>
                  <a:srgbClr val="555555"/>
                </a:solidFill>
              </a:rPr>
              <a:t>Product · 59,000 ₫</a:t>
            </a:r>
          </a:p>
        </p:txBody>
      </p:sp>
      <p:sp>
        <p:nvSpPr>
          <p:cNvPr id="49" name="Rounded Rectangle 48"/>
          <p:cNvSpPr/>
          <p:nvPr/>
        </p:nvSpPr>
        <p:spPr>
          <a:xfrm>
            <a:off x="1569720" y="1723198"/>
            <a:ext cx="509625" cy="463296"/>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Rounded Rectangle 49"/>
          <p:cNvSpPr/>
          <p:nvPr/>
        </p:nvSpPr>
        <p:spPr>
          <a:xfrm>
            <a:off x="1606783" y="1760262"/>
            <a:ext cx="435498" cy="25944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1" name="TextBox 50"/>
          <p:cNvSpPr txBox="1"/>
          <p:nvPr/>
        </p:nvSpPr>
        <p:spPr>
          <a:xfrm>
            <a:off x="1606783" y="2038240"/>
            <a:ext cx="435498" cy="111191"/>
          </a:xfrm>
          <a:prstGeom prst="rect">
            <a:avLst/>
          </a:prstGeom>
          <a:noFill/>
        </p:spPr>
        <p:txBody>
          <a:bodyPr wrap="square" lIns="0" tIns="0" rIns="0" bIns="0" anchor="t">
            <a:spAutoFit/>
          </a:bodyPr>
          <a:lstStyle/>
          <a:p>
            <a:pPr marL="0" indent="0" algn="l">
              <a:buNone/>
            </a:pPr>
            <a:r>
              <a:rPr sz="440" b="0" i="0">
                <a:solidFill>
                  <a:srgbClr val="555555"/>
                </a:solidFill>
              </a:rPr>
              <a:t>Product · 59,000 ₫</a:t>
            </a:r>
          </a:p>
        </p:txBody>
      </p:sp>
      <p:sp>
        <p:nvSpPr>
          <p:cNvPr id="52" name="Rounded Rectangle 51"/>
          <p:cNvSpPr/>
          <p:nvPr/>
        </p:nvSpPr>
        <p:spPr>
          <a:xfrm>
            <a:off x="476341" y="2223558"/>
            <a:ext cx="509625" cy="463296"/>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Rounded Rectangle 52"/>
          <p:cNvSpPr/>
          <p:nvPr/>
        </p:nvSpPr>
        <p:spPr>
          <a:xfrm>
            <a:off x="513405" y="2260622"/>
            <a:ext cx="435498" cy="25944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4" name="TextBox 53"/>
          <p:cNvSpPr txBox="1"/>
          <p:nvPr/>
        </p:nvSpPr>
        <p:spPr>
          <a:xfrm>
            <a:off x="513405" y="2538599"/>
            <a:ext cx="435498" cy="111191"/>
          </a:xfrm>
          <a:prstGeom prst="rect">
            <a:avLst/>
          </a:prstGeom>
          <a:noFill/>
        </p:spPr>
        <p:txBody>
          <a:bodyPr wrap="square" lIns="0" tIns="0" rIns="0" bIns="0" anchor="t">
            <a:spAutoFit/>
          </a:bodyPr>
          <a:lstStyle/>
          <a:p>
            <a:pPr marL="0" indent="0" algn="l">
              <a:buNone/>
            </a:pPr>
            <a:r>
              <a:rPr sz="440" b="0" i="0">
                <a:solidFill>
                  <a:srgbClr val="555555"/>
                </a:solidFill>
              </a:rPr>
              <a:t>Product · 59,000 ₫</a:t>
            </a:r>
          </a:p>
        </p:txBody>
      </p:sp>
      <p:sp>
        <p:nvSpPr>
          <p:cNvPr id="55" name="Rounded Rectangle 54"/>
          <p:cNvSpPr/>
          <p:nvPr/>
        </p:nvSpPr>
        <p:spPr>
          <a:xfrm>
            <a:off x="1023030" y="2223558"/>
            <a:ext cx="509625" cy="463296"/>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6" name="Rounded Rectangle 55"/>
          <p:cNvSpPr/>
          <p:nvPr/>
        </p:nvSpPr>
        <p:spPr>
          <a:xfrm>
            <a:off x="1060094" y="2260622"/>
            <a:ext cx="435498" cy="25944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7" name="TextBox 56"/>
          <p:cNvSpPr txBox="1"/>
          <p:nvPr/>
        </p:nvSpPr>
        <p:spPr>
          <a:xfrm>
            <a:off x="1060094" y="2538599"/>
            <a:ext cx="435498" cy="111191"/>
          </a:xfrm>
          <a:prstGeom prst="rect">
            <a:avLst/>
          </a:prstGeom>
          <a:noFill/>
        </p:spPr>
        <p:txBody>
          <a:bodyPr wrap="square" lIns="0" tIns="0" rIns="0" bIns="0" anchor="t">
            <a:spAutoFit/>
          </a:bodyPr>
          <a:lstStyle/>
          <a:p>
            <a:pPr marL="0" indent="0" algn="l">
              <a:buNone/>
            </a:pPr>
            <a:r>
              <a:rPr sz="440" b="0" i="0">
                <a:solidFill>
                  <a:srgbClr val="555555"/>
                </a:solidFill>
              </a:rPr>
              <a:t>Product · 59,000 ₫</a:t>
            </a:r>
          </a:p>
        </p:txBody>
      </p:sp>
      <p:sp>
        <p:nvSpPr>
          <p:cNvPr id="58" name="Rounded Rectangle 57"/>
          <p:cNvSpPr/>
          <p:nvPr/>
        </p:nvSpPr>
        <p:spPr>
          <a:xfrm>
            <a:off x="1569720" y="2223558"/>
            <a:ext cx="509625" cy="463296"/>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9" name="Rounded Rectangle 58"/>
          <p:cNvSpPr/>
          <p:nvPr/>
        </p:nvSpPr>
        <p:spPr>
          <a:xfrm>
            <a:off x="1606783" y="2260622"/>
            <a:ext cx="435498" cy="25944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0" name="TextBox 59"/>
          <p:cNvSpPr txBox="1"/>
          <p:nvPr/>
        </p:nvSpPr>
        <p:spPr>
          <a:xfrm>
            <a:off x="1606783" y="2538599"/>
            <a:ext cx="435498" cy="111191"/>
          </a:xfrm>
          <a:prstGeom prst="rect">
            <a:avLst/>
          </a:prstGeom>
          <a:noFill/>
        </p:spPr>
        <p:txBody>
          <a:bodyPr wrap="square" lIns="0" tIns="0" rIns="0" bIns="0" anchor="t">
            <a:spAutoFit/>
          </a:bodyPr>
          <a:lstStyle/>
          <a:p>
            <a:pPr marL="0" indent="0" algn="l">
              <a:buNone/>
            </a:pPr>
            <a:r>
              <a:rPr sz="440" b="0" i="0">
                <a:solidFill>
                  <a:srgbClr val="555555"/>
                </a:solidFill>
              </a:rPr>
              <a:t>Product · 59,000 ₫</a:t>
            </a:r>
          </a:p>
        </p:txBody>
      </p:sp>
      <p:sp>
        <p:nvSpPr>
          <p:cNvPr id="61" name="Oval 60"/>
          <p:cNvSpPr/>
          <p:nvPr/>
        </p:nvSpPr>
        <p:spPr>
          <a:xfrm>
            <a:off x="253960" y="1195041"/>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2" name="TextBox 61"/>
          <p:cNvSpPr txBox="1"/>
          <p:nvPr/>
        </p:nvSpPr>
        <p:spPr>
          <a:xfrm>
            <a:off x="253960" y="1195041"/>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63" name="Oval 62"/>
          <p:cNvSpPr/>
          <p:nvPr/>
        </p:nvSpPr>
        <p:spPr>
          <a:xfrm>
            <a:off x="253960" y="1361827"/>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4" name="TextBox 63"/>
          <p:cNvSpPr txBox="1"/>
          <p:nvPr/>
        </p:nvSpPr>
        <p:spPr>
          <a:xfrm>
            <a:off x="253960" y="1361827"/>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65" name="Rounded Rectangle 64"/>
          <p:cNvSpPr/>
          <p:nvPr/>
        </p:nvSpPr>
        <p:spPr>
          <a:xfrm>
            <a:off x="2523883" y="852203"/>
            <a:ext cx="1792955" cy="2233086"/>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6" name="Rectangle 65"/>
          <p:cNvSpPr/>
          <p:nvPr/>
        </p:nvSpPr>
        <p:spPr>
          <a:xfrm>
            <a:off x="2551680" y="880000"/>
            <a:ext cx="1737360" cy="2177491"/>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7" name="TextBox 66"/>
          <p:cNvSpPr txBox="1"/>
          <p:nvPr/>
        </p:nvSpPr>
        <p:spPr>
          <a:xfrm>
            <a:off x="2523883" y="3103820"/>
            <a:ext cx="1792955" cy="120456"/>
          </a:xfrm>
          <a:prstGeom prst="rect">
            <a:avLst/>
          </a:prstGeom>
          <a:noFill/>
        </p:spPr>
        <p:txBody>
          <a:bodyPr wrap="square" lIns="0" tIns="0" rIns="0" bIns="0" anchor="t">
            <a:spAutoFit/>
          </a:bodyPr>
          <a:lstStyle/>
          <a:p>
            <a:pPr marL="0" indent="0" algn="ctr">
              <a:buNone/>
            </a:pPr>
            <a:r>
              <a:rPr sz="750" b="1" i="0">
                <a:solidFill>
                  <a:srgbClr val="1E2F6E"/>
                </a:solidFill>
              </a:rPr>
              <a:t>B  ·  Standard zone  (10–15 km)</a:t>
            </a:r>
          </a:p>
        </p:txBody>
      </p:sp>
      <p:sp>
        <p:nvSpPr>
          <p:cNvPr id="68" name="TextBox 67"/>
          <p:cNvSpPr txBox="1"/>
          <p:nvPr/>
        </p:nvSpPr>
        <p:spPr>
          <a:xfrm>
            <a:off x="2616541" y="875596"/>
            <a:ext cx="277977" cy="92202"/>
          </a:xfrm>
          <a:prstGeom prst="rect">
            <a:avLst/>
          </a:prstGeom>
          <a:noFill/>
        </p:spPr>
        <p:txBody>
          <a:bodyPr wrap="square" lIns="0" tIns="0" rIns="0" bIns="0" anchor="ctr">
            <a:spAutoFit/>
          </a:bodyPr>
          <a:lstStyle/>
          <a:p>
            <a:pPr marL="0" indent="0" algn="l">
              <a:buNone/>
            </a:pPr>
            <a:r>
              <a:rPr sz="550" b="1" i="0">
                <a:solidFill>
                  <a:srgbClr val="FFFFFF"/>
                </a:solidFill>
              </a:rPr>
              <a:t>9:41</a:t>
            </a:r>
          </a:p>
        </p:txBody>
      </p:sp>
      <p:sp>
        <p:nvSpPr>
          <p:cNvPr id="69" name="TextBox 68"/>
          <p:cNvSpPr txBox="1"/>
          <p:nvPr/>
        </p:nvSpPr>
        <p:spPr>
          <a:xfrm>
            <a:off x="3946200" y="879787"/>
            <a:ext cx="277977" cy="83820"/>
          </a:xfrm>
          <a:prstGeom prst="rect">
            <a:avLst/>
          </a:prstGeom>
          <a:noFill/>
        </p:spPr>
        <p:txBody>
          <a:bodyPr wrap="square" lIns="0" tIns="0" rIns="0" bIns="0" anchor="ctr">
            <a:spAutoFit/>
          </a:bodyPr>
          <a:lstStyle/>
          <a:p>
            <a:pPr marL="0" indent="0" algn="r">
              <a:buNone/>
            </a:pPr>
            <a:r>
              <a:rPr sz="500" b="0" i="0">
                <a:solidFill>
                  <a:srgbClr val="FFFFFF"/>
                </a:solidFill>
              </a:rPr>
              <a:t>▮▮▮  ⌁  ▰</a:t>
            </a:r>
          </a:p>
        </p:txBody>
      </p:sp>
      <p:sp>
        <p:nvSpPr>
          <p:cNvPr id="70" name="Rectangle 69"/>
          <p:cNvSpPr/>
          <p:nvPr/>
        </p:nvSpPr>
        <p:spPr>
          <a:xfrm>
            <a:off x="2551680" y="981925"/>
            <a:ext cx="1737360" cy="342839"/>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1" name="TextBox 70"/>
          <p:cNvSpPr txBox="1"/>
          <p:nvPr/>
        </p:nvSpPr>
        <p:spPr>
          <a:xfrm>
            <a:off x="2616541" y="996494"/>
            <a:ext cx="64861" cy="100584"/>
          </a:xfrm>
          <a:prstGeom prst="rect">
            <a:avLst/>
          </a:prstGeom>
          <a:noFill/>
        </p:spPr>
        <p:txBody>
          <a:bodyPr wrap="square" lIns="0" tIns="0" rIns="0" bIns="0" anchor="ctr">
            <a:spAutoFit/>
          </a:bodyPr>
          <a:lstStyle/>
          <a:p>
            <a:pPr marL="0" indent="0" algn="l">
              <a:buNone/>
            </a:pPr>
            <a:r>
              <a:rPr sz="600" b="0" i="0">
                <a:solidFill>
                  <a:srgbClr val="FFD9DE"/>
                </a:solidFill>
              </a:rPr>
              <a:t>▣</a:t>
            </a:r>
          </a:p>
        </p:txBody>
      </p:sp>
      <p:sp>
        <p:nvSpPr>
          <p:cNvPr id="72" name="TextBox 71"/>
          <p:cNvSpPr txBox="1"/>
          <p:nvPr/>
        </p:nvSpPr>
        <p:spPr>
          <a:xfrm>
            <a:off x="2699934" y="993141"/>
            <a:ext cx="972921" cy="107289"/>
          </a:xfrm>
          <a:prstGeom prst="rect">
            <a:avLst/>
          </a:prstGeom>
          <a:noFill/>
        </p:spPr>
        <p:txBody>
          <a:bodyPr wrap="square" lIns="0" tIns="0" rIns="0" bIns="0" anchor="ctr">
            <a:spAutoFit/>
          </a:bodyPr>
          <a:lstStyle/>
          <a:p>
            <a:pPr marL="0" indent="0" algn="l">
              <a:buNone/>
            </a:pPr>
            <a:r>
              <a:rPr sz="640" b="1" i="0">
                <a:solidFill>
                  <a:srgbClr val="FFFFFF"/>
                </a:solidFill>
              </a:rPr>
              <a:t>LOTTE Mart Nam Sài Gòn</a:t>
            </a:r>
          </a:p>
        </p:txBody>
      </p:sp>
      <p:sp>
        <p:nvSpPr>
          <p:cNvPr id="73" name="TextBox 72"/>
          <p:cNvSpPr txBox="1"/>
          <p:nvPr/>
        </p:nvSpPr>
        <p:spPr>
          <a:xfrm>
            <a:off x="3672856" y="1000685"/>
            <a:ext cx="55595" cy="92202"/>
          </a:xfrm>
          <a:prstGeom prst="rect">
            <a:avLst/>
          </a:prstGeom>
          <a:noFill/>
        </p:spPr>
        <p:txBody>
          <a:bodyPr wrap="square" lIns="0" tIns="0" rIns="0" bIns="0" anchor="ctr">
            <a:spAutoFit/>
          </a:bodyPr>
          <a:lstStyle/>
          <a:p>
            <a:pPr marL="0" indent="0" algn="l">
              <a:buNone/>
            </a:pPr>
            <a:r>
              <a:rPr sz="550" b="0" i="0">
                <a:solidFill>
                  <a:srgbClr val="FFFFFF"/>
                </a:solidFill>
              </a:rPr>
              <a:t>▾</a:t>
            </a:r>
          </a:p>
        </p:txBody>
      </p:sp>
      <p:sp>
        <p:nvSpPr>
          <p:cNvPr id="74" name="TextBox 73"/>
          <p:cNvSpPr txBox="1"/>
          <p:nvPr/>
        </p:nvSpPr>
        <p:spPr>
          <a:xfrm>
            <a:off x="3941568" y="988112"/>
            <a:ext cx="101925" cy="117348"/>
          </a:xfrm>
          <a:prstGeom prst="rect">
            <a:avLst/>
          </a:prstGeom>
          <a:noFill/>
        </p:spPr>
        <p:txBody>
          <a:bodyPr wrap="square" lIns="0" tIns="0" rIns="0" bIns="0" anchor="ctr">
            <a:spAutoFit/>
          </a:bodyPr>
          <a:lstStyle/>
          <a:p>
            <a:pPr marL="0" indent="0" algn="ctr">
              <a:buNone/>
            </a:pPr>
            <a:r>
              <a:rPr sz="700" b="0" i="0">
                <a:solidFill>
                  <a:srgbClr val="FFFFFF"/>
                </a:solidFill>
              </a:rPr>
              <a:t>⌕</a:t>
            </a:r>
          </a:p>
        </p:txBody>
      </p:sp>
      <p:sp>
        <p:nvSpPr>
          <p:cNvPr id="75" name="TextBox 74"/>
          <p:cNvSpPr txBox="1"/>
          <p:nvPr/>
        </p:nvSpPr>
        <p:spPr>
          <a:xfrm>
            <a:off x="4080556" y="996494"/>
            <a:ext cx="101925" cy="100584"/>
          </a:xfrm>
          <a:prstGeom prst="rect">
            <a:avLst/>
          </a:prstGeom>
          <a:noFill/>
        </p:spPr>
        <p:txBody>
          <a:bodyPr wrap="square" lIns="0" tIns="0" rIns="0" bIns="0" anchor="ctr">
            <a:spAutoFit/>
          </a:bodyPr>
          <a:lstStyle/>
          <a:p>
            <a:pPr marL="0" indent="0" algn="ctr">
              <a:buNone/>
            </a:pPr>
            <a:r>
              <a:rPr sz="600" b="0" i="0">
                <a:solidFill>
                  <a:srgbClr val="FFFFFF"/>
                </a:solidFill>
              </a:rPr>
              <a:t>♡</a:t>
            </a:r>
          </a:p>
        </p:txBody>
      </p:sp>
      <p:sp>
        <p:nvSpPr>
          <p:cNvPr id="76" name="TextBox 75"/>
          <p:cNvSpPr txBox="1"/>
          <p:nvPr/>
        </p:nvSpPr>
        <p:spPr>
          <a:xfrm>
            <a:off x="2616541" y="1098816"/>
            <a:ext cx="64861" cy="90525"/>
          </a:xfrm>
          <a:prstGeom prst="rect">
            <a:avLst/>
          </a:prstGeom>
          <a:noFill/>
        </p:spPr>
        <p:txBody>
          <a:bodyPr wrap="square" lIns="0" tIns="0" rIns="0" bIns="0" anchor="ctr">
            <a:spAutoFit/>
          </a:bodyPr>
          <a:lstStyle/>
          <a:p>
            <a:pPr marL="0" indent="0" algn="l">
              <a:buNone/>
            </a:pPr>
            <a:r>
              <a:rPr sz="540" b="0" i="0">
                <a:solidFill>
                  <a:srgbClr val="FFD9DE"/>
                </a:solidFill>
              </a:rPr>
              <a:t>◎</a:t>
            </a:r>
          </a:p>
        </p:txBody>
      </p:sp>
      <p:sp>
        <p:nvSpPr>
          <p:cNvPr id="77" name="TextBox 76"/>
          <p:cNvSpPr txBox="1"/>
          <p:nvPr/>
        </p:nvSpPr>
        <p:spPr>
          <a:xfrm>
            <a:off x="2699934" y="1097140"/>
            <a:ext cx="1158240" cy="93878"/>
          </a:xfrm>
          <a:prstGeom prst="rect">
            <a:avLst/>
          </a:prstGeom>
          <a:noFill/>
        </p:spPr>
        <p:txBody>
          <a:bodyPr wrap="square" lIns="0" tIns="0" rIns="0" bIns="0" anchor="ctr">
            <a:spAutoFit/>
          </a:bodyPr>
          <a:lstStyle/>
          <a:p>
            <a:pPr marL="0" indent="0" algn="l">
              <a:buNone/>
            </a:pPr>
            <a:r>
              <a:rPr sz="560" b="1" i="0">
                <a:solidFill>
                  <a:srgbClr val="FFFFFF"/>
                </a:solidFill>
              </a:rPr>
              <a:t>123 Nguyễn Thị Thập, Q.7</a:t>
            </a:r>
          </a:p>
        </p:txBody>
      </p:sp>
      <p:sp>
        <p:nvSpPr>
          <p:cNvPr id="78" name="TextBox 77"/>
          <p:cNvSpPr txBox="1"/>
          <p:nvPr/>
        </p:nvSpPr>
        <p:spPr>
          <a:xfrm>
            <a:off x="3867440" y="1102169"/>
            <a:ext cx="55595" cy="83820"/>
          </a:xfrm>
          <a:prstGeom prst="rect">
            <a:avLst/>
          </a:prstGeom>
          <a:noFill/>
        </p:spPr>
        <p:txBody>
          <a:bodyPr wrap="square" lIns="0" tIns="0" rIns="0" bIns="0" anchor="ctr">
            <a:spAutoFit/>
          </a:bodyPr>
          <a:lstStyle/>
          <a:p>
            <a:pPr marL="0" indent="0" algn="l">
              <a:buNone/>
            </a:pPr>
            <a:r>
              <a:rPr sz="500" b="0" i="0">
                <a:solidFill>
                  <a:srgbClr val="FFD9DE"/>
                </a:solidFill>
              </a:rPr>
              <a:t>▾</a:t>
            </a:r>
          </a:p>
        </p:txBody>
      </p:sp>
      <p:sp>
        <p:nvSpPr>
          <p:cNvPr id="79" name="TextBox 78"/>
          <p:cNvSpPr txBox="1"/>
          <p:nvPr/>
        </p:nvSpPr>
        <p:spPr>
          <a:xfrm>
            <a:off x="2616541" y="1183886"/>
            <a:ext cx="64861" cy="87172"/>
          </a:xfrm>
          <a:prstGeom prst="rect">
            <a:avLst/>
          </a:prstGeom>
          <a:noFill/>
        </p:spPr>
        <p:txBody>
          <a:bodyPr wrap="square" lIns="0" tIns="0" rIns="0" bIns="0" anchor="ctr">
            <a:spAutoFit/>
          </a:bodyPr>
          <a:lstStyle/>
          <a:p>
            <a:pPr marL="0" indent="0" algn="l">
              <a:buNone/>
            </a:pPr>
            <a:r>
              <a:rPr sz="520" b="0" i="0">
                <a:solidFill>
                  <a:srgbClr val="FFD9DE"/>
                </a:solidFill>
              </a:rPr>
              <a:t>◷</a:t>
            </a:r>
          </a:p>
        </p:txBody>
      </p:sp>
      <p:sp>
        <p:nvSpPr>
          <p:cNvPr id="80" name="TextBox 79"/>
          <p:cNvSpPr txBox="1"/>
          <p:nvPr/>
        </p:nvSpPr>
        <p:spPr>
          <a:xfrm>
            <a:off x="2699934" y="1182209"/>
            <a:ext cx="1389888" cy="90525"/>
          </a:xfrm>
          <a:prstGeom prst="rect">
            <a:avLst/>
          </a:prstGeom>
          <a:noFill/>
        </p:spPr>
        <p:txBody>
          <a:bodyPr wrap="square" lIns="0" tIns="0" rIns="0" bIns="0" anchor="ctr">
            <a:spAutoFit/>
          </a:bodyPr>
          <a:lstStyle/>
          <a:p>
            <a:pPr marL="0" indent="0" algn="l">
              <a:buNone/>
            </a:pPr>
            <a:r>
              <a:rPr sz="540" b="0" i="0">
                <a:solidFill>
                  <a:srgbClr val="FFE4E8"/>
                </a:solidFill>
              </a:rPr>
              <a:t>Standard  ·  today 15:00–18:00</a:t>
            </a:r>
          </a:p>
        </p:txBody>
      </p:sp>
      <p:sp>
        <p:nvSpPr>
          <p:cNvPr id="81" name="Rounded Rectangle 80"/>
          <p:cNvSpPr/>
          <p:nvPr/>
        </p:nvSpPr>
        <p:spPr>
          <a:xfrm>
            <a:off x="2598009" y="1361827"/>
            <a:ext cx="1644700" cy="129722"/>
          </a:xfrm>
          <a:prstGeom prst="roundRect">
            <a:avLst>
              <a:gd name="adj" fmla="val 15000"/>
            </a:avLst>
          </a:prstGeom>
          <a:solidFill>
            <a:srgbClr val="EEF1F9"/>
          </a:solidFill>
          <a:ln w="6350">
            <a:solidFill>
              <a:srgbClr val="EEF1F9"/>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2" name="TextBox 81"/>
          <p:cNvSpPr txBox="1"/>
          <p:nvPr/>
        </p:nvSpPr>
        <p:spPr>
          <a:xfrm>
            <a:off x="2635073" y="1361827"/>
            <a:ext cx="83393" cy="129722"/>
          </a:xfrm>
          <a:prstGeom prst="rect">
            <a:avLst/>
          </a:prstGeom>
          <a:noFill/>
        </p:spPr>
        <p:txBody>
          <a:bodyPr wrap="square" lIns="0" tIns="0" rIns="0" bIns="0" anchor="ctr">
            <a:spAutoFit/>
          </a:bodyPr>
          <a:lstStyle/>
          <a:p>
            <a:pPr marL="0" indent="0" algn="ctr">
              <a:buNone/>
            </a:pPr>
            <a:r>
              <a:rPr sz="550" b="1" i="0">
                <a:solidFill>
                  <a:srgbClr val="3D5298"/>
                </a:solidFill>
              </a:rPr>
              <a:t>i</a:t>
            </a:r>
          </a:p>
        </p:txBody>
      </p:sp>
      <p:sp>
        <p:nvSpPr>
          <p:cNvPr id="83" name="TextBox 82"/>
          <p:cNvSpPr txBox="1"/>
          <p:nvPr/>
        </p:nvSpPr>
        <p:spPr>
          <a:xfrm>
            <a:off x="2746264" y="1361827"/>
            <a:ext cx="1468648" cy="129722"/>
          </a:xfrm>
          <a:prstGeom prst="rect">
            <a:avLst/>
          </a:prstGeom>
          <a:noFill/>
        </p:spPr>
        <p:txBody>
          <a:bodyPr wrap="square" lIns="0" tIns="0" rIns="0" bIns="0" anchor="ctr">
            <a:spAutoFit/>
          </a:bodyPr>
          <a:lstStyle/>
          <a:p>
            <a:pPr marL="0" indent="0" algn="l">
              <a:buNone/>
            </a:pPr>
            <a:r>
              <a:rPr sz="540" b="0" i="0">
                <a:solidFill>
                  <a:srgbClr val="3D5298"/>
                </a:solidFill>
              </a:rPr>
              <a:t>Standard delivery for this address</a:t>
            </a:r>
          </a:p>
        </p:txBody>
      </p:sp>
      <p:sp>
        <p:nvSpPr>
          <p:cNvPr id="84" name="Rounded Rectangle 83"/>
          <p:cNvSpPr/>
          <p:nvPr/>
        </p:nvSpPr>
        <p:spPr>
          <a:xfrm>
            <a:off x="2616541" y="1537880"/>
            <a:ext cx="1607637" cy="138988"/>
          </a:xfrm>
          <a:prstGeom prst="roundRect">
            <a:avLst>
              <a:gd name="adj" fmla="val 30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5" name="TextBox 84"/>
          <p:cNvSpPr txBox="1"/>
          <p:nvPr/>
        </p:nvSpPr>
        <p:spPr>
          <a:xfrm>
            <a:off x="2681402" y="1537880"/>
            <a:ext cx="1389888" cy="138988"/>
          </a:xfrm>
          <a:prstGeom prst="rect">
            <a:avLst/>
          </a:prstGeom>
          <a:noFill/>
        </p:spPr>
        <p:txBody>
          <a:bodyPr wrap="square" lIns="0" tIns="0" rIns="0" bIns="0" anchor="ctr">
            <a:spAutoFit/>
          </a:bodyPr>
          <a:lstStyle/>
          <a:p>
            <a:pPr marL="0" indent="0" algn="l">
              <a:buNone/>
            </a:pPr>
            <a:r>
              <a:rPr sz="540" b="0" i="0">
                <a:solidFill>
                  <a:srgbClr val="AAAAAA"/>
                </a:solidFill>
              </a:rPr>
              <a:t>⌕   Search 30,000+ products</a:t>
            </a:r>
          </a:p>
        </p:txBody>
      </p:sp>
      <p:sp>
        <p:nvSpPr>
          <p:cNvPr id="86" name="Rounded Rectangle 85"/>
          <p:cNvSpPr/>
          <p:nvPr/>
        </p:nvSpPr>
        <p:spPr>
          <a:xfrm>
            <a:off x="2616541" y="1723198"/>
            <a:ext cx="509625" cy="463296"/>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7" name="Rounded Rectangle 86"/>
          <p:cNvSpPr/>
          <p:nvPr/>
        </p:nvSpPr>
        <p:spPr>
          <a:xfrm>
            <a:off x="2653605" y="1760262"/>
            <a:ext cx="435498" cy="25944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8" name="TextBox 87"/>
          <p:cNvSpPr txBox="1"/>
          <p:nvPr/>
        </p:nvSpPr>
        <p:spPr>
          <a:xfrm>
            <a:off x="2653605" y="2038240"/>
            <a:ext cx="435498" cy="111191"/>
          </a:xfrm>
          <a:prstGeom prst="rect">
            <a:avLst/>
          </a:prstGeom>
          <a:noFill/>
        </p:spPr>
        <p:txBody>
          <a:bodyPr wrap="square" lIns="0" tIns="0" rIns="0" bIns="0" anchor="t">
            <a:spAutoFit/>
          </a:bodyPr>
          <a:lstStyle/>
          <a:p>
            <a:pPr marL="0" indent="0" algn="l">
              <a:buNone/>
            </a:pPr>
            <a:r>
              <a:rPr sz="440" b="0" i="0">
                <a:solidFill>
                  <a:srgbClr val="555555"/>
                </a:solidFill>
              </a:rPr>
              <a:t>Product · 59,000 ₫</a:t>
            </a:r>
          </a:p>
        </p:txBody>
      </p:sp>
      <p:sp>
        <p:nvSpPr>
          <p:cNvPr id="89" name="Rounded Rectangle 88"/>
          <p:cNvSpPr/>
          <p:nvPr/>
        </p:nvSpPr>
        <p:spPr>
          <a:xfrm>
            <a:off x="3163230" y="1723198"/>
            <a:ext cx="509625" cy="463296"/>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0" name="Rounded Rectangle 89"/>
          <p:cNvSpPr/>
          <p:nvPr/>
        </p:nvSpPr>
        <p:spPr>
          <a:xfrm>
            <a:off x="3200294" y="1760262"/>
            <a:ext cx="435498" cy="25944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1" name="TextBox 90"/>
          <p:cNvSpPr txBox="1"/>
          <p:nvPr/>
        </p:nvSpPr>
        <p:spPr>
          <a:xfrm>
            <a:off x="3200294" y="2038240"/>
            <a:ext cx="435498" cy="111191"/>
          </a:xfrm>
          <a:prstGeom prst="rect">
            <a:avLst/>
          </a:prstGeom>
          <a:noFill/>
        </p:spPr>
        <p:txBody>
          <a:bodyPr wrap="square" lIns="0" tIns="0" rIns="0" bIns="0" anchor="t">
            <a:spAutoFit/>
          </a:bodyPr>
          <a:lstStyle/>
          <a:p>
            <a:pPr marL="0" indent="0" algn="l">
              <a:buNone/>
            </a:pPr>
            <a:r>
              <a:rPr sz="440" b="0" i="0">
                <a:solidFill>
                  <a:srgbClr val="555555"/>
                </a:solidFill>
              </a:rPr>
              <a:t>Product · 59,000 ₫</a:t>
            </a:r>
          </a:p>
        </p:txBody>
      </p:sp>
      <p:sp>
        <p:nvSpPr>
          <p:cNvPr id="92" name="Rounded Rectangle 91"/>
          <p:cNvSpPr/>
          <p:nvPr/>
        </p:nvSpPr>
        <p:spPr>
          <a:xfrm>
            <a:off x="3709920" y="1723198"/>
            <a:ext cx="509625" cy="463296"/>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3" name="Rounded Rectangle 92"/>
          <p:cNvSpPr/>
          <p:nvPr/>
        </p:nvSpPr>
        <p:spPr>
          <a:xfrm>
            <a:off x="3746983" y="1760262"/>
            <a:ext cx="435498" cy="25944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4" name="TextBox 93"/>
          <p:cNvSpPr txBox="1"/>
          <p:nvPr/>
        </p:nvSpPr>
        <p:spPr>
          <a:xfrm>
            <a:off x="3746983" y="2038240"/>
            <a:ext cx="435498" cy="111191"/>
          </a:xfrm>
          <a:prstGeom prst="rect">
            <a:avLst/>
          </a:prstGeom>
          <a:noFill/>
        </p:spPr>
        <p:txBody>
          <a:bodyPr wrap="square" lIns="0" tIns="0" rIns="0" bIns="0" anchor="t">
            <a:spAutoFit/>
          </a:bodyPr>
          <a:lstStyle/>
          <a:p>
            <a:pPr marL="0" indent="0" algn="l">
              <a:buNone/>
            </a:pPr>
            <a:r>
              <a:rPr sz="440" b="0" i="0">
                <a:solidFill>
                  <a:srgbClr val="555555"/>
                </a:solidFill>
              </a:rPr>
              <a:t>Product · 59,000 ₫</a:t>
            </a:r>
          </a:p>
        </p:txBody>
      </p:sp>
      <p:sp>
        <p:nvSpPr>
          <p:cNvPr id="95" name="Rounded Rectangle 94"/>
          <p:cNvSpPr/>
          <p:nvPr/>
        </p:nvSpPr>
        <p:spPr>
          <a:xfrm>
            <a:off x="2616541" y="2223558"/>
            <a:ext cx="509625" cy="463296"/>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6" name="Rounded Rectangle 95"/>
          <p:cNvSpPr/>
          <p:nvPr/>
        </p:nvSpPr>
        <p:spPr>
          <a:xfrm>
            <a:off x="2653605" y="2260622"/>
            <a:ext cx="435498" cy="25944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7" name="TextBox 96"/>
          <p:cNvSpPr txBox="1"/>
          <p:nvPr/>
        </p:nvSpPr>
        <p:spPr>
          <a:xfrm>
            <a:off x="2653605" y="2538599"/>
            <a:ext cx="435498" cy="111191"/>
          </a:xfrm>
          <a:prstGeom prst="rect">
            <a:avLst/>
          </a:prstGeom>
          <a:noFill/>
        </p:spPr>
        <p:txBody>
          <a:bodyPr wrap="square" lIns="0" tIns="0" rIns="0" bIns="0" anchor="t">
            <a:spAutoFit/>
          </a:bodyPr>
          <a:lstStyle/>
          <a:p>
            <a:pPr marL="0" indent="0" algn="l">
              <a:buNone/>
            </a:pPr>
            <a:r>
              <a:rPr sz="440" b="0" i="0">
                <a:solidFill>
                  <a:srgbClr val="555555"/>
                </a:solidFill>
              </a:rPr>
              <a:t>Product · 59,000 ₫</a:t>
            </a:r>
          </a:p>
        </p:txBody>
      </p:sp>
      <p:sp>
        <p:nvSpPr>
          <p:cNvPr id="98" name="Rounded Rectangle 97"/>
          <p:cNvSpPr/>
          <p:nvPr/>
        </p:nvSpPr>
        <p:spPr>
          <a:xfrm>
            <a:off x="3163230" y="2223558"/>
            <a:ext cx="509625" cy="463296"/>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9" name="Rounded Rectangle 98"/>
          <p:cNvSpPr/>
          <p:nvPr/>
        </p:nvSpPr>
        <p:spPr>
          <a:xfrm>
            <a:off x="3200294" y="2260622"/>
            <a:ext cx="435498" cy="25944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0" name="TextBox 99"/>
          <p:cNvSpPr txBox="1"/>
          <p:nvPr/>
        </p:nvSpPr>
        <p:spPr>
          <a:xfrm>
            <a:off x="3200294" y="2538599"/>
            <a:ext cx="435498" cy="111191"/>
          </a:xfrm>
          <a:prstGeom prst="rect">
            <a:avLst/>
          </a:prstGeom>
          <a:noFill/>
        </p:spPr>
        <p:txBody>
          <a:bodyPr wrap="square" lIns="0" tIns="0" rIns="0" bIns="0" anchor="t">
            <a:spAutoFit/>
          </a:bodyPr>
          <a:lstStyle/>
          <a:p>
            <a:pPr marL="0" indent="0" algn="l">
              <a:buNone/>
            </a:pPr>
            <a:r>
              <a:rPr sz="440" b="0" i="0">
                <a:solidFill>
                  <a:srgbClr val="555555"/>
                </a:solidFill>
              </a:rPr>
              <a:t>Product · 59,000 ₫</a:t>
            </a:r>
          </a:p>
        </p:txBody>
      </p:sp>
      <p:sp>
        <p:nvSpPr>
          <p:cNvPr id="101" name="Rounded Rectangle 100"/>
          <p:cNvSpPr/>
          <p:nvPr/>
        </p:nvSpPr>
        <p:spPr>
          <a:xfrm>
            <a:off x="3709920" y="2223558"/>
            <a:ext cx="509625" cy="463296"/>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2" name="Rounded Rectangle 101"/>
          <p:cNvSpPr/>
          <p:nvPr/>
        </p:nvSpPr>
        <p:spPr>
          <a:xfrm>
            <a:off x="3746983" y="2260622"/>
            <a:ext cx="435498" cy="25944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3" name="TextBox 102"/>
          <p:cNvSpPr txBox="1"/>
          <p:nvPr/>
        </p:nvSpPr>
        <p:spPr>
          <a:xfrm>
            <a:off x="3746983" y="2538599"/>
            <a:ext cx="435498" cy="111191"/>
          </a:xfrm>
          <a:prstGeom prst="rect">
            <a:avLst/>
          </a:prstGeom>
          <a:noFill/>
        </p:spPr>
        <p:txBody>
          <a:bodyPr wrap="square" lIns="0" tIns="0" rIns="0" bIns="0" anchor="t">
            <a:spAutoFit/>
          </a:bodyPr>
          <a:lstStyle/>
          <a:p>
            <a:pPr marL="0" indent="0" algn="l">
              <a:buNone/>
            </a:pPr>
            <a:r>
              <a:rPr sz="440" b="0" i="0">
                <a:solidFill>
                  <a:srgbClr val="555555"/>
                </a:solidFill>
              </a:rPr>
              <a:t>Product · 59,000 ₫</a:t>
            </a:r>
          </a:p>
        </p:txBody>
      </p:sp>
      <p:sp>
        <p:nvSpPr>
          <p:cNvPr id="104" name="Oval 103"/>
          <p:cNvSpPr/>
          <p:nvPr/>
        </p:nvSpPr>
        <p:spPr>
          <a:xfrm>
            <a:off x="2394160" y="1195041"/>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5" name="TextBox 104"/>
          <p:cNvSpPr txBox="1"/>
          <p:nvPr/>
        </p:nvSpPr>
        <p:spPr>
          <a:xfrm>
            <a:off x="2394160" y="1195041"/>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106" name="Rounded Rectangle 105"/>
          <p:cNvSpPr/>
          <p:nvPr/>
        </p:nvSpPr>
        <p:spPr>
          <a:xfrm>
            <a:off x="4664083" y="852203"/>
            <a:ext cx="1792955" cy="2233086"/>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7" name="Rectangle 106"/>
          <p:cNvSpPr/>
          <p:nvPr/>
        </p:nvSpPr>
        <p:spPr>
          <a:xfrm>
            <a:off x="4691880" y="880000"/>
            <a:ext cx="1737360" cy="2177491"/>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8" name="TextBox 107"/>
          <p:cNvSpPr txBox="1"/>
          <p:nvPr/>
        </p:nvSpPr>
        <p:spPr>
          <a:xfrm>
            <a:off x="4664083" y="3103820"/>
            <a:ext cx="1792955" cy="120456"/>
          </a:xfrm>
          <a:prstGeom prst="rect">
            <a:avLst/>
          </a:prstGeom>
          <a:noFill/>
        </p:spPr>
        <p:txBody>
          <a:bodyPr wrap="square" lIns="0" tIns="0" rIns="0" bIns="0" anchor="t">
            <a:spAutoFit/>
          </a:bodyPr>
          <a:lstStyle/>
          <a:p>
            <a:pPr marL="0" indent="0" algn="ctr">
              <a:buNone/>
            </a:pPr>
            <a:r>
              <a:rPr sz="750" b="1" i="0">
                <a:solidFill>
                  <a:srgbClr val="1E2F6E"/>
                </a:solidFill>
              </a:rPr>
              <a:t>C  ·  Next-day area</a:t>
            </a:r>
          </a:p>
        </p:txBody>
      </p:sp>
      <p:sp>
        <p:nvSpPr>
          <p:cNvPr id="109" name="TextBox 108"/>
          <p:cNvSpPr txBox="1"/>
          <p:nvPr/>
        </p:nvSpPr>
        <p:spPr>
          <a:xfrm>
            <a:off x="4756741" y="875596"/>
            <a:ext cx="277977" cy="92202"/>
          </a:xfrm>
          <a:prstGeom prst="rect">
            <a:avLst/>
          </a:prstGeom>
          <a:noFill/>
        </p:spPr>
        <p:txBody>
          <a:bodyPr wrap="square" lIns="0" tIns="0" rIns="0" bIns="0" anchor="ctr">
            <a:spAutoFit/>
          </a:bodyPr>
          <a:lstStyle/>
          <a:p>
            <a:pPr marL="0" indent="0" algn="l">
              <a:buNone/>
            </a:pPr>
            <a:r>
              <a:rPr sz="550" b="1" i="0">
                <a:solidFill>
                  <a:srgbClr val="FFFFFF"/>
                </a:solidFill>
              </a:rPr>
              <a:t>9:41</a:t>
            </a:r>
          </a:p>
        </p:txBody>
      </p:sp>
      <p:sp>
        <p:nvSpPr>
          <p:cNvPr id="110" name="TextBox 109"/>
          <p:cNvSpPr txBox="1"/>
          <p:nvPr/>
        </p:nvSpPr>
        <p:spPr>
          <a:xfrm>
            <a:off x="6086400" y="879787"/>
            <a:ext cx="277977" cy="83820"/>
          </a:xfrm>
          <a:prstGeom prst="rect">
            <a:avLst/>
          </a:prstGeom>
          <a:noFill/>
        </p:spPr>
        <p:txBody>
          <a:bodyPr wrap="square" lIns="0" tIns="0" rIns="0" bIns="0" anchor="ctr">
            <a:spAutoFit/>
          </a:bodyPr>
          <a:lstStyle/>
          <a:p>
            <a:pPr marL="0" indent="0" algn="r">
              <a:buNone/>
            </a:pPr>
            <a:r>
              <a:rPr sz="500" b="0" i="0">
                <a:solidFill>
                  <a:srgbClr val="FFFFFF"/>
                </a:solidFill>
              </a:rPr>
              <a:t>▮▮▮  ⌁  ▰</a:t>
            </a:r>
          </a:p>
        </p:txBody>
      </p:sp>
      <p:sp>
        <p:nvSpPr>
          <p:cNvPr id="111" name="Rectangle 110"/>
          <p:cNvSpPr/>
          <p:nvPr/>
        </p:nvSpPr>
        <p:spPr>
          <a:xfrm>
            <a:off x="4691880" y="981925"/>
            <a:ext cx="1737360" cy="342839"/>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2" name="TextBox 111"/>
          <p:cNvSpPr txBox="1"/>
          <p:nvPr/>
        </p:nvSpPr>
        <p:spPr>
          <a:xfrm>
            <a:off x="4756741" y="996494"/>
            <a:ext cx="64861" cy="100584"/>
          </a:xfrm>
          <a:prstGeom prst="rect">
            <a:avLst/>
          </a:prstGeom>
          <a:noFill/>
        </p:spPr>
        <p:txBody>
          <a:bodyPr wrap="square" lIns="0" tIns="0" rIns="0" bIns="0" anchor="ctr">
            <a:spAutoFit/>
          </a:bodyPr>
          <a:lstStyle/>
          <a:p>
            <a:pPr marL="0" indent="0" algn="l">
              <a:buNone/>
            </a:pPr>
            <a:r>
              <a:rPr sz="600" b="0" i="0">
                <a:solidFill>
                  <a:srgbClr val="FFD9DE"/>
                </a:solidFill>
              </a:rPr>
              <a:t>▣</a:t>
            </a:r>
          </a:p>
        </p:txBody>
      </p:sp>
      <p:sp>
        <p:nvSpPr>
          <p:cNvPr id="113" name="TextBox 112"/>
          <p:cNvSpPr txBox="1"/>
          <p:nvPr/>
        </p:nvSpPr>
        <p:spPr>
          <a:xfrm>
            <a:off x="4840134" y="993141"/>
            <a:ext cx="972921" cy="107289"/>
          </a:xfrm>
          <a:prstGeom prst="rect">
            <a:avLst/>
          </a:prstGeom>
          <a:noFill/>
        </p:spPr>
        <p:txBody>
          <a:bodyPr wrap="square" lIns="0" tIns="0" rIns="0" bIns="0" anchor="ctr">
            <a:spAutoFit/>
          </a:bodyPr>
          <a:lstStyle/>
          <a:p>
            <a:pPr marL="0" indent="0" algn="l">
              <a:buNone/>
            </a:pPr>
            <a:r>
              <a:rPr sz="640" b="1" i="0">
                <a:solidFill>
                  <a:srgbClr val="FFFFFF"/>
                </a:solidFill>
              </a:rPr>
              <a:t>LOTTE Mart Nam Sài Gòn</a:t>
            </a:r>
          </a:p>
        </p:txBody>
      </p:sp>
      <p:sp>
        <p:nvSpPr>
          <p:cNvPr id="114" name="TextBox 113"/>
          <p:cNvSpPr txBox="1"/>
          <p:nvPr/>
        </p:nvSpPr>
        <p:spPr>
          <a:xfrm>
            <a:off x="5813056" y="1000685"/>
            <a:ext cx="55595" cy="92202"/>
          </a:xfrm>
          <a:prstGeom prst="rect">
            <a:avLst/>
          </a:prstGeom>
          <a:noFill/>
        </p:spPr>
        <p:txBody>
          <a:bodyPr wrap="square" lIns="0" tIns="0" rIns="0" bIns="0" anchor="ctr">
            <a:spAutoFit/>
          </a:bodyPr>
          <a:lstStyle/>
          <a:p>
            <a:pPr marL="0" indent="0" algn="l">
              <a:buNone/>
            </a:pPr>
            <a:r>
              <a:rPr sz="550" b="0" i="0">
                <a:solidFill>
                  <a:srgbClr val="FFFFFF"/>
                </a:solidFill>
              </a:rPr>
              <a:t>▾</a:t>
            </a:r>
          </a:p>
        </p:txBody>
      </p:sp>
      <p:sp>
        <p:nvSpPr>
          <p:cNvPr id="115" name="TextBox 114"/>
          <p:cNvSpPr txBox="1"/>
          <p:nvPr/>
        </p:nvSpPr>
        <p:spPr>
          <a:xfrm>
            <a:off x="6081768" y="988112"/>
            <a:ext cx="101925" cy="117348"/>
          </a:xfrm>
          <a:prstGeom prst="rect">
            <a:avLst/>
          </a:prstGeom>
          <a:noFill/>
        </p:spPr>
        <p:txBody>
          <a:bodyPr wrap="square" lIns="0" tIns="0" rIns="0" bIns="0" anchor="ctr">
            <a:spAutoFit/>
          </a:bodyPr>
          <a:lstStyle/>
          <a:p>
            <a:pPr marL="0" indent="0" algn="ctr">
              <a:buNone/>
            </a:pPr>
            <a:r>
              <a:rPr sz="700" b="0" i="0">
                <a:solidFill>
                  <a:srgbClr val="FFFFFF"/>
                </a:solidFill>
              </a:rPr>
              <a:t>⌕</a:t>
            </a:r>
          </a:p>
        </p:txBody>
      </p:sp>
      <p:sp>
        <p:nvSpPr>
          <p:cNvPr id="116" name="TextBox 115"/>
          <p:cNvSpPr txBox="1"/>
          <p:nvPr/>
        </p:nvSpPr>
        <p:spPr>
          <a:xfrm>
            <a:off x="6220756" y="996494"/>
            <a:ext cx="101925" cy="100584"/>
          </a:xfrm>
          <a:prstGeom prst="rect">
            <a:avLst/>
          </a:prstGeom>
          <a:noFill/>
        </p:spPr>
        <p:txBody>
          <a:bodyPr wrap="square" lIns="0" tIns="0" rIns="0" bIns="0" anchor="ctr">
            <a:spAutoFit/>
          </a:bodyPr>
          <a:lstStyle/>
          <a:p>
            <a:pPr marL="0" indent="0" algn="ctr">
              <a:buNone/>
            </a:pPr>
            <a:r>
              <a:rPr sz="600" b="0" i="0">
                <a:solidFill>
                  <a:srgbClr val="FFFFFF"/>
                </a:solidFill>
              </a:rPr>
              <a:t>♡</a:t>
            </a:r>
          </a:p>
        </p:txBody>
      </p:sp>
      <p:sp>
        <p:nvSpPr>
          <p:cNvPr id="117" name="TextBox 116"/>
          <p:cNvSpPr txBox="1"/>
          <p:nvPr/>
        </p:nvSpPr>
        <p:spPr>
          <a:xfrm>
            <a:off x="4756741" y="1098816"/>
            <a:ext cx="64861" cy="90525"/>
          </a:xfrm>
          <a:prstGeom prst="rect">
            <a:avLst/>
          </a:prstGeom>
          <a:noFill/>
        </p:spPr>
        <p:txBody>
          <a:bodyPr wrap="square" lIns="0" tIns="0" rIns="0" bIns="0" anchor="ctr">
            <a:spAutoFit/>
          </a:bodyPr>
          <a:lstStyle/>
          <a:p>
            <a:pPr marL="0" indent="0" algn="l">
              <a:buNone/>
            </a:pPr>
            <a:r>
              <a:rPr sz="540" b="0" i="0">
                <a:solidFill>
                  <a:srgbClr val="FFD9DE"/>
                </a:solidFill>
              </a:rPr>
              <a:t>◎</a:t>
            </a:r>
          </a:p>
        </p:txBody>
      </p:sp>
      <p:sp>
        <p:nvSpPr>
          <p:cNvPr id="118" name="TextBox 117"/>
          <p:cNvSpPr txBox="1"/>
          <p:nvPr/>
        </p:nvSpPr>
        <p:spPr>
          <a:xfrm>
            <a:off x="4840134" y="1097140"/>
            <a:ext cx="1158240" cy="93878"/>
          </a:xfrm>
          <a:prstGeom prst="rect">
            <a:avLst/>
          </a:prstGeom>
          <a:noFill/>
        </p:spPr>
        <p:txBody>
          <a:bodyPr wrap="square" lIns="0" tIns="0" rIns="0" bIns="0" anchor="ctr">
            <a:spAutoFit/>
          </a:bodyPr>
          <a:lstStyle/>
          <a:p>
            <a:pPr marL="0" indent="0" algn="l">
              <a:buNone/>
            </a:pPr>
            <a:r>
              <a:rPr sz="560" b="1" i="0">
                <a:solidFill>
                  <a:srgbClr val="FFFFFF"/>
                </a:solidFill>
              </a:rPr>
              <a:t>123 Nguyễn Thị Thập, Q.7</a:t>
            </a:r>
          </a:p>
        </p:txBody>
      </p:sp>
      <p:sp>
        <p:nvSpPr>
          <p:cNvPr id="119" name="TextBox 118"/>
          <p:cNvSpPr txBox="1"/>
          <p:nvPr/>
        </p:nvSpPr>
        <p:spPr>
          <a:xfrm>
            <a:off x="6007640" y="1102169"/>
            <a:ext cx="55595" cy="83820"/>
          </a:xfrm>
          <a:prstGeom prst="rect">
            <a:avLst/>
          </a:prstGeom>
          <a:noFill/>
        </p:spPr>
        <p:txBody>
          <a:bodyPr wrap="square" lIns="0" tIns="0" rIns="0" bIns="0" anchor="ctr">
            <a:spAutoFit/>
          </a:bodyPr>
          <a:lstStyle/>
          <a:p>
            <a:pPr marL="0" indent="0" algn="l">
              <a:buNone/>
            </a:pPr>
            <a:r>
              <a:rPr sz="500" b="0" i="0">
                <a:solidFill>
                  <a:srgbClr val="FFD9DE"/>
                </a:solidFill>
              </a:rPr>
              <a:t>▾</a:t>
            </a:r>
          </a:p>
        </p:txBody>
      </p:sp>
      <p:sp>
        <p:nvSpPr>
          <p:cNvPr id="120" name="TextBox 119"/>
          <p:cNvSpPr txBox="1"/>
          <p:nvPr/>
        </p:nvSpPr>
        <p:spPr>
          <a:xfrm>
            <a:off x="4756741" y="1183886"/>
            <a:ext cx="64861" cy="87172"/>
          </a:xfrm>
          <a:prstGeom prst="rect">
            <a:avLst/>
          </a:prstGeom>
          <a:noFill/>
        </p:spPr>
        <p:txBody>
          <a:bodyPr wrap="square" lIns="0" tIns="0" rIns="0" bIns="0" anchor="ctr">
            <a:spAutoFit/>
          </a:bodyPr>
          <a:lstStyle/>
          <a:p>
            <a:pPr marL="0" indent="0" algn="l">
              <a:buNone/>
            </a:pPr>
            <a:r>
              <a:rPr sz="520" b="0" i="0">
                <a:solidFill>
                  <a:srgbClr val="FFD9DE"/>
                </a:solidFill>
              </a:rPr>
              <a:t>◷</a:t>
            </a:r>
          </a:p>
        </p:txBody>
      </p:sp>
      <p:sp>
        <p:nvSpPr>
          <p:cNvPr id="121" name="TextBox 120"/>
          <p:cNvSpPr txBox="1"/>
          <p:nvPr/>
        </p:nvSpPr>
        <p:spPr>
          <a:xfrm>
            <a:off x="4840134" y="1182209"/>
            <a:ext cx="1389888" cy="90525"/>
          </a:xfrm>
          <a:prstGeom prst="rect">
            <a:avLst/>
          </a:prstGeom>
          <a:noFill/>
        </p:spPr>
        <p:txBody>
          <a:bodyPr wrap="square" lIns="0" tIns="0" rIns="0" bIns="0" anchor="ctr">
            <a:spAutoFit/>
          </a:bodyPr>
          <a:lstStyle/>
          <a:p>
            <a:pPr marL="0" indent="0" algn="l">
              <a:buNone/>
            </a:pPr>
            <a:r>
              <a:rPr sz="540" b="0" i="0">
                <a:solidFill>
                  <a:srgbClr val="FFE4E8"/>
                </a:solidFill>
              </a:rPr>
              <a:t>Next-day  ·  arrives Sat 16 Aug</a:t>
            </a:r>
          </a:p>
        </p:txBody>
      </p:sp>
      <p:sp>
        <p:nvSpPr>
          <p:cNvPr id="122" name="Rounded Rectangle 121"/>
          <p:cNvSpPr/>
          <p:nvPr/>
        </p:nvSpPr>
        <p:spPr>
          <a:xfrm>
            <a:off x="4738209" y="1361827"/>
            <a:ext cx="1644700" cy="129722"/>
          </a:xfrm>
          <a:prstGeom prst="roundRect">
            <a:avLst>
              <a:gd name="adj" fmla="val 15000"/>
            </a:avLst>
          </a:prstGeom>
          <a:solidFill>
            <a:srgbClr val="FFF6E5"/>
          </a:solidFill>
          <a:ln w="6350">
            <a:solidFill>
              <a:srgbClr val="FFF6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3" name="TextBox 122"/>
          <p:cNvSpPr txBox="1"/>
          <p:nvPr/>
        </p:nvSpPr>
        <p:spPr>
          <a:xfrm>
            <a:off x="4775273" y="1361827"/>
            <a:ext cx="83393" cy="129722"/>
          </a:xfrm>
          <a:prstGeom prst="rect">
            <a:avLst/>
          </a:prstGeom>
          <a:noFill/>
        </p:spPr>
        <p:txBody>
          <a:bodyPr wrap="square" lIns="0" tIns="0" rIns="0" bIns="0" anchor="ctr">
            <a:spAutoFit/>
          </a:bodyPr>
          <a:lstStyle/>
          <a:p>
            <a:pPr marL="0" indent="0" algn="ctr">
              <a:buNone/>
            </a:pPr>
            <a:r>
              <a:rPr sz="550" b="1" i="0">
                <a:solidFill>
                  <a:srgbClr val="B26A00"/>
                </a:solidFill>
              </a:rPr>
              <a:t>!</a:t>
            </a:r>
          </a:p>
        </p:txBody>
      </p:sp>
      <p:sp>
        <p:nvSpPr>
          <p:cNvPr id="124" name="TextBox 123"/>
          <p:cNvSpPr txBox="1"/>
          <p:nvPr/>
        </p:nvSpPr>
        <p:spPr>
          <a:xfrm>
            <a:off x="4886464" y="1361827"/>
            <a:ext cx="1468648" cy="129722"/>
          </a:xfrm>
          <a:prstGeom prst="rect">
            <a:avLst/>
          </a:prstGeom>
          <a:noFill/>
        </p:spPr>
        <p:txBody>
          <a:bodyPr wrap="square" lIns="0" tIns="0" rIns="0" bIns="0" anchor="ctr">
            <a:spAutoFit/>
          </a:bodyPr>
          <a:lstStyle/>
          <a:p>
            <a:pPr marL="0" indent="0" algn="l">
              <a:buNone/>
            </a:pPr>
            <a:r>
              <a:rPr sz="540" b="0" i="0">
                <a:solidFill>
                  <a:srgbClr val="B26A00"/>
                </a:solidFill>
              </a:rPr>
              <a:t>Long-distance delivery — date instead of time slot</a:t>
            </a:r>
          </a:p>
        </p:txBody>
      </p:sp>
      <p:sp>
        <p:nvSpPr>
          <p:cNvPr id="125" name="Rounded Rectangle 124"/>
          <p:cNvSpPr/>
          <p:nvPr/>
        </p:nvSpPr>
        <p:spPr>
          <a:xfrm>
            <a:off x="4756741" y="1537880"/>
            <a:ext cx="1607637" cy="138988"/>
          </a:xfrm>
          <a:prstGeom prst="roundRect">
            <a:avLst>
              <a:gd name="adj" fmla="val 30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6" name="TextBox 125"/>
          <p:cNvSpPr txBox="1"/>
          <p:nvPr/>
        </p:nvSpPr>
        <p:spPr>
          <a:xfrm>
            <a:off x="4821602" y="1537880"/>
            <a:ext cx="1389888" cy="138988"/>
          </a:xfrm>
          <a:prstGeom prst="rect">
            <a:avLst/>
          </a:prstGeom>
          <a:noFill/>
        </p:spPr>
        <p:txBody>
          <a:bodyPr wrap="square" lIns="0" tIns="0" rIns="0" bIns="0" anchor="ctr">
            <a:spAutoFit/>
          </a:bodyPr>
          <a:lstStyle/>
          <a:p>
            <a:pPr marL="0" indent="0" algn="l">
              <a:buNone/>
            </a:pPr>
            <a:r>
              <a:rPr sz="540" b="0" i="0">
                <a:solidFill>
                  <a:srgbClr val="AAAAAA"/>
                </a:solidFill>
              </a:rPr>
              <a:t>⌕   Search 30,000+ products</a:t>
            </a:r>
          </a:p>
        </p:txBody>
      </p:sp>
      <p:sp>
        <p:nvSpPr>
          <p:cNvPr id="127" name="Rounded Rectangle 126"/>
          <p:cNvSpPr/>
          <p:nvPr/>
        </p:nvSpPr>
        <p:spPr>
          <a:xfrm>
            <a:off x="4756741" y="1723198"/>
            <a:ext cx="509625" cy="463296"/>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8" name="Rounded Rectangle 127"/>
          <p:cNvSpPr/>
          <p:nvPr/>
        </p:nvSpPr>
        <p:spPr>
          <a:xfrm>
            <a:off x="4793805" y="1760262"/>
            <a:ext cx="435498" cy="25944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9" name="TextBox 128"/>
          <p:cNvSpPr txBox="1"/>
          <p:nvPr/>
        </p:nvSpPr>
        <p:spPr>
          <a:xfrm>
            <a:off x="4793805" y="2038240"/>
            <a:ext cx="435498" cy="111191"/>
          </a:xfrm>
          <a:prstGeom prst="rect">
            <a:avLst/>
          </a:prstGeom>
          <a:noFill/>
        </p:spPr>
        <p:txBody>
          <a:bodyPr wrap="square" lIns="0" tIns="0" rIns="0" bIns="0" anchor="t">
            <a:spAutoFit/>
          </a:bodyPr>
          <a:lstStyle/>
          <a:p>
            <a:pPr marL="0" indent="0" algn="l">
              <a:buNone/>
            </a:pPr>
            <a:r>
              <a:rPr sz="440" b="0" i="0">
                <a:solidFill>
                  <a:srgbClr val="555555"/>
                </a:solidFill>
              </a:rPr>
              <a:t>Product · 59,000 ₫</a:t>
            </a:r>
          </a:p>
        </p:txBody>
      </p:sp>
      <p:sp>
        <p:nvSpPr>
          <p:cNvPr id="130" name="Rounded Rectangle 129"/>
          <p:cNvSpPr/>
          <p:nvPr/>
        </p:nvSpPr>
        <p:spPr>
          <a:xfrm>
            <a:off x="5303430" y="1723198"/>
            <a:ext cx="509625" cy="463296"/>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1" name="Rounded Rectangle 130"/>
          <p:cNvSpPr/>
          <p:nvPr/>
        </p:nvSpPr>
        <p:spPr>
          <a:xfrm>
            <a:off x="5340494" y="1760262"/>
            <a:ext cx="435498" cy="25944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2" name="TextBox 131"/>
          <p:cNvSpPr txBox="1"/>
          <p:nvPr/>
        </p:nvSpPr>
        <p:spPr>
          <a:xfrm>
            <a:off x="5340494" y="2038240"/>
            <a:ext cx="435498" cy="111191"/>
          </a:xfrm>
          <a:prstGeom prst="rect">
            <a:avLst/>
          </a:prstGeom>
          <a:noFill/>
        </p:spPr>
        <p:txBody>
          <a:bodyPr wrap="square" lIns="0" tIns="0" rIns="0" bIns="0" anchor="t">
            <a:spAutoFit/>
          </a:bodyPr>
          <a:lstStyle/>
          <a:p>
            <a:pPr marL="0" indent="0" algn="l">
              <a:buNone/>
            </a:pPr>
            <a:r>
              <a:rPr sz="440" b="0" i="0">
                <a:solidFill>
                  <a:srgbClr val="555555"/>
                </a:solidFill>
              </a:rPr>
              <a:t>Product · 59,000 ₫</a:t>
            </a:r>
          </a:p>
        </p:txBody>
      </p:sp>
      <p:sp>
        <p:nvSpPr>
          <p:cNvPr id="133" name="Rounded Rectangle 132"/>
          <p:cNvSpPr/>
          <p:nvPr/>
        </p:nvSpPr>
        <p:spPr>
          <a:xfrm>
            <a:off x="5850120" y="1723198"/>
            <a:ext cx="509625" cy="463296"/>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4" name="Rounded Rectangle 133"/>
          <p:cNvSpPr/>
          <p:nvPr/>
        </p:nvSpPr>
        <p:spPr>
          <a:xfrm>
            <a:off x="5887183" y="1760262"/>
            <a:ext cx="435498" cy="25944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5" name="TextBox 134"/>
          <p:cNvSpPr txBox="1"/>
          <p:nvPr/>
        </p:nvSpPr>
        <p:spPr>
          <a:xfrm>
            <a:off x="5887183" y="2038240"/>
            <a:ext cx="435498" cy="111191"/>
          </a:xfrm>
          <a:prstGeom prst="rect">
            <a:avLst/>
          </a:prstGeom>
          <a:noFill/>
        </p:spPr>
        <p:txBody>
          <a:bodyPr wrap="square" lIns="0" tIns="0" rIns="0" bIns="0" anchor="t">
            <a:spAutoFit/>
          </a:bodyPr>
          <a:lstStyle/>
          <a:p>
            <a:pPr marL="0" indent="0" algn="l">
              <a:buNone/>
            </a:pPr>
            <a:r>
              <a:rPr sz="440" b="0" i="0">
                <a:solidFill>
                  <a:srgbClr val="555555"/>
                </a:solidFill>
              </a:rPr>
              <a:t>Product · 59,000 ₫</a:t>
            </a:r>
          </a:p>
        </p:txBody>
      </p:sp>
      <p:sp>
        <p:nvSpPr>
          <p:cNvPr id="136" name="Rounded Rectangle 135"/>
          <p:cNvSpPr/>
          <p:nvPr/>
        </p:nvSpPr>
        <p:spPr>
          <a:xfrm>
            <a:off x="4756741" y="2223558"/>
            <a:ext cx="509625" cy="463296"/>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7" name="Rounded Rectangle 136"/>
          <p:cNvSpPr/>
          <p:nvPr/>
        </p:nvSpPr>
        <p:spPr>
          <a:xfrm>
            <a:off x="4793805" y="2260622"/>
            <a:ext cx="435498" cy="25944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8" name="TextBox 137"/>
          <p:cNvSpPr txBox="1"/>
          <p:nvPr/>
        </p:nvSpPr>
        <p:spPr>
          <a:xfrm>
            <a:off x="4793805" y="2538599"/>
            <a:ext cx="435498" cy="111191"/>
          </a:xfrm>
          <a:prstGeom prst="rect">
            <a:avLst/>
          </a:prstGeom>
          <a:noFill/>
        </p:spPr>
        <p:txBody>
          <a:bodyPr wrap="square" lIns="0" tIns="0" rIns="0" bIns="0" anchor="t">
            <a:spAutoFit/>
          </a:bodyPr>
          <a:lstStyle/>
          <a:p>
            <a:pPr marL="0" indent="0" algn="l">
              <a:buNone/>
            </a:pPr>
            <a:r>
              <a:rPr sz="440" b="0" i="0">
                <a:solidFill>
                  <a:srgbClr val="555555"/>
                </a:solidFill>
              </a:rPr>
              <a:t>Product · 59,000 ₫</a:t>
            </a:r>
          </a:p>
        </p:txBody>
      </p:sp>
      <p:sp>
        <p:nvSpPr>
          <p:cNvPr id="139" name="Rounded Rectangle 138"/>
          <p:cNvSpPr/>
          <p:nvPr/>
        </p:nvSpPr>
        <p:spPr>
          <a:xfrm>
            <a:off x="5303430" y="2223558"/>
            <a:ext cx="509625" cy="463296"/>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0" name="Rounded Rectangle 139"/>
          <p:cNvSpPr/>
          <p:nvPr/>
        </p:nvSpPr>
        <p:spPr>
          <a:xfrm>
            <a:off x="5340494" y="2260622"/>
            <a:ext cx="435498" cy="25944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1" name="TextBox 140"/>
          <p:cNvSpPr txBox="1"/>
          <p:nvPr/>
        </p:nvSpPr>
        <p:spPr>
          <a:xfrm>
            <a:off x="5340494" y="2538599"/>
            <a:ext cx="435498" cy="111191"/>
          </a:xfrm>
          <a:prstGeom prst="rect">
            <a:avLst/>
          </a:prstGeom>
          <a:noFill/>
        </p:spPr>
        <p:txBody>
          <a:bodyPr wrap="square" lIns="0" tIns="0" rIns="0" bIns="0" anchor="t">
            <a:spAutoFit/>
          </a:bodyPr>
          <a:lstStyle/>
          <a:p>
            <a:pPr marL="0" indent="0" algn="l">
              <a:buNone/>
            </a:pPr>
            <a:r>
              <a:rPr sz="440" b="0" i="0">
                <a:solidFill>
                  <a:srgbClr val="555555"/>
                </a:solidFill>
              </a:rPr>
              <a:t>Product · 59,000 ₫</a:t>
            </a:r>
          </a:p>
        </p:txBody>
      </p:sp>
      <p:sp>
        <p:nvSpPr>
          <p:cNvPr id="142" name="Rounded Rectangle 141"/>
          <p:cNvSpPr/>
          <p:nvPr/>
        </p:nvSpPr>
        <p:spPr>
          <a:xfrm>
            <a:off x="5850120" y="2223558"/>
            <a:ext cx="509625" cy="463296"/>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3" name="Rounded Rectangle 142"/>
          <p:cNvSpPr/>
          <p:nvPr/>
        </p:nvSpPr>
        <p:spPr>
          <a:xfrm>
            <a:off x="5887183" y="2260622"/>
            <a:ext cx="435498" cy="25944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4" name="TextBox 143"/>
          <p:cNvSpPr txBox="1"/>
          <p:nvPr/>
        </p:nvSpPr>
        <p:spPr>
          <a:xfrm>
            <a:off x="5887183" y="2538599"/>
            <a:ext cx="435498" cy="111191"/>
          </a:xfrm>
          <a:prstGeom prst="rect">
            <a:avLst/>
          </a:prstGeom>
          <a:noFill/>
        </p:spPr>
        <p:txBody>
          <a:bodyPr wrap="square" lIns="0" tIns="0" rIns="0" bIns="0" anchor="t">
            <a:spAutoFit/>
          </a:bodyPr>
          <a:lstStyle/>
          <a:p>
            <a:pPr marL="0" indent="0" algn="l">
              <a:buNone/>
            </a:pPr>
            <a:r>
              <a:rPr sz="440" b="0" i="0">
                <a:solidFill>
                  <a:srgbClr val="555555"/>
                </a:solidFill>
              </a:rPr>
              <a:t>Product · 59,000 ₫</a:t>
            </a:r>
          </a:p>
        </p:txBody>
      </p:sp>
      <p:sp>
        <p:nvSpPr>
          <p:cNvPr id="145" name="Oval 144"/>
          <p:cNvSpPr/>
          <p:nvPr/>
        </p:nvSpPr>
        <p:spPr>
          <a:xfrm>
            <a:off x="4534360" y="1195041"/>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6" name="TextBox 145"/>
          <p:cNvSpPr txBox="1"/>
          <p:nvPr/>
        </p:nvSpPr>
        <p:spPr>
          <a:xfrm>
            <a:off x="4534360" y="1195041"/>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147" name="Rounded Rectangle 146"/>
          <p:cNvSpPr/>
          <p:nvPr/>
        </p:nvSpPr>
        <p:spPr>
          <a:xfrm>
            <a:off x="383683" y="3401203"/>
            <a:ext cx="1792955" cy="1538142"/>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8" name="Rectangle 147"/>
          <p:cNvSpPr/>
          <p:nvPr/>
        </p:nvSpPr>
        <p:spPr>
          <a:xfrm>
            <a:off x="411480" y="3429000"/>
            <a:ext cx="1737360" cy="1482547"/>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9" name="TextBox 148"/>
          <p:cNvSpPr txBox="1"/>
          <p:nvPr/>
        </p:nvSpPr>
        <p:spPr>
          <a:xfrm>
            <a:off x="383683" y="4957876"/>
            <a:ext cx="1792955" cy="120456"/>
          </a:xfrm>
          <a:prstGeom prst="rect">
            <a:avLst/>
          </a:prstGeom>
          <a:noFill/>
        </p:spPr>
        <p:txBody>
          <a:bodyPr wrap="square" lIns="0" tIns="0" rIns="0" bIns="0" anchor="t">
            <a:spAutoFit/>
          </a:bodyPr>
          <a:lstStyle/>
          <a:p>
            <a:pPr marL="0" indent="0" algn="ctr">
              <a:buNone/>
            </a:pPr>
            <a:r>
              <a:rPr sz="750" b="1" i="0">
                <a:solidFill>
                  <a:srgbClr val="1E2F6E"/>
                </a:solidFill>
              </a:rPr>
              <a:t>D  ·  Outside every service area  —  no date, no time</a:t>
            </a:r>
          </a:p>
        </p:txBody>
      </p:sp>
      <p:sp>
        <p:nvSpPr>
          <p:cNvPr id="150" name="TextBox 149"/>
          <p:cNvSpPr txBox="1"/>
          <p:nvPr/>
        </p:nvSpPr>
        <p:spPr>
          <a:xfrm>
            <a:off x="476341" y="3424596"/>
            <a:ext cx="277977" cy="92202"/>
          </a:xfrm>
          <a:prstGeom prst="rect">
            <a:avLst/>
          </a:prstGeom>
          <a:noFill/>
        </p:spPr>
        <p:txBody>
          <a:bodyPr wrap="square" lIns="0" tIns="0" rIns="0" bIns="0" anchor="ctr">
            <a:spAutoFit/>
          </a:bodyPr>
          <a:lstStyle/>
          <a:p>
            <a:pPr marL="0" indent="0" algn="l">
              <a:buNone/>
            </a:pPr>
            <a:r>
              <a:rPr sz="550" b="1" i="0">
                <a:solidFill>
                  <a:srgbClr val="FFFFFF"/>
                </a:solidFill>
              </a:rPr>
              <a:t>9:41</a:t>
            </a:r>
          </a:p>
        </p:txBody>
      </p:sp>
      <p:sp>
        <p:nvSpPr>
          <p:cNvPr id="151" name="TextBox 150"/>
          <p:cNvSpPr txBox="1"/>
          <p:nvPr/>
        </p:nvSpPr>
        <p:spPr>
          <a:xfrm>
            <a:off x="1806000" y="3428787"/>
            <a:ext cx="277977" cy="83820"/>
          </a:xfrm>
          <a:prstGeom prst="rect">
            <a:avLst/>
          </a:prstGeom>
          <a:noFill/>
        </p:spPr>
        <p:txBody>
          <a:bodyPr wrap="square" lIns="0" tIns="0" rIns="0" bIns="0" anchor="ctr">
            <a:spAutoFit/>
          </a:bodyPr>
          <a:lstStyle/>
          <a:p>
            <a:pPr marL="0" indent="0" algn="r">
              <a:buNone/>
            </a:pPr>
            <a:r>
              <a:rPr sz="500" b="0" i="0">
                <a:solidFill>
                  <a:srgbClr val="FFFFFF"/>
                </a:solidFill>
              </a:rPr>
              <a:t>▮▮▮  ⌁  ▰</a:t>
            </a:r>
          </a:p>
        </p:txBody>
      </p:sp>
      <p:sp>
        <p:nvSpPr>
          <p:cNvPr id="152" name="Rectangle 151"/>
          <p:cNvSpPr/>
          <p:nvPr/>
        </p:nvSpPr>
        <p:spPr>
          <a:xfrm>
            <a:off x="411480" y="3530925"/>
            <a:ext cx="1737360" cy="342839"/>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3" name="TextBox 152"/>
          <p:cNvSpPr txBox="1"/>
          <p:nvPr/>
        </p:nvSpPr>
        <p:spPr>
          <a:xfrm>
            <a:off x="476341" y="3545494"/>
            <a:ext cx="64861" cy="100584"/>
          </a:xfrm>
          <a:prstGeom prst="rect">
            <a:avLst/>
          </a:prstGeom>
          <a:noFill/>
        </p:spPr>
        <p:txBody>
          <a:bodyPr wrap="square" lIns="0" tIns="0" rIns="0" bIns="0" anchor="ctr">
            <a:spAutoFit/>
          </a:bodyPr>
          <a:lstStyle/>
          <a:p>
            <a:pPr marL="0" indent="0" algn="l">
              <a:buNone/>
            </a:pPr>
            <a:r>
              <a:rPr sz="600" b="0" i="0">
                <a:solidFill>
                  <a:srgbClr val="FFD9DE"/>
                </a:solidFill>
              </a:rPr>
              <a:t>▣</a:t>
            </a:r>
          </a:p>
        </p:txBody>
      </p:sp>
      <p:sp>
        <p:nvSpPr>
          <p:cNvPr id="154" name="TextBox 153"/>
          <p:cNvSpPr txBox="1"/>
          <p:nvPr/>
        </p:nvSpPr>
        <p:spPr>
          <a:xfrm>
            <a:off x="559734" y="3542141"/>
            <a:ext cx="972921" cy="107289"/>
          </a:xfrm>
          <a:prstGeom prst="rect">
            <a:avLst/>
          </a:prstGeom>
          <a:noFill/>
        </p:spPr>
        <p:txBody>
          <a:bodyPr wrap="square" lIns="0" tIns="0" rIns="0" bIns="0" anchor="ctr">
            <a:spAutoFit/>
          </a:bodyPr>
          <a:lstStyle/>
          <a:p>
            <a:pPr marL="0" indent="0" algn="l">
              <a:buNone/>
            </a:pPr>
            <a:r>
              <a:rPr sz="640" b="1" i="0">
                <a:solidFill>
                  <a:srgbClr val="FFFFFF"/>
                </a:solidFill>
              </a:rPr>
              <a:t>LOTTE Mart Nam Sài Gòn</a:t>
            </a:r>
          </a:p>
        </p:txBody>
      </p:sp>
      <p:sp>
        <p:nvSpPr>
          <p:cNvPr id="155" name="TextBox 154"/>
          <p:cNvSpPr txBox="1"/>
          <p:nvPr/>
        </p:nvSpPr>
        <p:spPr>
          <a:xfrm>
            <a:off x="476341" y="3647816"/>
            <a:ext cx="64861" cy="90525"/>
          </a:xfrm>
          <a:prstGeom prst="rect">
            <a:avLst/>
          </a:prstGeom>
          <a:noFill/>
        </p:spPr>
        <p:txBody>
          <a:bodyPr wrap="square" lIns="0" tIns="0" rIns="0" bIns="0" anchor="ctr">
            <a:spAutoFit/>
          </a:bodyPr>
          <a:lstStyle/>
          <a:p>
            <a:pPr marL="0" indent="0" algn="l">
              <a:buNone/>
            </a:pPr>
            <a:r>
              <a:rPr sz="540" b="0" i="0">
                <a:solidFill>
                  <a:srgbClr val="FFD9DE"/>
                </a:solidFill>
              </a:rPr>
              <a:t>◎</a:t>
            </a:r>
          </a:p>
        </p:txBody>
      </p:sp>
      <p:sp>
        <p:nvSpPr>
          <p:cNvPr id="156" name="TextBox 155"/>
          <p:cNvSpPr txBox="1"/>
          <p:nvPr/>
        </p:nvSpPr>
        <p:spPr>
          <a:xfrm>
            <a:off x="559734" y="3646140"/>
            <a:ext cx="1297228" cy="93878"/>
          </a:xfrm>
          <a:prstGeom prst="rect">
            <a:avLst/>
          </a:prstGeom>
          <a:noFill/>
        </p:spPr>
        <p:txBody>
          <a:bodyPr wrap="square" lIns="0" tIns="0" rIns="0" bIns="0" anchor="ctr">
            <a:spAutoFit/>
          </a:bodyPr>
          <a:lstStyle/>
          <a:p>
            <a:pPr marL="0" indent="0" algn="l">
              <a:buNone/>
            </a:pPr>
            <a:r>
              <a:rPr sz="560" b="1" i="0">
                <a:solidFill>
                  <a:srgbClr val="FFFFFF"/>
                </a:solidFill>
              </a:rPr>
              <a:t>88 Đảo Phú Quý, Bình Thuận</a:t>
            </a:r>
          </a:p>
        </p:txBody>
      </p:sp>
      <p:sp>
        <p:nvSpPr>
          <p:cNvPr id="157" name="TextBox 156"/>
          <p:cNvSpPr txBox="1"/>
          <p:nvPr/>
        </p:nvSpPr>
        <p:spPr>
          <a:xfrm>
            <a:off x="476341" y="3732489"/>
            <a:ext cx="1575206" cy="97231"/>
          </a:xfrm>
          <a:prstGeom prst="rect">
            <a:avLst/>
          </a:prstGeom>
          <a:noFill/>
        </p:spPr>
        <p:txBody>
          <a:bodyPr wrap="square" lIns="0" tIns="0" rIns="0" bIns="0" anchor="ctr">
            <a:spAutoFit/>
          </a:bodyPr>
          <a:lstStyle/>
          <a:p>
            <a:pPr marL="0" indent="0" algn="l">
              <a:buNone/>
            </a:pPr>
            <a:r>
              <a:rPr sz="580" b="1" i="0">
                <a:solidFill>
                  <a:srgbClr val="FFE4E8"/>
                </a:solidFill>
              </a:rPr>
              <a:t>This area is not served yet</a:t>
            </a:r>
          </a:p>
        </p:txBody>
      </p:sp>
      <p:sp>
        <p:nvSpPr>
          <p:cNvPr id="158" name="Rounded Rectangle 157"/>
          <p:cNvSpPr/>
          <p:nvPr/>
        </p:nvSpPr>
        <p:spPr>
          <a:xfrm>
            <a:off x="457809" y="3910827"/>
            <a:ext cx="1644700" cy="157520"/>
          </a:xfrm>
          <a:prstGeom prst="roundRect">
            <a:avLst>
              <a:gd name="adj" fmla="val 15000"/>
            </a:avLst>
          </a:prstGeom>
          <a:solidFill>
            <a:srgbClr val="FDECEE"/>
          </a:solidFill>
          <a:ln w="6350">
            <a:solidFill>
              <a:srgbClr val="FDECE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9" name="TextBox 158"/>
          <p:cNvSpPr txBox="1"/>
          <p:nvPr/>
        </p:nvSpPr>
        <p:spPr>
          <a:xfrm>
            <a:off x="494873" y="3910827"/>
            <a:ext cx="83393" cy="157520"/>
          </a:xfrm>
          <a:prstGeom prst="rect">
            <a:avLst/>
          </a:prstGeom>
          <a:noFill/>
        </p:spPr>
        <p:txBody>
          <a:bodyPr wrap="square" lIns="0" tIns="0" rIns="0" bIns="0" anchor="ctr">
            <a:spAutoFit/>
          </a:bodyPr>
          <a:lstStyle/>
          <a:p>
            <a:pPr marL="0" indent="0" algn="ctr">
              <a:buNone/>
            </a:pPr>
            <a:r>
              <a:rPr sz="550" b="1" i="0">
                <a:solidFill>
                  <a:srgbClr val="C8102E"/>
                </a:solidFill>
              </a:rPr>
              <a:t>✕</a:t>
            </a:r>
          </a:p>
        </p:txBody>
      </p:sp>
      <p:sp>
        <p:nvSpPr>
          <p:cNvPr id="160" name="TextBox 159"/>
          <p:cNvSpPr txBox="1"/>
          <p:nvPr/>
        </p:nvSpPr>
        <p:spPr>
          <a:xfrm>
            <a:off x="606064" y="3910827"/>
            <a:ext cx="1468648" cy="157520"/>
          </a:xfrm>
          <a:prstGeom prst="rect">
            <a:avLst/>
          </a:prstGeom>
          <a:noFill/>
        </p:spPr>
        <p:txBody>
          <a:bodyPr wrap="square" lIns="0" tIns="0" rIns="0" bIns="0" anchor="ctr">
            <a:spAutoFit/>
          </a:bodyPr>
          <a:lstStyle/>
          <a:p>
            <a:pPr marL="0" indent="0" algn="l">
              <a:buNone/>
            </a:pPr>
            <a:r>
              <a:rPr sz="540" b="0" i="0">
                <a:solidFill>
                  <a:srgbClr val="C8102E"/>
                </a:solidFill>
              </a:rPr>
              <a:t>Delivery is not available here. Browsing, prices and Pickup still work.</a:t>
            </a:r>
          </a:p>
        </p:txBody>
      </p:sp>
      <p:sp>
        <p:nvSpPr>
          <p:cNvPr id="161" name="Rounded Rectangle 160"/>
          <p:cNvSpPr/>
          <p:nvPr/>
        </p:nvSpPr>
        <p:spPr>
          <a:xfrm>
            <a:off x="476341" y="4123944"/>
            <a:ext cx="1607637" cy="157520"/>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2" name="TextBox 161"/>
          <p:cNvSpPr txBox="1"/>
          <p:nvPr/>
        </p:nvSpPr>
        <p:spPr>
          <a:xfrm>
            <a:off x="476341" y="4123944"/>
            <a:ext cx="1607637" cy="157520"/>
          </a:xfrm>
          <a:prstGeom prst="rect">
            <a:avLst/>
          </a:prstGeom>
          <a:noFill/>
        </p:spPr>
        <p:txBody>
          <a:bodyPr wrap="square" lIns="0" tIns="0" rIns="0" bIns="0" anchor="ctr">
            <a:spAutoFit/>
          </a:bodyPr>
          <a:lstStyle/>
          <a:p>
            <a:pPr marL="0" indent="0" algn="ctr">
              <a:buNone/>
            </a:pPr>
            <a:r>
              <a:rPr sz="650" b="1" i="0">
                <a:solidFill>
                  <a:srgbClr val="FFFFFF"/>
                </a:solidFill>
              </a:rPr>
              <a:t>Change delivery address</a:t>
            </a:r>
          </a:p>
        </p:txBody>
      </p:sp>
      <p:sp>
        <p:nvSpPr>
          <p:cNvPr id="163" name="Rounded Rectangle 162"/>
          <p:cNvSpPr/>
          <p:nvPr/>
        </p:nvSpPr>
        <p:spPr>
          <a:xfrm>
            <a:off x="476341" y="4318528"/>
            <a:ext cx="1607637" cy="157520"/>
          </a:xfrm>
          <a:prstGeom prst="roundRect">
            <a:avLst>
              <a:gd name="adj" fmla="val 2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4" name="TextBox 163"/>
          <p:cNvSpPr txBox="1"/>
          <p:nvPr/>
        </p:nvSpPr>
        <p:spPr>
          <a:xfrm>
            <a:off x="476341" y="4318528"/>
            <a:ext cx="1607637" cy="157520"/>
          </a:xfrm>
          <a:prstGeom prst="rect">
            <a:avLst/>
          </a:prstGeom>
          <a:noFill/>
        </p:spPr>
        <p:txBody>
          <a:bodyPr wrap="square" lIns="0" tIns="0" rIns="0" bIns="0" anchor="ctr">
            <a:spAutoFit/>
          </a:bodyPr>
          <a:lstStyle/>
          <a:p>
            <a:pPr marL="0" indent="0" algn="ctr">
              <a:buNone/>
            </a:pPr>
            <a:r>
              <a:rPr sz="650" b="1" i="0">
                <a:solidFill>
                  <a:srgbClr val="222222"/>
                </a:solidFill>
              </a:rPr>
              <a:t>Switch to Pickup at this store</a:t>
            </a:r>
          </a:p>
        </p:txBody>
      </p:sp>
      <p:sp>
        <p:nvSpPr>
          <p:cNvPr id="165" name="TextBox 164"/>
          <p:cNvSpPr txBox="1"/>
          <p:nvPr/>
        </p:nvSpPr>
        <p:spPr>
          <a:xfrm>
            <a:off x="476341" y="4540910"/>
            <a:ext cx="1607637" cy="185318"/>
          </a:xfrm>
          <a:prstGeom prst="rect">
            <a:avLst/>
          </a:prstGeom>
          <a:noFill/>
        </p:spPr>
        <p:txBody>
          <a:bodyPr wrap="square" lIns="0" tIns="0" rIns="0" bIns="0" anchor="t">
            <a:spAutoFit/>
          </a:bodyPr>
          <a:lstStyle/>
          <a:p>
            <a:pPr marL="0" indent="0" algn="ctr">
              <a:buNone/>
            </a:pPr>
            <a:r>
              <a:rPr sz="540" b="0" i="0">
                <a:solidFill>
                  <a:srgbClr val="888888"/>
                </a:solidFill>
              </a:rPr>
              <a:t>No estimated date and no estimated time are shown, on purpose.</a:t>
            </a:r>
          </a:p>
        </p:txBody>
      </p:sp>
      <p:sp>
        <p:nvSpPr>
          <p:cNvPr id="166" name="Oval 165"/>
          <p:cNvSpPr/>
          <p:nvPr/>
        </p:nvSpPr>
        <p:spPr>
          <a:xfrm>
            <a:off x="253960" y="3744041"/>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7" name="TextBox 166"/>
          <p:cNvSpPr txBox="1"/>
          <p:nvPr/>
        </p:nvSpPr>
        <p:spPr>
          <a:xfrm>
            <a:off x="253960" y="3744041"/>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168" name="Oval 167"/>
          <p:cNvSpPr/>
          <p:nvPr/>
        </p:nvSpPr>
        <p:spPr>
          <a:xfrm>
            <a:off x="253960" y="3910827"/>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9" name="TextBox 168"/>
          <p:cNvSpPr txBox="1"/>
          <p:nvPr/>
        </p:nvSpPr>
        <p:spPr>
          <a:xfrm>
            <a:off x="253960" y="3910827"/>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sp>
        <p:nvSpPr>
          <p:cNvPr id="170" name="Oval 169"/>
          <p:cNvSpPr/>
          <p:nvPr/>
        </p:nvSpPr>
        <p:spPr>
          <a:xfrm>
            <a:off x="253960" y="4123944"/>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1" name="TextBox 170"/>
          <p:cNvSpPr txBox="1"/>
          <p:nvPr/>
        </p:nvSpPr>
        <p:spPr>
          <a:xfrm>
            <a:off x="253960" y="4123944"/>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sp>
        <p:nvSpPr>
          <p:cNvPr id="172" name="Rectangle 171"/>
          <p:cNvSpPr/>
          <p:nvPr/>
        </p:nvSpPr>
        <p:spPr>
          <a:xfrm>
            <a:off x="3474720" y="3429000"/>
            <a:ext cx="3017520" cy="1554480"/>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3" name="TextBox 172"/>
          <p:cNvSpPr txBox="1"/>
          <p:nvPr/>
        </p:nvSpPr>
        <p:spPr>
          <a:xfrm>
            <a:off x="3566160" y="3520440"/>
            <a:ext cx="2834640" cy="1417320"/>
          </a:xfrm>
          <a:prstGeom prst="rect">
            <a:avLst/>
          </a:prstGeom>
          <a:noFill/>
        </p:spPr>
        <p:txBody>
          <a:bodyPr wrap="square" lIns="0" tIns="0" rIns="0" bIns="0" anchor="t">
            <a:spAutoFit/>
          </a:bodyPr>
          <a:lstStyle/>
          <a:p>
            <a:pPr marL="0" indent="0" algn="l">
              <a:buNone/>
            </a:pPr>
            <a:r>
              <a:rPr sz="700" b="0" i="0">
                <a:solidFill>
                  <a:srgbClr val="6B6800"/>
                </a:solidFill>
              </a:rPr>
              <a:t>Why state D shows nothing</a:t>
            </a:r>
          </a:p>
          <a:p>
            <a:pPr marL="0" indent="0" algn="l">
              <a:buNone/>
            </a:pPr>
            <a:endParaRPr sz="700" b="0" i="0">
              <a:solidFill>
                <a:srgbClr val="6B6800"/>
              </a:solidFill>
            </a:endParaRPr>
          </a:p>
          <a:p>
            <a:pPr marL="0" indent="0" algn="l">
              <a:buNone/>
            </a:pPr>
            <a:r>
              <a:rPr sz="700" b="0" i="0">
                <a:solidFill>
                  <a:srgbClr val="6B6800"/>
                </a:solidFill>
              </a:rPr>
              <a:t>The As-Is site guesses a service and a time even when the address cannot be served. The customer forms an expectation the operation cannot meet, and the delivery fails or arrives late.</a:t>
            </a:r>
          </a:p>
          <a:p>
            <a:pPr marL="0" indent="0" algn="l">
              <a:buNone/>
            </a:pPr>
            <a:endParaRPr sz="700" b="0" i="0">
              <a:solidFill>
                <a:srgbClr val="6B6800"/>
              </a:solidFill>
            </a:endParaRPr>
          </a:p>
          <a:p>
            <a:pPr marL="0" indent="0" algn="l">
              <a:buNone/>
            </a:pPr>
            <a:r>
              <a:rPr sz="700" b="0" i="0">
                <a:solidFill>
                  <a:srgbClr val="6B6800"/>
                </a:solidFill>
              </a:rPr>
              <a:t>To-Be shows no date and no time in that case — only a clear message and two ways forward. The journey is never blocked: browsing, prices, promotions and Pickup at the selected store all continue to work (HP-04).</a:t>
            </a:r>
          </a:p>
        </p:txBody>
      </p:sp>
      <p:graphicFrame>
        <p:nvGraphicFramePr>
          <p:cNvPr id="174" name="Table 173"/>
          <p:cNvGraphicFramePr>
            <a:graphicFrameLocks noGrp="1"/>
          </p:cNvGraphicFramePr>
          <p:nvPr/>
        </p:nvGraphicFramePr>
        <p:xfrm>
          <a:off x="7196328" y="886968"/>
          <a:ext cx="4718304" cy="336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Estimate line — 60-Minute zone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Standard remains the default and is shown in the header. 60-Minute is offered but never auto-selected (BRL-10).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60-Minute offer banner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Appears only inside the 3–5 km radius. Tapping it switches the service and re-computes the fee, which is fixed and not waived by order value (BRL-18).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Estimate line — Standard zone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Between the 60-Minute and Standard radii only Standard exists. No 60-Minute affordance is shown at all (BRL-11).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Estimate line — Next-day area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Beyond the Standard radius, in a configured area. A delivery date replaces the time slot, because long-distance delivery is not slot-based (BRL-12).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Not-served header (state 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estimate line is replaced by a plain statement. No date, no time, no guess.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7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Explanatory banner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States what is unavailable and, equally important, what still works.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420000">
                <a:tc>
                  <a:txBody>
                    <a:bodyPr/>
                    <a:lstStyle/>
                    <a:p>
                      <a:pPr marL="0" indent="0" algn="ctr">
                        <a:buNone/>
                      </a:pPr>
                      <a:r>
                        <a:rPr sz="70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Two ways forward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Change the address, or switch to Pickup at this store. The customer is never left at a dead end (HP-04).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175" name="TextBox 174"/>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The four zones are mutually exclusive — an address belongs to exactly one, so the header never offers a combination such as 60-Minute together with Next-day (BRL-10 … BRL-12). The SI team is preparing map-drawn service areas which may replace radius-based resolution; the states above are unaffected by that change.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Homepage (HP)</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HP-01 · HP-10</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SCR-HOM-06</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Homepage — Member State &amp; Logout</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46</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State A  ·  Signed in — member pricing and points</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FFFFFF"/>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FFFFFF"/>
                </a:solidFill>
              </a:rPr>
              <a:t>▮▮▮  ⌁  ▰</a:t>
            </a:r>
          </a:p>
        </p:txBody>
      </p:sp>
      <p:sp>
        <p:nvSpPr>
          <p:cNvPr id="27" name="Rectangle 26"/>
          <p:cNvSpPr/>
          <p:nvPr/>
        </p:nvSpPr>
        <p:spPr>
          <a:xfrm>
            <a:off x="594360" y="998018"/>
            <a:ext cx="2011679" cy="396971"/>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69462" y="1022829"/>
            <a:ext cx="75102" cy="100584"/>
          </a:xfrm>
          <a:prstGeom prst="rect">
            <a:avLst/>
          </a:prstGeom>
          <a:noFill/>
        </p:spPr>
        <p:txBody>
          <a:bodyPr wrap="square" lIns="0" tIns="0" rIns="0" bIns="0" anchor="ctr">
            <a:spAutoFit/>
          </a:bodyPr>
          <a:lstStyle/>
          <a:p>
            <a:pPr marL="0" indent="0" algn="l">
              <a:buNone/>
            </a:pPr>
            <a:r>
              <a:rPr sz="600" b="0" i="0">
                <a:solidFill>
                  <a:srgbClr val="FFD9DE"/>
                </a:solidFill>
              </a:rPr>
              <a:t>▣</a:t>
            </a:r>
          </a:p>
        </p:txBody>
      </p:sp>
      <p:sp>
        <p:nvSpPr>
          <p:cNvPr id="29" name="TextBox 28"/>
          <p:cNvSpPr txBox="1"/>
          <p:nvPr/>
        </p:nvSpPr>
        <p:spPr>
          <a:xfrm>
            <a:off x="766023" y="1019476"/>
            <a:ext cx="1126540" cy="107289"/>
          </a:xfrm>
          <a:prstGeom prst="rect">
            <a:avLst/>
          </a:prstGeom>
          <a:noFill/>
        </p:spPr>
        <p:txBody>
          <a:bodyPr wrap="square" lIns="0" tIns="0" rIns="0" bIns="0" anchor="ctr">
            <a:spAutoFit/>
          </a:bodyPr>
          <a:lstStyle/>
          <a:p>
            <a:pPr marL="0" indent="0" algn="l">
              <a:buNone/>
            </a:pPr>
            <a:r>
              <a:rPr sz="640" b="1" i="0">
                <a:solidFill>
                  <a:srgbClr val="FFFFFF"/>
                </a:solidFill>
              </a:rPr>
              <a:t>LOTTE Mart Nam Sài Gòn</a:t>
            </a:r>
          </a:p>
        </p:txBody>
      </p:sp>
      <p:sp>
        <p:nvSpPr>
          <p:cNvPr id="30" name="TextBox 29"/>
          <p:cNvSpPr txBox="1"/>
          <p:nvPr/>
        </p:nvSpPr>
        <p:spPr>
          <a:xfrm>
            <a:off x="1892564" y="1027020"/>
            <a:ext cx="64373" cy="92202"/>
          </a:xfrm>
          <a:prstGeom prst="rect">
            <a:avLst/>
          </a:prstGeom>
          <a:noFill/>
        </p:spPr>
        <p:txBody>
          <a:bodyPr wrap="square" lIns="0" tIns="0" rIns="0" bIns="0" anchor="ctr">
            <a:spAutoFit/>
          </a:bodyPr>
          <a:lstStyle/>
          <a:p>
            <a:pPr marL="0" indent="0" algn="l">
              <a:buNone/>
            </a:pPr>
            <a:r>
              <a:rPr sz="550" b="0" i="0">
                <a:solidFill>
                  <a:srgbClr val="FFFFFF"/>
                </a:solidFill>
              </a:rPr>
              <a:t>▾</a:t>
            </a:r>
          </a:p>
        </p:txBody>
      </p:sp>
      <p:sp>
        <p:nvSpPr>
          <p:cNvPr id="31" name="TextBox 30"/>
          <p:cNvSpPr txBox="1"/>
          <p:nvPr/>
        </p:nvSpPr>
        <p:spPr>
          <a:xfrm>
            <a:off x="2203703" y="1014447"/>
            <a:ext cx="118018" cy="117348"/>
          </a:xfrm>
          <a:prstGeom prst="rect">
            <a:avLst/>
          </a:prstGeom>
          <a:noFill/>
        </p:spPr>
        <p:txBody>
          <a:bodyPr wrap="square" lIns="0" tIns="0" rIns="0" bIns="0" anchor="ctr">
            <a:spAutoFit/>
          </a:bodyPr>
          <a:lstStyle/>
          <a:p>
            <a:pPr marL="0" indent="0" algn="ctr">
              <a:buNone/>
            </a:pPr>
            <a:r>
              <a:rPr sz="700" b="0" i="0">
                <a:solidFill>
                  <a:srgbClr val="FFFFFF"/>
                </a:solidFill>
              </a:rPr>
              <a:t>⌕</a:t>
            </a:r>
          </a:p>
        </p:txBody>
      </p:sp>
      <p:sp>
        <p:nvSpPr>
          <p:cNvPr id="32" name="TextBox 31"/>
          <p:cNvSpPr txBox="1"/>
          <p:nvPr/>
        </p:nvSpPr>
        <p:spPr>
          <a:xfrm>
            <a:off x="2364638" y="1022829"/>
            <a:ext cx="118018" cy="100584"/>
          </a:xfrm>
          <a:prstGeom prst="rect">
            <a:avLst/>
          </a:prstGeom>
          <a:noFill/>
        </p:spPr>
        <p:txBody>
          <a:bodyPr wrap="square" lIns="0" tIns="0" rIns="0" bIns="0" anchor="ctr">
            <a:spAutoFit/>
          </a:bodyPr>
          <a:lstStyle/>
          <a:p>
            <a:pPr marL="0" indent="0" algn="ctr">
              <a:buNone/>
            </a:pPr>
            <a:r>
              <a:rPr sz="600" b="0" i="0">
                <a:solidFill>
                  <a:srgbClr val="FFFFFF"/>
                </a:solidFill>
              </a:rPr>
              <a:t>♡</a:t>
            </a:r>
          </a:p>
        </p:txBody>
      </p:sp>
      <p:sp>
        <p:nvSpPr>
          <p:cNvPr id="33" name="TextBox 32"/>
          <p:cNvSpPr txBox="1"/>
          <p:nvPr/>
        </p:nvSpPr>
        <p:spPr>
          <a:xfrm>
            <a:off x="669462" y="1140513"/>
            <a:ext cx="75102" cy="90525"/>
          </a:xfrm>
          <a:prstGeom prst="rect">
            <a:avLst/>
          </a:prstGeom>
          <a:noFill/>
        </p:spPr>
        <p:txBody>
          <a:bodyPr wrap="square" lIns="0" tIns="0" rIns="0" bIns="0" anchor="ctr">
            <a:spAutoFit/>
          </a:bodyPr>
          <a:lstStyle/>
          <a:p>
            <a:pPr marL="0" indent="0" algn="l">
              <a:buNone/>
            </a:pPr>
            <a:r>
              <a:rPr sz="540" b="0" i="0">
                <a:solidFill>
                  <a:srgbClr val="FFD9DE"/>
                </a:solidFill>
              </a:rPr>
              <a:t>◎</a:t>
            </a:r>
          </a:p>
        </p:txBody>
      </p:sp>
      <p:sp>
        <p:nvSpPr>
          <p:cNvPr id="34" name="TextBox 33"/>
          <p:cNvSpPr txBox="1"/>
          <p:nvPr/>
        </p:nvSpPr>
        <p:spPr>
          <a:xfrm>
            <a:off x="766023" y="1138836"/>
            <a:ext cx="1341120" cy="93878"/>
          </a:xfrm>
          <a:prstGeom prst="rect">
            <a:avLst/>
          </a:prstGeom>
          <a:noFill/>
        </p:spPr>
        <p:txBody>
          <a:bodyPr wrap="square" lIns="0" tIns="0" rIns="0" bIns="0" anchor="ctr">
            <a:spAutoFit/>
          </a:bodyPr>
          <a:lstStyle/>
          <a:p>
            <a:pPr marL="0" indent="0" algn="l">
              <a:buNone/>
            </a:pPr>
            <a:r>
              <a:rPr sz="560" b="1" i="0">
                <a:solidFill>
                  <a:srgbClr val="FFFFFF"/>
                </a:solidFill>
              </a:rPr>
              <a:t>123 Nguyễn Thị Thập, Q.7</a:t>
            </a:r>
          </a:p>
        </p:txBody>
      </p:sp>
      <p:sp>
        <p:nvSpPr>
          <p:cNvPr id="35" name="TextBox 34"/>
          <p:cNvSpPr txBox="1"/>
          <p:nvPr/>
        </p:nvSpPr>
        <p:spPr>
          <a:xfrm>
            <a:off x="2117872" y="1143865"/>
            <a:ext cx="64373" cy="83820"/>
          </a:xfrm>
          <a:prstGeom prst="rect">
            <a:avLst/>
          </a:prstGeom>
          <a:noFill/>
        </p:spPr>
        <p:txBody>
          <a:bodyPr wrap="square" lIns="0" tIns="0" rIns="0" bIns="0" anchor="ctr">
            <a:spAutoFit/>
          </a:bodyPr>
          <a:lstStyle/>
          <a:p>
            <a:pPr marL="0" indent="0" algn="l">
              <a:buNone/>
            </a:pPr>
            <a:r>
              <a:rPr sz="500" b="0" i="0">
                <a:solidFill>
                  <a:srgbClr val="FFD9DE"/>
                </a:solidFill>
              </a:rPr>
              <a:t>▾</a:t>
            </a:r>
          </a:p>
        </p:txBody>
      </p:sp>
      <p:sp>
        <p:nvSpPr>
          <p:cNvPr id="36" name="TextBox 35"/>
          <p:cNvSpPr txBox="1"/>
          <p:nvPr/>
        </p:nvSpPr>
        <p:spPr>
          <a:xfrm>
            <a:off x="669462" y="1238749"/>
            <a:ext cx="75102" cy="87172"/>
          </a:xfrm>
          <a:prstGeom prst="rect">
            <a:avLst/>
          </a:prstGeom>
          <a:noFill/>
        </p:spPr>
        <p:txBody>
          <a:bodyPr wrap="square" lIns="0" tIns="0" rIns="0" bIns="0" anchor="ctr">
            <a:spAutoFit/>
          </a:bodyPr>
          <a:lstStyle/>
          <a:p>
            <a:pPr marL="0" indent="0" algn="l">
              <a:buNone/>
            </a:pPr>
            <a:r>
              <a:rPr sz="520" b="0" i="0">
                <a:solidFill>
                  <a:srgbClr val="FFD9DE"/>
                </a:solidFill>
              </a:rPr>
              <a:t>◷</a:t>
            </a:r>
          </a:p>
        </p:txBody>
      </p:sp>
      <p:sp>
        <p:nvSpPr>
          <p:cNvPr id="37" name="TextBox 36"/>
          <p:cNvSpPr txBox="1"/>
          <p:nvPr/>
        </p:nvSpPr>
        <p:spPr>
          <a:xfrm>
            <a:off x="766023" y="1237073"/>
            <a:ext cx="1609343" cy="90525"/>
          </a:xfrm>
          <a:prstGeom prst="rect">
            <a:avLst/>
          </a:prstGeom>
          <a:noFill/>
        </p:spPr>
        <p:txBody>
          <a:bodyPr wrap="square" lIns="0" tIns="0" rIns="0" bIns="0" anchor="ctr">
            <a:spAutoFit/>
          </a:bodyPr>
          <a:lstStyle/>
          <a:p>
            <a:pPr marL="0" indent="0" algn="l">
              <a:buNone/>
            </a:pPr>
            <a:r>
              <a:rPr sz="540" b="0" i="0">
                <a:solidFill>
                  <a:srgbClr val="FFE4E8"/>
                </a:solidFill>
              </a:rPr>
              <a:t>Standard  ·  today 15:00–18:00</a:t>
            </a:r>
          </a:p>
        </p:txBody>
      </p:sp>
      <p:sp>
        <p:nvSpPr>
          <p:cNvPr id="38" name="Rectangle 37"/>
          <p:cNvSpPr/>
          <p:nvPr/>
        </p:nvSpPr>
        <p:spPr>
          <a:xfrm>
            <a:off x="594360" y="1394990"/>
            <a:ext cx="2011679" cy="236037"/>
          </a:xfrm>
          <a:prstGeom prst="rect">
            <a:avLst/>
          </a:prstGeom>
          <a:solidFill>
            <a:srgbClr val="F7E9E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TextBox 38"/>
          <p:cNvSpPr txBox="1"/>
          <p:nvPr/>
        </p:nvSpPr>
        <p:spPr>
          <a:xfrm>
            <a:off x="669462" y="1414435"/>
            <a:ext cx="1072896" cy="100584"/>
          </a:xfrm>
          <a:prstGeom prst="rect">
            <a:avLst/>
          </a:prstGeom>
          <a:noFill/>
        </p:spPr>
        <p:txBody>
          <a:bodyPr wrap="square" lIns="0" tIns="0" rIns="0" bIns="0" anchor="ctr">
            <a:spAutoFit/>
          </a:bodyPr>
          <a:lstStyle/>
          <a:p>
            <a:pPr marL="0" indent="0" algn="l">
              <a:buNone/>
            </a:pPr>
            <a:r>
              <a:rPr sz="600" b="1" i="0">
                <a:solidFill>
                  <a:srgbClr val="C8102E"/>
                </a:solidFill>
              </a:rPr>
              <a:t>Hi, Ngọc  ·  Platinum</a:t>
            </a:r>
          </a:p>
        </p:txBody>
      </p:sp>
      <p:sp>
        <p:nvSpPr>
          <p:cNvPr id="40" name="TextBox 39"/>
          <p:cNvSpPr txBox="1"/>
          <p:nvPr/>
        </p:nvSpPr>
        <p:spPr>
          <a:xfrm>
            <a:off x="669462" y="1514014"/>
            <a:ext cx="1180185" cy="83820"/>
          </a:xfrm>
          <a:prstGeom prst="rect">
            <a:avLst/>
          </a:prstGeom>
          <a:noFill/>
        </p:spPr>
        <p:txBody>
          <a:bodyPr wrap="square" lIns="0" tIns="0" rIns="0" bIns="0" anchor="ctr">
            <a:spAutoFit/>
          </a:bodyPr>
          <a:lstStyle/>
          <a:p>
            <a:pPr marL="0" indent="0" algn="l">
              <a:buNone/>
            </a:pPr>
            <a:r>
              <a:rPr sz="500" b="0" i="0">
                <a:solidFill>
                  <a:srgbClr val="555555"/>
                </a:solidFill>
              </a:rPr>
              <a:t>12,480 points  ·  3 coupons available</a:t>
            </a:r>
          </a:p>
        </p:txBody>
      </p:sp>
      <p:sp>
        <p:nvSpPr>
          <p:cNvPr id="41" name="Rounded Rectangle 40"/>
          <p:cNvSpPr/>
          <p:nvPr/>
        </p:nvSpPr>
        <p:spPr>
          <a:xfrm>
            <a:off x="2021311" y="1459363"/>
            <a:ext cx="509625" cy="118018"/>
          </a:xfrm>
          <a:prstGeom prst="roundRect">
            <a:avLst>
              <a:gd name="adj" fmla="val 50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TextBox 41"/>
          <p:cNvSpPr txBox="1"/>
          <p:nvPr/>
        </p:nvSpPr>
        <p:spPr>
          <a:xfrm>
            <a:off x="2021311" y="1459363"/>
            <a:ext cx="509625" cy="118018"/>
          </a:xfrm>
          <a:prstGeom prst="rect">
            <a:avLst/>
          </a:prstGeom>
          <a:noFill/>
        </p:spPr>
        <p:txBody>
          <a:bodyPr wrap="square" lIns="0" tIns="0" rIns="0" bIns="0" anchor="ctr">
            <a:spAutoFit/>
          </a:bodyPr>
          <a:lstStyle/>
          <a:p>
            <a:pPr marL="0" indent="0" algn="ctr">
              <a:buNone/>
            </a:pPr>
            <a:r>
              <a:rPr sz="500" b="1" i="0">
                <a:solidFill>
                  <a:srgbClr val="C8102E"/>
                </a:solidFill>
              </a:rPr>
              <a:t>My coupons ›</a:t>
            </a:r>
          </a:p>
        </p:txBody>
      </p:sp>
      <p:sp>
        <p:nvSpPr>
          <p:cNvPr id="43" name="Rectangle 42"/>
          <p:cNvSpPr/>
          <p:nvPr/>
        </p:nvSpPr>
        <p:spPr>
          <a:xfrm>
            <a:off x="594360" y="1673943"/>
            <a:ext cx="2011679" cy="16093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4" name="Rounded Rectangle 43"/>
          <p:cNvSpPr/>
          <p:nvPr/>
        </p:nvSpPr>
        <p:spPr>
          <a:xfrm>
            <a:off x="669462" y="1695400"/>
            <a:ext cx="1861474" cy="128747"/>
          </a:xfrm>
          <a:prstGeom prst="roundRect">
            <a:avLst>
              <a:gd name="adj" fmla="val 30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TextBox 44"/>
          <p:cNvSpPr txBox="1"/>
          <p:nvPr/>
        </p:nvSpPr>
        <p:spPr>
          <a:xfrm>
            <a:off x="744565" y="1695400"/>
            <a:ext cx="1609343" cy="128747"/>
          </a:xfrm>
          <a:prstGeom prst="rect">
            <a:avLst/>
          </a:prstGeom>
          <a:noFill/>
        </p:spPr>
        <p:txBody>
          <a:bodyPr wrap="square" lIns="0" tIns="0" rIns="0" bIns="0" anchor="ctr">
            <a:spAutoFit/>
          </a:bodyPr>
          <a:lstStyle/>
          <a:p>
            <a:pPr marL="0" indent="0" algn="l">
              <a:buNone/>
            </a:pPr>
            <a:r>
              <a:rPr sz="540" b="0" i="0">
                <a:solidFill>
                  <a:srgbClr val="AAAAAA"/>
                </a:solidFill>
              </a:rPr>
              <a:t>⌕   Search 30,000+ products</a:t>
            </a:r>
          </a:p>
        </p:txBody>
      </p:sp>
      <p:sp>
        <p:nvSpPr>
          <p:cNvPr id="46" name="Rounded Rectangle 45"/>
          <p:cNvSpPr/>
          <p:nvPr/>
        </p:nvSpPr>
        <p:spPr>
          <a:xfrm>
            <a:off x="669462" y="1856335"/>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TextBox 46"/>
          <p:cNvSpPr txBox="1"/>
          <p:nvPr/>
        </p:nvSpPr>
        <p:spPr>
          <a:xfrm>
            <a:off x="669462" y="1877793"/>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48" name="TextBox 47"/>
          <p:cNvSpPr txBox="1"/>
          <p:nvPr/>
        </p:nvSpPr>
        <p:spPr>
          <a:xfrm>
            <a:off x="669462" y="1994805"/>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Fresh</a:t>
            </a:r>
          </a:p>
        </p:txBody>
      </p:sp>
      <p:sp>
        <p:nvSpPr>
          <p:cNvPr id="49" name="Rounded Rectangle 48"/>
          <p:cNvSpPr/>
          <p:nvPr/>
        </p:nvSpPr>
        <p:spPr>
          <a:xfrm>
            <a:off x="1044976" y="1856335"/>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TextBox 49"/>
          <p:cNvSpPr txBox="1"/>
          <p:nvPr/>
        </p:nvSpPr>
        <p:spPr>
          <a:xfrm>
            <a:off x="1044976" y="1877793"/>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51" name="TextBox 50"/>
          <p:cNvSpPr txBox="1"/>
          <p:nvPr/>
        </p:nvSpPr>
        <p:spPr>
          <a:xfrm>
            <a:off x="1044976" y="1994805"/>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Frozen</a:t>
            </a:r>
          </a:p>
        </p:txBody>
      </p:sp>
      <p:sp>
        <p:nvSpPr>
          <p:cNvPr id="52" name="Rounded Rectangle 51"/>
          <p:cNvSpPr/>
          <p:nvPr/>
        </p:nvSpPr>
        <p:spPr>
          <a:xfrm>
            <a:off x="1420489" y="1856335"/>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TextBox 52"/>
          <p:cNvSpPr txBox="1"/>
          <p:nvPr/>
        </p:nvSpPr>
        <p:spPr>
          <a:xfrm>
            <a:off x="1420489" y="1877793"/>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54" name="TextBox 53"/>
          <p:cNvSpPr txBox="1"/>
          <p:nvPr/>
        </p:nvSpPr>
        <p:spPr>
          <a:xfrm>
            <a:off x="1420489" y="1994805"/>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Drinks</a:t>
            </a:r>
          </a:p>
        </p:txBody>
      </p:sp>
      <p:sp>
        <p:nvSpPr>
          <p:cNvPr id="55" name="Rounded Rectangle 54"/>
          <p:cNvSpPr/>
          <p:nvPr/>
        </p:nvSpPr>
        <p:spPr>
          <a:xfrm>
            <a:off x="1796003" y="1856335"/>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6" name="TextBox 55"/>
          <p:cNvSpPr txBox="1"/>
          <p:nvPr/>
        </p:nvSpPr>
        <p:spPr>
          <a:xfrm>
            <a:off x="1796003" y="1877793"/>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57" name="TextBox 56"/>
          <p:cNvSpPr txBox="1"/>
          <p:nvPr/>
        </p:nvSpPr>
        <p:spPr>
          <a:xfrm>
            <a:off x="1796003" y="1994805"/>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Home</a:t>
            </a:r>
          </a:p>
        </p:txBody>
      </p:sp>
      <p:sp>
        <p:nvSpPr>
          <p:cNvPr id="58" name="Rounded Rectangle 57"/>
          <p:cNvSpPr/>
          <p:nvPr/>
        </p:nvSpPr>
        <p:spPr>
          <a:xfrm>
            <a:off x="2171517" y="1856335"/>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9" name="TextBox 58"/>
          <p:cNvSpPr txBox="1"/>
          <p:nvPr/>
        </p:nvSpPr>
        <p:spPr>
          <a:xfrm>
            <a:off x="2171517" y="1877793"/>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60" name="TextBox 59"/>
          <p:cNvSpPr txBox="1"/>
          <p:nvPr/>
        </p:nvSpPr>
        <p:spPr>
          <a:xfrm>
            <a:off x="2171517" y="1994805"/>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Baby</a:t>
            </a:r>
          </a:p>
        </p:txBody>
      </p:sp>
      <p:sp>
        <p:nvSpPr>
          <p:cNvPr id="61" name="Rounded Rectangle 60"/>
          <p:cNvSpPr/>
          <p:nvPr/>
        </p:nvSpPr>
        <p:spPr>
          <a:xfrm>
            <a:off x="669462" y="2156746"/>
            <a:ext cx="1861474" cy="321868"/>
          </a:xfrm>
          <a:prstGeom prst="roundRect">
            <a:avLst>
              <a:gd name="adj" fmla="val 10000"/>
            </a:avLst>
          </a:prstGeom>
          <a:solidFill>
            <a:srgbClr val="EEF1F9"/>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2" name="TextBox 61"/>
          <p:cNvSpPr txBox="1"/>
          <p:nvPr/>
        </p:nvSpPr>
        <p:spPr>
          <a:xfrm>
            <a:off x="669462" y="2156746"/>
            <a:ext cx="1861474" cy="321868"/>
          </a:xfrm>
          <a:prstGeom prst="rect">
            <a:avLst/>
          </a:prstGeom>
          <a:noFill/>
        </p:spPr>
        <p:txBody>
          <a:bodyPr wrap="square" lIns="0" tIns="0" rIns="0" bIns="0" anchor="ctr">
            <a:spAutoFit/>
          </a:bodyPr>
          <a:lstStyle/>
          <a:p>
            <a:pPr marL="0" indent="0" algn="ctr">
              <a:buNone/>
            </a:pPr>
            <a:r>
              <a:rPr sz="600" b="0" i="0">
                <a:solidFill>
                  <a:srgbClr val="AAAAAA"/>
                </a:solidFill>
              </a:rPr>
              <a:t>PROMOTION BANNER</a:t>
            </a:r>
          </a:p>
        </p:txBody>
      </p:sp>
      <p:sp>
        <p:nvSpPr>
          <p:cNvPr id="63" name="TextBox 62"/>
          <p:cNvSpPr txBox="1"/>
          <p:nvPr/>
        </p:nvSpPr>
        <p:spPr>
          <a:xfrm>
            <a:off x="669462" y="2519854"/>
            <a:ext cx="1072896" cy="110642"/>
          </a:xfrm>
          <a:prstGeom prst="rect">
            <a:avLst/>
          </a:prstGeom>
          <a:noFill/>
        </p:spPr>
        <p:txBody>
          <a:bodyPr wrap="square" lIns="0" tIns="0" rIns="0" bIns="0" anchor="ctr">
            <a:spAutoFit/>
          </a:bodyPr>
          <a:lstStyle/>
          <a:p>
            <a:pPr marL="0" indent="0" algn="l">
              <a:buNone/>
            </a:pPr>
            <a:r>
              <a:rPr sz="660" b="1" i="0">
                <a:solidFill>
                  <a:srgbClr val="3A3A3A"/>
                </a:solidFill>
              </a:rPr>
              <a:t>Best sellers at this store</a:t>
            </a:r>
          </a:p>
        </p:txBody>
      </p:sp>
      <p:sp>
        <p:nvSpPr>
          <p:cNvPr id="64" name="TextBox 63"/>
          <p:cNvSpPr txBox="1"/>
          <p:nvPr/>
        </p:nvSpPr>
        <p:spPr>
          <a:xfrm>
            <a:off x="2203703" y="2532259"/>
            <a:ext cx="327233" cy="85831"/>
          </a:xfrm>
          <a:prstGeom prst="rect">
            <a:avLst/>
          </a:prstGeom>
          <a:noFill/>
        </p:spPr>
        <p:txBody>
          <a:bodyPr wrap="square" lIns="0" tIns="0" rIns="0" bIns="0" anchor="ctr">
            <a:spAutoFit/>
          </a:bodyPr>
          <a:lstStyle/>
          <a:p>
            <a:pPr marL="0" indent="0" algn="r">
              <a:buNone/>
            </a:pPr>
            <a:r>
              <a:rPr sz="500" b="0" i="0">
                <a:solidFill>
                  <a:srgbClr val="C8102E"/>
                </a:solidFill>
              </a:rPr>
              <a:t>See all ›</a:t>
            </a:r>
          </a:p>
        </p:txBody>
      </p:sp>
      <p:sp>
        <p:nvSpPr>
          <p:cNvPr id="65" name="Rounded Rectangle 64"/>
          <p:cNvSpPr/>
          <p:nvPr/>
        </p:nvSpPr>
        <p:spPr>
          <a:xfrm>
            <a:off x="669462" y="2650278"/>
            <a:ext cx="590092" cy="826129"/>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6" name="Rounded Rectangle 65"/>
          <p:cNvSpPr/>
          <p:nvPr/>
        </p:nvSpPr>
        <p:spPr>
          <a:xfrm>
            <a:off x="712378" y="2693194"/>
            <a:ext cx="504261" cy="35405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7" name="TextBox 66"/>
          <p:cNvSpPr txBox="1"/>
          <p:nvPr/>
        </p:nvSpPr>
        <p:spPr>
          <a:xfrm>
            <a:off x="712378" y="2693194"/>
            <a:ext cx="504261" cy="354055"/>
          </a:xfrm>
          <a:prstGeom prst="rect">
            <a:avLst/>
          </a:prstGeom>
          <a:noFill/>
        </p:spPr>
        <p:txBody>
          <a:bodyPr wrap="square" lIns="0" tIns="0" rIns="0" bIns="0" anchor="ctr">
            <a:spAutoFit/>
          </a:bodyPr>
          <a:lstStyle/>
          <a:p>
            <a:pPr marL="0" indent="0" algn="ctr">
              <a:buNone/>
            </a:pPr>
            <a:r>
              <a:rPr sz="500" b="0" i="0">
                <a:solidFill>
                  <a:srgbClr val="AAAAAA"/>
                </a:solidFill>
              </a:rPr>
              <a:t>IMG</a:t>
            </a:r>
          </a:p>
        </p:txBody>
      </p:sp>
      <p:sp>
        <p:nvSpPr>
          <p:cNvPr id="68" name="Rounded Rectangle 67"/>
          <p:cNvSpPr/>
          <p:nvPr/>
        </p:nvSpPr>
        <p:spPr>
          <a:xfrm>
            <a:off x="1077163" y="2907773"/>
            <a:ext cx="118018" cy="118018"/>
          </a:xfrm>
          <a:prstGeom prst="roundRect">
            <a:avLst>
              <a:gd name="adj" fmla="val 35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9" name="TextBox 68"/>
          <p:cNvSpPr txBox="1"/>
          <p:nvPr/>
        </p:nvSpPr>
        <p:spPr>
          <a:xfrm>
            <a:off x="1077163" y="2907773"/>
            <a:ext cx="118018" cy="118018"/>
          </a:xfrm>
          <a:prstGeom prst="rect">
            <a:avLst/>
          </a:prstGeom>
          <a:noFill/>
        </p:spPr>
        <p:txBody>
          <a:bodyPr wrap="square" lIns="0" tIns="0" rIns="0" bIns="0" anchor="ctr">
            <a:spAutoFit/>
          </a:bodyPr>
          <a:lstStyle/>
          <a:p>
            <a:pPr marL="0" indent="0" algn="ctr">
              <a:buNone/>
            </a:pPr>
            <a:r>
              <a:rPr sz="650" b="1" i="0">
                <a:solidFill>
                  <a:srgbClr val="FFFFFF"/>
                </a:solidFill>
              </a:rPr>
              <a:t>+</a:t>
            </a:r>
          </a:p>
        </p:txBody>
      </p:sp>
      <p:sp>
        <p:nvSpPr>
          <p:cNvPr id="70" name="TextBox 69"/>
          <p:cNvSpPr txBox="1"/>
          <p:nvPr/>
        </p:nvSpPr>
        <p:spPr>
          <a:xfrm>
            <a:off x="712378" y="3079436"/>
            <a:ext cx="504261" cy="118018"/>
          </a:xfrm>
          <a:prstGeom prst="rect">
            <a:avLst/>
          </a:prstGeom>
          <a:noFill/>
        </p:spPr>
        <p:txBody>
          <a:bodyPr wrap="square" lIns="0" tIns="0" rIns="0" bIns="0" anchor="t">
            <a:spAutoFit/>
          </a:bodyPr>
          <a:lstStyle/>
          <a:p>
            <a:pPr marL="0" indent="0" algn="l">
              <a:buNone/>
            </a:pPr>
            <a:r>
              <a:rPr sz="459" b="0" i="0">
                <a:solidFill>
                  <a:srgbClr val="222222"/>
                </a:solidFill>
              </a:rPr>
              <a:t>Product name line</a:t>
            </a:r>
          </a:p>
        </p:txBody>
      </p:sp>
      <p:sp>
        <p:nvSpPr>
          <p:cNvPr id="71" name="TextBox 70"/>
          <p:cNvSpPr txBox="1"/>
          <p:nvPr/>
        </p:nvSpPr>
        <p:spPr>
          <a:xfrm>
            <a:off x="712378" y="3229642"/>
            <a:ext cx="504261" cy="80467"/>
          </a:xfrm>
          <a:prstGeom prst="rect">
            <a:avLst/>
          </a:prstGeom>
          <a:noFill/>
        </p:spPr>
        <p:txBody>
          <a:bodyPr wrap="square" lIns="0" tIns="0" rIns="0" bIns="0" anchor="ctr">
            <a:spAutoFit/>
          </a:bodyPr>
          <a:lstStyle/>
          <a:p>
            <a:pPr marL="0" indent="0" algn="l">
              <a:buNone/>
            </a:pPr>
            <a:r>
              <a:rPr sz="480" b="1" i="0">
                <a:solidFill>
                  <a:srgbClr val="C8102E"/>
                </a:solidFill>
              </a:rPr>
              <a:t>Member  49,000 ₫</a:t>
            </a:r>
          </a:p>
        </p:txBody>
      </p:sp>
      <p:sp>
        <p:nvSpPr>
          <p:cNvPr id="72" name="TextBox 71"/>
          <p:cNvSpPr txBox="1"/>
          <p:nvPr/>
        </p:nvSpPr>
        <p:spPr>
          <a:xfrm>
            <a:off x="712378" y="3326202"/>
            <a:ext cx="504261" cy="69738"/>
          </a:xfrm>
          <a:prstGeom prst="rect">
            <a:avLst/>
          </a:prstGeom>
          <a:noFill/>
        </p:spPr>
        <p:txBody>
          <a:bodyPr wrap="square" lIns="0" tIns="0" rIns="0" bIns="0" anchor="ctr">
            <a:spAutoFit/>
          </a:bodyPr>
          <a:lstStyle/>
          <a:p>
            <a:pPr marL="0" indent="0" algn="l">
              <a:buNone/>
            </a:pPr>
            <a:r>
              <a:rPr sz="400" b="0" i="0">
                <a:solidFill>
                  <a:srgbClr val="888888"/>
                </a:solidFill>
              </a:rPr>
              <a:t>Guest  59,000 ₫</a:t>
            </a:r>
          </a:p>
        </p:txBody>
      </p:sp>
      <p:sp>
        <p:nvSpPr>
          <p:cNvPr id="73" name="Rounded Rectangle 72"/>
          <p:cNvSpPr/>
          <p:nvPr/>
        </p:nvSpPr>
        <p:spPr>
          <a:xfrm>
            <a:off x="1302471" y="2650278"/>
            <a:ext cx="590092" cy="826129"/>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Rounded Rectangle 73"/>
          <p:cNvSpPr/>
          <p:nvPr/>
        </p:nvSpPr>
        <p:spPr>
          <a:xfrm>
            <a:off x="1345387" y="2693194"/>
            <a:ext cx="504261" cy="35405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5" name="TextBox 74"/>
          <p:cNvSpPr txBox="1"/>
          <p:nvPr/>
        </p:nvSpPr>
        <p:spPr>
          <a:xfrm>
            <a:off x="1345387" y="2693194"/>
            <a:ext cx="504261" cy="354055"/>
          </a:xfrm>
          <a:prstGeom prst="rect">
            <a:avLst/>
          </a:prstGeom>
          <a:noFill/>
        </p:spPr>
        <p:txBody>
          <a:bodyPr wrap="square" lIns="0" tIns="0" rIns="0" bIns="0" anchor="ctr">
            <a:spAutoFit/>
          </a:bodyPr>
          <a:lstStyle/>
          <a:p>
            <a:pPr marL="0" indent="0" algn="ctr">
              <a:buNone/>
            </a:pPr>
            <a:r>
              <a:rPr sz="500" b="0" i="0">
                <a:solidFill>
                  <a:srgbClr val="AAAAAA"/>
                </a:solidFill>
              </a:rPr>
              <a:t>IMG</a:t>
            </a:r>
          </a:p>
        </p:txBody>
      </p:sp>
      <p:sp>
        <p:nvSpPr>
          <p:cNvPr id="76" name="Rounded Rectangle 75"/>
          <p:cNvSpPr/>
          <p:nvPr/>
        </p:nvSpPr>
        <p:spPr>
          <a:xfrm>
            <a:off x="1710171" y="2907773"/>
            <a:ext cx="118018" cy="118018"/>
          </a:xfrm>
          <a:prstGeom prst="roundRect">
            <a:avLst>
              <a:gd name="adj" fmla="val 35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7" name="TextBox 76"/>
          <p:cNvSpPr txBox="1"/>
          <p:nvPr/>
        </p:nvSpPr>
        <p:spPr>
          <a:xfrm>
            <a:off x="1710171" y="2907773"/>
            <a:ext cx="118018" cy="118018"/>
          </a:xfrm>
          <a:prstGeom prst="rect">
            <a:avLst/>
          </a:prstGeom>
          <a:noFill/>
        </p:spPr>
        <p:txBody>
          <a:bodyPr wrap="square" lIns="0" tIns="0" rIns="0" bIns="0" anchor="ctr">
            <a:spAutoFit/>
          </a:bodyPr>
          <a:lstStyle/>
          <a:p>
            <a:pPr marL="0" indent="0" algn="ctr">
              <a:buNone/>
            </a:pPr>
            <a:r>
              <a:rPr sz="650" b="1" i="0">
                <a:solidFill>
                  <a:srgbClr val="FFFFFF"/>
                </a:solidFill>
              </a:rPr>
              <a:t>+</a:t>
            </a:r>
          </a:p>
        </p:txBody>
      </p:sp>
      <p:sp>
        <p:nvSpPr>
          <p:cNvPr id="78" name="TextBox 77"/>
          <p:cNvSpPr txBox="1"/>
          <p:nvPr/>
        </p:nvSpPr>
        <p:spPr>
          <a:xfrm>
            <a:off x="1345387" y="3079436"/>
            <a:ext cx="504261" cy="118018"/>
          </a:xfrm>
          <a:prstGeom prst="rect">
            <a:avLst/>
          </a:prstGeom>
          <a:noFill/>
        </p:spPr>
        <p:txBody>
          <a:bodyPr wrap="square" lIns="0" tIns="0" rIns="0" bIns="0" anchor="t">
            <a:spAutoFit/>
          </a:bodyPr>
          <a:lstStyle/>
          <a:p>
            <a:pPr marL="0" indent="0" algn="l">
              <a:buNone/>
            </a:pPr>
            <a:r>
              <a:rPr sz="459" b="0" i="0">
                <a:solidFill>
                  <a:srgbClr val="222222"/>
                </a:solidFill>
              </a:rPr>
              <a:t>Product name line</a:t>
            </a:r>
          </a:p>
        </p:txBody>
      </p:sp>
      <p:sp>
        <p:nvSpPr>
          <p:cNvPr id="79" name="TextBox 78"/>
          <p:cNvSpPr txBox="1"/>
          <p:nvPr/>
        </p:nvSpPr>
        <p:spPr>
          <a:xfrm>
            <a:off x="1345387" y="3229642"/>
            <a:ext cx="504261" cy="80467"/>
          </a:xfrm>
          <a:prstGeom prst="rect">
            <a:avLst/>
          </a:prstGeom>
          <a:noFill/>
        </p:spPr>
        <p:txBody>
          <a:bodyPr wrap="square" lIns="0" tIns="0" rIns="0" bIns="0" anchor="ctr">
            <a:spAutoFit/>
          </a:bodyPr>
          <a:lstStyle/>
          <a:p>
            <a:pPr marL="0" indent="0" algn="l">
              <a:buNone/>
            </a:pPr>
            <a:r>
              <a:rPr sz="480" b="1" i="0">
                <a:solidFill>
                  <a:srgbClr val="C8102E"/>
                </a:solidFill>
              </a:rPr>
              <a:t>Member  49,000 ₫</a:t>
            </a:r>
          </a:p>
        </p:txBody>
      </p:sp>
      <p:sp>
        <p:nvSpPr>
          <p:cNvPr id="80" name="TextBox 79"/>
          <p:cNvSpPr txBox="1"/>
          <p:nvPr/>
        </p:nvSpPr>
        <p:spPr>
          <a:xfrm>
            <a:off x="1345387" y="3326202"/>
            <a:ext cx="504261" cy="69738"/>
          </a:xfrm>
          <a:prstGeom prst="rect">
            <a:avLst/>
          </a:prstGeom>
          <a:noFill/>
        </p:spPr>
        <p:txBody>
          <a:bodyPr wrap="square" lIns="0" tIns="0" rIns="0" bIns="0" anchor="ctr">
            <a:spAutoFit/>
          </a:bodyPr>
          <a:lstStyle/>
          <a:p>
            <a:pPr marL="0" indent="0" algn="l">
              <a:buNone/>
            </a:pPr>
            <a:r>
              <a:rPr sz="400" b="0" i="0">
                <a:solidFill>
                  <a:srgbClr val="888888"/>
                </a:solidFill>
              </a:rPr>
              <a:t>Guest  59,000 ₫</a:t>
            </a:r>
          </a:p>
        </p:txBody>
      </p:sp>
      <p:sp>
        <p:nvSpPr>
          <p:cNvPr id="81" name="Rounded Rectangle 80"/>
          <p:cNvSpPr/>
          <p:nvPr/>
        </p:nvSpPr>
        <p:spPr>
          <a:xfrm>
            <a:off x="1935480" y="2650278"/>
            <a:ext cx="590092" cy="826129"/>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2" name="Rounded Rectangle 81"/>
          <p:cNvSpPr/>
          <p:nvPr/>
        </p:nvSpPr>
        <p:spPr>
          <a:xfrm>
            <a:off x="1978395" y="2693194"/>
            <a:ext cx="504261" cy="35405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TextBox 82"/>
          <p:cNvSpPr txBox="1"/>
          <p:nvPr/>
        </p:nvSpPr>
        <p:spPr>
          <a:xfrm>
            <a:off x="1978395" y="2693194"/>
            <a:ext cx="504261" cy="354055"/>
          </a:xfrm>
          <a:prstGeom prst="rect">
            <a:avLst/>
          </a:prstGeom>
          <a:noFill/>
        </p:spPr>
        <p:txBody>
          <a:bodyPr wrap="square" lIns="0" tIns="0" rIns="0" bIns="0" anchor="ctr">
            <a:spAutoFit/>
          </a:bodyPr>
          <a:lstStyle/>
          <a:p>
            <a:pPr marL="0" indent="0" algn="ctr">
              <a:buNone/>
            </a:pPr>
            <a:r>
              <a:rPr sz="500" b="0" i="0">
                <a:solidFill>
                  <a:srgbClr val="AAAAAA"/>
                </a:solidFill>
              </a:rPr>
              <a:t>IMG</a:t>
            </a:r>
          </a:p>
        </p:txBody>
      </p:sp>
      <p:sp>
        <p:nvSpPr>
          <p:cNvPr id="84" name="Rounded Rectangle 83"/>
          <p:cNvSpPr/>
          <p:nvPr/>
        </p:nvSpPr>
        <p:spPr>
          <a:xfrm>
            <a:off x="2343180" y="2907773"/>
            <a:ext cx="118018" cy="118018"/>
          </a:xfrm>
          <a:prstGeom prst="roundRect">
            <a:avLst>
              <a:gd name="adj" fmla="val 35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5" name="TextBox 84"/>
          <p:cNvSpPr txBox="1"/>
          <p:nvPr/>
        </p:nvSpPr>
        <p:spPr>
          <a:xfrm>
            <a:off x="2343180" y="2907773"/>
            <a:ext cx="118018" cy="118018"/>
          </a:xfrm>
          <a:prstGeom prst="rect">
            <a:avLst/>
          </a:prstGeom>
          <a:noFill/>
        </p:spPr>
        <p:txBody>
          <a:bodyPr wrap="square" lIns="0" tIns="0" rIns="0" bIns="0" anchor="ctr">
            <a:spAutoFit/>
          </a:bodyPr>
          <a:lstStyle/>
          <a:p>
            <a:pPr marL="0" indent="0" algn="ctr">
              <a:buNone/>
            </a:pPr>
            <a:r>
              <a:rPr sz="650" b="1" i="0">
                <a:solidFill>
                  <a:srgbClr val="FFFFFF"/>
                </a:solidFill>
              </a:rPr>
              <a:t>+</a:t>
            </a:r>
          </a:p>
        </p:txBody>
      </p:sp>
      <p:sp>
        <p:nvSpPr>
          <p:cNvPr id="86" name="TextBox 85"/>
          <p:cNvSpPr txBox="1"/>
          <p:nvPr/>
        </p:nvSpPr>
        <p:spPr>
          <a:xfrm>
            <a:off x="1978395" y="3079436"/>
            <a:ext cx="504261" cy="118018"/>
          </a:xfrm>
          <a:prstGeom prst="rect">
            <a:avLst/>
          </a:prstGeom>
          <a:noFill/>
        </p:spPr>
        <p:txBody>
          <a:bodyPr wrap="square" lIns="0" tIns="0" rIns="0" bIns="0" anchor="t">
            <a:spAutoFit/>
          </a:bodyPr>
          <a:lstStyle/>
          <a:p>
            <a:pPr marL="0" indent="0" algn="l">
              <a:buNone/>
            </a:pPr>
            <a:r>
              <a:rPr sz="459" b="0" i="0">
                <a:solidFill>
                  <a:srgbClr val="222222"/>
                </a:solidFill>
              </a:rPr>
              <a:t>Product name line</a:t>
            </a:r>
          </a:p>
        </p:txBody>
      </p:sp>
      <p:sp>
        <p:nvSpPr>
          <p:cNvPr id="87" name="TextBox 86"/>
          <p:cNvSpPr txBox="1"/>
          <p:nvPr/>
        </p:nvSpPr>
        <p:spPr>
          <a:xfrm>
            <a:off x="1978395" y="3229642"/>
            <a:ext cx="504261" cy="80467"/>
          </a:xfrm>
          <a:prstGeom prst="rect">
            <a:avLst/>
          </a:prstGeom>
          <a:noFill/>
        </p:spPr>
        <p:txBody>
          <a:bodyPr wrap="square" lIns="0" tIns="0" rIns="0" bIns="0" anchor="ctr">
            <a:spAutoFit/>
          </a:bodyPr>
          <a:lstStyle/>
          <a:p>
            <a:pPr marL="0" indent="0" algn="l">
              <a:buNone/>
            </a:pPr>
            <a:r>
              <a:rPr sz="480" b="1" i="0">
                <a:solidFill>
                  <a:srgbClr val="C8102E"/>
                </a:solidFill>
              </a:rPr>
              <a:t>Member  49,000 ₫</a:t>
            </a:r>
          </a:p>
        </p:txBody>
      </p:sp>
      <p:sp>
        <p:nvSpPr>
          <p:cNvPr id="88" name="TextBox 87"/>
          <p:cNvSpPr txBox="1"/>
          <p:nvPr/>
        </p:nvSpPr>
        <p:spPr>
          <a:xfrm>
            <a:off x="1978395" y="3326202"/>
            <a:ext cx="504261" cy="69738"/>
          </a:xfrm>
          <a:prstGeom prst="rect">
            <a:avLst/>
          </a:prstGeom>
          <a:noFill/>
        </p:spPr>
        <p:txBody>
          <a:bodyPr wrap="square" lIns="0" tIns="0" rIns="0" bIns="0" anchor="ctr">
            <a:spAutoFit/>
          </a:bodyPr>
          <a:lstStyle/>
          <a:p>
            <a:pPr marL="0" indent="0" algn="l">
              <a:buNone/>
            </a:pPr>
            <a:r>
              <a:rPr sz="400" b="0" i="0">
                <a:solidFill>
                  <a:srgbClr val="888888"/>
                </a:solidFill>
              </a:rPr>
              <a:t>Guest  59,000 ₫</a:t>
            </a:r>
          </a:p>
        </p:txBody>
      </p:sp>
      <p:sp>
        <p:nvSpPr>
          <p:cNvPr id="89" name="Rectangle 88"/>
          <p:cNvSpPr/>
          <p:nvPr/>
        </p:nvSpPr>
        <p:spPr>
          <a:xfrm>
            <a:off x="594360" y="4667322"/>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0" name="TextBox 89"/>
          <p:cNvSpPr txBox="1"/>
          <p:nvPr/>
        </p:nvSpPr>
        <p:spPr>
          <a:xfrm>
            <a:off x="594360" y="4665310"/>
            <a:ext cx="502919" cy="100584"/>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91" name="TextBox 90"/>
          <p:cNvSpPr txBox="1"/>
          <p:nvPr/>
        </p:nvSpPr>
        <p:spPr>
          <a:xfrm>
            <a:off x="594360" y="4745107"/>
            <a:ext cx="502919" cy="80467"/>
          </a:xfrm>
          <a:prstGeom prst="rect">
            <a:avLst/>
          </a:prstGeom>
          <a:noFill/>
        </p:spPr>
        <p:txBody>
          <a:bodyPr wrap="square" lIns="0" tIns="0" rIns="0" bIns="0" anchor="ctr">
            <a:spAutoFit/>
          </a:bodyPr>
          <a:lstStyle/>
          <a:p>
            <a:pPr marL="0" indent="0" algn="ctr">
              <a:buNone/>
            </a:pPr>
            <a:r>
              <a:rPr sz="480" b="0" i="0">
                <a:solidFill>
                  <a:srgbClr val="888888"/>
                </a:solidFill>
              </a:rPr>
              <a:t>Home</a:t>
            </a:r>
          </a:p>
        </p:txBody>
      </p:sp>
      <p:sp>
        <p:nvSpPr>
          <p:cNvPr id="92" name="TextBox 91"/>
          <p:cNvSpPr txBox="1"/>
          <p:nvPr/>
        </p:nvSpPr>
        <p:spPr>
          <a:xfrm>
            <a:off x="1097279" y="4665310"/>
            <a:ext cx="502919" cy="100584"/>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93" name="TextBox 92"/>
          <p:cNvSpPr txBox="1"/>
          <p:nvPr/>
        </p:nvSpPr>
        <p:spPr>
          <a:xfrm>
            <a:off x="1097279" y="4745107"/>
            <a:ext cx="502919" cy="80467"/>
          </a:xfrm>
          <a:prstGeom prst="rect">
            <a:avLst/>
          </a:prstGeom>
          <a:noFill/>
        </p:spPr>
        <p:txBody>
          <a:bodyPr wrap="square" lIns="0" tIns="0" rIns="0" bIns="0" anchor="ctr">
            <a:spAutoFit/>
          </a:bodyPr>
          <a:lstStyle/>
          <a:p>
            <a:pPr marL="0" indent="0" algn="ctr">
              <a:buNone/>
            </a:pPr>
            <a:r>
              <a:rPr sz="480" b="0" i="0">
                <a:solidFill>
                  <a:srgbClr val="888888"/>
                </a:solidFill>
              </a:rPr>
              <a:t>Category</a:t>
            </a:r>
          </a:p>
        </p:txBody>
      </p:sp>
      <p:sp>
        <p:nvSpPr>
          <p:cNvPr id="94" name="TextBox 93"/>
          <p:cNvSpPr txBox="1"/>
          <p:nvPr/>
        </p:nvSpPr>
        <p:spPr>
          <a:xfrm>
            <a:off x="1600199" y="4665310"/>
            <a:ext cx="502919" cy="100584"/>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95" name="TextBox 94"/>
          <p:cNvSpPr txBox="1"/>
          <p:nvPr/>
        </p:nvSpPr>
        <p:spPr>
          <a:xfrm>
            <a:off x="1600199" y="4745107"/>
            <a:ext cx="502919" cy="80467"/>
          </a:xfrm>
          <a:prstGeom prst="rect">
            <a:avLst/>
          </a:prstGeom>
          <a:noFill/>
        </p:spPr>
        <p:txBody>
          <a:bodyPr wrap="square" lIns="0" tIns="0" rIns="0" bIns="0" anchor="ctr">
            <a:spAutoFit/>
          </a:bodyPr>
          <a:lstStyle/>
          <a:p>
            <a:pPr marL="0" indent="0" algn="ctr">
              <a:buNone/>
            </a:pPr>
            <a:r>
              <a:rPr sz="480" b="0" i="0">
                <a:solidFill>
                  <a:srgbClr val="888888"/>
                </a:solidFill>
              </a:rPr>
              <a:t>Cart</a:t>
            </a:r>
          </a:p>
        </p:txBody>
      </p:sp>
      <p:sp>
        <p:nvSpPr>
          <p:cNvPr id="96" name="TextBox 95"/>
          <p:cNvSpPr txBox="1"/>
          <p:nvPr/>
        </p:nvSpPr>
        <p:spPr>
          <a:xfrm>
            <a:off x="2103119" y="4665310"/>
            <a:ext cx="502919" cy="100584"/>
          </a:xfrm>
          <a:prstGeom prst="rect">
            <a:avLst/>
          </a:prstGeom>
          <a:noFill/>
        </p:spPr>
        <p:txBody>
          <a:bodyPr wrap="square" lIns="0" tIns="0" rIns="0" bIns="0" anchor="ctr">
            <a:spAutoFit/>
          </a:bodyPr>
          <a:lstStyle/>
          <a:p>
            <a:pPr marL="0" indent="0" algn="ctr">
              <a:buNone/>
            </a:pPr>
            <a:r>
              <a:rPr sz="600" b="0" i="0">
                <a:solidFill>
                  <a:srgbClr val="C8102E"/>
                </a:solidFill>
              </a:rPr>
              <a:t>▣</a:t>
            </a:r>
          </a:p>
        </p:txBody>
      </p:sp>
      <p:sp>
        <p:nvSpPr>
          <p:cNvPr id="97" name="TextBox 96"/>
          <p:cNvSpPr txBox="1"/>
          <p:nvPr/>
        </p:nvSpPr>
        <p:spPr>
          <a:xfrm>
            <a:off x="2103119" y="4745107"/>
            <a:ext cx="502919" cy="80467"/>
          </a:xfrm>
          <a:prstGeom prst="rect">
            <a:avLst/>
          </a:prstGeom>
          <a:noFill/>
        </p:spPr>
        <p:txBody>
          <a:bodyPr wrap="square" lIns="0" tIns="0" rIns="0" bIns="0" anchor="ctr">
            <a:spAutoFit/>
          </a:bodyPr>
          <a:lstStyle/>
          <a:p>
            <a:pPr marL="0" indent="0" algn="ctr">
              <a:buNone/>
            </a:pPr>
            <a:r>
              <a:rPr sz="480" b="1" i="0">
                <a:solidFill>
                  <a:srgbClr val="C8102E"/>
                </a:solidFill>
              </a:rPr>
              <a:t>My</a:t>
            </a:r>
          </a:p>
        </p:txBody>
      </p:sp>
      <p:sp>
        <p:nvSpPr>
          <p:cNvPr id="98" name="Oval 97"/>
          <p:cNvSpPr/>
          <p:nvPr/>
        </p:nvSpPr>
        <p:spPr>
          <a:xfrm>
            <a:off x="379781" y="1448634"/>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9" name="TextBox 98"/>
          <p:cNvSpPr txBox="1"/>
          <p:nvPr/>
        </p:nvSpPr>
        <p:spPr>
          <a:xfrm>
            <a:off x="379781" y="1448634"/>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100" name="Oval 99"/>
          <p:cNvSpPr/>
          <p:nvPr/>
        </p:nvSpPr>
        <p:spPr>
          <a:xfrm>
            <a:off x="379781" y="2489343"/>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1" name="TextBox 100"/>
          <p:cNvSpPr txBox="1"/>
          <p:nvPr/>
        </p:nvSpPr>
        <p:spPr>
          <a:xfrm>
            <a:off x="379781" y="2489343"/>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102" name="Oval 101"/>
          <p:cNvSpPr/>
          <p:nvPr/>
        </p:nvSpPr>
        <p:spPr>
          <a:xfrm>
            <a:off x="379781" y="466732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3" name="TextBox 102"/>
          <p:cNvSpPr txBox="1"/>
          <p:nvPr/>
        </p:nvSpPr>
        <p:spPr>
          <a:xfrm>
            <a:off x="379781" y="466732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104" name="Rounded Rectangle 103"/>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5" name="Rectangle 104"/>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6" name="TextBox 105"/>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State B  ·  Logout confirmation and result</a:t>
            </a:r>
          </a:p>
        </p:txBody>
      </p:sp>
      <p:sp>
        <p:nvSpPr>
          <p:cNvPr id="107" name="TextBox 106"/>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108" name="TextBox 107"/>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109" name="Rectangle 108"/>
          <p:cNvSpPr/>
          <p:nvPr/>
        </p:nvSpPr>
        <p:spPr>
          <a:xfrm>
            <a:off x="338328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0" name="TextBox 109"/>
          <p:cNvSpPr txBox="1"/>
          <p:nvPr/>
        </p:nvSpPr>
        <p:spPr>
          <a:xfrm>
            <a:off x="344765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111" name="TextBox 110"/>
          <p:cNvSpPr txBox="1"/>
          <p:nvPr/>
        </p:nvSpPr>
        <p:spPr>
          <a:xfrm>
            <a:off x="356567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My account</a:t>
            </a:r>
          </a:p>
        </p:txBody>
      </p:sp>
      <p:sp>
        <p:nvSpPr>
          <p:cNvPr id="112" name="Rectangle 111"/>
          <p:cNvSpPr/>
          <p:nvPr/>
        </p:nvSpPr>
        <p:spPr>
          <a:xfrm>
            <a:off x="338328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3" name="Rounded Rectangle 112"/>
          <p:cNvSpPr/>
          <p:nvPr/>
        </p:nvSpPr>
        <p:spPr>
          <a:xfrm>
            <a:off x="3458382" y="1266242"/>
            <a:ext cx="107289" cy="107289"/>
          </a:xfrm>
          <a:prstGeom prst="roundRect">
            <a:avLst>
              <a:gd name="adj" fmla="val 30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4" name="TextBox 113"/>
          <p:cNvSpPr txBox="1"/>
          <p:nvPr/>
        </p:nvSpPr>
        <p:spPr>
          <a:xfrm>
            <a:off x="3458382" y="1266242"/>
            <a:ext cx="107289" cy="107289"/>
          </a:xfrm>
          <a:prstGeom prst="rect">
            <a:avLst/>
          </a:prstGeom>
          <a:noFill/>
        </p:spPr>
        <p:txBody>
          <a:bodyPr wrap="square" lIns="0" tIns="0" rIns="0" bIns="0" anchor="ctr">
            <a:spAutoFit/>
          </a:bodyPr>
          <a:lstStyle/>
          <a:p>
            <a:pPr marL="0" indent="0" algn="ctr">
              <a:buNone/>
            </a:pPr>
            <a:r>
              <a:rPr sz="550" b="0" i="0">
                <a:solidFill>
                  <a:srgbClr val="555555"/>
                </a:solidFill>
              </a:rPr>
              <a:t>▣</a:t>
            </a:r>
          </a:p>
        </p:txBody>
      </p:sp>
      <p:sp>
        <p:nvSpPr>
          <p:cNvPr id="115" name="TextBox 114"/>
          <p:cNvSpPr txBox="1"/>
          <p:nvPr/>
        </p:nvSpPr>
        <p:spPr>
          <a:xfrm>
            <a:off x="3608588" y="1239420"/>
            <a:ext cx="1464503" cy="112117"/>
          </a:xfrm>
          <a:prstGeom prst="rect">
            <a:avLst/>
          </a:prstGeom>
          <a:noFill/>
        </p:spPr>
        <p:txBody>
          <a:bodyPr wrap="square" lIns="0" tIns="0" rIns="0" bIns="0" anchor="b">
            <a:spAutoFit/>
          </a:bodyPr>
          <a:lstStyle/>
          <a:p>
            <a:pPr marL="0" indent="0" algn="l">
              <a:buNone/>
            </a:pPr>
            <a:r>
              <a:rPr sz="600" b="1" i="0">
                <a:solidFill>
                  <a:srgbClr val="222222"/>
                </a:solidFill>
              </a:rPr>
              <a:t>Orders</a:t>
            </a:r>
          </a:p>
        </p:txBody>
      </p:sp>
      <p:sp>
        <p:nvSpPr>
          <p:cNvPr id="116" name="TextBox 115"/>
          <p:cNvSpPr txBox="1"/>
          <p:nvPr/>
        </p:nvSpPr>
        <p:spPr>
          <a:xfrm>
            <a:off x="3608588" y="1319887"/>
            <a:ext cx="1464503" cy="91732"/>
          </a:xfrm>
          <a:prstGeom prst="rect">
            <a:avLst/>
          </a:prstGeom>
          <a:noFill/>
        </p:spPr>
        <p:txBody>
          <a:bodyPr wrap="square" lIns="0" tIns="0" rIns="0" bIns="0" anchor="t">
            <a:spAutoFit/>
          </a:bodyPr>
          <a:lstStyle/>
          <a:p>
            <a:pPr marL="0" indent="0" algn="l">
              <a:buNone/>
            </a:pPr>
            <a:r>
              <a:rPr sz="520" b="0" i="0">
                <a:solidFill>
                  <a:srgbClr val="888888"/>
                </a:solidFill>
              </a:rPr>
              <a:t>Track and reorder</a:t>
            </a:r>
          </a:p>
        </p:txBody>
      </p:sp>
      <p:sp>
        <p:nvSpPr>
          <p:cNvPr id="117" name="TextBox 116"/>
          <p:cNvSpPr txBox="1"/>
          <p:nvPr/>
        </p:nvSpPr>
        <p:spPr>
          <a:xfrm>
            <a:off x="5287670" y="1217962"/>
            <a:ext cx="53644" cy="203850"/>
          </a:xfrm>
          <a:prstGeom prst="rect">
            <a:avLst/>
          </a:prstGeom>
          <a:noFill/>
        </p:spPr>
        <p:txBody>
          <a:bodyPr wrap="square" lIns="0" tIns="0" rIns="0" bIns="0" anchor="ctr">
            <a:spAutoFit/>
          </a:bodyPr>
          <a:lstStyle/>
          <a:p>
            <a:pPr marL="0" indent="0" algn="l">
              <a:buNone/>
            </a:pPr>
            <a:r>
              <a:rPr sz="700" b="0" i="0">
                <a:solidFill>
                  <a:srgbClr val="AAAAAA"/>
                </a:solidFill>
              </a:rPr>
              <a:t>›</a:t>
            </a:r>
          </a:p>
        </p:txBody>
      </p:sp>
      <p:sp>
        <p:nvSpPr>
          <p:cNvPr id="118" name="Rectangle 117"/>
          <p:cNvSpPr/>
          <p:nvPr/>
        </p:nvSpPr>
        <p:spPr>
          <a:xfrm>
            <a:off x="3458382" y="1421812"/>
            <a:ext cx="1861474"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9" name="Rounded Rectangle 118"/>
          <p:cNvSpPr/>
          <p:nvPr/>
        </p:nvSpPr>
        <p:spPr>
          <a:xfrm>
            <a:off x="3458382" y="1475457"/>
            <a:ext cx="107289" cy="107289"/>
          </a:xfrm>
          <a:prstGeom prst="roundRect">
            <a:avLst>
              <a:gd name="adj" fmla="val 30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0" name="TextBox 119"/>
          <p:cNvSpPr txBox="1"/>
          <p:nvPr/>
        </p:nvSpPr>
        <p:spPr>
          <a:xfrm>
            <a:off x="3458382" y="1475457"/>
            <a:ext cx="107289" cy="107289"/>
          </a:xfrm>
          <a:prstGeom prst="rect">
            <a:avLst/>
          </a:prstGeom>
          <a:noFill/>
        </p:spPr>
        <p:txBody>
          <a:bodyPr wrap="square" lIns="0" tIns="0" rIns="0" bIns="0" anchor="ctr">
            <a:spAutoFit/>
          </a:bodyPr>
          <a:lstStyle/>
          <a:p>
            <a:pPr marL="0" indent="0" algn="ctr">
              <a:buNone/>
            </a:pPr>
            <a:r>
              <a:rPr sz="550" b="0" i="0">
                <a:solidFill>
                  <a:srgbClr val="555555"/>
                </a:solidFill>
              </a:rPr>
              <a:t>▣</a:t>
            </a:r>
          </a:p>
        </p:txBody>
      </p:sp>
      <p:sp>
        <p:nvSpPr>
          <p:cNvPr id="121" name="TextBox 120"/>
          <p:cNvSpPr txBox="1"/>
          <p:nvPr/>
        </p:nvSpPr>
        <p:spPr>
          <a:xfrm>
            <a:off x="3608588" y="1448634"/>
            <a:ext cx="1464503" cy="112117"/>
          </a:xfrm>
          <a:prstGeom prst="rect">
            <a:avLst/>
          </a:prstGeom>
          <a:noFill/>
        </p:spPr>
        <p:txBody>
          <a:bodyPr wrap="square" lIns="0" tIns="0" rIns="0" bIns="0" anchor="b">
            <a:spAutoFit/>
          </a:bodyPr>
          <a:lstStyle/>
          <a:p>
            <a:pPr marL="0" indent="0" algn="l">
              <a:buNone/>
            </a:pPr>
            <a:r>
              <a:rPr sz="600" b="1" i="0">
                <a:solidFill>
                  <a:srgbClr val="222222"/>
                </a:solidFill>
              </a:rPr>
              <a:t>Addresses</a:t>
            </a:r>
          </a:p>
        </p:txBody>
      </p:sp>
      <p:sp>
        <p:nvSpPr>
          <p:cNvPr id="122" name="TextBox 121"/>
          <p:cNvSpPr txBox="1"/>
          <p:nvPr/>
        </p:nvSpPr>
        <p:spPr>
          <a:xfrm>
            <a:off x="3608588" y="1529102"/>
            <a:ext cx="1464503" cy="91732"/>
          </a:xfrm>
          <a:prstGeom prst="rect">
            <a:avLst/>
          </a:prstGeom>
          <a:noFill/>
        </p:spPr>
        <p:txBody>
          <a:bodyPr wrap="square" lIns="0" tIns="0" rIns="0" bIns="0" anchor="t">
            <a:spAutoFit/>
          </a:bodyPr>
          <a:lstStyle/>
          <a:p>
            <a:pPr marL="0" indent="0" algn="l">
              <a:buNone/>
            </a:pPr>
            <a:r>
              <a:rPr sz="520" b="0" i="0">
                <a:solidFill>
                  <a:srgbClr val="888888"/>
                </a:solidFill>
              </a:rPr>
              <a:t>3 saved</a:t>
            </a:r>
          </a:p>
        </p:txBody>
      </p:sp>
      <p:sp>
        <p:nvSpPr>
          <p:cNvPr id="123" name="TextBox 122"/>
          <p:cNvSpPr txBox="1"/>
          <p:nvPr/>
        </p:nvSpPr>
        <p:spPr>
          <a:xfrm>
            <a:off x="5287670" y="1427176"/>
            <a:ext cx="53644" cy="203850"/>
          </a:xfrm>
          <a:prstGeom prst="rect">
            <a:avLst/>
          </a:prstGeom>
          <a:noFill/>
        </p:spPr>
        <p:txBody>
          <a:bodyPr wrap="square" lIns="0" tIns="0" rIns="0" bIns="0" anchor="ctr">
            <a:spAutoFit/>
          </a:bodyPr>
          <a:lstStyle/>
          <a:p>
            <a:pPr marL="0" indent="0" algn="l">
              <a:buNone/>
            </a:pPr>
            <a:r>
              <a:rPr sz="700" b="0" i="0">
                <a:solidFill>
                  <a:srgbClr val="AAAAAA"/>
                </a:solidFill>
              </a:rPr>
              <a:t>›</a:t>
            </a:r>
          </a:p>
        </p:txBody>
      </p:sp>
      <p:sp>
        <p:nvSpPr>
          <p:cNvPr id="124" name="Rectangle 123"/>
          <p:cNvSpPr/>
          <p:nvPr/>
        </p:nvSpPr>
        <p:spPr>
          <a:xfrm>
            <a:off x="3458382" y="1631027"/>
            <a:ext cx="1861474"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5" name="Rounded Rectangle 124"/>
          <p:cNvSpPr/>
          <p:nvPr/>
        </p:nvSpPr>
        <p:spPr>
          <a:xfrm>
            <a:off x="3458382" y="1684671"/>
            <a:ext cx="107289" cy="107289"/>
          </a:xfrm>
          <a:prstGeom prst="roundRect">
            <a:avLst>
              <a:gd name="adj" fmla="val 30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6" name="TextBox 125"/>
          <p:cNvSpPr txBox="1"/>
          <p:nvPr/>
        </p:nvSpPr>
        <p:spPr>
          <a:xfrm>
            <a:off x="3458382" y="1684671"/>
            <a:ext cx="107289" cy="107289"/>
          </a:xfrm>
          <a:prstGeom prst="rect">
            <a:avLst/>
          </a:prstGeom>
          <a:noFill/>
        </p:spPr>
        <p:txBody>
          <a:bodyPr wrap="square" lIns="0" tIns="0" rIns="0" bIns="0" anchor="ctr">
            <a:spAutoFit/>
          </a:bodyPr>
          <a:lstStyle/>
          <a:p>
            <a:pPr marL="0" indent="0" algn="ctr">
              <a:buNone/>
            </a:pPr>
            <a:r>
              <a:rPr sz="550" b="0" i="0">
                <a:solidFill>
                  <a:srgbClr val="555555"/>
                </a:solidFill>
              </a:rPr>
              <a:t>▣</a:t>
            </a:r>
          </a:p>
        </p:txBody>
      </p:sp>
      <p:sp>
        <p:nvSpPr>
          <p:cNvPr id="127" name="TextBox 126"/>
          <p:cNvSpPr txBox="1"/>
          <p:nvPr/>
        </p:nvSpPr>
        <p:spPr>
          <a:xfrm>
            <a:off x="3608588" y="1657849"/>
            <a:ext cx="1464503" cy="112117"/>
          </a:xfrm>
          <a:prstGeom prst="rect">
            <a:avLst/>
          </a:prstGeom>
          <a:noFill/>
        </p:spPr>
        <p:txBody>
          <a:bodyPr wrap="square" lIns="0" tIns="0" rIns="0" bIns="0" anchor="b">
            <a:spAutoFit/>
          </a:bodyPr>
          <a:lstStyle/>
          <a:p>
            <a:pPr marL="0" indent="0" algn="l">
              <a:buNone/>
            </a:pPr>
            <a:r>
              <a:rPr sz="600" b="1" i="0">
                <a:solidFill>
                  <a:srgbClr val="222222"/>
                </a:solidFill>
              </a:rPr>
              <a:t>Coupons &amp; points</a:t>
            </a:r>
          </a:p>
        </p:txBody>
      </p:sp>
      <p:sp>
        <p:nvSpPr>
          <p:cNvPr id="128" name="TextBox 127"/>
          <p:cNvSpPr txBox="1"/>
          <p:nvPr/>
        </p:nvSpPr>
        <p:spPr>
          <a:xfrm>
            <a:off x="3608588" y="1738316"/>
            <a:ext cx="1464503" cy="91732"/>
          </a:xfrm>
          <a:prstGeom prst="rect">
            <a:avLst/>
          </a:prstGeom>
          <a:noFill/>
        </p:spPr>
        <p:txBody>
          <a:bodyPr wrap="square" lIns="0" tIns="0" rIns="0" bIns="0" anchor="t">
            <a:spAutoFit/>
          </a:bodyPr>
          <a:lstStyle/>
          <a:p>
            <a:pPr marL="0" indent="0" algn="l">
              <a:buNone/>
            </a:pPr>
            <a:r>
              <a:rPr sz="520" b="0" i="0">
                <a:solidFill>
                  <a:srgbClr val="888888"/>
                </a:solidFill>
              </a:rPr>
              <a:t>12,480 points</a:t>
            </a:r>
          </a:p>
        </p:txBody>
      </p:sp>
      <p:sp>
        <p:nvSpPr>
          <p:cNvPr id="129" name="TextBox 128"/>
          <p:cNvSpPr txBox="1"/>
          <p:nvPr/>
        </p:nvSpPr>
        <p:spPr>
          <a:xfrm>
            <a:off x="5287670" y="1636391"/>
            <a:ext cx="53644" cy="203850"/>
          </a:xfrm>
          <a:prstGeom prst="rect">
            <a:avLst/>
          </a:prstGeom>
          <a:noFill/>
        </p:spPr>
        <p:txBody>
          <a:bodyPr wrap="square" lIns="0" tIns="0" rIns="0" bIns="0" anchor="ctr">
            <a:spAutoFit/>
          </a:bodyPr>
          <a:lstStyle/>
          <a:p>
            <a:pPr marL="0" indent="0" algn="l">
              <a:buNone/>
            </a:pPr>
            <a:r>
              <a:rPr sz="700" b="0" i="0">
                <a:solidFill>
                  <a:srgbClr val="AAAAAA"/>
                </a:solidFill>
              </a:rPr>
              <a:t>›</a:t>
            </a:r>
          </a:p>
        </p:txBody>
      </p:sp>
      <p:sp>
        <p:nvSpPr>
          <p:cNvPr id="130" name="Rectangle 129"/>
          <p:cNvSpPr/>
          <p:nvPr/>
        </p:nvSpPr>
        <p:spPr>
          <a:xfrm>
            <a:off x="3458382" y="1840241"/>
            <a:ext cx="1861474"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1" name="Rounded Rectangle 130"/>
          <p:cNvSpPr/>
          <p:nvPr/>
        </p:nvSpPr>
        <p:spPr>
          <a:xfrm>
            <a:off x="3458382" y="1893886"/>
            <a:ext cx="107289" cy="107289"/>
          </a:xfrm>
          <a:prstGeom prst="roundRect">
            <a:avLst>
              <a:gd name="adj" fmla="val 30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2" name="TextBox 131"/>
          <p:cNvSpPr txBox="1"/>
          <p:nvPr/>
        </p:nvSpPr>
        <p:spPr>
          <a:xfrm>
            <a:off x="3458382" y="1893886"/>
            <a:ext cx="107289" cy="107289"/>
          </a:xfrm>
          <a:prstGeom prst="rect">
            <a:avLst/>
          </a:prstGeom>
          <a:noFill/>
        </p:spPr>
        <p:txBody>
          <a:bodyPr wrap="square" lIns="0" tIns="0" rIns="0" bIns="0" anchor="ctr">
            <a:spAutoFit/>
          </a:bodyPr>
          <a:lstStyle/>
          <a:p>
            <a:pPr marL="0" indent="0" algn="ctr">
              <a:buNone/>
            </a:pPr>
            <a:r>
              <a:rPr sz="550" b="0" i="0">
                <a:solidFill>
                  <a:srgbClr val="555555"/>
                </a:solidFill>
              </a:rPr>
              <a:t>▣</a:t>
            </a:r>
          </a:p>
        </p:txBody>
      </p:sp>
      <p:sp>
        <p:nvSpPr>
          <p:cNvPr id="133" name="TextBox 132"/>
          <p:cNvSpPr txBox="1"/>
          <p:nvPr/>
        </p:nvSpPr>
        <p:spPr>
          <a:xfrm>
            <a:off x="3608588" y="1867064"/>
            <a:ext cx="1464503" cy="112117"/>
          </a:xfrm>
          <a:prstGeom prst="rect">
            <a:avLst/>
          </a:prstGeom>
          <a:noFill/>
        </p:spPr>
        <p:txBody>
          <a:bodyPr wrap="square" lIns="0" tIns="0" rIns="0" bIns="0" anchor="b">
            <a:spAutoFit/>
          </a:bodyPr>
          <a:lstStyle/>
          <a:p>
            <a:pPr marL="0" indent="0" algn="l">
              <a:buNone/>
            </a:pPr>
            <a:r>
              <a:rPr sz="600" b="1" i="0">
                <a:solidFill>
                  <a:srgbClr val="222222"/>
                </a:solidFill>
              </a:rPr>
              <a:t>Payment methods</a:t>
            </a:r>
          </a:p>
        </p:txBody>
      </p:sp>
      <p:sp>
        <p:nvSpPr>
          <p:cNvPr id="134" name="TextBox 133"/>
          <p:cNvSpPr txBox="1"/>
          <p:nvPr/>
        </p:nvSpPr>
        <p:spPr>
          <a:xfrm>
            <a:off x="3608588" y="1947531"/>
            <a:ext cx="1464503" cy="91732"/>
          </a:xfrm>
          <a:prstGeom prst="rect">
            <a:avLst/>
          </a:prstGeom>
          <a:noFill/>
        </p:spPr>
        <p:txBody>
          <a:bodyPr wrap="square" lIns="0" tIns="0" rIns="0" bIns="0" anchor="t">
            <a:spAutoFit/>
          </a:bodyPr>
          <a:lstStyle/>
          <a:p>
            <a:pPr marL="0" indent="0" algn="l">
              <a:buNone/>
            </a:pPr>
            <a:r>
              <a:rPr sz="520" b="0" i="0">
                <a:solidFill>
                  <a:srgbClr val="888888"/>
                </a:solidFill>
              </a:rPr>
              <a:t>2 saved</a:t>
            </a:r>
          </a:p>
        </p:txBody>
      </p:sp>
      <p:sp>
        <p:nvSpPr>
          <p:cNvPr id="135" name="TextBox 134"/>
          <p:cNvSpPr txBox="1"/>
          <p:nvPr/>
        </p:nvSpPr>
        <p:spPr>
          <a:xfrm>
            <a:off x="5287670" y="1845606"/>
            <a:ext cx="53644" cy="203850"/>
          </a:xfrm>
          <a:prstGeom prst="rect">
            <a:avLst/>
          </a:prstGeom>
          <a:noFill/>
        </p:spPr>
        <p:txBody>
          <a:bodyPr wrap="square" lIns="0" tIns="0" rIns="0" bIns="0" anchor="ctr">
            <a:spAutoFit/>
          </a:bodyPr>
          <a:lstStyle/>
          <a:p>
            <a:pPr marL="0" indent="0" algn="l">
              <a:buNone/>
            </a:pPr>
            <a:r>
              <a:rPr sz="700" b="0" i="0">
                <a:solidFill>
                  <a:srgbClr val="AAAAAA"/>
                </a:solidFill>
              </a:rPr>
              <a:t>›</a:t>
            </a:r>
          </a:p>
        </p:txBody>
      </p:sp>
      <p:sp>
        <p:nvSpPr>
          <p:cNvPr id="136" name="Rectangle 135"/>
          <p:cNvSpPr/>
          <p:nvPr/>
        </p:nvSpPr>
        <p:spPr>
          <a:xfrm>
            <a:off x="3458382" y="2049456"/>
            <a:ext cx="1861474"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7" name="Rounded Rectangle 136"/>
          <p:cNvSpPr/>
          <p:nvPr/>
        </p:nvSpPr>
        <p:spPr>
          <a:xfrm>
            <a:off x="3458382" y="2103101"/>
            <a:ext cx="107289" cy="107289"/>
          </a:xfrm>
          <a:prstGeom prst="roundRect">
            <a:avLst>
              <a:gd name="adj" fmla="val 30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8" name="TextBox 137"/>
          <p:cNvSpPr txBox="1"/>
          <p:nvPr/>
        </p:nvSpPr>
        <p:spPr>
          <a:xfrm>
            <a:off x="3458382" y="2103101"/>
            <a:ext cx="107289" cy="107289"/>
          </a:xfrm>
          <a:prstGeom prst="rect">
            <a:avLst/>
          </a:prstGeom>
          <a:noFill/>
        </p:spPr>
        <p:txBody>
          <a:bodyPr wrap="square" lIns="0" tIns="0" rIns="0" bIns="0" anchor="ctr">
            <a:spAutoFit/>
          </a:bodyPr>
          <a:lstStyle/>
          <a:p>
            <a:pPr marL="0" indent="0" algn="ctr">
              <a:buNone/>
            </a:pPr>
            <a:r>
              <a:rPr sz="550" b="0" i="0">
                <a:solidFill>
                  <a:srgbClr val="555555"/>
                </a:solidFill>
              </a:rPr>
              <a:t>▣</a:t>
            </a:r>
          </a:p>
        </p:txBody>
      </p:sp>
      <p:sp>
        <p:nvSpPr>
          <p:cNvPr id="139" name="TextBox 138"/>
          <p:cNvSpPr txBox="1"/>
          <p:nvPr/>
        </p:nvSpPr>
        <p:spPr>
          <a:xfrm>
            <a:off x="3608588" y="2076279"/>
            <a:ext cx="1464503" cy="112117"/>
          </a:xfrm>
          <a:prstGeom prst="rect">
            <a:avLst/>
          </a:prstGeom>
          <a:noFill/>
        </p:spPr>
        <p:txBody>
          <a:bodyPr wrap="square" lIns="0" tIns="0" rIns="0" bIns="0" anchor="b">
            <a:spAutoFit/>
          </a:bodyPr>
          <a:lstStyle/>
          <a:p>
            <a:pPr marL="0" indent="0" algn="l">
              <a:buNone/>
            </a:pPr>
            <a:r>
              <a:rPr sz="600" b="1" i="0">
                <a:solidFill>
                  <a:srgbClr val="222222"/>
                </a:solidFill>
              </a:rPr>
              <a:t>Settings</a:t>
            </a:r>
          </a:p>
        </p:txBody>
      </p:sp>
      <p:sp>
        <p:nvSpPr>
          <p:cNvPr id="140" name="TextBox 139"/>
          <p:cNvSpPr txBox="1"/>
          <p:nvPr/>
        </p:nvSpPr>
        <p:spPr>
          <a:xfrm>
            <a:off x="3608588" y="2156746"/>
            <a:ext cx="1464503" cy="91732"/>
          </a:xfrm>
          <a:prstGeom prst="rect">
            <a:avLst/>
          </a:prstGeom>
          <a:noFill/>
        </p:spPr>
        <p:txBody>
          <a:bodyPr wrap="square" lIns="0" tIns="0" rIns="0" bIns="0" anchor="t">
            <a:spAutoFit/>
          </a:bodyPr>
          <a:lstStyle/>
          <a:p>
            <a:pPr marL="0" indent="0" algn="l">
              <a:buNone/>
            </a:pPr>
            <a:r>
              <a:rPr sz="520" b="0" i="0">
                <a:solidFill>
                  <a:srgbClr val="888888"/>
                </a:solidFill>
              </a:rPr>
              <a:t>Language, notifications</a:t>
            </a:r>
          </a:p>
        </p:txBody>
      </p:sp>
      <p:sp>
        <p:nvSpPr>
          <p:cNvPr id="141" name="TextBox 140"/>
          <p:cNvSpPr txBox="1"/>
          <p:nvPr/>
        </p:nvSpPr>
        <p:spPr>
          <a:xfrm>
            <a:off x="5287670" y="2054821"/>
            <a:ext cx="53644" cy="203850"/>
          </a:xfrm>
          <a:prstGeom prst="rect">
            <a:avLst/>
          </a:prstGeom>
          <a:noFill/>
        </p:spPr>
        <p:txBody>
          <a:bodyPr wrap="square" lIns="0" tIns="0" rIns="0" bIns="0" anchor="ctr">
            <a:spAutoFit/>
          </a:bodyPr>
          <a:lstStyle/>
          <a:p>
            <a:pPr marL="0" indent="0" algn="l">
              <a:buNone/>
            </a:pPr>
            <a:r>
              <a:rPr sz="700" b="0" i="0">
                <a:solidFill>
                  <a:srgbClr val="AAAAAA"/>
                </a:solidFill>
              </a:rPr>
              <a:t>›</a:t>
            </a:r>
          </a:p>
        </p:txBody>
      </p:sp>
      <p:sp>
        <p:nvSpPr>
          <p:cNvPr id="142" name="Rectangle 141"/>
          <p:cNvSpPr/>
          <p:nvPr/>
        </p:nvSpPr>
        <p:spPr>
          <a:xfrm>
            <a:off x="3458382" y="2258671"/>
            <a:ext cx="1861474"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3" name="Rounded Rectangle 142"/>
          <p:cNvSpPr/>
          <p:nvPr/>
        </p:nvSpPr>
        <p:spPr>
          <a:xfrm>
            <a:off x="3458382" y="2317680"/>
            <a:ext cx="1861474" cy="182392"/>
          </a:xfrm>
          <a:prstGeom prst="roundRect">
            <a:avLst>
              <a:gd name="adj" fmla="val 2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4" name="TextBox 143"/>
          <p:cNvSpPr txBox="1"/>
          <p:nvPr/>
        </p:nvSpPr>
        <p:spPr>
          <a:xfrm>
            <a:off x="3458382" y="2317680"/>
            <a:ext cx="1861474" cy="182392"/>
          </a:xfrm>
          <a:prstGeom prst="rect">
            <a:avLst/>
          </a:prstGeom>
          <a:noFill/>
        </p:spPr>
        <p:txBody>
          <a:bodyPr wrap="square" lIns="0" tIns="0" rIns="0" bIns="0" anchor="ctr">
            <a:spAutoFit/>
          </a:bodyPr>
          <a:lstStyle/>
          <a:p>
            <a:pPr marL="0" indent="0" algn="ctr">
              <a:buNone/>
            </a:pPr>
            <a:r>
              <a:rPr sz="650" b="1" i="0">
                <a:solidFill>
                  <a:srgbClr val="222222"/>
                </a:solidFill>
              </a:rPr>
              <a:t>Log out</a:t>
            </a:r>
          </a:p>
        </p:txBody>
      </p:sp>
      <p:sp>
        <p:nvSpPr>
          <p:cNvPr id="145" name="Rectangle 144"/>
          <p:cNvSpPr/>
          <p:nvPr/>
        </p:nvSpPr>
        <p:spPr>
          <a:xfrm>
            <a:off x="3383280" y="880000"/>
            <a:ext cx="2011679" cy="3969715"/>
          </a:xfrm>
          <a:prstGeom prst="rect">
            <a:avLst/>
          </a:prstGeom>
          <a:solidFill>
            <a:srgbClr val="1A1A1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6" name="Rounded Rectangle 145"/>
          <p:cNvSpPr/>
          <p:nvPr/>
        </p:nvSpPr>
        <p:spPr>
          <a:xfrm>
            <a:off x="3597859" y="2221120"/>
            <a:ext cx="1582521" cy="1019251"/>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7" name="TextBox 146"/>
          <p:cNvSpPr txBox="1"/>
          <p:nvPr/>
        </p:nvSpPr>
        <p:spPr>
          <a:xfrm>
            <a:off x="3705148" y="2340647"/>
            <a:ext cx="1367942" cy="125730"/>
          </a:xfrm>
          <a:prstGeom prst="rect">
            <a:avLst/>
          </a:prstGeom>
          <a:noFill/>
        </p:spPr>
        <p:txBody>
          <a:bodyPr wrap="square" lIns="0" tIns="0" rIns="0" bIns="0" anchor="ctr">
            <a:spAutoFit/>
          </a:bodyPr>
          <a:lstStyle/>
          <a:p>
            <a:pPr marL="0" indent="0" algn="ctr">
              <a:buNone/>
            </a:pPr>
            <a:r>
              <a:rPr sz="750" b="1" i="0">
                <a:solidFill>
                  <a:srgbClr val="3A3A3A"/>
                </a:solidFill>
              </a:rPr>
              <a:t>Log out of LOTTE MART?</a:t>
            </a:r>
          </a:p>
        </p:txBody>
      </p:sp>
      <p:sp>
        <p:nvSpPr>
          <p:cNvPr id="148" name="TextBox 147"/>
          <p:cNvSpPr txBox="1"/>
          <p:nvPr/>
        </p:nvSpPr>
        <p:spPr>
          <a:xfrm>
            <a:off x="3705148" y="2489343"/>
            <a:ext cx="1367942" cy="332597"/>
          </a:xfrm>
          <a:prstGeom prst="rect">
            <a:avLst/>
          </a:prstGeom>
          <a:noFill/>
        </p:spPr>
        <p:txBody>
          <a:bodyPr wrap="square" lIns="0" tIns="0" rIns="0" bIns="0" anchor="t">
            <a:spAutoFit/>
          </a:bodyPr>
          <a:lstStyle/>
          <a:p>
            <a:pPr marL="0" indent="0" algn="ctr">
              <a:buNone/>
            </a:pPr>
            <a:r>
              <a:rPr sz="540" b="0" i="0">
                <a:solidFill>
                  <a:srgbClr val="888888"/>
                </a:solidFill>
              </a:rPr>
              <a:t>Your selected store is kept so you can keep browsing.</a:t>
            </a:r>
          </a:p>
          <a:p>
            <a:pPr marL="0" indent="0" algn="ctr">
              <a:buNone/>
            </a:pPr>
            <a:r>
              <a:rPr sz="540" b="0" i="0">
                <a:solidFill>
                  <a:srgbClr val="888888"/>
                </a:solidFill>
              </a:rPr>
              <a:t>Your saved delivery address will be removed from this device.</a:t>
            </a:r>
          </a:p>
        </p:txBody>
      </p:sp>
      <p:sp>
        <p:nvSpPr>
          <p:cNvPr id="149" name="Rounded Rectangle 148"/>
          <p:cNvSpPr/>
          <p:nvPr/>
        </p:nvSpPr>
        <p:spPr>
          <a:xfrm>
            <a:off x="3705148" y="2875586"/>
            <a:ext cx="643737" cy="182392"/>
          </a:xfrm>
          <a:prstGeom prst="roundRect">
            <a:avLst>
              <a:gd name="adj" fmla="val 2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0" name="TextBox 149"/>
          <p:cNvSpPr txBox="1"/>
          <p:nvPr/>
        </p:nvSpPr>
        <p:spPr>
          <a:xfrm>
            <a:off x="3705148" y="2875586"/>
            <a:ext cx="643737" cy="182392"/>
          </a:xfrm>
          <a:prstGeom prst="rect">
            <a:avLst/>
          </a:prstGeom>
          <a:noFill/>
        </p:spPr>
        <p:txBody>
          <a:bodyPr wrap="square" lIns="0" tIns="0" rIns="0" bIns="0" anchor="ctr">
            <a:spAutoFit/>
          </a:bodyPr>
          <a:lstStyle/>
          <a:p>
            <a:pPr marL="0" indent="0" algn="ctr">
              <a:buNone/>
            </a:pPr>
            <a:r>
              <a:rPr sz="620" b="1" i="0">
                <a:solidFill>
                  <a:srgbClr val="222222"/>
                </a:solidFill>
              </a:rPr>
              <a:t>Cancel</a:t>
            </a:r>
          </a:p>
        </p:txBody>
      </p:sp>
      <p:sp>
        <p:nvSpPr>
          <p:cNvPr id="151" name="Rounded Rectangle 150"/>
          <p:cNvSpPr/>
          <p:nvPr/>
        </p:nvSpPr>
        <p:spPr>
          <a:xfrm>
            <a:off x="4429353" y="2875586"/>
            <a:ext cx="643737" cy="182392"/>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2" name="TextBox 151"/>
          <p:cNvSpPr txBox="1"/>
          <p:nvPr/>
        </p:nvSpPr>
        <p:spPr>
          <a:xfrm>
            <a:off x="4429353" y="2875586"/>
            <a:ext cx="643737" cy="182392"/>
          </a:xfrm>
          <a:prstGeom prst="rect">
            <a:avLst/>
          </a:prstGeom>
          <a:noFill/>
        </p:spPr>
        <p:txBody>
          <a:bodyPr wrap="square" lIns="0" tIns="0" rIns="0" bIns="0" anchor="ctr">
            <a:spAutoFit/>
          </a:bodyPr>
          <a:lstStyle/>
          <a:p>
            <a:pPr marL="0" indent="0" algn="ctr">
              <a:buNone/>
            </a:pPr>
            <a:r>
              <a:rPr sz="620" b="1" i="0">
                <a:solidFill>
                  <a:srgbClr val="FFFFFF"/>
                </a:solidFill>
              </a:rPr>
              <a:t>Log out</a:t>
            </a:r>
          </a:p>
        </p:txBody>
      </p:sp>
      <p:sp>
        <p:nvSpPr>
          <p:cNvPr id="153" name="Oval 152"/>
          <p:cNvSpPr/>
          <p:nvPr/>
        </p:nvSpPr>
        <p:spPr>
          <a:xfrm>
            <a:off x="3168701" y="2221120"/>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4" name="TextBox 153"/>
          <p:cNvSpPr txBox="1"/>
          <p:nvPr/>
        </p:nvSpPr>
        <p:spPr>
          <a:xfrm>
            <a:off x="3168701" y="2221120"/>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155" name="Oval 154"/>
          <p:cNvSpPr/>
          <p:nvPr/>
        </p:nvSpPr>
        <p:spPr>
          <a:xfrm>
            <a:off x="3168701" y="2489343"/>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6" name="TextBox 155"/>
          <p:cNvSpPr txBox="1"/>
          <p:nvPr/>
        </p:nvSpPr>
        <p:spPr>
          <a:xfrm>
            <a:off x="3168701" y="2489343"/>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157" name="Oval 156"/>
          <p:cNvSpPr/>
          <p:nvPr/>
        </p:nvSpPr>
        <p:spPr>
          <a:xfrm>
            <a:off x="3168701" y="2875586"/>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8" name="TextBox 157"/>
          <p:cNvSpPr txBox="1"/>
          <p:nvPr/>
        </p:nvSpPr>
        <p:spPr>
          <a:xfrm>
            <a:off x="3168701" y="2875586"/>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graphicFrame>
        <p:nvGraphicFramePr>
          <p:cNvPr id="159" name="Table 158"/>
          <p:cNvGraphicFramePr>
            <a:graphicFrameLocks noGrp="1"/>
          </p:cNvGraphicFramePr>
          <p:nvPr/>
        </p:nvGraphicFramePr>
        <p:xfrm>
          <a:off x="7196328" y="886968"/>
          <a:ext cx="4718304" cy="294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Member context strip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Name, tier, points and available coupons. Present only when signed in. Tier drives eligibility for rules such as cash payment at pickup (BRL-29).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Member pricing becomes primary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For a signed-in customer the member price is shown first and the guest price is de-emphasised — the reverse of the Guest state (BR-06).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Account tab</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Entry point to orders, addresses, coupons, payment methods and settings, including the language chosen at ONB-01.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Logout confirmation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Explicit confirmation, because logging out changes what is stored on the device.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What is kept and what is cleared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Stated in plain language before the customer confirms. The store is kept — it is not personal data and a store is always required to browse. The delivery address is cleared, so it is not exposed to the next user of a shared device (HP-10, NFR-03).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7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Result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After logout the customer lands on SCR-HOM-01 state A: same store, empty address, Guest pricing, Cart icon still visible.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bl>
          </a:graphicData>
        </a:graphic>
      </p:graphicFrame>
      <p:sp>
        <p:nvSpPr>
          <p:cNvPr id="160" name="TextBox 159"/>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Open — OQ-26: which saved address becomes active when the customer logs back in, with the same account or a different one. Until it is decided, the interim behaviour is to show no active address and let the customer choose, which is the safe default for a shared device.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Login gate (HP)</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HP-06 · HP-07</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SCR-AUT-01</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Login Gate — Register or Sign In</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47</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Trigger A  ·  Guest taps Add to Cart</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594360" y="998018"/>
            <a:ext cx="2011679" cy="2145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69462" y="1055016"/>
            <a:ext cx="1072896" cy="100584"/>
          </a:xfrm>
          <a:prstGeom prst="rect">
            <a:avLst/>
          </a:prstGeom>
          <a:noFill/>
        </p:spPr>
        <p:txBody>
          <a:bodyPr wrap="square" lIns="0" tIns="0" rIns="0" bIns="0" anchor="ctr">
            <a:spAutoFit/>
          </a:bodyPr>
          <a:lstStyle/>
          <a:p>
            <a:pPr marL="0" indent="0" algn="l">
              <a:buNone/>
            </a:pPr>
            <a:r>
              <a:rPr sz="600" b="0" i="0">
                <a:solidFill>
                  <a:srgbClr val="888888"/>
                </a:solidFill>
              </a:rPr>
              <a:t>‹  Product detail</a:t>
            </a:r>
          </a:p>
        </p:txBody>
      </p:sp>
      <p:sp>
        <p:nvSpPr>
          <p:cNvPr id="29" name="Rounded Rectangle 28"/>
          <p:cNvSpPr/>
          <p:nvPr/>
        </p:nvSpPr>
        <p:spPr>
          <a:xfrm>
            <a:off x="916228" y="1201868"/>
            <a:ext cx="1367942" cy="804671"/>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0" name="TextBox 29"/>
          <p:cNvSpPr txBox="1"/>
          <p:nvPr/>
        </p:nvSpPr>
        <p:spPr>
          <a:xfrm>
            <a:off x="916228" y="1201868"/>
            <a:ext cx="1367942" cy="804671"/>
          </a:xfrm>
          <a:prstGeom prst="rect">
            <a:avLst/>
          </a:prstGeom>
          <a:noFill/>
        </p:spPr>
        <p:txBody>
          <a:bodyPr wrap="square" lIns="0" tIns="0" rIns="0" bIns="0" anchor="ctr">
            <a:spAutoFit/>
          </a:bodyPr>
          <a:lstStyle/>
          <a:p>
            <a:pPr marL="0" indent="0" algn="ctr">
              <a:buNone/>
            </a:pPr>
            <a:r>
              <a:rPr sz="600" b="0" i="0">
                <a:solidFill>
                  <a:srgbClr val="AAAAAA"/>
                </a:solidFill>
              </a:rPr>
              <a:t>PRODUCT IMAGE</a:t>
            </a:r>
          </a:p>
        </p:txBody>
      </p:sp>
      <p:sp>
        <p:nvSpPr>
          <p:cNvPr id="31" name="TextBox 30"/>
          <p:cNvSpPr txBox="1"/>
          <p:nvPr/>
        </p:nvSpPr>
        <p:spPr>
          <a:xfrm>
            <a:off x="701649" y="2060185"/>
            <a:ext cx="1797100" cy="107289"/>
          </a:xfrm>
          <a:prstGeom prst="rect">
            <a:avLst/>
          </a:prstGeom>
          <a:noFill/>
        </p:spPr>
        <p:txBody>
          <a:bodyPr wrap="square" lIns="0" tIns="0" rIns="0" bIns="0" anchor="ctr">
            <a:spAutoFit/>
          </a:bodyPr>
          <a:lstStyle/>
          <a:p>
            <a:pPr marL="0" indent="0" algn="l">
              <a:buNone/>
            </a:pPr>
            <a:r>
              <a:rPr sz="640" b="1" i="0">
                <a:solidFill>
                  <a:srgbClr val="222222"/>
                </a:solidFill>
              </a:rPr>
              <a:t>Vinamilk fresh milk 1L  ·  pack of 4</a:t>
            </a:r>
          </a:p>
        </p:txBody>
      </p:sp>
      <p:sp>
        <p:nvSpPr>
          <p:cNvPr id="32" name="TextBox 31"/>
          <p:cNvSpPr txBox="1"/>
          <p:nvPr/>
        </p:nvSpPr>
        <p:spPr>
          <a:xfrm>
            <a:off x="701649" y="2162446"/>
            <a:ext cx="1072896" cy="117348"/>
          </a:xfrm>
          <a:prstGeom prst="rect">
            <a:avLst/>
          </a:prstGeom>
          <a:noFill/>
        </p:spPr>
        <p:txBody>
          <a:bodyPr wrap="square" lIns="0" tIns="0" rIns="0" bIns="0" anchor="ctr">
            <a:spAutoFit/>
          </a:bodyPr>
          <a:lstStyle/>
          <a:p>
            <a:pPr marL="0" indent="0" algn="l">
              <a:buNone/>
            </a:pPr>
            <a:r>
              <a:rPr sz="700" b="1" i="0">
                <a:solidFill>
                  <a:srgbClr val="C8102E"/>
                </a:solidFill>
              </a:rPr>
              <a:t>Member  49,000 ₫</a:t>
            </a:r>
          </a:p>
        </p:txBody>
      </p:sp>
      <p:sp>
        <p:nvSpPr>
          <p:cNvPr id="33" name="TextBox 32"/>
          <p:cNvSpPr txBox="1"/>
          <p:nvPr/>
        </p:nvSpPr>
        <p:spPr>
          <a:xfrm>
            <a:off x="701649" y="2265041"/>
            <a:ext cx="1072896" cy="83820"/>
          </a:xfrm>
          <a:prstGeom prst="rect">
            <a:avLst/>
          </a:prstGeom>
          <a:noFill/>
        </p:spPr>
        <p:txBody>
          <a:bodyPr wrap="square" lIns="0" tIns="0" rIns="0" bIns="0" anchor="ctr">
            <a:spAutoFit/>
          </a:bodyPr>
          <a:lstStyle/>
          <a:p>
            <a:pPr marL="0" indent="0" algn="l">
              <a:buNone/>
            </a:pPr>
            <a:r>
              <a:rPr sz="500" b="0" i="0">
                <a:solidFill>
                  <a:srgbClr val="888888"/>
                </a:solidFill>
              </a:rPr>
              <a:t>Guest  59,000 ₫</a:t>
            </a:r>
          </a:p>
        </p:txBody>
      </p:sp>
      <p:sp>
        <p:nvSpPr>
          <p:cNvPr id="34" name="Rounded Rectangle 33"/>
          <p:cNvSpPr/>
          <p:nvPr/>
        </p:nvSpPr>
        <p:spPr>
          <a:xfrm>
            <a:off x="701649" y="2403512"/>
            <a:ext cx="1797100" cy="193121"/>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5" name="TextBox 34"/>
          <p:cNvSpPr txBox="1"/>
          <p:nvPr/>
        </p:nvSpPr>
        <p:spPr>
          <a:xfrm>
            <a:off x="701649" y="2403512"/>
            <a:ext cx="1797100" cy="193121"/>
          </a:xfrm>
          <a:prstGeom prst="rect">
            <a:avLst/>
          </a:prstGeom>
          <a:noFill/>
        </p:spPr>
        <p:txBody>
          <a:bodyPr wrap="square" lIns="0" tIns="0" rIns="0" bIns="0" anchor="ctr">
            <a:spAutoFit/>
          </a:bodyPr>
          <a:lstStyle/>
          <a:p>
            <a:pPr marL="0" indent="0" algn="ctr">
              <a:buNone/>
            </a:pPr>
            <a:r>
              <a:rPr sz="700" b="1" i="0">
                <a:solidFill>
                  <a:srgbClr val="FFFFFF"/>
                </a:solidFill>
              </a:rPr>
              <a:t>Add to Cart</a:t>
            </a:r>
          </a:p>
        </p:txBody>
      </p:sp>
      <p:sp>
        <p:nvSpPr>
          <p:cNvPr id="36" name="Rectangle 35"/>
          <p:cNvSpPr/>
          <p:nvPr/>
        </p:nvSpPr>
        <p:spPr>
          <a:xfrm>
            <a:off x="594360" y="880000"/>
            <a:ext cx="2011679" cy="3969715"/>
          </a:xfrm>
          <a:prstGeom prst="rect">
            <a:avLst/>
          </a:prstGeom>
          <a:solidFill>
            <a:srgbClr val="1A1A1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Rounded Rectangle 36"/>
          <p:cNvSpPr/>
          <p:nvPr/>
        </p:nvSpPr>
        <p:spPr>
          <a:xfrm>
            <a:off x="594360" y="2811212"/>
            <a:ext cx="2011679" cy="2038502"/>
          </a:xfrm>
          <a:prstGeom prst="roundRect">
            <a:avLst>
              <a:gd name="adj" fmla="val 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Rounded Rectangle 37"/>
          <p:cNvSpPr/>
          <p:nvPr/>
        </p:nvSpPr>
        <p:spPr>
          <a:xfrm>
            <a:off x="1503639" y="2848764"/>
            <a:ext cx="193121" cy="21457"/>
          </a:xfrm>
          <a:prstGeom prst="roundRect">
            <a:avLst>
              <a:gd name="adj" fmla="val 50000"/>
            </a:avLst>
          </a:prstGeom>
          <a:solidFill>
            <a:srgbClr val="CCCCCC"/>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TextBox 38"/>
          <p:cNvSpPr txBox="1"/>
          <p:nvPr/>
        </p:nvSpPr>
        <p:spPr>
          <a:xfrm>
            <a:off x="680191" y="2892015"/>
            <a:ext cx="1689811" cy="117348"/>
          </a:xfrm>
          <a:prstGeom prst="rect">
            <a:avLst/>
          </a:prstGeom>
          <a:noFill/>
        </p:spPr>
        <p:txBody>
          <a:bodyPr wrap="square" lIns="0" tIns="0" rIns="0" bIns="0" anchor="ctr">
            <a:spAutoFit/>
          </a:bodyPr>
          <a:lstStyle/>
          <a:p>
            <a:pPr marL="0" indent="0" algn="l">
              <a:buNone/>
            </a:pPr>
            <a:r>
              <a:rPr sz="700" b="1" i="0">
                <a:solidFill>
                  <a:srgbClr val="1A1A1A"/>
                </a:solidFill>
              </a:rPr>
              <a:t>Sign in to continue</a:t>
            </a:r>
          </a:p>
        </p:txBody>
      </p:sp>
      <p:sp>
        <p:nvSpPr>
          <p:cNvPr id="40" name="TextBox 39"/>
          <p:cNvSpPr txBox="1"/>
          <p:nvPr/>
        </p:nvSpPr>
        <p:spPr>
          <a:xfrm>
            <a:off x="2434376" y="2897044"/>
            <a:ext cx="107289" cy="107289"/>
          </a:xfrm>
          <a:prstGeom prst="rect">
            <a:avLst/>
          </a:prstGeom>
          <a:noFill/>
        </p:spPr>
        <p:txBody>
          <a:bodyPr wrap="square" lIns="0" tIns="0" rIns="0" bIns="0" anchor="ctr">
            <a:spAutoFit/>
          </a:bodyPr>
          <a:lstStyle/>
          <a:p>
            <a:pPr marL="0" indent="0" algn="ctr">
              <a:buNone/>
            </a:pPr>
            <a:r>
              <a:rPr sz="600" b="0" i="0">
                <a:solidFill>
                  <a:srgbClr val="888888"/>
                </a:solidFill>
              </a:rPr>
              <a:t>✕</a:t>
            </a:r>
          </a:p>
        </p:txBody>
      </p:sp>
      <p:sp>
        <p:nvSpPr>
          <p:cNvPr id="41" name="Rectangle 40"/>
          <p:cNvSpPr/>
          <p:nvPr/>
        </p:nvSpPr>
        <p:spPr>
          <a:xfrm>
            <a:off x="594360" y="3025792"/>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TextBox 41"/>
          <p:cNvSpPr txBox="1"/>
          <p:nvPr/>
        </p:nvSpPr>
        <p:spPr>
          <a:xfrm>
            <a:off x="701649" y="3057978"/>
            <a:ext cx="1797100" cy="182392"/>
          </a:xfrm>
          <a:prstGeom prst="rect">
            <a:avLst/>
          </a:prstGeom>
          <a:noFill/>
        </p:spPr>
        <p:txBody>
          <a:bodyPr wrap="square" lIns="0" tIns="0" rIns="0" bIns="0" anchor="t">
            <a:spAutoFit/>
          </a:bodyPr>
          <a:lstStyle/>
          <a:p>
            <a:pPr marL="0" indent="0" algn="l">
              <a:buNone/>
            </a:pPr>
            <a:r>
              <a:rPr sz="540" b="0" i="0">
                <a:solidFill>
                  <a:srgbClr val="888888"/>
                </a:solidFill>
              </a:rPr>
              <a:t>Adding a product to your cart requires an account, so we can keep your basket, prices and delivery slot together.</a:t>
            </a:r>
          </a:p>
        </p:txBody>
      </p:sp>
      <p:sp>
        <p:nvSpPr>
          <p:cNvPr id="43" name="Rounded Rectangle 42"/>
          <p:cNvSpPr/>
          <p:nvPr/>
        </p:nvSpPr>
        <p:spPr>
          <a:xfrm>
            <a:off x="701649" y="3294016"/>
            <a:ext cx="1797100" cy="225308"/>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4" name="TextBox 43"/>
          <p:cNvSpPr txBox="1"/>
          <p:nvPr/>
        </p:nvSpPr>
        <p:spPr>
          <a:xfrm>
            <a:off x="701649" y="3294016"/>
            <a:ext cx="1797100" cy="225308"/>
          </a:xfrm>
          <a:prstGeom prst="rect">
            <a:avLst/>
          </a:prstGeom>
          <a:noFill/>
        </p:spPr>
        <p:txBody>
          <a:bodyPr wrap="square" lIns="0" tIns="0" rIns="0" bIns="0" anchor="ctr">
            <a:spAutoFit/>
          </a:bodyPr>
          <a:lstStyle/>
          <a:p>
            <a:pPr marL="0" indent="0" algn="ctr">
              <a:buNone/>
            </a:pPr>
            <a:r>
              <a:rPr sz="700" b="1" i="0">
                <a:solidFill>
                  <a:srgbClr val="FFFFFF"/>
                </a:solidFill>
              </a:rPr>
              <a:t>New customer  —  Register</a:t>
            </a:r>
          </a:p>
        </p:txBody>
      </p:sp>
      <p:sp>
        <p:nvSpPr>
          <p:cNvPr id="45" name="Rounded Rectangle 44"/>
          <p:cNvSpPr/>
          <p:nvPr/>
        </p:nvSpPr>
        <p:spPr>
          <a:xfrm>
            <a:off x="701649" y="3572968"/>
            <a:ext cx="1797100" cy="225308"/>
          </a:xfrm>
          <a:prstGeom prst="roundRect">
            <a:avLst>
              <a:gd name="adj" fmla="val 2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TextBox 45"/>
          <p:cNvSpPr txBox="1"/>
          <p:nvPr/>
        </p:nvSpPr>
        <p:spPr>
          <a:xfrm>
            <a:off x="701649" y="3572968"/>
            <a:ext cx="1797100" cy="225308"/>
          </a:xfrm>
          <a:prstGeom prst="rect">
            <a:avLst/>
          </a:prstGeom>
          <a:noFill/>
        </p:spPr>
        <p:txBody>
          <a:bodyPr wrap="square" lIns="0" tIns="0" rIns="0" bIns="0" anchor="ctr">
            <a:spAutoFit/>
          </a:bodyPr>
          <a:lstStyle/>
          <a:p>
            <a:pPr marL="0" indent="0" algn="ctr">
              <a:buNone/>
            </a:pPr>
            <a:r>
              <a:rPr sz="700" b="1" i="0">
                <a:solidFill>
                  <a:srgbClr val="222222"/>
                </a:solidFill>
              </a:rPr>
              <a:t>I have an account  —  Sign in</a:t>
            </a:r>
          </a:p>
        </p:txBody>
      </p:sp>
      <p:sp>
        <p:nvSpPr>
          <p:cNvPr id="47" name="TextBox 46"/>
          <p:cNvSpPr txBox="1"/>
          <p:nvPr/>
        </p:nvSpPr>
        <p:spPr>
          <a:xfrm>
            <a:off x="701649" y="3871367"/>
            <a:ext cx="1797100" cy="100584"/>
          </a:xfrm>
          <a:prstGeom prst="rect">
            <a:avLst/>
          </a:prstGeom>
          <a:noFill/>
        </p:spPr>
        <p:txBody>
          <a:bodyPr wrap="square" lIns="0" tIns="0" rIns="0" bIns="0" anchor="ctr">
            <a:spAutoFit/>
          </a:bodyPr>
          <a:lstStyle/>
          <a:p>
            <a:pPr marL="0" indent="0" algn="ctr">
              <a:buNone/>
            </a:pPr>
            <a:r>
              <a:rPr sz="600" b="1" i="0">
                <a:solidFill>
                  <a:srgbClr val="888888"/>
                </a:solidFill>
              </a:rPr>
              <a:t>Cancel</a:t>
            </a:r>
          </a:p>
        </p:txBody>
      </p:sp>
      <p:sp>
        <p:nvSpPr>
          <p:cNvPr id="48" name="TextBox 47"/>
          <p:cNvSpPr txBox="1"/>
          <p:nvPr/>
        </p:nvSpPr>
        <p:spPr>
          <a:xfrm>
            <a:off x="701649" y="4002127"/>
            <a:ext cx="1797100" cy="160934"/>
          </a:xfrm>
          <a:prstGeom prst="rect">
            <a:avLst/>
          </a:prstGeom>
          <a:noFill/>
        </p:spPr>
        <p:txBody>
          <a:bodyPr wrap="square" lIns="0" tIns="0" rIns="0" bIns="0" anchor="t">
            <a:spAutoFit/>
          </a:bodyPr>
          <a:lstStyle/>
          <a:p>
            <a:pPr marL="0" indent="0" algn="ctr">
              <a:buNone/>
            </a:pPr>
            <a:r>
              <a:rPr sz="500" b="0" i="0">
                <a:solidFill>
                  <a:srgbClr val="AAAAAA"/>
                </a:solidFill>
              </a:rPr>
              <a:t>Your cart, coupons and points stay with your account across devices.</a:t>
            </a:r>
          </a:p>
        </p:txBody>
      </p:sp>
      <p:sp>
        <p:nvSpPr>
          <p:cNvPr id="49" name="Oval 48"/>
          <p:cNvSpPr/>
          <p:nvPr/>
        </p:nvSpPr>
        <p:spPr>
          <a:xfrm>
            <a:off x="379781" y="240351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TextBox 49"/>
          <p:cNvSpPr txBox="1"/>
          <p:nvPr/>
        </p:nvSpPr>
        <p:spPr>
          <a:xfrm>
            <a:off x="379781" y="240351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51" name="Oval 50"/>
          <p:cNvSpPr/>
          <p:nvPr/>
        </p:nvSpPr>
        <p:spPr>
          <a:xfrm>
            <a:off x="379781" y="281121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2" name="TextBox 51"/>
          <p:cNvSpPr txBox="1"/>
          <p:nvPr/>
        </p:nvSpPr>
        <p:spPr>
          <a:xfrm>
            <a:off x="379781" y="281121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53" name="Oval 52"/>
          <p:cNvSpPr/>
          <p:nvPr/>
        </p:nvSpPr>
        <p:spPr>
          <a:xfrm>
            <a:off x="379781" y="3304744"/>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4" name="TextBox 53"/>
          <p:cNvSpPr txBox="1"/>
          <p:nvPr/>
        </p:nvSpPr>
        <p:spPr>
          <a:xfrm>
            <a:off x="379781" y="3304744"/>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55" name="Oval 54"/>
          <p:cNvSpPr/>
          <p:nvPr/>
        </p:nvSpPr>
        <p:spPr>
          <a:xfrm>
            <a:off x="379781" y="3583697"/>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6" name="TextBox 55"/>
          <p:cNvSpPr txBox="1"/>
          <p:nvPr/>
        </p:nvSpPr>
        <p:spPr>
          <a:xfrm>
            <a:off x="379781" y="3583697"/>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57" name="Oval 56"/>
          <p:cNvSpPr/>
          <p:nvPr/>
        </p:nvSpPr>
        <p:spPr>
          <a:xfrm>
            <a:off x="379781" y="4163061"/>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8" name="TextBox 57"/>
          <p:cNvSpPr txBox="1"/>
          <p:nvPr/>
        </p:nvSpPr>
        <p:spPr>
          <a:xfrm>
            <a:off x="379781" y="4163061"/>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sp>
        <p:nvSpPr>
          <p:cNvPr id="59" name="Rounded Rectangle 58"/>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0" name="Rectangle 59"/>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1" name="TextBox 60"/>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Trigger B  ·  Guest taps the Cart icon</a:t>
            </a:r>
          </a:p>
        </p:txBody>
      </p:sp>
      <p:sp>
        <p:nvSpPr>
          <p:cNvPr id="62" name="TextBox 61"/>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FFFFFF"/>
                </a:solidFill>
              </a:rPr>
              <a:t>9:41</a:t>
            </a:r>
          </a:p>
        </p:txBody>
      </p:sp>
      <p:sp>
        <p:nvSpPr>
          <p:cNvPr id="63" name="TextBox 62"/>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FFFFFF"/>
                </a:solidFill>
              </a:rPr>
              <a:t>▮▮▮  ⌁  ▰</a:t>
            </a:r>
          </a:p>
        </p:txBody>
      </p:sp>
      <p:sp>
        <p:nvSpPr>
          <p:cNvPr id="64" name="Rectangle 63"/>
          <p:cNvSpPr/>
          <p:nvPr/>
        </p:nvSpPr>
        <p:spPr>
          <a:xfrm>
            <a:off x="3383280" y="998018"/>
            <a:ext cx="2011679" cy="396971"/>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5" name="TextBox 64"/>
          <p:cNvSpPr txBox="1"/>
          <p:nvPr/>
        </p:nvSpPr>
        <p:spPr>
          <a:xfrm>
            <a:off x="3554943" y="1019476"/>
            <a:ext cx="1126540" cy="107289"/>
          </a:xfrm>
          <a:prstGeom prst="rect">
            <a:avLst/>
          </a:prstGeom>
          <a:noFill/>
        </p:spPr>
        <p:txBody>
          <a:bodyPr wrap="square" lIns="0" tIns="0" rIns="0" bIns="0" anchor="ctr">
            <a:spAutoFit/>
          </a:bodyPr>
          <a:lstStyle/>
          <a:p>
            <a:pPr marL="0" indent="0" algn="l">
              <a:buNone/>
            </a:pPr>
            <a:r>
              <a:rPr sz="640" b="1" i="0">
                <a:solidFill>
                  <a:srgbClr val="FFFFFF"/>
                </a:solidFill>
              </a:rPr>
              <a:t>LOTTE Mart Nam Sài Gòn</a:t>
            </a:r>
          </a:p>
        </p:txBody>
      </p:sp>
      <p:sp>
        <p:nvSpPr>
          <p:cNvPr id="66" name="TextBox 65"/>
          <p:cNvSpPr txBox="1"/>
          <p:nvPr/>
        </p:nvSpPr>
        <p:spPr>
          <a:xfrm>
            <a:off x="3554943" y="1138836"/>
            <a:ext cx="1341120" cy="93878"/>
          </a:xfrm>
          <a:prstGeom prst="rect">
            <a:avLst/>
          </a:prstGeom>
          <a:noFill/>
        </p:spPr>
        <p:txBody>
          <a:bodyPr wrap="square" lIns="0" tIns="0" rIns="0" bIns="0" anchor="ctr">
            <a:spAutoFit/>
          </a:bodyPr>
          <a:lstStyle/>
          <a:p>
            <a:pPr marL="0" indent="0" algn="l">
              <a:buNone/>
            </a:pPr>
            <a:r>
              <a:rPr sz="560" b="1" i="0">
                <a:solidFill>
                  <a:srgbClr val="FFFFFF"/>
                </a:solidFill>
              </a:rPr>
              <a:t>123 Nguyễn Thị Thập, Q.7</a:t>
            </a:r>
          </a:p>
        </p:txBody>
      </p:sp>
      <p:sp>
        <p:nvSpPr>
          <p:cNvPr id="67" name="TextBox 66"/>
          <p:cNvSpPr txBox="1"/>
          <p:nvPr/>
        </p:nvSpPr>
        <p:spPr>
          <a:xfrm>
            <a:off x="3554943" y="1237073"/>
            <a:ext cx="1609343" cy="90525"/>
          </a:xfrm>
          <a:prstGeom prst="rect">
            <a:avLst/>
          </a:prstGeom>
          <a:noFill/>
        </p:spPr>
        <p:txBody>
          <a:bodyPr wrap="square" lIns="0" tIns="0" rIns="0" bIns="0" anchor="ctr">
            <a:spAutoFit/>
          </a:bodyPr>
          <a:lstStyle/>
          <a:p>
            <a:pPr marL="0" indent="0" algn="l">
              <a:buNone/>
            </a:pPr>
            <a:r>
              <a:rPr sz="540" b="0" i="0">
                <a:solidFill>
                  <a:srgbClr val="FFE4E8"/>
                </a:solidFill>
              </a:rPr>
              <a:t>Standard  ·  today 15:00–18:00</a:t>
            </a:r>
          </a:p>
        </p:txBody>
      </p:sp>
      <p:sp>
        <p:nvSpPr>
          <p:cNvPr id="68" name="Rounded Rectangle 67"/>
          <p:cNvSpPr/>
          <p:nvPr/>
        </p:nvSpPr>
        <p:spPr>
          <a:xfrm>
            <a:off x="3458382" y="1470092"/>
            <a:ext cx="1861474" cy="160934"/>
          </a:xfrm>
          <a:prstGeom prst="roundRect">
            <a:avLst>
              <a:gd name="adj" fmla="val 30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9" name="TextBox 68"/>
          <p:cNvSpPr txBox="1"/>
          <p:nvPr/>
        </p:nvSpPr>
        <p:spPr>
          <a:xfrm>
            <a:off x="3533485" y="1470092"/>
            <a:ext cx="1609343" cy="160934"/>
          </a:xfrm>
          <a:prstGeom prst="rect">
            <a:avLst/>
          </a:prstGeom>
          <a:noFill/>
        </p:spPr>
        <p:txBody>
          <a:bodyPr wrap="square" lIns="0" tIns="0" rIns="0" bIns="0" anchor="ctr">
            <a:spAutoFit/>
          </a:bodyPr>
          <a:lstStyle/>
          <a:p>
            <a:pPr marL="0" indent="0" algn="l">
              <a:buNone/>
            </a:pPr>
            <a:r>
              <a:rPr sz="540" b="0" i="0">
                <a:solidFill>
                  <a:srgbClr val="AAAAAA"/>
                </a:solidFill>
              </a:rPr>
              <a:t>⌕   Search 30,000+ products</a:t>
            </a:r>
          </a:p>
        </p:txBody>
      </p:sp>
      <p:sp>
        <p:nvSpPr>
          <p:cNvPr id="70" name="Rounded Rectangle 69"/>
          <p:cNvSpPr/>
          <p:nvPr/>
        </p:nvSpPr>
        <p:spPr>
          <a:xfrm>
            <a:off x="3458382" y="1716858"/>
            <a:ext cx="590092" cy="536448"/>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1" name="Rounded Rectangle 70"/>
          <p:cNvSpPr/>
          <p:nvPr/>
        </p:nvSpPr>
        <p:spPr>
          <a:xfrm>
            <a:off x="3501298" y="1759774"/>
            <a:ext cx="504261" cy="300410"/>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2" name="Rounded Rectangle 71"/>
          <p:cNvSpPr/>
          <p:nvPr/>
        </p:nvSpPr>
        <p:spPr>
          <a:xfrm>
            <a:off x="4091391" y="1716858"/>
            <a:ext cx="590092" cy="536448"/>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3" name="Rounded Rectangle 72"/>
          <p:cNvSpPr/>
          <p:nvPr/>
        </p:nvSpPr>
        <p:spPr>
          <a:xfrm>
            <a:off x="4134307" y="1759774"/>
            <a:ext cx="504261" cy="300410"/>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Rounded Rectangle 73"/>
          <p:cNvSpPr/>
          <p:nvPr/>
        </p:nvSpPr>
        <p:spPr>
          <a:xfrm>
            <a:off x="4724400" y="1716858"/>
            <a:ext cx="590092" cy="536448"/>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5" name="Rounded Rectangle 74"/>
          <p:cNvSpPr/>
          <p:nvPr/>
        </p:nvSpPr>
        <p:spPr>
          <a:xfrm>
            <a:off x="4767315" y="1759774"/>
            <a:ext cx="504261" cy="300410"/>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6" name="Rounded Rectangle 75"/>
          <p:cNvSpPr/>
          <p:nvPr/>
        </p:nvSpPr>
        <p:spPr>
          <a:xfrm>
            <a:off x="3458382" y="2296222"/>
            <a:ext cx="590092" cy="536448"/>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7" name="Rounded Rectangle 76"/>
          <p:cNvSpPr/>
          <p:nvPr/>
        </p:nvSpPr>
        <p:spPr>
          <a:xfrm>
            <a:off x="3501298" y="2339138"/>
            <a:ext cx="504261" cy="300410"/>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8" name="Rounded Rectangle 77"/>
          <p:cNvSpPr/>
          <p:nvPr/>
        </p:nvSpPr>
        <p:spPr>
          <a:xfrm>
            <a:off x="4091391" y="2296222"/>
            <a:ext cx="590092" cy="536448"/>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Rounded Rectangle 78"/>
          <p:cNvSpPr/>
          <p:nvPr/>
        </p:nvSpPr>
        <p:spPr>
          <a:xfrm>
            <a:off x="4134307" y="2339138"/>
            <a:ext cx="504261" cy="300410"/>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0" name="Rounded Rectangle 79"/>
          <p:cNvSpPr/>
          <p:nvPr/>
        </p:nvSpPr>
        <p:spPr>
          <a:xfrm>
            <a:off x="4724400" y="2296222"/>
            <a:ext cx="590092" cy="536448"/>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1" name="Rounded Rectangle 80"/>
          <p:cNvSpPr/>
          <p:nvPr/>
        </p:nvSpPr>
        <p:spPr>
          <a:xfrm>
            <a:off x="4767315" y="2339138"/>
            <a:ext cx="504261" cy="300410"/>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2" name="Rectangle 81"/>
          <p:cNvSpPr/>
          <p:nvPr/>
        </p:nvSpPr>
        <p:spPr>
          <a:xfrm>
            <a:off x="3383280" y="4667322"/>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TextBox 82"/>
          <p:cNvSpPr txBox="1"/>
          <p:nvPr/>
        </p:nvSpPr>
        <p:spPr>
          <a:xfrm>
            <a:off x="3383280" y="4665310"/>
            <a:ext cx="502919" cy="100584"/>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84" name="TextBox 83"/>
          <p:cNvSpPr txBox="1"/>
          <p:nvPr/>
        </p:nvSpPr>
        <p:spPr>
          <a:xfrm>
            <a:off x="3383280" y="4745107"/>
            <a:ext cx="502919" cy="80467"/>
          </a:xfrm>
          <a:prstGeom prst="rect">
            <a:avLst/>
          </a:prstGeom>
          <a:noFill/>
        </p:spPr>
        <p:txBody>
          <a:bodyPr wrap="square" lIns="0" tIns="0" rIns="0" bIns="0" anchor="ctr">
            <a:spAutoFit/>
          </a:bodyPr>
          <a:lstStyle/>
          <a:p>
            <a:pPr marL="0" indent="0" algn="ctr">
              <a:buNone/>
            </a:pPr>
            <a:r>
              <a:rPr sz="480" b="0" i="0">
                <a:solidFill>
                  <a:srgbClr val="888888"/>
                </a:solidFill>
              </a:rPr>
              <a:t>Home</a:t>
            </a:r>
          </a:p>
        </p:txBody>
      </p:sp>
      <p:sp>
        <p:nvSpPr>
          <p:cNvPr id="85" name="TextBox 84"/>
          <p:cNvSpPr txBox="1"/>
          <p:nvPr/>
        </p:nvSpPr>
        <p:spPr>
          <a:xfrm>
            <a:off x="3886199" y="4665310"/>
            <a:ext cx="502919" cy="100584"/>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86" name="TextBox 85"/>
          <p:cNvSpPr txBox="1"/>
          <p:nvPr/>
        </p:nvSpPr>
        <p:spPr>
          <a:xfrm>
            <a:off x="3886199" y="4745107"/>
            <a:ext cx="502919" cy="80467"/>
          </a:xfrm>
          <a:prstGeom prst="rect">
            <a:avLst/>
          </a:prstGeom>
          <a:noFill/>
        </p:spPr>
        <p:txBody>
          <a:bodyPr wrap="square" lIns="0" tIns="0" rIns="0" bIns="0" anchor="ctr">
            <a:spAutoFit/>
          </a:bodyPr>
          <a:lstStyle/>
          <a:p>
            <a:pPr marL="0" indent="0" algn="ctr">
              <a:buNone/>
            </a:pPr>
            <a:r>
              <a:rPr sz="480" b="0" i="0">
                <a:solidFill>
                  <a:srgbClr val="888888"/>
                </a:solidFill>
              </a:rPr>
              <a:t>Category</a:t>
            </a:r>
          </a:p>
        </p:txBody>
      </p:sp>
      <p:sp>
        <p:nvSpPr>
          <p:cNvPr id="87" name="TextBox 86"/>
          <p:cNvSpPr txBox="1"/>
          <p:nvPr/>
        </p:nvSpPr>
        <p:spPr>
          <a:xfrm>
            <a:off x="4389119" y="4665310"/>
            <a:ext cx="502919" cy="100584"/>
          </a:xfrm>
          <a:prstGeom prst="rect">
            <a:avLst/>
          </a:prstGeom>
          <a:noFill/>
        </p:spPr>
        <p:txBody>
          <a:bodyPr wrap="square" lIns="0" tIns="0" rIns="0" bIns="0" anchor="ctr">
            <a:spAutoFit/>
          </a:bodyPr>
          <a:lstStyle/>
          <a:p>
            <a:pPr marL="0" indent="0" algn="ctr">
              <a:buNone/>
            </a:pPr>
            <a:r>
              <a:rPr sz="600" b="0" i="0">
                <a:solidFill>
                  <a:srgbClr val="C8102E"/>
                </a:solidFill>
              </a:rPr>
              <a:t>▣</a:t>
            </a:r>
          </a:p>
        </p:txBody>
      </p:sp>
      <p:sp>
        <p:nvSpPr>
          <p:cNvPr id="88" name="TextBox 87"/>
          <p:cNvSpPr txBox="1"/>
          <p:nvPr/>
        </p:nvSpPr>
        <p:spPr>
          <a:xfrm>
            <a:off x="4389119" y="4745107"/>
            <a:ext cx="502919" cy="80467"/>
          </a:xfrm>
          <a:prstGeom prst="rect">
            <a:avLst/>
          </a:prstGeom>
          <a:noFill/>
        </p:spPr>
        <p:txBody>
          <a:bodyPr wrap="square" lIns="0" tIns="0" rIns="0" bIns="0" anchor="ctr">
            <a:spAutoFit/>
          </a:bodyPr>
          <a:lstStyle/>
          <a:p>
            <a:pPr marL="0" indent="0" algn="ctr">
              <a:buNone/>
            </a:pPr>
            <a:r>
              <a:rPr sz="480" b="1" i="0">
                <a:solidFill>
                  <a:srgbClr val="C8102E"/>
                </a:solidFill>
              </a:rPr>
              <a:t>Cart</a:t>
            </a:r>
          </a:p>
        </p:txBody>
      </p:sp>
      <p:sp>
        <p:nvSpPr>
          <p:cNvPr id="89" name="TextBox 88"/>
          <p:cNvSpPr txBox="1"/>
          <p:nvPr/>
        </p:nvSpPr>
        <p:spPr>
          <a:xfrm>
            <a:off x="4892039" y="4665310"/>
            <a:ext cx="502919" cy="100584"/>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90" name="TextBox 89"/>
          <p:cNvSpPr txBox="1"/>
          <p:nvPr/>
        </p:nvSpPr>
        <p:spPr>
          <a:xfrm>
            <a:off x="4892039" y="4745107"/>
            <a:ext cx="502919" cy="80467"/>
          </a:xfrm>
          <a:prstGeom prst="rect">
            <a:avLst/>
          </a:prstGeom>
          <a:noFill/>
        </p:spPr>
        <p:txBody>
          <a:bodyPr wrap="square" lIns="0" tIns="0" rIns="0" bIns="0" anchor="ctr">
            <a:spAutoFit/>
          </a:bodyPr>
          <a:lstStyle/>
          <a:p>
            <a:pPr marL="0" indent="0" algn="ctr">
              <a:buNone/>
            </a:pPr>
            <a:r>
              <a:rPr sz="480" b="0" i="0">
                <a:solidFill>
                  <a:srgbClr val="888888"/>
                </a:solidFill>
              </a:rPr>
              <a:t>My</a:t>
            </a:r>
          </a:p>
        </p:txBody>
      </p:sp>
      <p:sp>
        <p:nvSpPr>
          <p:cNvPr id="91" name="Rectangle 90"/>
          <p:cNvSpPr/>
          <p:nvPr/>
        </p:nvSpPr>
        <p:spPr>
          <a:xfrm>
            <a:off x="3383280" y="880000"/>
            <a:ext cx="2011679" cy="3969715"/>
          </a:xfrm>
          <a:prstGeom prst="rect">
            <a:avLst/>
          </a:prstGeom>
          <a:solidFill>
            <a:srgbClr val="1A1A1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2" name="Rounded Rectangle 91"/>
          <p:cNvSpPr/>
          <p:nvPr/>
        </p:nvSpPr>
        <p:spPr>
          <a:xfrm>
            <a:off x="3383280" y="2811212"/>
            <a:ext cx="2011679" cy="2038502"/>
          </a:xfrm>
          <a:prstGeom prst="roundRect">
            <a:avLst>
              <a:gd name="adj" fmla="val 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3" name="Rounded Rectangle 92"/>
          <p:cNvSpPr/>
          <p:nvPr/>
        </p:nvSpPr>
        <p:spPr>
          <a:xfrm>
            <a:off x="4292559" y="2848764"/>
            <a:ext cx="193121" cy="21457"/>
          </a:xfrm>
          <a:prstGeom prst="roundRect">
            <a:avLst>
              <a:gd name="adj" fmla="val 50000"/>
            </a:avLst>
          </a:prstGeom>
          <a:solidFill>
            <a:srgbClr val="CCCCCC"/>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4" name="TextBox 93"/>
          <p:cNvSpPr txBox="1"/>
          <p:nvPr/>
        </p:nvSpPr>
        <p:spPr>
          <a:xfrm>
            <a:off x="3469111" y="2892015"/>
            <a:ext cx="1689811" cy="117348"/>
          </a:xfrm>
          <a:prstGeom prst="rect">
            <a:avLst/>
          </a:prstGeom>
          <a:noFill/>
        </p:spPr>
        <p:txBody>
          <a:bodyPr wrap="square" lIns="0" tIns="0" rIns="0" bIns="0" anchor="ctr">
            <a:spAutoFit/>
          </a:bodyPr>
          <a:lstStyle/>
          <a:p>
            <a:pPr marL="0" indent="0" algn="l">
              <a:buNone/>
            </a:pPr>
            <a:r>
              <a:rPr sz="700" b="1" i="0">
                <a:solidFill>
                  <a:srgbClr val="1A1A1A"/>
                </a:solidFill>
              </a:rPr>
              <a:t>Sign in to open your cart</a:t>
            </a:r>
          </a:p>
        </p:txBody>
      </p:sp>
      <p:sp>
        <p:nvSpPr>
          <p:cNvPr id="95" name="TextBox 94"/>
          <p:cNvSpPr txBox="1"/>
          <p:nvPr/>
        </p:nvSpPr>
        <p:spPr>
          <a:xfrm>
            <a:off x="5223296" y="2897044"/>
            <a:ext cx="107289" cy="107289"/>
          </a:xfrm>
          <a:prstGeom prst="rect">
            <a:avLst/>
          </a:prstGeom>
          <a:noFill/>
        </p:spPr>
        <p:txBody>
          <a:bodyPr wrap="square" lIns="0" tIns="0" rIns="0" bIns="0" anchor="ctr">
            <a:spAutoFit/>
          </a:bodyPr>
          <a:lstStyle/>
          <a:p>
            <a:pPr marL="0" indent="0" algn="ctr">
              <a:buNone/>
            </a:pPr>
            <a:r>
              <a:rPr sz="600" b="0" i="0">
                <a:solidFill>
                  <a:srgbClr val="888888"/>
                </a:solidFill>
              </a:rPr>
              <a:t>✕</a:t>
            </a:r>
          </a:p>
        </p:txBody>
      </p:sp>
      <p:sp>
        <p:nvSpPr>
          <p:cNvPr id="96" name="Rectangle 95"/>
          <p:cNvSpPr/>
          <p:nvPr/>
        </p:nvSpPr>
        <p:spPr>
          <a:xfrm>
            <a:off x="3383280" y="3025792"/>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7" name="TextBox 96"/>
          <p:cNvSpPr txBox="1"/>
          <p:nvPr/>
        </p:nvSpPr>
        <p:spPr>
          <a:xfrm>
            <a:off x="3490569" y="3057978"/>
            <a:ext cx="1797100" cy="182392"/>
          </a:xfrm>
          <a:prstGeom prst="rect">
            <a:avLst/>
          </a:prstGeom>
          <a:noFill/>
        </p:spPr>
        <p:txBody>
          <a:bodyPr wrap="square" lIns="0" tIns="0" rIns="0" bIns="0" anchor="t">
            <a:spAutoFit/>
          </a:bodyPr>
          <a:lstStyle/>
          <a:p>
            <a:pPr marL="0" indent="0" algn="l">
              <a:buNone/>
            </a:pPr>
            <a:r>
              <a:rPr sz="540" b="0" i="0">
                <a:solidFill>
                  <a:srgbClr val="888888"/>
                </a:solidFill>
              </a:rPr>
              <a:t>Your cart is tied to your account, so it is available on every device you use.</a:t>
            </a:r>
          </a:p>
        </p:txBody>
      </p:sp>
      <p:sp>
        <p:nvSpPr>
          <p:cNvPr id="98" name="Rounded Rectangle 97"/>
          <p:cNvSpPr/>
          <p:nvPr/>
        </p:nvSpPr>
        <p:spPr>
          <a:xfrm>
            <a:off x="3490569" y="3294016"/>
            <a:ext cx="1797100" cy="225308"/>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9" name="TextBox 98"/>
          <p:cNvSpPr txBox="1"/>
          <p:nvPr/>
        </p:nvSpPr>
        <p:spPr>
          <a:xfrm>
            <a:off x="3490569" y="3294016"/>
            <a:ext cx="1797100" cy="225308"/>
          </a:xfrm>
          <a:prstGeom prst="rect">
            <a:avLst/>
          </a:prstGeom>
          <a:noFill/>
        </p:spPr>
        <p:txBody>
          <a:bodyPr wrap="square" lIns="0" tIns="0" rIns="0" bIns="0" anchor="ctr">
            <a:spAutoFit/>
          </a:bodyPr>
          <a:lstStyle/>
          <a:p>
            <a:pPr marL="0" indent="0" algn="ctr">
              <a:buNone/>
            </a:pPr>
            <a:r>
              <a:rPr sz="700" b="1" i="0">
                <a:solidFill>
                  <a:srgbClr val="FFFFFF"/>
                </a:solidFill>
              </a:rPr>
              <a:t>New customer  —  Register</a:t>
            </a:r>
          </a:p>
        </p:txBody>
      </p:sp>
      <p:sp>
        <p:nvSpPr>
          <p:cNvPr id="100" name="Rounded Rectangle 99"/>
          <p:cNvSpPr/>
          <p:nvPr/>
        </p:nvSpPr>
        <p:spPr>
          <a:xfrm>
            <a:off x="3490569" y="3572968"/>
            <a:ext cx="1797100" cy="225308"/>
          </a:xfrm>
          <a:prstGeom prst="roundRect">
            <a:avLst>
              <a:gd name="adj" fmla="val 2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1" name="TextBox 100"/>
          <p:cNvSpPr txBox="1"/>
          <p:nvPr/>
        </p:nvSpPr>
        <p:spPr>
          <a:xfrm>
            <a:off x="3490569" y="3572968"/>
            <a:ext cx="1797100" cy="225308"/>
          </a:xfrm>
          <a:prstGeom prst="rect">
            <a:avLst/>
          </a:prstGeom>
          <a:noFill/>
        </p:spPr>
        <p:txBody>
          <a:bodyPr wrap="square" lIns="0" tIns="0" rIns="0" bIns="0" anchor="ctr">
            <a:spAutoFit/>
          </a:bodyPr>
          <a:lstStyle/>
          <a:p>
            <a:pPr marL="0" indent="0" algn="ctr">
              <a:buNone/>
            </a:pPr>
            <a:r>
              <a:rPr sz="700" b="1" i="0">
                <a:solidFill>
                  <a:srgbClr val="222222"/>
                </a:solidFill>
              </a:rPr>
              <a:t>I have an account  —  Sign in</a:t>
            </a:r>
          </a:p>
        </p:txBody>
      </p:sp>
      <p:sp>
        <p:nvSpPr>
          <p:cNvPr id="102" name="TextBox 101"/>
          <p:cNvSpPr txBox="1"/>
          <p:nvPr/>
        </p:nvSpPr>
        <p:spPr>
          <a:xfrm>
            <a:off x="3490569" y="3871367"/>
            <a:ext cx="1797100" cy="100584"/>
          </a:xfrm>
          <a:prstGeom prst="rect">
            <a:avLst/>
          </a:prstGeom>
          <a:noFill/>
        </p:spPr>
        <p:txBody>
          <a:bodyPr wrap="square" lIns="0" tIns="0" rIns="0" bIns="0" anchor="ctr">
            <a:spAutoFit/>
          </a:bodyPr>
          <a:lstStyle/>
          <a:p>
            <a:pPr marL="0" indent="0" algn="ctr">
              <a:buNone/>
            </a:pPr>
            <a:r>
              <a:rPr sz="600" b="1" i="0">
                <a:solidFill>
                  <a:srgbClr val="888888"/>
                </a:solidFill>
              </a:rPr>
              <a:t>Cancel</a:t>
            </a:r>
          </a:p>
        </p:txBody>
      </p:sp>
      <p:sp>
        <p:nvSpPr>
          <p:cNvPr id="103" name="Oval 102"/>
          <p:cNvSpPr/>
          <p:nvPr/>
        </p:nvSpPr>
        <p:spPr>
          <a:xfrm>
            <a:off x="3168701" y="466732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4" name="TextBox 103"/>
          <p:cNvSpPr txBox="1"/>
          <p:nvPr/>
        </p:nvSpPr>
        <p:spPr>
          <a:xfrm>
            <a:off x="3168701" y="466732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105" name="Oval 104"/>
          <p:cNvSpPr/>
          <p:nvPr/>
        </p:nvSpPr>
        <p:spPr>
          <a:xfrm>
            <a:off x="3168701" y="281121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6" name="TextBox 105"/>
          <p:cNvSpPr txBox="1"/>
          <p:nvPr/>
        </p:nvSpPr>
        <p:spPr>
          <a:xfrm>
            <a:off x="3168701" y="281121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graphicFrame>
        <p:nvGraphicFramePr>
          <p:cNvPr id="107" name="Table 106"/>
          <p:cNvGraphicFramePr>
            <a:graphicFrameLocks noGrp="1"/>
          </p:cNvGraphicFramePr>
          <p:nvPr/>
        </p:nvGraphicFramePr>
        <p:xfrm>
          <a:off x="7196328" y="886968"/>
          <a:ext cx="4718304" cy="336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Add to Cart — gate trigger 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tap is intercepted before anything is added. The product that triggered the gate is held so it can be added automatically after authentication (HP-06, BRL-07).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Gate sheet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 bottom sheet, not a full-screen takeover — the customer keeps visual context of what they were doing. The title states which action is being gated.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Register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Opens SCR-AUT-02 in signup mode. Placed first because the gate most often fires for customers who have no account yet.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Sign 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Opens SCR-AUT-05 in login mode.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Cart icon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Always visible and enabled for Guests. Tapping it fires the same gate with different copy and a different resume action (HP-07, BRL-06).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7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Cancel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Dismisses the sheet and returns to the Homepage or product page as a Guest. Nothing is added, the Cart is not opened, and the browsing context is intact (BRL-08).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420000">
                <a:tc>
                  <a:txBody>
                    <a:bodyPr/>
                    <a:lstStyle/>
                    <a:p>
                      <a:pPr marL="0" indent="0" algn="ctr">
                        <a:buNone/>
                      </a:pPr>
                      <a:r>
                        <a:rPr sz="70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Gate sheet — trigger B</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Same two actions, different copy and a different resume: on success the Cart opens directly instead of adding a product.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108" name="TextBox 107"/>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These are the only two points in the whole journey where login is enforced (BR-02, BRL-05). Session expiry mid-journey is treated exactly like a Guest who has never logged in and re-fires this gate — assumption OQ-04, pending Security / Dev confirmation.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Signup (SU)</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SU-01 … SU-03 · SU-09</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SCR-AUT-02</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Signup — Phone Number &amp; OTP</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48</a:t>
            </a:r>
          </a:p>
        </p:txBody>
      </p:sp>
      <p:sp>
        <p:nvSpPr>
          <p:cNvPr id="22" name="Rounded Rectangle 21"/>
          <p:cNvSpPr/>
          <p:nvPr/>
        </p:nvSpPr>
        <p:spPr>
          <a:xfrm>
            <a:off x="383683" y="852203"/>
            <a:ext cx="1792955" cy="3483985"/>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411480" y="880000"/>
            <a:ext cx="1737360" cy="3428390"/>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383683" y="4354719"/>
            <a:ext cx="1792955" cy="120456"/>
          </a:xfrm>
          <a:prstGeom prst="rect">
            <a:avLst/>
          </a:prstGeom>
          <a:noFill/>
        </p:spPr>
        <p:txBody>
          <a:bodyPr wrap="square" lIns="0" tIns="0" rIns="0" bIns="0" anchor="t">
            <a:spAutoFit/>
          </a:bodyPr>
          <a:lstStyle/>
          <a:p>
            <a:pPr marL="0" indent="0" algn="ctr">
              <a:buNone/>
            </a:pPr>
            <a:r>
              <a:rPr sz="750" b="1" i="0">
                <a:solidFill>
                  <a:srgbClr val="1E2F6E"/>
                </a:solidFill>
              </a:rPr>
              <a:t>Step 1  ·  Phone number &amp; channel</a:t>
            </a:r>
          </a:p>
        </p:txBody>
      </p:sp>
      <p:sp>
        <p:nvSpPr>
          <p:cNvPr id="25" name="TextBox 24"/>
          <p:cNvSpPr txBox="1"/>
          <p:nvPr/>
        </p:nvSpPr>
        <p:spPr>
          <a:xfrm>
            <a:off x="476341" y="875596"/>
            <a:ext cx="277977" cy="92202"/>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1806000" y="879787"/>
            <a:ext cx="277977" cy="8382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411480" y="981925"/>
            <a:ext cx="1737360" cy="1853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467075" y="981925"/>
            <a:ext cx="83393" cy="185318"/>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29" name="TextBox 28"/>
          <p:cNvSpPr txBox="1"/>
          <p:nvPr/>
        </p:nvSpPr>
        <p:spPr>
          <a:xfrm>
            <a:off x="569000" y="981925"/>
            <a:ext cx="1274064" cy="185318"/>
          </a:xfrm>
          <a:prstGeom prst="rect">
            <a:avLst/>
          </a:prstGeom>
          <a:noFill/>
        </p:spPr>
        <p:txBody>
          <a:bodyPr wrap="square" lIns="0" tIns="0" rIns="0" bIns="0" anchor="ctr">
            <a:spAutoFit/>
          </a:bodyPr>
          <a:lstStyle/>
          <a:p>
            <a:pPr marL="0" indent="0" algn="l">
              <a:buNone/>
            </a:pPr>
            <a:r>
              <a:rPr sz="700" b="1" i="0">
                <a:solidFill>
                  <a:srgbClr val="1A1A1A"/>
                </a:solidFill>
              </a:rPr>
              <a:t>Create your account</a:t>
            </a:r>
          </a:p>
        </p:txBody>
      </p:sp>
      <p:sp>
        <p:nvSpPr>
          <p:cNvPr id="30" name="Rectangle 29"/>
          <p:cNvSpPr/>
          <p:nvPr/>
        </p:nvSpPr>
        <p:spPr>
          <a:xfrm>
            <a:off x="411480" y="1167243"/>
            <a:ext cx="1737360" cy="4632"/>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Rounded Rectangle 30"/>
          <p:cNvSpPr/>
          <p:nvPr/>
        </p:nvSpPr>
        <p:spPr>
          <a:xfrm>
            <a:off x="1092525" y="1296966"/>
            <a:ext cx="370636" cy="370636"/>
          </a:xfrm>
          <a:prstGeom prst="roundRect">
            <a:avLst>
              <a:gd name="adj" fmla="val 28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1092525" y="1296966"/>
            <a:ext cx="370636" cy="370636"/>
          </a:xfrm>
          <a:prstGeom prst="rect">
            <a:avLst/>
          </a:prstGeom>
          <a:noFill/>
        </p:spPr>
        <p:txBody>
          <a:bodyPr wrap="square" lIns="0" tIns="0" rIns="0" bIns="0" anchor="ctr">
            <a:spAutoFit/>
          </a:bodyPr>
          <a:lstStyle/>
          <a:p>
            <a:pPr marL="0" indent="0" algn="ctr">
              <a:buNone/>
            </a:pPr>
            <a:r>
              <a:rPr sz="1800" b="1" i="0">
                <a:solidFill>
                  <a:srgbClr val="FFFFFF"/>
                </a:solidFill>
              </a:rPr>
              <a:t>L</a:t>
            </a:r>
          </a:p>
        </p:txBody>
      </p:sp>
      <p:sp>
        <p:nvSpPr>
          <p:cNvPr id="33" name="TextBox 32"/>
          <p:cNvSpPr txBox="1"/>
          <p:nvPr/>
        </p:nvSpPr>
        <p:spPr>
          <a:xfrm>
            <a:off x="522671" y="1717255"/>
            <a:ext cx="1514977" cy="150876"/>
          </a:xfrm>
          <a:prstGeom prst="rect">
            <a:avLst/>
          </a:prstGeom>
          <a:noFill/>
        </p:spPr>
        <p:txBody>
          <a:bodyPr wrap="square" lIns="0" tIns="0" rIns="0" bIns="0" anchor="ctr">
            <a:spAutoFit/>
          </a:bodyPr>
          <a:lstStyle/>
          <a:p>
            <a:pPr marL="0" indent="0" algn="ctr">
              <a:buNone/>
            </a:pPr>
            <a:r>
              <a:rPr sz="900" b="1" i="0">
                <a:solidFill>
                  <a:srgbClr val="3A3A3A"/>
                </a:solidFill>
              </a:rPr>
              <a:t>Welcome to LOTTE MART</a:t>
            </a:r>
          </a:p>
        </p:txBody>
      </p:sp>
      <p:sp>
        <p:nvSpPr>
          <p:cNvPr id="34" name="TextBox 33"/>
          <p:cNvSpPr txBox="1"/>
          <p:nvPr/>
        </p:nvSpPr>
        <p:spPr>
          <a:xfrm>
            <a:off x="522671" y="1862187"/>
            <a:ext cx="1514977" cy="148254"/>
          </a:xfrm>
          <a:prstGeom prst="rect">
            <a:avLst/>
          </a:prstGeom>
          <a:noFill/>
        </p:spPr>
        <p:txBody>
          <a:bodyPr wrap="square" lIns="0" tIns="0" rIns="0" bIns="0" anchor="t">
            <a:spAutoFit/>
          </a:bodyPr>
          <a:lstStyle/>
          <a:p>
            <a:pPr marL="0" indent="0" algn="ctr">
              <a:buNone/>
            </a:pPr>
            <a:r>
              <a:rPr sz="560" b="0" i="0">
                <a:solidFill>
                  <a:srgbClr val="888888"/>
                </a:solidFill>
              </a:rPr>
              <a:t>Register with your phone number</a:t>
            </a:r>
          </a:p>
        </p:txBody>
      </p:sp>
      <p:sp>
        <p:nvSpPr>
          <p:cNvPr id="35" name="TextBox 34"/>
          <p:cNvSpPr txBox="1"/>
          <p:nvPr/>
        </p:nvSpPr>
        <p:spPr>
          <a:xfrm>
            <a:off x="476341" y="2057000"/>
            <a:ext cx="1158240" cy="92202"/>
          </a:xfrm>
          <a:prstGeom prst="rect">
            <a:avLst/>
          </a:prstGeom>
          <a:noFill/>
        </p:spPr>
        <p:txBody>
          <a:bodyPr wrap="square" lIns="0" tIns="0" rIns="0" bIns="0" anchor="ctr">
            <a:spAutoFit/>
          </a:bodyPr>
          <a:lstStyle/>
          <a:p>
            <a:pPr marL="0" indent="0" algn="l">
              <a:buNone/>
            </a:pPr>
            <a:r>
              <a:rPr sz="550" b="1" i="0">
                <a:solidFill>
                  <a:srgbClr val="555555"/>
                </a:solidFill>
              </a:rPr>
              <a:t>Phone number</a:t>
            </a:r>
            <a:r>
              <a:rPr sz="550" b="1" i="0">
                <a:solidFill>
                  <a:srgbClr val="C8102E"/>
                </a:solidFill>
              </a:rPr>
              <a:t> *</a:t>
            </a:r>
          </a:p>
        </p:txBody>
      </p:sp>
      <p:sp>
        <p:nvSpPr>
          <p:cNvPr id="36" name="Rounded Rectangle 35"/>
          <p:cNvSpPr/>
          <p:nvPr/>
        </p:nvSpPr>
        <p:spPr>
          <a:xfrm>
            <a:off x="476341" y="2135532"/>
            <a:ext cx="1607637" cy="157520"/>
          </a:xfrm>
          <a:prstGeom prst="roundRect">
            <a:avLst>
              <a:gd name="adj" fmla="val 18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TextBox 36"/>
          <p:cNvSpPr txBox="1"/>
          <p:nvPr/>
        </p:nvSpPr>
        <p:spPr>
          <a:xfrm>
            <a:off x="522671" y="2135532"/>
            <a:ext cx="1459382" cy="157520"/>
          </a:xfrm>
          <a:prstGeom prst="rect">
            <a:avLst/>
          </a:prstGeom>
          <a:noFill/>
        </p:spPr>
        <p:txBody>
          <a:bodyPr wrap="square" lIns="0" tIns="0" rIns="0" bIns="0" anchor="ctr">
            <a:spAutoFit/>
          </a:bodyPr>
          <a:lstStyle/>
          <a:p>
            <a:pPr marL="0" indent="0" algn="l">
              <a:buNone/>
            </a:pPr>
            <a:r>
              <a:rPr sz="600" b="0" i="0">
                <a:solidFill>
                  <a:srgbClr val="222222"/>
                </a:solidFill>
              </a:rPr>
              <a:t>090 123 4567</a:t>
            </a:r>
          </a:p>
        </p:txBody>
      </p:sp>
      <p:sp>
        <p:nvSpPr>
          <p:cNvPr id="38" name="TextBox 37"/>
          <p:cNvSpPr txBox="1"/>
          <p:nvPr/>
        </p:nvSpPr>
        <p:spPr>
          <a:xfrm>
            <a:off x="476341" y="2311813"/>
            <a:ext cx="1158240" cy="92202"/>
          </a:xfrm>
          <a:prstGeom prst="rect">
            <a:avLst/>
          </a:prstGeom>
          <a:noFill/>
        </p:spPr>
        <p:txBody>
          <a:bodyPr wrap="square" lIns="0" tIns="0" rIns="0" bIns="0" anchor="ctr">
            <a:spAutoFit/>
          </a:bodyPr>
          <a:lstStyle/>
          <a:p>
            <a:pPr marL="0" indent="0" algn="l">
              <a:buNone/>
            </a:pPr>
            <a:r>
              <a:rPr sz="550" b="1" i="0">
                <a:solidFill>
                  <a:srgbClr val="555555"/>
                </a:solidFill>
              </a:rPr>
              <a:t>Send the code by</a:t>
            </a:r>
          </a:p>
        </p:txBody>
      </p:sp>
      <p:sp>
        <p:nvSpPr>
          <p:cNvPr id="39" name="Rounded Rectangle 38"/>
          <p:cNvSpPr/>
          <p:nvPr/>
        </p:nvSpPr>
        <p:spPr>
          <a:xfrm>
            <a:off x="476341" y="2404243"/>
            <a:ext cx="778337" cy="213116"/>
          </a:xfrm>
          <a:prstGeom prst="roundRect">
            <a:avLst>
              <a:gd name="adj" fmla="val 14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TextBox 39"/>
          <p:cNvSpPr txBox="1"/>
          <p:nvPr/>
        </p:nvSpPr>
        <p:spPr>
          <a:xfrm>
            <a:off x="476341" y="2420093"/>
            <a:ext cx="778337" cy="107289"/>
          </a:xfrm>
          <a:prstGeom prst="rect">
            <a:avLst/>
          </a:prstGeom>
          <a:noFill/>
        </p:spPr>
        <p:txBody>
          <a:bodyPr wrap="square" lIns="0" tIns="0" rIns="0" bIns="0" anchor="ctr">
            <a:spAutoFit/>
          </a:bodyPr>
          <a:lstStyle/>
          <a:p>
            <a:pPr marL="0" indent="0" algn="ctr">
              <a:buNone/>
            </a:pPr>
            <a:r>
              <a:rPr sz="640" b="1" i="0">
                <a:solidFill>
                  <a:srgbClr val="C8102E"/>
                </a:solidFill>
              </a:rPr>
              <a:t>Zalo</a:t>
            </a:r>
          </a:p>
        </p:txBody>
      </p:sp>
      <p:sp>
        <p:nvSpPr>
          <p:cNvPr id="41" name="TextBox 40"/>
          <p:cNvSpPr txBox="1"/>
          <p:nvPr/>
        </p:nvSpPr>
        <p:spPr>
          <a:xfrm>
            <a:off x="476341" y="2502998"/>
            <a:ext cx="778337" cy="80467"/>
          </a:xfrm>
          <a:prstGeom prst="rect">
            <a:avLst/>
          </a:prstGeom>
          <a:noFill/>
        </p:spPr>
        <p:txBody>
          <a:bodyPr wrap="square" lIns="0" tIns="0" rIns="0" bIns="0" anchor="ctr">
            <a:spAutoFit/>
          </a:bodyPr>
          <a:lstStyle/>
          <a:p>
            <a:pPr marL="0" indent="0" algn="ctr">
              <a:buNone/>
            </a:pPr>
            <a:r>
              <a:rPr sz="480" b="0" i="0">
                <a:solidFill>
                  <a:srgbClr val="C8102E"/>
                </a:solidFill>
              </a:rPr>
              <a:t>Recommended</a:t>
            </a:r>
          </a:p>
        </p:txBody>
      </p:sp>
      <p:sp>
        <p:nvSpPr>
          <p:cNvPr id="42" name="Rounded Rectangle 41"/>
          <p:cNvSpPr/>
          <p:nvPr/>
        </p:nvSpPr>
        <p:spPr>
          <a:xfrm>
            <a:off x="1305641" y="2404243"/>
            <a:ext cx="778337" cy="213116"/>
          </a:xfrm>
          <a:prstGeom prst="roundRect">
            <a:avLst>
              <a:gd name="adj" fmla="val 14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3" name="TextBox 42"/>
          <p:cNvSpPr txBox="1"/>
          <p:nvPr/>
        </p:nvSpPr>
        <p:spPr>
          <a:xfrm>
            <a:off x="1305641" y="2420093"/>
            <a:ext cx="778337" cy="107289"/>
          </a:xfrm>
          <a:prstGeom prst="rect">
            <a:avLst/>
          </a:prstGeom>
          <a:noFill/>
        </p:spPr>
        <p:txBody>
          <a:bodyPr wrap="square" lIns="0" tIns="0" rIns="0" bIns="0" anchor="ctr">
            <a:spAutoFit/>
          </a:bodyPr>
          <a:lstStyle/>
          <a:p>
            <a:pPr marL="0" indent="0" algn="ctr">
              <a:buNone/>
            </a:pPr>
            <a:r>
              <a:rPr sz="640" b="1" i="0">
                <a:solidFill>
                  <a:srgbClr val="222222"/>
                </a:solidFill>
              </a:rPr>
              <a:t>SMS</a:t>
            </a:r>
          </a:p>
        </p:txBody>
      </p:sp>
      <p:sp>
        <p:nvSpPr>
          <p:cNvPr id="44" name="TextBox 43"/>
          <p:cNvSpPr txBox="1"/>
          <p:nvPr/>
        </p:nvSpPr>
        <p:spPr>
          <a:xfrm>
            <a:off x="1305641" y="2502998"/>
            <a:ext cx="778337" cy="80467"/>
          </a:xfrm>
          <a:prstGeom prst="rect">
            <a:avLst/>
          </a:prstGeom>
          <a:noFill/>
        </p:spPr>
        <p:txBody>
          <a:bodyPr wrap="square" lIns="0" tIns="0" rIns="0" bIns="0" anchor="ctr">
            <a:spAutoFit/>
          </a:bodyPr>
          <a:lstStyle/>
          <a:p>
            <a:pPr marL="0" indent="0" algn="ctr">
              <a:buNone/>
            </a:pPr>
            <a:r>
              <a:rPr sz="480" b="0" i="0">
                <a:solidFill>
                  <a:srgbClr val="888888"/>
                </a:solidFill>
              </a:rPr>
              <a:t>Alternative</a:t>
            </a:r>
          </a:p>
        </p:txBody>
      </p:sp>
      <p:sp>
        <p:nvSpPr>
          <p:cNvPr id="45" name="Rounded Rectangle 44"/>
          <p:cNvSpPr/>
          <p:nvPr/>
        </p:nvSpPr>
        <p:spPr>
          <a:xfrm>
            <a:off x="476341" y="2672955"/>
            <a:ext cx="1607637" cy="185318"/>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TextBox 45"/>
          <p:cNvSpPr txBox="1"/>
          <p:nvPr/>
        </p:nvSpPr>
        <p:spPr>
          <a:xfrm>
            <a:off x="476341" y="2672955"/>
            <a:ext cx="1607637" cy="185318"/>
          </a:xfrm>
          <a:prstGeom prst="rect">
            <a:avLst/>
          </a:prstGeom>
          <a:noFill/>
        </p:spPr>
        <p:txBody>
          <a:bodyPr wrap="square" lIns="0" tIns="0" rIns="0" bIns="0" anchor="ctr">
            <a:spAutoFit/>
          </a:bodyPr>
          <a:lstStyle/>
          <a:p>
            <a:pPr marL="0" indent="0" algn="ctr">
              <a:buNone/>
            </a:pPr>
            <a:r>
              <a:rPr sz="700" b="1" i="0">
                <a:solidFill>
                  <a:srgbClr val="FFFFFF"/>
                </a:solidFill>
              </a:rPr>
              <a:t>Send verification code</a:t>
            </a:r>
          </a:p>
        </p:txBody>
      </p:sp>
      <p:sp>
        <p:nvSpPr>
          <p:cNvPr id="47" name="Oval 46"/>
          <p:cNvSpPr/>
          <p:nvPr/>
        </p:nvSpPr>
        <p:spPr>
          <a:xfrm>
            <a:off x="253960" y="2075303"/>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8" name="TextBox 47"/>
          <p:cNvSpPr txBox="1"/>
          <p:nvPr/>
        </p:nvSpPr>
        <p:spPr>
          <a:xfrm>
            <a:off x="253960" y="2075303"/>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49" name="Oval 48"/>
          <p:cNvSpPr/>
          <p:nvPr/>
        </p:nvSpPr>
        <p:spPr>
          <a:xfrm>
            <a:off x="253960" y="2362547"/>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TextBox 49"/>
          <p:cNvSpPr txBox="1"/>
          <p:nvPr/>
        </p:nvSpPr>
        <p:spPr>
          <a:xfrm>
            <a:off x="253960" y="2362547"/>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51" name="Rounded Rectangle 50"/>
          <p:cNvSpPr/>
          <p:nvPr/>
        </p:nvSpPr>
        <p:spPr>
          <a:xfrm>
            <a:off x="2523883" y="852203"/>
            <a:ext cx="1792955" cy="3483985"/>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2" name="Rectangle 51"/>
          <p:cNvSpPr/>
          <p:nvPr/>
        </p:nvSpPr>
        <p:spPr>
          <a:xfrm>
            <a:off x="2551680" y="880000"/>
            <a:ext cx="1737360" cy="3428390"/>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TextBox 52"/>
          <p:cNvSpPr txBox="1"/>
          <p:nvPr/>
        </p:nvSpPr>
        <p:spPr>
          <a:xfrm>
            <a:off x="2523883" y="4354719"/>
            <a:ext cx="1792955" cy="120456"/>
          </a:xfrm>
          <a:prstGeom prst="rect">
            <a:avLst/>
          </a:prstGeom>
          <a:noFill/>
        </p:spPr>
        <p:txBody>
          <a:bodyPr wrap="square" lIns="0" tIns="0" rIns="0" bIns="0" anchor="t">
            <a:spAutoFit/>
          </a:bodyPr>
          <a:lstStyle/>
          <a:p>
            <a:pPr marL="0" indent="0" algn="ctr">
              <a:buNone/>
            </a:pPr>
            <a:r>
              <a:rPr sz="750" b="1" i="0">
                <a:solidFill>
                  <a:srgbClr val="1E2F6E"/>
                </a:solidFill>
              </a:rPr>
              <a:t>Step 2  ·  OTP entry</a:t>
            </a:r>
          </a:p>
        </p:txBody>
      </p:sp>
      <p:sp>
        <p:nvSpPr>
          <p:cNvPr id="54" name="TextBox 53"/>
          <p:cNvSpPr txBox="1"/>
          <p:nvPr/>
        </p:nvSpPr>
        <p:spPr>
          <a:xfrm>
            <a:off x="2616541" y="875596"/>
            <a:ext cx="277977" cy="92202"/>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55" name="TextBox 54"/>
          <p:cNvSpPr txBox="1"/>
          <p:nvPr/>
        </p:nvSpPr>
        <p:spPr>
          <a:xfrm>
            <a:off x="3946200" y="879787"/>
            <a:ext cx="277977" cy="8382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56" name="Rectangle 55"/>
          <p:cNvSpPr/>
          <p:nvPr/>
        </p:nvSpPr>
        <p:spPr>
          <a:xfrm>
            <a:off x="2551680" y="981925"/>
            <a:ext cx="1737360" cy="1853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7" name="TextBox 56"/>
          <p:cNvSpPr txBox="1"/>
          <p:nvPr/>
        </p:nvSpPr>
        <p:spPr>
          <a:xfrm>
            <a:off x="2607275" y="981925"/>
            <a:ext cx="83393" cy="185318"/>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58" name="TextBox 57"/>
          <p:cNvSpPr txBox="1"/>
          <p:nvPr/>
        </p:nvSpPr>
        <p:spPr>
          <a:xfrm>
            <a:off x="2709200" y="981925"/>
            <a:ext cx="1274064" cy="185318"/>
          </a:xfrm>
          <a:prstGeom prst="rect">
            <a:avLst/>
          </a:prstGeom>
          <a:noFill/>
        </p:spPr>
        <p:txBody>
          <a:bodyPr wrap="square" lIns="0" tIns="0" rIns="0" bIns="0" anchor="ctr">
            <a:spAutoFit/>
          </a:bodyPr>
          <a:lstStyle/>
          <a:p>
            <a:pPr marL="0" indent="0" algn="l">
              <a:buNone/>
            </a:pPr>
            <a:r>
              <a:rPr sz="700" b="1" i="0">
                <a:solidFill>
                  <a:srgbClr val="1A1A1A"/>
                </a:solidFill>
              </a:rPr>
              <a:t>Verify your number</a:t>
            </a:r>
          </a:p>
        </p:txBody>
      </p:sp>
      <p:sp>
        <p:nvSpPr>
          <p:cNvPr id="59" name="Rectangle 58"/>
          <p:cNvSpPr/>
          <p:nvPr/>
        </p:nvSpPr>
        <p:spPr>
          <a:xfrm>
            <a:off x="2551680" y="1167243"/>
            <a:ext cx="1737360" cy="4632"/>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0" name="Rounded Rectangle 59"/>
          <p:cNvSpPr/>
          <p:nvPr/>
        </p:nvSpPr>
        <p:spPr>
          <a:xfrm>
            <a:off x="3232725" y="1296966"/>
            <a:ext cx="370636" cy="370636"/>
          </a:xfrm>
          <a:prstGeom prst="roundRect">
            <a:avLst>
              <a:gd name="adj" fmla="val 28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1" name="TextBox 60"/>
          <p:cNvSpPr txBox="1"/>
          <p:nvPr/>
        </p:nvSpPr>
        <p:spPr>
          <a:xfrm>
            <a:off x="3232725" y="1296966"/>
            <a:ext cx="370636" cy="370636"/>
          </a:xfrm>
          <a:prstGeom prst="rect">
            <a:avLst/>
          </a:prstGeom>
          <a:noFill/>
        </p:spPr>
        <p:txBody>
          <a:bodyPr wrap="square" lIns="0" tIns="0" rIns="0" bIns="0" anchor="ctr">
            <a:spAutoFit/>
          </a:bodyPr>
          <a:lstStyle/>
          <a:p>
            <a:pPr marL="0" indent="0" algn="ctr">
              <a:buNone/>
            </a:pPr>
            <a:r>
              <a:rPr sz="1800" b="1" i="0">
                <a:solidFill>
                  <a:srgbClr val="FFFFFF"/>
                </a:solidFill>
              </a:rPr>
              <a:t>L</a:t>
            </a:r>
          </a:p>
        </p:txBody>
      </p:sp>
      <p:sp>
        <p:nvSpPr>
          <p:cNvPr id="62" name="TextBox 61"/>
          <p:cNvSpPr txBox="1"/>
          <p:nvPr/>
        </p:nvSpPr>
        <p:spPr>
          <a:xfrm>
            <a:off x="2662871" y="1717255"/>
            <a:ext cx="1514977" cy="150876"/>
          </a:xfrm>
          <a:prstGeom prst="rect">
            <a:avLst/>
          </a:prstGeom>
          <a:noFill/>
        </p:spPr>
        <p:txBody>
          <a:bodyPr wrap="square" lIns="0" tIns="0" rIns="0" bIns="0" anchor="ctr">
            <a:spAutoFit/>
          </a:bodyPr>
          <a:lstStyle/>
          <a:p>
            <a:pPr marL="0" indent="0" algn="ctr">
              <a:buNone/>
            </a:pPr>
            <a:r>
              <a:rPr sz="900" b="1" i="0">
                <a:solidFill>
                  <a:srgbClr val="3A3A3A"/>
                </a:solidFill>
              </a:rPr>
              <a:t>Enter the 6-digit code</a:t>
            </a:r>
          </a:p>
        </p:txBody>
      </p:sp>
      <p:sp>
        <p:nvSpPr>
          <p:cNvPr id="63" name="TextBox 62"/>
          <p:cNvSpPr txBox="1"/>
          <p:nvPr/>
        </p:nvSpPr>
        <p:spPr>
          <a:xfrm>
            <a:off x="2662871" y="1862187"/>
            <a:ext cx="1514977" cy="148254"/>
          </a:xfrm>
          <a:prstGeom prst="rect">
            <a:avLst/>
          </a:prstGeom>
          <a:noFill/>
        </p:spPr>
        <p:txBody>
          <a:bodyPr wrap="square" lIns="0" tIns="0" rIns="0" bIns="0" anchor="t">
            <a:spAutoFit/>
          </a:bodyPr>
          <a:lstStyle/>
          <a:p>
            <a:pPr marL="0" indent="0" algn="ctr">
              <a:buNone/>
            </a:pPr>
            <a:r>
              <a:rPr sz="560" b="0" i="0">
                <a:solidFill>
                  <a:srgbClr val="888888"/>
                </a:solidFill>
              </a:rPr>
              <a:t>Sent by Zalo to 090 123 4567</a:t>
            </a:r>
          </a:p>
        </p:txBody>
      </p:sp>
      <p:sp>
        <p:nvSpPr>
          <p:cNvPr id="64" name="Rounded Rectangle 63"/>
          <p:cNvSpPr/>
          <p:nvPr/>
        </p:nvSpPr>
        <p:spPr>
          <a:xfrm>
            <a:off x="2688352" y="2075303"/>
            <a:ext cx="213116" cy="250179"/>
          </a:xfrm>
          <a:prstGeom prst="roundRect">
            <a:avLst>
              <a:gd name="adj" fmla="val 14000"/>
            </a:avLst>
          </a:prstGeom>
          <a:solidFill>
            <a:srgbClr val="FFFFFF"/>
          </a:solidFill>
          <a:ln w="6350">
            <a:solidFill>
              <a:srgbClr val="3A3A3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5" name="TextBox 64"/>
          <p:cNvSpPr txBox="1"/>
          <p:nvPr/>
        </p:nvSpPr>
        <p:spPr>
          <a:xfrm>
            <a:off x="2688352" y="2075303"/>
            <a:ext cx="213116" cy="250179"/>
          </a:xfrm>
          <a:prstGeom prst="rect">
            <a:avLst/>
          </a:prstGeom>
          <a:noFill/>
        </p:spPr>
        <p:txBody>
          <a:bodyPr wrap="square" lIns="0" tIns="0" rIns="0" bIns="0" anchor="ctr">
            <a:spAutoFit/>
          </a:bodyPr>
          <a:lstStyle/>
          <a:p>
            <a:pPr marL="0" indent="0" algn="ctr">
              <a:buNone/>
            </a:pPr>
            <a:r>
              <a:rPr sz="1000" b="1" i="0">
                <a:solidFill>
                  <a:srgbClr val="3A3A3A"/>
                </a:solidFill>
              </a:rPr>
              <a:t>4</a:t>
            </a:r>
          </a:p>
        </p:txBody>
      </p:sp>
      <p:sp>
        <p:nvSpPr>
          <p:cNvPr id="66" name="Rounded Rectangle 65"/>
          <p:cNvSpPr/>
          <p:nvPr/>
        </p:nvSpPr>
        <p:spPr>
          <a:xfrm>
            <a:off x="2938532" y="2075303"/>
            <a:ext cx="213116" cy="250179"/>
          </a:xfrm>
          <a:prstGeom prst="roundRect">
            <a:avLst>
              <a:gd name="adj" fmla="val 14000"/>
            </a:avLst>
          </a:prstGeom>
          <a:solidFill>
            <a:srgbClr val="FFFFFF"/>
          </a:solidFill>
          <a:ln w="6350">
            <a:solidFill>
              <a:srgbClr val="3A3A3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7" name="TextBox 66"/>
          <p:cNvSpPr txBox="1"/>
          <p:nvPr/>
        </p:nvSpPr>
        <p:spPr>
          <a:xfrm>
            <a:off x="2938532" y="2075303"/>
            <a:ext cx="213116" cy="250179"/>
          </a:xfrm>
          <a:prstGeom prst="rect">
            <a:avLst/>
          </a:prstGeom>
          <a:noFill/>
        </p:spPr>
        <p:txBody>
          <a:bodyPr wrap="square" lIns="0" tIns="0" rIns="0" bIns="0" anchor="ctr">
            <a:spAutoFit/>
          </a:bodyPr>
          <a:lstStyle/>
          <a:p>
            <a:pPr marL="0" indent="0" algn="ctr">
              <a:buNone/>
            </a:pPr>
            <a:r>
              <a:rPr sz="1000" b="1" i="0">
                <a:solidFill>
                  <a:srgbClr val="3A3A3A"/>
                </a:solidFill>
              </a:rPr>
              <a:t>1</a:t>
            </a:r>
          </a:p>
        </p:txBody>
      </p:sp>
      <p:sp>
        <p:nvSpPr>
          <p:cNvPr id="68" name="Rounded Rectangle 67"/>
          <p:cNvSpPr/>
          <p:nvPr/>
        </p:nvSpPr>
        <p:spPr>
          <a:xfrm>
            <a:off x="3188712" y="2075303"/>
            <a:ext cx="213116" cy="250179"/>
          </a:xfrm>
          <a:prstGeom prst="roundRect">
            <a:avLst>
              <a:gd name="adj" fmla="val 14000"/>
            </a:avLst>
          </a:prstGeom>
          <a:solidFill>
            <a:srgbClr val="FFFFFF"/>
          </a:solidFill>
          <a:ln w="6350">
            <a:solidFill>
              <a:srgbClr val="3A3A3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9" name="TextBox 68"/>
          <p:cNvSpPr txBox="1"/>
          <p:nvPr/>
        </p:nvSpPr>
        <p:spPr>
          <a:xfrm>
            <a:off x="3188712" y="2075303"/>
            <a:ext cx="213116" cy="250179"/>
          </a:xfrm>
          <a:prstGeom prst="rect">
            <a:avLst/>
          </a:prstGeom>
          <a:noFill/>
        </p:spPr>
        <p:txBody>
          <a:bodyPr wrap="square" lIns="0" tIns="0" rIns="0" bIns="0" anchor="ctr">
            <a:spAutoFit/>
          </a:bodyPr>
          <a:lstStyle/>
          <a:p>
            <a:pPr marL="0" indent="0" algn="ctr">
              <a:buNone/>
            </a:pPr>
            <a:r>
              <a:rPr sz="1000" b="1" i="0">
                <a:solidFill>
                  <a:srgbClr val="3A3A3A"/>
                </a:solidFill>
              </a:rPr>
              <a:t>9</a:t>
            </a:r>
          </a:p>
        </p:txBody>
      </p:sp>
      <p:sp>
        <p:nvSpPr>
          <p:cNvPr id="70" name="Rounded Rectangle 69"/>
          <p:cNvSpPr/>
          <p:nvPr/>
        </p:nvSpPr>
        <p:spPr>
          <a:xfrm>
            <a:off x="3438891" y="2075303"/>
            <a:ext cx="213116" cy="250179"/>
          </a:xfrm>
          <a:prstGeom prst="roundRect">
            <a:avLst>
              <a:gd name="adj" fmla="val 14000"/>
            </a:avLst>
          </a:prstGeom>
          <a:solidFill>
            <a:srgbClr val="FFFFFF"/>
          </a:solidFill>
          <a:ln w="6350">
            <a:solidFill>
              <a:srgbClr val="3A3A3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1" name="TextBox 70"/>
          <p:cNvSpPr txBox="1"/>
          <p:nvPr/>
        </p:nvSpPr>
        <p:spPr>
          <a:xfrm>
            <a:off x="3438891" y="2075303"/>
            <a:ext cx="213116" cy="250179"/>
          </a:xfrm>
          <a:prstGeom prst="rect">
            <a:avLst/>
          </a:prstGeom>
          <a:noFill/>
        </p:spPr>
        <p:txBody>
          <a:bodyPr wrap="square" lIns="0" tIns="0" rIns="0" bIns="0" anchor="ctr">
            <a:spAutoFit/>
          </a:bodyPr>
          <a:lstStyle/>
          <a:p>
            <a:pPr marL="0" indent="0" algn="ctr">
              <a:buNone/>
            </a:pPr>
            <a:r>
              <a:rPr sz="1000" b="1" i="0">
                <a:solidFill>
                  <a:srgbClr val="3A3A3A"/>
                </a:solidFill>
              </a:rPr>
              <a:t>2</a:t>
            </a:r>
          </a:p>
        </p:txBody>
      </p:sp>
      <p:sp>
        <p:nvSpPr>
          <p:cNvPr id="72" name="Rounded Rectangle 71"/>
          <p:cNvSpPr/>
          <p:nvPr/>
        </p:nvSpPr>
        <p:spPr>
          <a:xfrm>
            <a:off x="3689071" y="2075303"/>
            <a:ext cx="213116" cy="250179"/>
          </a:xfrm>
          <a:prstGeom prst="roundRect">
            <a:avLst>
              <a:gd name="adj" fmla="val 14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3" name="Rounded Rectangle 72"/>
          <p:cNvSpPr/>
          <p:nvPr/>
        </p:nvSpPr>
        <p:spPr>
          <a:xfrm>
            <a:off x="3939251" y="2075303"/>
            <a:ext cx="213116" cy="250179"/>
          </a:xfrm>
          <a:prstGeom prst="roundRect">
            <a:avLst>
              <a:gd name="adj" fmla="val 14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TextBox 73"/>
          <p:cNvSpPr txBox="1"/>
          <p:nvPr/>
        </p:nvSpPr>
        <p:spPr>
          <a:xfrm>
            <a:off x="2616541" y="2386382"/>
            <a:ext cx="1607637" cy="100584"/>
          </a:xfrm>
          <a:prstGeom prst="rect">
            <a:avLst/>
          </a:prstGeom>
          <a:noFill/>
        </p:spPr>
        <p:txBody>
          <a:bodyPr wrap="square" lIns="0" tIns="0" rIns="0" bIns="0" anchor="ctr">
            <a:spAutoFit/>
          </a:bodyPr>
          <a:lstStyle/>
          <a:p>
            <a:pPr marL="0" indent="0" algn="ctr">
              <a:buNone/>
            </a:pPr>
            <a:r>
              <a:rPr sz="600" b="0" i="0">
                <a:solidFill>
                  <a:srgbClr val="888888"/>
                </a:solidFill>
              </a:rPr>
              <a:t>Resend in 00:47</a:t>
            </a:r>
          </a:p>
        </p:txBody>
      </p:sp>
      <p:sp>
        <p:nvSpPr>
          <p:cNvPr id="75" name="Rounded Rectangle 74"/>
          <p:cNvSpPr/>
          <p:nvPr/>
        </p:nvSpPr>
        <p:spPr>
          <a:xfrm>
            <a:off x="2616541" y="2520067"/>
            <a:ext cx="1607637" cy="166786"/>
          </a:xfrm>
          <a:prstGeom prst="roundRect">
            <a:avLst>
              <a:gd name="adj" fmla="val 20000"/>
            </a:avLst>
          </a:prstGeom>
          <a:solidFill>
            <a:srgbClr val="E0E0E0"/>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6" name="TextBox 75"/>
          <p:cNvSpPr txBox="1"/>
          <p:nvPr/>
        </p:nvSpPr>
        <p:spPr>
          <a:xfrm>
            <a:off x="2616541" y="2520067"/>
            <a:ext cx="1607637" cy="166786"/>
          </a:xfrm>
          <a:prstGeom prst="rect">
            <a:avLst/>
          </a:prstGeom>
          <a:noFill/>
        </p:spPr>
        <p:txBody>
          <a:bodyPr wrap="square" lIns="0" tIns="0" rIns="0" bIns="0" anchor="ctr">
            <a:spAutoFit/>
          </a:bodyPr>
          <a:lstStyle/>
          <a:p>
            <a:pPr marL="0" indent="0" algn="ctr">
              <a:buNone/>
            </a:pPr>
            <a:r>
              <a:rPr sz="650" b="1" i="0">
                <a:solidFill>
                  <a:srgbClr val="888888"/>
                </a:solidFill>
              </a:rPr>
              <a:t>Resend code</a:t>
            </a:r>
          </a:p>
        </p:txBody>
      </p:sp>
      <p:sp>
        <p:nvSpPr>
          <p:cNvPr id="77" name="TextBox 76"/>
          <p:cNvSpPr txBox="1"/>
          <p:nvPr/>
        </p:nvSpPr>
        <p:spPr>
          <a:xfrm>
            <a:off x="2616541" y="2719956"/>
            <a:ext cx="1607637" cy="100584"/>
          </a:xfrm>
          <a:prstGeom prst="rect">
            <a:avLst/>
          </a:prstGeom>
          <a:noFill/>
        </p:spPr>
        <p:txBody>
          <a:bodyPr wrap="square" lIns="0" tIns="0" rIns="0" bIns="0" anchor="ctr">
            <a:spAutoFit/>
          </a:bodyPr>
          <a:lstStyle/>
          <a:p>
            <a:pPr marL="0" indent="0" algn="ctr">
              <a:buNone/>
            </a:pPr>
            <a:r>
              <a:rPr sz="600" b="1" i="0">
                <a:solidFill>
                  <a:srgbClr val="AAAAAA"/>
                </a:solidFill>
              </a:rPr>
              <a:t>Send by SMS instead</a:t>
            </a:r>
          </a:p>
        </p:txBody>
      </p:sp>
      <p:sp>
        <p:nvSpPr>
          <p:cNvPr id="78" name="Rounded Rectangle 77"/>
          <p:cNvSpPr/>
          <p:nvPr/>
        </p:nvSpPr>
        <p:spPr>
          <a:xfrm>
            <a:off x="2598009" y="2872172"/>
            <a:ext cx="1644700" cy="138988"/>
          </a:xfrm>
          <a:prstGeom prst="roundRect">
            <a:avLst>
              <a:gd name="adj" fmla="val 15000"/>
            </a:avLst>
          </a:prstGeom>
          <a:solidFill>
            <a:srgbClr val="F4F5F7"/>
          </a:solidFill>
          <a:ln w="6350">
            <a:solidFill>
              <a:srgbClr val="F4F5F7"/>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TextBox 78"/>
          <p:cNvSpPr txBox="1"/>
          <p:nvPr/>
        </p:nvSpPr>
        <p:spPr>
          <a:xfrm>
            <a:off x="2635073" y="2872172"/>
            <a:ext cx="83393" cy="138988"/>
          </a:xfrm>
          <a:prstGeom prst="rect">
            <a:avLst/>
          </a:prstGeom>
          <a:noFill/>
        </p:spPr>
        <p:txBody>
          <a:bodyPr wrap="square" lIns="0" tIns="0" rIns="0" bIns="0" anchor="ctr">
            <a:spAutoFit/>
          </a:bodyPr>
          <a:lstStyle/>
          <a:p>
            <a:pPr marL="0" indent="0" algn="ctr">
              <a:buNone/>
            </a:pPr>
            <a:r>
              <a:rPr sz="550" b="1" i="0">
                <a:solidFill>
                  <a:srgbClr val="555555"/>
                </a:solidFill>
              </a:rPr>
              <a:t>i</a:t>
            </a:r>
          </a:p>
        </p:txBody>
      </p:sp>
      <p:sp>
        <p:nvSpPr>
          <p:cNvPr id="80" name="TextBox 79"/>
          <p:cNvSpPr txBox="1"/>
          <p:nvPr/>
        </p:nvSpPr>
        <p:spPr>
          <a:xfrm>
            <a:off x="2746264" y="2872172"/>
            <a:ext cx="1468648" cy="138988"/>
          </a:xfrm>
          <a:prstGeom prst="rect">
            <a:avLst/>
          </a:prstGeom>
          <a:noFill/>
        </p:spPr>
        <p:txBody>
          <a:bodyPr wrap="square" lIns="0" tIns="0" rIns="0" bIns="0" anchor="ctr">
            <a:spAutoFit/>
          </a:bodyPr>
          <a:lstStyle/>
          <a:p>
            <a:pPr marL="0" indent="0" algn="l">
              <a:buNone/>
            </a:pPr>
            <a:r>
              <a:rPr sz="540" b="0" i="0">
                <a:solidFill>
                  <a:srgbClr val="555555"/>
                </a:solidFill>
              </a:rPr>
              <a:t>Available after the countdown ends — no automatic switch</a:t>
            </a:r>
          </a:p>
        </p:txBody>
      </p:sp>
      <p:sp>
        <p:nvSpPr>
          <p:cNvPr id="81" name="Oval 80"/>
          <p:cNvSpPr/>
          <p:nvPr/>
        </p:nvSpPr>
        <p:spPr>
          <a:xfrm>
            <a:off x="2394160" y="2075303"/>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2" name="TextBox 81"/>
          <p:cNvSpPr txBox="1"/>
          <p:nvPr/>
        </p:nvSpPr>
        <p:spPr>
          <a:xfrm>
            <a:off x="2394160" y="2075303"/>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83" name="Oval 82"/>
          <p:cNvSpPr/>
          <p:nvPr/>
        </p:nvSpPr>
        <p:spPr>
          <a:xfrm>
            <a:off x="2394160" y="2408876"/>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4" name="TextBox 83"/>
          <p:cNvSpPr txBox="1"/>
          <p:nvPr/>
        </p:nvSpPr>
        <p:spPr>
          <a:xfrm>
            <a:off x="2394160" y="2408876"/>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85" name="Oval 84"/>
          <p:cNvSpPr/>
          <p:nvPr/>
        </p:nvSpPr>
        <p:spPr>
          <a:xfrm>
            <a:off x="2394160" y="2733184"/>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6" name="TextBox 85"/>
          <p:cNvSpPr txBox="1"/>
          <p:nvPr/>
        </p:nvSpPr>
        <p:spPr>
          <a:xfrm>
            <a:off x="2394160" y="2733184"/>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87" name="Rounded Rectangle 86"/>
          <p:cNvSpPr/>
          <p:nvPr/>
        </p:nvSpPr>
        <p:spPr>
          <a:xfrm>
            <a:off x="4664083" y="852203"/>
            <a:ext cx="1792955" cy="3483985"/>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8" name="Rectangle 87"/>
          <p:cNvSpPr/>
          <p:nvPr/>
        </p:nvSpPr>
        <p:spPr>
          <a:xfrm>
            <a:off x="4691880" y="880000"/>
            <a:ext cx="1737360" cy="3428390"/>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9" name="TextBox 88"/>
          <p:cNvSpPr txBox="1"/>
          <p:nvPr/>
        </p:nvSpPr>
        <p:spPr>
          <a:xfrm>
            <a:off x="4664083" y="4354719"/>
            <a:ext cx="1792955" cy="120456"/>
          </a:xfrm>
          <a:prstGeom prst="rect">
            <a:avLst/>
          </a:prstGeom>
          <a:noFill/>
        </p:spPr>
        <p:txBody>
          <a:bodyPr wrap="square" lIns="0" tIns="0" rIns="0" bIns="0" anchor="t">
            <a:spAutoFit/>
          </a:bodyPr>
          <a:lstStyle/>
          <a:p>
            <a:pPr marL="0" indent="0" algn="ctr">
              <a:buNone/>
            </a:pPr>
            <a:r>
              <a:rPr sz="750" b="1" i="0">
                <a:solidFill>
                  <a:srgbClr val="1E2F6E"/>
                </a:solidFill>
              </a:rPr>
              <a:t>Deviation  ·  number already registered</a:t>
            </a:r>
          </a:p>
        </p:txBody>
      </p:sp>
      <p:sp>
        <p:nvSpPr>
          <p:cNvPr id="90" name="TextBox 89"/>
          <p:cNvSpPr txBox="1"/>
          <p:nvPr/>
        </p:nvSpPr>
        <p:spPr>
          <a:xfrm>
            <a:off x="4756741" y="875596"/>
            <a:ext cx="277977" cy="92202"/>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91" name="TextBox 90"/>
          <p:cNvSpPr txBox="1"/>
          <p:nvPr/>
        </p:nvSpPr>
        <p:spPr>
          <a:xfrm>
            <a:off x="6086400" y="879787"/>
            <a:ext cx="277977" cy="8382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92" name="Rectangle 91"/>
          <p:cNvSpPr/>
          <p:nvPr/>
        </p:nvSpPr>
        <p:spPr>
          <a:xfrm>
            <a:off x="4691880" y="981925"/>
            <a:ext cx="1737360" cy="1853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3" name="TextBox 92"/>
          <p:cNvSpPr txBox="1"/>
          <p:nvPr/>
        </p:nvSpPr>
        <p:spPr>
          <a:xfrm>
            <a:off x="4747475" y="981925"/>
            <a:ext cx="83393" cy="185318"/>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94" name="TextBox 93"/>
          <p:cNvSpPr txBox="1"/>
          <p:nvPr/>
        </p:nvSpPr>
        <p:spPr>
          <a:xfrm>
            <a:off x="4849400" y="981925"/>
            <a:ext cx="1274064" cy="185318"/>
          </a:xfrm>
          <a:prstGeom prst="rect">
            <a:avLst/>
          </a:prstGeom>
          <a:noFill/>
        </p:spPr>
        <p:txBody>
          <a:bodyPr wrap="square" lIns="0" tIns="0" rIns="0" bIns="0" anchor="ctr">
            <a:spAutoFit/>
          </a:bodyPr>
          <a:lstStyle/>
          <a:p>
            <a:pPr marL="0" indent="0" algn="l">
              <a:buNone/>
            </a:pPr>
            <a:r>
              <a:rPr sz="700" b="1" i="0">
                <a:solidFill>
                  <a:srgbClr val="1A1A1A"/>
                </a:solidFill>
              </a:rPr>
              <a:t>Create your account</a:t>
            </a:r>
          </a:p>
        </p:txBody>
      </p:sp>
      <p:sp>
        <p:nvSpPr>
          <p:cNvPr id="95" name="Rectangle 94"/>
          <p:cNvSpPr/>
          <p:nvPr/>
        </p:nvSpPr>
        <p:spPr>
          <a:xfrm>
            <a:off x="4691880" y="1167243"/>
            <a:ext cx="1737360" cy="4632"/>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6" name="Rounded Rectangle 95"/>
          <p:cNvSpPr/>
          <p:nvPr/>
        </p:nvSpPr>
        <p:spPr>
          <a:xfrm>
            <a:off x="5372925" y="1296966"/>
            <a:ext cx="370636" cy="370636"/>
          </a:xfrm>
          <a:prstGeom prst="roundRect">
            <a:avLst>
              <a:gd name="adj" fmla="val 28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7" name="TextBox 96"/>
          <p:cNvSpPr txBox="1"/>
          <p:nvPr/>
        </p:nvSpPr>
        <p:spPr>
          <a:xfrm>
            <a:off x="5372925" y="1296966"/>
            <a:ext cx="370636" cy="370636"/>
          </a:xfrm>
          <a:prstGeom prst="rect">
            <a:avLst/>
          </a:prstGeom>
          <a:noFill/>
        </p:spPr>
        <p:txBody>
          <a:bodyPr wrap="square" lIns="0" tIns="0" rIns="0" bIns="0" anchor="ctr">
            <a:spAutoFit/>
          </a:bodyPr>
          <a:lstStyle/>
          <a:p>
            <a:pPr marL="0" indent="0" algn="ctr">
              <a:buNone/>
            </a:pPr>
            <a:r>
              <a:rPr sz="1800" b="1" i="0">
                <a:solidFill>
                  <a:srgbClr val="FFFFFF"/>
                </a:solidFill>
              </a:rPr>
              <a:t>L</a:t>
            </a:r>
          </a:p>
        </p:txBody>
      </p:sp>
      <p:sp>
        <p:nvSpPr>
          <p:cNvPr id="98" name="TextBox 97"/>
          <p:cNvSpPr txBox="1"/>
          <p:nvPr/>
        </p:nvSpPr>
        <p:spPr>
          <a:xfrm>
            <a:off x="4803071" y="1717255"/>
            <a:ext cx="1514977" cy="150876"/>
          </a:xfrm>
          <a:prstGeom prst="rect">
            <a:avLst/>
          </a:prstGeom>
          <a:noFill/>
        </p:spPr>
        <p:txBody>
          <a:bodyPr wrap="square" lIns="0" tIns="0" rIns="0" bIns="0" anchor="ctr">
            <a:spAutoFit/>
          </a:bodyPr>
          <a:lstStyle/>
          <a:p>
            <a:pPr marL="0" indent="0" algn="ctr">
              <a:buNone/>
            </a:pPr>
            <a:r>
              <a:rPr sz="900" b="1" i="0">
                <a:solidFill>
                  <a:srgbClr val="3A3A3A"/>
                </a:solidFill>
              </a:rPr>
              <a:t>Welcome to LOTTE MART</a:t>
            </a:r>
          </a:p>
        </p:txBody>
      </p:sp>
      <p:sp>
        <p:nvSpPr>
          <p:cNvPr id="99" name="TextBox 98"/>
          <p:cNvSpPr txBox="1"/>
          <p:nvPr/>
        </p:nvSpPr>
        <p:spPr>
          <a:xfrm>
            <a:off x="4803071" y="1862187"/>
            <a:ext cx="1514977" cy="148254"/>
          </a:xfrm>
          <a:prstGeom prst="rect">
            <a:avLst/>
          </a:prstGeom>
          <a:noFill/>
        </p:spPr>
        <p:txBody>
          <a:bodyPr wrap="square" lIns="0" tIns="0" rIns="0" bIns="0" anchor="t">
            <a:spAutoFit/>
          </a:bodyPr>
          <a:lstStyle/>
          <a:p>
            <a:pPr marL="0" indent="0" algn="ctr">
              <a:buNone/>
            </a:pPr>
            <a:r>
              <a:rPr sz="560" b="0" i="0">
                <a:solidFill>
                  <a:srgbClr val="888888"/>
                </a:solidFill>
              </a:rPr>
              <a:t>Register with your phone number</a:t>
            </a:r>
          </a:p>
        </p:txBody>
      </p:sp>
      <p:sp>
        <p:nvSpPr>
          <p:cNvPr id="100" name="TextBox 99"/>
          <p:cNvSpPr txBox="1"/>
          <p:nvPr/>
        </p:nvSpPr>
        <p:spPr>
          <a:xfrm>
            <a:off x="4756741" y="2057000"/>
            <a:ext cx="1158240" cy="92202"/>
          </a:xfrm>
          <a:prstGeom prst="rect">
            <a:avLst/>
          </a:prstGeom>
          <a:noFill/>
        </p:spPr>
        <p:txBody>
          <a:bodyPr wrap="square" lIns="0" tIns="0" rIns="0" bIns="0" anchor="ctr">
            <a:spAutoFit/>
          </a:bodyPr>
          <a:lstStyle/>
          <a:p>
            <a:pPr marL="0" indent="0" algn="l">
              <a:buNone/>
            </a:pPr>
            <a:r>
              <a:rPr sz="550" b="1" i="0">
                <a:solidFill>
                  <a:srgbClr val="555555"/>
                </a:solidFill>
              </a:rPr>
              <a:t>Phone number</a:t>
            </a:r>
            <a:r>
              <a:rPr sz="550" b="1" i="0">
                <a:solidFill>
                  <a:srgbClr val="C8102E"/>
                </a:solidFill>
              </a:rPr>
              <a:t> *</a:t>
            </a:r>
          </a:p>
        </p:txBody>
      </p:sp>
      <p:sp>
        <p:nvSpPr>
          <p:cNvPr id="101" name="Rounded Rectangle 100"/>
          <p:cNvSpPr/>
          <p:nvPr/>
        </p:nvSpPr>
        <p:spPr>
          <a:xfrm>
            <a:off x="4756741" y="2135532"/>
            <a:ext cx="1607637" cy="157520"/>
          </a:xfrm>
          <a:prstGeom prst="roundRect">
            <a:avLst>
              <a:gd name="adj" fmla="val 18000"/>
            </a:avLst>
          </a:prstGeom>
          <a:solidFill>
            <a:srgbClr val="FAFAFA"/>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2" name="TextBox 101"/>
          <p:cNvSpPr txBox="1"/>
          <p:nvPr/>
        </p:nvSpPr>
        <p:spPr>
          <a:xfrm>
            <a:off x="4803071" y="2135532"/>
            <a:ext cx="1459382" cy="157520"/>
          </a:xfrm>
          <a:prstGeom prst="rect">
            <a:avLst/>
          </a:prstGeom>
          <a:noFill/>
        </p:spPr>
        <p:txBody>
          <a:bodyPr wrap="square" lIns="0" tIns="0" rIns="0" bIns="0" anchor="ctr">
            <a:spAutoFit/>
          </a:bodyPr>
          <a:lstStyle/>
          <a:p>
            <a:pPr marL="0" indent="0" algn="l">
              <a:buNone/>
            </a:pPr>
            <a:r>
              <a:rPr sz="600" b="0" i="0">
                <a:solidFill>
                  <a:srgbClr val="222222"/>
                </a:solidFill>
              </a:rPr>
              <a:t>090 123 4567</a:t>
            </a:r>
          </a:p>
        </p:txBody>
      </p:sp>
      <p:sp>
        <p:nvSpPr>
          <p:cNvPr id="103" name="TextBox 102"/>
          <p:cNvSpPr txBox="1"/>
          <p:nvPr/>
        </p:nvSpPr>
        <p:spPr>
          <a:xfrm>
            <a:off x="4756741" y="2290522"/>
            <a:ext cx="1607637" cy="83820"/>
          </a:xfrm>
          <a:prstGeom prst="rect">
            <a:avLst/>
          </a:prstGeom>
          <a:noFill/>
        </p:spPr>
        <p:txBody>
          <a:bodyPr wrap="square" lIns="0" tIns="0" rIns="0" bIns="0" anchor="ctr">
            <a:spAutoFit/>
          </a:bodyPr>
          <a:lstStyle/>
          <a:p>
            <a:pPr marL="0" indent="0" algn="l">
              <a:buNone/>
            </a:pPr>
            <a:r>
              <a:rPr sz="500" b="0" i="0">
                <a:solidFill>
                  <a:srgbClr val="C8102E"/>
                </a:solidFill>
              </a:rPr>
              <a:t>!   This number already has an account</a:t>
            </a:r>
          </a:p>
        </p:txBody>
      </p:sp>
      <p:sp>
        <p:nvSpPr>
          <p:cNvPr id="104" name="Rounded Rectangle 103"/>
          <p:cNvSpPr/>
          <p:nvPr/>
        </p:nvSpPr>
        <p:spPr>
          <a:xfrm>
            <a:off x="4738209" y="2390344"/>
            <a:ext cx="1644700" cy="203850"/>
          </a:xfrm>
          <a:prstGeom prst="roundRect">
            <a:avLst>
              <a:gd name="adj" fmla="val 15000"/>
            </a:avLst>
          </a:prstGeom>
          <a:solidFill>
            <a:srgbClr val="FFF6E5"/>
          </a:solidFill>
          <a:ln w="6350">
            <a:solidFill>
              <a:srgbClr val="FFF6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5" name="TextBox 104"/>
          <p:cNvSpPr txBox="1"/>
          <p:nvPr/>
        </p:nvSpPr>
        <p:spPr>
          <a:xfrm>
            <a:off x="4775273" y="2390344"/>
            <a:ext cx="83393" cy="203850"/>
          </a:xfrm>
          <a:prstGeom prst="rect">
            <a:avLst/>
          </a:prstGeom>
          <a:noFill/>
        </p:spPr>
        <p:txBody>
          <a:bodyPr wrap="square" lIns="0" tIns="0" rIns="0" bIns="0" anchor="ctr">
            <a:spAutoFit/>
          </a:bodyPr>
          <a:lstStyle/>
          <a:p>
            <a:pPr marL="0" indent="0" algn="ctr">
              <a:buNone/>
            </a:pPr>
            <a:r>
              <a:rPr sz="550" b="1" i="0">
                <a:solidFill>
                  <a:srgbClr val="B26A00"/>
                </a:solidFill>
              </a:rPr>
              <a:t>!</a:t>
            </a:r>
          </a:p>
        </p:txBody>
      </p:sp>
      <p:sp>
        <p:nvSpPr>
          <p:cNvPr id="106" name="TextBox 105"/>
          <p:cNvSpPr txBox="1"/>
          <p:nvPr/>
        </p:nvSpPr>
        <p:spPr>
          <a:xfrm>
            <a:off x="4886464" y="2390344"/>
            <a:ext cx="1468648" cy="203850"/>
          </a:xfrm>
          <a:prstGeom prst="rect">
            <a:avLst/>
          </a:prstGeom>
          <a:noFill/>
        </p:spPr>
        <p:txBody>
          <a:bodyPr wrap="square" lIns="0" tIns="0" rIns="0" bIns="0" anchor="ctr">
            <a:spAutoFit/>
          </a:bodyPr>
          <a:lstStyle/>
          <a:p>
            <a:pPr marL="0" indent="0" algn="l">
              <a:buNone/>
            </a:pPr>
            <a:r>
              <a:rPr sz="540" b="0" i="0">
                <a:solidFill>
                  <a:srgbClr val="B26A00"/>
                </a:solidFill>
              </a:rPr>
              <a:t>You registered on 12 Mar 2025. Sign in instead — your points and coupons are waiting.</a:t>
            </a:r>
          </a:p>
        </p:txBody>
      </p:sp>
      <p:sp>
        <p:nvSpPr>
          <p:cNvPr id="107" name="Rounded Rectangle 106"/>
          <p:cNvSpPr/>
          <p:nvPr/>
        </p:nvSpPr>
        <p:spPr>
          <a:xfrm>
            <a:off x="4756741" y="2621992"/>
            <a:ext cx="1607637" cy="185318"/>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8" name="TextBox 107"/>
          <p:cNvSpPr txBox="1"/>
          <p:nvPr/>
        </p:nvSpPr>
        <p:spPr>
          <a:xfrm>
            <a:off x="4756741" y="2621992"/>
            <a:ext cx="1607637" cy="185318"/>
          </a:xfrm>
          <a:prstGeom prst="rect">
            <a:avLst/>
          </a:prstGeom>
          <a:noFill/>
        </p:spPr>
        <p:txBody>
          <a:bodyPr wrap="square" lIns="0" tIns="0" rIns="0" bIns="0" anchor="ctr">
            <a:spAutoFit/>
          </a:bodyPr>
          <a:lstStyle/>
          <a:p>
            <a:pPr marL="0" indent="0" algn="ctr">
              <a:buNone/>
            </a:pPr>
            <a:r>
              <a:rPr sz="700" b="1" i="0">
                <a:solidFill>
                  <a:srgbClr val="FFFFFF"/>
                </a:solidFill>
              </a:rPr>
              <a:t>Sign in with this number</a:t>
            </a:r>
          </a:p>
        </p:txBody>
      </p:sp>
      <p:sp>
        <p:nvSpPr>
          <p:cNvPr id="109" name="Rounded Rectangle 108"/>
          <p:cNvSpPr/>
          <p:nvPr/>
        </p:nvSpPr>
        <p:spPr>
          <a:xfrm>
            <a:off x="4756741" y="2844375"/>
            <a:ext cx="1607637" cy="166786"/>
          </a:xfrm>
          <a:prstGeom prst="roundRect">
            <a:avLst>
              <a:gd name="adj" fmla="val 2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0" name="TextBox 109"/>
          <p:cNvSpPr txBox="1"/>
          <p:nvPr/>
        </p:nvSpPr>
        <p:spPr>
          <a:xfrm>
            <a:off x="4756741" y="2844375"/>
            <a:ext cx="1607637" cy="166786"/>
          </a:xfrm>
          <a:prstGeom prst="rect">
            <a:avLst/>
          </a:prstGeom>
          <a:noFill/>
        </p:spPr>
        <p:txBody>
          <a:bodyPr wrap="square" lIns="0" tIns="0" rIns="0" bIns="0" anchor="ctr">
            <a:spAutoFit/>
          </a:bodyPr>
          <a:lstStyle/>
          <a:p>
            <a:pPr marL="0" indent="0" algn="ctr">
              <a:buNone/>
            </a:pPr>
            <a:r>
              <a:rPr sz="650" b="1" i="0">
                <a:solidFill>
                  <a:srgbClr val="222222"/>
                </a:solidFill>
              </a:rPr>
              <a:t>Use a different number</a:t>
            </a:r>
          </a:p>
        </p:txBody>
      </p:sp>
      <p:sp>
        <p:nvSpPr>
          <p:cNvPr id="111" name="Oval 110"/>
          <p:cNvSpPr/>
          <p:nvPr/>
        </p:nvSpPr>
        <p:spPr>
          <a:xfrm>
            <a:off x="4534360" y="2075303"/>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2" name="TextBox 111"/>
          <p:cNvSpPr txBox="1"/>
          <p:nvPr/>
        </p:nvSpPr>
        <p:spPr>
          <a:xfrm>
            <a:off x="4534360" y="2075303"/>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sp>
        <p:nvSpPr>
          <p:cNvPr id="113" name="Oval 112"/>
          <p:cNvSpPr/>
          <p:nvPr/>
        </p:nvSpPr>
        <p:spPr>
          <a:xfrm>
            <a:off x="4534360" y="2640524"/>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4" name="TextBox 113"/>
          <p:cNvSpPr txBox="1"/>
          <p:nvPr/>
        </p:nvSpPr>
        <p:spPr>
          <a:xfrm>
            <a:off x="4534360" y="2640524"/>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graphicFrame>
        <p:nvGraphicFramePr>
          <p:cNvPr id="115" name="Table 114"/>
          <p:cNvGraphicFramePr>
            <a:graphicFrameLocks noGrp="1"/>
          </p:cNvGraphicFramePr>
          <p:nvPr/>
        </p:nvGraphicFramePr>
        <p:xfrm>
          <a:off x="7196328" y="886968"/>
          <a:ext cx="4718304" cy="336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Phone number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account identifier — there is no email or password path (SU-01, BR-05). Format is validated against Vietnamese mobile prefixes before the code is sent.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OTP channel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Zalo is default and marked Recommended because its cost per message is lower than SMS. SMS is always available and the customer chooses (SU-02, BRL-13, NFR-05).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6-digit OTP entry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Auto-advance between boxes, paste supported, auto-submit on the sixth digit (SU-03).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Resend countdown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Resend is disabled for the countdown period, to control message cost and abuse (BRL-15).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Manual channel switch</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Enabled only after the countdown ends. The system never falls back to SMS automatically — the customer decides (BRL-14). Technical confirmation pending, OQ-08.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7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Deviation — number already registered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entered number is retained, never cleared, and the error names the cause (SU-09).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420000">
                <a:tc>
                  <a:txBody>
                    <a:bodyPr/>
                    <a:lstStyle/>
                    <a:p>
                      <a:pPr marL="0" indent="0" algn="ctr">
                        <a:buNone/>
                      </a:pPr>
                      <a:r>
                        <a:rPr sz="70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CTA switches to Sign 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primary action changes to sign in with the same number, so the customer does not have to retype it or navigate back.</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116" name="TextBox 115"/>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Attempt limits apply to both the number of OTP requests and the number of wrong entries (BR-11, NFR-01). The exact thresholds are not agreed and are the one open item blocking this screen — OQ-03, owned by Security / Dev.</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Signup (SU)</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SU-04</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SCR-AUT-03</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Signup — Create PIN</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49</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Step 1  ·  Create the PIN</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59436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6946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Set your PIN</a:t>
            </a:r>
          </a:p>
        </p:txBody>
      </p:sp>
      <p:sp>
        <p:nvSpPr>
          <p:cNvPr id="29" name="Rectangle 28"/>
          <p:cNvSpPr/>
          <p:nvPr/>
        </p:nvSpPr>
        <p:spPr>
          <a:xfrm>
            <a:off x="59436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0" name="Rounded Rectangle 29"/>
          <p:cNvSpPr/>
          <p:nvPr/>
        </p:nvSpPr>
        <p:spPr>
          <a:xfrm>
            <a:off x="1382938" y="1362803"/>
            <a:ext cx="429158" cy="429158"/>
          </a:xfrm>
          <a:prstGeom prst="roundRect">
            <a:avLst>
              <a:gd name="adj" fmla="val 28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TextBox 30"/>
          <p:cNvSpPr txBox="1"/>
          <p:nvPr/>
        </p:nvSpPr>
        <p:spPr>
          <a:xfrm>
            <a:off x="1382938" y="1362803"/>
            <a:ext cx="429158" cy="429158"/>
          </a:xfrm>
          <a:prstGeom prst="rect">
            <a:avLst/>
          </a:prstGeom>
          <a:noFill/>
        </p:spPr>
        <p:txBody>
          <a:bodyPr wrap="square" lIns="0" tIns="0" rIns="0" bIns="0" anchor="ctr">
            <a:spAutoFit/>
          </a:bodyPr>
          <a:lstStyle/>
          <a:p>
            <a:pPr marL="0" indent="0" algn="ctr">
              <a:buNone/>
            </a:pPr>
            <a:r>
              <a:rPr sz="1800" b="1" i="0">
                <a:solidFill>
                  <a:srgbClr val="FFFFFF"/>
                </a:solidFill>
              </a:rPr>
              <a:t>L</a:t>
            </a:r>
          </a:p>
        </p:txBody>
      </p:sp>
      <p:sp>
        <p:nvSpPr>
          <p:cNvPr id="32" name="TextBox 31"/>
          <p:cNvSpPr txBox="1"/>
          <p:nvPr/>
        </p:nvSpPr>
        <p:spPr>
          <a:xfrm>
            <a:off x="723107" y="1861364"/>
            <a:ext cx="1754184" cy="150876"/>
          </a:xfrm>
          <a:prstGeom prst="rect">
            <a:avLst/>
          </a:prstGeom>
          <a:noFill/>
        </p:spPr>
        <p:txBody>
          <a:bodyPr wrap="square" lIns="0" tIns="0" rIns="0" bIns="0" anchor="ctr">
            <a:spAutoFit/>
          </a:bodyPr>
          <a:lstStyle/>
          <a:p>
            <a:pPr marL="0" indent="0" algn="ctr">
              <a:buNone/>
            </a:pPr>
            <a:r>
              <a:rPr sz="900" b="1" i="0">
                <a:solidFill>
                  <a:srgbClr val="3A3A3A"/>
                </a:solidFill>
              </a:rPr>
              <a:t>Create a 6-digit PIN</a:t>
            </a:r>
          </a:p>
        </p:txBody>
      </p:sp>
      <p:sp>
        <p:nvSpPr>
          <p:cNvPr id="33" name="TextBox 32"/>
          <p:cNvSpPr txBox="1"/>
          <p:nvPr/>
        </p:nvSpPr>
        <p:spPr>
          <a:xfrm>
            <a:off x="723107" y="2017269"/>
            <a:ext cx="1754184" cy="171663"/>
          </a:xfrm>
          <a:prstGeom prst="rect">
            <a:avLst/>
          </a:prstGeom>
          <a:noFill/>
        </p:spPr>
        <p:txBody>
          <a:bodyPr wrap="square" lIns="0" tIns="0" rIns="0" bIns="0" anchor="t">
            <a:spAutoFit/>
          </a:bodyPr>
          <a:lstStyle/>
          <a:p>
            <a:pPr marL="0" indent="0" algn="ctr">
              <a:buNone/>
            </a:pPr>
            <a:r>
              <a:rPr sz="560" b="0" i="0">
                <a:solidFill>
                  <a:srgbClr val="888888"/>
                </a:solidFill>
              </a:rPr>
              <a:t>You will use it to sign in quickly next time</a:t>
            </a:r>
          </a:p>
        </p:txBody>
      </p:sp>
      <p:sp>
        <p:nvSpPr>
          <p:cNvPr id="34" name="Rounded Rectangle 33"/>
          <p:cNvSpPr/>
          <p:nvPr/>
        </p:nvSpPr>
        <p:spPr>
          <a:xfrm>
            <a:off x="1267602" y="2264035"/>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5" name="Rounded Rectangle 34"/>
          <p:cNvSpPr/>
          <p:nvPr/>
        </p:nvSpPr>
        <p:spPr>
          <a:xfrm>
            <a:off x="1385620" y="2264035"/>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Rounded Rectangle 35"/>
          <p:cNvSpPr/>
          <p:nvPr/>
        </p:nvSpPr>
        <p:spPr>
          <a:xfrm>
            <a:off x="1503639" y="2264035"/>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Rounded Rectangle 36"/>
          <p:cNvSpPr/>
          <p:nvPr/>
        </p:nvSpPr>
        <p:spPr>
          <a:xfrm>
            <a:off x="1621657" y="2264035"/>
            <a:ext cx="75102" cy="75102"/>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Rounded Rectangle 37"/>
          <p:cNvSpPr/>
          <p:nvPr/>
        </p:nvSpPr>
        <p:spPr>
          <a:xfrm>
            <a:off x="1739676" y="2264035"/>
            <a:ext cx="75102" cy="75102"/>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Rounded Rectangle 38"/>
          <p:cNvSpPr/>
          <p:nvPr/>
        </p:nvSpPr>
        <p:spPr>
          <a:xfrm>
            <a:off x="1857695" y="2264035"/>
            <a:ext cx="75102" cy="75102"/>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TextBox 39"/>
          <p:cNvSpPr txBox="1"/>
          <p:nvPr/>
        </p:nvSpPr>
        <p:spPr>
          <a:xfrm>
            <a:off x="669462" y="2388760"/>
            <a:ext cx="1861474" cy="93878"/>
          </a:xfrm>
          <a:prstGeom prst="rect">
            <a:avLst/>
          </a:prstGeom>
          <a:noFill/>
        </p:spPr>
        <p:txBody>
          <a:bodyPr wrap="square" lIns="0" tIns="0" rIns="0" bIns="0" anchor="ctr">
            <a:spAutoFit/>
          </a:bodyPr>
          <a:lstStyle/>
          <a:p>
            <a:pPr marL="0" indent="0" algn="ctr">
              <a:buNone/>
            </a:pPr>
            <a:r>
              <a:rPr sz="560" b="0" i="0">
                <a:solidFill>
                  <a:srgbClr val="888888"/>
                </a:solidFill>
              </a:rPr>
              <a:t>Enter a 6-digit code</a:t>
            </a:r>
          </a:p>
        </p:txBody>
      </p:sp>
      <p:sp>
        <p:nvSpPr>
          <p:cNvPr id="41" name="TextBox 40"/>
          <p:cNvSpPr txBox="1"/>
          <p:nvPr/>
        </p:nvSpPr>
        <p:spPr>
          <a:xfrm>
            <a:off x="916228" y="2549694"/>
            <a:ext cx="107289" cy="93878"/>
          </a:xfrm>
          <a:prstGeom prst="rect">
            <a:avLst/>
          </a:prstGeom>
          <a:noFill/>
        </p:spPr>
        <p:txBody>
          <a:bodyPr wrap="square" lIns="0" tIns="0" rIns="0" bIns="0" anchor="ctr">
            <a:spAutoFit/>
          </a:bodyPr>
          <a:lstStyle/>
          <a:p>
            <a:pPr marL="0" indent="0" algn="l">
              <a:buNone/>
            </a:pPr>
            <a:r>
              <a:rPr sz="560" b="1" i="0">
                <a:solidFill>
                  <a:srgbClr val="1B7F4B"/>
                </a:solidFill>
              </a:rPr>
              <a:t>✓</a:t>
            </a:r>
          </a:p>
        </p:txBody>
      </p:sp>
      <p:sp>
        <p:nvSpPr>
          <p:cNvPr id="42" name="TextBox 41"/>
          <p:cNvSpPr txBox="1"/>
          <p:nvPr/>
        </p:nvSpPr>
        <p:spPr>
          <a:xfrm>
            <a:off x="1034247" y="2551370"/>
            <a:ext cx="1394764" cy="90525"/>
          </a:xfrm>
          <a:prstGeom prst="rect">
            <a:avLst/>
          </a:prstGeom>
          <a:noFill/>
        </p:spPr>
        <p:txBody>
          <a:bodyPr wrap="square" lIns="0" tIns="0" rIns="0" bIns="0" anchor="ctr">
            <a:spAutoFit/>
          </a:bodyPr>
          <a:lstStyle/>
          <a:p>
            <a:pPr marL="0" indent="0" algn="l">
              <a:buNone/>
            </a:pPr>
            <a:r>
              <a:rPr sz="540" b="0" i="0">
                <a:solidFill>
                  <a:srgbClr val="555555"/>
                </a:solidFill>
              </a:rPr>
              <a:t>At least 6 digits</a:t>
            </a:r>
          </a:p>
        </p:txBody>
      </p:sp>
      <p:sp>
        <p:nvSpPr>
          <p:cNvPr id="43" name="TextBox 42"/>
          <p:cNvSpPr txBox="1"/>
          <p:nvPr/>
        </p:nvSpPr>
        <p:spPr>
          <a:xfrm>
            <a:off x="916228" y="2656984"/>
            <a:ext cx="107289" cy="93878"/>
          </a:xfrm>
          <a:prstGeom prst="rect">
            <a:avLst/>
          </a:prstGeom>
          <a:noFill/>
        </p:spPr>
        <p:txBody>
          <a:bodyPr wrap="square" lIns="0" tIns="0" rIns="0" bIns="0" anchor="ctr">
            <a:spAutoFit/>
          </a:bodyPr>
          <a:lstStyle/>
          <a:p>
            <a:pPr marL="0" indent="0" algn="l">
              <a:buNone/>
            </a:pPr>
            <a:r>
              <a:rPr sz="560" b="1" i="0">
                <a:solidFill>
                  <a:srgbClr val="1B7F4B"/>
                </a:solidFill>
              </a:rPr>
              <a:t>✓</a:t>
            </a:r>
          </a:p>
        </p:txBody>
      </p:sp>
      <p:sp>
        <p:nvSpPr>
          <p:cNvPr id="44" name="TextBox 43"/>
          <p:cNvSpPr txBox="1"/>
          <p:nvPr/>
        </p:nvSpPr>
        <p:spPr>
          <a:xfrm>
            <a:off x="1034247" y="2658660"/>
            <a:ext cx="1394764" cy="90525"/>
          </a:xfrm>
          <a:prstGeom prst="rect">
            <a:avLst/>
          </a:prstGeom>
          <a:noFill/>
        </p:spPr>
        <p:txBody>
          <a:bodyPr wrap="square" lIns="0" tIns="0" rIns="0" bIns="0" anchor="ctr">
            <a:spAutoFit/>
          </a:bodyPr>
          <a:lstStyle/>
          <a:p>
            <a:pPr marL="0" indent="0" algn="l">
              <a:buNone/>
            </a:pPr>
            <a:r>
              <a:rPr sz="540" b="0" i="0">
                <a:solidFill>
                  <a:srgbClr val="555555"/>
                </a:solidFill>
              </a:rPr>
              <a:t>Not 6 identical digits</a:t>
            </a:r>
          </a:p>
        </p:txBody>
      </p:sp>
      <p:sp>
        <p:nvSpPr>
          <p:cNvPr id="45" name="TextBox 44"/>
          <p:cNvSpPr txBox="1"/>
          <p:nvPr/>
        </p:nvSpPr>
        <p:spPr>
          <a:xfrm>
            <a:off x="916228" y="2764273"/>
            <a:ext cx="107289" cy="93878"/>
          </a:xfrm>
          <a:prstGeom prst="rect">
            <a:avLst/>
          </a:prstGeom>
          <a:noFill/>
        </p:spPr>
        <p:txBody>
          <a:bodyPr wrap="square" lIns="0" tIns="0" rIns="0" bIns="0" anchor="ctr">
            <a:spAutoFit/>
          </a:bodyPr>
          <a:lstStyle/>
          <a:p>
            <a:pPr marL="0" indent="0" algn="l">
              <a:buNone/>
            </a:pPr>
            <a:r>
              <a:rPr sz="560" b="1" i="0">
                <a:solidFill>
                  <a:srgbClr val="AAAAAA"/>
                </a:solidFill>
              </a:rPr>
              <a:t>○</a:t>
            </a:r>
          </a:p>
        </p:txBody>
      </p:sp>
      <p:sp>
        <p:nvSpPr>
          <p:cNvPr id="46" name="TextBox 45"/>
          <p:cNvSpPr txBox="1"/>
          <p:nvPr/>
        </p:nvSpPr>
        <p:spPr>
          <a:xfrm>
            <a:off x="1034247" y="2765949"/>
            <a:ext cx="1394764" cy="90525"/>
          </a:xfrm>
          <a:prstGeom prst="rect">
            <a:avLst/>
          </a:prstGeom>
          <a:noFill/>
        </p:spPr>
        <p:txBody>
          <a:bodyPr wrap="square" lIns="0" tIns="0" rIns="0" bIns="0" anchor="ctr">
            <a:spAutoFit/>
          </a:bodyPr>
          <a:lstStyle/>
          <a:p>
            <a:pPr marL="0" indent="0" algn="l">
              <a:buNone/>
            </a:pPr>
            <a:r>
              <a:rPr sz="540" b="0" i="0">
                <a:solidFill>
                  <a:srgbClr val="888888"/>
                </a:solidFill>
              </a:rPr>
              <a:t>Not a sequence such as 123456</a:t>
            </a:r>
          </a:p>
        </p:txBody>
      </p:sp>
      <p:sp>
        <p:nvSpPr>
          <p:cNvPr id="47" name="Rounded Rectangle 46"/>
          <p:cNvSpPr/>
          <p:nvPr/>
        </p:nvSpPr>
        <p:spPr>
          <a:xfrm>
            <a:off x="755294" y="2982876"/>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8" name="TextBox 47"/>
          <p:cNvSpPr txBox="1"/>
          <p:nvPr/>
        </p:nvSpPr>
        <p:spPr>
          <a:xfrm>
            <a:off x="755294" y="2982876"/>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1</a:t>
            </a:r>
          </a:p>
        </p:txBody>
      </p:sp>
      <p:sp>
        <p:nvSpPr>
          <p:cNvPr id="49" name="Rounded Rectangle 48"/>
          <p:cNvSpPr/>
          <p:nvPr/>
        </p:nvSpPr>
        <p:spPr>
          <a:xfrm>
            <a:off x="1318564" y="2982876"/>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TextBox 49"/>
          <p:cNvSpPr txBox="1"/>
          <p:nvPr/>
        </p:nvSpPr>
        <p:spPr>
          <a:xfrm>
            <a:off x="1318564" y="2982876"/>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2</a:t>
            </a:r>
          </a:p>
        </p:txBody>
      </p:sp>
      <p:sp>
        <p:nvSpPr>
          <p:cNvPr id="51" name="Rounded Rectangle 50"/>
          <p:cNvSpPr/>
          <p:nvPr/>
        </p:nvSpPr>
        <p:spPr>
          <a:xfrm>
            <a:off x="1881835" y="2982876"/>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2" name="TextBox 51"/>
          <p:cNvSpPr txBox="1"/>
          <p:nvPr/>
        </p:nvSpPr>
        <p:spPr>
          <a:xfrm>
            <a:off x="1881835" y="2982876"/>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3</a:t>
            </a:r>
          </a:p>
        </p:txBody>
      </p:sp>
      <p:sp>
        <p:nvSpPr>
          <p:cNvPr id="53" name="Rounded Rectangle 52"/>
          <p:cNvSpPr/>
          <p:nvPr/>
        </p:nvSpPr>
        <p:spPr>
          <a:xfrm>
            <a:off x="755294" y="3294016"/>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4" name="TextBox 53"/>
          <p:cNvSpPr txBox="1"/>
          <p:nvPr/>
        </p:nvSpPr>
        <p:spPr>
          <a:xfrm>
            <a:off x="755294" y="3294016"/>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4</a:t>
            </a:r>
          </a:p>
        </p:txBody>
      </p:sp>
      <p:sp>
        <p:nvSpPr>
          <p:cNvPr id="55" name="Rounded Rectangle 54"/>
          <p:cNvSpPr/>
          <p:nvPr/>
        </p:nvSpPr>
        <p:spPr>
          <a:xfrm>
            <a:off x="1318564" y="3294016"/>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6" name="TextBox 55"/>
          <p:cNvSpPr txBox="1"/>
          <p:nvPr/>
        </p:nvSpPr>
        <p:spPr>
          <a:xfrm>
            <a:off x="1318564" y="3294016"/>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5</a:t>
            </a:r>
          </a:p>
        </p:txBody>
      </p:sp>
      <p:sp>
        <p:nvSpPr>
          <p:cNvPr id="57" name="Rounded Rectangle 56"/>
          <p:cNvSpPr/>
          <p:nvPr/>
        </p:nvSpPr>
        <p:spPr>
          <a:xfrm>
            <a:off x="1881835" y="3294016"/>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8" name="TextBox 57"/>
          <p:cNvSpPr txBox="1"/>
          <p:nvPr/>
        </p:nvSpPr>
        <p:spPr>
          <a:xfrm>
            <a:off x="1881835" y="3294016"/>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6</a:t>
            </a:r>
          </a:p>
        </p:txBody>
      </p:sp>
      <p:sp>
        <p:nvSpPr>
          <p:cNvPr id="59" name="Rounded Rectangle 58"/>
          <p:cNvSpPr/>
          <p:nvPr/>
        </p:nvSpPr>
        <p:spPr>
          <a:xfrm>
            <a:off x="755294" y="3605155"/>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0" name="TextBox 59"/>
          <p:cNvSpPr txBox="1"/>
          <p:nvPr/>
        </p:nvSpPr>
        <p:spPr>
          <a:xfrm>
            <a:off x="755294" y="3605155"/>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7</a:t>
            </a:r>
          </a:p>
        </p:txBody>
      </p:sp>
      <p:sp>
        <p:nvSpPr>
          <p:cNvPr id="61" name="Rounded Rectangle 60"/>
          <p:cNvSpPr/>
          <p:nvPr/>
        </p:nvSpPr>
        <p:spPr>
          <a:xfrm>
            <a:off x="1318564" y="3605155"/>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2" name="TextBox 61"/>
          <p:cNvSpPr txBox="1"/>
          <p:nvPr/>
        </p:nvSpPr>
        <p:spPr>
          <a:xfrm>
            <a:off x="1318564" y="3605155"/>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8</a:t>
            </a:r>
          </a:p>
        </p:txBody>
      </p:sp>
      <p:sp>
        <p:nvSpPr>
          <p:cNvPr id="63" name="Rounded Rectangle 62"/>
          <p:cNvSpPr/>
          <p:nvPr/>
        </p:nvSpPr>
        <p:spPr>
          <a:xfrm>
            <a:off x="1881835" y="3605155"/>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4" name="TextBox 63"/>
          <p:cNvSpPr txBox="1"/>
          <p:nvPr/>
        </p:nvSpPr>
        <p:spPr>
          <a:xfrm>
            <a:off x="1881835" y="3605155"/>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9</a:t>
            </a:r>
          </a:p>
        </p:txBody>
      </p:sp>
      <p:sp>
        <p:nvSpPr>
          <p:cNvPr id="65" name="Rounded Rectangle 64"/>
          <p:cNvSpPr/>
          <p:nvPr/>
        </p:nvSpPr>
        <p:spPr>
          <a:xfrm>
            <a:off x="1318564" y="3916295"/>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6" name="TextBox 65"/>
          <p:cNvSpPr txBox="1"/>
          <p:nvPr/>
        </p:nvSpPr>
        <p:spPr>
          <a:xfrm>
            <a:off x="1318564" y="3916295"/>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0</a:t>
            </a:r>
          </a:p>
        </p:txBody>
      </p:sp>
      <p:sp>
        <p:nvSpPr>
          <p:cNvPr id="67" name="Rounded Rectangle 66"/>
          <p:cNvSpPr/>
          <p:nvPr/>
        </p:nvSpPr>
        <p:spPr>
          <a:xfrm>
            <a:off x="1881835" y="3916295"/>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8" name="TextBox 67"/>
          <p:cNvSpPr txBox="1"/>
          <p:nvPr/>
        </p:nvSpPr>
        <p:spPr>
          <a:xfrm>
            <a:off x="1881835" y="3916295"/>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a:t>
            </a:r>
          </a:p>
        </p:txBody>
      </p:sp>
      <p:sp>
        <p:nvSpPr>
          <p:cNvPr id="69" name="Oval 68"/>
          <p:cNvSpPr/>
          <p:nvPr/>
        </p:nvSpPr>
        <p:spPr>
          <a:xfrm>
            <a:off x="379781" y="2264035"/>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0" name="TextBox 69"/>
          <p:cNvSpPr txBox="1"/>
          <p:nvPr/>
        </p:nvSpPr>
        <p:spPr>
          <a:xfrm>
            <a:off x="379781" y="2264035"/>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71" name="Oval 70"/>
          <p:cNvSpPr/>
          <p:nvPr/>
        </p:nvSpPr>
        <p:spPr>
          <a:xfrm>
            <a:off x="379781" y="2489343"/>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2" name="TextBox 71"/>
          <p:cNvSpPr txBox="1"/>
          <p:nvPr/>
        </p:nvSpPr>
        <p:spPr>
          <a:xfrm>
            <a:off x="379781" y="2489343"/>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73" name="Oval 72"/>
          <p:cNvSpPr/>
          <p:nvPr/>
        </p:nvSpPr>
        <p:spPr>
          <a:xfrm>
            <a:off x="379781" y="3004334"/>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TextBox 73"/>
          <p:cNvSpPr txBox="1"/>
          <p:nvPr/>
        </p:nvSpPr>
        <p:spPr>
          <a:xfrm>
            <a:off x="379781" y="3004334"/>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75" name="Rounded Rectangle 74"/>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6" name="Rectangle 75"/>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7" name="TextBox 76"/>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Step 2  ·  Confirm the PIN — mismatch state</a:t>
            </a:r>
          </a:p>
        </p:txBody>
      </p:sp>
      <p:sp>
        <p:nvSpPr>
          <p:cNvPr id="78" name="TextBox 77"/>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79" name="TextBox 78"/>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80" name="Rectangle 79"/>
          <p:cNvSpPr/>
          <p:nvPr/>
        </p:nvSpPr>
        <p:spPr>
          <a:xfrm>
            <a:off x="338328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1" name="TextBox 80"/>
          <p:cNvSpPr txBox="1"/>
          <p:nvPr/>
        </p:nvSpPr>
        <p:spPr>
          <a:xfrm>
            <a:off x="344765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82" name="TextBox 81"/>
          <p:cNvSpPr txBox="1"/>
          <p:nvPr/>
        </p:nvSpPr>
        <p:spPr>
          <a:xfrm>
            <a:off x="356567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Confirm your PIN</a:t>
            </a:r>
          </a:p>
        </p:txBody>
      </p:sp>
      <p:sp>
        <p:nvSpPr>
          <p:cNvPr id="83" name="Rectangle 82"/>
          <p:cNvSpPr/>
          <p:nvPr/>
        </p:nvSpPr>
        <p:spPr>
          <a:xfrm>
            <a:off x="338328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4" name="Rounded Rectangle 83"/>
          <p:cNvSpPr/>
          <p:nvPr/>
        </p:nvSpPr>
        <p:spPr>
          <a:xfrm>
            <a:off x="4171858" y="1362803"/>
            <a:ext cx="429158" cy="429158"/>
          </a:xfrm>
          <a:prstGeom prst="roundRect">
            <a:avLst>
              <a:gd name="adj" fmla="val 28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5" name="TextBox 84"/>
          <p:cNvSpPr txBox="1"/>
          <p:nvPr/>
        </p:nvSpPr>
        <p:spPr>
          <a:xfrm>
            <a:off x="4171858" y="1362803"/>
            <a:ext cx="429158" cy="429158"/>
          </a:xfrm>
          <a:prstGeom prst="rect">
            <a:avLst/>
          </a:prstGeom>
          <a:noFill/>
        </p:spPr>
        <p:txBody>
          <a:bodyPr wrap="square" lIns="0" tIns="0" rIns="0" bIns="0" anchor="ctr">
            <a:spAutoFit/>
          </a:bodyPr>
          <a:lstStyle/>
          <a:p>
            <a:pPr marL="0" indent="0" algn="ctr">
              <a:buNone/>
            </a:pPr>
            <a:r>
              <a:rPr sz="1800" b="1" i="0">
                <a:solidFill>
                  <a:srgbClr val="FFFFFF"/>
                </a:solidFill>
              </a:rPr>
              <a:t>L</a:t>
            </a:r>
          </a:p>
        </p:txBody>
      </p:sp>
      <p:sp>
        <p:nvSpPr>
          <p:cNvPr id="86" name="TextBox 85"/>
          <p:cNvSpPr txBox="1"/>
          <p:nvPr/>
        </p:nvSpPr>
        <p:spPr>
          <a:xfrm>
            <a:off x="3512027" y="1861364"/>
            <a:ext cx="1754184" cy="150876"/>
          </a:xfrm>
          <a:prstGeom prst="rect">
            <a:avLst/>
          </a:prstGeom>
          <a:noFill/>
        </p:spPr>
        <p:txBody>
          <a:bodyPr wrap="square" lIns="0" tIns="0" rIns="0" bIns="0" anchor="ctr">
            <a:spAutoFit/>
          </a:bodyPr>
          <a:lstStyle/>
          <a:p>
            <a:pPr marL="0" indent="0" algn="ctr">
              <a:buNone/>
            </a:pPr>
            <a:r>
              <a:rPr sz="900" b="1" i="0">
                <a:solidFill>
                  <a:srgbClr val="3A3A3A"/>
                </a:solidFill>
              </a:rPr>
              <a:t>Enter the PIN again</a:t>
            </a:r>
          </a:p>
        </p:txBody>
      </p:sp>
      <p:sp>
        <p:nvSpPr>
          <p:cNvPr id="87" name="TextBox 86"/>
          <p:cNvSpPr txBox="1"/>
          <p:nvPr/>
        </p:nvSpPr>
        <p:spPr>
          <a:xfrm>
            <a:off x="3512027" y="2017269"/>
            <a:ext cx="1754184" cy="171663"/>
          </a:xfrm>
          <a:prstGeom prst="rect">
            <a:avLst/>
          </a:prstGeom>
          <a:noFill/>
        </p:spPr>
        <p:txBody>
          <a:bodyPr wrap="square" lIns="0" tIns="0" rIns="0" bIns="0" anchor="t">
            <a:spAutoFit/>
          </a:bodyPr>
          <a:lstStyle/>
          <a:p>
            <a:pPr marL="0" indent="0" algn="ctr">
              <a:buNone/>
            </a:pPr>
            <a:r>
              <a:rPr sz="560" b="0" i="0">
                <a:solidFill>
                  <a:srgbClr val="888888"/>
                </a:solidFill>
              </a:rPr>
              <a:t>Both entries must match</a:t>
            </a:r>
          </a:p>
        </p:txBody>
      </p:sp>
      <p:sp>
        <p:nvSpPr>
          <p:cNvPr id="88" name="Rounded Rectangle 87"/>
          <p:cNvSpPr/>
          <p:nvPr/>
        </p:nvSpPr>
        <p:spPr>
          <a:xfrm>
            <a:off x="4056522" y="2264035"/>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9" name="Rounded Rectangle 88"/>
          <p:cNvSpPr/>
          <p:nvPr/>
        </p:nvSpPr>
        <p:spPr>
          <a:xfrm>
            <a:off x="4174540" y="2264035"/>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0" name="Rounded Rectangle 89"/>
          <p:cNvSpPr/>
          <p:nvPr/>
        </p:nvSpPr>
        <p:spPr>
          <a:xfrm>
            <a:off x="4292559" y="2264035"/>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1" name="Rounded Rectangle 90"/>
          <p:cNvSpPr/>
          <p:nvPr/>
        </p:nvSpPr>
        <p:spPr>
          <a:xfrm>
            <a:off x="4410577" y="2264035"/>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2" name="Rounded Rectangle 91"/>
          <p:cNvSpPr/>
          <p:nvPr/>
        </p:nvSpPr>
        <p:spPr>
          <a:xfrm>
            <a:off x="4528596" y="2264035"/>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3" name="Rounded Rectangle 92"/>
          <p:cNvSpPr/>
          <p:nvPr/>
        </p:nvSpPr>
        <p:spPr>
          <a:xfrm>
            <a:off x="4646615" y="2264035"/>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4" name="TextBox 93"/>
          <p:cNvSpPr txBox="1"/>
          <p:nvPr/>
        </p:nvSpPr>
        <p:spPr>
          <a:xfrm>
            <a:off x="3458382" y="2392783"/>
            <a:ext cx="1861474" cy="107289"/>
          </a:xfrm>
          <a:prstGeom prst="rect">
            <a:avLst/>
          </a:prstGeom>
          <a:noFill/>
        </p:spPr>
        <p:txBody>
          <a:bodyPr wrap="square" lIns="0" tIns="0" rIns="0" bIns="0" anchor="ctr">
            <a:spAutoFit/>
          </a:bodyPr>
          <a:lstStyle/>
          <a:p>
            <a:pPr marL="0" indent="0" algn="ctr">
              <a:buNone/>
            </a:pPr>
            <a:r>
              <a:rPr sz="580" b="1" i="0">
                <a:solidFill>
                  <a:srgbClr val="C8102E"/>
                </a:solidFill>
              </a:rPr>
              <a:t>⚠  The two PINs do not match. Try again.</a:t>
            </a:r>
          </a:p>
        </p:txBody>
      </p:sp>
      <p:sp>
        <p:nvSpPr>
          <p:cNvPr id="95" name="Rounded Rectangle 94"/>
          <p:cNvSpPr/>
          <p:nvPr/>
        </p:nvSpPr>
        <p:spPr>
          <a:xfrm>
            <a:off x="3436924" y="2575175"/>
            <a:ext cx="1904390" cy="160934"/>
          </a:xfrm>
          <a:prstGeom prst="roundRect">
            <a:avLst>
              <a:gd name="adj" fmla="val 15000"/>
            </a:avLst>
          </a:prstGeom>
          <a:solidFill>
            <a:srgbClr val="FFF6E5"/>
          </a:solidFill>
          <a:ln w="6350">
            <a:solidFill>
              <a:srgbClr val="FFF6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6" name="TextBox 95"/>
          <p:cNvSpPr txBox="1"/>
          <p:nvPr/>
        </p:nvSpPr>
        <p:spPr>
          <a:xfrm>
            <a:off x="3479840" y="2575175"/>
            <a:ext cx="96560" cy="160934"/>
          </a:xfrm>
          <a:prstGeom prst="rect">
            <a:avLst/>
          </a:prstGeom>
          <a:noFill/>
        </p:spPr>
        <p:txBody>
          <a:bodyPr wrap="square" lIns="0" tIns="0" rIns="0" bIns="0" anchor="ctr">
            <a:spAutoFit/>
          </a:bodyPr>
          <a:lstStyle/>
          <a:p>
            <a:pPr marL="0" indent="0" algn="ctr">
              <a:buNone/>
            </a:pPr>
            <a:r>
              <a:rPr sz="550" b="1" i="0">
                <a:solidFill>
                  <a:srgbClr val="B26A00"/>
                </a:solidFill>
              </a:rPr>
              <a:t>!</a:t>
            </a:r>
          </a:p>
        </p:txBody>
      </p:sp>
      <p:sp>
        <p:nvSpPr>
          <p:cNvPr id="97" name="TextBox 96"/>
          <p:cNvSpPr txBox="1"/>
          <p:nvPr/>
        </p:nvSpPr>
        <p:spPr>
          <a:xfrm>
            <a:off x="3608588" y="2575175"/>
            <a:ext cx="1700540" cy="160934"/>
          </a:xfrm>
          <a:prstGeom prst="rect">
            <a:avLst/>
          </a:prstGeom>
          <a:noFill/>
        </p:spPr>
        <p:txBody>
          <a:bodyPr wrap="square" lIns="0" tIns="0" rIns="0" bIns="0" anchor="ctr">
            <a:spAutoFit/>
          </a:bodyPr>
          <a:lstStyle/>
          <a:p>
            <a:pPr marL="0" indent="0" algn="l">
              <a:buNone/>
            </a:pPr>
            <a:r>
              <a:rPr sz="540" b="0" i="0">
                <a:solidFill>
                  <a:srgbClr val="B26A00"/>
                </a:solidFill>
              </a:rPr>
              <a:t>3 attempts remaining before you must restart the step  (threshold TBC)</a:t>
            </a:r>
          </a:p>
        </p:txBody>
      </p:sp>
      <p:sp>
        <p:nvSpPr>
          <p:cNvPr id="98" name="Rounded Rectangle 97"/>
          <p:cNvSpPr/>
          <p:nvPr/>
        </p:nvSpPr>
        <p:spPr>
          <a:xfrm>
            <a:off x="3544214" y="2821941"/>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9" name="TextBox 98"/>
          <p:cNvSpPr txBox="1"/>
          <p:nvPr/>
        </p:nvSpPr>
        <p:spPr>
          <a:xfrm>
            <a:off x="3544214" y="2821941"/>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1</a:t>
            </a:r>
          </a:p>
        </p:txBody>
      </p:sp>
      <p:sp>
        <p:nvSpPr>
          <p:cNvPr id="100" name="Rounded Rectangle 99"/>
          <p:cNvSpPr/>
          <p:nvPr/>
        </p:nvSpPr>
        <p:spPr>
          <a:xfrm>
            <a:off x="4107484" y="2821941"/>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1" name="TextBox 100"/>
          <p:cNvSpPr txBox="1"/>
          <p:nvPr/>
        </p:nvSpPr>
        <p:spPr>
          <a:xfrm>
            <a:off x="4107484" y="2821941"/>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2</a:t>
            </a:r>
          </a:p>
        </p:txBody>
      </p:sp>
      <p:sp>
        <p:nvSpPr>
          <p:cNvPr id="102" name="Rounded Rectangle 101"/>
          <p:cNvSpPr/>
          <p:nvPr/>
        </p:nvSpPr>
        <p:spPr>
          <a:xfrm>
            <a:off x="4670755" y="2821941"/>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3" name="TextBox 102"/>
          <p:cNvSpPr txBox="1"/>
          <p:nvPr/>
        </p:nvSpPr>
        <p:spPr>
          <a:xfrm>
            <a:off x="4670755" y="2821941"/>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3</a:t>
            </a:r>
          </a:p>
        </p:txBody>
      </p:sp>
      <p:sp>
        <p:nvSpPr>
          <p:cNvPr id="104" name="Rounded Rectangle 103"/>
          <p:cNvSpPr/>
          <p:nvPr/>
        </p:nvSpPr>
        <p:spPr>
          <a:xfrm>
            <a:off x="3544214" y="3133081"/>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5" name="TextBox 104"/>
          <p:cNvSpPr txBox="1"/>
          <p:nvPr/>
        </p:nvSpPr>
        <p:spPr>
          <a:xfrm>
            <a:off x="3544214" y="3133081"/>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4</a:t>
            </a:r>
          </a:p>
        </p:txBody>
      </p:sp>
      <p:sp>
        <p:nvSpPr>
          <p:cNvPr id="106" name="Rounded Rectangle 105"/>
          <p:cNvSpPr/>
          <p:nvPr/>
        </p:nvSpPr>
        <p:spPr>
          <a:xfrm>
            <a:off x="4107484" y="3133081"/>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7" name="TextBox 106"/>
          <p:cNvSpPr txBox="1"/>
          <p:nvPr/>
        </p:nvSpPr>
        <p:spPr>
          <a:xfrm>
            <a:off x="4107484" y="3133081"/>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5</a:t>
            </a:r>
          </a:p>
        </p:txBody>
      </p:sp>
      <p:sp>
        <p:nvSpPr>
          <p:cNvPr id="108" name="Rounded Rectangle 107"/>
          <p:cNvSpPr/>
          <p:nvPr/>
        </p:nvSpPr>
        <p:spPr>
          <a:xfrm>
            <a:off x="4670755" y="3133081"/>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9" name="TextBox 108"/>
          <p:cNvSpPr txBox="1"/>
          <p:nvPr/>
        </p:nvSpPr>
        <p:spPr>
          <a:xfrm>
            <a:off x="4670755" y="3133081"/>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6</a:t>
            </a:r>
          </a:p>
        </p:txBody>
      </p:sp>
      <p:sp>
        <p:nvSpPr>
          <p:cNvPr id="110" name="Rounded Rectangle 109"/>
          <p:cNvSpPr/>
          <p:nvPr/>
        </p:nvSpPr>
        <p:spPr>
          <a:xfrm>
            <a:off x="3544214" y="3444221"/>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1" name="TextBox 110"/>
          <p:cNvSpPr txBox="1"/>
          <p:nvPr/>
        </p:nvSpPr>
        <p:spPr>
          <a:xfrm>
            <a:off x="3544214" y="3444221"/>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7</a:t>
            </a:r>
          </a:p>
        </p:txBody>
      </p:sp>
      <p:sp>
        <p:nvSpPr>
          <p:cNvPr id="112" name="Rounded Rectangle 111"/>
          <p:cNvSpPr/>
          <p:nvPr/>
        </p:nvSpPr>
        <p:spPr>
          <a:xfrm>
            <a:off x="4107484" y="3444221"/>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3" name="TextBox 112"/>
          <p:cNvSpPr txBox="1"/>
          <p:nvPr/>
        </p:nvSpPr>
        <p:spPr>
          <a:xfrm>
            <a:off x="4107484" y="3444221"/>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8</a:t>
            </a:r>
          </a:p>
        </p:txBody>
      </p:sp>
      <p:sp>
        <p:nvSpPr>
          <p:cNvPr id="114" name="Rounded Rectangle 113"/>
          <p:cNvSpPr/>
          <p:nvPr/>
        </p:nvSpPr>
        <p:spPr>
          <a:xfrm>
            <a:off x="4670755" y="3444221"/>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5" name="TextBox 114"/>
          <p:cNvSpPr txBox="1"/>
          <p:nvPr/>
        </p:nvSpPr>
        <p:spPr>
          <a:xfrm>
            <a:off x="4670755" y="3444221"/>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9</a:t>
            </a:r>
          </a:p>
        </p:txBody>
      </p:sp>
      <p:sp>
        <p:nvSpPr>
          <p:cNvPr id="116" name="Rounded Rectangle 115"/>
          <p:cNvSpPr/>
          <p:nvPr/>
        </p:nvSpPr>
        <p:spPr>
          <a:xfrm>
            <a:off x="4107484" y="3755361"/>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7" name="TextBox 116"/>
          <p:cNvSpPr txBox="1"/>
          <p:nvPr/>
        </p:nvSpPr>
        <p:spPr>
          <a:xfrm>
            <a:off x="4107484" y="3755361"/>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0</a:t>
            </a:r>
          </a:p>
        </p:txBody>
      </p:sp>
      <p:sp>
        <p:nvSpPr>
          <p:cNvPr id="118" name="Rounded Rectangle 117"/>
          <p:cNvSpPr/>
          <p:nvPr/>
        </p:nvSpPr>
        <p:spPr>
          <a:xfrm>
            <a:off x="4670755" y="3755361"/>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9" name="TextBox 118"/>
          <p:cNvSpPr txBox="1"/>
          <p:nvPr/>
        </p:nvSpPr>
        <p:spPr>
          <a:xfrm>
            <a:off x="4670755" y="3755361"/>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a:t>
            </a:r>
          </a:p>
        </p:txBody>
      </p:sp>
      <p:sp>
        <p:nvSpPr>
          <p:cNvPr id="120" name="Oval 119"/>
          <p:cNvSpPr/>
          <p:nvPr/>
        </p:nvSpPr>
        <p:spPr>
          <a:xfrm>
            <a:off x="3168701" y="2467886"/>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1" name="TextBox 120"/>
          <p:cNvSpPr txBox="1"/>
          <p:nvPr/>
        </p:nvSpPr>
        <p:spPr>
          <a:xfrm>
            <a:off x="3168701" y="2467886"/>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122" name="Oval 121"/>
          <p:cNvSpPr/>
          <p:nvPr/>
        </p:nvSpPr>
        <p:spPr>
          <a:xfrm>
            <a:off x="3168701" y="2650278"/>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3" name="TextBox 122"/>
          <p:cNvSpPr txBox="1"/>
          <p:nvPr/>
        </p:nvSpPr>
        <p:spPr>
          <a:xfrm>
            <a:off x="3168701" y="2650278"/>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graphicFrame>
        <p:nvGraphicFramePr>
          <p:cNvPr id="124" name="Table 123"/>
          <p:cNvGraphicFramePr>
            <a:graphicFrameLocks noGrp="1"/>
          </p:cNvGraphicFramePr>
          <p:nvPr/>
        </p:nvGraphicFramePr>
        <p:xfrm>
          <a:off x="7196328" y="886968"/>
          <a:ext cx="4718304" cy="252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PIN entry indicator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Six masked positions, filled as digits are entered. Reached only after a correct OTP — the PIN is never set on an unverified number (SU-04).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PIN composition rules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Displayed as live checks rather than an error after submission. Rules shown are the BA proposal; the final set is a Security decision.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In-app numeric keypad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app renders its own keypad rather than the system keyboard, to keep the digits out of predictive text and clipboard history.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Confirmation mismatch</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two entries must match. On mismatch the confirmation field is cleared, not both fields, so the customer does not have to start over.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Attempt counter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Repeated mismatches restart the step. The exact count is not agreed — OQ-03, part of the wider attempt-limit decision (NFR-01).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25" name="TextBox 124"/>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Once set, the PIN becomes the primary re-authentication method whenever biometrics are unavailable (BRL-16). A forgotten PIN is reset only after OTP re-verification (BRL-17, SCR-AUT-06). Signup is the only path in this specification that writes a PIN.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Signup (SU)</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SU-05 … SU-08</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SCR-AUT-04</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Signup — Profile &amp; Biometric Offer</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50</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Step 1  ·  Profile form</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59436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5873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29" name="TextBox 28"/>
          <p:cNvSpPr txBox="1"/>
          <p:nvPr/>
        </p:nvSpPr>
        <p:spPr>
          <a:xfrm>
            <a:off x="77675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Complete your profile</a:t>
            </a:r>
          </a:p>
        </p:txBody>
      </p:sp>
      <p:sp>
        <p:nvSpPr>
          <p:cNvPr id="30" name="Rectangle 29"/>
          <p:cNvSpPr/>
          <p:nvPr/>
        </p:nvSpPr>
        <p:spPr>
          <a:xfrm>
            <a:off x="59436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Rounded Rectangle 30"/>
          <p:cNvSpPr/>
          <p:nvPr/>
        </p:nvSpPr>
        <p:spPr>
          <a:xfrm>
            <a:off x="669462" y="1260878"/>
            <a:ext cx="1861474" cy="32186"/>
          </a:xfrm>
          <a:prstGeom prst="roundRect">
            <a:avLst>
              <a:gd name="adj" fmla="val 50000"/>
            </a:avLst>
          </a:prstGeom>
          <a:solidFill>
            <a:srgbClr val="E0E0E0"/>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Rounded Rectangle 31"/>
          <p:cNvSpPr/>
          <p:nvPr/>
        </p:nvSpPr>
        <p:spPr>
          <a:xfrm>
            <a:off x="669462" y="1260878"/>
            <a:ext cx="1489179" cy="32186"/>
          </a:xfrm>
          <a:prstGeom prst="roundRect">
            <a:avLst>
              <a:gd name="adj" fmla="val 5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3" name="TextBox 32"/>
          <p:cNvSpPr txBox="1"/>
          <p:nvPr/>
        </p:nvSpPr>
        <p:spPr>
          <a:xfrm>
            <a:off x="669462" y="1299435"/>
            <a:ext cx="1861474" cy="83820"/>
          </a:xfrm>
          <a:prstGeom prst="rect">
            <a:avLst/>
          </a:prstGeom>
          <a:noFill/>
        </p:spPr>
        <p:txBody>
          <a:bodyPr wrap="square" lIns="0" tIns="0" rIns="0" bIns="0" anchor="ctr">
            <a:spAutoFit/>
          </a:bodyPr>
          <a:lstStyle/>
          <a:p>
            <a:pPr marL="0" indent="0" algn="l">
              <a:buNone/>
            </a:pPr>
            <a:r>
              <a:rPr sz="500" b="0" i="0">
                <a:solidFill>
                  <a:srgbClr val="888888"/>
                </a:solidFill>
              </a:rPr>
              <a:t>Step 4 of 5</a:t>
            </a:r>
          </a:p>
        </p:txBody>
      </p:sp>
      <p:sp>
        <p:nvSpPr>
          <p:cNvPr id="34" name="TextBox 33"/>
          <p:cNvSpPr txBox="1"/>
          <p:nvPr/>
        </p:nvSpPr>
        <p:spPr>
          <a:xfrm>
            <a:off x="669462" y="1386440"/>
            <a:ext cx="1341120" cy="92202"/>
          </a:xfrm>
          <a:prstGeom prst="rect">
            <a:avLst/>
          </a:prstGeom>
          <a:noFill/>
        </p:spPr>
        <p:txBody>
          <a:bodyPr wrap="square" lIns="0" tIns="0" rIns="0" bIns="0" anchor="ctr">
            <a:spAutoFit/>
          </a:bodyPr>
          <a:lstStyle/>
          <a:p>
            <a:pPr marL="0" indent="0" algn="l">
              <a:buNone/>
            </a:pPr>
            <a:r>
              <a:rPr sz="550" b="1" i="0">
                <a:solidFill>
                  <a:srgbClr val="555555"/>
                </a:solidFill>
              </a:rPr>
              <a:t>Full name</a:t>
            </a:r>
            <a:r>
              <a:rPr sz="550" b="1" i="0">
                <a:solidFill>
                  <a:srgbClr val="C8102E"/>
                </a:solidFill>
              </a:rPr>
              <a:t> *</a:t>
            </a:r>
          </a:p>
        </p:txBody>
      </p:sp>
      <p:sp>
        <p:nvSpPr>
          <p:cNvPr id="35" name="Rounded Rectangle 34"/>
          <p:cNvSpPr/>
          <p:nvPr/>
        </p:nvSpPr>
        <p:spPr>
          <a:xfrm>
            <a:off x="669462" y="1470092"/>
            <a:ext cx="1861474" cy="139476"/>
          </a:xfrm>
          <a:prstGeom prst="roundRect">
            <a:avLst>
              <a:gd name="adj" fmla="val 18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TextBox 35"/>
          <p:cNvSpPr txBox="1"/>
          <p:nvPr/>
        </p:nvSpPr>
        <p:spPr>
          <a:xfrm>
            <a:off x="723107" y="1470092"/>
            <a:ext cx="1689811" cy="139476"/>
          </a:xfrm>
          <a:prstGeom prst="rect">
            <a:avLst/>
          </a:prstGeom>
          <a:noFill/>
        </p:spPr>
        <p:txBody>
          <a:bodyPr wrap="square" lIns="0" tIns="0" rIns="0" bIns="0" anchor="ctr">
            <a:spAutoFit/>
          </a:bodyPr>
          <a:lstStyle/>
          <a:p>
            <a:pPr marL="0" indent="0" algn="l">
              <a:buNone/>
            </a:pPr>
            <a:r>
              <a:rPr sz="600" b="0" i="0">
                <a:solidFill>
                  <a:srgbClr val="222222"/>
                </a:solidFill>
              </a:rPr>
              <a:t>Thái Bảo Ngọc</a:t>
            </a:r>
          </a:p>
        </p:txBody>
      </p:sp>
      <p:sp>
        <p:nvSpPr>
          <p:cNvPr id="37" name="TextBox 36"/>
          <p:cNvSpPr txBox="1"/>
          <p:nvPr/>
        </p:nvSpPr>
        <p:spPr>
          <a:xfrm>
            <a:off x="669462" y="1638571"/>
            <a:ext cx="1341120" cy="92202"/>
          </a:xfrm>
          <a:prstGeom prst="rect">
            <a:avLst/>
          </a:prstGeom>
          <a:noFill/>
        </p:spPr>
        <p:txBody>
          <a:bodyPr wrap="square" lIns="0" tIns="0" rIns="0" bIns="0" anchor="ctr">
            <a:spAutoFit/>
          </a:bodyPr>
          <a:lstStyle/>
          <a:p>
            <a:pPr marL="0" indent="0" algn="l">
              <a:buNone/>
            </a:pPr>
            <a:r>
              <a:rPr sz="550" b="1" i="0">
                <a:solidFill>
                  <a:srgbClr val="555555"/>
                </a:solidFill>
              </a:rPr>
              <a:t>Gender</a:t>
            </a:r>
            <a:r>
              <a:rPr sz="550" b="1" i="0">
                <a:solidFill>
                  <a:srgbClr val="C8102E"/>
                </a:solidFill>
              </a:rPr>
              <a:t> *</a:t>
            </a:r>
          </a:p>
        </p:txBody>
      </p:sp>
      <p:sp>
        <p:nvSpPr>
          <p:cNvPr id="38" name="Rounded Rectangle 37"/>
          <p:cNvSpPr/>
          <p:nvPr/>
        </p:nvSpPr>
        <p:spPr>
          <a:xfrm>
            <a:off x="669462" y="1738316"/>
            <a:ext cx="901232" cy="160934"/>
          </a:xfrm>
          <a:prstGeom prst="roundRect">
            <a:avLst>
              <a:gd name="adj" fmla="val 50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TextBox 38"/>
          <p:cNvSpPr txBox="1"/>
          <p:nvPr/>
        </p:nvSpPr>
        <p:spPr>
          <a:xfrm>
            <a:off x="669462" y="1738316"/>
            <a:ext cx="901232" cy="160934"/>
          </a:xfrm>
          <a:prstGeom prst="rect">
            <a:avLst/>
          </a:prstGeom>
          <a:noFill/>
        </p:spPr>
        <p:txBody>
          <a:bodyPr wrap="square" lIns="0" tIns="0" rIns="0" bIns="0" anchor="ctr">
            <a:spAutoFit/>
          </a:bodyPr>
          <a:lstStyle/>
          <a:p>
            <a:pPr marL="0" indent="0" algn="ctr">
              <a:buNone/>
            </a:pPr>
            <a:r>
              <a:rPr sz="620" b="1" i="0">
                <a:solidFill>
                  <a:srgbClr val="C8102E"/>
                </a:solidFill>
              </a:rPr>
              <a:t>Chị</a:t>
            </a:r>
          </a:p>
        </p:txBody>
      </p:sp>
      <p:sp>
        <p:nvSpPr>
          <p:cNvPr id="40" name="Rounded Rectangle 39"/>
          <p:cNvSpPr/>
          <p:nvPr/>
        </p:nvSpPr>
        <p:spPr>
          <a:xfrm>
            <a:off x="1613611" y="1738316"/>
            <a:ext cx="901232" cy="160934"/>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TextBox 40"/>
          <p:cNvSpPr txBox="1"/>
          <p:nvPr/>
        </p:nvSpPr>
        <p:spPr>
          <a:xfrm>
            <a:off x="1613611" y="1738316"/>
            <a:ext cx="901232" cy="160934"/>
          </a:xfrm>
          <a:prstGeom prst="rect">
            <a:avLst/>
          </a:prstGeom>
          <a:noFill/>
        </p:spPr>
        <p:txBody>
          <a:bodyPr wrap="square" lIns="0" tIns="0" rIns="0" bIns="0" anchor="ctr">
            <a:spAutoFit/>
          </a:bodyPr>
          <a:lstStyle/>
          <a:p>
            <a:pPr marL="0" indent="0" algn="ctr">
              <a:buNone/>
            </a:pPr>
            <a:r>
              <a:rPr sz="620" b="0" i="0">
                <a:solidFill>
                  <a:srgbClr val="555555"/>
                </a:solidFill>
              </a:rPr>
              <a:t>Anh</a:t>
            </a:r>
          </a:p>
        </p:txBody>
      </p:sp>
      <p:sp>
        <p:nvSpPr>
          <p:cNvPr id="42" name="TextBox 41"/>
          <p:cNvSpPr txBox="1"/>
          <p:nvPr/>
        </p:nvSpPr>
        <p:spPr>
          <a:xfrm>
            <a:off x="669462" y="1949710"/>
            <a:ext cx="1341120" cy="92202"/>
          </a:xfrm>
          <a:prstGeom prst="rect">
            <a:avLst/>
          </a:prstGeom>
          <a:noFill/>
        </p:spPr>
        <p:txBody>
          <a:bodyPr wrap="square" lIns="0" tIns="0" rIns="0" bIns="0" anchor="ctr">
            <a:spAutoFit/>
          </a:bodyPr>
          <a:lstStyle/>
          <a:p>
            <a:pPr marL="0" indent="0" algn="l">
              <a:buNone/>
            </a:pPr>
            <a:r>
              <a:rPr sz="550" b="1" i="0">
                <a:solidFill>
                  <a:srgbClr val="555555"/>
                </a:solidFill>
              </a:rPr>
              <a:t>Date of birth</a:t>
            </a:r>
            <a:r>
              <a:rPr sz="550" b="1" i="0">
                <a:solidFill>
                  <a:srgbClr val="C8102E"/>
                </a:solidFill>
              </a:rPr>
              <a:t> *</a:t>
            </a:r>
          </a:p>
        </p:txBody>
      </p:sp>
      <p:sp>
        <p:nvSpPr>
          <p:cNvPr id="43" name="Rounded Rectangle 42"/>
          <p:cNvSpPr/>
          <p:nvPr/>
        </p:nvSpPr>
        <p:spPr>
          <a:xfrm>
            <a:off x="669462" y="2033363"/>
            <a:ext cx="1861474" cy="139476"/>
          </a:xfrm>
          <a:prstGeom prst="roundRect">
            <a:avLst>
              <a:gd name="adj" fmla="val 18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4" name="TextBox 43"/>
          <p:cNvSpPr txBox="1"/>
          <p:nvPr/>
        </p:nvSpPr>
        <p:spPr>
          <a:xfrm>
            <a:off x="723107" y="2033363"/>
            <a:ext cx="1689811" cy="139476"/>
          </a:xfrm>
          <a:prstGeom prst="rect">
            <a:avLst/>
          </a:prstGeom>
          <a:noFill/>
        </p:spPr>
        <p:txBody>
          <a:bodyPr wrap="square" lIns="0" tIns="0" rIns="0" bIns="0" anchor="ctr">
            <a:spAutoFit/>
          </a:bodyPr>
          <a:lstStyle/>
          <a:p>
            <a:pPr marL="0" indent="0" algn="l">
              <a:buNone/>
            </a:pPr>
            <a:r>
              <a:rPr sz="600" b="0" i="0">
                <a:solidFill>
                  <a:srgbClr val="222222"/>
                </a:solidFill>
              </a:rPr>
              <a:t>14 / 08 / 1990</a:t>
            </a:r>
          </a:p>
        </p:txBody>
      </p:sp>
      <p:sp>
        <p:nvSpPr>
          <p:cNvPr id="45" name="TextBox 44"/>
          <p:cNvSpPr txBox="1"/>
          <p:nvPr/>
        </p:nvSpPr>
        <p:spPr>
          <a:xfrm>
            <a:off x="2423647" y="2033363"/>
            <a:ext cx="85831" cy="139476"/>
          </a:xfrm>
          <a:prstGeom prst="rect">
            <a:avLst/>
          </a:prstGeom>
          <a:noFill/>
        </p:spPr>
        <p:txBody>
          <a:bodyPr wrap="square" lIns="0" tIns="0" rIns="0" bIns="0" anchor="ctr">
            <a:spAutoFit/>
          </a:bodyPr>
          <a:lstStyle/>
          <a:p>
            <a:pPr marL="0" indent="0" algn="l">
              <a:buNone/>
            </a:pPr>
            <a:r>
              <a:rPr sz="600" b="0" i="0">
                <a:solidFill>
                  <a:srgbClr val="555555"/>
                </a:solidFill>
              </a:rPr>
              <a:t>▾</a:t>
            </a:r>
          </a:p>
        </p:txBody>
      </p:sp>
      <p:sp>
        <p:nvSpPr>
          <p:cNvPr id="46" name="TextBox 45"/>
          <p:cNvSpPr txBox="1"/>
          <p:nvPr/>
        </p:nvSpPr>
        <p:spPr>
          <a:xfrm>
            <a:off x="669462" y="2201841"/>
            <a:ext cx="1341120" cy="92202"/>
          </a:xfrm>
          <a:prstGeom prst="rect">
            <a:avLst/>
          </a:prstGeom>
          <a:noFill/>
        </p:spPr>
        <p:txBody>
          <a:bodyPr wrap="square" lIns="0" tIns="0" rIns="0" bIns="0" anchor="ctr">
            <a:spAutoFit/>
          </a:bodyPr>
          <a:lstStyle/>
          <a:p>
            <a:pPr marL="0" indent="0" algn="l">
              <a:buNone/>
            </a:pPr>
            <a:r>
              <a:rPr sz="550" b="1" i="0">
                <a:solidFill>
                  <a:srgbClr val="555555"/>
                </a:solidFill>
              </a:rPr>
              <a:t>Nationality</a:t>
            </a:r>
            <a:r>
              <a:rPr sz="550" b="1" i="0">
                <a:solidFill>
                  <a:srgbClr val="C8102E"/>
                </a:solidFill>
              </a:rPr>
              <a:t> *</a:t>
            </a:r>
          </a:p>
        </p:txBody>
      </p:sp>
      <p:sp>
        <p:nvSpPr>
          <p:cNvPr id="47" name="Rounded Rectangle 46"/>
          <p:cNvSpPr/>
          <p:nvPr/>
        </p:nvSpPr>
        <p:spPr>
          <a:xfrm>
            <a:off x="669462" y="2285493"/>
            <a:ext cx="1861474" cy="139476"/>
          </a:xfrm>
          <a:prstGeom prst="roundRect">
            <a:avLst>
              <a:gd name="adj" fmla="val 18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8" name="TextBox 47"/>
          <p:cNvSpPr txBox="1"/>
          <p:nvPr/>
        </p:nvSpPr>
        <p:spPr>
          <a:xfrm>
            <a:off x="723107" y="2285493"/>
            <a:ext cx="1689811" cy="139476"/>
          </a:xfrm>
          <a:prstGeom prst="rect">
            <a:avLst/>
          </a:prstGeom>
          <a:noFill/>
        </p:spPr>
        <p:txBody>
          <a:bodyPr wrap="square" lIns="0" tIns="0" rIns="0" bIns="0" anchor="ctr">
            <a:spAutoFit/>
          </a:bodyPr>
          <a:lstStyle/>
          <a:p>
            <a:pPr marL="0" indent="0" algn="l">
              <a:buNone/>
            </a:pPr>
            <a:r>
              <a:rPr sz="600" b="0" i="0">
                <a:solidFill>
                  <a:srgbClr val="222222"/>
                </a:solidFill>
              </a:rPr>
              <a:t>Việt Nam</a:t>
            </a:r>
          </a:p>
        </p:txBody>
      </p:sp>
      <p:sp>
        <p:nvSpPr>
          <p:cNvPr id="49" name="TextBox 48"/>
          <p:cNvSpPr txBox="1"/>
          <p:nvPr/>
        </p:nvSpPr>
        <p:spPr>
          <a:xfrm>
            <a:off x="2423647" y="2285493"/>
            <a:ext cx="85831" cy="139476"/>
          </a:xfrm>
          <a:prstGeom prst="rect">
            <a:avLst/>
          </a:prstGeom>
          <a:noFill/>
        </p:spPr>
        <p:txBody>
          <a:bodyPr wrap="square" lIns="0" tIns="0" rIns="0" bIns="0" anchor="ctr">
            <a:spAutoFit/>
          </a:bodyPr>
          <a:lstStyle/>
          <a:p>
            <a:pPr marL="0" indent="0" algn="l">
              <a:buNone/>
            </a:pPr>
            <a:r>
              <a:rPr sz="600" b="0" i="0">
                <a:solidFill>
                  <a:srgbClr val="555555"/>
                </a:solidFill>
              </a:rPr>
              <a:t>▾</a:t>
            </a:r>
          </a:p>
        </p:txBody>
      </p:sp>
      <p:sp>
        <p:nvSpPr>
          <p:cNvPr id="50" name="TextBox 49"/>
          <p:cNvSpPr txBox="1"/>
          <p:nvPr/>
        </p:nvSpPr>
        <p:spPr>
          <a:xfrm>
            <a:off x="669462" y="2453972"/>
            <a:ext cx="1341120" cy="92202"/>
          </a:xfrm>
          <a:prstGeom prst="rect">
            <a:avLst/>
          </a:prstGeom>
          <a:noFill/>
        </p:spPr>
        <p:txBody>
          <a:bodyPr wrap="square" lIns="0" tIns="0" rIns="0" bIns="0" anchor="ctr">
            <a:spAutoFit/>
          </a:bodyPr>
          <a:lstStyle/>
          <a:p>
            <a:pPr marL="0" indent="0" algn="l">
              <a:buNone/>
            </a:pPr>
            <a:r>
              <a:rPr sz="550" b="1" i="0">
                <a:solidFill>
                  <a:srgbClr val="555555"/>
                </a:solidFill>
              </a:rPr>
              <a:t>Registered LOTTE MART store</a:t>
            </a:r>
            <a:r>
              <a:rPr sz="550" b="1" i="0">
                <a:solidFill>
                  <a:srgbClr val="C8102E"/>
                </a:solidFill>
              </a:rPr>
              <a:t> *</a:t>
            </a:r>
          </a:p>
        </p:txBody>
      </p:sp>
      <p:sp>
        <p:nvSpPr>
          <p:cNvPr id="51" name="Rounded Rectangle 50"/>
          <p:cNvSpPr/>
          <p:nvPr/>
        </p:nvSpPr>
        <p:spPr>
          <a:xfrm>
            <a:off x="669462" y="2537624"/>
            <a:ext cx="1861474" cy="139476"/>
          </a:xfrm>
          <a:prstGeom prst="roundRect">
            <a:avLst>
              <a:gd name="adj" fmla="val 18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2" name="TextBox 51"/>
          <p:cNvSpPr txBox="1"/>
          <p:nvPr/>
        </p:nvSpPr>
        <p:spPr>
          <a:xfrm>
            <a:off x="723107" y="2537624"/>
            <a:ext cx="1689811" cy="139476"/>
          </a:xfrm>
          <a:prstGeom prst="rect">
            <a:avLst/>
          </a:prstGeom>
          <a:noFill/>
        </p:spPr>
        <p:txBody>
          <a:bodyPr wrap="square" lIns="0" tIns="0" rIns="0" bIns="0" anchor="ctr">
            <a:spAutoFit/>
          </a:bodyPr>
          <a:lstStyle/>
          <a:p>
            <a:pPr marL="0" indent="0" algn="l">
              <a:buNone/>
            </a:pPr>
            <a:r>
              <a:rPr sz="600" b="0" i="0">
                <a:solidFill>
                  <a:srgbClr val="222222"/>
                </a:solidFill>
              </a:rPr>
              <a:t>LOTTE Mart Nam Sài Gòn</a:t>
            </a:r>
          </a:p>
        </p:txBody>
      </p:sp>
      <p:sp>
        <p:nvSpPr>
          <p:cNvPr id="53" name="TextBox 52"/>
          <p:cNvSpPr txBox="1"/>
          <p:nvPr/>
        </p:nvSpPr>
        <p:spPr>
          <a:xfrm>
            <a:off x="2423647" y="2537624"/>
            <a:ext cx="85831" cy="139476"/>
          </a:xfrm>
          <a:prstGeom prst="rect">
            <a:avLst/>
          </a:prstGeom>
          <a:noFill/>
        </p:spPr>
        <p:txBody>
          <a:bodyPr wrap="square" lIns="0" tIns="0" rIns="0" bIns="0" anchor="ctr">
            <a:spAutoFit/>
          </a:bodyPr>
          <a:lstStyle/>
          <a:p>
            <a:pPr marL="0" indent="0" algn="l">
              <a:buNone/>
            </a:pPr>
            <a:r>
              <a:rPr sz="600" b="0" i="0">
                <a:solidFill>
                  <a:srgbClr val="555555"/>
                </a:solidFill>
              </a:rPr>
              <a:t>▾</a:t>
            </a:r>
          </a:p>
        </p:txBody>
      </p:sp>
      <p:sp>
        <p:nvSpPr>
          <p:cNvPr id="54" name="TextBox 53"/>
          <p:cNvSpPr txBox="1"/>
          <p:nvPr/>
        </p:nvSpPr>
        <p:spPr>
          <a:xfrm>
            <a:off x="669462" y="2678106"/>
            <a:ext cx="1861474" cy="83820"/>
          </a:xfrm>
          <a:prstGeom prst="rect">
            <a:avLst/>
          </a:prstGeom>
          <a:noFill/>
        </p:spPr>
        <p:txBody>
          <a:bodyPr wrap="square" lIns="0" tIns="0" rIns="0" bIns="0" anchor="ctr">
            <a:spAutoFit/>
          </a:bodyPr>
          <a:lstStyle/>
          <a:p>
            <a:pPr marL="0" indent="0" algn="l">
              <a:buNone/>
            </a:pPr>
            <a:r>
              <a:rPr sz="500" b="0" i="0">
                <a:solidFill>
                  <a:srgbClr val="888888"/>
                </a:solidFill>
              </a:rPr>
              <a:t>Pre-filled from Onboarding — you can change it</a:t>
            </a:r>
          </a:p>
        </p:txBody>
      </p:sp>
      <p:sp>
        <p:nvSpPr>
          <p:cNvPr id="55" name="Rounded Rectangle 54"/>
          <p:cNvSpPr/>
          <p:nvPr/>
        </p:nvSpPr>
        <p:spPr>
          <a:xfrm>
            <a:off x="669462" y="2789754"/>
            <a:ext cx="80467" cy="80467"/>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6" name="TextBox 55"/>
          <p:cNvSpPr txBox="1"/>
          <p:nvPr/>
        </p:nvSpPr>
        <p:spPr>
          <a:xfrm>
            <a:off x="669462" y="2789754"/>
            <a:ext cx="80467" cy="80467"/>
          </a:xfrm>
          <a:prstGeom prst="rect">
            <a:avLst/>
          </a:prstGeom>
          <a:noFill/>
        </p:spPr>
        <p:txBody>
          <a:bodyPr wrap="square" lIns="0" tIns="0" rIns="0" bIns="0" anchor="ctr">
            <a:spAutoFit/>
          </a:bodyPr>
          <a:lstStyle/>
          <a:p>
            <a:pPr marL="0" indent="0" algn="ctr">
              <a:buNone/>
            </a:pPr>
            <a:r>
              <a:rPr sz="459" b="1" i="0">
                <a:solidFill>
                  <a:srgbClr val="FFFFFF"/>
                </a:solidFill>
              </a:rPr>
              <a:t>✓</a:t>
            </a:r>
          </a:p>
        </p:txBody>
      </p:sp>
      <p:sp>
        <p:nvSpPr>
          <p:cNvPr id="57" name="TextBox 56"/>
          <p:cNvSpPr txBox="1"/>
          <p:nvPr/>
        </p:nvSpPr>
        <p:spPr>
          <a:xfrm>
            <a:off x="787481" y="2779025"/>
            <a:ext cx="1716633" cy="107289"/>
          </a:xfrm>
          <a:prstGeom prst="rect">
            <a:avLst/>
          </a:prstGeom>
          <a:noFill/>
        </p:spPr>
        <p:txBody>
          <a:bodyPr wrap="square" lIns="0" tIns="0" rIns="0" bIns="0" anchor="ctr">
            <a:spAutoFit/>
          </a:bodyPr>
          <a:lstStyle/>
          <a:p>
            <a:pPr marL="0" indent="0" algn="l">
              <a:buNone/>
            </a:pPr>
            <a:r>
              <a:rPr sz="540" b="1" i="0">
                <a:solidFill>
                  <a:srgbClr val="C8102E"/>
                </a:solidFill>
              </a:rPr>
              <a:t>Terms of Use &amp; Privacy Policy  *</a:t>
            </a:r>
          </a:p>
        </p:txBody>
      </p:sp>
      <p:sp>
        <p:nvSpPr>
          <p:cNvPr id="58" name="Rounded Rectangle 57"/>
          <p:cNvSpPr/>
          <p:nvPr/>
        </p:nvSpPr>
        <p:spPr>
          <a:xfrm>
            <a:off x="669462" y="2918502"/>
            <a:ext cx="80467" cy="80467"/>
          </a:xfrm>
          <a:prstGeom prst="roundRect">
            <a:avLst>
              <a:gd name="adj" fmla="val 2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9" name="TextBox 58"/>
          <p:cNvSpPr txBox="1"/>
          <p:nvPr/>
        </p:nvSpPr>
        <p:spPr>
          <a:xfrm>
            <a:off x="787481" y="2907773"/>
            <a:ext cx="1716633" cy="107289"/>
          </a:xfrm>
          <a:prstGeom prst="rect">
            <a:avLst/>
          </a:prstGeom>
          <a:noFill/>
        </p:spPr>
        <p:txBody>
          <a:bodyPr wrap="square" lIns="0" tIns="0" rIns="0" bIns="0" anchor="ctr">
            <a:spAutoFit/>
          </a:bodyPr>
          <a:lstStyle/>
          <a:p>
            <a:pPr marL="0" indent="0" algn="l">
              <a:buNone/>
            </a:pPr>
            <a:r>
              <a:rPr sz="540" b="0" i="0">
                <a:solidFill>
                  <a:srgbClr val="555555"/>
                </a:solidFill>
              </a:rPr>
              <a:t>Send me promotions and product news</a:t>
            </a:r>
          </a:p>
        </p:txBody>
      </p:sp>
      <p:sp>
        <p:nvSpPr>
          <p:cNvPr id="60" name="Rectangle 59"/>
          <p:cNvSpPr/>
          <p:nvPr/>
        </p:nvSpPr>
        <p:spPr>
          <a:xfrm>
            <a:off x="594360" y="4527846"/>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1" name="Rectangle 60"/>
          <p:cNvSpPr/>
          <p:nvPr/>
        </p:nvSpPr>
        <p:spPr>
          <a:xfrm>
            <a:off x="594360" y="4527846"/>
            <a:ext cx="2011679" cy="3218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2" name="Rounded Rectangle 61"/>
          <p:cNvSpPr/>
          <p:nvPr/>
        </p:nvSpPr>
        <p:spPr>
          <a:xfrm>
            <a:off x="669462" y="4592220"/>
            <a:ext cx="1861474" cy="160934"/>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3" name="TextBox 62"/>
          <p:cNvSpPr txBox="1"/>
          <p:nvPr/>
        </p:nvSpPr>
        <p:spPr>
          <a:xfrm>
            <a:off x="669462" y="4592220"/>
            <a:ext cx="1861474" cy="160934"/>
          </a:xfrm>
          <a:prstGeom prst="rect">
            <a:avLst/>
          </a:prstGeom>
          <a:noFill/>
        </p:spPr>
        <p:txBody>
          <a:bodyPr wrap="square" lIns="0" tIns="0" rIns="0" bIns="0" anchor="ctr">
            <a:spAutoFit/>
          </a:bodyPr>
          <a:lstStyle/>
          <a:p>
            <a:pPr marL="0" indent="0" algn="ctr">
              <a:buNone/>
            </a:pPr>
            <a:r>
              <a:rPr sz="650" b="1" i="0">
                <a:solidFill>
                  <a:srgbClr val="FFFFFF"/>
                </a:solidFill>
              </a:rPr>
              <a:t>Create account</a:t>
            </a:r>
          </a:p>
        </p:txBody>
      </p:sp>
      <p:sp>
        <p:nvSpPr>
          <p:cNvPr id="64" name="Oval 63"/>
          <p:cNvSpPr/>
          <p:nvPr/>
        </p:nvSpPr>
        <p:spPr>
          <a:xfrm>
            <a:off x="379781" y="1416448"/>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5" name="TextBox 64"/>
          <p:cNvSpPr txBox="1"/>
          <p:nvPr/>
        </p:nvSpPr>
        <p:spPr>
          <a:xfrm>
            <a:off x="379781" y="1416448"/>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66" name="Oval 65"/>
          <p:cNvSpPr/>
          <p:nvPr/>
        </p:nvSpPr>
        <p:spPr>
          <a:xfrm>
            <a:off x="379781" y="1673943"/>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7" name="TextBox 66"/>
          <p:cNvSpPr txBox="1"/>
          <p:nvPr/>
        </p:nvSpPr>
        <p:spPr>
          <a:xfrm>
            <a:off x="379781" y="1673943"/>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68" name="Oval 67"/>
          <p:cNvSpPr/>
          <p:nvPr/>
        </p:nvSpPr>
        <p:spPr>
          <a:xfrm>
            <a:off x="379781" y="2489343"/>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9" name="TextBox 68"/>
          <p:cNvSpPr txBox="1"/>
          <p:nvPr/>
        </p:nvSpPr>
        <p:spPr>
          <a:xfrm>
            <a:off x="379781" y="2489343"/>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70" name="Oval 69"/>
          <p:cNvSpPr/>
          <p:nvPr/>
        </p:nvSpPr>
        <p:spPr>
          <a:xfrm>
            <a:off x="379781" y="291850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1" name="TextBox 70"/>
          <p:cNvSpPr txBox="1"/>
          <p:nvPr/>
        </p:nvSpPr>
        <p:spPr>
          <a:xfrm>
            <a:off x="379781" y="291850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72" name="Oval 71"/>
          <p:cNvSpPr/>
          <p:nvPr/>
        </p:nvSpPr>
        <p:spPr>
          <a:xfrm>
            <a:off x="379781" y="4635135"/>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3" name="TextBox 72"/>
          <p:cNvSpPr txBox="1"/>
          <p:nvPr/>
        </p:nvSpPr>
        <p:spPr>
          <a:xfrm>
            <a:off x="379781" y="4635135"/>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sp>
        <p:nvSpPr>
          <p:cNvPr id="74" name="Rounded Rectangle 73"/>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5" name="Rectangle 74"/>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6" name="TextBox 75"/>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Step 2  ·  Biometric offer, then resume</a:t>
            </a:r>
          </a:p>
        </p:txBody>
      </p:sp>
      <p:sp>
        <p:nvSpPr>
          <p:cNvPr id="77" name="TextBox 76"/>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78" name="TextBox 77"/>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79" name="Rectangle 78"/>
          <p:cNvSpPr/>
          <p:nvPr/>
        </p:nvSpPr>
        <p:spPr>
          <a:xfrm>
            <a:off x="338328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0" name="TextBox 79"/>
          <p:cNvSpPr txBox="1"/>
          <p:nvPr/>
        </p:nvSpPr>
        <p:spPr>
          <a:xfrm>
            <a:off x="345838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Account created</a:t>
            </a:r>
          </a:p>
        </p:txBody>
      </p:sp>
      <p:sp>
        <p:nvSpPr>
          <p:cNvPr id="81" name="Rectangle 80"/>
          <p:cNvSpPr/>
          <p:nvPr/>
        </p:nvSpPr>
        <p:spPr>
          <a:xfrm>
            <a:off x="338328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2" name="Rounded Rectangle 81"/>
          <p:cNvSpPr/>
          <p:nvPr/>
        </p:nvSpPr>
        <p:spPr>
          <a:xfrm>
            <a:off x="4171858" y="1362803"/>
            <a:ext cx="429158" cy="429158"/>
          </a:xfrm>
          <a:prstGeom prst="roundRect">
            <a:avLst>
              <a:gd name="adj" fmla="val 50000"/>
            </a:avLst>
          </a:prstGeom>
          <a:solidFill>
            <a:srgbClr val="E8F5EE"/>
          </a:solidFill>
          <a:ln w="635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TextBox 82"/>
          <p:cNvSpPr txBox="1"/>
          <p:nvPr/>
        </p:nvSpPr>
        <p:spPr>
          <a:xfrm>
            <a:off x="4171858" y="1362803"/>
            <a:ext cx="429158" cy="429158"/>
          </a:xfrm>
          <a:prstGeom prst="rect">
            <a:avLst/>
          </a:prstGeom>
          <a:noFill/>
        </p:spPr>
        <p:txBody>
          <a:bodyPr wrap="square" lIns="0" tIns="0" rIns="0" bIns="0" anchor="ctr">
            <a:spAutoFit/>
          </a:bodyPr>
          <a:lstStyle/>
          <a:p>
            <a:pPr marL="0" indent="0" algn="ctr">
              <a:buNone/>
            </a:pPr>
            <a:r>
              <a:rPr sz="1800" b="1" i="0">
                <a:solidFill>
                  <a:srgbClr val="1B7F4B"/>
                </a:solidFill>
              </a:rPr>
              <a:t>✓</a:t>
            </a:r>
          </a:p>
        </p:txBody>
      </p:sp>
      <p:sp>
        <p:nvSpPr>
          <p:cNvPr id="84" name="TextBox 83"/>
          <p:cNvSpPr txBox="1"/>
          <p:nvPr/>
        </p:nvSpPr>
        <p:spPr>
          <a:xfrm>
            <a:off x="3512027" y="1857173"/>
            <a:ext cx="1754184" cy="159258"/>
          </a:xfrm>
          <a:prstGeom prst="rect">
            <a:avLst/>
          </a:prstGeom>
          <a:noFill/>
        </p:spPr>
        <p:txBody>
          <a:bodyPr wrap="square" lIns="0" tIns="0" rIns="0" bIns="0" anchor="ctr">
            <a:spAutoFit/>
          </a:bodyPr>
          <a:lstStyle/>
          <a:p>
            <a:pPr marL="0" indent="0" algn="ctr">
              <a:buNone/>
            </a:pPr>
            <a:r>
              <a:rPr sz="950" b="1" i="0">
                <a:solidFill>
                  <a:srgbClr val="3A3A3A"/>
                </a:solidFill>
              </a:rPr>
              <a:t>Welcome, Ngọc</a:t>
            </a:r>
          </a:p>
        </p:txBody>
      </p:sp>
      <p:sp>
        <p:nvSpPr>
          <p:cNvPr id="85" name="TextBox 84"/>
          <p:cNvSpPr txBox="1"/>
          <p:nvPr/>
        </p:nvSpPr>
        <p:spPr>
          <a:xfrm>
            <a:off x="3512027" y="2017269"/>
            <a:ext cx="1754184" cy="160934"/>
          </a:xfrm>
          <a:prstGeom prst="rect">
            <a:avLst/>
          </a:prstGeom>
          <a:noFill/>
        </p:spPr>
        <p:txBody>
          <a:bodyPr wrap="square" lIns="0" tIns="0" rIns="0" bIns="0" anchor="t">
            <a:spAutoFit/>
          </a:bodyPr>
          <a:lstStyle/>
          <a:p>
            <a:pPr marL="0" indent="0" algn="ctr">
              <a:buNone/>
            </a:pPr>
            <a:r>
              <a:rPr sz="560" b="0" i="0">
                <a:solidFill>
                  <a:srgbClr val="888888"/>
                </a:solidFill>
              </a:rPr>
              <a:t>Your account is ready and you are signed in.</a:t>
            </a:r>
          </a:p>
        </p:txBody>
      </p:sp>
      <p:sp>
        <p:nvSpPr>
          <p:cNvPr id="86" name="Rounded Rectangle 85"/>
          <p:cNvSpPr/>
          <p:nvPr/>
        </p:nvSpPr>
        <p:spPr>
          <a:xfrm>
            <a:off x="3512027" y="2264035"/>
            <a:ext cx="1754184" cy="686653"/>
          </a:xfrm>
          <a:prstGeom prst="roundRect">
            <a:avLst>
              <a:gd name="adj" fmla="val 10000"/>
            </a:avLst>
          </a:prstGeom>
          <a:solidFill>
            <a:srgbClr val="EEF1F9"/>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7" name="TextBox 86"/>
          <p:cNvSpPr txBox="1"/>
          <p:nvPr/>
        </p:nvSpPr>
        <p:spPr>
          <a:xfrm>
            <a:off x="3619317" y="2339473"/>
            <a:ext cx="1539605" cy="117348"/>
          </a:xfrm>
          <a:prstGeom prst="rect">
            <a:avLst/>
          </a:prstGeom>
          <a:noFill/>
        </p:spPr>
        <p:txBody>
          <a:bodyPr wrap="square" lIns="0" tIns="0" rIns="0" bIns="0" anchor="ctr">
            <a:spAutoFit/>
          </a:bodyPr>
          <a:lstStyle/>
          <a:p>
            <a:pPr marL="0" indent="0" algn="l">
              <a:buNone/>
            </a:pPr>
            <a:r>
              <a:rPr sz="700" b="1" i="0">
                <a:solidFill>
                  <a:srgbClr val="1E2F6E"/>
                </a:solidFill>
              </a:rPr>
              <a:t>Sign in faster next time</a:t>
            </a:r>
          </a:p>
        </p:txBody>
      </p:sp>
      <p:sp>
        <p:nvSpPr>
          <p:cNvPr id="88" name="TextBox 87"/>
          <p:cNvSpPr txBox="1"/>
          <p:nvPr/>
        </p:nvSpPr>
        <p:spPr>
          <a:xfrm>
            <a:off x="3619317" y="2467886"/>
            <a:ext cx="1539605" cy="214579"/>
          </a:xfrm>
          <a:prstGeom prst="rect">
            <a:avLst/>
          </a:prstGeom>
          <a:noFill/>
        </p:spPr>
        <p:txBody>
          <a:bodyPr wrap="square" lIns="0" tIns="0" rIns="0" bIns="0" anchor="t">
            <a:spAutoFit/>
          </a:bodyPr>
          <a:lstStyle/>
          <a:p>
            <a:pPr marL="0" indent="0" algn="l">
              <a:buNone/>
            </a:pPr>
            <a:r>
              <a:rPr sz="530" b="0" i="0">
                <a:solidFill>
                  <a:srgbClr val="555555"/>
                </a:solidFill>
              </a:rPr>
              <a:t>Use Face ID or your fingerprint instead of typing your PIN. You can turn this off any time in Settings.</a:t>
            </a:r>
          </a:p>
        </p:txBody>
      </p:sp>
      <p:sp>
        <p:nvSpPr>
          <p:cNvPr id="89" name="Rounded Rectangle 88"/>
          <p:cNvSpPr/>
          <p:nvPr/>
        </p:nvSpPr>
        <p:spPr>
          <a:xfrm>
            <a:off x="3619317" y="2714652"/>
            <a:ext cx="751027" cy="160934"/>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0" name="TextBox 89"/>
          <p:cNvSpPr txBox="1"/>
          <p:nvPr/>
        </p:nvSpPr>
        <p:spPr>
          <a:xfrm>
            <a:off x="3619317" y="2714652"/>
            <a:ext cx="751027" cy="160934"/>
          </a:xfrm>
          <a:prstGeom prst="rect">
            <a:avLst/>
          </a:prstGeom>
          <a:noFill/>
        </p:spPr>
        <p:txBody>
          <a:bodyPr wrap="square" lIns="0" tIns="0" rIns="0" bIns="0" anchor="ctr">
            <a:spAutoFit/>
          </a:bodyPr>
          <a:lstStyle/>
          <a:p>
            <a:pPr marL="0" indent="0" algn="ctr">
              <a:buNone/>
            </a:pPr>
            <a:r>
              <a:rPr sz="600" b="1" i="0">
                <a:solidFill>
                  <a:srgbClr val="FFFFFF"/>
                </a:solidFill>
              </a:rPr>
              <a:t>Enable</a:t>
            </a:r>
          </a:p>
        </p:txBody>
      </p:sp>
      <p:sp>
        <p:nvSpPr>
          <p:cNvPr id="91" name="Rounded Rectangle 90"/>
          <p:cNvSpPr/>
          <p:nvPr/>
        </p:nvSpPr>
        <p:spPr>
          <a:xfrm>
            <a:off x="4434718" y="2714652"/>
            <a:ext cx="724204" cy="160934"/>
          </a:xfrm>
          <a:prstGeom prst="roundRect">
            <a:avLst>
              <a:gd name="adj" fmla="val 2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2" name="TextBox 91"/>
          <p:cNvSpPr txBox="1"/>
          <p:nvPr/>
        </p:nvSpPr>
        <p:spPr>
          <a:xfrm>
            <a:off x="4434718" y="2714652"/>
            <a:ext cx="724204" cy="160934"/>
          </a:xfrm>
          <a:prstGeom prst="rect">
            <a:avLst/>
          </a:prstGeom>
          <a:noFill/>
        </p:spPr>
        <p:txBody>
          <a:bodyPr wrap="square" lIns="0" tIns="0" rIns="0" bIns="0" anchor="ctr">
            <a:spAutoFit/>
          </a:bodyPr>
          <a:lstStyle/>
          <a:p>
            <a:pPr marL="0" indent="0" algn="ctr">
              <a:buNone/>
            </a:pPr>
            <a:r>
              <a:rPr sz="600" b="1" i="0">
                <a:solidFill>
                  <a:srgbClr val="222222"/>
                </a:solidFill>
              </a:rPr>
              <a:t>Not now</a:t>
            </a:r>
          </a:p>
        </p:txBody>
      </p:sp>
      <p:sp>
        <p:nvSpPr>
          <p:cNvPr id="93" name="Rounded Rectangle 92"/>
          <p:cNvSpPr/>
          <p:nvPr/>
        </p:nvSpPr>
        <p:spPr>
          <a:xfrm>
            <a:off x="3512027" y="3036520"/>
            <a:ext cx="1754184" cy="514990"/>
          </a:xfrm>
          <a:prstGeom prst="roundRect">
            <a:avLst>
              <a:gd name="adj" fmla="val 10000"/>
            </a:avLst>
          </a:prstGeom>
          <a:solidFill>
            <a:srgbClr val="E8F5EE"/>
          </a:solidFill>
          <a:ln w="635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4" name="TextBox 93"/>
          <p:cNvSpPr txBox="1"/>
          <p:nvPr/>
        </p:nvSpPr>
        <p:spPr>
          <a:xfrm>
            <a:off x="3619317" y="3100894"/>
            <a:ext cx="1539605" cy="107289"/>
          </a:xfrm>
          <a:prstGeom prst="rect">
            <a:avLst/>
          </a:prstGeom>
          <a:noFill/>
        </p:spPr>
        <p:txBody>
          <a:bodyPr wrap="square" lIns="0" tIns="0" rIns="0" bIns="0" anchor="ctr">
            <a:spAutoFit/>
          </a:bodyPr>
          <a:lstStyle/>
          <a:p>
            <a:pPr marL="0" indent="0" algn="l">
              <a:buNone/>
            </a:pPr>
            <a:r>
              <a:rPr sz="640" b="1" i="0">
                <a:solidFill>
                  <a:srgbClr val="1B7F4B"/>
                </a:solidFill>
              </a:rPr>
              <a:t>Continuing where you left off</a:t>
            </a:r>
          </a:p>
        </p:txBody>
      </p:sp>
      <p:sp>
        <p:nvSpPr>
          <p:cNvPr id="95" name="TextBox 94"/>
          <p:cNvSpPr txBox="1"/>
          <p:nvPr/>
        </p:nvSpPr>
        <p:spPr>
          <a:xfrm>
            <a:off x="3619317" y="3218913"/>
            <a:ext cx="1539605" cy="268224"/>
          </a:xfrm>
          <a:prstGeom prst="rect">
            <a:avLst/>
          </a:prstGeom>
          <a:noFill/>
        </p:spPr>
        <p:txBody>
          <a:bodyPr wrap="square" lIns="0" tIns="0" rIns="0" bIns="0" anchor="t">
            <a:spAutoFit/>
          </a:bodyPr>
          <a:lstStyle/>
          <a:p>
            <a:pPr marL="0" indent="0" algn="l">
              <a:buNone/>
            </a:pPr>
            <a:r>
              <a:rPr sz="520" b="0" i="0">
                <a:solidFill>
                  <a:srgbClr val="14603A"/>
                </a:solidFill>
              </a:rPr>
              <a:t>•  Vinamilk fresh milk 1L added to your cart</a:t>
            </a:r>
          </a:p>
          <a:p>
            <a:pPr marL="0" indent="0" algn="l">
              <a:buNone/>
            </a:pPr>
            <a:r>
              <a:rPr sz="520" b="0" i="0">
                <a:solidFill>
                  <a:srgbClr val="14603A"/>
                </a:solidFill>
              </a:rPr>
              <a:t>•  The address you entered has been saved to your account</a:t>
            </a:r>
          </a:p>
        </p:txBody>
      </p:sp>
      <p:sp>
        <p:nvSpPr>
          <p:cNvPr id="96" name="Rounded Rectangle 95"/>
          <p:cNvSpPr/>
          <p:nvPr/>
        </p:nvSpPr>
        <p:spPr>
          <a:xfrm>
            <a:off x="3512027" y="3648071"/>
            <a:ext cx="1754184" cy="214579"/>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7" name="TextBox 96"/>
          <p:cNvSpPr txBox="1"/>
          <p:nvPr/>
        </p:nvSpPr>
        <p:spPr>
          <a:xfrm>
            <a:off x="3512027" y="3648071"/>
            <a:ext cx="1754184" cy="214579"/>
          </a:xfrm>
          <a:prstGeom prst="rect">
            <a:avLst/>
          </a:prstGeom>
          <a:noFill/>
        </p:spPr>
        <p:txBody>
          <a:bodyPr wrap="square" lIns="0" tIns="0" rIns="0" bIns="0" anchor="ctr">
            <a:spAutoFit/>
          </a:bodyPr>
          <a:lstStyle/>
          <a:p>
            <a:pPr marL="0" indent="0" algn="ctr">
              <a:buNone/>
            </a:pPr>
            <a:r>
              <a:rPr sz="700" b="1" i="0">
                <a:solidFill>
                  <a:srgbClr val="FFFFFF"/>
                </a:solidFill>
              </a:rPr>
              <a:t>Go to my cart</a:t>
            </a:r>
          </a:p>
        </p:txBody>
      </p:sp>
      <p:sp>
        <p:nvSpPr>
          <p:cNvPr id="98" name="Oval 97"/>
          <p:cNvSpPr/>
          <p:nvPr/>
        </p:nvSpPr>
        <p:spPr>
          <a:xfrm>
            <a:off x="3168701" y="2264035"/>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9" name="TextBox 98"/>
          <p:cNvSpPr txBox="1"/>
          <p:nvPr/>
        </p:nvSpPr>
        <p:spPr>
          <a:xfrm>
            <a:off x="3168701" y="2264035"/>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100" name="Oval 99"/>
          <p:cNvSpPr/>
          <p:nvPr/>
        </p:nvSpPr>
        <p:spPr>
          <a:xfrm>
            <a:off x="3168701" y="3036520"/>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1" name="TextBox 100"/>
          <p:cNvSpPr txBox="1"/>
          <p:nvPr/>
        </p:nvSpPr>
        <p:spPr>
          <a:xfrm>
            <a:off x="3168701" y="3036520"/>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graphicFrame>
        <p:nvGraphicFramePr>
          <p:cNvPr id="102" name="Table 101"/>
          <p:cNvGraphicFramePr>
            <a:graphicFrameLocks noGrp="1"/>
          </p:cNvGraphicFramePr>
          <p:nvPr/>
        </p:nvGraphicFramePr>
        <p:xfrm>
          <a:off x="7196328" y="886968"/>
          <a:ext cx="4718304" cy="336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Progress indicator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Signup is five steps — number, OTP, PIN, profile, done. Showing position reduces abandonment on the longest step.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Gender — pre-selected “Chị”</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 deliberate business rule, not a default oversight: the core customer base is women aged 30–45 (SU-05). The customer can change it in one tap. Raised as OQ-02 and resolved in favour of keeping the pre-selection.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Registered store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Pre-filled with the store selected at Onboarding, and changeable. This is the store used for membership and in-store benefits, and it is independent of the serving store chosen per order (SU-05).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Terms — mandatory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Unchecked by default and blocks account creation until ticked. Marketing consent below is separate, optional and unchecked (SU-05).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Biometric offer — optional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Presented after the account exists, never before (SU-07). Declining costs nothing: the PIN remains the primary method. One device holds one active biometric ticket at a time (NFR-02).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7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Resume confirmation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States exactly what the system did on the customer's behalf: the product that triggered the gate was added, and the address created while a Guest was synced to the new account (SU-08, BRL-03, BRL-07).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420000">
                <a:tc>
                  <a:txBody>
                    <a:bodyPr/>
                    <a:lstStyle/>
                    <a:p>
                      <a:pPr marL="0" indent="0" algn="ctr">
                        <a:buNone/>
                      </a:pPr>
                      <a:r>
                        <a:rPr sz="70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Create account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Creates the account and signs the customer in automatically — no separate login step (SU-06).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103" name="TextBox 102"/>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Open — OQ-07 and OQ-11: how the biometric ticket behaves when several accounts share one device, and when the customer moves to a new phone. Proposal: one active ticket per device, with an explicit warning before it is overwritten. Technical review pending.</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Login (LI)</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LI-01 … LI-04 · LI-06</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SCR-AUT-05</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Login — Authenticate</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51</a:t>
            </a:r>
          </a:p>
        </p:txBody>
      </p:sp>
      <p:sp>
        <p:nvSpPr>
          <p:cNvPr id="22" name="Rounded Rectangle 21"/>
          <p:cNvSpPr/>
          <p:nvPr/>
        </p:nvSpPr>
        <p:spPr>
          <a:xfrm>
            <a:off x="383683" y="852203"/>
            <a:ext cx="1792955" cy="3483985"/>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411480" y="880000"/>
            <a:ext cx="1737360" cy="3428390"/>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383683" y="4354719"/>
            <a:ext cx="1792955" cy="120456"/>
          </a:xfrm>
          <a:prstGeom prst="rect">
            <a:avLst/>
          </a:prstGeom>
          <a:noFill/>
        </p:spPr>
        <p:txBody>
          <a:bodyPr wrap="square" lIns="0" tIns="0" rIns="0" bIns="0" anchor="t">
            <a:spAutoFit/>
          </a:bodyPr>
          <a:lstStyle/>
          <a:p>
            <a:pPr marL="0" indent="0" algn="ctr">
              <a:buNone/>
            </a:pPr>
            <a:r>
              <a:rPr sz="750" b="1" i="0">
                <a:solidFill>
                  <a:srgbClr val="1E2F6E"/>
                </a:solidFill>
              </a:rPr>
              <a:t>(a)  Biometric — device has it enabled</a:t>
            </a:r>
          </a:p>
        </p:txBody>
      </p:sp>
      <p:sp>
        <p:nvSpPr>
          <p:cNvPr id="25" name="TextBox 24"/>
          <p:cNvSpPr txBox="1"/>
          <p:nvPr/>
        </p:nvSpPr>
        <p:spPr>
          <a:xfrm>
            <a:off x="476341" y="875596"/>
            <a:ext cx="277977" cy="92202"/>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1806000" y="879787"/>
            <a:ext cx="277977" cy="8382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411480" y="981925"/>
            <a:ext cx="1737360" cy="1853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467075" y="981925"/>
            <a:ext cx="83393" cy="185318"/>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29" name="TextBox 28"/>
          <p:cNvSpPr txBox="1"/>
          <p:nvPr/>
        </p:nvSpPr>
        <p:spPr>
          <a:xfrm>
            <a:off x="569000" y="981925"/>
            <a:ext cx="1274064" cy="185318"/>
          </a:xfrm>
          <a:prstGeom prst="rect">
            <a:avLst/>
          </a:prstGeom>
          <a:noFill/>
        </p:spPr>
        <p:txBody>
          <a:bodyPr wrap="square" lIns="0" tIns="0" rIns="0" bIns="0" anchor="ctr">
            <a:spAutoFit/>
          </a:bodyPr>
          <a:lstStyle/>
          <a:p>
            <a:pPr marL="0" indent="0" algn="l">
              <a:buNone/>
            </a:pPr>
            <a:r>
              <a:rPr sz="700" b="1" i="0">
                <a:solidFill>
                  <a:srgbClr val="1A1A1A"/>
                </a:solidFill>
              </a:rPr>
              <a:t>Sign in</a:t>
            </a:r>
          </a:p>
        </p:txBody>
      </p:sp>
      <p:sp>
        <p:nvSpPr>
          <p:cNvPr id="30" name="Rectangle 29"/>
          <p:cNvSpPr/>
          <p:nvPr/>
        </p:nvSpPr>
        <p:spPr>
          <a:xfrm>
            <a:off x="411480" y="1167243"/>
            <a:ext cx="1737360" cy="4632"/>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Rounded Rectangle 30"/>
          <p:cNvSpPr/>
          <p:nvPr/>
        </p:nvSpPr>
        <p:spPr>
          <a:xfrm>
            <a:off x="1092525" y="1296966"/>
            <a:ext cx="370636" cy="370636"/>
          </a:xfrm>
          <a:prstGeom prst="roundRect">
            <a:avLst>
              <a:gd name="adj" fmla="val 28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1092525" y="1296966"/>
            <a:ext cx="370636" cy="370636"/>
          </a:xfrm>
          <a:prstGeom prst="rect">
            <a:avLst/>
          </a:prstGeom>
          <a:noFill/>
        </p:spPr>
        <p:txBody>
          <a:bodyPr wrap="square" lIns="0" tIns="0" rIns="0" bIns="0" anchor="ctr">
            <a:spAutoFit/>
          </a:bodyPr>
          <a:lstStyle/>
          <a:p>
            <a:pPr marL="0" indent="0" algn="ctr">
              <a:buNone/>
            </a:pPr>
            <a:r>
              <a:rPr sz="1800" b="1" i="0">
                <a:solidFill>
                  <a:srgbClr val="FFFFFF"/>
                </a:solidFill>
              </a:rPr>
              <a:t>L</a:t>
            </a:r>
          </a:p>
        </p:txBody>
      </p:sp>
      <p:sp>
        <p:nvSpPr>
          <p:cNvPr id="33" name="TextBox 32"/>
          <p:cNvSpPr txBox="1"/>
          <p:nvPr/>
        </p:nvSpPr>
        <p:spPr>
          <a:xfrm>
            <a:off x="522671" y="1717255"/>
            <a:ext cx="1514977" cy="150876"/>
          </a:xfrm>
          <a:prstGeom prst="rect">
            <a:avLst/>
          </a:prstGeom>
          <a:noFill/>
        </p:spPr>
        <p:txBody>
          <a:bodyPr wrap="square" lIns="0" tIns="0" rIns="0" bIns="0" anchor="ctr">
            <a:spAutoFit/>
          </a:bodyPr>
          <a:lstStyle/>
          <a:p>
            <a:pPr marL="0" indent="0" algn="ctr">
              <a:buNone/>
            </a:pPr>
            <a:r>
              <a:rPr sz="900" b="1" i="0">
                <a:solidFill>
                  <a:srgbClr val="3A3A3A"/>
                </a:solidFill>
              </a:rPr>
              <a:t>Welcome back, Ngọc</a:t>
            </a:r>
          </a:p>
        </p:txBody>
      </p:sp>
      <p:sp>
        <p:nvSpPr>
          <p:cNvPr id="34" name="TextBox 33"/>
          <p:cNvSpPr txBox="1"/>
          <p:nvPr/>
        </p:nvSpPr>
        <p:spPr>
          <a:xfrm>
            <a:off x="522671" y="1862187"/>
            <a:ext cx="1514977" cy="148254"/>
          </a:xfrm>
          <a:prstGeom prst="rect">
            <a:avLst/>
          </a:prstGeom>
          <a:noFill/>
        </p:spPr>
        <p:txBody>
          <a:bodyPr wrap="square" lIns="0" tIns="0" rIns="0" bIns="0" anchor="t">
            <a:spAutoFit/>
          </a:bodyPr>
          <a:lstStyle/>
          <a:p>
            <a:pPr marL="0" indent="0" algn="ctr">
              <a:buNone/>
            </a:pPr>
            <a:r>
              <a:rPr sz="560" b="0" i="0">
                <a:solidFill>
                  <a:srgbClr val="888888"/>
                </a:solidFill>
              </a:rPr>
              <a:t>090 •••  •••  4567</a:t>
            </a:r>
          </a:p>
        </p:txBody>
      </p:sp>
      <p:sp>
        <p:nvSpPr>
          <p:cNvPr id="35" name="Rounded Rectangle 34"/>
          <p:cNvSpPr/>
          <p:nvPr/>
        </p:nvSpPr>
        <p:spPr>
          <a:xfrm>
            <a:off x="1046195" y="2075303"/>
            <a:ext cx="463296" cy="463296"/>
          </a:xfrm>
          <a:prstGeom prst="roundRect">
            <a:avLst>
              <a:gd name="adj" fmla="val 50000"/>
            </a:avLst>
          </a:prstGeom>
          <a:solidFill>
            <a:srgbClr val="EEF1F9"/>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TextBox 35"/>
          <p:cNvSpPr txBox="1"/>
          <p:nvPr/>
        </p:nvSpPr>
        <p:spPr>
          <a:xfrm>
            <a:off x="1046195" y="2075303"/>
            <a:ext cx="463296" cy="463296"/>
          </a:xfrm>
          <a:prstGeom prst="rect">
            <a:avLst/>
          </a:prstGeom>
          <a:noFill/>
        </p:spPr>
        <p:txBody>
          <a:bodyPr wrap="square" lIns="0" tIns="0" rIns="0" bIns="0" anchor="ctr">
            <a:spAutoFit/>
          </a:bodyPr>
          <a:lstStyle/>
          <a:p>
            <a:pPr marL="0" indent="0" algn="ctr">
              <a:buNone/>
            </a:pPr>
            <a:r>
              <a:rPr sz="2000" b="0" i="0">
                <a:solidFill>
                  <a:srgbClr val="1E2F6E"/>
                </a:solidFill>
              </a:rPr>
              <a:t>☺</a:t>
            </a:r>
          </a:p>
        </p:txBody>
      </p:sp>
      <p:sp>
        <p:nvSpPr>
          <p:cNvPr id="37" name="TextBox 36"/>
          <p:cNvSpPr txBox="1"/>
          <p:nvPr/>
        </p:nvSpPr>
        <p:spPr>
          <a:xfrm>
            <a:off x="476341" y="2608368"/>
            <a:ext cx="1607637" cy="110642"/>
          </a:xfrm>
          <a:prstGeom prst="rect">
            <a:avLst/>
          </a:prstGeom>
          <a:noFill/>
        </p:spPr>
        <p:txBody>
          <a:bodyPr wrap="square" lIns="0" tIns="0" rIns="0" bIns="0" anchor="ctr">
            <a:spAutoFit/>
          </a:bodyPr>
          <a:lstStyle/>
          <a:p>
            <a:pPr marL="0" indent="0" algn="ctr">
              <a:buNone/>
            </a:pPr>
            <a:r>
              <a:rPr sz="660" b="1" i="0">
                <a:solidFill>
                  <a:srgbClr val="3A3A3A"/>
                </a:solidFill>
              </a:rPr>
              <a:t>Look at your phone to sign in</a:t>
            </a:r>
          </a:p>
        </p:txBody>
      </p:sp>
      <p:sp>
        <p:nvSpPr>
          <p:cNvPr id="38" name="TextBox 37"/>
          <p:cNvSpPr txBox="1"/>
          <p:nvPr/>
        </p:nvSpPr>
        <p:spPr>
          <a:xfrm>
            <a:off x="476341" y="2747753"/>
            <a:ext cx="1607637" cy="100584"/>
          </a:xfrm>
          <a:prstGeom prst="rect">
            <a:avLst/>
          </a:prstGeom>
          <a:noFill/>
        </p:spPr>
        <p:txBody>
          <a:bodyPr wrap="square" lIns="0" tIns="0" rIns="0" bIns="0" anchor="ctr">
            <a:spAutoFit/>
          </a:bodyPr>
          <a:lstStyle/>
          <a:p>
            <a:pPr marL="0" indent="0" algn="ctr">
              <a:buNone/>
            </a:pPr>
            <a:r>
              <a:rPr sz="600" b="1" i="0">
                <a:solidFill>
                  <a:srgbClr val="C8102E"/>
                </a:solidFill>
              </a:rPr>
              <a:t>Use PIN instead</a:t>
            </a:r>
          </a:p>
        </p:txBody>
      </p:sp>
      <p:sp>
        <p:nvSpPr>
          <p:cNvPr id="39" name="TextBox 38"/>
          <p:cNvSpPr txBox="1"/>
          <p:nvPr/>
        </p:nvSpPr>
        <p:spPr>
          <a:xfrm>
            <a:off x="476341" y="2862297"/>
            <a:ext cx="1607637" cy="93878"/>
          </a:xfrm>
          <a:prstGeom prst="rect">
            <a:avLst/>
          </a:prstGeom>
          <a:noFill/>
        </p:spPr>
        <p:txBody>
          <a:bodyPr wrap="square" lIns="0" tIns="0" rIns="0" bIns="0" anchor="ctr">
            <a:spAutoFit/>
          </a:bodyPr>
          <a:lstStyle/>
          <a:p>
            <a:pPr marL="0" indent="0" algn="ctr">
              <a:buNone/>
            </a:pPr>
            <a:r>
              <a:rPr sz="560" b="0" i="0">
                <a:solidFill>
                  <a:srgbClr val="888888"/>
                </a:solidFill>
              </a:rPr>
              <a:t>Sign in with a code by Zalo or SMS</a:t>
            </a:r>
          </a:p>
        </p:txBody>
      </p:sp>
      <p:sp>
        <p:nvSpPr>
          <p:cNvPr id="40" name="Oval 39"/>
          <p:cNvSpPr/>
          <p:nvPr/>
        </p:nvSpPr>
        <p:spPr>
          <a:xfrm>
            <a:off x="253960" y="2075303"/>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TextBox 40"/>
          <p:cNvSpPr txBox="1"/>
          <p:nvPr/>
        </p:nvSpPr>
        <p:spPr>
          <a:xfrm>
            <a:off x="253960" y="2075303"/>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42" name="Oval 41"/>
          <p:cNvSpPr/>
          <p:nvPr/>
        </p:nvSpPr>
        <p:spPr>
          <a:xfrm>
            <a:off x="253960" y="2872172"/>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3" name="TextBox 42"/>
          <p:cNvSpPr txBox="1"/>
          <p:nvPr/>
        </p:nvSpPr>
        <p:spPr>
          <a:xfrm>
            <a:off x="253960" y="2872172"/>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44" name="Rounded Rectangle 43"/>
          <p:cNvSpPr/>
          <p:nvPr/>
        </p:nvSpPr>
        <p:spPr>
          <a:xfrm>
            <a:off x="2523883" y="852203"/>
            <a:ext cx="1792955" cy="3483985"/>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Rectangle 44"/>
          <p:cNvSpPr/>
          <p:nvPr/>
        </p:nvSpPr>
        <p:spPr>
          <a:xfrm>
            <a:off x="2551680" y="880000"/>
            <a:ext cx="1737360" cy="3428390"/>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TextBox 45"/>
          <p:cNvSpPr txBox="1"/>
          <p:nvPr/>
        </p:nvSpPr>
        <p:spPr>
          <a:xfrm>
            <a:off x="2523883" y="4354719"/>
            <a:ext cx="1792955" cy="120456"/>
          </a:xfrm>
          <a:prstGeom prst="rect">
            <a:avLst/>
          </a:prstGeom>
          <a:noFill/>
        </p:spPr>
        <p:txBody>
          <a:bodyPr wrap="square" lIns="0" tIns="0" rIns="0" bIns="0" anchor="t">
            <a:spAutoFit/>
          </a:bodyPr>
          <a:lstStyle/>
          <a:p>
            <a:pPr marL="0" indent="0" algn="ctr">
              <a:buNone/>
            </a:pPr>
            <a:r>
              <a:rPr sz="750" b="1" i="0">
                <a:solidFill>
                  <a:srgbClr val="1E2F6E"/>
                </a:solidFill>
              </a:rPr>
              <a:t>(b)  PIN — fallback</a:t>
            </a:r>
          </a:p>
        </p:txBody>
      </p:sp>
      <p:sp>
        <p:nvSpPr>
          <p:cNvPr id="47" name="TextBox 46"/>
          <p:cNvSpPr txBox="1"/>
          <p:nvPr/>
        </p:nvSpPr>
        <p:spPr>
          <a:xfrm>
            <a:off x="2616541" y="875596"/>
            <a:ext cx="277977" cy="92202"/>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48" name="TextBox 47"/>
          <p:cNvSpPr txBox="1"/>
          <p:nvPr/>
        </p:nvSpPr>
        <p:spPr>
          <a:xfrm>
            <a:off x="3946200" y="879787"/>
            <a:ext cx="277977" cy="8382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49" name="Rectangle 48"/>
          <p:cNvSpPr/>
          <p:nvPr/>
        </p:nvSpPr>
        <p:spPr>
          <a:xfrm>
            <a:off x="2551680" y="981925"/>
            <a:ext cx="1737360" cy="1853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TextBox 49"/>
          <p:cNvSpPr txBox="1"/>
          <p:nvPr/>
        </p:nvSpPr>
        <p:spPr>
          <a:xfrm>
            <a:off x="2607275" y="981925"/>
            <a:ext cx="83393" cy="185318"/>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51" name="TextBox 50"/>
          <p:cNvSpPr txBox="1"/>
          <p:nvPr/>
        </p:nvSpPr>
        <p:spPr>
          <a:xfrm>
            <a:off x="2709200" y="981925"/>
            <a:ext cx="1274064" cy="185318"/>
          </a:xfrm>
          <a:prstGeom prst="rect">
            <a:avLst/>
          </a:prstGeom>
          <a:noFill/>
        </p:spPr>
        <p:txBody>
          <a:bodyPr wrap="square" lIns="0" tIns="0" rIns="0" bIns="0" anchor="ctr">
            <a:spAutoFit/>
          </a:bodyPr>
          <a:lstStyle/>
          <a:p>
            <a:pPr marL="0" indent="0" algn="l">
              <a:buNone/>
            </a:pPr>
            <a:r>
              <a:rPr sz="700" b="1" i="0">
                <a:solidFill>
                  <a:srgbClr val="1A1A1A"/>
                </a:solidFill>
              </a:rPr>
              <a:t>Sign in</a:t>
            </a:r>
          </a:p>
        </p:txBody>
      </p:sp>
      <p:sp>
        <p:nvSpPr>
          <p:cNvPr id="52" name="Rectangle 51"/>
          <p:cNvSpPr/>
          <p:nvPr/>
        </p:nvSpPr>
        <p:spPr>
          <a:xfrm>
            <a:off x="2551680" y="1167243"/>
            <a:ext cx="1737360" cy="4632"/>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Rounded Rectangle 52"/>
          <p:cNvSpPr/>
          <p:nvPr/>
        </p:nvSpPr>
        <p:spPr>
          <a:xfrm>
            <a:off x="3232725" y="1296966"/>
            <a:ext cx="370636" cy="370636"/>
          </a:xfrm>
          <a:prstGeom prst="roundRect">
            <a:avLst>
              <a:gd name="adj" fmla="val 28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4" name="TextBox 53"/>
          <p:cNvSpPr txBox="1"/>
          <p:nvPr/>
        </p:nvSpPr>
        <p:spPr>
          <a:xfrm>
            <a:off x="3232725" y="1296966"/>
            <a:ext cx="370636" cy="370636"/>
          </a:xfrm>
          <a:prstGeom prst="rect">
            <a:avLst/>
          </a:prstGeom>
          <a:noFill/>
        </p:spPr>
        <p:txBody>
          <a:bodyPr wrap="square" lIns="0" tIns="0" rIns="0" bIns="0" anchor="ctr">
            <a:spAutoFit/>
          </a:bodyPr>
          <a:lstStyle/>
          <a:p>
            <a:pPr marL="0" indent="0" algn="ctr">
              <a:buNone/>
            </a:pPr>
            <a:r>
              <a:rPr sz="1800" b="1" i="0">
                <a:solidFill>
                  <a:srgbClr val="FFFFFF"/>
                </a:solidFill>
              </a:rPr>
              <a:t>L</a:t>
            </a:r>
          </a:p>
        </p:txBody>
      </p:sp>
      <p:sp>
        <p:nvSpPr>
          <p:cNvPr id="55" name="TextBox 54"/>
          <p:cNvSpPr txBox="1"/>
          <p:nvPr/>
        </p:nvSpPr>
        <p:spPr>
          <a:xfrm>
            <a:off x="2662871" y="1717255"/>
            <a:ext cx="1514977" cy="150876"/>
          </a:xfrm>
          <a:prstGeom prst="rect">
            <a:avLst/>
          </a:prstGeom>
          <a:noFill/>
        </p:spPr>
        <p:txBody>
          <a:bodyPr wrap="square" lIns="0" tIns="0" rIns="0" bIns="0" anchor="ctr">
            <a:spAutoFit/>
          </a:bodyPr>
          <a:lstStyle/>
          <a:p>
            <a:pPr marL="0" indent="0" algn="ctr">
              <a:buNone/>
            </a:pPr>
            <a:r>
              <a:rPr sz="900" b="1" i="0">
                <a:solidFill>
                  <a:srgbClr val="3A3A3A"/>
                </a:solidFill>
              </a:rPr>
              <a:t>Enter your PIN</a:t>
            </a:r>
          </a:p>
        </p:txBody>
      </p:sp>
      <p:sp>
        <p:nvSpPr>
          <p:cNvPr id="56" name="TextBox 55"/>
          <p:cNvSpPr txBox="1"/>
          <p:nvPr/>
        </p:nvSpPr>
        <p:spPr>
          <a:xfrm>
            <a:off x="2662871" y="1862187"/>
            <a:ext cx="1514977" cy="148254"/>
          </a:xfrm>
          <a:prstGeom prst="rect">
            <a:avLst/>
          </a:prstGeom>
          <a:noFill/>
        </p:spPr>
        <p:txBody>
          <a:bodyPr wrap="square" lIns="0" tIns="0" rIns="0" bIns="0" anchor="t">
            <a:spAutoFit/>
          </a:bodyPr>
          <a:lstStyle/>
          <a:p>
            <a:pPr marL="0" indent="0" algn="ctr">
              <a:buNone/>
            </a:pPr>
            <a:r>
              <a:rPr sz="560" b="0" i="0">
                <a:solidFill>
                  <a:srgbClr val="888888"/>
                </a:solidFill>
              </a:rPr>
              <a:t>090 •••  •••  4567</a:t>
            </a:r>
          </a:p>
        </p:txBody>
      </p:sp>
      <p:sp>
        <p:nvSpPr>
          <p:cNvPr id="57" name="Rounded Rectangle 56"/>
          <p:cNvSpPr/>
          <p:nvPr/>
        </p:nvSpPr>
        <p:spPr>
          <a:xfrm>
            <a:off x="3133116" y="2075303"/>
            <a:ext cx="64861" cy="64861"/>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8" name="Rounded Rectangle 57"/>
          <p:cNvSpPr/>
          <p:nvPr/>
        </p:nvSpPr>
        <p:spPr>
          <a:xfrm>
            <a:off x="3235041" y="2075303"/>
            <a:ext cx="64861" cy="64861"/>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9" name="Rounded Rectangle 58"/>
          <p:cNvSpPr/>
          <p:nvPr/>
        </p:nvSpPr>
        <p:spPr>
          <a:xfrm>
            <a:off x="3336966" y="2075303"/>
            <a:ext cx="64861" cy="64861"/>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0" name="Rounded Rectangle 59"/>
          <p:cNvSpPr/>
          <p:nvPr/>
        </p:nvSpPr>
        <p:spPr>
          <a:xfrm>
            <a:off x="3438891" y="2075303"/>
            <a:ext cx="64861" cy="64861"/>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1" name="Rounded Rectangle 60"/>
          <p:cNvSpPr/>
          <p:nvPr/>
        </p:nvSpPr>
        <p:spPr>
          <a:xfrm>
            <a:off x="3540816" y="2075303"/>
            <a:ext cx="64861" cy="64861"/>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2" name="Rounded Rectangle 61"/>
          <p:cNvSpPr/>
          <p:nvPr/>
        </p:nvSpPr>
        <p:spPr>
          <a:xfrm>
            <a:off x="3642742" y="2075303"/>
            <a:ext cx="64861" cy="64861"/>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3" name="TextBox 62"/>
          <p:cNvSpPr txBox="1"/>
          <p:nvPr/>
        </p:nvSpPr>
        <p:spPr>
          <a:xfrm>
            <a:off x="2616541" y="2173266"/>
            <a:ext cx="1607637" cy="100584"/>
          </a:xfrm>
          <a:prstGeom prst="rect">
            <a:avLst/>
          </a:prstGeom>
          <a:noFill/>
        </p:spPr>
        <p:txBody>
          <a:bodyPr wrap="square" lIns="0" tIns="0" rIns="0" bIns="0" anchor="ctr">
            <a:spAutoFit/>
          </a:bodyPr>
          <a:lstStyle/>
          <a:p>
            <a:pPr marL="0" indent="0" algn="ctr">
              <a:buNone/>
            </a:pPr>
            <a:r>
              <a:rPr sz="600" b="1" i="0">
                <a:solidFill>
                  <a:srgbClr val="C8102E"/>
                </a:solidFill>
              </a:rPr>
              <a:t>Forgot your PIN?</a:t>
            </a:r>
          </a:p>
        </p:txBody>
      </p:sp>
      <p:sp>
        <p:nvSpPr>
          <p:cNvPr id="64" name="Rounded Rectangle 63"/>
          <p:cNvSpPr/>
          <p:nvPr/>
        </p:nvSpPr>
        <p:spPr>
          <a:xfrm>
            <a:off x="2690668" y="2344015"/>
            <a:ext cx="440131" cy="222382"/>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5" name="TextBox 64"/>
          <p:cNvSpPr txBox="1"/>
          <p:nvPr/>
        </p:nvSpPr>
        <p:spPr>
          <a:xfrm>
            <a:off x="2690668" y="2344015"/>
            <a:ext cx="440131" cy="222382"/>
          </a:xfrm>
          <a:prstGeom prst="rect">
            <a:avLst/>
          </a:prstGeom>
          <a:noFill/>
        </p:spPr>
        <p:txBody>
          <a:bodyPr wrap="square" lIns="0" tIns="0" rIns="0" bIns="0" anchor="ctr">
            <a:spAutoFit/>
          </a:bodyPr>
          <a:lstStyle/>
          <a:p>
            <a:pPr marL="0" indent="0" algn="ctr">
              <a:buNone/>
            </a:pPr>
            <a:r>
              <a:rPr sz="900" b="1" i="0">
                <a:solidFill>
                  <a:srgbClr val="3A3A3A"/>
                </a:solidFill>
              </a:rPr>
              <a:t>1</a:t>
            </a:r>
          </a:p>
        </p:txBody>
      </p:sp>
      <p:sp>
        <p:nvSpPr>
          <p:cNvPr id="66" name="Rounded Rectangle 65"/>
          <p:cNvSpPr/>
          <p:nvPr/>
        </p:nvSpPr>
        <p:spPr>
          <a:xfrm>
            <a:off x="3177129" y="2344015"/>
            <a:ext cx="440131" cy="222382"/>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7" name="TextBox 66"/>
          <p:cNvSpPr txBox="1"/>
          <p:nvPr/>
        </p:nvSpPr>
        <p:spPr>
          <a:xfrm>
            <a:off x="3177129" y="2344015"/>
            <a:ext cx="440131" cy="222382"/>
          </a:xfrm>
          <a:prstGeom prst="rect">
            <a:avLst/>
          </a:prstGeom>
          <a:noFill/>
        </p:spPr>
        <p:txBody>
          <a:bodyPr wrap="square" lIns="0" tIns="0" rIns="0" bIns="0" anchor="ctr">
            <a:spAutoFit/>
          </a:bodyPr>
          <a:lstStyle/>
          <a:p>
            <a:pPr marL="0" indent="0" algn="ctr">
              <a:buNone/>
            </a:pPr>
            <a:r>
              <a:rPr sz="900" b="1" i="0">
                <a:solidFill>
                  <a:srgbClr val="3A3A3A"/>
                </a:solidFill>
              </a:rPr>
              <a:t>2</a:t>
            </a:r>
          </a:p>
        </p:txBody>
      </p:sp>
      <p:sp>
        <p:nvSpPr>
          <p:cNvPr id="68" name="Rounded Rectangle 67"/>
          <p:cNvSpPr/>
          <p:nvPr/>
        </p:nvSpPr>
        <p:spPr>
          <a:xfrm>
            <a:off x="3663590" y="2344015"/>
            <a:ext cx="440131" cy="222382"/>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9" name="TextBox 68"/>
          <p:cNvSpPr txBox="1"/>
          <p:nvPr/>
        </p:nvSpPr>
        <p:spPr>
          <a:xfrm>
            <a:off x="3663590" y="2344015"/>
            <a:ext cx="440131" cy="222382"/>
          </a:xfrm>
          <a:prstGeom prst="rect">
            <a:avLst/>
          </a:prstGeom>
          <a:noFill/>
        </p:spPr>
        <p:txBody>
          <a:bodyPr wrap="square" lIns="0" tIns="0" rIns="0" bIns="0" anchor="ctr">
            <a:spAutoFit/>
          </a:bodyPr>
          <a:lstStyle/>
          <a:p>
            <a:pPr marL="0" indent="0" algn="ctr">
              <a:buNone/>
            </a:pPr>
            <a:r>
              <a:rPr sz="900" b="1" i="0">
                <a:solidFill>
                  <a:srgbClr val="3A3A3A"/>
                </a:solidFill>
              </a:rPr>
              <a:t>3</a:t>
            </a:r>
          </a:p>
        </p:txBody>
      </p:sp>
      <p:sp>
        <p:nvSpPr>
          <p:cNvPr id="70" name="Rounded Rectangle 69"/>
          <p:cNvSpPr/>
          <p:nvPr/>
        </p:nvSpPr>
        <p:spPr>
          <a:xfrm>
            <a:off x="2690668" y="2612727"/>
            <a:ext cx="440131" cy="222382"/>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1" name="TextBox 70"/>
          <p:cNvSpPr txBox="1"/>
          <p:nvPr/>
        </p:nvSpPr>
        <p:spPr>
          <a:xfrm>
            <a:off x="2690668" y="2612727"/>
            <a:ext cx="440131" cy="222382"/>
          </a:xfrm>
          <a:prstGeom prst="rect">
            <a:avLst/>
          </a:prstGeom>
          <a:noFill/>
        </p:spPr>
        <p:txBody>
          <a:bodyPr wrap="square" lIns="0" tIns="0" rIns="0" bIns="0" anchor="ctr">
            <a:spAutoFit/>
          </a:bodyPr>
          <a:lstStyle/>
          <a:p>
            <a:pPr marL="0" indent="0" algn="ctr">
              <a:buNone/>
            </a:pPr>
            <a:r>
              <a:rPr sz="900" b="1" i="0">
                <a:solidFill>
                  <a:srgbClr val="3A3A3A"/>
                </a:solidFill>
              </a:rPr>
              <a:t>4</a:t>
            </a:r>
          </a:p>
        </p:txBody>
      </p:sp>
      <p:sp>
        <p:nvSpPr>
          <p:cNvPr id="72" name="Rounded Rectangle 71"/>
          <p:cNvSpPr/>
          <p:nvPr/>
        </p:nvSpPr>
        <p:spPr>
          <a:xfrm>
            <a:off x="3177129" y="2612727"/>
            <a:ext cx="440131" cy="222382"/>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3" name="TextBox 72"/>
          <p:cNvSpPr txBox="1"/>
          <p:nvPr/>
        </p:nvSpPr>
        <p:spPr>
          <a:xfrm>
            <a:off x="3177129" y="2612727"/>
            <a:ext cx="440131" cy="222382"/>
          </a:xfrm>
          <a:prstGeom prst="rect">
            <a:avLst/>
          </a:prstGeom>
          <a:noFill/>
        </p:spPr>
        <p:txBody>
          <a:bodyPr wrap="square" lIns="0" tIns="0" rIns="0" bIns="0" anchor="ctr">
            <a:spAutoFit/>
          </a:bodyPr>
          <a:lstStyle/>
          <a:p>
            <a:pPr marL="0" indent="0" algn="ctr">
              <a:buNone/>
            </a:pPr>
            <a:r>
              <a:rPr sz="900" b="1" i="0">
                <a:solidFill>
                  <a:srgbClr val="3A3A3A"/>
                </a:solidFill>
              </a:rPr>
              <a:t>5</a:t>
            </a:r>
          </a:p>
        </p:txBody>
      </p:sp>
      <p:sp>
        <p:nvSpPr>
          <p:cNvPr id="74" name="Rounded Rectangle 73"/>
          <p:cNvSpPr/>
          <p:nvPr/>
        </p:nvSpPr>
        <p:spPr>
          <a:xfrm>
            <a:off x="3663590" y="2612727"/>
            <a:ext cx="440131" cy="222382"/>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5" name="TextBox 74"/>
          <p:cNvSpPr txBox="1"/>
          <p:nvPr/>
        </p:nvSpPr>
        <p:spPr>
          <a:xfrm>
            <a:off x="3663590" y="2612727"/>
            <a:ext cx="440131" cy="222382"/>
          </a:xfrm>
          <a:prstGeom prst="rect">
            <a:avLst/>
          </a:prstGeom>
          <a:noFill/>
        </p:spPr>
        <p:txBody>
          <a:bodyPr wrap="square" lIns="0" tIns="0" rIns="0" bIns="0" anchor="ctr">
            <a:spAutoFit/>
          </a:bodyPr>
          <a:lstStyle/>
          <a:p>
            <a:pPr marL="0" indent="0" algn="ctr">
              <a:buNone/>
            </a:pPr>
            <a:r>
              <a:rPr sz="900" b="1" i="0">
                <a:solidFill>
                  <a:srgbClr val="3A3A3A"/>
                </a:solidFill>
              </a:rPr>
              <a:t>6</a:t>
            </a:r>
          </a:p>
        </p:txBody>
      </p:sp>
      <p:sp>
        <p:nvSpPr>
          <p:cNvPr id="76" name="Rounded Rectangle 75"/>
          <p:cNvSpPr/>
          <p:nvPr/>
        </p:nvSpPr>
        <p:spPr>
          <a:xfrm>
            <a:off x="2690668" y="2881438"/>
            <a:ext cx="440131" cy="222382"/>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7" name="TextBox 76"/>
          <p:cNvSpPr txBox="1"/>
          <p:nvPr/>
        </p:nvSpPr>
        <p:spPr>
          <a:xfrm>
            <a:off x="2690668" y="2881438"/>
            <a:ext cx="440131" cy="222382"/>
          </a:xfrm>
          <a:prstGeom prst="rect">
            <a:avLst/>
          </a:prstGeom>
          <a:noFill/>
        </p:spPr>
        <p:txBody>
          <a:bodyPr wrap="square" lIns="0" tIns="0" rIns="0" bIns="0" anchor="ctr">
            <a:spAutoFit/>
          </a:bodyPr>
          <a:lstStyle/>
          <a:p>
            <a:pPr marL="0" indent="0" algn="ctr">
              <a:buNone/>
            </a:pPr>
            <a:r>
              <a:rPr sz="900" b="1" i="0">
                <a:solidFill>
                  <a:srgbClr val="3A3A3A"/>
                </a:solidFill>
              </a:rPr>
              <a:t>7</a:t>
            </a:r>
          </a:p>
        </p:txBody>
      </p:sp>
      <p:sp>
        <p:nvSpPr>
          <p:cNvPr id="78" name="Rounded Rectangle 77"/>
          <p:cNvSpPr/>
          <p:nvPr/>
        </p:nvSpPr>
        <p:spPr>
          <a:xfrm>
            <a:off x="3177129" y="2881438"/>
            <a:ext cx="440131" cy="222382"/>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TextBox 78"/>
          <p:cNvSpPr txBox="1"/>
          <p:nvPr/>
        </p:nvSpPr>
        <p:spPr>
          <a:xfrm>
            <a:off x="3177129" y="2881438"/>
            <a:ext cx="440131" cy="222382"/>
          </a:xfrm>
          <a:prstGeom prst="rect">
            <a:avLst/>
          </a:prstGeom>
          <a:noFill/>
        </p:spPr>
        <p:txBody>
          <a:bodyPr wrap="square" lIns="0" tIns="0" rIns="0" bIns="0" anchor="ctr">
            <a:spAutoFit/>
          </a:bodyPr>
          <a:lstStyle/>
          <a:p>
            <a:pPr marL="0" indent="0" algn="ctr">
              <a:buNone/>
            </a:pPr>
            <a:r>
              <a:rPr sz="900" b="1" i="0">
                <a:solidFill>
                  <a:srgbClr val="3A3A3A"/>
                </a:solidFill>
              </a:rPr>
              <a:t>8</a:t>
            </a:r>
          </a:p>
        </p:txBody>
      </p:sp>
      <p:sp>
        <p:nvSpPr>
          <p:cNvPr id="80" name="Rounded Rectangle 79"/>
          <p:cNvSpPr/>
          <p:nvPr/>
        </p:nvSpPr>
        <p:spPr>
          <a:xfrm>
            <a:off x="3663590" y="2881438"/>
            <a:ext cx="440131" cy="222382"/>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1" name="TextBox 80"/>
          <p:cNvSpPr txBox="1"/>
          <p:nvPr/>
        </p:nvSpPr>
        <p:spPr>
          <a:xfrm>
            <a:off x="3663590" y="2881438"/>
            <a:ext cx="440131" cy="222382"/>
          </a:xfrm>
          <a:prstGeom prst="rect">
            <a:avLst/>
          </a:prstGeom>
          <a:noFill/>
        </p:spPr>
        <p:txBody>
          <a:bodyPr wrap="square" lIns="0" tIns="0" rIns="0" bIns="0" anchor="ctr">
            <a:spAutoFit/>
          </a:bodyPr>
          <a:lstStyle/>
          <a:p>
            <a:pPr marL="0" indent="0" algn="ctr">
              <a:buNone/>
            </a:pPr>
            <a:r>
              <a:rPr sz="900" b="1" i="0">
                <a:solidFill>
                  <a:srgbClr val="3A3A3A"/>
                </a:solidFill>
              </a:rPr>
              <a:t>9</a:t>
            </a:r>
          </a:p>
        </p:txBody>
      </p:sp>
      <p:sp>
        <p:nvSpPr>
          <p:cNvPr id="82" name="Rounded Rectangle 81"/>
          <p:cNvSpPr/>
          <p:nvPr/>
        </p:nvSpPr>
        <p:spPr>
          <a:xfrm>
            <a:off x="3177129" y="3150150"/>
            <a:ext cx="440131" cy="222382"/>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TextBox 82"/>
          <p:cNvSpPr txBox="1"/>
          <p:nvPr/>
        </p:nvSpPr>
        <p:spPr>
          <a:xfrm>
            <a:off x="3177129" y="3150150"/>
            <a:ext cx="440131" cy="222382"/>
          </a:xfrm>
          <a:prstGeom prst="rect">
            <a:avLst/>
          </a:prstGeom>
          <a:noFill/>
        </p:spPr>
        <p:txBody>
          <a:bodyPr wrap="square" lIns="0" tIns="0" rIns="0" bIns="0" anchor="ctr">
            <a:spAutoFit/>
          </a:bodyPr>
          <a:lstStyle/>
          <a:p>
            <a:pPr marL="0" indent="0" algn="ctr">
              <a:buNone/>
            </a:pPr>
            <a:r>
              <a:rPr sz="900" b="1" i="0">
                <a:solidFill>
                  <a:srgbClr val="3A3A3A"/>
                </a:solidFill>
              </a:rPr>
              <a:t>0</a:t>
            </a:r>
          </a:p>
        </p:txBody>
      </p:sp>
      <p:sp>
        <p:nvSpPr>
          <p:cNvPr id="84" name="Rounded Rectangle 83"/>
          <p:cNvSpPr/>
          <p:nvPr/>
        </p:nvSpPr>
        <p:spPr>
          <a:xfrm>
            <a:off x="3663590" y="3150150"/>
            <a:ext cx="440131" cy="222382"/>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5" name="TextBox 84"/>
          <p:cNvSpPr txBox="1"/>
          <p:nvPr/>
        </p:nvSpPr>
        <p:spPr>
          <a:xfrm>
            <a:off x="3663590" y="3150150"/>
            <a:ext cx="440131" cy="222382"/>
          </a:xfrm>
          <a:prstGeom prst="rect">
            <a:avLst/>
          </a:prstGeom>
          <a:noFill/>
        </p:spPr>
        <p:txBody>
          <a:bodyPr wrap="square" lIns="0" tIns="0" rIns="0" bIns="0" anchor="ctr">
            <a:spAutoFit/>
          </a:bodyPr>
          <a:lstStyle/>
          <a:p>
            <a:pPr marL="0" indent="0" algn="ctr">
              <a:buNone/>
            </a:pPr>
            <a:r>
              <a:rPr sz="900" b="1" i="0">
                <a:solidFill>
                  <a:srgbClr val="3A3A3A"/>
                </a:solidFill>
              </a:rPr>
              <a:t>⌫</a:t>
            </a:r>
          </a:p>
        </p:txBody>
      </p:sp>
      <p:sp>
        <p:nvSpPr>
          <p:cNvPr id="86" name="Oval 85"/>
          <p:cNvSpPr/>
          <p:nvPr/>
        </p:nvSpPr>
        <p:spPr>
          <a:xfrm>
            <a:off x="2394160" y="2075303"/>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7" name="TextBox 86"/>
          <p:cNvSpPr txBox="1"/>
          <p:nvPr/>
        </p:nvSpPr>
        <p:spPr>
          <a:xfrm>
            <a:off x="2394160" y="2075303"/>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88" name="Oval 87"/>
          <p:cNvSpPr/>
          <p:nvPr/>
        </p:nvSpPr>
        <p:spPr>
          <a:xfrm>
            <a:off x="2394160" y="2269888"/>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9" name="TextBox 88"/>
          <p:cNvSpPr txBox="1"/>
          <p:nvPr/>
        </p:nvSpPr>
        <p:spPr>
          <a:xfrm>
            <a:off x="2394160" y="2269888"/>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90" name="Rounded Rectangle 89"/>
          <p:cNvSpPr/>
          <p:nvPr/>
        </p:nvSpPr>
        <p:spPr>
          <a:xfrm>
            <a:off x="4664083" y="852203"/>
            <a:ext cx="1792955" cy="3483985"/>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1" name="Rectangle 90"/>
          <p:cNvSpPr/>
          <p:nvPr/>
        </p:nvSpPr>
        <p:spPr>
          <a:xfrm>
            <a:off x="4691880" y="880000"/>
            <a:ext cx="1737360" cy="3428390"/>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2" name="TextBox 91"/>
          <p:cNvSpPr txBox="1"/>
          <p:nvPr/>
        </p:nvSpPr>
        <p:spPr>
          <a:xfrm>
            <a:off x="4664083" y="4354719"/>
            <a:ext cx="1792955" cy="120456"/>
          </a:xfrm>
          <a:prstGeom prst="rect">
            <a:avLst/>
          </a:prstGeom>
          <a:noFill/>
        </p:spPr>
        <p:txBody>
          <a:bodyPr wrap="square" lIns="0" tIns="0" rIns="0" bIns="0" anchor="t">
            <a:spAutoFit/>
          </a:bodyPr>
          <a:lstStyle/>
          <a:p>
            <a:pPr marL="0" indent="0" algn="ctr">
              <a:buNone/>
            </a:pPr>
            <a:r>
              <a:rPr sz="750" b="1" i="0">
                <a:solidFill>
                  <a:srgbClr val="1E2F6E"/>
                </a:solidFill>
              </a:rPr>
              <a:t>Deviation  ·  number not registered</a:t>
            </a:r>
          </a:p>
        </p:txBody>
      </p:sp>
      <p:sp>
        <p:nvSpPr>
          <p:cNvPr id="93" name="TextBox 92"/>
          <p:cNvSpPr txBox="1"/>
          <p:nvPr/>
        </p:nvSpPr>
        <p:spPr>
          <a:xfrm>
            <a:off x="4756741" y="875596"/>
            <a:ext cx="277977" cy="92202"/>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94" name="TextBox 93"/>
          <p:cNvSpPr txBox="1"/>
          <p:nvPr/>
        </p:nvSpPr>
        <p:spPr>
          <a:xfrm>
            <a:off x="6086400" y="879787"/>
            <a:ext cx="277977" cy="8382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95" name="Rectangle 94"/>
          <p:cNvSpPr/>
          <p:nvPr/>
        </p:nvSpPr>
        <p:spPr>
          <a:xfrm>
            <a:off x="4691880" y="981925"/>
            <a:ext cx="1737360" cy="1853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6" name="TextBox 95"/>
          <p:cNvSpPr txBox="1"/>
          <p:nvPr/>
        </p:nvSpPr>
        <p:spPr>
          <a:xfrm>
            <a:off x="4747475" y="981925"/>
            <a:ext cx="83393" cy="185318"/>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97" name="TextBox 96"/>
          <p:cNvSpPr txBox="1"/>
          <p:nvPr/>
        </p:nvSpPr>
        <p:spPr>
          <a:xfrm>
            <a:off x="4849400" y="981925"/>
            <a:ext cx="1274064" cy="185318"/>
          </a:xfrm>
          <a:prstGeom prst="rect">
            <a:avLst/>
          </a:prstGeom>
          <a:noFill/>
        </p:spPr>
        <p:txBody>
          <a:bodyPr wrap="square" lIns="0" tIns="0" rIns="0" bIns="0" anchor="ctr">
            <a:spAutoFit/>
          </a:bodyPr>
          <a:lstStyle/>
          <a:p>
            <a:pPr marL="0" indent="0" algn="l">
              <a:buNone/>
            </a:pPr>
            <a:r>
              <a:rPr sz="700" b="1" i="0">
                <a:solidFill>
                  <a:srgbClr val="1A1A1A"/>
                </a:solidFill>
              </a:rPr>
              <a:t>Sign in</a:t>
            </a:r>
          </a:p>
        </p:txBody>
      </p:sp>
      <p:sp>
        <p:nvSpPr>
          <p:cNvPr id="98" name="Rectangle 97"/>
          <p:cNvSpPr/>
          <p:nvPr/>
        </p:nvSpPr>
        <p:spPr>
          <a:xfrm>
            <a:off x="4691880" y="1167243"/>
            <a:ext cx="1737360" cy="4632"/>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9" name="Rounded Rectangle 98"/>
          <p:cNvSpPr/>
          <p:nvPr/>
        </p:nvSpPr>
        <p:spPr>
          <a:xfrm>
            <a:off x="5372925" y="1296966"/>
            <a:ext cx="370636" cy="370636"/>
          </a:xfrm>
          <a:prstGeom prst="roundRect">
            <a:avLst>
              <a:gd name="adj" fmla="val 28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0" name="TextBox 99"/>
          <p:cNvSpPr txBox="1"/>
          <p:nvPr/>
        </p:nvSpPr>
        <p:spPr>
          <a:xfrm>
            <a:off x="5372925" y="1296966"/>
            <a:ext cx="370636" cy="370636"/>
          </a:xfrm>
          <a:prstGeom prst="rect">
            <a:avLst/>
          </a:prstGeom>
          <a:noFill/>
        </p:spPr>
        <p:txBody>
          <a:bodyPr wrap="square" lIns="0" tIns="0" rIns="0" bIns="0" anchor="ctr">
            <a:spAutoFit/>
          </a:bodyPr>
          <a:lstStyle/>
          <a:p>
            <a:pPr marL="0" indent="0" algn="ctr">
              <a:buNone/>
            </a:pPr>
            <a:r>
              <a:rPr sz="1800" b="1" i="0">
                <a:solidFill>
                  <a:srgbClr val="FFFFFF"/>
                </a:solidFill>
              </a:rPr>
              <a:t>L</a:t>
            </a:r>
          </a:p>
        </p:txBody>
      </p:sp>
      <p:sp>
        <p:nvSpPr>
          <p:cNvPr id="101" name="TextBox 100"/>
          <p:cNvSpPr txBox="1"/>
          <p:nvPr/>
        </p:nvSpPr>
        <p:spPr>
          <a:xfrm>
            <a:off x="4803071" y="1717255"/>
            <a:ext cx="1514977" cy="150876"/>
          </a:xfrm>
          <a:prstGeom prst="rect">
            <a:avLst/>
          </a:prstGeom>
          <a:noFill/>
        </p:spPr>
        <p:txBody>
          <a:bodyPr wrap="square" lIns="0" tIns="0" rIns="0" bIns="0" anchor="ctr">
            <a:spAutoFit/>
          </a:bodyPr>
          <a:lstStyle/>
          <a:p>
            <a:pPr marL="0" indent="0" algn="ctr">
              <a:buNone/>
            </a:pPr>
            <a:r>
              <a:rPr sz="900" b="1" i="0">
                <a:solidFill>
                  <a:srgbClr val="3A3A3A"/>
                </a:solidFill>
              </a:rPr>
              <a:t>Sign in</a:t>
            </a:r>
          </a:p>
        </p:txBody>
      </p:sp>
      <p:sp>
        <p:nvSpPr>
          <p:cNvPr id="102" name="TextBox 101"/>
          <p:cNvSpPr txBox="1"/>
          <p:nvPr/>
        </p:nvSpPr>
        <p:spPr>
          <a:xfrm>
            <a:off x="4803071" y="1862187"/>
            <a:ext cx="1514977" cy="148254"/>
          </a:xfrm>
          <a:prstGeom prst="rect">
            <a:avLst/>
          </a:prstGeom>
          <a:noFill/>
        </p:spPr>
        <p:txBody>
          <a:bodyPr wrap="square" lIns="0" tIns="0" rIns="0" bIns="0" anchor="t">
            <a:spAutoFit/>
          </a:bodyPr>
          <a:lstStyle/>
          <a:p>
            <a:pPr marL="0" indent="0" algn="ctr">
              <a:buNone/>
            </a:pPr>
            <a:r>
              <a:rPr sz="560" b="0" i="0">
                <a:solidFill>
                  <a:srgbClr val="888888"/>
                </a:solidFill>
              </a:rPr>
              <a:t>Enter the number linked to your account</a:t>
            </a:r>
          </a:p>
        </p:txBody>
      </p:sp>
      <p:sp>
        <p:nvSpPr>
          <p:cNvPr id="103" name="TextBox 102"/>
          <p:cNvSpPr txBox="1"/>
          <p:nvPr/>
        </p:nvSpPr>
        <p:spPr>
          <a:xfrm>
            <a:off x="4756741" y="2057000"/>
            <a:ext cx="1158240" cy="92202"/>
          </a:xfrm>
          <a:prstGeom prst="rect">
            <a:avLst/>
          </a:prstGeom>
          <a:noFill/>
        </p:spPr>
        <p:txBody>
          <a:bodyPr wrap="square" lIns="0" tIns="0" rIns="0" bIns="0" anchor="ctr">
            <a:spAutoFit/>
          </a:bodyPr>
          <a:lstStyle/>
          <a:p>
            <a:pPr marL="0" indent="0" algn="l">
              <a:buNone/>
            </a:pPr>
            <a:r>
              <a:rPr sz="550" b="1" i="0">
                <a:solidFill>
                  <a:srgbClr val="555555"/>
                </a:solidFill>
              </a:rPr>
              <a:t>Phone number</a:t>
            </a:r>
            <a:r>
              <a:rPr sz="550" b="1" i="0">
                <a:solidFill>
                  <a:srgbClr val="C8102E"/>
                </a:solidFill>
              </a:rPr>
              <a:t> *</a:t>
            </a:r>
          </a:p>
        </p:txBody>
      </p:sp>
      <p:sp>
        <p:nvSpPr>
          <p:cNvPr id="104" name="Rounded Rectangle 103"/>
          <p:cNvSpPr/>
          <p:nvPr/>
        </p:nvSpPr>
        <p:spPr>
          <a:xfrm>
            <a:off x="4756741" y="2135532"/>
            <a:ext cx="1607637" cy="157520"/>
          </a:xfrm>
          <a:prstGeom prst="roundRect">
            <a:avLst>
              <a:gd name="adj" fmla="val 18000"/>
            </a:avLst>
          </a:prstGeom>
          <a:solidFill>
            <a:srgbClr val="FAFAFA"/>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5" name="TextBox 104"/>
          <p:cNvSpPr txBox="1"/>
          <p:nvPr/>
        </p:nvSpPr>
        <p:spPr>
          <a:xfrm>
            <a:off x="4803071" y="2135532"/>
            <a:ext cx="1459382" cy="157520"/>
          </a:xfrm>
          <a:prstGeom prst="rect">
            <a:avLst/>
          </a:prstGeom>
          <a:noFill/>
        </p:spPr>
        <p:txBody>
          <a:bodyPr wrap="square" lIns="0" tIns="0" rIns="0" bIns="0" anchor="ctr">
            <a:spAutoFit/>
          </a:bodyPr>
          <a:lstStyle/>
          <a:p>
            <a:pPr marL="0" indent="0" algn="l">
              <a:buNone/>
            </a:pPr>
            <a:r>
              <a:rPr sz="600" b="0" i="0">
                <a:solidFill>
                  <a:srgbClr val="222222"/>
                </a:solidFill>
              </a:rPr>
              <a:t>090 999 8888</a:t>
            </a:r>
          </a:p>
        </p:txBody>
      </p:sp>
      <p:sp>
        <p:nvSpPr>
          <p:cNvPr id="106" name="TextBox 105"/>
          <p:cNvSpPr txBox="1"/>
          <p:nvPr/>
        </p:nvSpPr>
        <p:spPr>
          <a:xfrm>
            <a:off x="4756741" y="2290522"/>
            <a:ext cx="1607637" cy="83820"/>
          </a:xfrm>
          <a:prstGeom prst="rect">
            <a:avLst/>
          </a:prstGeom>
          <a:noFill/>
        </p:spPr>
        <p:txBody>
          <a:bodyPr wrap="square" lIns="0" tIns="0" rIns="0" bIns="0" anchor="ctr">
            <a:spAutoFit/>
          </a:bodyPr>
          <a:lstStyle/>
          <a:p>
            <a:pPr marL="0" indent="0" algn="l">
              <a:buNone/>
            </a:pPr>
            <a:r>
              <a:rPr sz="500" b="0" i="0">
                <a:solidFill>
                  <a:srgbClr val="C8102E"/>
                </a:solidFill>
              </a:rPr>
              <a:t>!   This number is not registered</a:t>
            </a:r>
          </a:p>
        </p:txBody>
      </p:sp>
      <p:sp>
        <p:nvSpPr>
          <p:cNvPr id="107" name="Rounded Rectangle 106"/>
          <p:cNvSpPr/>
          <p:nvPr/>
        </p:nvSpPr>
        <p:spPr>
          <a:xfrm>
            <a:off x="4738209" y="2390344"/>
            <a:ext cx="1644700" cy="138988"/>
          </a:xfrm>
          <a:prstGeom prst="roundRect">
            <a:avLst>
              <a:gd name="adj" fmla="val 15000"/>
            </a:avLst>
          </a:prstGeom>
          <a:solidFill>
            <a:srgbClr val="FFF6E5"/>
          </a:solidFill>
          <a:ln w="6350">
            <a:solidFill>
              <a:srgbClr val="FFF6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8" name="TextBox 107"/>
          <p:cNvSpPr txBox="1"/>
          <p:nvPr/>
        </p:nvSpPr>
        <p:spPr>
          <a:xfrm>
            <a:off x="4775273" y="2390344"/>
            <a:ext cx="83393" cy="138988"/>
          </a:xfrm>
          <a:prstGeom prst="rect">
            <a:avLst/>
          </a:prstGeom>
          <a:noFill/>
        </p:spPr>
        <p:txBody>
          <a:bodyPr wrap="square" lIns="0" tIns="0" rIns="0" bIns="0" anchor="ctr">
            <a:spAutoFit/>
          </a:bodyPr>
          <a:lstStyle/>
          <a:p>
            <a:pPr marL="0" indent="0" algn="ctr">
              <a:buNone/>
            </a:pPr>
            <a:r>
              <a:rPr sz="550" b="1" i="0">
                <a:solidFill>
                  <a:srgbClr val="B26A00"/>
                </a:solidFill>
              </a:rPr>
              <a:t>!</a:t>
            </a:r>
          </a:p>
        </p:txBody>
      </p:sp>
      <p:sp>
        <p:nvSpPr>
          <p:cNvPr id="109" name="TextBox 108"/>
          <p:cNvSpPr txBox="1"/>
          <p:nvPr/>
        </p:nvSpPr>
        <p:spPr>
          <a:xfrm>
            <a:off x="4886464" y="2390344"/>
            <a:ext cx="1468648" cy="138988"/>
          </a:xfrm>
          <a:prstGeom prst="rect">
            <a:avLst/>
          </a:prstGeom>
          <a:noFill/>
        </p:spPr>
        <p:txBody>
          <a:bodyPr wrap="square" lIns="0" tIns="0" rIns="0" bIns="0" anchor="ctr">
            <a:spAutoFit/>
          </a:bodyPr>
          <a:lstStyle/>
          <a:p>
            <a:pPr marL="0" indent="0" algn="l">
              <a:buNone/>
            </a:pPr>
            <a:r>
              <a:rPr sz="540" b="0" i="0">
                <a:solidFill>
                  <a:srgbClr val="B26A00"/>
                </a:solidFill>
              </a:rPr>
              <a:t>No LOTTE MART account uses this number.</a:t>
            </a:r>
          </a:p>
        </p:txBody>
      </p:sp>
      <p:sp>
        <p:nvSpPr>
          <p:cNvPr id="110" name="Rounded Rectangle 109"/>
          <p:cNvSpPr/>
          <p:nvPr/>
        </p:nvSpPr>
        <p:spPr>
          <a:xfrm>
            <a:off x="4756741" y="2575663"/>
            <a:ext cx="1607637" cy="185318"/>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1" name="TextBox 110"/>
          <p:cNvSpPr txBox="1"/>
          <p:nvPr/>
        </p:nvSpPr>
        <p:spPr>
          <a:xfrm>
            <a:off x="4756741" y="2575663"/>
            <a:ext cx="1607637" cy="185318"/>
          </a:xfrm>
          <a:prstGeom prst="rect">
            <a:avLst/>
          </a:prstGeom>
          <a:noFill/>
        </p:spPr>
        <p:txBody>
          <a:bodyPr wrap="square" lIns="0" tIns="0" rIns="0" bIns="0" anchor="ctr">
            <a:spAutoFit/>
          </a:bodyPr>
          <a:lstStyle/>
          <a:p>
            <a:pPr marL="0" indent="0" algn="ctr">
              <a:buNone/>
            </a:pPr>
            <a:r>
              <a:rPr sz="700" b="1" i="0">
                <a:solidFill>
                  <a:srgbClr val="FFFFFF"/>
                </a:solidFill>
              </a:rPr>
              <a:t>Register this number</a:t>
            </a:r>
          </a:p>
        </p:txBody>
      </p:sp>
      <p:sp>
        <p:nvSpPr>
          <p:cNvPr id="112" name="Rounded Rectangle 111"/>
          <p:cNvSpPr/>
          <p:nvPr/>
        </p:nvSpPr>
        <p:spPr>
          <a:xfrm>
            <a:off x="4756741" y="2798045"/>
            <a:ext cx="1607637" cy="166786"/>
          </a:xfrm>
          <a:prstGeom prst="roundRect">
            <a:avLst>
              <a:gd name="adj" fmla="val 2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3" name="TextBox 112"/>
          <p:cNvSpPr txBox="1"/>
          <p:nvPr/>
        </p:nvSpPr>
        <p:spPr>
          <a:xfrm>
            <a:off x="4756741" y="2798045"/>
            <a:ext cx="1607637" cy="166786"/>
          </a:xfrm>
          <a:prstGeom prst="rect">
            <a:avLst/>
          </a:prstGeom>
          <a:noFill/>
        </p:spPr>
        <p:txBody>
          <a:bodyPr wrap="square" lIns="0" tIns="0" rIns="0" bIns="0" anchor="ctr">
            <a:spAutoFit/>
          </a:bodyPr>
          <a:lstStyle/>
          <a:p>
            <a:pPr marL="0" indent="0" algn="ctr">
              <a:buNone/>
            </a:pPr>
            <a:r>
              <a:rPr sz="650" b="1" i="0">
                <a:solidFill>
                  <a:srgbClr val="222222"/>
                </a:solidFill>
              </a:rPr>
              <a:t>Try a different number</a:t>
            </a:r>
          </a:p>
        </p:txBody>
      </p:sp>
      <p:sp>
        <p:nvSpPr>
          <p:cNvPr id="114" name="Rounded Rectangle 113"/>
          <p:cNvSpPr/>
          <p:nvPr/>
        </p:nvSpPr>
        <p:spPr>
          <a:xfrm>
            <a:off x="4738209" y="3038959"/>
            <a:ext cx="1644700" cy="185318"/>
          </a:xfrm>
          <a:prstGeom prst="roundRect">
            <a:avLst>
              <a:gd name="adj" fmla="val 15000"/>
            </a:avLst>
          </a:prstGeom>
          <a:solidFill>
            <a:srgbClr val="FDECEE"/>
          </a:solidFill>
          <a:ln w="6350">
            <a:solidFill>
              <a:srgbClr val="FDECE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5" name="TextBox 114"/>
          <p:cNvSpPr txBox="1"/>
          <p:nvPr/>
        </p:nvSpPr>
        <p:spPr>
          <a:xfrm>
            <a:off x="4775273" y="3038959"/>
            <a:ext cx="83393" cy="185318"/>
          </a:xfrm>
          <a:prstGeom prst="rect">
            <a:avLst/>
          </a:prstGeom>
          <a:noFill/>
        </p:spPr>
        <p:txBody>
          <a:bodyPr wrap="square" lIns="0" tIns="0" rIns="0" bIns="0" anchor="ctr">
            <a:spAutoFit/>
          </a:bodyPr>
          <a:lstStyle/>
          <a:p>
            <a:pPr marL="0" indent="0" algn="ctr">
              <a:buNone/>
            </a:pPr>
            <a:r>
              <a:rPr sz="550" b="1" i="0">
                <a:solidFill>
                  <a:srgbClr val="C8102E"/>
                </a:solidFill>
              </a:rPr>
              <a:t>⚠</a:t>
            </a:r>
          </a:p>
        </p:txBody>
      </p:sp>
      <p:sp>
        <p:nvSpPr>
          <p:cNvPr id="116" name="TextBox 115"/>
          <p:cNvSpPr txBox="1"/>
          <p:nvPr/>
        </p:nvSpPr>
        <p:spPr>
          <a:xfrm>
            <a:off x="4886464" y="3038959"/>
            <a:ext cx="1468648" cy="185318"/>
          </a:xfrm>
          <a:prstGeom prst="rect">
            <a:avLst/>
          </a:prstGeom>
          <a:noFill/>
        </p:spPr>
        <p:txBody>
          <a:bodyPr wrap="square" lIns="0" tIns="0" rIns="0" bIns="0" anchor="ctr">
            <a:spAutoFit/>
          </a:bodyPr>
          <a:lstStyle/>
          <a:p>
            <a:pPr marL="0" indent="0" algn="l">
              <a:buNone/>
            </a:pPr>
            <a:r>
              <a:rPr sz="540" b="0" i="0">
                <a:solidFill>
                  <a:srgbClr val="C8102E"/>
                </a:solidFill>
              </a:rPr>
              <a:t>Too many failed attempts locks sign-in temporarily  (threshold TBC — OQ-03)</a:t>
            </a:r>
          </a:p>
        </p:txBody>
      </p:sp>
      <p:sp>
        <p:nvSpPr>
          <p:cNvPr id="117" name="Oval 116"/>
          <p:cNvSpPr/>
          <p:nvPr/>
        </p:nvSpPr>
        <p:spPr>
          <a:xfrm>
            <a:off x="4534360" y="2075303"/>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8" name="TextBox 117"/>
          <p:cNvSpPr txBox="1"/>
          <p:nvPr/>
        </p:nvSpPr>
        <p:spPr>
          <a:xfrm>
            <a:off x="4534360" y="2075303"/>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119" name="Oval 118"/>
          <p:cNvSpPr/>
          <p:nvPr/>
        </p:nvSpPr>
        <p:spPr>
          <a:xfrm>
            <a:off x="4534360" y="2640524"/>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0" name="TextBox 119"/>
          <p:cNvSpPr txBox="1"/>
          <p:nvPr/>
        </p:nvSpPr>
        <p:spPr>
          <a:xfrm>
            <a:off x="4534360" y="2640524"/>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sp>
        <p:nvSpPr>
          <p:cNvPr id="121" name="Oval 120"/>
          <p:cNvSpPr/>
          <p:nvPr/>
        </p:nvSpPr>
        <p:spPr>
          <a:xfrm>
            <a:off x="4534360" y="3150150"/>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2" name="TextBox 121"/>
          <p:cNvSpPr txBox="1"/>
          <p:nvPr/>
        </p:nvSpPr>
        <p:spPr>
          <a:xfrm>
            <a:off x="4534360" y="3150150"/>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graphicFrame>
        <p:nvGraphicFramePr>
          <p:cNvPr id="123" name="Table 122"/>
          <p:cNvGraphicFramePr>
            <a:graphicFrameLocks noGrp="1"/>
          </p:cNvGraphicFramePr>
          <p:nvPr/>
        </p:nvGraphicFramePr>
        <p:xfrm>
          <a:off x="7196328" y="886968"/>
          <a:ext cx="4718304" cy="336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Biometric prompt — priority (a)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Used automatically when Face ID or fingerprint is enabled on the device. Zero typing, no message cost, and the strongest signal that the device belongs to the account holder (LI-02).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Explicit fallbacks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Both lower-priority methods stay reachable in one tap, so a failed biometric never becomes a dead end.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PIN entry — priority (b)</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Used when biometrics are unavailable, unsupported or have failed. Six digits, in-app keypad (LI-02, BRL-16).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Forgot PIN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Opens SCR-AUT-06: OTP re-verification, then set a new PIN (LI-05, BRL-17).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Deviation — number not registered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entered number is retained and the error names the cause, mirroring the signup deviation (LI-04).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7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CTA switches to Register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primary action becomes registration with the same number, so the customer never retypes it.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420000">
                <a:tc>
                  <a:txBody>
                    <a:bodyPr/>
                    <a:lstStyle/>
                    <a:p>
                      <a:pPr marL="0" indent="0" algn="ctr">
                        <a:buNone/>
                      </a:pPr>
                      <a:r>
                        <a:rPr sz="70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Attempt limit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Repeated failures lock sign-in temporarily and force OTP re-verification. Mechanism and counts are not agreed — LI-06, NFR-01, OQ-03.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124" name="TextBox 123"/>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Priority order is deliberate and cost-driven: biometrics cost nothing and are fastest; PIN costs nothing and works on any device; OTP costs money per message and adds waiting time, so it is reserved for recovery and genuinely new devices (BRL-13, NFR-05). On success the system resumes the action that triggered the gate (LI-03, BRL-07).</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Login (LI)</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LI-05</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SCR-AUT-06</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Login — Forgot PIN &amp; Reset</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52</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Step 1  ·  Re-verify by OTP</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59436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5873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29" name="TextBox 28"/>
          <p:cNvSpPr txBox="1"/>
          <p:nvPr/>
        </p:nvSpPr>
        <p:spPr>
          <a:xfrm>
            <a:off x="77675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Reset your PIN</a:t>
            </a:r>
          </a:p>
        </p:txBody>
      </p:sp>
      <p:sp>
        <p:nvSpPr>
          <p:cNvPr id="30" name="Rectangle 29"/>
          <p:cNvSpPr/>
          <p:nvPr/>
        </p:nvSpPr>
        <p:spPr>
          <a:xfrm>
            <a:off x="59436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Rounded Rectangle 30"/>
          <p:cNvSpPr/>
          <p:nvPr/>
        </p:nvSpPr>
        <p:spPr>
          <a:xfrm>
            <a:off x="1382938" y="1362803"/>
            <a:ext cx="429158" cy="429158"/>
          </a:xfrm>
          <a:prstGeom prst="roundRect">
            <a:avLst>
              <a:gd name="adj" fmla="val 28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1382938" y="1362803"/>
            <a:ext cx="429158" cy="429158"/>
          </a:xfrm>
          <a:prstGeom prst="rect">
            <a:avLst/>
          </a:prstGeom>
          <a:noFill/>
        </p:spPr>
        <p:txBody>
          <a:bodyPr wrap="square" lIns="0" tIns="0" rIns="0" bIns="0" anchor="ctr">
            <a:spAutoFit/>
          </a:bodyPr>
          <a:lstStyle/>
          <a:p>
            <a:pPr marL="0" indent="0" algn="ctr">
              <a:buNone/>
            </a:pPr>
            <a:r>
              <a:rPr sz="1800" b="1" i="0">
                <a:solidFill>
                  <a:srgbClr val="FFFFFF"/>
                </a:solidFill>
              </a:rPr>
              <a:t>L</a:t>
            </a:r>
          </a:p>
        </p:txBody>
      </p:sp>
      <p:sp>
        <p:nvSpPr>
          <p:cNvPr id="33" name="TextBox 32"/>
          <p:cNvSpPr txBox="1"/>
          <p:nvPr/>
        </p:nvSpPr>
        <p:spPr>
          <a:xfrm>
            <a:off x="723107" y="1861364"/>
            <a:ext cx="1754184" cy="150876"/>
          </a:xfrm>
          <a:prstGeom prst="rect">
            <a:avLst/>
          </a:prstGeom>
          <a:noFill/>
        </p:spPr>
        <p:txBody>
          <a:bodyPr wrap="square" lIns="0" tIns="0" rIns="0" bIns="0" anchor="ctr">
            <a:spAutoFit/>
          </a:bodyPr>
          <a:lstStyle/>
          <a:p>
            <a:pPr marL="0" indent="0" algn="ctr">
              <a:buNone/>
            </a:pPr>
            <a:r>
              <a:rPr sz="900" b="1" i="0">
                <a:solidFill>
                  <a:srgbClr val="3A3A3A"/>
                </a:solidFill>
              </a:rPr>
              <a:t>Verify it is you</a:t>
            </a:r>
          </a:p>
        </p:txBody>
      </p:sp>
      <p:sp>
        <p:nvSpPr>
          <p:cNvPr id="34" name="TextBox 33"/>
          <p:cNvSpPr txBox="1"/>
          <p:nvPr/>
        </p:nvSpPr>
        <p:spPr>
          <a:xfrm>
            <a:off x="723107" y="2017269"/>
            <a:ext cx="1754184" cy="171663"/>
          </a:xfrm>
          <a:prstGeom prst="rect">
            <a:avLst/>
          </a:prstGeom>
          <a:noFill/>
        </p:spPr>
        <p:txBody>
          <a:bodyPr wrap="square" lIns="0" tIns="0" rIns="0" bIns="0" anchor="t">
            <a:spAutoFit/>
          </a:bodyPr>
          <a:lstStyle/>
          <a:p>
            <a:pPr marL="0" indent="0" algn="ctr">
              <a:buNone/>
            </a:pPr>
            <a:r>
              <a:rPr sz="560" b="0" i="0">
                <a:solidFill>
                  <a:srgbClr val="888888"/>
                </a:solidFill>
              </a:rPr>
              <a:t>We will send a code to the number on your account</a:t>
            </a:r>
          </a:p>
        </p:txBody>
      </p:sp>
      <p:sp>
        <p:nvSpPr>
          <p:cNvPr id="35" name="Rounded Rectangle 34"/>
          <p:cNvSpPr/>
          <p:nvPr/>
        </p:nvSpPr>
        <p:spPr>
          <a:xfrm>
            <a:off x="723107" y="2264035"/>
            <a:ext cx="1754184" cy="289681"/>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TextBox 35"/>
          <p:cNvSpPr txBox="1"/>
          <p:nvPr/>
        </p:nvSpPr>
        <p:spPr>
          <a:xfrm>
            <a:off x="830397" y="2264035"/>
            <a:ext cx="1539605" cy="289681"/>
          </a:xfrm>
          <a:prstGeom prst="rect">
            <a:avLst/>
          </a:prstGeom>
          <a:noFill/>
        </p:spPr>
        <p:txBody>
          <a:bodyPr wrap="square" lIns="0" tIns="0" rIns="0" bIns="0" anchor="ctr">
            <a:spAutoFit/>
          </a:bodyPr>
          <a:lstStyle/>
          <a:p>
            <a:pPr marL="0" indent="0" algn="l">
              <a:buNone/>
            </a:pPr>
            <a:r>
              <a:rPr sz="750" b="1" i="0">
                <a:solidFill>
                  <a:srgbClr val="3A3A3A"/>
                </a:solidFill>
              </a:rPr>
              <a:t>090 •••  •••  4567</a:t>
            </a:r>
          </a:p>
        </p:txBody>
      </p:sp>
      <p:sp>
        <p:nvSpPr>
          <p:cNvPr id="37" name="TextBox 36"/>
          <p:cNvSpPr txBox="1"/>
          <p:nvPr/>
        </p:nvSpPr>
        <p:spPr>
          <a:xfrm>
            <a:off x="669462" y="2625635"/>
            <a:ext cx="1341120" cy="92202"/>
          </a:xfrm>
          <a:prstGeom prst="rect">
            <a:avLst/>
          </a:prstGeom>
          <a:noFill/>
        </p:spPr>
        <p:txBody>
          <a:bodyPr wrap="square" lIns="0" tIns="0" rIns="0" bIns="0" anchor="ctr">
            <a:spAutoFit/>
          </a:bodyPr>
          <a:lstStyle/>
          <a:p>
            <a:pPr marL="0" indent="0" algn="l">
              <a:buNone/>
            </a:pPr>
            <a:r>
              <a:rPr sz="550" b="1" i="0">
                <a:solidFill>
                  <a:srgbClr val="555555"/>
                </a:solidFill>
              </a:rPr>
              <a:t>Send the code by</a:t>
            </a:r>
          </a:p>
        </p:txBody>
      </p:sp>
      <p:sp>
        <p:nvSpPr>
          <p:cNvPr id="38" name="Rounded Rectangle 37"/>
          <p:cNvSpPr/>
          <p:nvPr/>
        </p:nvSpPr>
        <p:spPr>
          <a:xfrm>
            <a:off x="669462" y="2725381"/>
            <a:ext cx="901232" cy="246766"/>
          </a:xfrm>
          <a:prstGeom prst="roundRect">
            <a:avLst>
              <a:gd name="adj" fmla="val 14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TextBox 38"/>
          <p:cNvSpPr txBox="1"/>
          <p:nvPr/>
        </p:nvSpPr>
        <p:spPr>
          <a:xfrm>
            <a:off x="669462" y="2752203"/>
            <a:ext cx="901232" cy="107289"/>
          </a:xfrm>
          <a:prstGeom prst="rect">
            <a:avLst/>
          </a:prstGeom>
          <a:noFill/>
        </p:spPr>
        <p:txBody>
          <a:bodyPr wrap="square" lIns="0" tIns="0" rIns="0" bIns="0" anchor="ctr">
            <a:spAutoFit/>
          </a:bodyPr>
          <a:lstStyle/>
          <a:p>
            <a:pPr marL="0" indent="0" algn="ctr">
              <a:buNone/>
            </a:pPr>
            <a:r>
              <a:rPr sz="640" b="1" i="0">
                <a:solidFill>
                  <a:srgbClr val="C8102E"/>
                </a:solidFill>
              </a:rPr>
              <a:t>Zalo</a:t>
            </a:r>
          </a:p>
        </p:txBody>
      </p:sp>
      <p:sp>
        <p:nvSpPr>
          <p:cNvPr id="40" name="TextBox 39"/>
          <p:cNvSpPr txBox="1"/>
          <p:nvPr/>
        </p:nvSpPr>
        <p:spPr>
          <a:xfrm>
            <a:off x="669462" y="2846081"/>
            <a:ext cx="901232" cy="80467"/>
          </a:xfrm>
          <a:prstGeom prst="rect">
            <a:avLst/>
          </a:prstGeom>
          <a:noFill/>
        </p:spPr>
        <p:txBody>
          <a:bodyPr wrap="square" lIns="0" tIns="0" rIns="0" bIns="0" anchor="ctr">
            <a:spAutoFit/>
          </a:bodyPr>
          <a:lstStyle/>
          <a:p>
            <a:pPr marL="0" indent="0" algn="ctr">
              <a:buNone/>
            </a:pPr>
            <a:r>
              <a:rPr sz="480" b="0" i="0">
                <a:solidFill>
                  <a:srgbClr val="C8102E"/>
                </a:solidFill>
              </a:rPr>
              <a:t>Recommended</a:t>
            </a:r>
          </a:p>
        </p:txBody>
      </p:sp>
      <p:sp>
        <p:nvSpPr>
          <p:cNvPr id="41" name="Rounded Rectangle 40"/>
          <p:cNvSpPr/>
          <p:nvPr/>
        </p:nvSpPr>
        <p:spPr>
          <a:xfrm>
            <a:off x="1629704" y="2725381"/>
            <a:ext cx="901232" cy="246766"/>
          </a:xfrm>
          <a:prstGeom prst="roundRect">
            <a:avLst>
              <a:gd name="adj" fmla="val 14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TextBox 41"/>
          <p:cNvSpPr txBox="1"/>
          <p:nvPr/>
        </p:nvSpPr>
        <p:spPr>
          <a:xfrm>
            <a:off x="1629704" y="2752203"/>
            <a:ext cx="901232" cy="107289"/>
          </a:xfrm>
          <a:prstGeom prst="rect">
            <a:avLst/>
          </a:prstGeom>
          <a:noFill/>
        </p:spPr>
        <p:txBody>
          <a:bodyPr wrap="square" lIns="0" tIns="0" rIns="0" bIns="0" anchor="ctr">
            <a:spAutoFit/>
          </a:bodyPr>
          <a:lstStyle/>
          <a:p>
            <a:pPr marL="0" indent="0" algn="ctr">
              <a:buNone/>
            </a:pPr>
            <a:r>
              <a:rPr sz="640" b="1" i="0">
                <a:solidFill>
                  <a:srgbClr val="222222"/>
                </a:solidFill>
              </a:rPr>
              <a:t>SMS</a:t>
            </a:r>
          </a:p>
        </p:txBody>
      </p:sp>
      <p:sp>
        <p:nvSpPr>
          <p:cNvPr id="43" name="TextBox 42"/>
          <p:cNvSpPr txBox="1"/>
          <p:nvPr/>
        </p:nvSpPr>
        <p:spPr>
          <a:xfrm>
            <a:off x="1629704" y="2846081"/>
            <a:ext cx="901232" cy="80467"/>
          </a:xfrm>
          <a:prstGeom prst="rect">
            <a:avLst/>
          </a:prstGeom>
          <a:noFill/>
        </p:spPr>
        <p:txBody>
          <a:bodyPr wrap="square" lIns="0" tIns="0" rIns="0" bIns="0" anchor="ctr">
            <a:spAutoFit/>
          </a:bodyPr>
          <a:lstStyle/>
          <a:p>
            <a:pPr marL="0" indent="0" algn="ctr">
              <a:buNone/>
            </a:pPr>
            <a:r>
              <a:rPr sz="480" b="0" i="0">
                <a:solidFill>
                  <a:srgbClr val="888888"/>
                </a:solidFill>
              </a:rPr>
              <a:t>Alternative</a:t>
            </a:r>
          </a:p>
        </p:txBody>
      </p:sp>
      <p:sp>
        <p:nvSpPr>
          <p:cNvPr id="44" name="Rounded Rectangle 43"/>
          <p:cNvSpPr/>
          <p:nvPr/>
        </p:nvSpPr>
        <p:spPr>
          <a:xfrm>
            <a:off x="669462" y="3036520"/>
            <a:ext cx="1861474" cy="214579"/>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TextBox 44"/>
          <p:cNvSpPr txBox="1"/>
          <p:nvPr/>
        </p:nvSpPr>
        <p:spPr>
          <a:xfrm>
            <a:off x="669462" y="3036520"/>
            <a:ext cx="1861474" cy="214579"/>
          </a:xfrm>
          <a:prstGeom prst="rect">
            <a:avLst/>
          </a:prstGeom>
          <a:noFill/>
        </p:spPr>
        <p:txBody>
          <a:bodyPr wrap="square" lIns="0" tIns="0" rIns="0" bIns="0" anchor="ctr">
            <a:spAutoFit/>
          </a:bodyPr>
          <a:lstStyle/>
          <a:p>
            <a:pPr marL="0" indent="0" algn="ctr">
              <a:buNone/>
            </a:pPr>
            <a:r>
              <a:rPr sz="700" b="1" i="0">
                <a:solidFill>
                  <a:srgbClr val="FFFFFF"/>
                </a:solidFill>
              </a:rPr>
              <a:t>Send code</a:t>
            </a:r>
          </a:p>
        </p:txBody>
      </p:sp>
      <p:sp>
        <p:nvSpPr>
          <p:cNvPr id="46" name="Rounded Rectangle 45"/>
          <p:cNvSpPr/>
          <p:nvPr/>
        </p:nvSpPr>
        <p:spPr>
          <a:xfrm>
            <a:off x="648004" y="3336931"/>
            <a:ext cx="1904390" cy="182392"/>
          </a:xfrm>
          <a:prstGeom prst="roundRect">
            <a:avLst>
              <a:gd name="adj" fmla="val 15000"/>
            </a:avLst>
          </a:prstGeom>
          <a:solidFill>
            <a:srgbClr val="F4F5F7"/>
          </a:solidFill>
          <a:ln w="6350">
            <a:solidFill>
              <a:srgbClr val="F4F5F7"/>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TextBox 46"/>
          <p:cNvSpPr txBox="1"/>
          <p:nvPr/>
        </p:nvSpPr>
        <p:spPr>
          <a:xfrm>
            <a:off x="690920" y="3336931"/>
            <a:ext cx="96560" cy="182392"/>
          </a:xfrm>
          <a:prstGeom prst="rect">
            <a:avLst/>
          </a:prstGeom>
          <a:noFill/>
        </p:spPr>
        <p:txBody>
          <a:bodyPr wrap="square" lIns="0" tIns="0" rIns="0" bIns="0" anchor="ctr">
            <a:spAutoFit/>
          </a:bodyPr>
          <a:lstStyle/>
          <a:p>
            <a:pPr marL="0" indent="0" algn="ctr">
              <a:buNone/>
            </a:pPr>
            <a:r>
              <a:rPr sz="550" b="1" i="0">
                <a:solidFill>
                  <a:srgbClr val="555555"/>
                </a:solidFill>
              </a:rPr>
              <a:t>i</a:t>
            </a:r>
          </a:p>
        </p:txBody>
      </p:sp>
      <p:sp>
        <p:nvSpPr>
          <p:cNvPr id="48" name="TextBox 47"/>
          <p:cNvSpPr txBox="1"/>
          <p:nvPr/>
        </p:nvSpPr>
        <p:spPr>
          <a:xfrm>
            <a:off x="819668" y="3336931"/>
            <a:ext cx="1700540" cy="182392"/>
          </a:xfrm>
          <a:prstGeom prst="rect">
            <a:avLst/>
          </a:prstGeom>
          <a:noFill/>
        </p:spPr>
        <p:txBody>
          <a:bodyPr wrap="square" lIns="0" tIns="0" rIns="0" bIns="0" anchor="ctr">
            <a:spAutoFit/>
          </a:bodyPr>
          <a:lstStyle/>
          <a:p>
            <a:pPr marL="0" indent="0" algn="l">
              <a:buNone/>
            </a:pPr>
            <a:r>
              <a:rPr sz="540" b="0" i="0">
                <a:solidFill>
                  <a:srgbClr val="555555"/>
                </a:solidFill>
              </a:rPr>
              <a:t>Your PIN cannot be changed without verifying this number first.</a:t>
            </a:r>
          </a:p>
        </p:txBody>
      </p:sp>
      <p:sp>
        <p:nvSpPr>
          <p:cNvPr id="49" name="Oval 48"/>
          <p:cNvSpPr/>
          <p:nvPr/>
        </p:nvSpPr>
        <p:spPr>
          <a:xfrm>
            <a:off x="379781" y="2264035"/>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TextBox 49"/>
          <p:cNvSpPr txBox="1"/>
          <p:nvPr/>
        </p:nvSpPr>
        <p:spPr>
          <a:xfrm>
            <a:off x="379781" y="2264035"/>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51" name="Oval 50"/>
          <p:cNvSpPr/>
          <p:nvPr/>
        </p:nvSpPr>
        <p:spPr>
          <a:xfrm>
            <a:off x="379781" y="2725381"/>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2" name="TextBox 51"/>
          <p:cNvSpPr txBox="1"/>
          <p:nvPr/>
        </p:nvSpPr>
        <p:spPr>
          <a:xfrm>
            <a:off x="379781" y="2725381"/>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53" name="Oval 52"/>
          <p:cNvSpPr/>
          <p:nvPr/>
        </p:nvSpPr>
        <p:spPr>
          <a:xfrm>
            <a:off x="379781" y="3347660"/>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4" name="TextBox 53"/>
          <p:cNvSpPr txBox="1"/>
          <p:nvPr/>
        </p:nvSpPr>
        <p:spPr>
          <a:xfrm>
            <a:off x="379781" y="3347660"/>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55" name="Rounded Rectangle 54"/>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6" name="Rectangle 55"/>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7" name="TextBox 56"/>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Step 2  ·  Set a new PIN, then result</a:t>
            </a:r>
          </a:p>
        </p:txBody>
      </p:sp>
      <p:sp>
        <p:nvSpPr>
          <p:cNvPr id="58" name="TextBox 57"/>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59" name="TextBox 58"/>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60" name="Rectangle 59"/>
          <p:cNvSpPr/>
          <p:nvPr/>
        </p:nvSpPr>
        <p:spPr>
          <a:xfrm>
            <a:off x="338328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1" name="TextBox 60"/>
          <p:cNvSpPr txBox="1"/>
          <p:nvPr/>
        </p:nvSpPr>
        <p:spPr>
          <a:xfrm>
            <a:off x="344765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62" name="TextBox 61"/>
          <p:cNvSpPr txBox="1"/>
          <p:nvPr/>
        </p:nvSpPr>
        <p:spPr>
          <a:xfrm>
            <a:off x="356567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New PIN</a:t>
            </a:r>
          </a:p>
        </p:txBody>
      </p:sp>
      <p:sp>
        <p:nvSpPr>
          <p:cNvPr id="63" name="Rectangle 62"/>
          <p:cNvSpPr/>
          <p:nvPr/>
        </p:nvSpPr>
        <p:spPr>
          <a:xfrm>
            <a:off x="338328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4" name="Rounded Rectangle 63"/>
          <p:cNvSpPr/>
          <p:nvPr/>
        </p:nvSpPr>
        <p:spPr>
          <a:xfrm>
            <a:off x="4171858" y="1362803"/>
            <a:ext cx="429158" cy="429158"/>
          </a:xfrm>
          <a:prstGeom prst="roundRect">
            <a:avLst>
              <a:gd name="adj" fmla="val 28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5" name="TextBox 64"/>
          <p:cNvSpPr txBox="1"/>
          <p:nvPr/>
        </p:nvSpPr>
        <p:spPr>
          <a:xfrm>
            <a:off x="4171858" y="1362803"/>
            <a:ext cx="429158" cy="429158"/>
          </a:xfrm>
          <a:prstGeom prst="rect">
            <a:avLst/>
          </a:prstGeom>
          <a:noFill/>
        </p:spPr>
        <p:txBody>
          <a:bodyPr wrap="square" lIns="0" tIns="0" rIns="0" bIns="0" anchor="ctr">
            <a:spAutoFit/>
          </a:bodyPr>
          <a:lstStyle/>
          <a:p>
            <a:pPr marL="0" indent="0" algn="ctr">
              <a:buNone/>
            </a:pPr>
            <a:r>
              <a:rPr sz="1800" b="1" i="0">
                <a:solidFill>
                  <a:srgbClr val="FFFFFF"/>
                </a:solidFill>
              </a:rPr>
              <a:t>L</a:t>
            </a:r>
          </a:p>
        </p:txBody>
      </p:sp>
      <p:sp>
        <p:nvSpPr>
          <p:cNvPr id="66" name="TextBox 65"/>
          <p:cNvSpPr txBox="1"/>
          <p:nvPr/>
        </p:nvSpPr>
        <p:spPr>
          <a:xfrm>
            <a:off x="3512027" y="1861364"/>
            <a:ext cx="1754184" cy="150876"/>
          </a:xfrm>
          <a:prstGeom prst="rect">
            <a:avLst/>
          </a:prstGeom>
          <a:noFill/>
        </p:spPr>
        <p:txBody>
          <a:bodyPr wrap="square" lIns="0" tIns="0" rIns="0" bIns="0" anchor="ctr">
            <a:spAutoFit/>
          </a:bodyPr>
          <a:lstStyle/>
          <a:p>
            <a:pPr marL="0" indent="0" algn="ctr">
              <a:buNone/>
            </a:pPr>
            <a:r>
              <a:rPr sz="900" b="1" i="0">
                <a:solidFill>
                  <a:srgbClr val="3A3A3A"/>
                </a:solidFill>
              </a:rPr>
              <a:t>Create a new 6-digit PIN</a:t>
            </a:r>
          </a:p>
        </p:txBody>
      </p:sp>
      <p:sp>
        <p:nvSpPr>
          <p:cNvPr id="67" name="TextBox 66"/>
          <p:cNvSpPr txBox="1"/>
          <p:nvPr/>
        </p:nvSpPr>
        <p:spPr>
          <a:xfrm>
            <a:off x="3512027" y="2017269"/>
            <a:ext cx="1754184" cy="171663"/>
          </a:xfrm>
          <a:prstGeom prst="rect">
            <a:avLst/>
          </a:prstGeom>
          <a:noFill/>
        </p:spPr>
        <p:txBody>
          <a:bodyPr wrap="square" lIns="0" tIns="0" rIns="0" bIns="0" anchor="t">
            <a:spAutoFit/>
          </a:bodyPr>
          <a:lstStyle/>
          <a:p>
            <a:pPr marL="0" indent="0" algn="ctr">
              <a:buNone/>
            </a:pPr>
            <a:r>
              <a:rPr sz="560" b="0" i="0">
                <a:solidFill>
                  <a:srgbClr val="888888"/>
                </a:solidFill>
              </a:rPr>
              <a:t>Then confirm it once</a:t>
            </a:r>
          </a:p>
        </p:txBody>
      </p:sp>
      <p:sp>
        <p:nvSpPr>
          <p:cNvPr id="68" name="Rounded Rectangle 67"/>
          <p:cNvSpPr/>
          <p:nvPr/>
        </p:nvSpPr>
        <p:spPr>
          <a:xfrm>
            <a:off x="4056522" y="2264035"/>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9" name="Rounded Rectangle 68"/>
          <p:cNvSpPr/>
          <p:nvPr/>
        </p:nvSpPr>
        <p:spPr>
          <a:xfrm>
            <a:off x="4174540" y="2264035"/>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0" name="Rounded Rectangle 69"/>
          <p:cNvSpPr/>
          <p:nvPr/>
        </p:nvSpPr>
        <p:spPr>
          <a:xfrm>
            <a:off x="4292559" y="2264035"/>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1" name="Rounded Rectangle 70"/>
          <p:cNvSpPr/>
          <p:nvPr/>
        </p:nvSpPr>
        <p:spPr>
          <a:xfrm>
            <a:off x="4410577" y="2264035"/>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2" name="Rounded Rectangle 71"/>
          <p:cNvSpPr/>
          <p:nvPr/>
        </p:nvSpPr>
        <p:spPr>
          <a:xfrm>
            <a:off x="4528596" y="2264035"/>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3" name="Rounded Rectangle 72"/>
          <p:cNvSpPr/>
          <p:nvPr/>
        </p:nvSpPr>
        <p:spPr>
          <a:xfrm>
            <a:off x="4646615" y="2264035"/>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TextBox 73"/>
          <p:cNvSpPr txBox="1"/>
          <p:nvPr/>
        </p:nvSpPr>
        <p:spPr>
          <a:xfrm>
            <a:off x="3458382" y="2388760"/>
            <a:ext cx="1861474" cy="93878"/>
          </a:xfrm>
          <a:prstGeom prst="rect">
            <a:avLst/>
          </a:prstGeom>
          <a:noFill/>
        </p:spPr>
        <p:txBody>
          <a:bodyPr wrap="square" lIns="0" tIns="0" rIns="0" bIns="0" anchor="ctr">
            <a:spAutoFit/>
          </a:bodyPr>
          <a:lstStyle/>
          <a:p>
            <a:pPr marL="0" indent="0" algn="ctr">
              <a:buNone/>
            </a:pPr>
            <a:r>
              <a:rPr sz="560" b="0" i="0">
                <a:solidFill>
                  <a:srgbClr val="888888"/>
                </a:solidFill>
              </a:rPr>
              <a:t>Confirm the new PIN</a:t>
            </a:r>
          </a:p>
        </p:txBody>
      </p:sp>
      <p:sp>
        <p:nvSpPr>
          <p:cNvPr id="75" name="Rounded Rectangle 74"/>
          <p:cNvSpPr/>
          <p:nvPr/>
        </p:nvSpPr>
        <p:spPr>
          <a:xfrm>
            <a:off x="4056522" y="2532259"/>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6" name="Rounded Rectangle 75"/>
          <p:cNvSpPr/>
          <p:nvPr/>
        </p:nvSpPr>
        <p:spPr>
          <a:xfrm>
            <a:off x="4174540" y="2532259"/>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7" name="Rounded Rectangle 76"/>
          <p:cNvSpPr/>
          <p:nvPr/>
        </p:nvSpPr>
        <p:spPr>
          <a:xfrm>
            <a:off x="4292559" y="2532259"/>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8" name="Rounded Rectangle 77"/>
          <p:cNvSpPr/>
          <p:nvPr/>
        </p:nvSpPr>
        <p:spPr>
          <a:xfrm>
            <a:off x="4410577" y="2532259"/>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Rounded Rectangle 78"/>
          <p:cNvSpPr/>
          <p:nvPr/>
        </p:nvSpPr>
        <p:spPr>
          <a:xfrm>
            <a:off x="4528596" y="2532259"/>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0" name="Rounded Rectangle 79"/>
          <p:cNvSpPr/>
          <p:nvPr/>
        </p:nvSpPr>
        <p:spPr>
          <a:xfrm>
            <a:off x="4646615" y="2532259"/>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1" name="TextBox 80"/>
          <p:cNvSpPr txBox="1"/>
          <p:nvPr/>
        </p:nvSpPr>
        <p:spPr>
          <a:xfrm>
            <a:off x="3458382" y="2660672"/>
            <a:ext cx="1861474" cy="97231"/>
          </a:xfrm>
          <a:prstGeom prst="rect">
            <a:avLst/>
          </a:prstGeom>
          <a:noFill/>
        </p:spPr>
        <p:txBody>
          <a:bodyPr wrap="square" lIns="0" tIns="0" rIns="0" bIns="0" anchor="ctr">
            <a:spAutoFit/>
          </a:bodyPr>
          <a:lstStyle/>
          <a:p>
            <a:pPr marL="0" indent="0" algn="ctr">
              <a:buNone/>
            </a:pPr>
            <a:r>
              <a:rPr sz="580" b="1" i="0">
                <a:solidFill>
                  <a:srgbClr val="1B7F4B"/>
                </a:solidFill>
              </a:rPr>
              <a:t>✓  Both entries match</a:t>
            </a:r>
          </a:p>
        </p:txBody>
      </p:sp>
      <p:sp>
        <p:nvSpPr>
          <p:cNvPr id="82" name="Rounded Rectangle 81"/>
          <p:cNvSpPr/>
          <p:nvPr/>
        </p:nvSpPr>
        <p:spPr>
          <a:xfrm>
            <a:off x="3458382" y="2832670"/>
            <a:ext cx="1861474" cy="214579"/>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TextBox 82"/>
          <p:cNvSpPr txBox="1"/>
          <p:nvPr/>
        </p:nvSpPr>
        <p:spPr>
          <a:xfrm>
            <a:off x="3458382" y="2832670"/>
            <a:ext cx="1861474" cy="214579"/>
          </a:xfrm>
          <a:prstGeom prst="rect">
            <a:avLst/>
          </a:prstGeom>
          <a:noFill/>
        </p:spPr>
        <p:txBody>
          <a:bodyPr wrap="square" lIns="0" tIns="0" rIns="0" bIns="0" anchor="ctr">
            <a:spAutoFit/>
          </a:bodyPr>
          <a:lstStyle/>
          <a:p>
            <a:pPr marL="0" indent="0" algn="ctr">
              <a:buNone/>
            </a:pPr>
            <a:r>
              <a:rPr sz="700" b="1" i="0">
                <a:solidFill>
                  <a:srgbClr val="FFFFFF"/>
                </a:solidFill>
              </a:rPr>
              <a:t>Save new PIN</a:t>
            </a:r>
          </a:p>
        </p:txBody>
      </p:sp>
      <p:sp>
        <p:nvSpPr>
          <p:cNvPr id="84" name="Rounded Rectangle 83"/>
          <p:cNvSpPr/>
          <p:nvPr/>
        </p:nvSpPr>
        <p:spPr>
          <a:xfrm>
            <a:off x="3512027" y="3133081"/>
            <a:ext cx="1754184" cy="514990"/>
          </a:xfrm>
          <a:prstGeom prst="roundRect">
            <a:avLst>
              <a:gd name="adj" fmla="val 10000"/>
            </a:avLst>
          </a:prstGeom>
          <a:solidFill>
            <a:srgbClr val="E8F5EE"/>
          </a:solidFill>
          <a:ln w="635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5" name="TextBox 84"/>
          <p:cNvSpPr txBox="1"/>
          <p:nvPr/>
        </p:nvSpPr>
        <p:spPr>
          <a:xfrm>
            <a:off x="3619317" y="3197455"/>
            <a:ext cx="1539605" cy="107289"/>
          </a:xfrm>
          <a:prstGeom prst="rect">
            <a:avLst/>
          </a:prstGeom>
          <a:noFill/>
        </p:spPr>
        <p:txBody>
          <a:bodyPr wrap="square" lIns="0" tIns="0" rIns="0" bIns="0" anchor="ctr">
            <a:spAutoFit/>
          </a:bodyPr>
          <a:lstStyle/>
          <a:p>
            <a:pPr marL="0" indent="0" algn="l">
              <a:buNone/>
            </a:pPr>
            <a:r>
              <a:rPr sz="640" b="1" i="0">
                <a:solidFill>
                  <a:srgbClr val="1B7F4B"/>
                </a:solidFill>
              </a:rPr>
              <a:t>After saving</a:t>
            </a:r>
          </a:p>
        </p:txBody>
      </p:sp>
      <p:sp>
        <p:nvSpPr>
          <p:cNvPr id="86" name="TextBox 85"/>
          <p:cNvSpPr txBox="1"/>
          <p:nvPr/>
        </p:nvSpPr>
        <p:spPr>
          <a:xfrm>
            <a:off x="3619317" y="3315473"/>
            <a:ext cx="1539605" cy="268224"/>
          </a:xfrm>
          <a:prstGeom prst="rect">
            <a:avLst/>
          </a:prstGeom>
          <a:noFill/>
        </p:spPr>
        <p:txBody>
          <a:bodyPr wrap="square" lIns="0" tIns="0" rIns="0" bIns="0" anchor="t">
            <a:spAutoFit/>
          </a:bodyPr>
          <a:lstStyle/>
          <a:p>
            <a:pPr marL="0" indent="0" algn="l">
              <a:buNone/>
            </a:pPr>
            <a:r>
              <a:rPr sz="520" b="0" i="0">
                <a:solidFill>
                  <a:srgbClr val="14603A"/>
                </a:solidFill>
              </a:rPr>
              <a:t>•  You are signed in immediately</a:t>
            </a:r>
          </a:p>
          <a:p>
            <a:pPr marL="0" indent="0" algn="l">
              <a:buNone/>
            </a:pPr>
            <a:r>
              <a:rPr sz="520" b="0" i="0">
                <a:solidFill>
                  <a:srgbClr val="14603A"/>
                </a:solidFill>
              </a:rPr>
              <a:t>•  The action you started is resumed automatically</a:t>
            </a:r>
          </a:p>
          <a:p>
            <a:pPr marL="0" indent="0" algn="l">
              <a:buNone/>
            </a:pPr>
            <a:r>
              <a:rPr sz="520" b="0" i="0">
                <a:solidFill>
                  <a:srgbClr val="14603A"/>
                </a:solidFill>
              </a:rPr>
              <a:t>•  Biometrics, if enabled, keep working unchanged</a:t>
            </a:r>
          </a:p>
        </p:txBody>
      </p:sp>
      <p:sp>
        <p:nvSpPr>
          <p:cNvPr id="87" name="Oval 86"/>
          <p:cNvSpPr/>
          <p:nvPr/>
        </p:nvSpPr>
        <p:spPr>
          <a:xfrm>
            <a:off x="3168701" y="2264035"/>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8" name="TextBox 87"/>
          <p:cNvSpPr txBox="1"/>
          <p:nvPr/>
        </p:nvSpPr>
        <p:spPr>
          <a:xfrm>
            <a:off x="3168701" y="2264035"/>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89" name="Oval 88"/>
          <p:cNvSpPr/>
          <p:nvPr/>
        </p:nvSpPr>
        <p:spPr>
          <a:xfrm>
            <a:off x="3168701" y="302579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0" name="TextBox 89"/>
          <p:cNvSpPr txBox="1"/>
          <p:nvPr/>
        </p:nvSpPr>
        <p:spPr>
          <a:xfrm>
            <a:off x="3168701" y="302579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91" name="Oval 90"/>
          <p:cNvSpPr/>
          <p:nvPr/>
        </p:nvSpPr>
        <p:spPr>
          <a:xfrm>
            <a:off x="3168701" y="3401305"/>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2" name="TextBox 91"/>
          <p:cNvSpPr txBox="1"/>
          <p:nvPr/>
        </p:nvSpPr>
        <p:spPr>
          <a:xfrm>
            <a:off x="3168701" y="3401305"/>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graphicFrame>
        <p:nvGraphicFramePr>
          <p:cNvPr id="93" name="Table 92"/>
          <p:cNvGraphicFramePr>
            <a:graphicFrameLocks noGrp="1"/>
          </p:cNvGraphicFramePr>
          <p:nvPr/>
        </p:nvGraphicFramePr>
        <p:xfrm>
          <a:off x="7196328" y="886968"/>
          <a:ext cx="4718304" cy="294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Masked account number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Shown, not entered — the customer is already identified by the number typed at SCR-AUT-05. Masking prevents shoulder-surfing on a shared screen.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Channel choice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Same Zalo-first rule as signup (BRL-13). Resend countdown and manual channel switch behave identically (BRL-14, BRL-15).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Why verification is required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Stated plainly. A PIN reset is a credential change and must not be possible from an unverified device (BR-11, BRL-17).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New PIN, entered twice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Same composition rules and same mismatch handling as SCR-AUT-03 (BRL-16).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Save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Replaces the stored PIN. The previous PIN stops working immediately.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7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Post-reset behaviour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customer is signed in without a further step, and the original action — adding the product, or opening the Cart — is resumed (LI-03, BRL-07). An existing biometric ticket is unaffected: resetting a PIN does not revoke biometrics.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bl>
          </a:graphicData>
        </a:graphic>
      </p:graphicFrame>
      <p:sp>
        <p:nvSpPr>
          <p:cNvPr id="94" name="TextBox 93"/>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OTP re-verification is the only route to a PIN reset (BRL-17). Attempt limits on the reset OTP are the same as elsewhere and share the same open item — OQ-03. A customer who cannot receive an OTP on the registered number has no self-service path and must reach customer service; that journey is outside this document's scope.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Cart (CT)</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CT-01 … CT-06</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SCR-CRT-01</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Cart — Standard Delivery</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53</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Main state  ·  Standard delivery selected</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59436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5873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29" name="TextBox 28"/>
          <p:cNvSpPr txBox="1"/>
          <p:nvPr/>
        </p:nvSpPr>
        <p:spPr>
          <a:xfrm>
            <a:off x="77675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Cart  (8)</a:t>
            </a:r>
          </a:p>
        </p:txBody>
      </p:sp>
      <p:sp>
        <p:nvSpPr>
          <p:cNvPr id="30" name="TextBox 29"/>
          <p:cNvSpPr txBox="1"/>
          <p:nvPr/>
        </p:nvSpPr>
        <p:spPr>
          <a:xfrm>
            <a:off x="2069591" y="998018"/>
            <a:ext cx="461345" cy="214579"/>
          </a:xfrm>
          <a:prstGeom prst="rect">
            <a:avLst/>
          </a:prstGeom>
          <a:noFill/>
        </p:spPr>
        <p:txBody>
          <a:bodyPr wrap="square" lIns="0" tIns="0" rIns="0" bIns="0" anchor="ctr">
            <a:spAutoFit/>
          </a:bodyPr>
          <a:lstStyle/>
          <a:p>
            <a:pPr marL="0" indent="0" algn="r">
              <a:buNone/>
            </a:pPr>
            <a:r>
              <a:rPr sz="600" b="0" i="0">
                <a:solidFill>
                  <a:srgbClr val="555555"/>
                </a:solidFill>
              </a:rPr>
              <a:t>Edit</a:t>
            </a:r>
          </a:p>
        </p:txBody>
      </p:sp>
      <p:sp>
        <p:nvSpPr>
          <p:cNvPr id="31" name="Rectangle 30"/>
          <p:cNvSpPr/>
          <p:nvPr/>
        </p:nvSpPr>
        <p:spPr>
          <a:xfrm>
            <a:off x="59436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594360" y="1217962"/>
            <a:ext cx="1005839" cy="160934"/>
          </a:xfrm>
          <a:prstGeom prst="rect">
            <a:avLst/>
          </a:prstGeom>
          <a:noFill/>
        </p:spPr>
        <p:txBody>
          <a:bodyPr wrap="square" lIns="0" tIns="0" rIns="0" bIns="0" anchor="ctr">
            <a:spAutoFit/>
          </a:bodyPr>
          <a:lstStyle/>
          <a:p>
            <a:pPr marL="0" indent="0" algn="ctr">
              <a:buNone/>
            </a:pPr>
            <a:r>
              <a:rPr sz="650" b="1" i="0">
                <a:solidFill>
                  <a:srgbClr val="C8102E"/>
                </a:solidFill>
              </a:rPr>
              <a:t>Delivery</a:t>
            </a:r>
          </a:p>
        </p:txBody>
      </p:sp>
      <p:sp>
        <p:nvSpPr>
          <p:cNvPr id="33" name="Rectangle 32"/>
          <p:cNvSpPr/>
          <p:nvPr/>
        </p:nvSpPr>
        <p:spPr>
          <a:xfrm>
            <a:off x="815644" y="1362803"/>
            <a:ext cx="563270" cy="1609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1600199" y="1217962"/>
            <a:ext cx="1005839" cy="160934"/>
          </a:xfrm>
          <a:prstGeom prst="rect">
            <a:avLst/>
          </a:prstGeom>
          <a:noFill/>
        </p:spPr>
        <p:txBody>
          <a:bodyPr wrap="square" lIns="0" tIns="0" rIns="0" bIns="0" anchor="ctr">
            <a:spAutoFit/>
          </a:bodyPr>
          <a:lstStyle/>
          <a:p>
            <a:pPr marL="0" indent="0" algn="ctr">
              <a:buNone/>
            </a:pPr>
            <a:r>
              <a:rPr sz="650" b="0" i="0">
                <a:solidFill>
                  <a:srgbClr val="888888"/>
                </a:solidFill>
              </a:rPr>
              <a:t>Self pick-up</a:t>
            </a:r>
          </a:p>
        </p:txBody>
      </p:sp>
      <p:sp>
        <p:nvSpPr>
          <p:cNvPr id="35" name="Rectangle 34"/>
          <p:cNvSpPr/>
          <p:nvPr/>
        </p:nvSpPr>
        <p:spPr>
          <a:xfrm>
            <a:off x="594360" y="1378896"/>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Rectangle 35"/>
          <p:cNvSpPr/>
          <p:nvPr/>
        </p:nvSpPr>
        <p:spPr>
          <a:xfrm>
            <a:off x="594360" y="1384261"/>
            <a:ext cx="2011679" cy="118018"/>
          </a:xfrm>
          <a:prstGeom prst="rect">
            <a:avLst/>
          </a:prstGeom>
          <a:solidFill>
            <a:srgbClr val="F7E9E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TextBox 36"/>
          <p:cNvSpPr txBox="1"/>
          <p:nvPr/>
        </p:nvSpPr>
        <p:spPr>
          <a:xfrm>
            <a:off x="669462" y="1384261"/>
            <a:ext cx="1394764" cy="118018"/>
          </a:xfrm>
          <a:prstGeom prst="rect">
            <a:avLst/>
          </a:prstGeom>
          <a:noFill/>
        </p:spPr>
        <p:txBody>
          <a:bodyPr wrap="square" lIns="0" tIns="0" rIns="0" bIns="0" anchor="ctr">
            <a:spAutoFit/>
          </a:bodyPr>
          <a:lstStyle/>
          <a:p>
            <a:pPr marL="0" indent="0" algn="l">
              <a:buNone/>
            </a:pPr>
            <a:r>
              <a:rPr sz="520" b="0" i="0">
                <a:solidFill>
                  <a:srgbClr val="555555"/>
                </a:solidFill>
              </a:rPr>
              <a:t>Serving store:  </a:t>
            </a:r>
            <a:r>
              <a:rPr sz="520" b="1" i="0">
                <a:solidFill>
                  <a:srgbClr val="C8102E"/>
                </a:solidFill>
              </a:rPr>
              <a:t>LOTTE Mart Nam Sài Gòn</a:t>
            </a:r>
          </a:p>
        </p:txBody>
      </p:sp>
      <p:sp>
        <p:nvSpPr>
          <p:cNvPr id="38" name="TextBox 37"/>
          <p:cNvSpPr txBox="1"/>
          <p:nvPr/>
        </p:nvSpPr>
        <p:spPr>
          <a:xfrm>
            <a:off x="2203703" y="1384261"/>
            <a:ext cx="327233" cy="118018"/>
          </a:xfrm>
          <a:prstGeom prst="rect">
            <a:avLst/>
          </a:prstGeom>
          <a:noFill/>
        </p:spPr>
        <p:txBody>
          <a:bodyPr wrap="square" lIns="0" tIns="0" rIns="0" bIns="0" anchor="ctr">
            <a:spAutoFit/>
          </a:bodyPr>
          <a:lstStyle/>
          <a:p>
            <a:pPr marL="0" indent="0" algn="r">
              <a:buNone/>
            </a:pPr>
            <a:r>
              <a:rPr sz="500" b="1" i="0">
                <a:solidFill>
                  <a:srgbClr val="C8102E"/>
                </a:solidFill>
              </a:rPr>
              <a:t>Change ›</a:t>
            </a:r>
          </a:p>
        </p:txBody>
      </p:sp>
      <p:sp>
        <p:nvSpPr>
          <p:cNvPr id="39" name="Rounded Rectangle 38"/>
          <p:cNvSpPr/>
          <p:nvPr/>
        </p:nvSpPr>
        <p:spPr>
          <a:xfrm>
            <a:off x="669462" y="1523737"/>
            <a:ext cx="1861474" cy="396971"/>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TextBox 39"/>
          <p:cNvSpPr txBox="1"/>
          <p:nvPr/>
        </p:nvSpPr>
        <p:spPr>
          <a:xfrm>
            <a:off x="744565" y="1562294"/>
            <a:ext cx="1072896" cy="83820"/>
          </a:xfrm>
          <a:prstGeom prst="rect">
            <a:avLst/>
          </a:prstGeom>
          <a:noFill/>
        </p:spPr>
        <p:txBody>
          <a:bodyPr wrap="square" lIns="0" tIns="0" rIns="0" bIns="0" anchor="ctr">
            <a:spAutoFit/>
          </a:bodyPr>
          <a:lstStyle/>
          <a:p>
            <a:pPr marL="0" indent="0" algn="l">
              <a:buNone/>
            </a:pPr>
            <a:r>
              <a:rPr sz="500" b="0" i="0">
                <a:solidFill>
                  <a:srgbClr val="888888"/>
                </a:solidFill>
              </a:rPr>
              <a:t>Deliver to</a:t>
            </a:r>
          </a:p>
        </p:txBody>
      </p:sp>
      <p:sp>
        <p:nvSpPr>
          <p:cNvPr id="41" name="TextBox 40"/>
          <p:cNvSpPr txBox="1"/>
          <p:nvPr/>
        </p:nvSpPr>
        <p:spPr>
          <a:xfrm>
            <a:off x="744565" y="1632368"/>
            <a:ext cx="1341120" cy="93878"/>
          </a:xfrm>
          <a:prstGeom prst="rect">
            <a:avLst/>
          </a:prstGeom>
          <a:noFill/>
        </p:spPr>
        <p:txBody>
          <a:bodyPr wrap="square" lIns="0" tIns="0" rIns="0" bIns="0" anchor="ctr">
            <a:spAutoFit/>
          </a:bodyPr>
          <a:lstStyle/>
          <a:p>
            <a:pPr marL="0" indent="0" algn="l">
              <a:buNone/>
            </a:pPr>
            <a:r>
              <a:rPr sz="560" b="1" i="0">
                <a:solidFill>
                  <a:srgbClr val="222222"/>
                </a:solidFill>
              </a:rPr>
              <a:t>Ngọc  ·  090 123 4567</a:t>
            </a:r>
          </a:p>
        </p:txBody>
      </p:sp>
      <p:sp>
        <p:nvSpPr>
          <p:cNvPr id="42" name="TextBox 41"/>
          <p:cNvSpPr txBox="1"/>
          <p:nvPr/>
        </p:nvSpPr>
        <p:spPr>
          <a:xfrm>
            <a:off x="744565" y="1716188"/>
            <a:ext cx="1502054" cy="87172"/>
          </a:xfrm>
          <a:prstGeom prst="rect">
            <a:avLst/>
          </a:prstGeom>
          <a:noFill/>
        </p:spPr>
        <p:txBody>
          <a:bodyPr wrap="square" lIns="0" tIns="0" rIns="0" bIns="0" anchor="ctr">
            <a:spAutoFit/>
          </a:bodyPr>
          <a:lstStyle/>
          <a:p>
            <a:pPr marL="0" indent="0" algn="l">
              <a:buNone/>
            </a:pPr>
            <a:r>
              <a:rPr sz="520" b="0" i="0">
                <a:solidFill>
                  <a:srgbClr val="555555"/>
                </a:solidFill>
              </a:rPr>
              <a:t>123 Nguyễn Thị Thập, Tân Phú, Q.7</a:t>
            </a:r>
          </a:p>
        </p:txBody>
      </p:sp>
      <p:sp>
        <p:nvSpPr>
          <p:cNvPr id="43" name="TextBox 42"/>
          <p:cNvSpPr txBox="1"/>
          <p:nvPr/>
        </p:nvSpPr>
        <p:spPr>
          <a:xfrm>
            <a:off x="2310993" y="1637397"/>
            <a:ext cx="160934" cy="83820"/>
          </a:xfrm>
          <a:prstGeom prst="rect">
            <a:avLst/>
          </a:prstGeom>
          <a:noFill/>
        </p:spPr>
        <p:txBody>
          <a:bodyPr wrap="square" lIns="0" tIns="0" rIns="0" bIns="0" anchor="ctr">
            <a:spAutoFit/>
          </a:bodyPr>
          <a:lstStyle/>
          <a:p>
            <a:pPr marL="0" indent="0" algn="r">
              <a:buNone/>
            </a:pPr>
            <a:r>
              <a:rPr sz="500" b="1" i="0">
                <a:solidFill>
                  <a:srgbClr val="C8102E"/>
                </a:solidFill>
              </a:rPr>
              <a:t>Edit</a:t>
            </a:r>
          </a:p>
        </p:txBody>
      </p:sp>
      <p:sp>
        <p:nvSpPr>
          <p:cNvPr id="44" name="Rectangle 43"/>
          <p:cNvSpPr/>
          <p:nvPr/>
        </p:nvSpPr>
        <p:spPr>
          <a:xfrm>
            <a:off x="744565" y="1824148"/>
            <a:ext cx="171126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TextBox 44"/>
          <p:cNvSpPr txBox="1"/>
          <p:nvPr/>
        </p:nvSpPr>
        <p:spPr>
          <a:xfrm>
            <a:off x="744565" y="1825489"/>
            <a:ext cx="1072896" cy="93878"/>
          </a:xfrm>
          <a:prstGeom prst="rect">
            <a:avLst/>
          </a:prstGeom>
          <a:noFill/>
        </p:spPr>
        <p:txBody>
          <a:bodyPr wrap="square" lIns="0" tIns="0" rIns="0" bIns="0" anchor="ctr">
            <a:spAutoFit/>
          </a:bodyPr>
          <a:lstStyle/>
          <a:p>
            <a:pPr marL="0" indent="0" algn="l">
              <a:buNone/>
            </a:pPr>
            <a:r>
              <a:rPr sz="560" b="1" i="0">
                <a:solidFill>
                  <a:srgbClr val="C8102E"/>
                </a:solidFill>
              </a:rPr>
              <a:t>Standard delivery</a:t>
            </a:r>
          </a:p>
        </p:txBody>
      </p:sp>
      <p:sp>
        <p:nvSpPr>
          <p:cNvPr id="46" name="TextBox 45"/>
          <p:cNvSpPr txBox="1"/>
          <p:nvPr/>
        </p:nvSpPr>
        <p:spPr>
          <a:xfrm>
            <a:off x="1399031" y="1828842"/>
            <a:ext cx="804671" cy="87172"/>
          </a:xfrm>
          <a:prstGeom prst="rect">
            <a:avLst/>
          </a:prstGeom>
          <a:noFill/>
        </p:spPr>
        <p:txBody>
          <a:bodyPr wrap="square" lIns="0" tIns="0" rIns="0" bIns="0" anchor="ctr">
            <a:spAutoFit/>
          </a:bodyPr>
          <a:lstStyle/>
          <a:p>
            <a:pPr marL="0" indent="0" algn="l">
              <a:buNone/>
            </a:pPr>
            <a:r>
              <a:rPr sz="520" b="0" i="0">
                <a:solidFill>
                  <a:srgbClr val="555555"/>
                </a:solidFill>
              </a:rPr>
              <a:t>Today 15:00–18:00</a:t>
            </a:r>
          </a:p>
        </p:txBody>
      </p:sp>
      <p:sp>
        <p:nvSpPr>
          <p:cNvPr id="47" name="TextBox 46"/>
          <p:cNvSpPr txBox="1"/>
          <p:nvPr/>
        </p:nvSpPr>
        <p:spPr>
          <a:xfrm>
            <a:off x="2203703" y="1828842"/>
            <a:ext cx="252130" cy="87172"/>
          </a:xfrm>
          <a:prstGeom prst="rect">
            <a:avLst/>
          </a:prstGeom>
          <a:noFill/>
        </p:spPr>
        <p:txBody>
          <a:bodyPr wrap="square" lIns="0" tIns="0" rIns="0" bIns="0" anchor="ctr">
            <a:spAutoFit/>
          </a:bodyPr>
          <a:lstStyle/>
          <a:p>
            <a:pPr marL="0" indent="0" algn="r">
              <a:buNone/>
            </a:pPr>
            <a:r>
              <a:rPr sz="520" b="1" i="0">
                <a:solidFill>
                  <a:srgbClr val="222222"/>
                </a:solidFill>
              </a:rPr>
              <a:t>Free</a:t>
            </a:r>
          </a:p>
        </p:txBody>
      </p:sp>
      <p:sp>
        <p:nvSpPr>
          <p:cNvPr id="48" name="Rounded Rectangle 47"/>
          <p:cNvSpPr/>
          <p:nvPr/>
        </p:nvSpPr>
        <p:spPr>
          <a:xfrm>
            <a:off x="1881835" y="1555924"/>
            <a:ext cx="579363" cy="80467"/>
          </a:xfrm>
          <a:prstGeom prst="roundRect">
            <a:avLst>
              <a:gd name="adj" fmla="val 50000"/>
            </a:avLst>
          </a:prstGeom>
          <a:solidFill>
            <a:srgbClr val="EEF1F9"/>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9" name="TextBox 48"/>
          <p:cNvSpPr txBox="1"/>
          <p:nvPr/>
        </p:nvSpPr>
        <p:spPr>
          <a:xfrm>
            <a:off x="1881835" y="1555924"/>
            <a:ext cx="579363" cy="80467"/>
          </a:xfrm>
          <a:prstGeom prst="rect">
            <a:avLst/>
          </a:prstGeom>
          <a:noFill/>
        </p:spPr>
        <p:txBody>
          <a:bodyPr wrap="square" lIns="0" tIns="0" rIns="0" bIns="0" anchor="ctr">
            <a:spAutoFit/>
          </a:bodyPr>
          <a:lstStyle/>
          <a:p>
            <a:pPr marL="0" indent="0" algn="ctr">
              <a:buNone/>
            </a:pPr>
            <a:r>
              <a:rPr sz="440" b="1" i="0">
                <a:solidFill>
                  <a:srgbClr val="3D5298"/>
                </a:solidFill>
              </a:rPr>
              <a:t>Carried from Homepage</a:t>
            </a:r>
          </a:p>
        </p:txBody>
      </p:sp>
      <p:sp>
        <p:nvSpPr>
          <p:cNvPr id="50" name="Rounded Rectangle 49"/>
          <p:cNvSpPr/>
          <p:nvPr/>
        </p:nvSpPr>
        <p:spPr>
          <a:xfrm>
            <a:off x="669462" y="1963624"/>
            <a:ext cx="1861474" cy="214579"/>
          </a:xfrm>
          <a:prstGeom prst="roundRect">
            <a:avLst>
              <a:gd name="adj" fmla="val 10000"/>
            </a:avLst>
          </a:prstGeom>
          <a:solidFill>
            <a:srgbClr val="E8F5EE"/>
          </a:solidFill>
          <a:ln w="635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1" name="TextBox 50"/>
          <p:cNvSpPr txBox="1"/>
          <p:nvPr/>
        </p:nvSpPr>
        <p:spPr>
          <a:xfrm>
            <a:off x="744565" y="1979048"/>
            <a:ext cx="1711269" cy="87172"/>
          </a:xfrm>
          <a:prstGeom prst="rect">
            <a:avLst/>
          </a:prstGeom>
          <a:noFill/>
        </p:spPr>
        <p:txBody>
          <a:bodyPr wrap="square" lIns="0" tIns="0" rIns="0" bIns="0" anchor="ctr">
            <a:spAutoFit/>
          </a:bodyPr>
          <a:lstStyle/>
          <a:p>
            <a:pPr marL="0" indent="0" algn="l">
              <a:buNone/>
            </a:pPr>
            <a:r>
              <a:rPr sz="520" b="1" i="0">
                <a:solidFill>
                  <a:srgbClr val="14603A"/>
                </a:solidFill>
              </a:rPr>
              <a:t>Free delivery unlocked — order is over 150,000 ₫</a:t>
            </a:r>
          </a:p>
        </p:txBody>
      </p:sp>
      <p:sp>
        <p:nvSpPr>
          <p:cNvPr id="52" name="Rounded Rectangle 51"/>
          <p:cNvSpPr/>
          <p:nvPr/>
        </p:nvSpPr>
        <p:spPr>
          <a:xfrm>
            <a:off x="744565" y="2081643"/>
            <a:ext cx="1711269" cy="32186"/>
          </a:xfrm>
          <a:prstGeom prst="roundRect">
            <a:avLst>
              <a:gd name="adj" fmla="val 50000"/>
            </a:avLst>
          </a:prstGeom>
          <a:solidFill>
            <a:srgbClr val="C9E5D5"/>
          </a:solidFill>
          <a:ln w="6350">
            <a:solidFill>
              <a:srgbClr val="C9E5D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Rounded Rectangle 52"/>
          <p:cNvSpPr/>
          <p:nvPr/>
        </p:nvSpPr>
        <p:spPr>
          <a:xfrm>
            <a:off x="744565" y="2081643"/>
            <a:ext cx="1711269" cy="32186"/>
          </a:xfrm>
          <a:prstGeom prst="roundRect">
            <a:avLst>
              <a:gd name="adj" fmla="val 50000"/>
            </a:avLst>
          </a:prstGeom>
          <a:solidFill>
            <a:srgbClr val="1B7F4B"/>
          </a:solidFill>
          <a:ln w="635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4" name="TextBox 53"/>
          <p:cNvSpPr txBox="1"/>
          <p:nvPr/>
        </p:nvSpPr>
        <p:spPr>
          <a:xfrm>
            <a:off x="669462" y="2213409"/>
            <a:ext cx="643737" cy="90525"/>
          </a:xfrm>
          <a:prstGeom prst="rect">
            <a:avLst/>
          </a:prstGeom>
          <a:noFill/>
        </p:spPr>
        <p:txBody>
          <a:bodyPr wrap="square" lIns="0" tIns="0" rIns="0" bIns="0" anchor="ctr">
            <a:spAutoFit/>
          </a:bodyPr>
          <a:lstStyle/>
          <a:p>
            <a:pPr marL="0" indent="0" algn="l">
              <a:buNone/>
            </a:pPr>
            <a:r>
              <a:rPr sz="540" b="1" i="0">
                <a:solidFill>
                  <a:srgbClr val="555555"/>
                </a:solidFill>
              </a:rPr>
              <a:t>Filter</a:t>
            </a:r>
          </a:p>
        </p:txBody>
      </p:sp>
      <p:sp>
        <p:nvSpPr>
          <p:cNvPr id="55" name="Rounded Rectangle 54"/>
          <p:cNvSpPr/>
          <p:nvPr/>
        </p:nvSpPr>
        <p:spPr>
          <a:xfrm>
            <a:off x="905499" y="2205026"/>
            <a:ext cx="514990" cy="107289"/>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6" name="TextBox 55"/>
          <p:cNvSpPr txBox="1"/>
          <p:nvPr/>
        </p:nvSpPr>
        <p:spPr>
          <a:xfrm>
            <a:off x="905499" y="2205026"/>
            <a:ext cx="514990" cy="107289"/>
          </a:xfrm>
          <a:prstGeom prst="rect">
            <a:avLst/>
          </a:prstGeom>
          <a:noFill/>
        </p:spPr>
        <p:txBody>
          <a:bodyPr wrap="square" lIns="0" tIns="0" rIns="0" bIns="0" anchor="ctr">
            <a:spAutoFit/>
          </a:bodyPr>
          <a:lstStyle/>
          <a:p>
            <a:pPr marL="0" indent="0" algn="ctr">
              <a:buNone/>
            </a:pPr>
            <a:r>
              <a:rPr sz="480" b="0" i="0">
                <a:solidFill>
                  <a:srgbClr val="555555"/>
                </a:solidFill>
              </a:rPr>
              <a:t>60-Minute</a:t>
            </a:r>
          </a:p>
        </p:txBody>
      </p:sp>
      <p:sp>
        <p:nvSpPr>
          <p:cNvPr id="57" name="Rounded Rectangle 56"/>
          <p:cNvSpPr/>
          <p:nvPr/>
        </p:nvSpPr>
        <p:spPr>
          <a:xfrm>
            <a:off x="1452676" y="2205026"/>
            <a:ext cx="321868" cy="107289"/>
          </a:xfrm>
          <a:prstGeom prst="roundRect">
            <a:avLst>
              <a:gd name="adj" fmla="val 50000"/>
            </a:avLst>
          </a:prstGeom>
          <a:solidFill>
            <a:srgbClr val="EEF1F9"/>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8" name="TextBox 57"/>
          <p:cNvSpPr txBox="1"/>
          <p:nvPr/>
        </p:nvSpPr>
        <p:spPr>
          <a:xfrm>
            <a:off x="1452676" y="2205026"/>
            <a:ext cx="321868" cy="107289"/>
          </a:xfrm>
          <a:prstGeom prst="rect">
            <a:avLst/>
          </a:prstGeom>
          <a:noFill/>
        </p:spPr>
        <p:txBody>
          <a:bodyPr wrap="square" lIns="0" tIns="0" rIns="0" bIns="0" anchor="ctr">
            <a:spAutoFit/>
          </a:bodyPr>
          <a:lstStyle/>
          <a:p>
            <a:pPr marL="0" indent="0" algn="ctr">
              <a:buNone/>
            </a:pPr>
            <a:r>
              <a:rPr sz="480" b="1" i="0">
                <a:solidFill>
                  <a:srgbClr val="3D5298"/>
                </a:solidFill>
              </a:rPr>
              <a:t>BNPL</a:t>
            </a:r>
          </a:p>
        </p:txBody>
      </p:sp>
      <p:sp>
        <p:nvSpPr>
          <p:cNvPr id="59" name="TextBox 58"/>
          <p:cNvSpPr txBox="1"/>
          <p:nvPr/>
        </p:nvSpPr>
        <p:spPr>
          <a:xfrm>
            <a:off x="2203703" y="2216761"/>
            <a:ext cx="327233" cy="83820"/>
          </a:xfrm>
          <a:prstGeom prst="rect">
            <a:avLst/>
          </a:prstGeom>
          <a:noFill/>
        </p:spPr>
        <p:txBody>
          <a:bodyPr wrap="square" lIns="0" tIns="0" rIns="0" bIns="0" anchor="ctr">
            <a:spAutoFit/>
          </a:bodyPr>
          <a:lstStyle/>
          <a:p>
            <a:pPr marL="0" indent="0" algn="r">
              <a:buNone/>
            </a:pPr>
            <a:r>
              <a:rPr sz="500" b="0" i="0">
                <a:solidFill>
                  <a:srgbClr val="888888"/>
                </a:solidFill>
              </a:rPr>
              <a:t>8 items</a:t>
            </a:r>
          </a:p>
        </p:txBody>
      </p:sp>
      <p:sp>
        <p:nvSpPr>
          <p:cNvPr id="60" name="Rounded Rectangle 59"/>
          <p:cNvSpPr/>
          <p:nvPr/>
        </p:nvSpPr>
        <p:spPr>
          <a:xfrm>
            <a:off x="658733" y="2478615"/>
            <a:ext cx="64373" cy="64373"/>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1" name="TextBox 60"/>
          <p:cNvSpPr txBox="1"/>
          <p:nvPr/>
        </p:nvSpPr>
        <p:spPr>
          <a:xfrm>
            <a:off x="658733" y="2468892"/>
            <a:ext cx="64373" cy="83820"/>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62" name="Rounded Rectangle 61"/>
          <p:cNvSpPr/>
          <p:nvPr/>
        </p:nvSpPr>
        <p:spPr>
          <a:xfrm>
            <a:off x="755294" y="2398147"/>
            <a:ext cx="203850" cy="203850"/>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3" name="TextBox 62"/>
          <p:cNvSpPr txBox="1"/>
          <p:nvPr/>
        </p:nvSpPr>
        <p:spPr>
          <a:xfrm>
            <a:off x="755294" y="2398147"/>
            <a:ext cx="203850" cy="203850"/>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64" name="TextBox 63"/>
          <p:cNvSpPr txBox="1"/>
          <p:nvPr/>
        </p:nvSpPr>
        <p:spPr>
          <a:xfrm>
            <a:off x="1002060" y="2365960"/>
            <a:ext cx="1110447" cy="91196"/>
          </a:xfrm>
          <a:prstGeom prst="rect">
            <a:avLst/>
          </a:prstGeom>
          <a:noFill/>
        </p:spPr>
        <p:txBody>
          <a:bodyPr wrap="square" lIns="0" tIns="0" rIns="0" bIns="0" anchor="ctr">
            <a:spAutoFit/>
          </a:bodyPr>
          <a:lstStyle/>
          <a:p>
            <a:pPr marL="0" indent="0" algn="l">
              <a:buNone/>
            </a:pPr>
            <a:r>
              <a:rPr sz="520" b="1" i="0">
                <a:solidFill>
                  <a:srgbClr val="222222"/>
                </a:solidFill>
              </a:rPr>
              <a:t>Vinamilk fresh milk 1L · pack of 4</a:t>
            </a:r>
          </a:p>
        </p:txBody>
      </p:sp>
      <p:sp>
        <p:nvSpPr>
          <p:cNvPr id="65" name="TextBox 64"/>
          <p:cNvSpPr txBox="1"/>
          <p:nvPr/>
        </p:nvSpPr>
        <p:spPr>
          <a:xfrm>
            <a:off x="1002060" y="2461180"/>
            <a:ext cx="804671" cy="93878"/>
          </a:xfrm>
          <a:prstGeom prst="rect">
            <a:avLst/>
          </a:prstGeom>
          <a:noFill/>
        </p:spPr>
        <p:txBody>
          <a:bodyPr wrap="square" lIns="0" tIns="0" rIns="0" bIns="0" anchor="ctr">
            <a:spAutoFit/>
          </a:bodyPr>
          <a:lstStyle/>
          <a:p>
            <a:pPr marL="0" indent="0" algn="l">
              <a:buNone/>
            </a:pPr>
            <a:r>
              <a:rPr sz="560" b="1" i="0">
                <a:solidFill>
                  <a:srgbClr val="C8102E"/>
                </a:solidFill>
              </a:rPr>
              <a:t>196,000 ₫</a:t>
            </a:r>
            <a:r>
              <a:rPr sz="459" b="0" i="0">
                <a:solidFill>
                  <a:srgbClr val="AAAAAA"/>
                </a:solidFill>
              </a:rPr>
              <a:t>   236,000 ₫</a:t>
            </a:r>
          </a:p>
        </p:txBody>
      </p:sp>
      <p:sp>
        <p:nvSpPr>
          <p:cNvPr id="66" name="Rounded Rectangle 65"/>
          <p:cNvSpPr/>
          <p:nvPr/>
        </p:nvSpPr>
        <p:spPr>
          <a:xfrm>
            <a:off x="1002060" y="2569811"/>
            <a:ext cx="278952" cy="69738"/>
          </a:xfrm>
          <a:prstGeom prst="roundRect">
            <a:avLst>
              <a:gd name="adj" fmla="val 50000"/>
            </a:avLst>
          </a:prstGeom>
          <a:solidFill>
            <a:srgbClr val="EEF1F9"/>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7" name="TextBox 66"/>
          <p:cNvSpPr txBox="1"/>
          <p:nvPr/>
        </p:nvSpPr>
        <p:spPr>
          <a:xfrm>
            <a:off x="1002060" y="2569476"/>
            <a:ext cx="278952" cy="70408"/>
          </a:xfrm>
          <a:prstGeom prst="rect">
            <a:avLst/>
          </a:prstGeom>
          <a:noFill/>
        </p:spPr>
        <p:txBody>
          <a:bodyPr wrap="square" lIns="0" tIns="0" rIns="0" bIns="0" anchor="ctr">
            <a:spAutoFit/>
          </a:bodyPr>
          <a:lstStyle/>
          <a:p>
            <a:pPr marL="0" indent="0" algn="ctr">
              <a:buNone/>
            </a:pPr>
            <a:r>
              <a:rPr sz="420" b="1" i="0">
                <a:solidFill>
                  <a:srgbClr val="3D5298"/>
                </a:solidFill>
              </a:rPr>
              <a:t>BNPL</a:t>
            </a:r>
          </a:p>
        </p:txBody>
      </p:sp>
      <p:sp>
        <p:nvSpPr>
          <p:cNvPr id="68" name="Rounded Rectangle 67"/>
          <p:cNvSpPr/>
          <p:nvPr/>
        </p:nvSpPr>
        <p:spPr>
          <a:xfrm>
            <a:off x="2209068" y="2441063"/>
            <a:ext cx="321868" cy="118018"/>
          </a:xfrm>
          <a:prstGeom prst="roundRect">
            <a:avLst>
              <a:gd name="adj" fmla="val 2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9" name="TextBox 68"/>
          <p:cNvSpPr txBox="1"/>
          <p:nvPr/>
        </p:nvSpPr>
        <p:spPr>
          <a:xfrm>
            <a:off x="2209068" y="2441063"/>
            <a:ext cx="107289" cy="118018"/>
          </a:xfrm>
          <a:prstGeom prst="rect">
            <a:avLst/>
          </a:prstGeom>
          <a:noFill/>
        </p:spPr>
        <p:txBody>
          <a:bodyPr wrap="square" lIns="0" tIns="0" rIns="0" bIns="0" anchor="ctr">
            <a:spAutoFit/>
          </a:bodyPr>
          <a:lstStyle/>
          <a:p>
            <a:pPr marL="0" indent="0" algn="ctr">
              <a:buNone/>
            </a:pPr>
            <a:r>
              <a:rPr sz="560" b="0" i="0">
                <a:solidFill>
                  <a:srgbClr val="555555"/>
                </a:solidFill>
              </a:rPr>
              <a:t>−</a:t>
            </a:r>
          </a:p>
        </p:txBody>
      </p:sp>
      <p:sp>
        <p:nvSpPr>
          <p:cNvPr id="70" name="TextBox 69"/>
          <p:cNvSpPr txBox="1"/>
          <p:nvPr/>
        </p:nvSpPr>
        <p:spPr>
          <a:xfrm>
            <a:off x="2310993" y="2441063"/>
            <a:ext cx="118018" cy="118018"/>
          </a:xfrm>
          <a:prstGeom prst="rect">
            <a:avLst/>
          </a:prstGeom>
          <a:noFill/>
        </p:spPr>
        <p:txBody>
          <a:bodyPr wrap="square" lIns="0" tIns="0" rIns="0" bIns="0" anchor="ctr">
            <a:spAutoFit/>
          </a:bodyPr>
          <a:lstStyle/>
          <a:p>
            <a:pPr marL="0" indent="0" algn="ctr">
              <a:buNone/>
            </a:pPr>
            <a:r>
              <a:rPr sz="560" b="1" i="0">
                <a:solidFill>
                  <a:srgbClr val="222222"/>
                </a:solidFill>
              </a:rPr>
              <a:t>1</a:t>
            </a:r>
          </a:p>
        </p:txBody>
      </p:sp>
      <p:sp>
        <p:nvSpPr>
          <p:cNvPr id="71" name="TextBox 70"/>
          <p:cNvSpPr txBox="1"/>
          <p:nvPr/>
        </p:nvSpPr>
        <p:spPr>
          <a:xfrm>
            <a:off x="2423647" y="2441063"/>
            <a:ext cx="107289" cy="118018"/>
          </a:xfrm>
          <a:prstGeom prst="rect">
            <a:avLst/>
          </a:prstGeom>
          <a:noFill/>
        </p:spPr>
        <p:txBody>
          <a:bodyPr wrap="square" lIns="0" tIns="0" rIns="0" bIns="0" anchor="ctr">
            <a:spAutoFit/>
          </a:bodyPr>
          <a:lstStyle/>
          <a:p>
            <a:pPr marL="0" indent="0" algn="ctr">
              <a:buNone/>
            </a:pPr>
            <a:r>
              <a:rPr sz="560" b="0" i="0">
                <a:solidFill>
                  <a:srgbClr val="C8102E"/>
                </a:solidFill>
              </a:rPr>
              <a:t>+</a:t>
            </a:r>
          </a:p>
        </p:txBody>
      </p:sp>
      <p:sp>
        <p:nvSpPr>
          <p:cNvPr id="72" name="Rectangle 71"/>
          <p:cNvSpPr/>
          <p:nvPr/>
        </p:nvSpPr>
        <p:spPr>
          <a:xfrm>
            <a:off x="658733" y="2671736"/>
            <a:ext cx="1882932"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3" name="Rounded Rectangle 72"/>
          <p:cNvSpPr/>
          <p:nvPr/>
        </p:nvSpPr>
        <p:spPr>
          <a:xfrm>
            <a:off x="658733" y="2811212"/>
            <a:ext cx="64373" cy="64373"/>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TextBox 73"/>
          <p:cNvSpPr txBox="1"/>
          <p:nvPr/>
        </p:nvSpPr>
        <p:spPr>
          <a:xfrm>
            <a:off x="658733" y="2801489"/>
            <a:ext cx="64373" cy="83820"/>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75" name="Rounded Rectangle 74"/>
          <p:cNvSpPr/>
          <p:nvPr/>
        </p:nvSpPr>
        <p:spPr>
          <a:xfrm>
            <a:off x="755294" y="2730745"/>
            <a:ext cx="203850" cy="203850"/>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6" name="TextBox 75"/>
          <p:cNvSpPr txBox="1"/>
          <p:nvPr/>
        </p:nvSpPr>
        <p:spPr>
          <a:xfrm>
            <a:off x="755294" y="2730745"/>
            <a:ext cx="203850" cy="203850"/>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77" name="TextBox 76"/>
          <p:cNvSpPr txBox="1"/>
          <p:nvPr/>
        </p:nvSpPr>
        <p:spPr>
          <a:xfrm>
            <a:off x="1002060" y="2698558"/>
            <a:ext cx="1110447" cy="91196"/>
          </a:xfrm>
          <a:prstGeom prst="rect">
            <a:avLst/>
          </a:prstGeom>
          <a:noFill/>
        </p:spPr>
        <p:txBody>
          <a:bodyPr wrap="square" lIns="0" tIns="0" rIns="0" bIns="0" anchor="ctr">
            <a:spAutoFit/>
          </a:bodyPr>
          <a:lstStyle/>
          <a:p>
            <a:pPr marL="0" indent="0" algn="l">
              <a:buNone/>
            </a:pPr>
            <a:r>
              <a:rPr sz="520" b="1" i="0">
                <a:solidFill>
                  <a:srgbClr val="222222"/>
                </a:solidFill>
              </a:rPr>
              <a:t>Ba Vì yoghurt · pack of 12</a:t>
            </a:r>
          </a:p>
        </p:txBody>
      </p:sp>
      <p:sp>
        <p:nvSpPr>
          <p:cNvPr id="78" name="TextBox 77"/>
          <p:cNvSpPr txBox="1"/>
          <p:nvPr/>
        </p:nvSpPr>
        <p:spPr>
          <a:xfrm>
            <a:off x="1002060" y="2793778"/>
            <a:ext cx="804671" cy="93878"/>
          </a:xfrm>
          <a:prstGeom prst="rect">
            <a:avLst/>
          </a:prstGeom>
          <a:noFill/>
        </p:spPr>
        <p:txBody>
          <a:bodyPr wrap="square" lIns="0" tIns="0" rIns="0" bIns="0" anchor="ctr">
            <a:spAutoFit/>
          </a:bodyPr>
          <a:lstStyle/>
          <a:p>
            <a:pPr marL="0" indent="0" algn="l">
              <a:buNone/>
            </a:pPr>
            <a:r>
              <a:rPr sz="560" b="1" i="0">
                <a:solidFill>
                  <a:srgbClr val="C8102E"/>
                </a:solidFill>
              </a:rPr>
              <a:t>78,000 ₫</a:t>
            </a:r>
          </a:p>
        </p:txBody>
      </p:sp>
      <p:sp>
        <p:nvSpPr>
          <p:cNvPr id="79" name="TextBox 78"/>
          <p:cNvSpPr txBox="1"/>
          <p:nvPr/>
        </p:nvSpPr>
        <p:spPr>
          <a:xfrm>
            <a:off x="1002060" y="2900397"/>
            <a:ext cx="804671" cy="73761"/>
          </a:xfrm>
          <a:prstGeom prst="rect">
            <a:avLst/>
          </a:prstGeom>
          <a:noFill/>
        </p:spPr>
        <p:txBody>
          <a:bodyPr wrap="square" lIns="0" tIns="0" rIns="0" bIns="0" anchor="ctr">
            <a:spAutoFit/>
          </a:bodyPr>
          <a:lstStyle/>
          <a:p>
            <a:pPr marL="0" indent="0" algn="l">
              <a:buNone/>
            </a:pPr>
            <a:r>
              <a:rPr sz="440" b="0" i="0">
                <a:solidFill>
                  <a:srgbClr val="888888"/>
                </a:solidFill>
              </a:rPr>
              <a:t>Refill in ~14 days</a:t>
            </a:r>
          </a:p>
        </p:txBody>
      </p:sp>
      <p:sp>
        <p:nvSpPr>
          <p:cNvPr id="80" name="Rounded Rectangle 79"/>
          <p:cNvSpPr/>
          <p:nvPr/>
        </p:nvSpPr>
        <p:spPr>
          <a:xfrm>
            <a:off x="2209068" y="2773661"/>
            <a:ext cx="321868" cy="118018"/>
          </a:xfrm>
          <a:prstGeom prst="roundRect">
            <a:avLst>
              <a:gd name="adj" fmla="val 2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1" name="TextBox 80"/>
          <p:cNvSpPr txBox="1"/>
          <p:nvPr/>
        </p:nvSpPr>
        <p:spPr>
          <a:xfrm>
            <a:off x="2209068" y="2773661"/>
            <a:ext cx="107289" cy="118018"/>
          </a:xfrm>
          <a:prstGeom prst="rect">
            <a:avLst/>
          </a:prstGeom>
          <a:noFill/>
        </p:spPr>
        <p:txBody>
          <a:bodyPr wrap="square" lIns="0" tIns="0" rIns="0" bIns="0" anchor="ctr">
            <a:spAutoFit/>
          </a:bodyPr>
          <a:lstStyle/>
          <a:p>
            <a:pPr marL="0" indent="0" algn="ctr">
              <a:buNone/>
            </a:pPr>
            <a:r>
              <a:rPr sz="560" b="0" i="0">
                <a:solidFill>
                  <a:srgbClr val="555555"/>
                </a:solidFill>
              </a:rPr>
              <a:t>−</a:t>
            </a:r>
          </a:p>
        </p:txBody>
      </p:sp>
      <p:sp>
        <p:nvSpPr>
          <p:cNvPr id="82" name="TextBox 81"/>
          <p:cNvSpPr txBox="1"/>
          <p:nvPr/>
        </p:nvSpPr>
        <p:spPr>
          <a:xfrm>
            <a:off x="2310993" y="2773661"/>
            <a:ext cx="118018" cy="118018"/>
          </a:xfrm>
          <a:prstGeom prst="rect">
            <a:avLst/>
          </a:prstGeom>
          <a:noFill/>
        </p:spPr>
        <p:txBody>
          <a:bodyPr wrap="square" lIns="0" tIns="0" rIns="0" bIns="0" anchor="ctr">
            <a:spAutoFit/>
          </a:bodyPr>
          <a:lstStyle/>
          <a:p>
            <a:pPr marL="0" indent="0" algn="ctr">
              <a:buNone/>
            </a:pPr>
            <a:r>
              <a:rPr sz="560" b="1" i="0">
                <a:solidFill>
                  <a:srgbClr val="222222"/>
                </a:solidFill>
              </a:rPr>
              <a:t>2</a:t>
            </a:r>
          </a:p>
        </p:txBody>
      </p:sp>
      <p:sp>
        <p:nvSpPr>
          <p:cNvPr id="83" name="TextBox 82"/>
          <p:cNvSpPr txBox="1"/>
          <p:nvPr/>
        </p:nvSpPr>
        <p:spPr>
          <a:xfrm>
            <a:off x="2423647" y="2773661"/>
            <a:ext cx="107289" cy="118018"/>
          </a:xfrm>
          <a:prstGeom prst="rect">
            <a:avLst/>
          </a:prstGeom>
          <a:noFill/>
        </p:spPr>
        <p:txBody>
          <a:bodyPr wrap="square" lIns="0" tIns="0" rIns="0" bIns="0" anchor="ctr">
            <a:spAutoFit/>
          </a:bodyPr>
          <a:lstStyle/>
          <a:p>
            <a:pPr marL="0" indent="0" algn="ctr">
              <a:buNone/>
            </a:pPr>
            <a:r>
              <a:rPr sz="560" b="0" i="0">
                <a:solidFill>
                  <a:srgbClr val="C8102E"/>
                </a:solidFill>
              </a:rPr>
              <a:t>+</a:t>
            </a:r>
          </a:p>
        </p:txBody>
      </p:sp>
      <p:sp>
        <p:nvSpPr>
          <p:cNvPr id="84" name="Rectangle 83"/>
          <p:cNvSpPr/>
          <p:nvPr/>
        </p:nvSpPr>
        <p:spPr>
          <a:xfrm>
            <a:off x="658733" y="3004334"/>
            <a:ext cx="1882932"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5" name="Rounded Rectangle 84"/>
          <p:cNvSpPr/>
          <p:nvPr/>
        </p:nvSpPr>
        <p:spPr>
          <a:xfrm>
            <a:off x="658733" y="3143810"/>
            <a:ext cx="64373" cy="64373"/>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6" name="TextBox 85"/>
          <p:cNvSpPr txBox="1"/>
          <p:nvPr/>
        </p:nvSpPr>
        <p:spPr>
          <a:xfrm>
            <a:off x="658733" y="3134087"/>
            <a:ext cx="64373" cy="83820"/>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87" name="Rounded Rectangle 86"/>
          <p:cNvSpPr/>
          <p:nvPr/>
        </p:nvSpPr>
        <p:spPr>
          <a:xfrm>
            <a:off x="755294" y="3063343"/>
            <a:ext cx="203850" cy="203850"/>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8" name="TextBox 87"/>
          <p:cNvSpPr txBox="1"/>
          <p:nvPr/>
        </p:nvSpPr>
        <p:spPr>
          <a:xfrm>
            <a:off x="755294" y="3063343"/>
            <a:ext cx="203850" cy="203850"/>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89" name="TextBox 88"/>
          <p:cNvSpPr txBox="1"/>
          <p:nvPr/>
        </p:nvSpPr>
        <p:spPr>
          <a:xfrm>
            <a:off x="1002060" y="3031156"/>
            <a:ext cx="1110447" cy="91196"/>
          </a:xfrm>
          <a:prstGeom prst="rect">
            <a:avLst/>
          </a:prstGeom>
          <a:noFill/>
        </p:spPr>
        <p:txBody>
          <a:bodyPr wrap="square" lIns="0" tIns="0" rIns="0" bIns="0" anchor="ctr">
            <a:spAutoFit/>
          </a:bodyPr>
          <a:lstStyle/>
          <a:p>
            <a:pPr marL="0" indent="0" algn="l">
              <a:buNone/>
            </a:pPr>
            <a:r>
              <a:rPr sz="520" b="1" i="0">
                <a:solidFill>
                  <a:srgbClr val="222222"/>
                </a:solidFill>
              </a:rPr>
              <a:t>Chicken breast 500g</a:t>
            </a:r>
          </a:p>
        </p:txBody>
      </p:sp>
      <p:sp>
        <p:nvSpPr>
          <p:cNvPr id="90" name="TextBox 89"/>
          <p:cNvSpPr txBox="1"/>
          <p:nvPr/>
        </p:nvSpPr>
        <p:spPr>
          <a:xfrm>
            <a:off x="1002060" y="3126376"/>
            <a:ext cx="804671" cy="93878"/>
          </a:xfrm>
          <a:prstGeom prst="rect">
            <a:avLst/>
          </a:prstGeom>
          <a:noFill/>
        </p:spPr>
        <p:txBody>
          <a:bodyPr wrap="square" lIns="0" tIns="0" rIns="0" bIns="0" anchor="ctr">
            <a:spAutoFit/>
          </a:bodyPr>
          <a:lstStyle/>
          <a:p>
            <a:pPr marL="0" indent="0" algn="l">
              <a:buNone/>
            </a:pPr>
            <a:r>
              <a:rPr sz="560" b="1" i="0">
                <a:solidFill>
                  <a:srgbClr val="C8102E"/>
                </a:solidFill>
              </a:rPr>
              <a:t>112,000 ₫</a:t>
            </a:r>
          </a:p>
        </p:txBody>
      </p:sp>
      <p:sp>
        <p:nvSpPr>
          <p:cNvPr id="91" name="Rounded Rectangle 90"/>
          <p:cNvSpPr/>
          <p:nvPr/>
        </p:nvSpPr>
        <p:spPr>
          <a:xfrm>
            <a:off x="1002060" y="3235006"/>
            <a:ext cx="278952" cy="69738"/>
          </a:xfrm>
          <a:prstGeom prst="roundRect">
            <a:avLst>
              <a:gd name="adj" fmla="val 50000"/>
            </a:avLst>
          </a:prstGeom>
          <a:solidFill>
            <a:srgbClr val="EEF1F9"/>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2" name="TextBox 91"/>
          <p:cNvSpPr txBox="1"/>
          <p:nvPr/>
        </p:nvSpPr>
        <p:spPr>
          <a:xfrm>
            <a:off x="1002060" y="3234671"/>
            <a:ext cx="278952" cy="70408"/>
          </a:xfrm>
          <a:prstGeom prst="rect">
            <a:avLst/>
          </a:prstGeom>
          <a:noFill/>
        </p:spPr>
        <p:txBody>
          <a:bodyPr wrap="square" lIns="0" tIns="0" rIns="0" bIns="0" anchor="ctr">
            <a:spAutoFit/>
          </a:bodyPr>
          <a:lstStyle/>
          <a:p>
            <a:pPr marL="0" indent="0" algn="ctr">
              <a:buNone/>
            </a:pPr>
            <a:r>
              <a:rPr sz="420" b="1" i="0">
                <a:solidFill>
                  <a:srgbClr val="3D5298"/>
                </a:solidFill>
              </a:rPr>
              <a:t>60-Minute</a:t>
            </a:r>
          </a:p>
        </p:txBody>
      </p:sp>
      <p:sp>
        <p:nvSpPr>
          <p:cNvPr id="93" name="Rounded Rectangle 92"/>
          <p:cNvSpPr/>
          <p:nvPr/>
        </p:nvSpPr>
        <p:spPr>
          <a:xfrm>
            <a:off x="2209068" y="3106259"/>
            <a:ext cx="321868" cy="118018"/>
          </a:xfrm>
          <a:prstGeom prst="roundRect">
            <a:avLst>
              <a:gd name="adj" fmla="val 2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4" name="TextBox 93"/>
          <p:cNvSpPr txBox="1"/>
          <p:nvPr/>
        </p:nvSpPr>
        <p:spPr>
          <a:xfrm>
            <a:off x="2209068" y="3106259"/>
            <a:ext cx="107289" cy="118018"/>
          </a:xfrm>
          <a:prstGeom prst="rect">
            <a:avLst/>
          </a:prstGeom>
          <a:noFill/>
        </p:spPr>
        <p:txBody>
          <a:bodyPr wrap="square" lIns="0" tIns="0" rIns="0" bIns="0" anchor="ctr">
            <a:spAutoFit/>
          </a:bodyPr>
          <a:lstStyle/>
          <a:p>
            <a:pPr marL="0" indent="0" algn="ctr">
              <a:buNone/>
            </a:pPr>
            <a:r>
              <a:rPr sz="560" b="0" i="0">
                <a:solidFill>
                  <a:srgbClr val="555555"/>
                </a:solidFill>
              </a:rPr>
              <a:t>−</a:t>
            </a:r>
          </a:p>
        </p:txBody>
      </p:sp>
      <p:sp>
        <p:nvSpPr>
          <p:cNvPr id="95" name="TextBox 94"/>
          <p:cNvSpPr txBox="1"/>
          <p:nvPr/>
        </p:nvSpPr>
        <p:spPr>
          <a:xfrm>
            <a:off x="2310993" y="3106259"/>
            <a:ext cx="118018" cy="118018"/>
          </a:xfrm>
          <a:prstGeom prst="rect">
            <a:avLst/>
          </a:prstGeom>
          <a:noFill/>
        </p:spPr>
        <p:txBody>
          <a:bodyPr wrap="square" lIns="0" tIns="0" rIns="0" bIns="0" anchor="ctr">
            <a:spAutoFit/>
          </a:bodyPr>
          <a:lstStyle/>
          <a:p>
            <a:pPr marL="0" indent="0" algn="ctr">
              <a:buNone/>
            </a:pPr>
            <a:r>
              <a:rPr sz="560" b="1" i="0">
                <a:solidFill>
                  <a:srgbClr val="222222"/>
                </a:solidFill>
              </a:rPr>
              <a:t>1</a:t>
            </a:r>
          </a:p>
        </p:txBody>
      </p:sp>
      <p:sp>
        <p:nvSpPr>
          <p:cNvPr id="96" name="TextBox 95"/>
          <p:cNvSpPr txBox="1"/>
          <p:nvPr/>
        </p:nvSpPr>
        <p:spPr>
          <a:xfrm>
            <a:off x="2423647" y="3106259"/>
            <a:ext cx="107289" cy="118018"/>
          </a:xfrm>
          <a:prstGeom prst="rect">
            <a:avLst/>
          </a:prstGeom>
          <a:noFill/>
        </p:spPr>
        <p:txBody>
          <a:bodyPr wrap="square" lIns="0" tIns="0" rIns="0" bIns="0" anchor="ctr">
            <a:spAutoFit/>
          </a:bodyPr>
          <a:lstStyle/>
          <a:p>
            <a:pPr marL="0" indent="0" algn="ctr">
              <a:buNone/>
            </a:pPr>
            <a:r>
              <a:rPr sz="560" b="0" i="0">
                <a:solidFill>
                  <a:srgbClr val="C8102E"/>
                </a:solidFill>
              </a:rPr>
              <a:t>+</a:t>
            </a:r>
          </a:p>
        </p:txBody>
      </p:sp>
      <p:sp>
        <p:nvSpPr>
          <p:cNvPr id="97" name="Rectangle 96"/>
          <p:cNvSpPr/>
          <p:nvPr/>
        </p:nvSpPr>
        <p:spPr>
          <a:xfrm>
            <a:off x="658733" y="3336931"/>
            <a:ext cx="1882932"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8" name="Rounded Rectangle 97"/>
          <p:cNvSpPr/>
          <p:nvPr/>
        </p:nvSpPr>
        <p:spPr>
          <a:xfrm>
            <a:off x="669462" y="3369118"/>
            <a:ext cx="1861474" cy="246766"/>
          </a:xfrm>
          <a:prstGeom prst="roundRect">
            <a:avLst>
              <a:gd name="adj" fmla="val 10000"/>
            </a:avLst>
          </a:prstGeom>
          <a:solidFill>
            <a:srgbClr val="FFF6E5"/>
          </a:solidFill>
          <a:ln w="6350">
            <a:solidFill>
              <a:srgbClr val="B26A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9" name="TextBox 98"/>
          <p:cNvSpPr txBox="1"/>
          <p:nvPr/>
        </p:nvSpPr>
        <p:spPr>
          <a:xfrm>
            <a:off x="744565" y="3393594"/>
            <a:ext cx="1287475" cy="90525"/>
          </a:xfrm>
          <a:prstGeom prst="rect">
            <a:avLst/>
          </a:prstGeom>
          <a:noFill/>
        </p:spPr>
        <p:txBody>
          <a:bodyPr wrap="square" lIns="0" tIns="0" rIns="0" bIns="0" anchor="ctr">
            <a:spAutoFit/>
          </a:bodyPr>
          <a:lstStyle/>
          <a:p>
            <a:pPr marL="0" indent="0" algn="l">
              <a:buNone/>
            </a:pPr>
            <a:r>
              <a:rPr sz="540" b="1" i="0">
                <a:solidFill>
                  <a:srgbClr val="8A5A00"/>
                </a:solidFill>
              </a:rPr>
              <a:t>Buy 1 more juice to unlock PwP</a:t>
            </a:r>
          </a:p>
        </p:txBody>
      </p:sp>
      <p:sp>
        <p:nvSpPr>
          <p:cNvPr id="100" name="TextBox 99"/>
          <p:cNvSpPr txBox="1"/>
          <p:nvPr/>
        </p:nvSpPr>
        <p:spPr>
          <a:xfrm>
            <a:off x="744565" y="3477414"/>
            <a:ext cx="1287475" cy="83820"/>
          </a:xfrm>
          <a:prstGeom prst="rect">
            <a:avLst/>
          </a:prstGeom>
          <a:noFill/>
        </p:spPr>
        <p:txBody>
          <a:bodyPr wrap="square" lIns="0" tIns="0" rIns="0" bIns="0" anchor="ctr">
            <a:spAutoFit/>
          </a:bodyPr>
          <a:lstStyle/>
          <a:p>
            <a:pPr marL="0" indent="0" algn="l">
              <a:buNone/>
            </a:pPr>
            <a:r>
              <a:rPr sz="500" b="0" i="0">
                <a:solidFill>
                  <a:srgbClr val="8A5A00"/>
                </a:solidFill>
              </a:rPr>
              <a:t>Deal price 29,000 ₫ instead of 45,000 ₫</a:t>
            </a:r>
          </a:p>
        </p:txBody>
      </p:sp>
      <p:sp>
        <p:nvSpPr>
          <p:cNvPr id="101" name="Rounded Rectangle 100"/>
          <p:cNvSpPr/>
          <p:nvPr/>
        </p:nvSpPr>
        <p:spPr>
          <a:xfrm>
            <a:off x="2074956" y="3444221"/>
            <a:ext cx="386242" cy="107289"/>
          </a:xfrm>
          <a:prstGeom prst="roundRect">
            <a:avLst>
              <a:gd name="adj" fmla="val 50000"/>
            </a:avLst>
          </a:prstGeom>
          <a:solidFill>
            <a:srgbClr val="FFF6E5"/>
          </a:solidFill>
          <a:ln w="6350">
            <a:solidFill>
              <a:srgbClr val="B26A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2" name="TextBox 101"/>
          <p:cNvSpPr txBox="1"/>
          <p:nvPr/>
        </p:nvSpPr>
        <p:spPr>
          <a:xfrm>
            <a:off x="2074956" y="3444221"/>
            <a:ext cx="386242" cy="107289"/>
          </a:xfrm>
          <a:prstGeom prst="rect">
            <a:avLst/>
          </a:prstGeom>
          <a:noFill/>
        </p:spPr>
        <p:txBody>
          <a:bodyPr wrap="square" lIns="0" tIns="0" rIns="0" bIns="0" anchor="ctr">
            <a:spAutoFit/>
          </a:bodyPr>
          <a:lstStyle/>
          <a:p>
            <a:pPr marL="0" indent="0" algn="ctr">
              <a:buNone/>
            </a:pPr>
            <a:r>
              <a:rPr sz="480" b="1" i="0">
                <a:solidFill>
                  <a:srgbClr val="B26A00"/>
                </a:solidFill>
              </a:rPr>
              <a:t>View ›</a:t>
            </a:r>
          </a:p>
        </p:txBody>
      </p:sp>
      <p:sp>
        <p:nvSpPr>
          <p:cNvPr id="103" name="Rounded Rectangle 102"/>
          <p:cNvSpPr/>
          <p:nvPr/>
        </p:nvSpPr>
        <p:spPr>
          <a:xfrm>
            <a:off x="669462" y="3658800"/>
            <a:ext cx="1861474" cy="182392"/>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4" name="TextBox 103"/>
          <p:cNvSpPr txBox="1"/>
          <p:nvPr/>
        </p:nvSpPr>
        <p:spPr>
          <a:xfrm>
            <a:off x="744565" y="3658800"/>
            <a:ext cx="1072896" cy="182392"/>
          </a:xfrm>
          <a:prstGeom prst="rect">
            <a:avLst/>
          </a:prstGeom>
          <a:noFill/>
        </p:spPr>
        <p:txBody>
          <a:bodyPr wrap="square" lIns="0" tIns="0" rIns="0" bIns="0" anchor="ctr">
            <a:spAutoFit/>
          </a:bodyPr>
          <a:lstStyle/>
          <a:p>
            <a:pPr marL="0" indent="0" algn="l">
              <a:buNone/>
            </a:pPr>
            <a:r>
              <a:rPr sz="540" b="1" i="0">
                <a:solidFill>
                  <a:srgbClr val="222222"/>
                </a:solidFill>
              </a:rPr>
              <a:t>Coupons  ·  2 applied automatically</a:t>
            </a:r>
          </a:p>
        </p:txBody>
      </p:sp>
      <p:sp>
        <p:nvSpPr>
          <p:cNvPr id="105" name="TextBox 104"/>
          <p:cNvSpPr txBox="1"/>
          <p:nvPr/>
        </p:nvSpPr>
        <p:spPr>
          <a:xfrm>
            <a:off x="2203703" y="3658800"/>
            <a:ext cx="252130" cy="182392"/>
          </a:xfrm>
          <a:prstGeom prst="rect">
            <a:avLst/>
          </a:prstGeom>
          <a:noFill/>
        </p:spPr>
        <p:txBody>
          <a:bodyPr wrap="square" lIns="0" tIns="0" rIns="0" bIns="0" anchor="ctr">
            <a:spAutoFit/>
          </a:bodyPr>
          <a:lstStyle/>
          <a:p>
            <a:pPr marL="0" indent="0" algn="r">
              <a:buNone/>
            </a:pPr>
            <a:r>
              <a:rPr sz="700" b="0" i="0">
                <a:solidFill>
                  <a:srgbClr val="AAAAAA"/>
                </a:solidFill>
              </a:rPr>
              <a:t>›</a:t>
            </a:r>
          </a:p>
        </p:txBody>
      </p:sp>
      <p:sp>
        <p:nvSpPr>
          <p:cNvPr id="106" name="Rectangle 105"/>
          <p:cNvSpPr/>
          <p:nvPr/>
        </p:nvSpPr>
        <p:spPr>
          <a:xfrm>
            <a:off x="594360" y="4538575"/>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7" name="Rectangle 106"/>
          <p:cNvSpPr/>
          <p:nvPr/>
        </p:nvSpPr>
        <p:spPr>
          <a:xfrm>
            <a:off x="594360" y="4538575"/>
            <a:ext cx="2011679" cy="3111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8" name="TextBox 107"/>
          <p:cNvSpPr txBox="1"/>
          <p:nvPr/>
        </p:nvSpPr>
        <p:spPr>
          <a:xfrm>
            <a:off x="669462" y="4570092"/>
            <a:ext cx="858316" cy="87172"/>
          </a:xfrm>
          <a:prstGeom prst="rect">
            <a:avLst/>
          </a:prstGeom>
          <a:noFill/>
        </p:spPr>
        <p:txBody>
          <a:bodyPr wrap="square" lIns="0" tIns="0" rIns="0" bIns="0" anchor="ctr">
            <a:spAutoFit/>
          </a:bodyPr>
          <a:lstStyle/>
          <a:p>
            <a:pPr marL="0" indent="0" algn="l">
              <a:buNone/>
            </a:pPr>
            <a:r>
              <a:rPr sz="520" b="0" i="0">
                <a:solidFill>
                  <a:srgbClr val="888888"/>
                </a:solidFill>
              </a:rPr>
              <a:t>Provisional total  ·  8 items</a:t>
            </a:r>
          </a:p>
        </p:txBody>
      </p:sp>
      <p:sp>
        <p:nvSpPr>
          <p:cNvPr id="109" name="TextBox 108"/>
          <p:cNvSpPr txBox="1"/>
          <p:nvPr/>
        </p:nvSpPr>
        <p:spPr>
          <a:xfrm>
            <a:off x="669462" y="4621724"/>
            <a:ext cx="858316" cy="134112"/>
          </a:xfrm>
          <a:prstGeom prst="rect">
            <a:avLst/>
          </a:prstGeom>
          <a:noFill/>
        </p:spPr>
        <p:txBody>
          <a:bodyPr wrap="square" lIns="0" tIns="0" rIns="0" bIns="0" anchor="ctr">
            <a:spAutoFit/>
          </a:bodyPr>
          <a:lstStyle/>
          <a:p>
            <a:pPr marL="0" indent="0" algn="l">
              <a:buNone/>
            </a:pPr>
            <a:r>
              <a:rPr sz="800" b="1" i="0">
                <a:solidFill>
                  <a:srgbClr val="C8102E"/>
                </a:solidFill>
              </a:rPr>
              <a:t>486,000 ₫</a:t>
            </a:r>
          </a:p>
        </p:txBody>
      </p:sp>
      <p:sp>
        <p:nvSpPr>
          <p:cNvPr id="110" name="Rounded Rectangle 109"/>
          <p:cNvSpPr/>
          <p:nvPr/>
        </p:nvSpPr>
        <p:spPr>
          <a:xfrm>
            <a:off x="1801368" y="4602949"/>
            <a:ext cx="729569" cy="160934"/>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1" name="TextBox 110"/>
          <p:cNvSpPr txBox="1"/>
          <p:nvPr/>
        </p:nvSpPr>
        <p:spPr>
          <a:xfrm>
            <a:off x="1801368" y="4602949"/>
            <a:ext cx="729569" cy="160934"/>
          </a:xfrm>
          <a:prstGeom prst="rect">
            <a:avLst/>
          </a:prstGeom>
          <a:noFill/>
        </p:spPr>
        <p:txBody>
          <a:bodyPr wrap="square" lIns="0" tIns="0" rIns="0" bIns="0" anchor="ctr">
            <a:spAutoFit/>
          </a:bodyPr>
          <a:lstStyle/>
          <a:p>
            <a:pPr marL="0" indent="0" algn="ctr">
              <a:buNone/>
            </a:pPr>
            <a:r>
              <a:rPr sz="650" b="1" i="0">
                <a:solidFill>
                  <a:srgbClr val="FFFFFF"/>
                </a:solidFill>
              </a:rPr>
              <a:t>Proceed to Checkout</a:t>
            </a:r>
          </a:p>
        </p:txBody>
      </p:sp>
      <p:sp>
        <p:nvSpPr>
          <p:cNvPr id="112" name="Oval 111"/>
          <p:cNvSpPr/>
          <p:nvPr/>
        </p:nvSpPr>
        <p:spPr>
          <a:xfrm>
            <a:off x="379781" y="115895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3" name="TextBox 112"/>
          <p:cNvSpPr txBox="1"/>
          <p:nvPr/>
        </p:nvSpPr>
        <p:spPr>
          <a:xfrm>
            <a:off x="379781" y="115895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114" name="Oval 113"/>
          <p:cNvSpPr/>
          <p:nvPr/>
        </p:nvSpPr>
        <p:spPr>
          <a:xfrm>
            <a:off x="379781" y="1330616"/>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5" name="TextBox 114"/>
          <p:cNvSpPr txBox="1"/>
          <p:nvPr/>
        </p:nvSpPr>
        <p:spPr>
          <a:xfrm>
            <a:off x="379781" y="1330616"/>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116" name="Oval 115"/>
          <p:cNvSpPr/>
          <p:nvPr/>
        </p:nvSpPr>
        <p:spPr>
          <a:xfrm>
            <a:off x="379781" y="1802690"/>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7" name="TextBox 116"/>
          <p:cNvSpPr txBox="1"/>
          <p:nvPr/>
        </p:nvSpPr>
        <p:spPr>
          <a:xfrm>
            <a:off x="379781" y="1802690"/>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118" name="Oval 117"/>
          <p:cNvSpPr/>
          <p:nvPr/>
        </p:nvSpPr>
        <p:spPr>
          <a:xfrm>
            <a:off x="379781" y="2081643"/>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9" name="TextBox 118"/>
          <p:cNvSpPr txBox="1"/>
          <p:nvPr/>
        </p:nvSpPr>
        <p:spPr>
          <a:xfrm>
            <a:off x="379781" y="2081643"/>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120" name="Oval 119"/>
          <p:cNvSpPr/>
          <p:nvPr/>
        </p:nvSpPr>
        <p:spPr>
          <a:xfrm>
            <a:off x="379781" y="2242577"/>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1" name="TextBox 120"/>
          <p:cNvSpPr txBox="1"/>
          <p:nvPr/>
        </p:nvSpPr>
        <p:spPr>
          <a:xfrm>
            <a:off x="379781" y="2242577"/>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122" name="Oval 121"/>
          <p:cNvSpPr/>
          <p:nvPr/>
        </p:nvSpPr>
        <p:spPr>
          <a:xfrm>
            <a:off x="379781" y="3154539"/>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3" name="TextBox 122"/>
          <p:cNvSpPr txBox="1"/>
          <p:nvPr/>
        </p:nvSpPr>
        <p:spPr>
          <a:xfrm>
            <a:off x="379781" y="3154539"/>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sp>
        <p:nvSpPr>
          <p:cNvPr id="124" name="Oval 123"/>
          <p:cNvSpPr/>
          <p:nvPr/>
        </p:nvSpPr>
        <p:spPr>
          <a:xfrm>
            <a:off x="379781" y="3476408"/>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5" name="TextBox 124"/>
          <p:cNvSpPr txBox="1"/>
          <p:nvPr/>
        </p:nvSpPr>
        <p:spPr>
          <a:xfrm>
            <a:off x="379781" y="3476408"/>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8</a:t>
            </a:r>
          </a:p>
        </p:txBody>
      </p:sp>
      <p:sp>
        <p:nvSpPr>
          <p:cNvPr id="126" name="Oval 125"/>
          <p:cNvSpPr/>
          <p:nvPr/>
        </p:nvSpPr>
        <p:spPr>
          <a:xfrm>
            <a:off x="379781" y="4635135"/>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7" name="TextBox 126"/>
          <p:cNvSpPr txBox="1"/>
          <p:nvPr/>
        </p:nvSpPr>
        <p:spPr>
          <a:xfrm>
            <a:off x="379781" y="4635135"/>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9</a:t>
            </a:r>
          </a:p>
        </p:txBody>
      </p:sp>
      <p:sp>
        <p:nvSpPr>
          <p:cNvPr id="128" name="Rounded Rectangle 127"/>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9" name="Rectangle 128"/>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0" name="TextBox 129"/>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Sub-state  ·  out-of-stock group and provisional summary</a:t>
            </a:r>
          </a:p>
        </p:txBody>
      </p:sp>
      <p:sp>
        <p:nvSpPr>
          <p:cNvPr id="131" name="TextBox 130"/>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132" name="TextBox 131"/>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133" name="Rectangle 132"/>
          <p:cNvSpPr/>
          <p:nvPr/>
        </p:nvSpPr>
        <p:spPr>
          <a:xfrm>
            <a:off x="338328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4" name="TextBox 133"/>
          <p:cNvSpPr txBox="1"/>
          <p:nvPr/>
        </p:nvSpPr>
        <p:spPr>
          <a:xfrm>
            <a:off x="344765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135" name="TextBox 134"/>
          <p:cNvSpPr txBox="1"/>
          <p:nvPr/>
        </p:nvSpPr>
        <p:spPr>
          <a:xfrm>
            <a:off x="356567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Cart  (8)</a:t>
            </a:r>
          </a:p>
        </p:txBody>
      </p:sp>
      <p:sp>
        <p:nvSpPr>
          <p:cNvPr id="136" name="TextBox 135"/>
          <p:cNvSpPr txBox="1"/>
          <p:nvPr/>
        </p:nvSpPr>
        <p:spPr>
          <a:xfrm>
            <a:off x="4858511" y="998018"/>
            <a:ext cx="461345" cy="214579"/>
          </a:xfrm>
          <a:prstGeom prst="rect">
            <a:avLst/>
          </a:prstGeom>
          <a:noFill/>
        </p:spPr>
        <p:txBody>
          <a:bodyPr wrap="square" lIns="0" tIns="0" rIns="0" bIns="0" anchor="ctr">
            <a:spAutoFit/>
          </a:bodyPr>
          <a:lstStyle/>
          <a:p>
            <a:pPr marL="0" indent="0" algn="r">
              <a:buNone/>
            </a:pPr>
            <a:r>
              <a:rPr sz="600" b="0" i="0">
                <a:solidFill>
                  <a:srgbClr val="555555"/>
                </a:solidFill>
              </a:rPr>
              <a:t>Edit</a:t>
            </a:r>
          </a:p>
        </p:txBody>
      </p:sp>
      <p:sp>
        <p:nvSpPr>
          <p:cNvPr id="137" name="Rectangle 136"/>
          <p:cNvSpPr/>
          <p:nvPr/>
        </p:nvSpPr>
        <p:spPr>
          <a:xfrm>
            <a:off x="338328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8" name="TextBox 137"/>
          <p:cNvSpPr txBox="1"/>
          <p:nvPr/>
        </p:nvSpPr>
        <p:spPr>
          <a:xfrm>
            <a:off x="3383280" y="1217962"/>
            <a:ext cx="1005839" cy="160934"/>
          </a:xfrm>
          <a:prstGeom prst="rect">
            <a:avLst/>
          </a:prstGeom>
          <a:noFill/>
        </p:spPr>
        <p:txBody>
          <a:bodyPr wrap="square" lIns="0" tIns="0" rIns="0" bIns="0" anchor="ctr">
            <a:spAutoFit/>
          </a:bodyPr>
          <a:lstStyle/>
          <a:p>
            <a:pPr marL="0" indent="0" algn="ctr">
              <a:buNone/>
            </a:pPr>
            <a:r>
              <a:rPr sz="650" b="1" i="0">
                <a:solidFill>
                  <a:srgbClr val="C8102E"/>
                </a:solidFill>
              </a:rPr>
              <a:t>Delivery</a:t>
            </a:r>
          </a:p>
        </p:txBody>
      </p:sp>
      <p:sp>
        <p:nvSpPr>
          <p:cNvPr id="139" name="Rectangle 138"/>
          <p:cNvSpPr/>
          <p:nvPr/>
        </p:nvSpPr>
        <p:spPr>
          <a:xfrm>
            <a:off x="3604564" y="1362803"/>
            <a:ext cx="563270" cy="1609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0" name="TextBox 139"/>
          <p:cNvSpPr txBox="1"/>
          <p:nvPr/>
        </p:nvSpPr>
        <p:spPr>
          <a:xfrm>
            <a:off x="4389119" y="1217962"/>
            <a:ext cx="1005839" cy="160934"/>
          </a:xfrm>
          <a:prstGeom prst="rect">
            <a:avLst/>
          </a:prstGeom>
          <a:noFill/>
        </p:spPr>
        <p:txBody>
          <a:bodyPr wrap="square" lIns="0" tIns="0" rIns="0" bIns="0" anchor="ctr">
            <a:spAutoFit/>
          </a:bodyPr>
          <a:lstStyle/>
          <a:p>
            <a:pPr marL="0" indent="0" algn="ctr">
              <a:buNone/>
            </a:pPr>
            <a:r>
              <a:rPr sz="650" b="0" i="0">
                <a:solidFill>
                  <a:srgbClr val="888888"/>
                </a:solidFill>
              </a:rPr>
              <a:t>Self pick-up</a:t>
            </a:r>
          </a:p>
        </p:txBody>
      </p:sp>
      <p:sp>
        <p:nvSpPr>
          <p:cNvPr id="141" name="Rectangle 140"/>
          <p:cNvSpPr/>
          <p:nvPr/>
        </p:nvSpPr>
        <p:spPr>
          <a:xfrm>
            <a:off x="3383280" y="1378896"/>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2" name="Rectangle 141"/>
          <p:cNvSpPr/>
          <p:nvPr/>
        </p:nvSpPr>
        <p:spPr>
          <a:xfrm>
            <a:off x="3383280" y="1384261"/>
            <a:ext cx="2011679" cy="118018"/>
          </a:xfrm>
          <a:prstGeom prst="rect">
            <a:avLst/>
          </a:prstGeom>
          <a:solidFill>
            <a:srgbClr val="F7E9E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3" name="TextBox 142"/>
          <p:cNvSpPr txBox="1"/>
          <p:nvPr/>
        </p:nvSpPr>
        <p:spPr>
          <a:xfrm>
            <a:off x="3458382" y="1384261"/>
            <a:ext cx="1394764" cy="118018"/>
          </a:xfrm>
          <a:prstGeom prst="rect">
            <a:avLst/>
          </a:prstGeom>
          <a:noFill/>
        </p:spPr>
        <p:txBody>
          <a:bodyPr wrap="square" lIns="0" tIns="0" rIns="0" bIns="0" anchor="ctr">
            <a:spAutoFit/>
          </a:bodyPr>
          <a:lstStyle/>
          <a:p>
            <a:pPr marL="0" indent="0" algn="l">
              <a:buNone/>
            </a:pPr>
            <a:r>
              <a:rPr sz="520" b="0" i="0">
                <a:solidFill>
                  <a:srgbClr val="555555"/>
                </a:solidFill>
              </a:rPr>
              <a:t>Serving store:  </a:t>
            </a:r>
            <a:r>
              <a:rPr sz="520" b="1" i="0">
                <a:solidFill>
                  <a:srgbClr val="C8102E"/>
                </a:solidFill>
              </a:rPr>
              <a:t>LOTTE Mart Nam Sài Gòn</a:t>
            </a:r>
          </a:p>
        </p:txBody>
      </p:sp>
      <p:sp>
        <p:nvSpPr>
          <p:cNvPr id="144" name="TextBox 143"/>
          <p:cNvSpPr txBox="1"/>
          <p:nvPr/>
        </p:nvSpPr>
        <p:spPr>
          <a:xfrm>
            <a:off x="4992623" y="1384261"/>
            <a:ext cx="327233" cy="118018"/>
          </a:xfrm>
          <a:prstGeom prst="rect">
            <a:avLst/>
          </a:prstGeom>
          <a:noFill/>
        </p:spPr>
        <p:txBody>
          <a:bodyPr wrap="square" lIns="0" tIns="0" rIns="0" bIns="0" anchor="ctr">
            <a:spAutoFit/>
          </a:bodyPr>
          <a:lstStyle/>
          <a:p>
            <a:pPr marL="0" indent="0" algn="r">
              <a:buNone/>
            </a:pPr>
            <a:r>
              <a:rPr sz="500" b="1" i="0">
                <a:solidFill>
                  <a:srgbClr val="C8102E"/>
                </a:solidFill>
              </a:rPr>
              <a:t>Change ›</a:t>
            </a:r>
          </a:p>
        </p:txBody>
      </p:sp>
      <p:sp>
        <p:nvSpPr>
          <p:cNvPr id="145" name="Rounded Rectangle 144"/>
          <p:cNvSpPr/>
          <p:nvPr/>
        </p:nvSpPr>
        <p:spPr>
          <a:xfrm>
            <a:off x="3458382" y="1523737"/>
            <a:ext cx="1861474" cy="236037"/>
          </a:xfrm>
          <a:prstGeom prst="roundRect">
            <a:avLst>
              <a:gd name="adj" fmla="val 10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6" name="TextBox 145"/>
          <p:cNvSpPr txBox="1"/>
          <p:nvPr/>
        </p:nvSpPr>
        <p:spPr>
          <a:xfrm>
            <a:off x="3533485" y="1548213"/>
            <a:ext cx="1287475" cy="90525"/>
          </a:xfrm>
          <a:prstGeom prst="rect">
            <a:avLst/>
          </a:prstGeom>
          <a:noFill/>
        </p:spPr>
        <p:txBody>
          <a:bodyPr wrap="square" lIns="0" tIns="0" rIns="0" bIns="0" anchor="ctr">
            <a:spAutoFit/>
          </a:bodyPr>
          <a:lstStyle/>
          <a:p>
            <a:pPr marL="0" indent="0" algn="l">
              <a:buNone/>
            </a:pPr>
            <a:r>
              <a:rPr sz="540" b="1" i="0">
                <a:solidFill>
                  <a:srgbClr val="C8102E"/>
                </a:solidFill>
              </a:rPr>
              <a:t>2 items are out of stock at this store</a:t>
            </a:r>
          </a:p>
        </p:txBody>
      </p:sp>
      <p:sp>
        <p:nvSpPr>
          <p:cNvPr id="147" name="TextBox 146"/>
          <p:cNvSpPr txBox="1"/>
          <p:nvPr/>
        </p:nvSpPr>
        <p:spPr>
          <a:xfrm>
            <a:off x="3533485" y="1632033"/>
            <a:ext cx="1394764" cy="83820"/>
          </a:xfrm>
          <a:prstGeom prst="rect">
            <a:avLst/>
          </a:prstGeom>
          <a:noFill/>
        </p:spPr>
        <p:txBody>
          <a:bodyPr wrap="square" lIns="0" tIns="0" rIns="0" bIns="0" anchor="ctr">
            <a:spAutoFit/>
          </a:bodyPr>
          <a:lstStyle/>
          <a:p>
            <a:pPr marL="0" indent="0" algn="l">
              <a:buNone/>
            </a:pPr>
            <a:r>
              <a:rPr sz="500" b="0" i="0">
                <a:solidFill>
                  <a:srgbClr val="8A1520"/>
                </a:solidFill>
              </a:rPr>
              <a:t>You can still check out the other 6 items</a:t>
            </a:r>
          </a:p>
        </p:txBody>
      </p:sp>
      <p:sp>
        <p:nvSpPr>
          <p:cNvPr id="148" name="TextBox 147"/>
          <p:cNvSpPr txBox="1"/>
          <p:nvPr/>
        </p:nvSpPr>
        <p:spPr>
          <a:xfrm>
            <a:off x="3458382" y="1793302"/>
            <a:ext cx="1072896" cy="93878"/>
          </a:xfrm>
          <a:prstGeom prst="rect">
            <a:avLst/>
          </a:prstGeom>
          <a:noFill/>
        </p:spPr>
        <p:txBody>
          <a:bodyPr wrap="square" lIns="0" tIns="0" rIns="0" bIns="0" anchor="ctr">
            <a:spAutoFit/>
          </a:bodyPr>
          <a:lstStyle/>
          <a:p>
            <a:pPr marL="0" indent="0" algn="l">
              <a:buNone/>
            </a:pPr>
            <a:r>
              <a:rPr sz="560" b="1" i="0">
                <a:solidFill>
                  <a:srgbClr val="3A3A3A"/>
                </a:solidFill>
              </a:rPr>
              <a:t>Available  ·  6 items</a:t>
            </a:r>
          </a:p>
        </p:txBody>
      </p:sp>
      <p:sp>
        <p:nvSpPr>
          <p:cNvPr id="149" name="Rounded Rectangle 148"/>
          <p:cNvSpPr/>
          <p:nvPr/>
        </p:nvSpPr>
        <p:spPr>
          <a:xfrm>
            <a:off x="3447653" y="2038727"/>
            <a:ext cx="64373" cy="64373"/>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0" name="TextBox 149"/>
          <p:cNvSpPr txBox="1"/>
          <p:nvPr/>
        </p:nvSpPr>
        <p:spPr>
          <a:xfrm>
            <a:off x="3447653" y="2029004"/>
            <a:ext cx="64373" cy="83820"/>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151" name="Rounded Rectangle 150"/>
          <p:cNvSpPr/>
          <p:nvPr/>
        </p:nvSpPr>
        <p:spPr>
          <a:xfrm>
            <a:off x="3544214" y="1958260"/>
            <a:ext cx="203850" cy="203850"/>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2" name="TextBox 151"/>
          <p:cNvSpPr txBox="1"/>
          <p:nvPr/>
        </p:nvSpPr>
        <p:spPr>
          <a:xfrm>
            <a:off x="3544214" y="1958260"/>
            <a:ext cx="203850" cy="203850"/>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153" name="TextBox 152"/>
          <p:cNvSpPr txBox="1"/>
          <p:nvPr/>
        </p:nvSpPr>
        <p:spPr>
          <a:xfrm>
            <a:off x="3790980" y="1926073"/>
            <a:ext cx="1110447" cy="91196"/>
          </a:xfrm>
          <a:prstGeom prst="rect">
            <a:avLst/>
          </a:prstGeom>
          <a:noFill/>
        </p:spPr>
        <p:txBody>
          <a:bodyPr wrap="square" lIns="0" tIns="0" rIns="0" bIns="0" anchor="ctr">
            <a:spAutoFit/>
          </a:bodyPr>
          <a:lstStyle/>
          <a:p>
            <a:pPr marL="0" indent="0" algn="l">
              <a:buNone/>
            </a:pPr>
            <a:r>
              <a:rPr sz="520" b="1" i="0">
                <a:solidFill>
                  <a:srgbClr val="222222"/>
                </a:solidFill>
              </a:rPr>
              <a:t>Vinamilk fresh milk 1L</a:t>
            </a:r>
          </a:p>
        </p:txBody>
      </p:sp>
      <p:sp>
        <p:nvSpPr>
          <p:cNvPr id="154" name="TextBox 153"/>
          <p:cNvSpPr txBox="1"/>
          <p:nvPr/>
        </p:nvSpPr>
        <p:spPr>
          <a:xfrm>
            <a:off x="3790980" y="2021293"/>
            <a:ext cx="804671" cy="93878"/>
          </a:xfrm>
          <a:prstGeom prst="rect">
            <a:avLst/>
          </a:prstGeom>
          <a:noFill/>
        </p:spPr>
        <p:txBody>
          <a:bodyPr wrap="square" lIns="0" tIns="0" rIns="0" bIns="0" anchor="ctr">
            <a:spAutoFit/>
          </a:bodyPr>
          <a:lstStyle/>
          <a:p>
            <a:pPr marL="0" indent="0" algn="l">
              <a:buNone/>
            </a:pPr>
            <a:r>
              <a:rPr sz="560" b="1" i="0">
                <a:solidFill>
                  <a:srgbClr val="C8102E"/>
                </a:solidFill>
              </a:rPr>
              <a:t>196,000 ₫</a:t>
            </a:r>
          </a:p>
        </p:txBody>
      </p:sp>
      <p:sp>
        <p:nvSpPr>
          <p:cNvPr id="155" name="Rounded Rectangle 154"/>
          <p:cNvSpPr/>
          <p:nvPr/>
        </p:nvSpPr>
        <p:spPr>
          <a:xfrm>
            <a:off x="4997988" y="2001176"/>
            <a:ext cx="321868" cy="118018"/>
          </a:xfrm>
          <a:prstGeom prst="roundRect">
            <a:avLst>
              <a:gd name="adj" fmla="val 2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6" name="TextBox 155"/>
          <p:cNvSpPr txBox="1"/>
          <p:nvPr/>
        </p:nvSpPr>
        <p:spPr>
          <a:xfrm>
            <a:off x="4997988" y="2001176"/>
            <a:ext cx="107289" cy="118018"/>
          </a:xfrm>
          <a:prstGeom prst="rect">
            <a:avLst/>
          </a:prstGeom>
          <a:noFill/>
        </p:spPr>
        <p:txBody>
          <a:bodyPr wrap="square" lIns="0" tIns="0" rIns="0" bIns="0" anchor="ctr">
            <a:spAutoFit/>
          </a:bodyPr>
          <a:lstStyle/>
          <a:p>
            <a:pPr marL="0" indent="0" algn="ctr">
              <a:buNone/>
            </a:pPr>
            <a:r>
              <a:rPr sz="560" b="0" i="0">
                <a:solidFill>
                  <a:srgbClr val="555555"/>
                </a:solidFill>
              </a:rPr>
              <a:t>−</a:t>
            </a:r>
          </a:p>
        </p:txBody>
      </p:sp>
      <p:sp>
        <p:nvSpPr>
          <p:cNvPr id="157" name="TextBox 156"/>
          <p:cNvSpPr txBox="1"/>
          <p:nvPr/>
        </p:nvSpPr>
        <p:spPr>
          <a:xfrm>
            <a:off x="5099913" y="2001176"/>
            <a:ext cx="118018" cy="118018"/>
          </a:xfrm>
          <a:prstGeom prst="rect">
            <a:avLst/>
          </a:prstGeom>
          <a:noFill/>
        </p:spPr>
        <p:txBody>
          <a:bodyPr wrap="square" lIns="0" tIns="0" rIns="0" bIns="0" anchor="ctr">
            <a:spAutoFit/>
          </a:bodyPr>
          <a:lstStyle/>
          <a:p>
            <a:pPr marL="0" indent="0" algn="ctr">
              <a:buNone/>
            </a:pPr>
            <a:r>
              <a:rPr sz="560" b="1" i="0">
                <a:solidFill>
                  <a:srgbClr val="222222"/>
                </a:solidFill>
              </a:rPr>
              <a:t>1</a:t>
            </a:r>
          </a:p>
        </p:txBody>
      </p:sp>
      <p:sp>
        <p:nvSpPr>
          <p:cNvPr id="158" name="TextBox 157"/>
          <p:cNvSpPr txBox="1"/>
          <p:nvPr/>
        </p:nvSpPr>
        <p:spPr>
          <a:xfrm>
            <a:off x="5212567" y="2001176"/>
            <a:ext cx="107289" cy="118018"/>
          </a:xfrm>
          <a:prstGeom prst="rect">
            <a:avLst/>
          </a:prstGeom>
          <a:noFill/>
        </p:spPr>
        <p:txBody>
          <a:bodyPr wrap="square" lIns="0" tIns="0" rIns="0" bIns="0" anchor="ctr">
            <a:spAutoFit/>
          </a:bodyPr>
          <a:lstStyle/>
          <a:p>
            <a:pPr marL="0" indent="0" algn="ctr">
              <a:buNone/>
            </a:pPr>
            <a:r>
              <a:rPr sz="560" b="0" i="0">
                <a:solidFill>
                  <a:srgbClr val="C8102E"/>
                </a:solidFill>
              </a:rPr>
              <a:t>+</a:t>
            </a:r>
          </a:p>
        </p:txBody>
      </p:sp>
      <p:sp>
        <p:nvSpPr>
          <p:cNvPr id="159" name="Rectangle 158"/>
          <p:cNvSpPr/>
          <p:nvPr/>
        </p:nvSpPr>
        <p:spPr>
          <a:xfrm>
            <a:off x="3447653" y="2231848"/>
            <a:ext cx="1882932"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0" name="Rounded Rectangle 159"/>
          <p:cNvSpPr/>
          <p:nvPr/>
        </p:nvSpPr>
        <p:spPr>
          <a:xfrm>
            <a:off x="3447653" y="2371325"/>
            <a:ext cx="64373" cy="64373"/>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1" name="TextBox 160"/>
          <p:cNvSpPr txBox="1"/>
          <p:nvPr/>
        </p:nvSpPr>
        <p:spPr>
          <a:xfrm>
            <a:off x="3447653" y="2361602"/>
            <a:ext cx="64373" cy="83820"/>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162" name="Rounded Rectangle 161"/>
          <p:cNvSpPr/>
          <p:nvPr/>
        </p:nvSpPr>
        <p:spPr>
          <a:xfrm>
            <a:off x="3544214" y="2290858"/>
            <a:ext cx="203850" cy="203850"/>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3" name="TextBox 162"/>
          <p:cNvSpPr txBox="1"/>
          <p:nvPr/>
        </p:nvSpPr>
        <p:spPr>
          <a:xfrm>
            <a:off x="3544214" y="2290858"/>
            <a:ext cx="203850" cy="203850"/>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164" name="TextBox 163"/>
          <p:cNvSpPr txBox="1"/>
          <p:nvPr/>
        </p:nvSpPr>
        <p:spPr>
          <a:xfrm>
            <a:off x="3790980" y="2258671"/>
            <a:ext cx="1110447" cy="91196"/>
          </a:xfrm>
          <a:prstGeom prst="rect">
            <a:avLst/>
          </a:prstGeom>
          <a:noFill/>
        </p:spPr>
        <p:txBody>
          <a:bodyPr wrap="square" lIns="0" tIns="0" rIns="0" bIns="0" anchor="ctr">
            <a:spAutoFit/>
          </a:bodyPr>
          <a:lstStyle/>
          <a:p>
            <a:pPr marL="0" indent="0" algn="l">
              <a:buNone/>
            </a:pPr>
            <a:r>
              <a:rPr sz="520" b="1" i="0">
                <a:solidFill>
                  <a:srgbClr val="222222"/>
                </a:solidFill>
              </a:rPr>
              <a:t>Ba Vì yoghurt · pack of 12</a:t>
            </a:r>
          </a:p>
        </p:txBody>
      </p:sp>
      <p:sp>
        <p:nvSpPr>
          <p:cNvPr id="165" name="TextBox 164"/>
          <p:cNvSpPr txBox="1"/>
          <p:nvPr/>
        </p:nvSpPr>
        <p:spPr>
          <a:xfrm>
            <a:off x="3790980" y="2353890"/>
            <a:ext cx="804671" cy="93878"/>
          </a:xfrm>
          <a:prstGeom prst="rect">
            <a:avLst/>
          </a:prstGeom>
          <a:noFill/>
        </p:spPr>
        <p:txBody>
          <a:bodyPr wrap="square" lIns="0" tIns="0" rIns="0" bIns="0" anchor="ctr">
            <a:spAutoFit/>
          </a:bodyPr>
          <a:lstStyle/>
          <a:p>
            <a:pPr marL="0" indent="0" algn="l">
              <a:buNone/>
            </a:pPr>
            <a:r>
              <a:rPr sz="560" b="1" i="0">
                <a:solidFill>
                  <a:srgbClr val="C8102E"/>
                </a:solidFill>
              </a:rPr>
              <a:t>78,000 ₫</a:t>
            </a:r>
          </a:p>
        </p:txBody>
      </p:sp>
      <p:sp>
        <p:nvSpPr>
          <p:cNvPr id="166" name="Rounded Rectangle 165"/>
          <p:cNvSpPr/>
          <p:nvPr/>
        </p:nvSpPr>
        <p:spPr>
          <a:xfrm>
            <a:off x="4997988" y="2333774"/>
            <a:ext cx="321868" cy="118018"/>
          </a:xfrm>
          <a:prstGeom prst="roundRect">
            <a:avLst>
              <a:gd name="adj" fmla="val 2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7" name="TextBox 166"/>
          <p:cNvSpPr txBox="1"/>
          <p:nvPr/>
        </p:nvSpPr>
        <p:spPr>
          <a:xfrm>
            <a:off x="4997988" y="2333774"/>
            <a:ext cx="107289" cy="118018"/>
          </a:xfrm>
          <a:prstGeom prst="rect">
            <a:avLst/>
          </a:prstGeom>
          <a:noFill/>
        </p:spPr>
        <p:txBody>
          <a:bodyPr wrap="square" lIns="0" tIns="0" rIns="0" bIns="0" anchor="ctr">
            <a:spAutoFit/>
          </a:bodyPr>
          <a:lstStyle/>
          <a:p>
            <a:pPr marL="0" indent="0" algn="ctr">
              <a:buNone/>
            </a:pPr>
            <a:r>
              <a:rPr sz="560" b="0" i="0">
                <a:solidFill>
                  <a:srgbClr val="555555"/>
                </a:solidFill>
              </a:rPr>
              <a:t>−</a:t>
            </a:r>
          </a:p>
        </p:txBody>
      </p:sp>
      <p:sp>
        <p:nvSpPr>
          <p:cNvPr id="168" name="TextBox 167"/>
          <p:cNvSpPr txBox="1"/>
          <p:nvPr/>
        </p:nvSpPr>
        <p:spPr>
          <a:xfrm>
            <a:off x="5099913" y="2333774"/>
            <a:ext cx="118018" cy="118018"/>
          </a:xfrm>
          <a:prstGeom prst="rect">
            <a:avLst/>
          </a:prstGeom>
          <a:noFill/>
        </p:spPr>
        <p:txBody>
          <a:bodyPr wrap="square" lIns="0" tIns="0" rIns="0" bIns="0" anchor="ctr">
            <a:spAutoFit/>
          </a:bodyPr>
          <a:lstStyle/>
          <a:p>
            <a:pPr marL="0" indent="0" algn="ctr">
              <a:buNone/>
            </a:pPr>
            <a:r>
              <a:rPr sz="560" b="1" i="0">
                <a:solidFill>
                  <a:srgbClr val="222222"/>
                </a:solidFill>
              </a:rPr>
              <a:t>2</a:t>
            </a:r>
          </a:p>
        </p:txBody>
      </p:sp>
      <p:sp>
        <p:nvSpPr>
          <p:cNvPr id="169" name="TextBox 168"/>
          <p:cNvSpPr txBox="1"/>
          <p:nvPr/>
        </p:nvSpPr>
        <p:spPr>
          <a:xfrm>
            <a:off x="5212567" y="2333774"/>
            <a:ext cx="107289" cy="118018"/>
          </a:xfrm>
          <a:prstGeom prst="rect">
            <a:avLst/>
          </a:prstGeom>
          <a:noFill/>
        </p:spPr>
        <p:txBody>
          <a:bodyPr wrap="square" lIns="0" tIns="0" rIns="0" bIns="0" anchor="ctr">
            <a:spAutoFit/>
          </a:bodyPr>
          <a:lstStyle/>
          <a:p>
            <a:pPr marL="0" indent="0" algn="ctr">
              <a:buNone/>
            </a:pPr>
            <a:r>
              <a:rPr sz="560" b="0" i="0">
                <a:solidFill>
                  <a:srgbClr val="C8102E"/>
                </a:solidFill>
              </a:rPr>
              <a:t>+</a:t>
            </a:r>
          </a:p>
        </p:txBody>
      </p:sp>
      <p:sp>
        <p:nvSpPr>
          <p:cNvPr id="170" name="Rectangle 169"/>
          <p:cNvSpPr/>
          <p:nvPr/>
        </p:nvSpPr>
        <p:spPr>
          <a:xfrm>
            <a:off x="3447653" y="2564446"/>
            <a:ext cx="1882932"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1" name="TextBox 170"/>
          <p:cNvSpPr txBox="1"/>
          <p:nvPr/>
        </p:nvSpPr>
        <p:spPr>
          <a:xfrm>
            <a:off x="3458382" y="2587245"/>
            <a:ext cx="1341120" cy="93878"/>
          </a:xfrm>
          <a:prstGeom prst="rect">
            <a:avLst/>
          </a:prstGeom>
          <a:noFill/>
        </p:spPr>
        <p:txBody>
          <a:bodyPr wrap="square" lIns="0" tIns="0" rIns="0" bIns="0" anchor="ctr">
            <a:spAutoFit/>
          </a:bodyPr>
          <a:lstStyle/>
          <a:p>
            <a:pPr marL="0" indent="0" algn="l">
              <a:buNone/>
            </a:pPr>
            <a:r>
              <a:rPr sz="560" b="1" i="0">
                <a:solidFill>
                  <a:srgbClr val="C8102E"/>
                </a:solidFill>
              </a:rPr>
              <a:t>Out of stock  ·  2 items</a:t>
            </a:r>
          </a:p>
        </p:txBody>
      </p:sp>
      <p:sp>
        <p:nvSpPr>
          <p:cNvPr id="172" name="Rounded Rectangle 171"/>
          <p:cNvSpPr/>
          <p:nvPr/>
        </p:nvSpPr>
        <p:spPr>
          <a:xfrm>
            <a:off x="3447653" y="2832670"/>
            <a:ext cx="64373" cy="64373"/>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3" name="TextBox 172"/>
          <p:cNvSpPr txBox="1"/>
          <p:nvPr/>
        </p:nvSpPr>
        <p:spPr>
          <a:xfrm>
            <a:off x="3447653" y="2822947"/>
            <a:ext cx="64373" cy="83820"/>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174" name="Rounded Rectangle 173"/>
          <p:cNvSpPr/>
          <p:nvPr/>
        </p:nvSpPr>
        <p:spPr>
          <a:xfrm>
            <a:off x="3544214" y="2752203"/>
            <a:ext cx="203850" cy="203850"/>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5" name="TextBox 174"/>
          <p:cNvSpPr txBox="1"/>
          <p:nvPr/>
        </p:nvSpPr>
        <p:spPr>
          <a:xfrm>
            <a:off x="3544214" y="2752203"/>
            <a:ext cx="203850" cy="203850"/>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176" name="TextBox 175"/>
          <p:cNvSpPr txBox="1"/>
          <p:nvPr/>
        </p:nvSpPr>
        <p:spPr>
          <a:xfrm>
            <a:off x="3790980" y="2720016"/>
            <a:ext cx="1110447" cy="91196"/>
          </a:xfrm>
          <a:prstGeom prst="rect">
            <a:avLst/>
          </a:prstGeom>
          <a:noFill/>
        </p:spPr>
        <p:txBody>
          <a:bodyPr wrap="square" lIns="0" tIns="0" rIns="0" bIns="0" anchor="ctr">
            <a:spAutoFit/>
          </a:bodyPr>
          <a:lstStyle/>
          <a:p>
            <a:pPr marL="0" indent="0" algn="l">
              <a:buNone/>
            </a:pPr>
            <a:r>
              <a:rPr sz="520" b="1" i="0">
                <a:solidFill>
                  <a:srgbClr val="AAAAAA"/>
                </a:solidFill>
              </a:rPr>
              <a:t>Norwegian salmon 300g</a:t>
            </a:r>
          </a:p>
        </p:txBody>
      </p:sp>
      <p:sp>
        <p:nvSpPr>
          <p:cNvPr id="177" name="TextBox 176"/>
          <p:cNvSpPr txBox="1"/>
          <p:nvPr/>
        </p:nvSpPr>
        <p:spPr>
          <a:xfrm>
            <a:off x="3790980" y="2815236"/>
            <a:ext cx="804671" cy="93878"/>
          </a:xfrm>
          <a:prstGeom prst="rect">
            <a:avLst/>
          </a:prstGeom>
          <a:noFill/>
        </p:spPr>
        <p:txBody>
          <a:bodyPr wrap="square" lIns="0" tIns="0" rIns="0" bIns="0" anchor="ctr">
            <a:spAutoFit/>
          </a:bodyPr>
          <a:lstStyle/>
          <a:p>
            <a:pPr marL="0" indent="0" algn="l">
              <a:buNone/>
            </a:pPr>
            <a:r>
              <a:rPr sz="560" b="1" i="0">
                <a:solidFill>
                  <a:srgbClr val="888888"/>
                </a:solidFill>
              </a:rPr>
              <a:t>185,000 ₫</a:t>
            </a:r>
          </a:p>
        </p:txBody>
      </p:sp>
      <p:sp>
        <p:nvSpPr>
          <p:cNvPr id="178" name="TextBox 177"/>
          <p:cNvSpPr txBox="1"/>
          <p:nvPr/>
        </p:nvSpPr>
        <p:spPr>
          <a:xfrm>
            <a:off x="3790980" y="2921855"/>
            <a:ext cx="804671" cy="73761"/>
          </a:xfrm>
          <a:prstGeom prst="rect">
            <a:avLst/>
          </a:prstGeom>
          <a:noFill/>
        </p:spPr>
        <p:txBody>
          <a:bodyPr wrap="square" lIns="0" tIns="0" rIns="0" bIns="0" anchor="ctr">
            <a:spAutoFit/>
          </a:bodyPr>
          <a:lstStyle/>
          <a:p>
            <a:pPr marL="0" indent="0" algn="l">
              <a:buNone/>
            </a:pPr>
            <a:r>
              <a:rPr sz="440" b="0" i="0">
                <a:solidFill>
                  <a:srgbClr val="888888"/>
                </a:solidFill>
              </a:rPr>
              <a:t>Replace with a similar item ›</a:t>
            </a:r>
          </a:p>
        </p:txBody>
      </p:sp>
      <p:sp>
        <p:nvSpPr>
          <p:cNvPr id="179" name="Rectangle 178"/>
          <p:cNvSpPr/>
          <p:nvPr/>
        </p:nvSpPr>
        <p:spPr>
          <a:xfrm>
            <a:off x="3447653" y="3025792"/>
            <a:ext cx="1882932"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0" name="Rounded Rectangle 179"/>
          <p:cNvSpPr/>
          <p:nvPr/>
        </p:nvSpPr>
        <p:spPr>
          <a:xfrm>
            <a:off x="3447653" y="3165268"/>
            <a:ext cx="64373" cy="64373"/>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1" name="TextBox 180"/>
          <p:cNvSpPr txBox="1"/>
          <p:nvPr/>
        </p:nvSpPr>
        <p:spPr>
          <a:xfrm>
            <a:off x="3447653" y="3155545"/>
            <a:ext cx="64373" cy="83820"/>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182" name="Rounded Rectangle 181"/>
          <p:cNvSpPr/>
          <p:nvPr/>
        </p:nvSpPr>
        <p:spPr>
          <a:xfrm>
            <a:off x="3544214" y="3084801"/>
            <a:ext cx="203850" cy="203850"/>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3" name="TextBox 182"/>
          <p:cNvSpPr txBox="1"/>
          <p:nvPr/>
        </p:nvSpPr>
        <p:spPr>
          <a:xfrm>
            <a:off x="3544214" y="3084801"/>
            <a:ext cx="203850" cy="203850"/>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184" name="TextBox 183"/>
          <p:cNvSpPr txBox="1"/>
          <p:nvPr/>
        </p:nvSpPr>
        <p:spPr>
          <a:xfrm>
            <a:off x="3790980" y="3052614"/>
            <a:ext cx="1110447" cy="91196"/>
          </a:xfrm>
          <a:prstGeom prst="rect">
            <a:avLst/>
          </a:prstGeom>
          <a:noFill/>
        </p:spPr>
        <p:txBody>
          <a:bodyPr wrap="square" lIns="0" tIns="0" rIns="0" bIns="0" anchor="ctr">
            <a:spAutoFit/>
          </a:bodyPr>
          <a:lstStyle/>
          <a:p>
            <a:pPr marL="0" indent="0" algn="l">
              <a:buNone/>
            </a:pPr>
            <a:r>
              <a:rPr sz="520" b="1" i="0">
                <a:solidFill>
                  <a:srgbClr val="AAAAAA"/>
                </a:solidFill>
              </a:rPr>
              <a:t>Imported grapes 500g</a:t>
            </a:r>
          </a:p>
        </p:txBody>
      </p:sp>
      <p:sp>
        <p:nvSpPr>
          <p:cNvPr id="185" name="TextBox 184"/>
          <p:cNvSpPr txBox="1"/>
          <p:nvPr/>
        </p:nvSpPr>
        <p:spPr>
          <a:xfrm>
            <a:off x="3790980" y="3147834"/>
            <a:ext cx="804671" cy="93878"/>
          </a:xfrm>
          <a:prstGeom prst="rect">
            <a:avLst/>
          </a:prstGeom>
          <a:noFill/>
        </p:spPr>
        <p:txBody>
          <a:bodyPr wrap="square" lIns="0" tIns="0" rIns="0" bIns="0" anchor="ctr">
            <a:spAutoFit/>
          </a:bodyPr>
          <a:lstStyle/>
          <a:p>
            <a:pPr marL="0" indent="0" algn="l">
              <a:buNone/>
            </a:pPr>
            <a:r>
              <a:rPr sz="560" b="1" i="0">
                <a:solidFill>
                  <a:srgbClr val="888888"/>
                </a:solidFill>
              </a:rPr>
              <a:t>159,000 ₫</a:t>
            </a:r>
          </a:p>
        </p:txBody>
      </p:sp>
      <p:sp>
        <p:nvSpPr>
          <p:cNvPr id="186" name="TextBox 185"/>
          <p:cNvSpPr txBox="1"/>
          <p:nvPr/>
        </p:nvSpPr>
        <p:spPr>
          <a:xfrm>
            <a:off x="3790980" y="3254453"/>
            <a:ext cx="804671" cy="73761"/>
          </a:xfrm>
          <a:prstGeom prst="rect">
            <a:avLst/>
          </a:prstGeom>
          <a:noFill/>
        </p:spPr>
        <p:txBody>
          <a:bodyPr wrap="square" lIns="0" tIns="0" rIns="0" bIns="0" anchor="ctr">
            <a:spAutoFit/>
          </a:bodyPr>
          <a:lstStyle/>
          <a:p>
            <a:pPr marL="0" indent="0" algn="l">
              <a:buNone/>
            </a:pPr>
            <a:r>
              <a:rPr sz="440" b="0" i="0">
                <a:solidFill>
                  <a:srgbClr val="888888"/>
                </a:solidFill>
              </a:rPr>
              <a:t>Notify me when it is back ›</a:t>
            </a:r>
          </a:p>
        </p:txBody>
      </p:sp>
      <p:sp>
        <p:nvSpPr>
          <p:cNvPr id="187" name="Rectangle 186"/>
          <p:cNvSpPr/>
          <p:nvPr/>
        </p:nvSpPr>
        <p:spPr>
          <a:xfrm>
            <a:off x="3447653" y="3358389"/>
            <a:ext cx="1882932"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8" name="Rounded Rectangle 187"/>
          <p:cNvSpPr/>
          <p:nvPr/>
        </p:nvSpPr>
        <p:spPr>
          <a:xfrm>
            <a:off x="3458382" y="3401305"/>
            <a:ext cx="1861474" cy="557905"/>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9" name="TextBox 188"/>
          <p:cNvSpPr txBox="1"/>
          <p:nvPr/>
        </p:nvSpPr>
        <p:spPr>
          <a:xfrm>
            <a:off x="3533485" y="3433157"/>
            <a:ext cx="1072896" cy="97231"/>
          </a:xfrm>
          <a:prstGeom prst="rect">
            <a:avLst/>
          </a:prstGeom>
          <a:noFill/>
        </p:spPr>
        <p:txBody>
          <a:bodyPr wrap="square" lIns="0" tIns="0" rIns="0" bIns="0" anchor="ctr">
            <a:spAutoFit/>
          </a:bodyPr>
          <a:lstStyle/>
          <a:p>
            <a:pPr marL="0" indent="0" algn="l">
              <a:buNone/>
            </a:pPr>
            <a:r>
              <a:rPr sz="580" b="1" i="0">
                <a:solidFill>
                  <a:srgbClr val="3A3A3A"/>
                </a:solidFill>
              </a:rPr>
              <a:t>Provisional payment</a:t>
            </a:r>
          </a:p>
        </p:txBody>
      </p:sp>
      <p:sp>
        <p:nvSpPr>
          <p:cNvPr id="190" name="TextBox 189"/>
          <p:cNvSpPr txBox="1"/>
          <p:nvPr/>
        </p:nvSpPr>
        <p:spPr>
          <a:xfrm>
            <a:off x="3458382" y="3551511"/>
            <a:ext cx="1072896" cy="91196"/>
          </a:xfrm>
          <a:prstGeom prst="rect">
            <a:avLst/>
          </a:prstGeom>
          <a:noFill/>
        </p:spPr>
        <p:txBody>
          <a:bodyPr wrap="square" lIns="0" tIns="0" rIns="0" bIns="0" anchor="ctr">
            <a:spAutoFit/>
          </a:bodyPr>
          <a:lstStyle/>
          <a:p>
            <a:pPr marL="0" indent="0" algn="l">
              <a:buNone/>
            </a:pPr>
            <a:r>
              <a:rPr sz="520" b="0" i="0">
                <a:solidFill>
                  <a:srgbClr val="555555"/>
                </a:solidFill>
              </a:rPr>
              <a:t>Order value</a:t>
            </a:r>
          </a:p>
        </p:txBody>
      </p:sp>
      <p:sp>
        <p:nvSpPr>
          <p:cNvPr id="191" name="TextBox 190"/>
          <p:cNvSpPr txBox="1"/>
          <p:nvPr/>
        </p:nvSpPr>
        <p:spPr>
          <a:xfrm>
            <a:off x="4568830" y="3551511"/>
            <a:ext cx="751027" cy="91196"/>
          </a:xfrm>
          <a:prstGeom prst="rect">
            <a:avLst/>
          </a:prstGeom>
          <a:noFill/>
        </p:spPr>
        <p:txBody>
          <a:bodyPr wrap="square" lIns="0" tIns="0" rIns="0" bIns="0" anchor="ctr">
            <a:spAutoFit/>
          </a:bodyPr>
          <a:lstStyle/>
          <a:p>
            <a:pPr marL="0" indent="0" algn="r">
              <a:buNone/>
            </a:pPr>
            <a:r>
              <a:rPr sz="520" b="0" i="0">
                <a:solidFill>
                  <a:srgbClr val="555555"/>
                </a:solidFill>
              </a:rPr>
              <a:t>486,000 ₫</a:t>
            </a:r>
          </a:p>
        </p:txBody>
      </p:sp>
      <p:sp>
        <p:nvSpPr>
          <p:cNvPr id="192" name="TextBox 191"/>
          <p:cNvSpPr txBox="1"/>
          <p:nvPr/>
        </p:nvSpPr>
        <p:spPr>
          <a:xfrm>
            <a:off x="3458382" y="3642707"/>
            <a:ext cx="1072896" cy="91196"/>
          </a:xfrm>
          <a:prstGeom prst="rect">
            <a:avLst/>
          </a:prstGeom>
          <a:noFill/>
        </p:spPr>
        <p:txBody>
          <a:bodyPr wrap="square" lIns="0" tIns="0" rIns="0" bIns="0" anchor="ctr">
            <a:spAutoFit/>
          </a:bodyPr>
          <a:lstStyle/>
          <a:p>
            <a:pPr marL="0" indent="0" algn="l">
              <a:buNone/>
            </a:pPr>
            <a:r>
              <a:rPr sz="520" b="0" i="0">
                <a:solidFill>
                  <a:srgbClr val="555555"/>
                </a:solidFill>
              </a:rPr>
              <a:t>Product discount</a:t>
            </a:r>
          </a:p>
        </p:txBody>
      </p:sp>
      <p:sp>
        <p:nvSpPr>
          <p:cNvPr id="193" name="TextBox 192"/>
          <p:cNvSpPr txBox="1"/>
          <p:nvPr/>
        </p:nvSpPr>
        <p:spPr>
          <a:xfrm>
            <a:off x="4568830" y="3642707"/>
            <a:ext cx="751027" cy="91196"/>
          </a:xfrm>
          <a:prstGeom prst="rect">
            <a:avLst/>
          </a:prstGeom>
          <a:noFill/>
        </p:spPr>
        <p:txBody>
          <a:bodyPr wrap="square" lIns="0" tIns="0" rIns="0" bIns="0" anchor="ctr">
            <a:spAutoFit/>
          </a:bodyPr>
          <a:lstStyle/>
          <a:p>
            <a:pPr marL="0" indent="0" algn="r">
              <a:buNone/>
            </a:pPr>
            <a:r>
              <a:rPr sz="520" b="0" i="0">
                <a:solidFill>
                  <a:srgbClr val="555555"/>
                </a:solidFill>
              </a:rPr>
              <a:t>−40,000 ₫</a:t>
            </a:r>
          </a:p>
        </p:txBody>
      </p:sp>
      <p:sp>
        <p:nvSpPr>
          <p:cNvPr id="194" name="TextBox 193"/>
          <p:cNvSpPr txBox="1"/>
          <p:nvPr/>
        </p:nvSpPr>
        <p:spPr>
          <a:xfrm>
            <a:off x="3458382" y="3733903"/>
            <a:ext cx="1072896" cy="91196"/>
          </a:xfrm>
          <a:prstGeom prst="rect">
            <a:avLst/>
          </a:prstGeom>
          <a:noFill/>
        </p:spPr>
        <p:txBody>
          <a:bodyPr wrap="square" lIns="0" tIns="0" rIns="0" bIns="0" anchor="ctr">
            <a:spAutoFit/>
          </a:bodyPr>
          <a:lstStyle/>
          <a:p>
            <a:pPr marL="0" indent="0" algn="l">
              <a:buNone/>
            </a:pPr>
            <a:r>
              <a:rPr sz="520" b="0" i="0">
                <a:solidFill>
                  <a:srgbClr val="555555"/>
                </a:solidFill>
              </a:rPr>
              <a:t>Delivery fee</a:t>
            </a:r>
          </a:p>
        </p:txBody>
      </p:sp>
      <p:sp>
        <p:nvSpPr>
          <p:cNvPr id="195" name="TextBox 194"/>
          <p:cNvSpPr txBox="1"/>
          <p:nvPr/>
        </p:nvSpPr>
        <p:spPr>
          <a:xfrm>
            <a:off x="4568830" y="3733903"/>
            <a:ext cx="751027" cy="91196"/>
          </a:xfrm>
          <a:prstGeom prst="rect">
            <a:avLst/>
          </a:prstGeom>
          <a:noFill/>
        </p:spPr>
        <p:txBody>
          <a:bodyPr wrap="square" lIns="0" tIns="0" rIns="0" bIns="0" anchor="ctr">
            <a:spAutoFit/>
          </a:bodyPr>
          <a:lstStyle/>
          <a:p>
            <a:pPr marL="0" indent="0" algn="r">
              <a:buNone/>
            </a:pPr>
            <a:r>
              <a:rPr sz="520" b="0" i="0">
                <a:solidFill>
                  <a:srgbClr val="555555"/>
                </a:solidFill>
              </a:rPr>
              <a:t>Free</a:t>
            </a:r>
          </a:p>
        </p:txBody>
      </p:sp>
      <p:sp>
        <p:nvSpPr>
          <p:cNvPr id="196" name="TextBox 195"/>
          <p:cNvSpPr txBox="1"/>
          <p:nvPr/>
        </p:nvSpPr>
        <p:spPr>
          <a:xfrm>
            <a:off x="3458382" y="3822082"/>
            <a:ext cx="1072896" cy="97231"/>
          </a:xfrm>
          <a:prstGeom prst="rect">
            <a:avLst/>
          </a:prstGeom>
          <a:noFill/>
        </p:spPr>
        <p:txBody>
          <a:bodyPr wrap="square" lIns="0" tIns="0" rIns="0" bIns="0" anchor="ctr">
            <a:spAutoFit/>
          </a:bodyPr>
          <a:lstStyle/>
          <a:p>
            <a:pPr marL="0" indent="0" algn="l">
              <a:buNone/>
            </a:pPr>
            <a:r>
              <a:rPr sz="580" b="1" i="0">
                <a:solidFill>
                  <a:srgbClr val="222222"/>
                </a:solidFill>
              </a:rPr>
              <a:t>Amount payable</a:t>
            </a:r>
          </a:p>
        </p:txBody>
      </p:sp>
      <p:sp>
        <p:nvSpPr>
          <p:cNvPr id="197" name="TextBox 196"/>
          <p:cNvSpPr txBox="1"/>
          <p:nvPr/>
        </p:nvSpPr>
        <p:spPr>
          <a:xfrm>
            <a:off x="4568830" y="3822082"/>
            <a:ext cx="751027" cy="97231"/>
          </a:xfrm>
          <a:prstGeom prst="rect">
            <a:avLst/>
          </a:prstGeom>
          <a:noFill/>
        </p:spPr>
        <p:txBody>
          <a:bodyPr wrap="square" lIns="0" tIns="0" rIns="0" bIns="0" anchor="ctr">
            <a:spAutoFit/>
          </a:bodyPr>
          <a:lstStyle/>
          <a:p>
            <a:pPr marL="0" indent="0" algn="r">
              <a:buNone/>
            </a:pPr>
            <a:r>
              <a:rPr sz="580" b="1" i="0">
                <a:solidFill>
                  <a:srgbClr val="222222"/>
                </a:solidFill>
              </a:rPr>
              <a:t>446,000 ₫</a:t>
            </a:r>
          </a:p>
        </p:txBody>
      </p:sp>
      <p:sp>
        <p:nvSpPr>
          <p:cNvPr id="198" name="Rectangle 197"/>
          <p:cNvSpPr/>
          <p:nvPr/>
        </p:nvSpPr>
        <p:spPr>
          <a:xfrm>
            <a:off x="3383280" y="4538575"/>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99" name="Rectangle 198"/>
          <p:cNvSpPr/>
          <p:nvPr/>
        </p:nvSpPr>
        <p:spPr>
          <a:xfrm>
            <a:off x="3383280" y="4538575"/>
            <a:ext cx="2011679" cy="3111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0" name="TextBox 199"/>
          <p:cNvSpPr txBox="1"/>
          <p:nvPr/>
        </p:nvSpPr>
        <p:spPr>
          <a:xfrm>
            <a:off x="3458382" y="4570092"/>
            <a:ext cx="858316" cy="87172"/>
          </a:xfrm>
          <a:prstGeom prst="rect">
            <a:avLst/>
          </a:prstGeom>
          <a:noFill/>
        </p:spPr>
        <p:txBody>
          <a:bodyPr wrap="square" lIns="0" tIns="0" rIns="0" bIns="0" anchor="ctr">
            <a:spAutoFit/>
          </a:bodyPr>
          <a:lstStyle/>
          <a:p>
            <a:pPr marL="0" indent="0" algn="l">
              <a:buNone/>
            </a:pPr>
            <a:r>
              <a:rPr sz="520" b="0" i="0">
                <a:solidFill>
                  <a:srgbClr val="888888"/>
                </a:solidFill>
              </a:rPr>
              <a:t>Provisional total  ·  8 items</a:t>
            </a:r>
          </a:p>
        </p:txBody>
      </p:sp>
      <p:sp>
        <p:nvSpPr>
          <p:cNvPr id="201" name="TextBox 200"/>
          <p:cNvSpPr txBox="1"/>
          <p:nvPr/>
        </p:nvSpPr>
        <p:spPr>
          <a:xfrm>
            <a:off x="3458382" y="4621724"/>
            <a:ext cx="858316" cy="134112"/>
          </a:xfrm>
          <a:prstGeom prst="rect">
            <a:avLst/>
          </a:prstGeom>
          <a:noFill/>
        </p:spPr>
        <p:txBody>
          <a:bodyPr wrap="square" lIns="0" tIns="0" rIns="0" bIns="0" anchor="ctr">
            <a:spAutoFit/>
          </a:bodyPr>
          <a:lstStyle/>
          <a:p>
            <a:pPr marL="0" indent="0" algn="l">
              <a:buNone/>
            </a:pPr>
            <a:r>
              <a:rPr sz="800" b="1" i="0">
                <a:solidFill>
                  <a:srgbClr val="C8102E"/>
                </a:solidFill>
              </a:rPr>
              <a:t>446,000 ₫</a:t>
            </a:r>
          </a:p>
        </p:txBody>
      </p:sp>
      <p:sp>
        <p:nvSpPr>
          <p:cNvPr id="202" name="Rounded Rectangle 201"/>
          <p:cNvSpPr/>
          <p:nvPr/>
        </p:nvSpPr>
        <p:spPr>
          <a:xfrm>
            <a:off x="4590288" y="4602949"/>
            <a:ext cx="729569" cy="160934"/>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3" name="TextBox 202"/>
          <p:cNvSpPr txBox="1"/>
          <p:nvPr/>
        </p:nvSpPr>
        <p:spPr>
          <a:xfrm>
            <a:off x="4590288" y="4602949"/>
            <a:ext cx="729569" cy="160934"/>
          </a:xfrm>
          <a:prstGeom prst="rect">
            <a:avLst/>
          </a:prstGeom>
          <a:noFill/>
        </p:spPr>
        <p:txBody>
          <a:bodyPr wrap="square" lIns="0" tIns="0" rIns="0" bIns="0" anchor="ctr">
            <a:spAutoFit/>
          </a:bodyPr>
          <a:lstStyle/>
          <a:p>
            <a:pPr marL="0" indent="0" algn="ctr">
              <a:buNone/>
            </a:pPr>
            <a:r>
              <a:rPr sz="650" b="1" i="0">
                <a:solidFill>
                  <a:srgbClr val="FFFFFF"/>
                </a:solidFill>
              </a:rPr>
              <a:t>Proceed to Checkout</a:t>
            </a:r>
          </a:p>
        </p:txBody>
      </p:sp>
      <p:sp>
        <p:nvSpPr>
          <p:cNvPr id="204" name="Oval 203"/>
          <p:cNvSpPr/>
          <p:nvPr/>
        </p:nvSpPr>
        <p:spPr>
          <a:xfrm>
            <a:off x="3168701" y="1437905"/>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5" name="TextBox 204"/>
          <p:cNvSpPr txBox="1"/>
          <p:nvPr/>
        </p:nvSpPr>
        <p:spPr>
          <a:xfrm>
            <a:off x="3168701" y="1437905"/>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sp>
        <p:nvSpPr>
          <p:cNvPr id="206" name="Oval 205"/>
          <p:cNvSpPr/>
          <p:nvPr/>
        </p:nvSpPr>
        <p:spPr>
          <a:xfrm>
            <a:off x="3168701" y="2703923"/>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7" name="TextBox 206"/>
          <p:cNvSpPr txBox="1"/>
          <p:nvPr/>
        </p:nvSpPr>
        <p:spPr>
          <a:xfrm>
            <a:off x="3168701" y="2703923"/>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10</a:t>
            </a:r>
          </a:p>
        </p:txBody>
      </p:sp>
      <p:sp>
        <p:nvSpPr>
          <p:cNvPr id="208" name="Oval 207"/>
          <p:cNvSpPr/>
          <p:nvPr/>
        </p:nvSpPr>
        <p:spPr>
          <a:xfrm>
            <a:off x="3168701" y="3669529"/>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9" name="TextBox 208"/>
          <p:cNvSpPr txBox="1"/>
          <p:nvPr/>
        </p:nvSpPr>
        <p:spPr>
          <a:xfrm>
            <a:off x="3168701" y="3669529"/>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11</a:t>
            </a:r>
          </a:p>
        </p:txBody>
      </p:sp>
      <p:graphicFrame>
        <p:nvGraphicFramePr>
          <p:cNvPr id="210" name="Table 209"/>
          <p:cNvGraphicFramePr>
            <a:graphicFrameLocks noGrp="1"/>
          </p:cNvGraphicFramePr>
          <p:nvPr/>
        </p:nvGraphicFramePr>
        <p:xfrm>
          <a:off x="7196328" y="886968"/>
          <a:ext cx="4718304" cy="4368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364000">
                <a:tc>
                  <a:txBody>
                    <a:bodyPr/>
                    <a:lstStyle/>
                    <a:p>
                      <a:pPr marL="0" indent="0" algn="ctr">
                        <a:buNone/>
                      </a:pPr>
                      <a:r>
                        <a:rPr sz="6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364000">
                <a:tc>
                  <a:txBody>
                    <a:bodyPr/>
                    <a:lstStyle/>
                    <a:p>
                      <a:pPr marL="0" indent="0" algn="ctr">
                        <a:buNone/>
                      </a:pPr>
                      <a:r>
                        <a:rPr sz="6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Delivery / Pick-up tabs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The single choice that splits the flow. Delivery is default; Pick-up is SCR-CRT-04 (CT-02).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364000">
                <a:tc>
                  <a:txBody>
                    <a:bodyPr/>
                    <a:lstStyle/>
                    <a:p>
                      <a:pPr marL="0" indent="0" algn="ctr">
                        <a:buNone/>
                      </a:pPr>
                      <a:r>
                        <a:rPr sz="6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Serving store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Shown persistently, because price, stock and slot all depend on it. Change opens the pre-filtered store sheet (SCR-CRT-06, BRL-24).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364000">
                <a:tc>
                  <a:txBody>
                    <a:bodyPr/>
                    <a:lstStyle/>
                    <a:p>
                      <a:pPr marL="0" indent="0" algn="ctr">
                        <a:buNone/>
                      </a:pPr>
                      <a:r>
                        <a:rPr sz="6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Delivery block, carried from the Homepage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Address, recipient, service and slot chosen on the Homepage are pre-filled — the customer does not choose again, only changes if they want to (CT-02).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364000">
                <a:tc>
                  <a:txBody>
                    <a:bodyPr/>
                    <a:lstStyle/>
                    <a:p>
                      <a:pPr marL="0" indent="0" algn="ctr">
                        <a:buNone/>
                      </a:pPr>
                      <a:r>
                        <a:rPr sz="6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Freeship progress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Progress toward the 150,000 ₫ Standard threshold (BRL-19). Which products to suggest is not yet defined — OQ-15.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364000">
                <a:tc>
                  <a:txBody>
                    <a:bodyPr/>
                    <a:lstStyle/>
                    <a:p>
                      <a:pPr marL="0" indent="0" algn="ctr">
                        <a:buNone/>
                      </a:pPr>
                      <a:r>
                        <a:rPr sz="6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Filters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60-Minute eligible and BNPL eligible. Independent and combinable (CT-04).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364000">
                <a:tc>
                  <a:txBody>
                    <a:bodyPr/>
                    <a:lstStyle/>
                    <a:p>
                      <a:pPr marL="0" indent="0" algn="ctr">
                        <a:buNone/>
                      </a:pPr>
                      <a:r>
                        <a:rPr sz="6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Out-of-stock separation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Unavailable items move to their own group so the rest of the basket can still be checked out (CT-06). How long they are retained is open — OQ-05.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364000">
                <a:tc>
                  <a:txBody>
                    <a:bodyPr/>
                    <a:lstStyle/>
                    <a:p>
                      <a:pPr marL="0" indent="0" algn="ctr">
                        <a:buNone/>
                      </a:pPr>
                      <a:r>
                        <a:rPr sz="60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Purchase-with-Purchase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PwP offers unlocked by spend milestones (CT-06). The full promotion-type catalogue is pending — OQ-17.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364000">
                <a:tc>
                  <a:txBody>
                    <a:bodyPr/>
                    <a:lstStyle/>
                    <a:p>
                      <a:pPr marL="0" indent="0" algn="ctr">
                        <a:buNone/>
                      </a:pPr>
                      <a:r>
                        <a:rPr sz="600" b="0" i="0">
                          <a:solidFill>
                            <a:srgbClr val="222222"/>
                          </a:solidFill>
                        </a:rPr>
                        <a:t>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Coupons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Applied automatically by default, and presented in two groups — delivery coupons and order / product coupons (BRL-32).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r h="364000">
                <a:tc>
                  <a:txBody>
                    <a:bodyPr/>
                    <a:lstStyle/>
                    <a:p>
                      <a:pPr marL="0" indent="0" algn="ctr">
                        <a:buNone/>
                      </a:pPr>
                      <a:r>
                        <a:rPr sz="600" b="0" i="0">
                          <a:solidFill>
                            <a:srgbClr val="222222"/>
                          </a:solidFill>
                        </a:rPr>
                        <a:t>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Proceed to 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Freezes the order and hands it to SCR-CHK-01 (CT-11, BRL-31).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9"/>
                  </a:ext>
                </a:extLst>
              </a:tr>
              <a:tr h="364000">
                <a:tc>
                  <a:txBody>
                    <a:bodyPr/>
                    <a:lstStyle/>
                    <a:p>
                      <a:pPr marL="0" indent="0" algn="ctr">
                        <a:buNone/>
                      </a:pPr>
                      <a:r>
                        <a:rPr sz="600" b="0" i="0">
                          <a:solidFill>
                            <a:srgbClr val="222222"/>
                          </a:solidFill>
                        </a:rPr>
                        <a:t>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Replacement suggestions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Each unavailable item offers a substitute or a back-in-stock notification (CT-06).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10"/>
                  </a:ext>
                </a:extLst>
              </a:tr>
              <a:tr h="364000">
                <a:tc>
                  <a:txBody>
                    <a:bodyPr/>
                    <a:lstStyle/>
                    <a:p>
                      <a:pPr marL="0" indent="0" algn="ctr">
                        <a:buNone/>
                      </a:pPr>
                      <a:r>
                        <a:rPr sz="600" b="0" i="0">
                          <a:solidFill>
                            <a:srgbClr val="222222"/>
                          </a:solidFill>
                        </a:rPr>
                        <a:t>11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Provisional payment summary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Recalculated in real time as items, coupons and service change, including the status of out-of-stock gift items (CT-06, BRL-34).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11"/>
                  </a:ext>
                </a:extLst>
              </a:tr>
            </a:tbl>
          </a:graphicData>
        </a:graphic>
      </p:graphicFrame>
      <p:sp>
        <p:nvSpPr>
          <p:cNvPr id="211" name="TextBox 210"/>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The Cart is the last point at which anything can be edited. Everything shown here is carried into Checkout read-only (BR-09, BRL-31). Refill timing is shown per product for recurring purchases; the recurrence model itself is owned by the subscription workstream.</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Cart (CT)</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CT-08</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SCR-CRT-02</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Cart — 60-Minute Delivery</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54</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State A  ·  60-Minute selected, slots healthy</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59436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5873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29" name="TextBox 28"/>
          <p:cNvSpPr txBox="1"/>
          <p:nvPr/>
        </p:nvSpPr>
        <p:spPr>
          <a:xfrm>
            <a:off x="77675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Cart  (8)</a:t>
            </a:r>
          </a:p>
        </p:txBody>
      </p:sp>
      <p:sp>
        <p:nvSpPr>
          <p:cNvPr id="30" name="TextBox 29"/>
          <p:cNvSpPr txBox="1"/>
          <p:nvPr/>
        </p:nvSpPr>
        <p:spPr>
          <a:xfrm>
            <a:off x="2069591" y="998018"/>
            <a:ext cx="461345" cy="214579"/>
          </a:xfrm>
          <a:prstGeom prst="rect">
            <a:avLst/>
          </a:prstGeom>
          <a:noFill/>
        </p:spPr>
        <p:txBody>
          <a:bodyPr wrap="square" lIns="0" tIns="0" rIns="0" bIns="0" anchor="ctr">
            <a:spAutoFit/>
          </a:bodyPr>
          <a:lstStyle/>
          <a:p>
            <a:pPr marL="0" indent="0" algn="r">
              <a:buNone/>
            </a:pPr>
            <a:r>
              <a:rPr sz="600" b="0" i="0">
                <a:solidFill>
                  <a:srgbClr val="555555"/>
                </a:solidFill>
              </a:rPr>
              <a:t>Edit</a:t>
            </a:r>
          </a:p>
        </p:txBody>
      </p:sp>
      <p:sp>
        <p:nvSpPr>
          <p:cNvPr id="31" name="Rectangle 30"/>
          <p:cNvSpPr/>
          <p:nvPr/>
        </p:nvSpPr>
        <p:spPr>
          <a:xfrm>
            <a:off x="59436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594360" y="1217962"/>
            <a:ext cx="1005839" cy="160934"/>
          </a:xfrm>
          <a:prstGeom prst="rect">
            <a:avLst/>
          </a:prstGeom>
          <a:noFill/>
        </p:spPr>
        <p:txBody>
          <a:bodyPr wrap="square" lIns="0" tIns="0" rIns="0" bIns="0" anchor="ctr">
            <a:spAutoFit/>
          </a:bodyPr>
          <a:lstStyle/>
          <a:p>
            <a:pPr marL="0" indent="0" algn="ctr">
              <a:buNone/>
            </a:pPr>
            <a:r>
              <a:rPr sz="650" b="1" i="0">
                <a:solidFill>
                  <a:srgbClr val="C8102E"/>
                </a:solidFill>
              </a:rPr>
              <a:t>Delivery</a:t>
            </a:r>
          </a:p>
        </p:txBody>
      </p:sp>
      <p:sp>
        <p:nvSpPr>
          <p:cNvPr id="33" name="Rectangle 32"/>
          <p:cNvSpPr/>
          <p:nvPr/>
        </p:nvSpPr>
        <p:spPr>
          <a:xfrm>
            <a:off x="815644" y="1362803"/>
            <a:ext cx="563270" cy="1609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1600199" y="1217962"/>
            <a:ext cx="1005839" cy="160934"/>
          </a:xfrm>
          <a:prstGeom prst="rect">
            <a:avLst/>
          </a:prstGeom>
          <a:noFill/>
        </p:spPr>
        <p:txBody>
          <a:bodyPr wrap="square" lIns="0" tIns="0" rIns="0" bIns="0" anchor="ctr">
            <a:spAutoFit/>
          </a:bodyPr>
          <a:lstStyle/>
          <a:p>
            <a:pPr marL="0" indent="0" algn="ctr">
              <a:buNone/>
            </a:pPr>
            <a:r>
              <a:rPr sz="650" b="0" i="0">
                <a:solidFill>
                  <a:srgbClr val="888888"/>
                </a:solidFill>
              </a:rPr>
              <a:t>Self pick-up</a:t>
            </a:r>
          </a:p>
        </p:txBody>
      </p:sp>
      <p:sp>
        <p:nvSpPr>
          <p:cNvPr id="35" name="Rectangle 34"/>
          <p:cNvSpPr/>
          <p:nvPr/>
        </p:nvSpPr>
        <p:spPr>
          <a:xfrm>
            <a:off x="594360" y="1378896"/>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Rectangle 35"/>
          <p:cNvSpPr/>
          <p:nvPr/>
        </p:nvSpPr>
        <p:spPr>
          <a:xfrm>
            <a:off x="594360" y="1384261"/>
            <a:ext cx="2011679" cy="118018"/>
          </a:xfrm>
          <a:prstGeom prst="rect">
            <a:avLst/>
          </a:prstGeom>
          <a:solidFill>
            <a:srgbClr val="F7E9E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TextBox 36"/>
          <p:cNvSpPr txBox="1"/>
          <p:nvPr/>
        </p:nvSpPr>
        <p:spPr>
          <a:xfrm>
            <a:off x="669462" y="1384261"/>
            <a:ext cx="1394764" cy="118018"/>
          </a:xfrm>
          <a:prstGeom prst="rect">
            <a:avLst/>
          </a:prstGeom>
          <a:noFill/>
        </p:spPr>
        <p:txBody>
          <a:bodyPr wrap="square" lIns="0" tIns="0" rIns="0" bIns="0" anchor="ctr">
            <a:spAutoFit/>
          </a:bodyPr>
          <a:lstStyle/>
          <a:p>
            <a:pPr marL="0" indent="0" algn="l">
              <a:buNone/>
            </a:pPr>
            <a:r>
              <a:rPr sz="520" b="0" i="0">
                <a:solidFill>
                  <a:srgbClr val="555555"/>
                </a:solidFill>
              </a:rPr>
              <a:t>Serving store:  </a:t>
            </a:r>
            <a:r>
              <a:rPr sz="520" b="1" i="0">
                <a:solidFill>
                  <a:srgbClr val="C8102E"/>
                </a:solidFill>
              </a:rPr>
              <a:t>LOTTE Mart Nam Sài Gòn</a:t>
            </a:r>
          </a:p>
        </p:txBody>
      </p:sp>
      <p:sp>
        <p:nvSpPr>
          <p:cNvPr id="38" name="TextBox 37"/>
          <p:cNvSpPr txBox="1"/>
          <p:nvPr/>
        </p:nvSpPr>
        <p:spPr>
          <a:xfrm>
            <a:off x="2203703" y="1384261"/>
            <a:ext cx="327233" cy="118018"/>
          </a:xfrm>
          <a:prstGeom prst="rect">
            <a:avLst/>
          </a:prstGeom>
          <a:noFill/>
        </p:spPr>
        <p:txBody>
          <a:bodyPr wrap="square" lIns="0" tIns="0" rIns="0" bIns="0" anchor="ctr">
            <a:spAutoFit/>
          </a:bodyPr>
          <a:lstStyle/>
          <a:p>
            <a:pPr marL="0" indent="0" algn="r">
              <a:buNone/>
            </a:pPr>
            <a:r>
              <a:rPr sz="500" b="1" i="0">
                <a:solidFill>
                  <a:srgbClr val="C8102E"/>
                </a:solidFill>
              </a:rPr>
              <a:t>Change ›</a:t>
            </a:r>
          </a:p>
        </p:txBody>
      </p:sp>
      <p:sp>
        <p:nvSpPr>
          <p:cNvPr id="39" name="Rounded Rectangle 38"/>
          <p:cNvSpPr/>
          <p:nvPr/>
        </p:nvSpPr>
        <p:spPr>
          <a:xfrm>
            <a:off x="669462" y="1523737"/>
            <a:ext cx="1861474" cy="300410"/>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TextBox 39"/>
          <p:cNvSpPr txBox="1"/>
          <p:nvPr/>
        </p:nvSpPr>
        <p:spPr>
          <a:xfrm>
            <a:off x="744565" y="1551565"/>
            <a:ext cx="1072896" cy="83820"/>
          </a:xfrm>
          <a:prstGeom prst="rect">
            <a:avLst/>
          </a:prstGeom>
          <a:noFill/>
        </p:spPr>
        <p:txBody>
          <a:bodyPr wrap="square" lIns="0" tIns="0" rIns="0" bIns="0" anchor="ctr">
            <a:spAutoFit/>
          </a:bodyPr>
          <a:lstStyle/>
          <a:p>
            <a:pPr marL="0" indent="0" algn="l">
              <a:buNone/>
            </a:pPr>
            <a:r>
              <a:rPr sz="500" b="0" i="0">
                <a:solidFill>
                  <a:srgbClr val="888888"/>
                </a:solidFill>
              </a:rPr>
              <a:t>Delivery service</a:t>
            </a:r>
          </a:p>
        </p:txBody>
      </p:sp>
      <p:sp>
        <p:nvSpPr>
          <p:cNvPr id="41" name="Rounded Rectangle 40"/>
          <p:cNvSpPr/>
          <p:nvPr/>
        </p:nvSpPr>
        <p:spPr>
          <a:xfrm>
            <a:off x="744565" y="1641756"/>
            <a:ext cx="831494" cy="139476"/>
          </a:xfrm>
          <a:prstGeom prst="roundRect">
            <a:avLst>
              <a:gd name="adj" fmla="val 14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TextBox 41"/>
          <p:cNvSpPr txBox="1"/>
          <p:nvPr/>
        </p:nvSpPr>
        <p:spPr>
          <a:xfrm>
            <a:off x="744565" y="1641756"/>
            <a:ext cx="831494" cy="139476"/>
          </a:xfrm>
          <a:prstGeom prst="rect">
            <a:avLst/>
          </a:prstGeom>
          <a:noFill/>
        </p:spPr>
        <p:txBody>
          <a:bodyPr wrap="square" lIns="0" tIns="0" rIns="0" bIns="0" anchor="ctr">
            <a:spAutoFit/>
          </a:bodyPr>
          <a:lstStyle/>
          <a:p>
            <a:pPr marL="0" indent="0" algn="ctr">
              <a:buNone/>
            </a:pPr>
            <a:r>
              <a:rPr sz="540" b="1" i="0">
                <a:solidFill>
                  <a:srgbClr val="C8102E"/>
                </a:solidFill>
              </a:rPr>
              <a:t>60-Minute  ·  25,000 ₫</a:t>
            </a:r>
          </a:p>
        </p:txBody>
      </p:sp>
      <p:sp>
        <p:nvSpPr>
          <p:cNvPr id="43" name="Rounded Rectangle 42"/>
          <p:cNvSpPr/>
          <p:nvPr/>
        </p:nvSpPr>
        <p:spPr>
          <a:xfrm>
            <a:off x="1624340" y="1641756"/>
            <a:ext cx="831494" cy="139476"/>
          </a:xfrm>
          <a:prstGeom prst="roundRect">
            <a:avLst>
              <a:gd name="adj" fmla="val 14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4" name="TextBox 43"/>
          <p:cNvSpPr txBox="1"/>
          <p:nvPr/>
        </p:nvSpPr>
        <p:spPr>
          <a:xfrm>
            <a:off x="1624340" y="1641756"/>
            <a:ext cx="831494" cy="139476"/>
          </a:xfrm>
          <a:prstGeom prst="rect">
            <a:avLst/>
          </a:prstGeom>
          <a:noFill/>
        </p:spPr>
        <p:txBody>
          <a:bodyPr wrap="square" lIns="0" tIns="0" rIns="0" bIns="0" anchor="ctr">
            <a:spAutoFit/>
          </a:bodyPr>
          <a:lstStyle/>
          <a:p>
            <a:pPr marL="0" indent="0" algn="ctr">
              <a:buNone/>
            </a:pPr>
            <a:r>
              <a:rPr sz="540" b="0" i="0">
                <a:solidFill>
                  <a:srgbClr val="555555"/>
                </a:solidFill>
              </a:rPr>
              <a:t>Standard  ·  Free</a:t>
            </a:r>
          </a:p>
        </p:txBody>
      </p:sp>
      <p:sp>
        <p:nvSpPr>
          <p:cNvPr id="45" name="Rounded Rectangle 44"/>
          <p:cNvSpPr/>
          <p:nvPr/>
        </p:nvSpPr>
        <p:spPr>
          <a:xfrm>
            <a:off x="648004" y="1867064"/>
            <a:ext cx="1904390" cy="160934"/>
          </a:xfrm>
          <a:prstGeom prst="roundRect">
            <a:avLst>
              <a:gd name="adj" fmla="val 15000"/>
            </a:avLst>
          </a:prstGeom>
          <a:solidFill>
            <a:srgbClr val="E8F5EE"/>
          </a:solidFill>
          <a:ln w="6350">
            <a:solidFill>
              <a:srgbClr val="E8F5E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TextBox 45"/>
          <p:cNvSpPr txBox="1"/>
          <p:nvPr/>
        </p:nvSpPr>
        <p:spPr>
          <a:xfrm>
            <a:off x="690920" y="1867064"/>
            <a:ext cx="96560" cy="160934"/>
          </a:xfrm>
          <a:prstGeom prst="rect">
            <a:avLst/>
          </a:prstGeom>
          <a:noFill/>
        </p:spPr>
        <p:txBody>
          <a:bodyPr wrap="square" lIns="0" tIns="0" rIns="0" bIns="0" anchor="ctr">
            <a:spAutoFit/>
          </a:bodyPr>
          <a:lstStyle/>
          <a:p>
            <a:pPr marL="0" indent="0" algn="ctr">
              <a:buNone/>
            </a:pPr>
            <a:r>
              <a:rPr sz="550" b="1" i="0">
                <a:solidFill>
                  <a:srgbClr val="1B7F4B"/>
                </a:solidFill>
              </a:rPr>
              <a:t>⚡</a:t>
            </a:r>
          </a:p>
        </p:txBody>
      </p:sp>
      <p:sp>
        <p:nvSpPr>
          <p:cNvPr id="47" name="TextBox 46"/>
          <p:cNvSpPr txBox="1"/>
          <p:nvPr/>
        </p:nvSpPr>
        <p:spPr>
          <a:xfrm>
            <a:off x="819668" y="1867064"/>
            <a:ext cx="1700540" cy="160934"/>
          </a:xfrm>
          <a:prstGeom prst="rect">
            <a:avLst/>
          </a:prstGeom>
          <a:noFill/>
        </p:spPr>
        <p:txBody>
          <a:bodyPr wrap="square" lIns="0" tIns="0" rIns="0" bIns="0" anchor="ctr">
            <a:spAutoFit/>
          </a:bodyPr>
          <a:lstStyle/>
          <a:p>
            <a:pPr marL="0" indent="0" algn="l">
              <a:buNone/>
            </a:pPr>
            <a:r>
              <a:rPr sz="540" b="0" i="0">
                <a:solidFill>
                  <a:srgbClr val="1B7F4B"/>
                </a:solidFill>
              </a:rPr>
              <a:t>Arrives by 14:20  ·  within 60 minutes of confirmation</a:t>
            </a:r>
          </a:p>
        </p:txBody>
      </p:sp>
      <p:sp>
        <p:nvSpPr>
          <p:cNvPr id="48" name="Rounded Rectangle 47"/>
          <p:cNvSpPr/>
          <p:nvPr/>
        </p:nvSpPr>
        <p:spPr>
          <a:xfrm>
            <a:off x="669462" y="2060185"/>
            <a:ext cx="1861474" cy="214579"/>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9" name="TextBox 48"/>
          <p:cNvSpPr txBox="1"/>
          <p:nvPr/>
        </p:nvSpPr>
        <p:spPr>
          <a:xfrm>
            <a:off x="744565" y="2060185"/>
            <a:ext cx="1341120" cy="214579"/>
          </a:xfrm>
          <a:prstGeom prst="rect">
            <a:avLst/>
          </a:prstGeom>
          <a:noFill/>
        </p:spPr>
        <p:txBody>
          <a:bodyPr wrap="square" lIns="0" tIns="0" rIns="0" bIns="0" anchor="ctr">
            <a:spAutoFit/>
          </a:bodyPr>
          <a:lstStyle/>
          <a:p>
            <a:pPr marL="0" indent="0" algn="l">
              <a:buNone/>
            </a:pPr>
            <a:r>
              <a:rPr sz="540" b="0" i="0">
                <a:solidFill>
                  <a:srgbClr val="555555"/>
                </a:solidFill>
              </a:rPr>
              <a:t>6 delivery slots remaining today</a:t>
            </a:r>
          </a:p>
        </p:txBody>
      </p:sp>
      <p:sp>
        <p:nvSpPr>
          <p:cNvPr id="50" name="Rounded Rectangle 49"/>
          <p:cNvSpPr/>
          <p:nvPr/>
        </p:nvSpPr>
        <p:spPr>
          <a:xfrm>
            <a:off x="2074956" y="2113830"/>
            <a:ext cx="386242" cy="107289"/>
          </a:xfrm>
          <a:prstGeom prst="roundRect">
            <a:avLst>
              <a:gd name="adj" fmla="val 50000"/>
            </a:avLst>
          </a:prstGeom>
          <a:solidFill>
            <a:srgbClr val="E8F5EE"/>
          </a:solidFill>
          <a:ln w="635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1" name="TextBox 50"/>
          <p:cNvSpPr txBox="1"/>
          <p:nvPr/>
        </p:nvSpPr>
        <p:spPr>
          <a:xfrm>
            <a:off x="2074956" y="2113830"/>
            <a:ext cx="386242" cy="107289"/>
          </a:xfrm>
          <a:prstGeom prst="rect">
            <a:avLst/>
          </a:prstGeom>
          <a:noFill/>
        </p:spPr>
        <p:txBody>
          <a:bodyPr wrap="square" lIns="0" tIns="0" rIns="0" bIns="0" anchor="ctr">
            <a:spAutoFit/>
          </a:bodyPr>
          <a:lstStyle/>
          <a:p>
            <a:pPr marL="0" indent="0" algn="ctr">
              <a:buNone/>
            </a:pPr>
            <a:r>
              <a:rPr sz="459" b="1" i="0">
                <a:solidFill>
                  <a:srgbClr val="1B7F4B"/>
                </a:solidFill>
              </a:rPr>
              <a:t>Healthy</a:t>
            </a:r>
          </a:p>
        </p:txBody>
      </p:sp>
      <p:sp>
        <p:nvSpPr>
          <p:cNvPr id="52" name="Rounded Rectangle 51"/>
          <p:cNvSpPr/>
          <p:nvPr/>
        </p:nvSpPr>
        <p:spPr>
          <a:xfrm>
            <a:off x="669462" y="2317680"/>
            <a:ext cx="1861474" cy="278952"/>
          </a:xfrm>
          <a:prstGeom prst="roundRect">
            <a:avLst>
              <a:gd name="adj" fmla="val 10000"/>
            </a:avLst>
          </a:prstGeom>
          <a:solidFill>
            <a:srgbClr val="FFF6E5"/>
          </a:solidFill>
          <a:ln w="6350">
            <a:solidFill>
              <a:srgbClr val="B26A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TextBox 52"/>
          <p:cNvSpPr txBox="1"/>
          <p:nvPr/>
        </p:nvSpPr>
        <p:spPr>
          <a:xfrm>
            <a:off x="744565" y="2342156"/>
            <a:ext cx="1711269" cy="90525"/>
          </a:xfrm>
          <a:prstGeom prst="rect">
            <a:avLst/>
          </a:prstGeom>
          <a:noFill/>
        </p:spPr>
        <p:txBody>
          <a:bodyPr wrap="square" lIns="0" tIns="0" rIns="0" bIns="0" anchor="ctr">
            <a:spAutoFit/>
          </a:bodyPr>
          <a:lstStyle/>
          <a:p>
            <a:pPr marL="0" indent="0" algn="l">
              <a:buNone/>
            </a:pPr>
            <a:r>
              <a:rPr sz="540" b="1" i="0">
                <a:solidFill>
                  <a:srgbClr val="8A5A00"/>
                </a:solidFill>
              </a:rPr>
              <a:t>60-Minute delivery fee is fixed</a:t>
            </a:r>
          </a:p>
        </p:txBody>
      </p:sp>
      <p:sp>
        <p:nvSpPr>
          <p:cNvPr id="54" name="TextBox 53"/>
          <p:cNvSpPr txBox="1"/>
          <p:nvPr/>
        </p:nvSpPr>
        <p:spPr>
          <a:xfrm>
            <a:off x="744565" y="2435699"/>
            <a:ext cx="1711269" cy="139476"/>
          </a:xfrm>
          <a:prstGeom prst="rect">
            <a:avLst/>
          </a:prstGeom>
          <a:noFill/>
        </p:spPr>
        <p:txBody>
          <a:bodyPr wrap="square" lIns="0" tIns="0" rIns="0" bIns="0" anchor="t">
            <a:spAutoFit/>
          </a:bodyPr>
          <a:lstStyle/>
          <a:p>
            <a:pPr marL="0" indent="0" algn="l">
              <a:buNone/>
            </a:pPr>
            <a:r>
              <a:rPr sz="500" b="0" i="0">
                <a:solidFill>
                  <a:srgbClr val="8A5A00"/>
                </a:solidFill>
              </a:rPr>
              <a:t>It is never waived by order value. Only a delivery coupon that covers the full 25,000 ₫ removes it.</a:t>
            </a:r>
          </a:p>
        </p:txBody>
      </p:sp>
      <p:sp>
        <p:nvSpPr>
          <p:cNvPr id="55" name="TextBox 54"/>
          <p:cNvSpPr txBox="1"/>
          <p:nvPr/>
        </p:nvSpPr>
        <p:spPr>
          <a:xfrm>
            <a:off x="669462" y="2630161"/>
            <a:ext cx="1341120" cy="93878"/>
          </a:xfrm>
          <a:prstGeom prst="rect">
            <a:avLst/>
          </a:prstGeom>
          <a:noFill/>
        </p:spPr>
        <p:txBody>
          <a:bodyPr wrap="square" lIns="0" tIns="0" rIns="0" bIns="0" anchor="ctr">
            <a:spAutoFit/>
          </a:bodyPr>
          <a:lstStyle/>
          <a:p>
            <a:pPr marL="0" indent="0" algn="l">
              <a:buNone/>
            </a:pPr>
            <a:r>
              <a:rPr sz="560" b="1" i="0">
                <a:solidFill>
                  <a:srgbClr val="3A3A3A"/>
                </a:solidFill>
              </a:rPr>
              <a:t>Only 60-Minute eligible items</a:t>
            </a:r>
          </a:p>
        </p:txBody>
      </p:sp>
      <p:sp>
        <p:nvSpPr>
          <p:cNvPr id="56" name="Rounded Rectangle 55"/>
          <p:cNvSpPr/>
          <p:nvPr/>
        </p:nvSpPr>
        <p:spPr>
          <a:xfrm>
            <a:off x="658733" y="2875586"/>
            <a:ext cx="64373" cy="64373"/>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7" name="TextBox 56"/>
          <p:cNvSpPr txBox="1"/>
          <p:nvPr/>
        </p:nvSpPr>
        <p:spPr>
          <a:xfrm>
            <a:off x="658733" y="2865863"/>
            <a:ext cx="64373" cy="83820"/>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58" name="Rounded Rectangle 57"/>
          <p:cNvSpPr/>
          <p:nvPr/>
        </p:nvSpPr>
        <p:spPr>
          <a:xfrm>
            <a:off x="755294" y="2795119"/>
            <a:ext cx="203850" cy="203850"/>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9" name="TextBox 58"/>
          <p:cNvSpPr txBox="1"/>
          <p:nvPr/>
        </p:nvSpPr>
        <p:spPr>
          <a:xfrm>
            <a:off x="755294" y="2795119"/>
            <a:ext cx="203850" cy="203850"/>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60" name="TextBox 59"/>
          <p:cNvSpPr txBox="1"/>
          <p:nvPr/>
        </p:nvSpPr>
        <p:spPr>
          <a:xfrm>
            <a:off x="1002060" y="2762932"/>
            <a:ext cx="1110447" cy="91196"/>
          </a:xfrm>
          <a:prstGeom prst="rect">
            <a:avLst/>
          </a:prstGeom>
          <a:noFill/>
        </p:spPr>
        <p:txBody>
          <a:bodyPr wrap="square" lIns="0" tIns="0" rIns="0" bIns="0" anchor="ctr">
            <a:spAutoFit/>
          </a:bodyPr>
          <a:lstStyle/>
          <a:p>
            <a:pPr marL="0" indent="0" algn="l">
              <a:buNone/>
            </a:pPr>
            <a:r>
              <a:rPr sz="520" b="1" i="0">
                <a:solidFill>
                  <a:srgbClr val="222222"/>
                </a:solidFill>
              </a:rPr>
              <a:t>Chicken breast 500g</a:t>
            </a:r>
          </a:p>
        </p:txBody>
      </p:sp>
      <p:sp>
        <p:nvSpPr>
          <p:cNvPr id="61" name="TextBox 60"/>
          <p:cNvSpPr txBox="1"/>
          <p:nvPr/>
        </p:nvSpPr>
        <p:spPr>
          <a:xfrm>
            <a:off x="1002060" y="2858152"/>
            <a:ext cx="804671" cy="93878"/>
          </a:xfrm>
          <a:prstGeom prst="rect">
            <a:avLst/>
          </a:prstGeom>
          <a:noFill/>
        </p:spPr>
        <p:txBody>
          <a:bodyPr wrap="square" lIns="0" tIns="0" rIns="0" bIns="0" anchor="ctr">
            <a:spAutoFit/>
          </a:bodyPr>
          <a:lstStyle/>
          <a:p>
            <a:pPr marL="0" indent="0" algn="l">
              <a:buNone/>
            </a:pPr>
            <a:r>
              <a:rPr sz="560" b="1" i="0">
                <a:solidFill>
                  <a:srgbClr val="C8102E"/>
                </a:solidFill>
              </a:rPr>
              <a:t>112,000 ₫</a:t>
            </a:r>
          </a:p>
        </p:txBody>
      </p:sp>
      <p:sp>
        <p:nvSpPr>
          <p:cNvPr id="62" name="Rounded Rectangle 61"/>
          <p:cNvSpPr/>
          <p:nvPr/>
        </p:nvSpPr>
        <p:spPr>
          <a:xfrm>
            <a:off x="1002060" y="2966782"/>
            <a:ext cx="278952" cy="69738"/>
          </a:xfrm>
          <a:prstGeom prst="roundRect">
            <a:avLst>
              <a:gd name="adj" fmla="val 50000"/>
            </a:avLst>
          </a:prstGeom>
          <a:solidFill>
            <a:srgbClr val="EEF1F9"/>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3" name="TextBox 62"/>
          <p:cNvSpPr txBox="1"/>
          <p:nvPr/>
        </p:nvSpPr>
        <p:spPr>
          <a:xfrm>
            <a:off x="1002060" y="2966447"/>
            <a:ext cx="278952" cy="70408"/>
          </a:xfrm>
          <a:prstGeom prst="rect">
            <a:avLst/>
          </a:prstGeom>
          <a:noFill/>
        </p:spPr>
        <p:txBody>
          <a:bodyPr wrap="square" lIns="0" tIns="0" rIns="0" bIns="0" anchor="ctr">
            <a:spAutoFit/>
          </a:bodyPr>
          <a:lstStyle/>
          <a:p>
            <a:pPr marL="0" indent="0" algn="ctr">
              <a:buNone/>
            </a:pPr>
            <a:r>
              <a:rPr sz="420" b="1" i="0">
                <a:solidFill>
                  <a:srgbClr val="3D5298"/>
                </a:solidFill>
              </a:rPr>
              <a:t>60-Minute</a:t>
            </a:r>
          </a:p>
        </p:txBody>
      </p:sp>
      <p:sp>
        <p:nvSpPr>
          <p:cNvPr id="64" name="Rounded Rectangle 63"/>
          <p:cNvSpPr/>
          <p:nvPr/>
        </p:nvSpPr>
        <p:spPr>
          <a:xfrm>
            <a:off x="2209068" y="2838035"/>
            <a:ext cx="321868" cy="118018"/>
          </a:xfrm>
          <a:prstGeom prst="roundRect">
            <a:avLst>
              <a:gd name="adj" fmla="val 2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5" name="TextBox 64"/>
          <p:cNvSpPr txBox="1"/>
          <p:nvPr/>
        </p:nvSpPr>
        <p:spPr>
          <a:xfrm>
            <a:off x="2209068" y="2838035"/>
            <a:ext cx="107289" cy="118018"/>
          </a:xfrm>
          <a:prstGeom prst="rect">
            <a:avLst/>
          </a:prstGeom>
          <a:noFill/>
        </p:spPr>
        <p:txBody>
          <a:bodyPr wrap="square" lIns="0" tIns="0" rIns="0" bIns="0" anchor="ctr">
            <a:spAutoFit/>
          </a:bodyPr>
          <a:lstStyle/>
          <a:p>
            <a:pPr marL="0" indent="0" algn="ctr">
              <a:buNone/>
            </a:pPr>
            <a:r>
              <a:rPr sz="560" b="0" i="0">
                <a:solidFill>
                  <a:srgbClr val="555555"/>
                </a:solidFill>
              </a:rPr>
              <a:t>−</a:t>
            </a:r>
          </a:p>
        </p:txBody>
      </p:sp>
      <p:sp>
        <p:nvSpPr>
          <p:cNvPr id="66" name="TextBox 65"/>
          <p:cNvSpPr txBox="1"/>
          <p:nvPr/>
        </p:nvSpPr>
        <p:spPr>
          <a:xfrm>
            <a:off x="2310993" y="2838035"/>
            <a:ext cx="118018" cy="118018"/>
          </a:xfrm>
          <a:prstGeom prst="rect">
            <a:avLst/>
          </a:prstGeom>
          <a:noFill/>
        </p:spPr>
        <p:txBody>
          <a:bodyPr wrap="square" lIns="0" tIns="0" rIns="0" bIns="0" anchor="ctr">
            <a:spAutoFit/>
          </a:bodyPr>
          <a:lstStyle/>
          <a:p>
            <a:pPr marL="0" indent="0" algn="ctr">
              <a:buNone/>
            </a:pPr>
            <a:r>
              <a:rPr sz="560" b="1" i="0">
                <a:solidFill>
                  <a:srgbClr val="222222"/>
                </a:solidFill>
              </a:rPr>
              <a:t>1</a:t>
            </a:r>
          </a:p>
        </p:txBody>
      </p:sp>
      <p:sp>
        <p:nvSpPr>
          <p:cNvPr id="67" name="TextBox 66"/>
          <p:cNvSpPr txBox="1"/>
          <p:nvPr/>
        </p:nvSpPr>
        <p:spPr>
          <a:xfrm>
            <a:off x="2423647" y="2838035"/>
            <a:ext cx="107289" cy="118018"/>
          </a:xfrm>
          <a:prstGeom prst="rect">
            <a:avLst/>
          </a:prstGeom>
          <a:noFill/>
        </p:spPr>
        <p:txBody>
          <a:bodyPr wrap="square" lIns="0" tIns="0" rIns="0" bIns="0" anchor="ctr">
            <a:spAutoFit/>
          </a:bodyPr>
          <a:lstStyle/>
          <a:p>
            <a:pPr marL="0" indent="0" algn="ctr">
              <a:buNone/>
            </a:pPr>
            <a:r>
              <a:rPr sz="560" b="0" i="0">
                <a:solidFill>
                  <a:srgbClr val="C8102E"/>
                </a:solidFill>
              </a:rPr>
              <a:t>+</a:t>
            </a:r>
          </a:p>
        </p:txBody>
      </p:sp>
      <p:sp>
        <p:nvSpPr>
          <p:cNvPr id="68" name="Rectangle 67"/>
          <p:cNvSpPr/>
          <p:nvPr/>
        </p:nvSpPr>
        <p:spPr>
          <a:xfrm>
            <a:off x="658733" y="3068707"/>
            <a:ext cx="1882932"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9" name="Rounded Rectangle 68"/>
          <p:cNvSpPr/>
          <p:nvPr/>
        </p:nvSpPr>
        <p:spPr>
          <a:xfrm>
            <a:off x="658733" y="3208184"/>
            <a:ext cx="64373" cy="64373"/>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0" name="TextBox 69"/>
          <p:cNvSpPr txBox="1"/>
          <p:nvPr/>
        </p:nvSpPr>
        <p:spPr>
          <a:xfrm>
            <a:off x="658733" y="3198461"/>
            <a:ext cx="64373" cy="83820"/>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71" name="Rounded Rectangle 70"/>
          <p:cNvSpPr/>
          <p:nvPr/>
        </p:nvSpPr>
        <p:spPr>
          <a:xfrm>
            <a:off x="755294" y="3127717"/>
            <a:ext cx="203850" cy="203850"/>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2" name="TextBox 71"/>
          <p:cNvSpPr txBox="1"/>
          <p:nvPr/>
        </p:nvSpPr>
        <p:spPr>
          <a:xfrm>
            <a:off x="755294" y="3127717"/>
            <a:ext cx="203850" cy="203850"/>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73" name="TextBox 72"/>
          <p:cNvSpPr txBox="1"/>
          <p:nvPr/>
        </p:nvSpPr>
        <p:spPr>
          <a:xfrm>
            <a:off x="1002060" y="3095530"/>
            <a:ext cx="1110447" cy="91196"/>
          </a:xfrm>
          <a:prstGeom prst="rect">
            <a:avLst/>
          </a:prstGeom>
          <a:noFill/>
        </p:spPr>
        <p:txBody>
          <a:bodyPr wrap="square" lIns="0" tIns="0" rIns="0" bIns="0" anchor="ctr">
            <a:spAutoFit/>
          </a:bodyPr>
          <a:lstStyle/>
          <a:p>
            <a:pPr marL="0" indent="0" algn="l">
              <a:buNone/>
            </a:pPr>
            <a:r>
              <a:rPr sz="520" b="1" i="0">
                <a:solidFill>
                  <a:srgbClr val="222222"/>
                </a:solidFill>
              </a:rPr>
              <a:t>Vinamilk fresh milk 1L</a:t>
            </a:r>
          </a:p>
        </p:txBody>
      </p:sp>
      <p:sp>
        <p:nvSpPr>
          <p:cNvPr id="74" name="TextBox 73"/>
          <p:cNvSpPr txBox="1"/>
          <p:nvPr/>
        </p:nvSpPr>
        <p:spPr>
          <a:xfrm>
            <a:off x="1002060" y="3190749"/>
            <a:ext cx="804671" cy="93878"/>
          </a:xfrm>
          <a:prstGeom prst="rect">
            <a:avLst/>
          </a:prstGeom>
          <a:noFill/>
        </p:spPr>
        <p:txBody>
          <a:bodyPr wrap="square" lIns="0" tIns="0" rIns="0" bIns="0" anchor="ctr">
            <a:spAutoFit/>
          </a:bodyPr>
          <a:lstStyle/>
          <a:p>
            <a:pPr marL="0" indent="0" algn="l">
              <a:buNone/>
            </a:pPr>
            <a:r>
              <a:rPr sz="560" b="1" i="0">
                <a:solidFill>
                  <a:srgbClr val="C8102E"/>
                </a:solidFill>
              </a:rPr>
              <a:t>49,000 ₫</a:t>
            </a:r>
          </a:p>
        </p:txBody>
      </p:sp>
      <p:sp>
        <p:nvSpPr>
          <p:cNvPr id="75" name="Rounded Rectangle 74"/>
          <p:cNvSpPr/>
          <p:nvPr/>
        </p:nvSpPr>
        <p:spPr>
          <a:xfrm>
            <a:off x="1002060" y="3299380"/>
            <a:ext cx="278952" cy="69738"/>
          </a:xfrm>
          <a:prstGeom prst="roundRect">
            <a:avLst>
              <a:gd name="adj" fmla="val 50000"/>
            </a:avLst>
          </a:prstGeom>
          <a:solidFill>
            <a:srgbClr val="EEF1F9"/>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6" name="TextBox 75"/>
          <p:cNvSpPr txBox="1"/>
          <p:nvPr/>
        </p:nvSpPr>
        <p:spPr>
          <a:xfrm>
            <a:off x="1002060" y="3299045"/>
            <a:ext cx="278952" cy="70408"/>
          </a:xfrm>
          <a:prstGeom prst="rect">
            <a:avLst/>
          </a:prstGeom>
          <a:noFill/>
        </p:spPr>
        <p:txBody>
          <a:bodyPr wrap="square" lIns="0" tIns="0" rIns="0" bIns="0" anchor="ctr">
            <a:spAutoFit/>
          </a:bodyPr>
          <a:lstStyle/>
          <a:p>
            <a:pPr marL="0" indent="0" algn="ctr">
              <a:buNone/>
            </a:pPr>
            <a:r>
              <a:rPr sz="420" b="1" i="0">
                <a:solidFill>
                  <a:srgbClr val="3D5298"/>
                </a:solidFill>
              </a:rPr>
              <a:t>60-Minute</a:t>
            </a:r>
          </a:p>
        </p:txBody>
      </p:sp>
      <p:sp>
        <p:nvSpPr>
          <p:cNvPr id="77" name="Rounded Rectangle 76"/>
          <p:cNvSpPr/>
          <p:nvPr/>
        </p:nvSpPr>
        <p:spPr>
          <a:xfrm>
            <a:off x="2209068" y="3170632"/>
            <a:ext cx="321868" cy="118018"/>
          </a:xfrm>
          <a:prstGeom prst="roundRect">
            <a:avLst>
              <a:gd name="adj" fmla="val 2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8" name="TextBox 77"/>
          <p:cNvSpPr txBox="1"/>
          <p:nvPr/>
        </p:nvSpPr>
        <p:spPr>
          <a:xfrm>
            <a:off x="2209068" y="3170632"/>
            <a:ext cx="107289" cy="118018"/>
          </a:xfrm>
          <a:prstGeom prst="rect">
            <a:avLst/>
          </a:prstGeom>
          <a:noFill/>
        </p:spPr>
        <p:txBody>
          <a:bodyPr wrap="square" lIns="0" tIns="0" rIns="0" bIns="0" anchor="ctr">
            <a:spAutoFit/>
          </a:bodyPr>
          <a:lstStyle/>
          <a:p>
            <a:pPr marL="0" indent="0" algn="ctr">
              <a:buNone/>
            </a:pPr>
            <a:r>
              <a:rPr sz="560" b="0" i="0">
                <a:solidFill>
                  <a:srgbClr val="555555"/>
                </a:solidFill>
              </a:rPr>
              <a:t>−</a:t>
            </a:r>
          </a:p>
        </p:txBody>
      </p:sp>
      <p:sp>
        <p:nvSpPr>
          <p:cNvPr id="79" name="TextBox 78"/>
          <p:cNvSpPr txBox="1"/>
          <p:nvPr/>
        </p:nvSpPr>
        <p:spPr>
          <a:xfrm>
            <a:off x="2310993" y="3170632"/>
            <a:ext cx="118018" cy="118018"/>
          </a:xfrm>
          <a:prstGeom prst="rect">
            <a:avLst/>
          </a:prstGeom>
          <a:noFill/>
        </p:spPr>
        <p:txBody>
          <a:bodyPr wrap="square" lIns="0" tIns="0" rIns="0" bIns="0" anchor="ctr">
            <a:spAutoFit/>
          </a:bodyPr>
          <a:lstStyle/>
          <a:p>
            <a:pPr marL="0" indent="0" algn="ctr">
              <a:buNone/>
            </a:pPr>
            <a:r>
              <a:rPr sz="560" b="1" i="0">
                <a:solidFill>
                  <a:srgbClr val="222222"/>
                </a:solidFill>
              </a:rPr>
              <a:t>2</a:t>
            </a:r>
          </a:p>
        </p:txBody>
      </p:sp>
      <p:sp>
        <p:nvSpPr>
          <p:cNvPr id="80" name="TextBox 79"/>
          <p:cNvSpPr txBox="1"/>
          <p:nvPr/>
        </p:nvSpPr>
        <p:spPr>
          <a:xfrm>
            <a:off x="2423647" y="3170632"/>
            <a:ext cx="107289" cy="118018"/>
          </a:xfrm>
          <a:prstGeom prst="rect">
            <a:avLst/>
          </a:prstGeom>
          <a:noFill/>
        </p:spPr>
        <p:txBody>
          <a:bodyPr wrap="square" lIns="0" tIns="0" rIns="0" bIns="0" anchor="ctr">
            <a:spAutoFit/>
          </a:bodyPr>
          <a:lstStyle/>
          <a:p>
            <a:pPr marL="0" indent="0" algn="ctr">
              <a:buNone/>
            </a:pPr>
            <a:r>
              <a:rPr sz="560" b="0" i="0">
                <a:solidFill>
                  <a:srgbClr val="C8102E"/>
                </a:solidFill>
              </a:rPr>
              <a:t>+</a:t>
            </a:r>
          </a:p>
        </p:txBody>
      </p:sp>
      <p:sp>
        <p:nvSpPr>
          <p:cNvPr id="81" name="Rectangle 80"/>
          <p:cNvSpPr/>
          <p:nvPr/>
        </p:nvSpPr>
        <p:spPr>
          <a:xfrm>
            <a:off x="658733" y="3401305"/>
            <a:ext cx="1882932"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2" name="Rectangle 81"/>
          <p:cNvSpPr/>
          <p:nvPr/>
        </p:nvSpPr>
        <p:spPr>
          <a:xfrm>
            <a:off x="594360" y="4538575"/>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Rectangle 82"/>
          <p:cNvSpPr/>
          <p:nvPr/>
        </p:nvSpPr>
        <p:spPr>
          <a:xfrm>
            <a:off x="594360" y="4538575"/>
            <a:ext cx="2011679" cy="3111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4" name="TextBox 83"/>
          <p:cNvSpPr txBox="1"/>
          <p:nvPr/>
        </p:nvSpPr>
        <p:spPr>
          <a:xfrm>
            <a:off x="669462" y="4570092"/>
            <a:ext cx="858316" cy="87172"/>
          </a:xfrm>
          <a:prstGeom prst="rect">
            <a:avLst/>
          </a:prstGeom>
          <a:noFill/>
        </p:spPr>
        <p:txBody>
          <a:bodyPr wrap="square" lIns="0" tIns="0" rIns="0" bIns="0" anchor="ctr">
            <a:spAutoFit/>
          </a:bodyPr>
          <a:lstStyle/>
          <a:p>
            <a:pPr marL="0" indent="0" algn="l">
              <a:buNone/>
            </a:pPr>
            <a:r>
              <a:rPr sz="520" b="0" i="0">
                <a:solidFill>
                  <a:srgbClr val="888888"/>
                </a:solidFill>
              </a:rPr>
              <a:t>Provisional total  ·  8 items</a:t>
            </a:r>
          </a:p>
        </p:txBody>
      </p:sp>
      <p:sp>
        <p:nvSpPr>
          <p:cNvPr id="85" name="TextBox 84"/>
          <p:cNvSpPr txBox="1"/>
          <p:nvPr/>
        </p:nvSpPr>
        <p:spPr>
          <a:xfrm>
            <a:off x="669462" y="4621724"/>
            <a:ext cx="858316" cy="134112"/>
          </a:xfrm>
          <a:prstGeom prst="rect">
            <a:avLst/>
          </a:prstGeom>
          <a:noFill/>
        </p:spPr>
        <p:txBody>
          <a:bodyPr wrap="square" lIns="0" tIns="0" rIns="0" bIns="0" anchor="ctr">
            <a:spAutoFit/>
          </a:bodyPr>
          <a:lstStyle/>
          <a:p>
            <a:pPr marL="0" indent="0" algn="l">
              <a:buNone/>
            </a:pPr>
            <a:r>
              <a:rPr sz="800" b="1" i="0">
                <a:solidFill>
                  <a:srgbClr val="C8102E"/>
                </a:solidFill>
              </a:rPr>
              <a:t>235,000 ₫</a:t>
            </a:r>
          </a:p>
        </p:txBody>
      </p:sp>
      <p:sp>
        <p:nvSpPr>
          <p:cNvPr id="86" name="Rounded Rectangle 85"/>
          <p:cNvSpPr/>
          <p:nvPr/>
        </p:nvSpPr>
        <p:spPr>
          <a:xfrm>
            <a:off x="1801368" y="4602949"/>
            <a:ext cx="729569" cy="160934"/>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7" name="TextBox 86"/>
          <p:cNvSpPr txBox="1"/>
          <p:nvPr/>
        </p:nvSpPr>
        <p:spPr>
          <a:xfrm>
            <a:off x="1801368" y="4602949"/>
            <a:ext cx="729569" cy="160934"/>
          </a:xfrm>
          <a:prstGeom prst="rect">
            <a:avLst/>
          </a:prstGeom>
          <a:noFill/>
        </p:spPr>
        <p:txBody>
          <a:bodyPr wrap="square" lIns="0" tIns="0" rIns="0" bIns="0" anchor="ctr">
            <a:spAutoFit/>
          </a:bodyPr>
          <a:lstStyle/>
          <a:p>
            <a:pPr marL="0" indent="0" algn="ctr">
              <a:buNone/>
            </a:pPr>
            <a:r>
              <a:rPr sz="650" b="1" i="0">
                <a:solidFill>
                  <a:srgbClr val="FFFFFF"/>
                </a:solidFill>
              </a:rPr>
              <a:t>Proceed to Checkout</a:t>
            </a:r>
          </a:p>
        </p:txBody>
      </p:sp>
      <p:sp>
        <p:nvSpPr>
          <p:cNvPr id="88" name="Oval 87"/>
          <p:cNvSpPr/>
          <p:nvPr/>
        </p:nvSpPr>
        <p:spPr>
          <a:xfrm>
            <a:off x="379781" y="1319887"/>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9" name="TextBox 88"/>
          <p:cNvSpPr txBox="1"/>
          <p:nvPr/>
        </p:nvSpPr>
        <p:spPr>
          <a:xfrm>
            <a:off x="379781" y="1319887"/>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90" name="Oval 89"/>
          <p:cNvSpPr/>
          <p:nvPr/>
        </p:nvSpPr>
        <p:spPr>
          <a:xfrm>
            <a:off x="379781" y="1588111"/>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1" name="TextBox 90"/>
          <p:cNvSpPr txBox="1"/>
          <p:nvPr/>
        </p:nvSpPr>
        <p:spPr>
          <a:xfrm>
            <a:off x="379781" y="1588111"/>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92" name="Oval 91"/>
          <p:cNvSpPr/>
          <p:nvPr/>
        </p:nvSpPr>
        <p:spPr>
          <a:xfrm>
            <a:off x="379781" y="1824148"/>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3" name="TextBox 92"/>
          <p:cNvSpPr txBox="1"/>
          <p:nvPr/>
        </p:nvSpPr>
        <p:spPr>
          <a:xfrm>
            <a:off x="379781" y="1824148"/>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94" name="Oval 93"/>
          <p:cNvSpPr/>
          <p:nvPr/>
        </p:nvSpPr>
        <p:spPr>
          <a:xfrm>
            <a:off x="379781" y="2124559"/>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5" name="TextBox 94"/>
          <p:cNvSpPr txBox="1"/>
          <p:nvPr/>
        </p:nvSpPr>
        <p:spPr>
          <a:xfrm>
            <a:off x="379781" y="2124559"/>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96" name="Oval 95"/>
          <p:cNvSpPr/>
          <p:nvPr/>
        </p:nvSpPr>
        <p:spPr>
          <a:xfrm>
            <a:off x="379781" y="2521530"/>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7" name="TextBox 96"/>
          <p:cNvSpPr txBox="1"/>
          <p:nvPr/>
        </p:nvSpPr>
        <p:spPr>
          <a:xfrm>
            <a:off x="379781" y="2521530"/>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sp>
        <p:nvSpPr>
          <p:cNvPr id="98" name="Rounded Rectangle 97"/>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9" name="Rectangle 98"/>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0" name="TextBox 99"/>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State B  ·  last slot warning</a:t>
            </a:r>
          </a:p>
        </p:txBody>
      </p:sp>
      <p:sp>
        <p:nvSpPr>
          <p:cNvPr id="101" name="TextBox 100"/>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102" name="TextBox 101"/>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103" name="Rectangle 102"/>
          <p:cNvSpPr/>
          <p:nvPr/>
        </p:nvSpPr>
        <p:spPr>
          <a:xfrm>
            <a:off x="338328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4" name="TextBox 103"/>
          <p:cNvSpPr txBox="1"/>
          <p:nvPr/>
        </p:nvSpPr>
        <p:spPr>
          <a:xfrm>
            <a:off x="344765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105" name="TextBox 104"/>
          <p:cNvSpPr txBox="1"/>
          <p:nvPr/>
        </p:nvSpPr>
        <p:spPr>
          <a:xfrm>
            <a:off x="356567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Cart  (8)</a:t>
            </a:r>
          </a:p>
        </p:txBody>
      </p:sp>
      <p:sp>
        <p:nvSpPr>
          <p:cNvPr id="106" name="TextBox 105"/>
          <p:cNvSpPr txBox="1"/>
          <p:nvPr/>
        </p:nvSpPr>
        <p:spPr>
          <a:xfrm>
            <a:off x="4858511" y="998018"/>
            <a:ext cx="461345" cy="214579"/>
          </a:xfrm>
          <a:prstGeom prst="rect">
            <a:avLst/>
          </a:prstGeom>
          <a:noFill/>
        </p:spPr>
        <p:txBody>
          <a:bodyPr wrap="square" lIns="0" tIns="0" rIns="0" bIns="0" anchor="ctr">
            <a:spAutoFit/>
          </a:bodyPr>
          <a:lstStyle/>
          <a:p>
            <a:pPr marL="0" indent="0" algn="r">
              <a:buNone/>
            </a:pPr>
            <a:r>
              <a:rPr sz="600" b="0" i="0">
                <a:solidFill>
                  <a:srgbClr val="555555"/>
                </a:solidFill>
              </a:rPr>
              <a:t>Edit</a:t>
            </a:r>
          </a:p>
        </p:txBody>
      </p:sp>
      <p:sp>
        <p:nvSpPr>
          <p:cNvPr id="107" name="Rectangle 106"/>
          <p:cNvSpPr/>
          <p:nvPr/>
        </p:nvSpPr>
        <p:spPr>
          <a:xfrm>
            <a:off x="338328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8" name="TextBox 107"/>
          <p:cNvSpPr txBox="1"/>
          <p:nvPr/>
        </p:nvSpPr>
        <p:spPr>
          <a:xfrm>
            <a:off x="3383280" y="1217962"/>
            <a:ext cx="1005839" cy="160934"/>
          </a:xfrm>
          <a:prstGeom prst="rect">
            <a:avLst/>
          </a:prstGeom>
          <a:noFill/>
        </p:spPr>
        <p:txBody>
          <a:bodyPr wrap="square" lIns="0" tIns="0" rIns="0" bIns="0" anchor="ctr">
            <a:spAutoFit/>
          </a:bodyPr>
          <a:lstStyle/>
          <a:p>
            <a:pPr marL="0" indent="0" algn="ctr">
              <a:buNone/>
            </a:pPr>
            <a:r>
              <a:rPr sz="650" b="1" i="0">
                <a:solidFill>
                  <a:srgbClr val="C8102E"/>
                </a:solidFill>
              </a:rPr>
              <a:t>Delivery</a:t>
            </a:r>
          </a:p>
        </p:txBody>
      </p:sp>
      <p:sp>
        <p:nvSpPr>
          <p:cNvPr id="109" name="Rectangle 108"/>
          <p:cNvSpPr/>
          <p:nvPr/>
        </p:nvSpPr>
        <p:spPr>
          <a:xfrm>
            <a:off x="3604564" y="1362803"/>
            <a:ext cx="563270" cy="1609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0" name="TextBox 109"/>
          <p:cNvSpPr txBox="1"/>
          <p:nvPr/>
        </p:nvSpPr>
        <p:spPr>
          <a:xfrm>
            <a:off x="4389119" y="1217962"/>
            <a:ext cx="1005839" cy="160934"/>
          </a:xfrm>
          <a:prstGeom prst="rect">
            <a:avLst/>
          </a:prstGeom>
          <a:noFill/>
        </p:spPr>
        <p:txBody>
          <a:bodyPr wrap="square" lIns="0" tIns="0" rIns="0" bIns="0" anchor="ctr">
            <a:spAutoFit/>
          </a:bodyPr>
          <a:lstStyle/>
          <a:p>
            <a:pPr marL="0" indent="0" algn="ctr">
              <a:buNone/>
            </a:pPr>
            <a:r>
              <a:rPr sz="650" b="0" i="0">
                <a:solidFill>
                  <a:srgbClr val="888888"/>
                </a:solidFill>
              </a:rPr>
              <a:t>Self pick-up</a:t>
            </a:r>
          </a:p>
        </p:txBody>
      </p:sp>
      <p:sp>
        <p:nvSpPr>
          <p:cNvPr id="111" name="Rectangle 110"/>
          <p:cNvSpPr/>
          <p:nvPr/>
        </p:nvSpPr>
        <p:spPr>
          <a:xfrm>
            <a:off x="3383280" y="1378896"/>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2" name="Rectangle 111"/>
          <p:cNvSpPr/>
          <p:nvPr/>
        </p:nvSpPr>
        <p:spPr>
          <a:xfrm>
            <a:off x="3383280" y="1384261"/>
            <a:ext cx="2011679" cy="118018"/>
          </a:xfrm>
          <a:prstGeom prst="rect">
            <a:avLst/>
          </a:prstGeom>
          <a:solidFill>
            <a:srgbClr val="F7E9E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3" name="TextBox 112"/>
          <p:cNvSpPr txBox="1"/>
          <p:nvPr/>
        </p:nvSpPr>
        <p:spPr>
          <a:xfrm>
            <a:off x="3458382" y="1384261"/>
            <a:ext cx="1394764" cy="118018"/>
          </a:xfrm>
          <a:prstGeom prst="rect">
            <a:avLst/>
          </a:prstGeom>
          <a:noFill/>
        </p:spPr>
        <p:txBody>
          <a:bodyPr wrap="square" lIns="0" tIns="0" rIns="0" bIns="0" anchor="ctr">
            <a:spAutoFit/>
          </a:bodyPr>
          <a:lstStyle/>
          <a:p>
            <a:pPr marL="0" indent="0" algn="l">
              <a:buNone/>
            </a:pPr>
            <a:r>
              <a:rPr sz="520" b="0" i="0">
                <a:solidFill>
                  <a:srgbClr val="555555"/>
                </a:solidFill>
              </a:rPr>
              <a:t>Serving store:  </a:t>
            </a:r>
            <a:r>
              <a:rPr sz="520" b="1" i="0">
                <a:solidFill>
                  <a:srgbClr val="C8102E"/>
                </a:solidFill>
              </a:rPr>
              <a:t>LOTTE Mart Nam Sài Gòn</a:t>
            </a:r>
          </a:p>
        </p:txBody>
      </p:sp>
      <p:sp>
        <p:nvSpPr>
          <p:cNvPr id="114" name="TextBox 113"/>
          <p:cNvSpPr txBox="1"/>
          <p:nvPr/>
        </p:nvSpPr>
        <p:spPr>
          <a:xfrm>
            <a:off x="4992623" y="1384261"/>
            <a:ext cx="327233" cy="118018"/>
          </a:xfrm>
          <a:prstGeom prst="rect">
            <a:avLst/>
          </a:prstGeom>
          <a:noFill/>
        </p:spPr>
        <p:txBody>
          <a:bodyPr wrap="square" lIns="0" tIns="0" rIns="0" bIns="0" anchor="ctr">
            <a:spAutoFit/>
          </a:bodyPr>
          <a:lstStyle/>
          <a:p>
            <a:pPr marL="0" indent="0" algn="r">
              <a:buNone/>
            </a:pPr>
            <a:r>
              <a:rPr sz="500" b="1" i="0">
                <a:solidFill>
                  <a:srgbClr val="C8102E"/>
                </a:solidFill>
              </a:rPr>
              <a:t>Change ›</a:t>
            </a:r>
          </a:p>
        </p:txBody>
      </p:sp>
      <p:sp>
        <p:nvSpPr>
          <p:cNvPr id="115" name="Rounded Rectangle 114"/>
          <p:cNvSpPr/>
          <p:nvPr/>
        </p:nvSpPr>
        <p:spPr>
          <a:xfrm>
            <a:off x="3458382" y="1523737"/>
            <a:ext cx="1861474" cy="300410"/>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6" name="TextBox 115"/>
          <p:cNvSpPr txBox="1"/>
          <p:nvPr/>
        </p:nvSpPr>
        <p:spPr>
          <a:xfrm>
            <a:off x="3533485" y="1551565"/>
            <a:ext cx="1072896" cy="83820"/>
          </a:xfrm>
          <a:prstGeom prst="rect">
            <a:avLst/>
          </a:prstGeom>
          <a:noFill/>
        </p:spPr>
        <p:txBody>
          <a:bodyPr wrap="square" lIns="0" tIns="0" rIns="0" bIns="0" anchor="ctr">
            <a:spAutoFit/>
          </a:bodyPr>
          <a:lstStyle/>
          <a:p>
            <a:pPr marL="0" indent="0" algn="l">
              <a:buNone/>
            </a:pPr>
            <a:r>
              <a:rPr sz="500" b="0" i="0">
                <a:solidFill>
                  <a:srgbClr val="888888"/>
                </a:solidFill>
              </a:rPr>
              <a:t>Delivery service</a:t>
            </a:r>
          </a:p>
        </p:txBody>
      </p:sp>
      <p:sp>
        <p:nvSpPr>
          <p:cNvPr id="117" name="Rounded Rectangle 116"/>
          <p:cNvSpPr/>
          <p:nvPr/>
        </p:nvSpPr>
        <p:spPr>
          <a:xfrm>
            <a:off x="3533485" y="1641756"/>
            <a:ext cx="831494" cy="139476"/>
          </a:xfrm>
          <a:prstGeom prst="roundRect">
            <a:avLst>
              <a:gd name="adj" fmla="val 14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8" name="TextBox 117"/>
          <p:cNvSpPr txBox="1"/>
          <p:nvPr/>
        </p:nvSpPr>
        <p:spPr>
          <a:xfrm>
            <a:off x="3533485" y="1641756"/>
            <a:ext cx="831494" cy="139476"/>
          </a:xfrm>
          <a:prstGeom prst="rect">
            <a:avLst/>
          </a:prstGeom>
          <a:noFill/>
        </p:spPr>
        <p:txBody>
          <a:bodyPr wrap="square" lIns="0" tIns="0" rIns="0" bIns="0" anchor="ctr">
            <a:spAutoFit/>
          </a:bodyPr>
          <a:lstStyle/>
          <a:p>
            <a:pPr marL="0" indent="0" algn="ctr">
              <a:buNone/>
            </a:pPr>
            <a:r>
              <a:rPr sz="540" b="1" i="0">
                <a:solidFill>
                  <a:srgbClr val="C8102E"/>
                </a:solidFill>
              </a:rPr>
              <a:t>60-Minute  ·  25,000 ₫</a:t>
            </a:r>
          </a:p>
        </p:txBody>
      </p:sp>
      <p:sp>
        <p:nvSpPr>
          <p:cNvPr id="119" name="Rounded Rectangle 118"/>
          <p:cNvSpPr/>
          <p:nvPr/>
        </p:nvSpPr>
        <p:spPr>
          <a:xfrm>
            <a:off x="4413260" y="1641756"/>
            <a:ext cx="831494" cy="139476"/>
          </a:xfrm>
          <a:prstGeom prst="roundRect">
            <a:avLst>
              <a:gd name="adj" fmla="val 14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0" name="TextBox 119"/>
          <p:cNvSpPr txBox="1"/>
          <p:nvPr/>
        </p:nvSpPr>
        <p:spPr>
          <a:xfrm>
            <a:off x="4413260" y="1641756"/>
            <a:ext cx="831494" cy="139476"/>
          </a:xfrm>
          <a:prstGeom prst="rect">
            <a:avLst/>
          </a:prstGeom>
          <a:noFill/>
        </p:spPr>
        <p:txBody>
          <a:bodyPr wrap="square" lIns="0" tIns="0" rIns="0" bIns="0" anchor="ctr">
            <a:spAutoFit/>
          </a:bodyPr>
          <a:lstStyle/>
          <a:p>
            <a:pPr marL="0" indent="0" algn="ctr">
              <a:buNone/>
            </a:pPr>
            <a:r>
              <a:rPr sz="540" b="0" i="0">
                <a:solidFill>
                  <a:srgbClr val="555555"/>
                </a:solidFill>
              </a:rPr>
              <a:t>Standard  ·  Free</a:t>
            </a:r>
          </a:p>
        </p:txBody>
      </p:sp>
      <p:sp>
        <p:nvSpPr>
          <p:cNvPr id="121" name="Rounded Rectangle 120"/>
          <p:cNvSpPr/>
          <p:nvPr/>
        </p:nvSpPr>
        <p:spPr>
          <a:xfrm>
            <a:off x="3458382" y="1867064"/>
            <a:ext cx="1861474" cy="332597"/>
          </a:xfrm>
          <a:prstGeom prst="roundRect">
            <a:avLst>
              <a:gd name="adj" fmla="val 10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2" name="TextBox 121"/>
          <p:cNvSpPr txBox="1"/>
          <p:nvPr/>
        </p:nvSpPr>
        <p:spPr>
          <a:xfrm>
            <a:off x="3533485" y="1889863"/>
            <a:ext cx="1711269" cy="93878"/>
          </a:xfrm>
          <a:prstGeom prst="rect">
            <a:avLst/>
          </a:prstGeom>
          <a:noFill/>
        </p:spPr>
        <p:txBody>
          <a:bodyPr wrap="square" lIns="0" tIns="0" rIns="0" bIns="0" anchor="ctr">
            <a:spAutoFit/>
          </a:bodyPr>
          <a:lstStyle/>
          <a:p>
            <a:pPr marL="0" indent="0" algn="l">
              <a:buNone/>
            </a:pPr>
            <a:r>
              <a:rPr sz="560" b="1" i="0">
                <a:solidFill>
                  <a:srgbClr val="C8102E"/>
                </a:solidFill>
              </a:rPr>
              <a:t>Only 1 slot left at this store</a:t>
            </a:r>
          </a:p>
        </p:txBody>
      </p:sp>
      <p:sp>
        <p:nvSpPr>
          <p:cNvPr id="123" name="TextBox 122"/>
          <p:cNvSpPr txBox="1"/>
          <p:nvPr/>
        </p:nvSpPr>
        <p:spPr>
          <a:xfrm>
            <a:off x="3533485" y="1985082"/>
            <a:ext cx="1711269" cy="182392"/>
          </a:xfrm>
          <a:prstGeom prst="rect">
            <a:avLst/>
          </a:prstGeom>
          <a:noFill/>
        </p:spPr>
        <p:txBody>
          <a:bodyPr wrap="square" lIns="0" tIns="0" rIns="0" bIns="0" anchor="t">
            <a:spAutoFit/>
          </a:bodyPr>
          <a:lstStyle/>
          <a:p>
            <a:pPr marL="0" indent="0" algn="l">
              <a:buNone/>
            </a:pPr>
            <a:r>
              <a:rPr sz="500" b="0" i="0">
                <a:solidFill>
                  <a:srgbClr val="8A1520"/>
                </a:solidFill>
              </a:rPr>
              <a:t>Check out soon to keep 60-Minute delivery. If the slot is taken, you will be asked to choose Standard instead.</a:t>
            </a:r>
          </a:p>
        </p:txBody>
      </p:sp>
      <p:sp>
        <p:nvSpPr>
          <p:cNvPr id="124" name="Rounded Rectangle 123"/>
          <p:cNvSpPr/>
          <p:nvPr/>
        </p:nvSpPr>
        <p:spPr>
          <a:xfrm>
            <a:off x="3458382" y="2242577"/>
            <a:ext cx="1861474" cy="236037"/>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5" name="TextBox 124"/>
          <p:cNvSpPr txBox="1"/>
          <p:nvPr/>
        </p:nvSpPr>
        <p:spPr>
          <a:xfrm>
            <a:off x="3533485" y="2242577"/>
            <a:ext cx="1341120" cy="236037"/>
          </a:xfrm>
          <a:prstGeom prst="rect">
            <a:avLst/>
          </a:prstGeom>
          <a:noFill/>
        </p:spPr>
        <p:txBody>
          <a:bodyPr wrap="square" lIns="0" tIns="0" rIns="0" bIns="0" anchor="ctr">
            <a:spAutoFit/>
          </a:bodyPr>
          <a:lstStyle/>
          <a:p>
            <a:pPr marL="0" indent="0" algn="l">
              <a:buNone/>
            </a:pPr>
            <a:r>
              <a:rPr sz="520" b="0" i="0">
                <a:solidFill>
                  <a:srgbClr val="555555"/>
                </a:solidFill>
              </a:rPr>
              <a:t>Warning threshold: 1 slot  (system parameter)</a:t>
            </a:r>
          </a:p>
        </p:txBody>
      </p:sp>
      <p:sp>
        <p:nvSpPr>
          <p:cNvPr id="126" name="Rounded Rectangle 125"/>
          <p:cNvSpPr/>
          <p:nvPr/>
        </p:nvSpPr>
        <p:spPr>
          <a:xfrm>
            <a:off x="4820960" y="2306951"/>
            <a:ext cx="429158" cy="107289"/>
          </a:xfrm>
          <a:prstGeom prst="roundRect">
            <a:avLst>
              <a:gd name="adj" fmla="val 50000"/>
            </a:avLst>
          </a:prstGeom>
          <a:solidFill>
            <a:srgbClr val="EEF1F9"/>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7" name="TextBox 126"/>
          <p:cNvSpPr txBox="1"/>
          <p:nvPr/>
        </p:nvSpPr>
        <p:spPr>
          <a:xfrm>
            <a:off x="4820960" y="2306951"/>
            <a:ext cx="429158" cy="107289"/>
          </a:xfrm>
          <a:prstGeom prst="rect">
            <a:avLst/>
          </a:prstGeom>
          <a:noFill/>
        </p:spPr>
        <p:txBody>
          <a:bodyPr wrap="square" lIns="0" tIns="0" rIns="0" bIns="0" anchor="ctr">
            <a:spAutoFit/>
          </a:bodyPr>
          <a:lstStyle/>
          <a:p>
            <a:pPr marL="0" indent="0" algn="ctr">
              <a:buNone/>
            </a:pPr>
            <a:r>
              <a:rPr sz="440" b="1" i="0">
                <a:solidFill>
                  <a:srgbClr val="3D5298"/>
                </a:solidFill>
              </a:rPr>
              <a:t>Configurable</a:t>
            </a:r>
          </a:p>
        </p:txBody>
      </p:sp>
      <p:sp>
        <p:nvSpPr>
          <p:cNvPr id="128" name="Rounded Rectangle 127"/>
          <p:cNvSpPr/>
          <p:nvPr/>
        </p:nvSpPr>
        <p:spPr>
          <a:xfrm>
            <a:off x="3458382" y="2532259"/>
            <a:ext cx="1861474" cy="354055"/>
          </a:xfrm>
          <a:prstGeom prst="roundRect">
            <a:avLst>
              <a:gd name="adj" fmla="val 10000"/>
            </a:avLst>
          </a:prstGeom>
          <a:solidFill>
            <a:srgbClr val="EEF1F9"/>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9" name="TextBox 128"/>
          <p:cNvSpPr txBox="1"/>
          <p:nvPr/>
        </p:nvSpPr>
        <p:spPr>
          <a:xfrm>
            <a:off x="3533485" y="2556735"/>
            <a:ext cx="1711269" cy="90525"/>
          </a:xfrm>
          <a:prstGeom prst="rect">
            <a:avLst/>
          </a:prstGeom>
          <a:noFill/>
        </p:spPr>
        <p:txBody>
          <a:bodyPr wrap="square" lIns="0" tIns="0" rIns="0" bIns="0" anchor="ctr">
            <a:spAutoFit/>
          </a:bodyPr>
          <a:lstStyle/>
          <a:p>
            <a:pPr marL="0" indent="0" algn="l">
              <a:buNone/>
            </a:pPr>
            <a:r>
              <a:rPr sz="540" b="1" i="0">
                <a:solidFill>
                  <a:srgbClr val="1E2F6E"/>
                </a:solidFill>
              </a:rPr>
              <a:t>How slots re-open</a:t>
            </a:r>
          </a:p>
        </p:txBody>
      </p:sp>
      <p:sp>
        <p:nvSpPr>
          <p:cNvPr id="130" name="TextBox 129"/>
          <p:cNvSpPr txBox="1"/>
          <p:nvPr/>
        </p:nvSpPr>
        <p:spPr>
          <a:xfrm>
            <a:off x="3533485" y="2650278"/>
            <a:ext cx="1711269" cy="203850"/>
          </a:xfrm>
          <a:prstGeom prst="rect">
            <a:avLst/>
          </a:prstGeom>
          <a:noFill/>
        </p:spPr>
        <p:txBody>
          <a:bodyPr wrap="square" lIns="0" tIns="0" rIns="0" bIns="0" anchor="t">
            <a:spAutoFit/>
          </a:bodyPr>
          <a:lstStyle/>
          <a:p>
            <a:pPr marL="0" indent="0" algn="l">
              <a:buNone/>
            </a:pPr>
            <a:r>
              <a:rPr sz="500" b="0" i="0">
                <a:solidFill>
                  <a:srgbClr val="555555"/>
                </a:solidFill>
              </a:rPr>
              <a:t>Capacity is released when an order is marked “ready for delivery”. While capacity remains, the slot re-opens automatically.</a:t>
            </a:r>
          </a:p>
        </p:txBody>
      </p:sp>
      <p:sp>
        <p:nvSpPr>
          <p:cNvPr id="131" name="Rectangle 130"/>
          <p:cNvSpPr/>
          <p:nvPr/>
        </p:nvSpPr>
        <p:spPr>
          <a:xfrm>
            <a:off x="3383280" y="4538575"/>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2" name="Rectangle 131"/>
          <p:cNvSpPr/>
          <p:nvPr/>
        </p:nvSpPr>
        <p:spPr>
          <a:xfrm>
            <a:off x="3383280" y="4538575"/>
            <a:ext cx="2011679" cy="3111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3" name="TextBox 132"/>
          <p:cNvSpPr txBox="1"/>
          <p:nvPr/>
        </p:nvSpPr>
        <p:spPr>
          <a:xfrm>
            <a:off x="3458382" y="4570092"/>
            <a:ext cx="858316" cy="87172"/>
          </a:xfrm>
          <a:prstGeom prst="rect">
            <a:avLst/>
          </a:prstGeom>
          <a:noFill/>
        </p:spPr>
        <p:txBody>
          <a:bodyPr wrap="square" lIns="0" tIns="0" rIns="0" bIns="0" anchor="ctr">
            <a:spAutoFit/>
          </a:bodyPr>
          <a:lstStyle/>
          <a:p>
            <a:pPr marL="0" indent="0" algn="l">
              <a:buNone/>
            </a:pPr>
            <a:r>
              <a:rPr sz="520" b="0" i="0">
                <a:solidFill>
                  <a:srgbClr val="888888"/>
                </a:solidFill>
              </a:rPr>
              <a:t>Provisional total  ·  8 items</a:t>
            </a:r>
          </a:p>
        </p:txBody>
      </p:sp>
      <p:sp>
        <p:nvSpPr>
          <p:cNvPr id="134" name="TextBox 133"/>
          <p:cNvSpPr txBox="1"/>
          <p:nvPr/>
        </p:nvSpPr>
        <p:spPr>
          <a:xfrm>
            <a:off x="3458382" y="4621724"/>
            <a:ext cx="858316" cy="134112"/>
          </a:xfrm>
          <a:prstGeom prst="rect">
            <a:avLst/>
          </a:prstGeom>
          <a:noFill/>
        </p:spPr>
        <p:txBody>
          <a:bodyPr wrap="square" lIns="0" tIns="0" rIns="0" bIns="0" anchor="ctr">
            <a:spAutoFit/>
          </a:bodyPr>
          <a:lstStyle/>
          <a:p>
            <a:pPr marL="0" indent="0" algn="l">
              <a:buNone/>
            </a:pPr>
            <a:r>
              <a:rPr sz="800" b="1" i="0">
                <a:solidFill>
                  <a:srgbClr val="C8102E"/>
                </a:solidFill>
              </a:rPr>
              <a:t>235,000 ₫</a:t>
            </a:r>
          </a:p>
        </p:txBody>
      </p:sp>
      <p:sp>
        <p:nvSpPr>
          <p:cNvPr id="135" name="Rounded Rectangle 134"/>
          <p:cNvSpPr/>
          <p:nvPr/>
        </p:nvSpPr>
        <p:spPr>
          <a:xfrm>
            <a:off x="4590288" y="4602949"/>
            <a:ext cx="729569" cy="160934"/>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6" name="TextBox 135"/>
          <p:cNvSpPr txBox="1"/>
          <p:nvPr/>
        </p:nvSpPr>
        <p:spPr>
          <a:xfrm>
            <a:off x="4590288" y="4602949"/>
            <a:ext cx="729569" cy="160934"/>
          </a:xfrm>
          <a:prstGeom prst="rect">
            <a:avLst/>
          </a:prstGeom>
          <a:noFill/>
        </p:spPr>
        <p:txBody>
          <a:bodyPr wrap="square" lIns="0" tIns="0" rIns="0" bIns="0" anchor="ctr">
            <a:spAutoFit/>
          </a:bodyPr>
          <a:lstStyle/>
          <a:p>
            <a:pPr marL="0" indent="0" algn="ctr">
              <a:buNone/>
            </a:pPr>
            <a:r>
              <a:rPr sz="650" b="1" i="0">
                <a:solidFill>
                  <a:srgbClr val="FFFFFF"/>
                </a:solidFill>
              </a:rPr>
              <a:t>Proceed to Checkout</a:t>
            </a:r>
          </a:p>
        </p:txBody>
      </p:sp>
      <p:sp>
        <p:nvSpPr>
          <p:cNvPr id="137" name="Oval 136"/>
          <p:cNvSpPr/>
          <p:nvPr/>
        </p:nvSpPr>
        <p:spPr>
          <a:xfrm>
            <a:off x="3168701" y="1588111"/>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8" name="TextBox 137"/>
          <p:cNvSpPr txBox="1"/>
          <p:nvPr/>
        </p:nvSpPr>
        <p:spPr>
          <a:xfrm>
            <a:off x="3168701" y="1588111"/>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139" name="Oval 138"/>
          <p:cNvSpPr/>
          <p:nvPr/>
        </p:nvSpPr>
        <p:spPr>
          <a:xfrm>
            <a:off x="3168701" y="1995811"/>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0" name="TextBox 139"/>
          <p:cNvSpPr txBox="1"/>
          <p:nvPr/>
        </p:nvSpPr>
        <p:spPr>
          <a:xfrm>
            <a:off x="3168701" y="1995811"/>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graphicFrame>
        <p:nvGraphicFramePr>
          <p:cNvPr id="141" name="Table 140"/>
          <p:cNvGraphicFramePr>
            <a:graphicFrameLocks noGrp="1"/>
          </p:cNvGraphicFramePr>
          <p:nvPr/>
        </p:nvGraphicFramePr>
        <p:xfrm>
          <a:off x="7196328" y="886968"/>
          <a:ext cx="4718304" cy="336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Service switch</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Available only inside the 60-Minute radius, 3–5 km per store (BRL-10). Standard stays the default until the customer switches explicitly.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Express promise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States the arrival time, not a window — that is the point of the service.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Slot availability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Remaining slots at the serving store, shown before the customer commits.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Fixed fee explanation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60-Minute fee is never waived by order value; only a delivery coupon covering the full amount removes it (BRL-18). Stated on-screen because it differs from the Standard freeship rule customers already know.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Last-slot warning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Raised as soon as the remaining slots reach the configured threshold, currently 1 (BRL-20). It states the consequence, not just the number.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7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Threshold is configuration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LOTTE MART can raise the threshold — for example to 5 — without any change to this flow or screen (BRL-20).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420000">
                <a:tc>
                  <a:txBody>
                    <a:bodyPr/>
                    <a:lstStyle/>
                    <a:p>
                      <a:pPr marL="0" indent="0" algn="ctr">
                        <a:buNone/>
                      </a:pPr>
                      <a:r>
                        <a:rPr sz="70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Eligibility filter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Only items flagged 60-Minute eligible can be delivered by this service; the filter makes the constraint visible instead of failing at checkout (CT-04).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142" name="TextBox 141"/>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60-Minute and Standard are both available only inside the 60-Minute radius; the two are never offered together with Next-day, because service zones are mutually exclusive (BRL-10 … BRL-12). Slot re-opening is driven by operations marking orders ready for delivery (BRL-21).</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Cart (CT)</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CT-08</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SCR-CRT-03</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Cart — Next-day Delivery &amp; Bulky Order</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55</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State A  ·  Next-day area — date instead of slot</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59436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5873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29" name="TextBox 28"/>
          <p:cNvSpPr txBox="1"/>
          <p:nvPr/>
        </p:nvSpPr>
        <p:spPr>
          <a:xfrm>
            <a:off x="77675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Cart  (8)</a:t>
            </a:r>
          </a:p>
        </p:txBody>
      </p:sp>
      <p:sp>
        <p:nvSpPr>
          <p:cNvPr id="30" name="TextBox 29"/>
          <p:cNvSpPr txBox="1"/>
          <p:nvPr/>
        </p:nvSpPr>
        <p:spPr>
          <a:xfrm>
            <a:off x="2069591" y="998018"/>
            <a:ext cx="461345" cy="214579"/>
          </a:xfrm>
          <a:prstGeom prst="rect">
            <a:avLst/>
          </a:prstGeom>
          <a:noFill/>
        </p:spPr>
        <p:txBody>
          <a:bodyPr wrap="square" lIns="0" tIns="0" rIns="0" bIns="0" anchor="ctr">
            <a:spAutoFit/>
          </a:bodyPr>
          <a:lstStyle/>
          <a:p>
            <a:pPr marL="0" indent="0" algn="r">
              <a:buNone/>
            </a:pPr>
            <a:r>
              <a:rPr sz="600" b="0" i="0">
                <a:solidFill>
                  <a:srgbClr val="555555"/>
                </a:solidFill>
              </a:rPr>
              <a:t>Edit</a:t>
            </a:r>
          </a:p>
        </p:txBody>
      </p:sp>
      <p:sp>
        <p:nvSpPr>
          <p:cNvPr id="31" name="Rectangle 30"/>
          <p:cNvSpPr/>
          <p:nvPr/>
        </p:nvSpPr>
        <p:spPr>
          <a:xfrm>
            <a:off x="59436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594360" y="1217962"/>
            <a:ext cx="1005839" cy="160934"/>
          </a:xfrm>
          <a:prstGeom prst="rect">
            <a:avLst/>
          </a:prstGeom>
          <a:noFill/>
        </p:spPr>
        <p:txBody>
          <a:bodyPr wrap="square" lIns="0" tIns="0" rIns="0" bIns="0" anchor="ctr">
            <a:spAutoFit/>
          </a:bodyPr>
          <a:lstStyle/>
          <a:p>
            <a:pPr marL="0" indent="0" algn="ctr">
              <a:buNone/>
            </a:pPr>
            <a:r>
              <a:rPr sz="650" b="1" i="0">
                <a:solidFill>
                  <a:srgbClr val="C8102E"/>
                </a:solidFill>
              </a:rPr>
              <a:t>Delivery</a:t>
            </a:r>
          </a:p>
        </p:txBody>
      </p:sp>
      <p:sp>
        <p:nvSpPr>
          <p:cNvPr id="33" name="Rectangle 32"/>
          <p:cNvSpPr/>
          <p:nvPr/>
        </p:nvSpPr>
        <p:spPr>
          <a:xfrm>
            <a:off x="815644" y="1362803"/>
            <a:ext cx="563270" cy="1609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1600199" y="1217962"/>
            <a:ext cx="1005839" cy="160934"/>
          </a:xfrm>
          <a:prstGeom prst="rect">
            <a:avLst/>
          </a:prstGeom>
          <a:noFill/>
        </p:spPr>
        <p:txBody>
          <a:bodyPr wrap="square" lIns="0" tIns="0" rIns="0" bIns="0" anchor="ctr">
            <a:spAutoFit/>
          </a:bodyPr>
          <a:lstStyle/>
          <a:p>
            <a:pPr marL="0" indent="0" algn="ctr">
              <a:buNone/>
            </a:pPr>
            <a:r>
              <a:rPr sz="650" b="0" i="0">
                <a:solidFill>
                  <a:srgbClr val="888888"/>
                </a:solidFill>
              </a:rPr>
              <a:t>Self pick-up</a:t>
            </a:r>
          </a:p>
        </p:txBody>
      </p:sp>
      <p:sp>
        <p:nvSpPr>
          <p:cNvPr id="35" name="Rectangle 34"/>
          <p:cNvSpPr/>
          <p:nvPr/>
        </p:nvSpPr>
        <p:spPr>
          <a:xfrm>
            <a:off x="594360" y="1378896"/>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Rectangle 35"/>
          <p:cNvSpPr/>
          <p:nvPr/>
        </p:nvSpPr>
        <p:spPr>
          <a:xfrm>
            <a:off x="594360" y="1384261"/>
            <a:ext cx="2011679" cy="118018"/>
          </a:xfrm>
          <a:prstGeom prst="rect">
            <a:avLst/>
          </a:prstGeom>
          <a:solidFill>
            <a:srgbClr val="F7E9E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TextBox 36"/>
          <p:cNvSpPr txBox="1"/>
          <p:nvPr/>
        </p:nvSpPr>
        <p:spPr>
          <a:xfrm>
            <a:off x="669462" y="1384261"/>
            <a:ext cx="1394764" cy="118018"/>
          </a:xfrm>
          <a:prstGeom prst="rect">
            <a:avLst/>
          </a:prstGeom>
          <a:noFill/>
        </p:spPr>
        <p:txBody>
          <a:bodyPr wrap="square" lIns="0" tIns="0" rIns="0" bIns="0" anchor="ctr">
            <a:spAutoFit/>
          </a:bodyPr>
          <a:lstStyle/>
          <a:p>
            <a:pPr marL="0" indent="0" algn="l">
              <a:buNone/>
            </a:pPr>
            <a:r>
              <a:rPr sz="520" b="0" i="0">
                <a:solidFill>
                  <a:srgbClr val="555555"/>
                </a:solidFill>
              </a:rPr>
              <a:t>Serving store:  </a:t>
            </a:r>
            <a:r>
              <a:rPr sz="520" b="1" i="0">
                <a:solidFill>
                  <a:srgbClr val="C8102E"/>
                </a:solidFill>
              </a:rPr>
              <a:t>LOTTE Mart Long Biên</a:t>
            </a:r>
          </a:p>
        </p:txBody>
      </p:sp>
      <p:sp>
        <p:nvSpPr>
          <p:cNvPr id="38" name="TextBox 37"/>
          <p:cNvSpPr txBox="1"/>
          <p:nvPr/>
        </p:nvSpPr>
        <p:spPr>
          <a:xfrm>
            <a:off x="2203703" y="1384261"/>
            <a:ext cx="327233" cy="118018"/>
          </a:xfrm>
          <a:prstGeom prst="rect">
            <a:avLst/>
          </a:prstGeom>
          <a:noFill/>
        </p:spPr>
        <p:txBody>
          <a:bodyPr wrap="square" lIns="0" tIns="0" rIns="0" bIns="0" anchor="ctr">
            <a:spAutoFit/>
          </a:bodyPr>
          <a:lstStyle/>
          <a:p>
            <a:pPr marL="0" indent="0" algn="r">
              <a:buNone/>
            </a:pPr>
            <a:r>
              <a:rPr sz="500" b="1" i="0">
                <a:solidFill>
                  <a:srgbClr val="C8102E"/>
                </a:solidFill>
              </a:rPr>
              <a:t>Change ›</a:t>
            </a:r>
          </a:p>
        </p:txBody>
      </p:sp>
      <p:sp>
        <p:nvSpPr>
          <p:cNvPr id="39" name="Rounded Rectangle 38"/>
          <p:cNvSpPr/>
          <p:nvPr/>
        </p:nvSpPr>
        <p:spPr>
          <a:xfrm>
            <a:off x="669462" y="1523737"/>
            <a:ext cx="1861474" cy="354055"/>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TextBox 39"/>
          <p:cNvSpPr txBox="1"/>
          <p:nvPr/>
        </p:nvSpPr>
        <p:spPr>
          <a:xfrm>
            <a:off x="744565" y="1551565"/>
            <a:ext cx="1072896" cy="83820"/>
          </a:xfrm>
          <a:prstGeom prst="rect">
            <a:avLst/>
          </a:prstGeom>
          <a:noFill/>
        </p:spPr>
        <p:txBody>
          <a:bodyPr wrap="square" lIns="0" tIns="0" rIns="0" bIns="0" anchor="ctr">
            <a:spAutoFit/>
          </a:bodyPr>
          <a:lstStyle/>
          <a:p>
            <a:pPr marL="0" indent="0" algn="l">
              <a:buNone/>
            </a:pPr>
            <a:r>
              <a:rPr sz="500" b="0" i="0">
                <a:solidFill>
                  <a:srgbClr val="888888"/>
                </a:solidFill>
              </a:rPr>
              <a:t>Deliver to</a:t>
            </a:r>
          </a:p>
        </p:txBody>
      </p:sp>
      <p:sp>
        <p:nvSpPr>
          <p:cNvPr id="41" name="TextBox 40"/>
          <p:cNvSpPr txBox="1"/>
          <p:nvPr/>
        </p:nvSpPr>
        <p:spPr>
          <a:xfrm>
            <a:off x="744565" y="1623316"/>
            <a:ext cx="1502054" cy="90525"/>
          </a:xfrm>
          <a:prstGeom prst="rect">
            <a:avLst/>
          </a:prstGeom>
          <a:noFill/>
        </p:spPr>
        <p:txBody>
          <a:bodyPr wrap="square" lIns="0" tIns="0" rIns="0" bIns="0" anchor="ctr">
            <a:spAutoFit/>
          </a:bodyPr>
          <a:lstStyle/>
          <a:p>
            <a:pPr marL="0" indent="0" algn="l">
              <a:buNone/>
            </a:pPr>
            <a:r>
              <a:rPr sz="540" b="1" i="0">
                <a:solidFill>
                  <a:srgbClr val="222222"/>
                </a:solidFill>
              </a:rPr>
              <a:t>45 Nguyễn Văn Cừ, Long Biên, Hà Nội</a:t>
            </a:r>
          </a:p>
        </p:txBody>
      </p:sp>
      <p:sp>
        <p:nvSpPr>
          <p:cNvPr id="42" name="Rounded Rectangle 41"/>
          <p:cNvSpPr/>
          <p:nvPr/>
        </p:nvSpPr>
        <p:spPr>
          <a:xfrm>
            <a:off x="744565" y="1738316"/>
            <a:ext cx="643737" cy="96560"/>
          </a:xfrm>
          <a:prstGeom prst="roundRect">
            <a:avLst>
              <a:gd name="adj" fmla="val 50000"/>
            </a:avLst>
          </a:prstGeom>
          <a:solidFill>
            <a:srgbClr val="FFF6E5"/>
          </a:solidFill>
          <a:ln w="6350">
            <a:solidFill>
              <a:srgbClr val="B26A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3" name="TextBox 42"/>
          <p:cNvSpPr txBox="1"/>
          <p:nvPr/>
        </p:nvSpPr>
        <p:spPr>
          <a:xfrm>
            <a:off x="744565" y="1738316"/>
            <a:ext cx="643737" cy="96560"/>
          </a:xfrm>
          <a:prstGeom prst="rect">
            <a:avLst/>
          </a:prstGeom>
          <a:noFill/>
        </p:spPr>
        <p:txBody>
          <a:bodyPr wrap="square" lIns="0" tIns="0" rIns="0" bIns="0" anchor="ctr">
            <a:spAutoFit/>
          </a:bodyPr>
          <a:lstStyle/>
          <a:p>
            <a:pPr marL="0" indent="0" algn="ctr">
              <a:buNone/>
            </a:pPr>
            <a:r>
              <a:rPr sz="459" b="1" i="0">
                <a:solidFill>
                  <a:srgbClr val="B26A00"/>
                </a:solidFill>
              </a:rPr>
              <a:t>Next-day area</a:t>
            </a:r>
          </a:p>
        </p:txBody>
      </p:sp>
      <p:sp>
        <p:nvSpPr>
          <p:cNvPr id="44" name="TextBox 43"/>
          <p:cNvSpPr txBox="1"/>
          <p:nvPr/>
        </p:nvSpPr>
        <p:spPr>
          <a:xfrm>
            <a:off x="2203703" y="1626668"/>
            <a:ext cx="252130" cy="83820"/>
          </a:xfrm>
          <a:prstGeom prst="rect">
            <a:avLst/>
          </a:prstGeom>
          <a:noFill/>
        </p:spPr>
        <p:txBody>
          <a:bodyPr wrap="square" lIns="0" tIns="0" rIns="0" bIns="0" anchor="ctr">
            <a:spAutoFit/>
          </a:bodyPr>
          <a:lstStyle/>
          <a:p>
            <a:pPr marL="0" indent="0" algn="r">
              <a:buNone/>
            </a:pPr>
            <a:r>
              <a:rPr sz="500" b="1" i="0">
                <a:solidFill>
                  <a:srgbClr val="C8102E"/>
                </a:solidFill>
              </a:rPr>
              <a:t>Edit</a:t>
            </a:r>
          </a:p>
        </p:txBody>
      </p:sp>
      <p:sp>
        <p:nvSpPr>
          <p:cNvPr id="45" name="Rounded Rectangle 44"/>
          <p:cNvSpPr/>
          <p:nvPr/>
        </p:nvSpPr>
        <p:spPr>
          <a:xfrm>
            <a:off x="648004" y="1920709"/>
            <a:ext cx="1904390" cy="160934"/>
          </a:xfrm>
          <a:prstGeom prst="roundRect">
            <a:avLst>
              <a:gd name="adj" fmla="val 15000"/>
            </a:avLst>
          </a:prstGeom>
          <a:solidFill>
            <a:srgbClr val="FFF6E5"/>
          </a:solidFill>
          <a:ln w="6350">
            <a:solidFill>
              <a:srgbClr val="FFF6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TextBox 45"/>
          <p:cNvSpPr txBox="1"/>
          <p:nvPr/>
        </p:nvSpPr>
        <p:spPr>
          <a:xfrm>
            <a:off x="690920" y="1920709"/>
            <a:ext cx="96560" cy="160934"/>
          </a:xfrm>
          <a:prstGeom prst="rect">
            <a:avLst/>
          </a:prstGeom>
          <a:noFill/>
        </p:spPr>
        <p:txBody>
          <a:bodyPr wrap="square" lIns="0" tIns="0" rIns="0" bIns="0" anchor="ctr">
            <a:spAutoFit/>
          </a:bodyPr>
          <a:lstStyle/>
          <a:p>
            <a:pPr marL="0" indent="0" algn="ctr">
              <a:buNone/>
            </a:pPr>
            <a:r>
              <a:rPr sz="550" b="1" i="0">
                <a:solidFill>
                  <a:srgbClr val="B26A00"/>
                </a:solidFill>
              </a:rPr>
              <a:t>!</a:t>
            </a:r>
          </a:p>
        </p:txBody>
      </p:sp>
      <p:sp>
        <p:nvSpPr>
          <p:cNvPr id="47" name="TextBox 46"/>
          <p:cNvSpPr txBox="1"/>
          <p:nvPr/>
        </p:nvSpPr>
        <p:spPr>
          <a:xfrm>
            <a:off x="819668" y="1920709"/>
            <a:ext cx="1700540" cy="160934"/>
          </a:xfrm>
          <a:prstGeom prst="rect">
            <a:avLst/>
          </a:prstGeom>
          <a:noFill/>
        </p:spPr>
        <p:txBody>
          <a:bodyPr wrap="square" lIns="0" tIns="0" rIns="0" bIns="0" anchor="ctr">
            <a:spAutoFit/>
          </a:bodyPr>
          <a:lstStyle/>
          <a:p>
            <a:pPr marL="0" indent="0" algn="l">
              <a:buNone/>
            </a:pPr>
            <a:r>
              <a:rPr sz="540" b="0" i="0">
                <a:solidFill>
                  <a:srgbClr val="B26A00"/>
                </a:solidFill>
              </a:rPr>
              <a:t>Long-distance delivery — choose a date, not a time slot</a:t>
            </a:r>
          </a:p>
        </p:txBody>
      </p:sp>
      <p:sp>
        <p:nvSpPr>
          <p:cNvPr id="48" name="TextBox 47"/>
          <p:cNvSpPr txBox="1"/>
          <p:nvPr/>
        </p:nvSpPr>
        <p:spPr>
          <a:xfrm>
            <a:off x="669462" y="2113495"/>
            <a:ext cx="1341120" cy="97231"/>
          </a:xfrm>
          <a:prstGeom prst="rect">
            <a:avLst/>
          </a:prstGeom>
          <a:noFill/>
        </p:spPr>
        <p:txBody>
          <a:bodyPr wrap="square" lIns="0" tIns="0" rIns="0" bIns="0" anchor="ctr">
            <a:spAutoFit/>
          </a:bodyPr>
          <a:lstStyle/>
          <a:p>
            <a:pPr marL="0" indent="0" algn="l">
              <a:buNone/>
            </a:pPr>
            <a:r>
              <a:rPr sz="580" b="1" i="0">
                <a:solidFill>
                  <a:srgbClr val="3A3A3A"/>
                </a:solidFill>
              </a:rPr>
              <a:t>Choose a delivery date</a:t>
            </a:r>
          </a:p>
        </p:txBody>
      </p:sp>
      <p:sp>
        <p:nvSpPr>
          <p:cNvPr id="49" name="Rounded Rectangle 48"/>
          <p:cNvSpPr/>
          <p:nvPr/>
        </p:nvSpPr>
        <p:spPr>
          <a:xfrm>
            <a:off x="669462" y="2231848"/>
            <a:ext cx="429158" cy="354055"/>
          </a:xfrm>
          <a:prstGeom prst="roundRect">
            <a:avLst>
              <a:gd name="adj" fmla="val 12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TextBox 49"/>
          <p:cNvSpPr txBox="1"/>
          <p:nvPr/>
        </p:nvSpPr>
        <p:spPr>
          <a:xfrm>
            <a:off x="669462" y="2255988"/>
            <a:ext cx="429158" cy="80467"/>
          </a:xfrm>
          <a:prstGeom prst="rect">
            <a:avLst/>
          </a:prstGeom>
          <a:noFill/>
        </p:spPr>
        <p:txBody>
          <a:bodyPr wrap="square" lIns="0" tIns="0" rIns="0" bIns="0" anchor="ctr">
            <a:spAutoFit/>
          </a:bodyPr>
          <a:lstStyle/>
          <a:p>
            <a:pPr marL="0" indent="0" algn="ctr">
              <a:buNone/>
            </a:pPr>
            <a:r>
              <a:rPr sz="480" b="0" i="0">
                <a:solidFill>
                  <a:srgbClr val="888888"/>
                </a:solidFill>
              </a:rPr>
              <a:t>Fri</a:t>
            </a:r>
          </a:p>
        </p:txBody>
      </p:sp>
      <p:sp>
        <p:nvSpPr>
          <p:cNvPr id="51" name="TextBox 50"/>
          <p:cNvSpPr txBox="1"/>
          <p:nvPr/>
        </p:nvSpPr>
        <p:spPr>
          <a:xfrm>
            <a:off x="669462" y="2317345"/>
            <a:ext cx="429158" cy="150876"/>
          </a:xfrm>
          <a:prstGeom prst="rect">
            <a:avLst/>
          </a:prstGeom>
          <a:noFill/>
        </p:spPr>
        <p:txBody>
          <a:bodyPr wrap="square" lIns="0" tIns="0" rIns="0" bIns="0" anchor="ctr">
            <a:spAutoFit/>
          </a:bodyPr>
          <a:lstStyle/>
          <a:p>
            <a:pPr marL="0" indent="0" algn="ctr">
              <a:buNone/>
            </a:pPr>
            <a:r>
              <a:rPr sz="900" b="1" i="0">
                <a:solidFill>
                  <a:srgbClr val="222222"/>
                </a:solidFill>
              </a:rPr>
              <a:t>15</a:t>
            </a:r>
          </a:p>
        </p:txBody>
      </p:sp>
      <p:sp>
        <p:nvSpPr>
          <p:cNvPr id="52" name="TextBox 51"/>
          <p:cNvSpPr txBox="1"/>
          <p:nvPr/>
        </p:nvSpPr>
        <p:spPr>
          <a:xfrm>
            <a:off x="669462" y="2449110"/>
            <a:ext cx="429158" cy="80467"/>
          </a:xfrm>
          <a:prstGeom prst="rect">
            <a:avLst/>
          </a:prstGeom>
          <a:noFill/>
        </p:spPr>
        <p:txBody>
          <a:bodyPr wrap="square" lIns="0" tIns="0" rIns="0" bIns="0" anchor="ctr">
            <a:spAutoFit/>
          </a:bodyPr>
          <a:lstStyle/>
          <a:p>
            <a:pPr marL="0" indent="0" algn="ctr">
              <a:buNone/>
            </a:pPr>
            <a:r>
              <a:rPr sz="480" b="0" i="0">
                <a:solidFill>
                  <a:srgbClr val="888888"/>
                </a:solidFill>
              </a:rPr>
              <a:t>Aug</a:t>
            </a:r>
          </a:p>
        </p:txBody>
      </p:sp>
      <p:sp>
        <p:nvSpPr>
          <p:cNvPr id="53" name="TextBox 52"/>
          <p:cNvSpPr txBox="1"/>
          <p:nvPr/>
        </p:nvSpPr>
        <p:spPr>
          <a:xfrm>
            <a:off x="669462" y="2516501"/>
            <a:ext cx="429158" cy="63703"/>
          </a:xfrm>
          <a:prstGeom prst="rect">
            <a:avLst/>
          </a:prstGeom>
          <a:noFill/>
        </p:spPr>
        <p:txBody>
          <a:bodyPr wrap="square" lIns="0" tIns="0" rIns="0" bIns="0" anchor="ctr">
            <a:spAutoFit/>
          </a:bodyPr>
          <a:lstStyle/>
          <a:p>
            <a:pPr marL="0" indent="0" algn="ctr">
              <a:buNone/>
            </a:pPr>
            <a:r>
              <a:rPr sz="380" b="0" i="0">
                <a:solidFill>
                  <a:srgbClr val="AAAAAA"/>
                </a:solidFill>
              </a:rPr>
              <a:t>Not available</a:t>
            </a:r>
          </a:p>
        </p:txBody>
      </p:sp>
      <p:sp>
        <p:nvSpPr>
          <p:cNvPr id="54" name="Rounded Rectangle 53"/>
          <p:cNvSpPr/>
          <p:nvPr/>
        </p:nvSpPr>
        <p:spPr>
          <a:xfrm>
            <a:off x="1141536" y="2231848"/>
            <a:ext cx="429158" cy="354055"/>
          </a:xfrm>
          <a:prstGeom prst="roundRect">
            <a:avLst>
              <a:gd name="adj" fmla="val 12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5" name="TextBox 54"/>
          <p:cNvSpPr txBox="1"/>
          <p:nvPr/>
        </p:nvSpPr>
        <p:spPr>
          <a:xfrm>
            <a:off x="1141536" y="2255988"/>
            <a:ext cx="429158" cy="80467"/>
          </a:xfrm>
          <a:prstGeom prst="rect">
            <a:avLst/>
          </a:prstGeom>
          <a:noFill/>
        </p:spPr>
        <p:txBody>
          <a:bodyPr wrap="square" lIns="0" tIns="0" rIns="0" bIns="0" anchor="ctr">
            <a:spAutoFit/>
          </a:bodyPr>
          <a:lstStyle/>
          <a:p>
            <a:pPr marL="0" indent="0" algn="ctr">
              <a:buNone/>
            </a:pPr>
            <a:r>
              <a:rPr sz="480" b="0" i="0">
                <a:solidFill>
                  <a:srgbClr val="C8102E"/>
                </a:solidFill>
              </a:rPr>
              <a:t>Sat</a:t>
            </a:r>
          </a:p>
        </p:txBody>
      </p:sp>
      <p:sp>
        <p:nvSpPr>
          <p:cNvPr id="56" name="TextBox 55"/>
          <p:cNvSpPr txBox="1"/>
          <p:nvPr/>
        </p:nvSpPr>
        <p:spPr>
          <a:xfrm>
            <a:off x="1141536" y="2317345"/>
            <a:ext cx="429158" cy="150876"/>
          </a:xfrm>
          <a:prstGeom prst="rect">
            <a:avLst/>
          </a:prstGeom>
          <a:noFill/>
        </p:spPr>
        <p:txBody>
          <a:bodyPr wrap="square" lIns="0" tIns="0" rIns="0" bIns="0" anchor="ctr">
            <a:spAutoFit/>
          </a:bodyPr>
          <a:lstStyle/>
          <a:p>
            <a:pPr marL="0" indent="0" algn="ctr">
              <a:buNone/>
            </a:pPr>
            <a:r>
              <a:rPr sz="900" b="1" i="0">
                <a:solidFill>
                  <a:srgbClr val="C8102E"/>
                </a:solidFill>
              </a:rPr>
              <a:t>16</a:t>
            </a:r>
          </a:p>
        </p:txBody>
      </p:sp>
      <p:sp>
        <p:nvSpPr>
          <p:cNvPr id="57" name="TextBox 56"/>
          <p:cNvSpPr txBox="1"/>
          <p:nvPr/>
        </p:nvSpPr>
        <p:spPr>
          <a:xfrm>
            <a:off x="1141536" y="2449110"/>
            <a:ext cx="429158" cy="80467"/>
          </a:xfrm>
          <a:prstGeom prst="rect">
            <a:avLst/>
          </a:prstGeom>
          <a:noFill/>
        </p:spPr>
        <p:txBody>
          <a:bodyPr wrap="square" lIns="0" tIns="0" rIns="0" bIns="0" anchor="ctr">
            <a:spAutoFit/>
          </a:bodyPr>
          <a:lstStyle/>
          <a:p>
            <a:pPr marL="0" indent="0" algn="ctr">
              <a:buNone/>
            </a:pPr>
            <a:r>
              <a:rPr sz="480" b="0" i="0">
                <a:solidFill>
                  <a:srgbClr val="C8102E"/>
                </a:solidFill>
              </a:rPr>
              <a:t>Aug</a:t>
            </a:r>
          </a:p>
        </p:txBody>
      </p:sp>
      <p:sp>
        <p:nvSpPr>
          <p:cNvPr id="58" name="Rounded Rectangle 57"/>
          <p:cNvSpPr/>
          <p:nvPr/>
        </p:nvSpPr>
        <p:spPr>
          <a:xfrm>
            <a:off x="1613611" y="2231848"/>
            <a:ext cx="429158" cy="354055"/>
          </a:xfrm>
          <a:prstGeom prst="roundRect">
            <a:avLst>
              <a:gd name="adj" fmla="val 12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9" name="TextBox 58"/>
          <p:cNvSpPr txBox="1"/>
          <p:nvPr/>
        </p:nvSpPr>
        <p:spPr>
          <a:xfrm>
            <a:off x="1613611" y="2255988"/>
            <a:ext cx="429158" cy="80467"/>
          </a:xfrm>
          <a:prstGeom prst="rect">
            <a:avLst/>
          </a:prstGeom>
          <a:noFill/>
        </p:spPr>
        <p:txBody>
          <a:bodyPr wrap="square" lIns="0" tIns="0" rIns="0" bIns="0" anchor="ctr">
            <a:spAutoFit/>
          </a:bodyPr>
          <a:lstStyle/>
          <a:p>
            <a:pPr marL="0" indent="0" algn="ctr">
              <a:buNone/>
            </a:pPr>
            <a:r>
              <a:rPr sz="480" b="0" i="0">
                <a:solidFill>
                  <a:srgbClr val="888888"/>
                </a:solidFill>
              </a:rPr>
              <a:t>Sun</a:t>
            </a:r>
          </a:p>
        </p:txBody>
      </p:sp>
      <p:sp>
        <p:nvSpPr>
          <p:cNvPr id="60" name="TextBox 59"/>
          <p:cNvSpPr txBox="1"/>
          <p:nvPr/>
        </p:nvSpPr>
        <p:spPr>
          <a:xfrm>
            <a:off x="1613611" y="2317345"/>
            <a:ext cx="429158" cy="150876"/>
          </a:xfrm>
          <a:prstGeom prst="rect">
            <a:avLst/>
          </a:prstGeom>
          <a:noFill/>
        </p:spPr>
        <p:txBody>
          <a:bodyPr wrap="square" lIns="0" tIns="0" rIns="0" bIns="0" anchor="ctr">
            <a:spAutoFit/>
          </a:bodyPr>
          <a:lstStyle/>
          <a:p>
            <a:pPr marL="0" indent="0" algn="ctr">
              <a:buNone/>
            </a:pPr>
            <a:r>
              <a:rPr sz="900" b="1" i="0">
                <a:solidFill>
                  <a:srgbClr val="222222"/>
                </a:solidFill>
              </a:rPr>
              <a:t>17</a:t>
            </a:r>
          </a:p>
        </p:txBody>
      </p:sp>
      <p:sp>
        <p:nvSpPr>
          <p:cNvPr id="61" name="TextBox 60"/>
          <p:cNvSpPr txBox="1"/>
          <p:nvPr/>
        </p:nvSpPr>
        <p:spPr>
          <a:xfrm>
            <a:off x="1613611" y="2449110"/>
            <a:ext cx="429158" cy="80467"/>
          </a:xfrm>
          <a:prstGeom prst="rect">
            <a:avLst/>
          </a:prstGeom>
          <a:noFill/>
        </p:spPr>
        <p:txBody>
          <a:bodyPr wrap="square" lIns="0" tIns="0" rIns="0" bIns="0" anchor="ctr">
            <a:spAutoFit/>
          </a:bodyPr>
          <a:lstStyle/>
          <a:p>
            <a:pPr marL="0" indent="0" algn="ctr">
              <a:buNone/>
            </a:pPr>
            <a:r>
              <a:rPr sz="480" b="0" i="0">
                <a:solidFill>
                  <a:srgbClr val="888888"/>
                </a:solidFill>
              </a:rPr>
              <a:t>Aug</a:t>
            </a:r>
          </a:p>
        </p:txBody>
      </p:sp>
      <p:sp>
        <p:nvSpPr>
          <p:cNvPr id="62" name="Rounded Rectangle 61"/>
          <p:cNvSpPr/>
          <p:nvPr/>
        </p:nvSpPr>
        <p:spPr>
          <a:xfrm>
            <a:off x="2085685" y="2231848"/>
            <a:ext cx="429158" cy="354055"/>
          </a:xfrm>
          <a:prstGeom prst="roundRect">
            <a:avLst>
              <a:gd name="adj" fmla="val 12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3" name="TextBox 62"/>
          <p:cNvSpPr txBox="1"/>
          <p:nvPr/>
        </p:nvSpPr>
        <p:spPr>
          <a:xfrm>
            <a:off x="2085685" y="2255988"/>
            <a:ext cx="429158" cy="80467"/>
          </a:xfrm>
          <a:prstGeom prst="rect">
            <a:avLst/>
          </a:prstGeom>
          <a:noFill/>
        </p:spPr>
        <p:txBody>
          <a:bodyPr wrap="square" lIns="0" tIns="0" rIns="0" bIns="0" anchor="ctr">
            <a:spAutoFit/>
          </a:bodyPr>
          <a:lstStyle/>
          <a:p>
            <a:pPr marL="0" indent="0" algn="ctr">
              <a:buNone/>
            </a:pPr>
            <a:r>
              <a:rPr sz="480" b="0" i="0">
                <a:solidFill>
                  <a:srgbClr val="888888"/>
                </a:solidFill>
              </a:rPr>
              <a:t>Mon</a:t>
            </a:r>
          </a:p>
        </p:txBody>
      </p:sp>
      <p:sp>
        <p:nvSpPr>
          <p:cNvPr id="64" name="TextBox 63"/>
          <p:cNvSpPr txBox="1"/>
          <p:nvPr/>
        </p:nvSpPr>
        <p:spPr>
          <a:xfrm>
            <a:off x="2085685" y="2317345"/>
            <a:ext cx="429158" cy="150876"/>
          </a:xfrm>
          <a:prstGeom prst="rect">
            <a:avLst/>
          </a:prstGeom>
          <a:noFill/>
        </p:spPr>
        <p:txBody>
          <a:bodyPr wrap="square" lIns="0" tIns="0" rIns="0" bIns="0" anchor="ctr">
            <a:spAutoFit/>
          </a:bodyPr>
          <a:lstStyle/>
          <a:p>
            <a:pPr marL="0" indent="0" algn="ctr">
              <a:buNone/>
            </a:pPr>
            <a:r>
              <a:rPr sz="900" b="1" i="0">
                <a:solidFill>
                  <a:srgbClr val="222222"/>
                </a:solidFill>
              </a:rPr>
              <a:t>18</a:t>
            </a:r>
          </a:p>
        </p:txBody>
      </p:sp>
      <p:sp>
        <p:nvSpPr>
          <p:cNvPr id="65" name="TextBox 64"/>
          <p:cNvSpPr txBox="1"/>
          <p:nvPr/>
        </p:nvSpPr>
        <p:spPr>
          <a:xfrm>
            <a:off x="2085685" y="2449110"/>
            <a:ext cx="429158" cy="80467"/>
          </a:xfrm>
          <a:prstGeom prst="rect">
            <a:avLst/>
          </a:prstGeom>
          <a:noFill/>
        </p:spPr>
        <p:txBody>
          <a:bodyPr wrap="square" lIns="0" tIns="0" rIns="0" bIns="0" anchor="ctr">
            <a:spAutoFit/>
          </a:bodyPr>
          <a:lstStyle/>
          <a:p>
            <a:pPr marL="0" indent="0" algn="ctr">
              <a:buNone/>
            </a:pPr>
            <a:r>
              <a:rPr sz="480" b="0" i="0">
                <a:solidFill>
                  <a:srgbClr val="888888"/>
                </a:solidFill>
              </a:rPr>
              <a:t>Aug</a:t>
            </a:r>
          </a:p>
        </p:txBody>
      </p:sp>
      <p:sp>
        <p:nvSpPr>
          <p:cNvPr id="66" name="Rounded Rectangle 65"/>
          <p:cNvSpPr/>
          <p:nvPr/>
        </p:nvSpPr>
        <p:spPr>
          <a:xfrm>
            <a:off x="669462" y="2639549"/>
            <a:ext cx="1861474" cy="246766"/>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7" name="TextBox 66"/>
          <p:cNvSpPr txBox="1"/>
          <p:nvPr/>
        </p:nvSpPr>
        <p:spPr>
          <a:xfrm>
            <a:off x="744565" y="2665701"/>
            <a:ext cx="1072896" cy="87172"/>
          </a:xfrm>
          <a:prstGeom prst="rect">
            <a:avLst/>
          </a:prstGeom>
          <a:noFill/>
        </p:spPr>
        <p:txBody>
          <a:bodyPr wrap="square" lIns="0" tIns="0" rIns="0" bIns="0" anchor="ctr">
            <a:spAutoFit/>
          </a:bodyPr>
          <a:lstStyle/>
          <a:p>
            <a:pPr marL="0" indent="0" algn="l">
              <a:buNone/>
            </a:pPr>
            <a:r>
              <a:rPr sz="520" b="0" i="0">
                <a:solidFill>
                  <a:srgbClr val="555555"/>
                </a:solidFill>
              </a:rPr>
              <a:t>Delivery fee</a:t>
            </a:r>
          </a:p>
        </p:txBody>
      </p:sp>
      <p:sp>
        <p:nvSpPr>
          <p:cNvPr id="68" name="TextBox 67"/>
          <p:cNvSpPr txBox="1"/>
          <p:nvPr/>
        </p:nvSpPr>
        <p:spPr>
          <a:xfrm>
            <a:off x="2096414" y="2662348"/>
            <a:ext cx="359420" cy="93878"/>
          </a:xfrm>
          <a:prstGeom prst="rect">
            <a:avLst/>
          </a:prstGeom>
          <a:noFill/>
        </p:spPr>
        <p:txBody>
          <a:bodyPr wrap="square" lIns="0" tIns="0" rIns="0" bIns="0" anchor="ctr">
            <a:spAutoFit/>
          </a:bodyPr>
          <a:lstStyle/>
          <a:p>
            <a:pPr marL="0" indent="0" algn="r">
              <a:buNone/>
            </a:pPr>
            <a:r>
              <a:rPr sz="560" b="1" i="0">
                <a:solidFill>
                  <a:srgbClr val="222222"/>
                </a:solidFill>
              </a:rPr>
              <a:t>45,000 ₫</a:t>
            </a:r>
          </a:p>
        </p:txBody>
      </p:sp>
      <p:sp>
        <p:nvSpPr>
          <p:cNvPr id="69" name="TextBox 68"/>
          <p:cNvSpPr txBox="1"/>
          <p:nvPr/>
        </p:nvSpPr>
        <p:spPr>
          <a:xfrm>
            <a:off x="744565" y="2770978"/>
            <a:ext cx="1341120" cy="80467"/>
          </a:xfrm>
          <a:prstGeom prst="rect">
            <a:avLst/>
          </a:prstGeom>
          <a:noFill/>
        </p:spPr>
        <p:txBody>
          <a:bodyPr wrap="square" lIns="0" tIns="0" rIns="0" bIns="0" anchor="ctr">
            <a:spAutoFit/>
          </a:bodyPr>
          <a:lstStyle/>
          <a:p>
            <a:pPr marL="0" indent="0" algn="l">
              <a:buNone/>
            </a:pPr>
            <a:r>
              <a:rPr sz="480" b="0" i="0">
                <a:solidFill>
                  <a:srgbClr val="888888"/>
                </a:solidFill>
              </a:rPr>
              <a:t>Next-day rate, per commercial configuration</a:t>
            </a:r>
          </a:p>
        </p:txBody>
      </p:sp>
      <p:sp>
        <p:nvSpPr>
          <p:cNvPr id="70" name="Rectangle 69"/>
          <p:cNvSpPr/>
          <p:nvPr/>
        </p:nvSpPr>
        <p:spPr>
          <a:xfrm>
            <a:off x="594360" y="4538575"/>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1" name="Rectangle 70"/>
          <p:cNvSpPr/>
          <p:nvPr/>
        </p:nvSpPr>
        <p:spPr>
          <a:xfrm>
            <a:off x="594360" y="4538575"/>
            <a:ext cx="2011679" cy="3111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2" name="TextBox 71"/>
          <p:cNvSpPr txBox="1"/>
          <p:nvPr/>
        </p:nvSpPr>
        <p:spPr>
          <a:xfrm>
            <a:off x="669462" y="4570092"/>
            <a:ext cx="858316" cy="87172"/>
          </a:xfrm>
          <a:prstGeom prst="rect">
            <a:avLst/>
          </a:prstGeom>
          <a:noFill/>
        </p:spPr>
        <p:txBody>
          <a:bodyPr wrap="square" lIns="0" tIns="0" rIns="0" bIns="0" anchor="ctr">
            <a:spAutoFit/>
          </a:bodyPr>
          <a:lstStyle/>
          <a:p>
            <a:pPr marL="0" indent="0" algn="l">
              <a:buNone/>
            </a:pPr>
            <a:r>
              <a:rPr sz="520" b="0" i="0">
                <a:solidFill>
                  <a:srgbClr val="888888"/>
                </a:solidFill>
              </a:rPr>
              <a:t>Provisional total  ·  8 items</a:t>
            </a:r>
          </a:p>
        </p:txBody>
      </p:sp>
      <p:sp>
        <p:nvSpPr>
          <p:cNvPr id="73" name="TextBox 72"/>
          <p:cNvSpPr txBox="1"/>
          <p:nvPr/>
        </p:nvSpPr>
        <p:spPr>
          <a:xfrm>
            <a:off x="669462" y="4621724"/>
            <a:ext cx="858316" cy="134112"/>
          </a:xfrm>
          <a:prstGeom prst="rect">
            <a:avLst/>
          </a:prstGeom>
          <a:noFill/>
        </p:spPr>
        <p:txBody>
          <a:bodyPr wrap="square" lIns="0" tIns="0" rIns="0" bIns="0" anchor="ctr">
            <a:spAutoFit/>
          </a:bodyPr>
          <a:lstStyle/>
          <a:p>
            <a:pPr marL="0" indent="0" algn="l">
              <a:buNone/>
            </a:pPr>
            <a:r>
              <a:rPr sz="800" b="1" i="0">
                <a:solidFill>
                  <a:srgbClr val="C8102E"/>
                </a:solidFill>
              </a:rPr>
              <a:t>531,000 ₫</a:t>
            </a:r>
          </a:p>
        </p:txBody>
      </p:sp>
      <p:sp>
        <p:nvSpPr>
          <p:cNvPr id="74" name="Rounded Rectangle 73"/>
          <p:cNvSpPr/>
          <p:nvPr/>
        </p:nvSpPr>
        <p:spPr>
          <a:xfrm>
            <a:off x="1801368" y="4602949"/>
            <a:ext cx="729569" cy="160934"/>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5" name="TextBox 74"/>
          <p:cNvSpPr txBox="1"/>
          <p:nvPr/>
        </p:nvSpPr>
        <p:spPr>
          <a:xfrm>
            <a:off x="1801368" y="4602949"/>
            <a:ext cx="729569" cy="160934"/>
          </a:xfrm>
          <a:prstGeom prst="rect">
            <a:avLst/>
          </a:prstGeom>
          <a:noFill/>
        </p:spPr>
        <p:txBody>
          <a:bodyPr wrap="square" lIns="0" tIns="0" rIns="0" bIns="0" anchor="ctr">
            <a:spAutoFit/>
          </a:bodyPr>
          <a:lstStyle/>
          <a:p>
            <a:pPr marL="0" indent="0" algn="ctr">
              <a:buNone/>
            </a:pPr>
            <a:r>
              <a:rPr sz="650" b="1" i="0">
                <a:solidFill>
                  <a:srgbClr val="FFFFFF"/>
                </a:solidFill>
              </a:rPr>
              <a:t>Proceed to Checkout</a:t>
            </a:r>
          </a:p>
        </p:txBody>
      </p:sp>
      <p:sp>
        <p:nvSpPr>
          <p:cNvPr id="76" name="Oval 75"/>
          <p:cNvSpPr/>
          <p:nvPr/>
        </p:nvSpPr>
        <p:spPr>
          <a:xfrm>
            <a:off x="379781" y="1416448"/>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7" name="TextBox 76"/>
          <p:cNvSpPr txBox="1"/>
          <p:nvPr/>
        </p:nvSpPr>
        <p:spPr>
          <a:xfrm>
            <a:off x="379781" y="1416448"/>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78" name="Oval 77"/>
          <p:cNvSpPr/>
          <p:nvPr/>
        </p:nvSpPr>
        <p:spPr>
          <a:xfrm>
            <a:off x="379781" y="1802690"/>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TextBox 78"/>
          <p:cNvSpPr txBox="1"/>
          <p:nvPr/>
        </p:nvSpPr>
        <p:spPr>
          <a:xfrm>
            <a:off x="379781" y="1802690"/>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80" name="Oval 79"/>
          <p:cNvSpPr/>
          <p:nvPr/>
        </p:nvSpPr>
        <p:spPr>
          <a:xfrm>
            <a:off x="379781" y="209237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1" name="TextBox 80"/>
          <p:cNvSpPr txBox="1"/>
          <p:nvPr/>
        </p:nvSpPr>
        <p:spPr>
          <a:xfrm>
            <a:off x="379781" y="209237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82" name="Oval 81"/>
          <p:cNvSpPr/>
          <p:nvPr/>
        </p:nvSpPr>
        <p:spPr>
          <a:xfrm>
            <a:off x="379781" y="2596633"/>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TextBox 82"/>
          <p:cNvSpPr txBox="1"/>
          <p:nvPr/>
        </p:nvSpPr>
        <p:spPr>
          <a:xfrm>
            <a:off x="379781" y="2596633"/>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84" name="Rounded Rectangle 83"/>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5" name="Rectangle 84"/>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6" name="TextBox 85"/>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State B  ·  bulky order — T+4 and surcharge</a:t>
            </a:r>
          </a:p>
        </p:txBody>
      </p:sp>
      <p:sp>
        <p:nvSpPr>
          <p:cNvPr id="87" name="TextBox 86"/>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88" name="TextBox 87"/>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89" name="Rectangle 88"/>
          <p:cNvSpPr/>
          <p:nvPr/>
        </p:nvSpPr>
        <p:spPr>
          <a:xfrm>
            <a:off x="338328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0" name="TextBox 89"/>
          <p:cNvSpPr txBox="1"/>
          <p:nvPr/>
        </p:nvSpPr>
        <p:spPr>
          <a:xfrm>
            <a:off x="344765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91" name="TextBox 90"/>
          <p:cNvSpPr txBox="1"/>
          <p:nvPr/>
        </p:nvSpPr>
        <p:spPr>
          <a:xfrm>
            <a:off x="356567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Cart  (8)</a:t>
            </a:r>
          </a:p>
        </p:txBody>
      </p:sp>
      <p:sp>
        <p:nvSpPr>
          <p:cNvPr id="92" name="TextBox 91"/>
          <p:cNvSpPr txBox="1"/>
          <p:nvPr/>
        </p:nvSpPr>
        <p:spPr>
          <a:xfrm>
            <a:off x="4858511" y="998018"/>
            <a:ext cx="461345" cy="214579"/>
          </a:xfrm>
          <a:prstGeom prst="rect">
            <a:avLst/>
          </a:prstGeom>
          <a:noFill/>
        </p:spPr>
        <p:txBody>
          <a:bodyPr wrap="square" lIns="0" tIns="0" rIns="0" bIns="0" anchor="ctr">
            <a:spAutoFit/>
          </a:bodyPr>
          <a:lstStyle/>
          <a:p>
            <a:pPr marL="0" indent="0" algn="r">
              <a:buNone/>
            </a:pPr>
            <a:r>
              <a:rPr sz="600" b="0" i="0">
                <a:solidFill>
                  <a:srgbClr val="555555"/>
                </a:solidFill>
              </a:rPr>
              <a:t>Edit</a:t>
            </a:r>
          </a:p>
        </p:txBody>
      </p:sp>
      <p:sp>
        <p:nvSpPr>
          <p:cNvPr id="93" name="Rectangle 92"/>
          <p:cNvSpPr/>
          <p:nvPr/>
        </p:nvSpPr>
        <p:spPr>
          <a:xfrm>
            <a:off x="338328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4" name="TextBox 93"/>
          <p:cNvSpPr txBox="1"/>
          <p:nvPr/>
        </p:nvSpPr>
        <p:spPr>
          <a:xfrm>
            <a:off x="3383280" y="1217962"/>
            <a:ext cx="1005839" cy="160934"/>
          </a:xfrm>
          <a:prstGeom prst="rect">
            <a:avLst/>
          </a:prstGeom>
          <a:noFill/>
        </p:spPr>
        <p:txBody>
          <a:bodyPr wrap="square" lIns="0" tIns="0" rIns="0" bIns="0" anchor="ctr">
            <a:spAutoFit/>
          </a:bodyPr>
          <a:lstStyle/>
          <a:p>
            <a:pPr marL="0" indent="0" algn="ctr">
              <a:buNone/>
            </a:pPr>
            <a:r>
              <a:rPr sz="650" b="1" i="0">
                <a:solidFill>
                  <a:srgbClr val="C8102E"/>
                </a:solidFill>
              </a:rPr>
              <a:t>Delivery</a:t>
            </a:r>
          </a:p>
        </p:txBody>
      </p:sp>
      <p:sp>
        <p:nvSpPr>
          <p:cNvPr id="95" name="Rectangle 94"/>
          <p:cNvSpPr/>
          <p:nvPr/>
        </p:nvSpPr>
        <p:spPr>
          <a:xfrm>
            <a:off x="3604564" y="1362803"/>
            <a:ext cx="563270" cy="1609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6" name="TextBox 95"/>
          <p:cNvSpPr txBox="1"/>
          <p:nvPr/>
        </p:nvSpPr>
        <p:spPr>
          <a:xfrm>
            <a:off x="4389119" y="1217962"/>
            <a:ext cx="1005839" cy="160934"/>
          </a:xfrm>
          <a:prstGeom prst="rect">
            <a:avLst/>
          </a:prstGeom>
          <a:noFill/>
        </p:spPr>
        <p:txBody>
          <a:bodyPr wrap="square" lIns="0" tIns="0" rIns="0" bIns="0" anchor="ctr">
            <a:spAutoFit/>
          </a:bodyPr>
          <a:lstStyle/>
          <a:p>
            <a:pPr marL="0" indent="0" algn="ctr">
              <a:buNone/>
            </a:pPr>
            <a:r>
              <a:rPr sz="650" b="0" i="0">
                <a:solidFill>
                  <a:srgbClr val="888888"/>
                </a:solidFill>
              </a:rPr>
              <a:t>Self pick-up</a:t>
            </a:r>
          </a:p>
        </p:txBody>
      </p:sp>
      <p:sp>
        <p:nvSpPr>
          <p:cNvPr id="97" name="Rectangle 96"/>
          <p:cNvSpPr/>
          <p:nvPr/>
        </p:nvSpPr>
        <p:spPr>
          <a:xfrm>
            <a:off x="3383280" y="1378896"/>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8" name="Rectangle 97"/>
          <p:cNvSpPr/>
          <p:nvPr/>
        </p:nvSpPr>
        <p:spPr>
          <a:xfrm>
            <a:off x="3383280" y="1384261"/>
            <a:ext cx="2011679" cy="118018"/>
          </a:xfrm>
          <a:prstGeom prst="rect">
            <a:avLst/>
          </a:prstGeom>
          <a:solidFill>
            <a:srgbClr val="F7E9E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9" name="TextBox 98"/>
          <p:cNvSpPr txBox="1"/>
          <p:nvPr/>
        </p:nvSpPr>
        <p:spPr>
          <a:xfrm>
            <a:off x="3458382" y="1384261"/>
            <a:ext cx="1394764" cy="118018"/>
          </a:xfrm>
          <a:prstGeom prst="rect">
            <a:avLst/>
          </a:prstGeom>
          <a:noFill/>
        </p:spPr>
        <p:txBody>
          <a:bodyPr wrap="square" lIns="0" tIns="0" rIns="0" bIns="0" anchor="ctr">
            <a:spAutoFit/>
          </a:bodyPr>
          <a:lstStyle/>
          <a:p>
            <a:pPr marL="0" indent="0" algn="l">
              <a:buNone/>
            </a:pPr>
            <a:r>
              <a:rPr sz="520" b="0" i="0">
                <a:solidFill>
                  <a:srgbClr val="555555"/>
                </a:solidFill>
              </a:rPr>
              <a:t>Serving store:  </a:t>
            </a:r>
            <a:r>
              <a:rPr sz="520" b="1" i="0">
                <a:solidFill>
                  <a:srgbClr val="C8102E"/>
                </a:solidFill>
              </a:rPr>
              <a:t>LOTTE Mart Nam Sài Gòn</a:t>
            </a:r>
          </a:p>
        </p:txBody>
      </p:sp>
      <p:sp>
        <p:nvSpPr>
          <p:cNvPr id="100" name="TextBox 99"/>
          <p:cNvSpPr txBox="1"/>
          <p:nvPr/>
        </p:nvSpPr>
        <p:spPr>
          <a:xfrm>
            <a:off x="4992623" y="1384261"/>
            <a:ext cx="327233" cy="118018"/>
          </a:xfrm>
          <a:prstGeom prst="rect">
            <a:avLst/>
          </a:prstGeom>
          <a:noFill/>
        </p:spPr>
        <p:txBody>
          <a:bodyPr wrap="square" lIns="0" tIns="0" rIns="0" bIns="0" anchor="ctr">
            <a:spAutoFit/>
          </a:bodyPr>
          <a:lstStyle/>
          <a:p>
            <a:pPr marL="0" indent="0" algn="r">
              <a:buNone/>
            </a:pPr>
            <a:r>
              <a:rPr sz="500" b="1" i="0">
                <a:solidFill>
                  <a:srgbClr val="C8102E"/>
                </a:solidFill>
              </a:rPr>
              <a:t>Change ›</a:t>
            </a:r>
          </a:p>
        </p:txBody>
      </p:sp>
      <p:sp>
        <p:nvSpPr>
          <p:cNvPr id="101" name="Rounded Rectangle 100"/>
          <p:cNvSpPr/>
          <p:nvPr/>
        </p:nvSpPr>
        <p:spPr>
          <a:xfrm>
            <a:off x="3458382" y="1523737"/>
            <a:ext cx="1861474" cy="332597"/>
          </a:xfrm>
          <a:prstGeom prst="roundRect">
            <a:avLst>
              <a:gd name="adj" fmla="val 10000"/>
            </a:avLst>
          </a:prstGeom>
          <a:solidFill>
            <a:srgbClr val="FFF6E5"/>
          </a:solidFill>
          <a:ln w="6350">
            <a:solidFill>
              <a:srgbClr val="B26A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2" name="TextBox 101"/>
          <p:cNvSpPr txBox="1"/>
          <p:nvPr/>
        </p:nvSpPr>
        <p:spPr>
          <a:xfrm>
            <a:off x="3533485" y="1544860"/>
            <a:ext cx="1711269" cy="97231"/>
          </a:xfrm>
          <a:prstGeom prst="rect">
            <a:avLst/>
          </a:prstGeom>
          <a:noFill/>
        </p:spPr>
        <p:txBody>
          <a:bodyPr wrap="square" lIns="0" tIns="0" rIns="0" bIns="0" anchor="ctr">
            <a:spAutoFit/>
          </a:bodyPr>
          <a:lstStyle/>
          <a:p>
            <a:pPr marL="0" indent="0" algn="l">
              <a:buNone/>
            </a:pPr>
            <a:r>
              <a:rPr sz="580" b="1" i="0">
                <a:solidFill>
                  <a:srgbClr val="8A5A00"/>
                </a:solidFill>
              </a:rPr>
              <a:t>This is a bulky order</a:t>
            </a:r>
          </a:p>
        </p:txBody>
      </p:sp>
      <p:sp>
        <p:nvSpPr>
          <p:cNvPr id="103" name="TextBox 102"/>
          <p:cNvSpPr txBox="1"/>
          <p:nvPr/>
        </p:nvSpPr>
        <p:spPr>
          <a:xfrm>
            <a:off x="3533485" y="1641756"/>
            <a:ext cx="1711269" cy="182392"/>
          </a:xfrm>
          <a:prstGeom prst="rect">
            <a:avLst/>
          </a:prstGeom>
          <a:noFill/>
        </p:spPr>
        <p:txBody>
          <a:bodyPr wrap="square" lIns="0" tIns="0" rIns="0" bIns="0" anchor="t">
            <a:spAutoFit/>
          </a:bodyPr>
          <a:lstStyle/>
          <a:p>
            <a:pPr marL="0" indent="0" algn="l">
              <a:buNone/>
            </a:pPr>
            <a:r>
              <a:rPr sz="500" b="0" i="0">
                <a:solidFill>
                  <a:srgbClr val="8A5A00"/>
                </a:solidFill>
              </a:rPr>
              <a:t>Total weight 18.4 kg, and 1 item is labelled bulky. The earliest delivery day moves from T+2 to T+4.</a:t>
            </a:r>
          </a:p>
        </p:txBody>
      </p:sp>
      <p:sp>
        <p:nvSpPr>
          <p:cNvPr id="104" name="TextBox 103"/>
          <p:cNvSpPr txBox="1"/>
          <p:nvPr/>
        </p:nvSpPr>
        <p:spPr>
          <a:xfrm>
            <a:off x="3458382" y="1888187"/>
            <a:ext cx="1341120" cy="97231"/>
          </a:xfrm>
          <a:prstGeom prst="rect">
            <a:avLst/>
          </a:prstGeom>
          <a:noFill/>
        </p:spPr>
        <p:txBody>
          <a:bodyPr wrap="square" lIns="0" tIns="0" rIns="0" bIns="0" anchor="ctr">
            <a:spAutoFit/>
          </a:bodyPr>
          <a:lstStyle/>
          <a:p>
            <a:pPr marL="0" indent="0" algn="l">
              <a:buNone/>
            </a:pPr>
            <a:r>
              <a:rPr sz="580" b="1" i="0">
                <a:solidFill>
                  <a:srgbClr val="3A3A3A"/>
                </a:solidFill>
              </a:rPr>
              <a:t>Earliest available days</a:t>
            </a:r>
          </a:p>
        </p:txBody>
      </p:sp>
      <p:sp>
        <p:nvSpPr>
          <p:cNvPr id="105" name="Rounded Rectangle 104"/>
          <p:cNvSpPr/>
          <p:nvPr/>
        </p:nvSpPr>
        <p:spPr>
          <a:xfrm>
            <a:off x="3458382" y="2006540"/>
            <a:ext cx="429158" cy="311139"/>
          </a:xfrm>
          <a:prstGeom prst="roundRect">
            <a:avLst>
              <a:gd name="adj" fmla="val 12000"/>
            </a:avLst>
          </a:prstGeom>
          <a:solidFill>
            <a:srgbClr val="F4F5F7"/>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6" name="TextBox 105"/>
          <p:cNvSpPr txBox="1"/>
          <p:nvPr/>
        </p:nvSpPr>
        <p:spPr>
          <a:xfrm>
            <a:off x="3458382" y="2030680"/>
            <a:ext cx="429158" cy="80467"/>
          </a:xfrm>
          <a:prstGeom prst="rect">
            <a:avLst/>
          </a:prstGeom>
          <a:noFill/>
        </p:spPr>
        <p:txBody>
          <a:bodyPr wrap="square" lIns="0" tIns="0" rIns="0" bIns="0" anchor="ctr">
            <a:spAutoFit/>
          </a:bodyPr>
          <a:lstStyle/>
          <a:p>
            <a:pPr marL="0" indent="0" algn="ctr">
              <a:buNone/>
            </a:pPr>
            <a:r>
              <a:rPr sz="480" b="0" i="0">
                <a:solidFill>
                  <a:srgbClr val="AAAAAA"/>
                </a:solidFill>
              </a:rPr>
              <a:t>Fri</a:t>
            </a:r>
          </a:p>
        </p:txBody>
      </p:sp>
      <p:sp>
        <p:nvSpPr>
          <p:cNvPr id="107" name="TextBox 106"/>
          <p:cNvSpPr txBox="1"/>
          <p:nvPr/>
        </p:nvSpPr>
        <p:spPr>
          <a:xfrm>
            <a:off x="3458382" y="2092037"/>
            <a:ext cx="429158" cy="150876"/>
          </a:xfrm>
          <a:prstGeom prst="rect">
            <a:avLst/>
          </a:prstGeom>
          <a:noFill/>
        </p:spPr>
        <p:txBody>
          <a:bodyPr wrap="square" lIns="0" tIns="0" rIns="0" bIns="0" anchor="ctr">
            <a:spAutoFit/>
          </a:bodyPr>
          <a:lstStyle/>
          <a:p>
            <a:pPr marL="0" indent="0" algn="ctr">
              <a:buNone/>
            </a:pPr>
            <a:r>
              <a:rPr sz="900" b="1" i="0">
                <a:solidFill>
                  <a:srgbClr val="AAAAAA"/>
                </a:solidFill>
              </a:rPr>
              <a:t>15</a:t>
            </a:r>
          </a:p>
        </p:txBody>
      </p:sp>
      <p:sp>
        <p:nvSpPr>
          <p:cNvPr id="108" name="TextBox 107"/>
          <p:cNvSpPr txBox="1"/>
          <p:nvPr/>
        </p:nvSpPr>
        <p:spPr>
          <a:xfrm>
            <a:off x="3458382" y="2227154"/>
            <a:ext cx="429158" cy="73761"/>
          </a:xfrm>
          <a:prstGeom prst="rect">
            <a:avLst/>
          </a:prstGeom>
          <a:noFill/>
        </p:spPr>
        <p:txBody>
          <a:bodyPr wrap="square" lIns="0" tIns="0" rIns="0" bIns="0" anchor="ctr">
            <a:spAutoFit/>
          </a:bodyPr>
          <a:lstStyle/>
          <a:p>
            <a:pPr marL="0" indent="0" algn="ctr">
              <a:buNone/>
            </a:pPr>
            <a:r>
              <a:rPr sz="440" b="0" i="0">
                <a:solidFill>
                  <a:srgbClr val="AAAAAA"/>
                </a:solidFill>
              </a:rPr>
              <a:t>—</a:t>
            </a:r>
          </a:p>
        </p:txBody>
      </p:sp>
      <p:sp>
        <p:nvSpPr>
          <p:cNvPr id="109" name="Rounded Rectangle 108"/>
          <p:cNvSpPr/>
          <p:nvPr/>
        </p:nvSpPr>
        <p:spPr>
          <a:xfrm>
            <a:off x="3930456" y="2006540"/>
            <a:ext cx="429158" cy="311139"/>
          </a:xfrm>
          <a:prstGeom prst="roundRect">
            <a:avLst>
              <a:gd name="adj" fmla="val 12000"/>
            </a:avLst>
          </a:prstGeom>
          <a:solidFill>
            <a:srgbClr val="F4F5F7"/>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0" name="TextBox 109"/>
          <p:cNvSpPr txBox="1"/>
          <p:nvPr/>
        </p:nvSpPr>
        <p:spPr>
          <a:xfrm>
            <a:off x="3930456" y="2030680"/>
            <a:ext cx="429158" cy="80467"/>
          </a:xfrm>
          <a:prstGeom prst="rect">
            <a:avLst/>
          </a:prstGeom>
          <a:noFill/>
        </p:spPr>
        <p:txBody>
          <a:bodyPr wrap="square" lIns="0" tIns="0" rIns="0" bIns="0" anchor="ctr">
            <a:spAutoFit/>
          </a:bodyPr>
          <a:lstStyle/>
          <a:p>
            <a:pPr marL="0" indent="0" algn="ctr">
              <a:buNone/>
            </a:pPr>
            <a:r>
              <a:rPr sz="480" b="0" i="0">
                <a:solidFill>
                  <a:srgbClr val="AAAAAA"/>
                </a:solidFill>
              </a:rPr>
              <a:t>Sat</a:t>
            </a:r>
          </a:p>
        </p:txBody>
      </p:sp>
      <p:sp>
        <p:nvSpPr>
          <p:cNvPr id="111" name="TextBox 110"/>
          <p:cNvSpPr txBox="1"/>
          <p:nvPr/>
        </p:nvSpPr>
        <p:spPr>
          <a:xfrm>
            <a:off x="3930456" y="2092037"/>
            <a:ext cx="429158" cy="150876"/>
          </a:xfrm>
          <a:prstGeom prst="rect">
            <a:avLst/>
          </a:prstGeom>
          <a:noFill/>
        </p:spPr>
        <p:txBody>
          <a:bodyPr wrap="square" lIns="0" tIns="0" rIns="0" bIns="0" anchor="ctr">
            <a:spAutoFit/>
          </a:bodyPr>
          <a:lstStyle/>
          <a:p>
            <a:pPr marL="0" indent="0" algn="ctr">
              <a:buNone/>
            </a:pPr>
            <a:r>
              <a:rPr sz="900" b="1" i="0">
                <a:solidFill>
                  <a:srgbClr val="AAAAAA"/>
                </a:solidFill>
              </a:rPr>
              <a:t>16</a:t>
            </a:r>
          </a:p>
        </p:txBody>
      </p:sp>
      <p:sp>
        <p:nvSpPr>
          <p:cNvPr id="112" name="TextBox 111"/>
          <p:cNvSpPr txBox="1"/>
          <p:nvPr/>
        </p:nvSpPr>
        <p:spPr>
          <a:xfrm>
            <a:off x="3930456" y="2227154"/>
            <a:ext cx="429158" cy="73761"/>
          </a:xfrm>
          <a:prstGeom prst="rect">
            <a:avLst/>
          </a:prstGeom>
          <a:noFill/>
        </p:spPr>
        <p:txBody>
          <a:bodyPr wrap="square" lIns="0" tIns="0" rIns="0" bIns="0" anchor="ctr">
            <a:spAutoFit/>
          </a:bodyPr>
          <a:lstStyle/>
          <a:p>
            <a:pPr marL="0" indent="0" algn="ctr">
              <a:buNone/>
            </a:pPr>
            <a:r>
              <a:rPr sz="440" b="0" i="0">
                <a:solidFill>
                  <a:srgbClr val="AAAAAA"/>
                </a:solidFill>
              </a:rPr>
              <a:t>—</a:t>
            </a:r>
          </a:p>
        </p:txBody>
      </p:sp>
      <p:sp>
        <p:nvSpPr>
          <p:cNvPr id="113" name="Rounded Rectangle 112"/>
          <p:cNvSpPr/>
          <p:nvPr/>
        </p:nvSpPr>
        <p:spPr>
          <a:xfrm>
            <a:off x="4402531" y="2006540"/>
            <a:ext cx="429158" cy="311139"/>
          </a:xfrm>
          <a:prstGeom prst="roundRect">
            <a:avLst>
              <a:gd name="adj" fmla="val 12000"/>
            </a:avLst>
          </a:prstGeom>
          <a:solidFill>
            <a:srgbClr val="F4F5F7"/>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4" name="TextBox 113"/>
          <p:cNvSpPr txBox="1"/>
          <p:nvPr/>
        </p:nvSpPr>
        <p:spPr>
          <a:xfrm>
            <a:off x="4402531" y="2030680"/>
            <a:ext cx="429158" cy="80467"/>
          </a:xfrm>
          <a:prstGeom prst="rect">
            <a:avLst/>
          </a:prstGeom>
          <a:noFill/>
        </p:spPr>
        <p:txBody>
          <a:bodyPr wrap="square" lIns="0" tIns="0" rIns="0" bIns="0" anchor="ctr">
            <a:spAutoFit/>
          </a:bodyPr>
          <a:lstStyle/>
          <a:p>
            <a:pPr marL="0" indent="0" algn="ctr">
              <a:buNone/>
            </a:pPr>
            <a:r>
              <a:rPr sz="480" b="0" i="0">
                <a:solidFill>
                  <a:srgbClr val="AAAAAA"/>
                </a:solidFill>
              </a:rPr>
              <a:t>Sun</a:t>
            </a:r>
          </a:p>
        </p:txBody>
      </p:sp>
      <p:sp>
        <p:nvSpPr>
          <p:cNvPr id="115" name="TextBox 114"/>
          <p:cNvSpPr txBox="1"/>
          <p:nvPr/>
        </p:nvSpPr>
        <p:spPr>
          <a:xfrm>
            <a:off x="4402531" y="2092037"/>
            <a:ext cx="429158" cy="150876"/>
          </a:xfrm>
          <a:prstGeom prst="rect">
            <a:avLst/>
          </a:prstGeom>
          <a:noFill/>
        </p:spPr>
        <p:txBody>
          <a:bodyPr wrap="square" lIns="0" tIns="0" rIns="0" bIns="0" anchor="ctr">
            <a:spAutoFit/>
          </a:bodyPr>
          <a:lstStyle/>
          <a:p>
            <a:pPr marL="0" indent="0" algn="ctr">
              <a:buNone/>
            </a:pPr>
            <a:r>
              <a:rPr sz="900" b="1" i="0">
                <a:solidFill>
                  <a:srgbClr val="AAAAAA"/>
                </a:solidFill>
              </a:rPr>
              <a:t>17</a:t>
            </a:r>
          </a:p>
        </p:txBody>
      </p:sp>
      <p:sp>
        <p:nvSpPr>
          <p:cNvPr id="116" name="TextBox 115"/>
          <p:cNvSpPr txBox="1"/>
          <p:nvPr/>
        </p:nvSpPr>
        <p:spPr>
          <a:xfrm>
            <a:off x="4402531" y="2227154"/>
            <a:ext cx="429158" cy="73761"/>
          </a:xfrm>
          <a:prstGeom prst="rect">
            <a:avLst/>
          </a:prstGeom>
          <a:noFill/>
        </p:spPr>
        <p:txBody>
          <a:bodyPr wrap="square" lIns="0" tIns="0" rIns="0" bIns="0" anchor="ctr">
            <a:spAutoFit/>
          </a:bodyPr>
          <a:lstStyle/>
          <a:p>
            <a:pPr marL="0" indent="0" algn="ctr">
              <a:buNone/>
            </a:pPr>
            <a:r>
              <a:rPr sz="440" b="0" i="0">
                <a:solidFill>
                  <a:srgbClr val="AAAAAA"/>
                </a:solidFill>
              </a:rPr>
              <a:t>—</a:t>
            </a:r>
          </a:p>
        </p:txBody>
      </p:sp>
      <p:sp>
        <p:nvSpPr>
          <p:cNvPr id="117" name="Rounded Rectangle 116"/>
          <p:cNvSpPr/>
          <p:nvPr/>
        </p:nvSpPr>
        <p:spPr>
          <a:xfrm>
            <a:off x="4874605" y="2006540"/>
            <a:ext cx="429158" cy="311139"/>
          </a:xfrm>
          <a:prstGeom prst="roundRect">
            <a:avLst>
              <a:gd name="adj" fmla="val 12000"/>
            </a:avLst>
          </a:prstGeom>
          <a:solidFill>
            <a:srgbClr val="FFFFFF"/>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8" name="TextBox 117"/>
          <p:cNvSpPr txBox="1"/>
          <p:nvPr/>
        </p:nvSpPr>
        <p:spPr>
          <a:xfrm>
            <a:off x="4874605" y="2030680"/>
            <a:ext cx="429158" cy="80467"/>
          </a:xfrm>
          <a:prstGeom prst="rect">
            <a:avLst/>
          </a:prstGeom>
          <a:noFill/>
        </p:spPr>
        <p:txBody>
          <a:bodyPr wrap="square" lIns="0" tIns="0" rIns="0" bIns="0" anchor="ctr">
            <a:spAutoFit/>
          </a:bodyPr>
          <a:lstStyle/>
          <a:p>
            <a:pPr marL="0" indent="0" algn="ctr">
              <a:buNone/>
            </a:pPr>
            <a:r>
              <a:rPr sz="480" b="0" i="0">
                <a:solidFill>
                  <a:srgbClr val="C8102E"/>
                </a:solidFill>
              </a:rPr>
              <a:t>Mon</a:t>
            </a:r>
          </a:p>
        </p:txBody>
      </p:sp>
      <p:sp>
        <p:nvSpPr>
          <p:cNvPr id="119" name="TextBox 118"/>
          <p:cNvSpPr txBox="1"/>
          <p:nvPr/>
        </p:nvSpPr>
        <p:spPr>
          <a:xfrm>
            <a:off x="4874605" y="2092037"/>
            <a:ext cx="429158" cy="150876"/>
          </a:xfrm>
          <a:prstGeom prst="rect">
            <a:avLst/>
          </a:prstGeom>
          <a:noFill/>
        </p:spPr>
        <p:txBody>
          <a:bodyPr wrap="square" lIns="0" tIns="0" rIns="0" bIns="0" anchor="ctr">
            <a:spAutoFit/>
          </a:bodyPr>
          <a:lstStyle/>
          <a:p>
            <a:pPr marL="0" indent="0" algn="ctr">
              <a:buNone/>
            </a:pPr>
            <a:r>
              <a:rPr sz="900" b="1" i="0">
                <a:solidFill>
                  <a:srgbClr val="C8102E"/>
                </a:solidFill>
              </a:rPr>
              <a:t>18</a:t>
            </a:r>
          </a:p>
        </p:txBody>
      </p:sp>
      <p:sp>
        <p:nvSpPr>
          <p:cNvPr id="120" name="TextBox 119"/>
          <p:cNvSpPr txBox="1"/>
          <p:nvPr/>
        </p:nvSpPr>
        <p:spPr>
          <a:xfrm>
            <a:off x="4874605" y="2227154"/>
            <a:ext cx="429158" cy="73761"/>
          </a:xfrm>
          <a:prstGeom prst="rect">
            <a:avLst/>
          </a:prstGeom>
          <a:noFill/>
        </p:spPr>
        <p:txBody>
          <a:bodyPr wrap="square" lIns="0" tIns="0" rIns="0" bIns="0" anchor="ctr">
            <a:spAutoFit/>
          </a:bodyPr>
          <a:lstStyle/>
          <a:p>
            <a:pPr marL="0" indent="0" algn="ctr">
              <a:buNone/>
            </a:pPr>
            <a:r>
              <a:rPr sz="440" b="0" i="0">
                <a:solidFill>
                  <a:srgbClr val="C8102E"/>
                </a:solidFill>
              </a:rPr>
              <a:t>T+4</a:t>
            </a:r>
          </a:p>
        </p:txBody>
      </p:sp>
      <p:sp>
        <p:nvSpPr>
          <p:cNvPr id="121" name="TextBox 120"/>
          <p:cNvSpPr txBox="1"/>
          <p:nvPr/>
        </p:nvSpPr>
        <p:spPr>
          <a:xfrm>
            <a:off x="3458382" y="2361937"/>
            <a:ext cx="1341120" cy="93878"/>
          </a:xfrm>
          <a:prstGeom prst="rect">
            <a:avLst/>
          </a:prstGeom>
          <a:noFill/>
        </p:spPr>
        <p:txBody>
          <a:bodyPr wrap="square" lIns="0" tIns="0" rIns="0" bIns="0" anchor="ctr">
            <a:spAutoFit/>
          </a:bodyPr>
          <a:lstStyle/>
          <a:p>
            <a:pPr marL="0" indent="0" algn="l">
              <a:buNone/>
            </a:pPr>
            <a:r>
              <a:rPr sz="560" b="1" i="0">
                <a:solidFill>
                  <a:srgbClr val="3A3A3A"/>
                </a:solidFill>
              </a:rPr>
              <a:t>Items driving the bulky rule</a:t>
            </a:r>
          </a:p>
        </p:txBody>
      </p:sp>
      <p:sp>
        <p:nvSpPr>
          <p:cNvPr id="122" name="Rounded Rectangle 121"/>
          <p:cNvSpPr/>
          <p:nvPr/>
        </p:nvSpPr>
        <p:spPr>
          <a:xfrm>
            <a:off x="3447653" y="2607362"/>
            <a:ext cx="64373" cy="64373"/>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3" name="TextBox 122"/>
          <p:cNvSpPr txBox="1"/>
          <p:nvPr/>
        </p:nvSpPr>
        <p:spPr>
          <a:xfrm>
            <a:off x="3447653" y="2597639"/>
            <a:ext cx="64373" cy="83820"/>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124" name="Rounded Rectangle 123"/>
          <p:cNvSpPr/>
          <p:nvPr/>
        </p:nvSpPr>
        <p:spPr>
          <a:xfrm>
            <a:off x="3544214" y="2526895"/>
            <a:ext cx="203850" cy="203850"/>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5" name="TextBox 124"/>
          <p:cNvSpPr txBox="1"/>
          <p:nvPr/>
        </p:nvSpPr>
        <p:spPr>
          <a:xfrm>
            <a:off x="3544214" y="2526895"/>
            <a:ext cx="203850" cy="203850"/>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126" name="TextBox 125"/>
          <p:cNvSpPr txBox="1"/>
          <p:nvPr/>
        </p:nvSpPr>
        <p:spPr>
          <a:xfrm>
            <a:off x="3790980" y="2494708"/>
            <a:ext cx="1110447" cy="91196"/>
          </a:xfrm>
          <a:prstGeom prst="rect">
            <a:avLst/>
          </a:prstGeom>
          <a:noFill/>
        </p:spPr>
        <p:txBody>
          <a:bodyPr wrap="square" lIns="0" tIns="0" rIns="0" bIns="0" anchor="ctr">
            <a:spAutoFit/>
          </a:bodyPr>
          <a:lstStyle/>
          <a:p>
            <a:pPr marL="0" indent="0" algn="l">
              <a:buNone/>
            </a:pPr>
            <a:r>
              <a:rPr sz="520" b="1" i="0">
                <a:solidFill>
                  <a:srgbClr val="222222"/>
                </a:solidFill>
              </a:rPr>
              <a:t>Rice 25kg sack</a:t>
            </a:r>
          </a:p>
        </p:txBody>
      </p:sp>
      <p:sp>
        <p:nvSpPr>
          <p:cNvPr id="127" name="TextBox 126"/>
          <p:cNvSpPr txBox="1"/>
          <p:nvPr/>
        </p:nvSpPr>
        <p:spPr>
          <a:xfrm>
            <a:off x="3790980" y="2589928"/>
            <a:ext cx="804671" cy="93878"/>
          </a:xfrm>
          <a:prstGeom prst="rect">
            <a:avLst/>
          </a:prstGeom>
          <a:noFill/>
        </p:spPr>
        <p:txBody>
          <a:bodyPr wrap="square" lIns="0" tIns="0" rIns="0" bIns="0" anchor="ctr">
            <a:spAutoFit/>
          </a:bodyPr>
          <a:lstStyle/>
          <a:p>
            <a:pPr marL="0" indent="0" algn="l">
              <a:buNone/>
            </a:pPr>
            <a:r>
              <a:rPr sz="560" b="1" i="0">
                <a:solidFill>
                  <a:srgbClr val="C8102E"/>
                </a:solidFill>
              </a:rPr>
              <a:t>398,000 ₫</a:t>
            </a:r>
          </a:p>
        </p:txBody>
      </p:sp>
      <p:sp>
        <p:nvSpPr>
          <p:cNvPr id="128" name="Rounded Rectangle 127"/>
          <p:cNvSpPr/>
          <p:nvPr/>
        </p:nvSpPr>
        <p:spPr>
          <a:xfrm>
            <a:off x="3790980" y="2698558"/>
            <a:ext cx="278952" cy="69738"/>
          </a:xfrm>
          <a:prstGeom prst="roundRect">
            <a:avLst>
              <a:gd name="adj" fmla="val 50000"/>
            </a:avLst>
          </a:prstGeom>
          <a:solidFill>
            <a:srgbClr val="EEF1F9"/>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9" name="TextBox 128"/>
          <p:cNvSpPr txBox="1"/>
          <p:nvPr/>
        </p:nvSpPr>
        <p:spPr>
          <a:xfrm>
            <a:off x="3790980" y="2698223"/>
            <a:ext cx="278952" cy="70408"/>
          </a:xfrm>
          <a:prstGeom prst="rect">
            <a:avLst/>
          </a:prstGeom>
          <a:noFill/>
        </p:spPr>
        <p:txBody>
          <a:bodyPr wrap="square" lIns="0" tIns="0" rIns="0" bIns="0" anchor="ctr">
            <a:spAutoFit/>
          </a:bodyPr>
          <a:lstStyle/>
          <a:p>
            <a:pPr marL="0" indent="0" algn="ctr">
              <a:buNone/>
            </a:pPr>
            <a:r>
              <a:rPr sz="420" b="1" i="0">
                <a:solidFill>
                  <a:srgbClr val="3D5298"/>
                </a:solidFill>
              </a:rPr>
              <a:t>Bulky</a:t>
            </a:r>
          </a:p>
        </p:txBody>
      </p:sp>
      <p:sp>
        <p:nvSpPr>
          <p:cNvPr id="130" name="Rounded Rectangle 129"/>
          <p:cNvSpPr/>
          <p:nvPr/>
        </p:nvSpPr>
        <p:spPr>
          <a:xfrm>
            <a:off x="4997988" y="2569811"/>
            <a:ext cx="321868" cy="118018"/>
          </a:xfrm>
          <a:prstGeom prst="roundRect">
            <a:avLst>
              <a:gd name="adj" fmla="val 2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1" name="TextBox 130"/>
          <p:cNvSpPr txBox="1"/>
          <p:nvPr/>
        </p:nvSpPr>
        <p:spPr>
          <a:xfrm>
            <a:off x="4997988" y="2569811"/>
            <a:ext cx="107289" cy="118018"/>
          </a:xfrm>
          <a:prstGeom prst="rect">
            <a:avLst/>
          </a:prstGeom>
          <a:noFill/>
        </p:spPr>
        <p:txBody>
          <a:bodyPr wrap="square" lIns="0" tIns="0" rIns="0" bIns="0" anchor="ctr">
            <a:spAutoFit/>
          </a:bodyPr>
          <a:lstStyle/>
          <a:p>
            <a:pPr marL="0" indent="0" algn="ctr">
              <a:buNone/>
            </a:pPr>
            <a:r>
              <a:rPr sz="560" b="0" i="0">
                <a:solidFill>
                  <a:srgbClr val="555555"/>
                </a:solidFill>
              </a:rPr>
              <a:t>−</a:t>
            </a:r>
          </a:p>
        </p:txBody>
      </p:sp>
      <p:sp>
        <p:nvSpPr>
          <p:cNvPr id="132" name="TextBox 131"/>
          <p:cNvSpPr txBox="1"/>
          <p:nvPr/>
        </p:nvSpPr>
        <p:spPr>
          <a:xfrm>
            <a:off x="5099913" y="2569811"/>
            <a:ext cx="118018" cy="118018"/>
          </a:xfrm>
          <a:prstGeom prst="rect">
            <a:avLst/>
          </a:prstGeom>
          <a:noFill/>
        </p:spPr>
        <p:txBody>
          <a:bodyPr wrap="square" lIns="0" tIns="0" rIns="0" bIns="0" anchor="ctr">
            <a:spAutoFit/>
          </a:bodyPr>
          <a:lstStyle/>
          <a:p>
            <a:pPr marL="0" indent="0" algn="ctr">
              <a:buNone/>
            </a:pPr>
            <a:r>
              <a:rPr sz="560" b="1" i="0">
                <a:solidFill>
                  <a:srgbClr val="222222"/>
                </a:solidFill>
              </a:rPr>
              <a:t>1</a:t>
            </a:r>
          </a:p>
        </p:txBody>
      </p:sp>
      <p:sp>
        <p:nvSpPr>
          <p:cNvPr id="133" name="TextBox 132"/>
          <p:cNvSpPr txBox="1"/>
          <p:nvPr/>
        </p:nvSpPr>
        <p:spPr>
          <a:xfrm>
            <a:off x="5212567" y="2569811"/>
            <a:ext cx="107289" cy="118018"/>
          </a:xfrm>
          <a:prstGeom prst="rect">
            <a:avLst/>
          </a:prstGeom>
          <a:noFill/>
        </p:spPr>
        <p:txBody>
          <a:bodyPr wrap="square" lIns="0" tIns="0" rIns="0" bIns="0" anchor="ctr">
            <a:spAutoFit/>
          </a:bodyPr>
          <a:lstStyle/>
          <a:p>
            <a:pPr marL="0" indent="0" algn="ctr">
              <a:buNone/>
            </a:pPr>
            <a:r>
              <a:rPr sz="560" b="0" i="0">
                <a:solidFill>
                  <a:srgbClr val="C8102E"/>
                </a:solidFill>
              </a:rPr>
              <a:t>+</a:t>
            </a:r>
          </a:p>
        </p:txBody>
      </p:sp>
      <p:sp>
        <p:nvSpPr>
          <p:cNvPr id="134" name="Rectangle 133"/>
          <p:cNvSpPr/>
          <p:nvPr/>
        </p:nvSpPr>
        <p:spPr>
          <a:xfrm>
            <a:off x="3447653" y="2800483"/>
            <a:ext cx="1882932"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5" name="Rounded Rectangle 134"/>
          <p:cNvSpPr/>
          <p:nvPr/>
        </p:nvSpPr>
        <p:spPr>
          <a:xfrm>
            <a:off x="3447653" y="2939960"/>
            <a:ext cx="64373" cy="64373"/>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6" name="TextBox 135"/>
          <p:cNvSpPr txBox="1"/>
          <p:nvPr/>
        </p:nvSpPr>
        <p:spPr>
          <a:xfrm>
            <a:off x="3447653" y="2930237"/>
            <a:ext cx="64373" cy="83820"/>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137" name="Rounded Rectangle 136"/>
          <p:cNvSpPr/>
          <p:nvPr/>
        </p:nvSpPr>
        <p:spPr>
          <a:xfrm>
            <a:off x="3544214" y="2859493"/>
            <a:ext cx="203850" cy="203850"/>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8" name="TextBox 137"/>
          <p:cNvSpPr txBox="1"/>
          <p:nvPr/>
        </p:nvSpPr>
        <p:spPr>
          <a:xfrm>
            <a:off x="3544214" y="2859493"/>
            <a:ext cx="203850" cy="203850"/>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139" name="TextBox 138"/>
          <p:cNvSpPr txBox="1"/>
          <p:nvPr/>
        </p:nvSpPr>
        <p:spPr>
          <a:xfrm>
            <a:off x="3790980" y="2827306"/>
            <a:ext cx="1110447" cy="91196"/>
          </a:xfrm>
          <a:prstGeom prst="rect">
            <a:avLst/>
          </a:prstGeom>
          <a:noFill/>
        </p:spPr>
        <p:txBody>
          <a:bodyPr wrap="square" lIns="0" tIns="0" rIns="0" bIns="0" anchor="ctr">
            <a:spAutoFit/>
          </a:bodyPr>
          <a:lstStyle/>
          <a:p>
            <a:pPr marL="0" indent="0" algn="l">
              <a:buNone/>
            </a:pPr>
            <a:r>
              <a:rPr sz="520" b="1" i="0">
                <a:solidFill>
                  <a:srgbClr val="222222"/>
                </a:solidFill>
              </a:rPr>
              <a:t>Bottled water 1.5L · pack of 12</a:t>
            </a:r>
          </a:p>
        </p:txBody>
      </p:sp>
      <p:sp>
        <p:nvSpPr>
          <p:cNvPr id="140" name="TextBox 139"/>
          <p:cNvSpPr txBox="1"/>
          <p:nvPr/>
        </p:nvSpPr>
        <p:spPr>
          <a:xfrm>
            <a:off x="3790980" y="2922525"/>
            <a:ext cx="804671" cy="93878"/>
          </a:xfrm>
          <a:prstGeom prst="rect">
            <a:avLst/>
          </a:prstGeom>
          <a:noFill/>
        </p:spPr>
        <p:txBody>
          <a:bodyPr wrap="square" lIns="0" tIns="0" rIns="0" bIns="0" anchor="ctr">
            <a:spAutoFit/>
          </a:bodyPr>
          <a:lstStyle/>
          <a:p>
            <a:pPr marL="0" indent="0" algn="l">
              <a:buNone/>
            </a:pPr>
            <a:r>
              <a:rPr sz="560" b="1" i="0">
                <a:solidFill>
                  <a:srgbClr val="C8102E"/>
                </a:solidFill>
              </a:rPr>
              <a:t>96,000 ₫</a:t>
            </a:r>
          </a:p>
        </p:txBody>
      </p:sp>
      <p:sp>
        <p:nvSpPr>
          <p:cNvPr id="141" name="TextBox 140"/>
          <p:cNvSpPr txBox="1"/>
          <p:nvPr/>
        </p:nvSpPr>
        <p:spPr>
          <a:xfrm>
            <a:off x="3790980" y="3029145"/>
            <a:ext cx="804671" cy="73761"/>
          </a:xfrm>
          <a:prstGeom prst="rect">
            <a:avLst/>
          </a:prstGeom>
          <a:noFill/>
        </p:spPr>
        <p:txBody>
          <a:bodyPr wrap="square" lIns="0" tIns="0" rIns="0" bIns="0" anchor="ctr">
            <a:spAutoFit/>
          </a:bodyPr>
          <a:lstStyle/>
          <a:p>
            <a:pPr marL="0" indent="0" algn="l">
              <a:buNone/>
            </a:pPr>
            <a:r>
              <a:rPr sz="440" b="0" i="0">
                <a:solidFill>
                  <a:srgbClr val="888888"/>
                </a:solidFill>
              </a:rPr>
              <a:t>Contributes 18 kg to the order</a:t>
            </a:r>
          </a:p>
        </p:txBody>
      </p:sp>
      <p:sp>
        <p:nvSpPr>
          <p:cNvPr id="142" name="Rounded Rectangle 141"/>
          <p:cNvSpPr/>
          <p:nvPr/>
        </p:nvSpPr>
        <p:spPr>
          <a:xfrm>
            <a:off x="4997988" y="2902408"/>
            <a:ext cx="321868" cy="118018"/>
          </a:xfrm>
          <a:prstGeom prst="roundRect">
            <a:avLst>
              <a:gd name="adj" fmla="val 2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3" name="TextBox 142"/>
          <p:cNvSpPr txBox="1"/>
          <p:nvPr/>
        </p:nvSpPr>
        <p:spPr>
          <a:xfrm>
            <a:off x="4997988" y="2902408"/>
            <a:ext cx="107289" cy="118018"/>
          </a:xfrm>
          <a:prstGeom prst="rect">
            <a:avLst/>
          </a:prstGeom>
          <a:noFill/>
        </p:spPr>
        <p:txBody>
          <a:bodyPr wrap="square" lIns="0" tIns="0" rIns="0" bIns="0" anchor="ctr">
            <a:spAutoFit/>
          </a:bodyPr>
          <a:lstStyle/>
          <a:p>
            <a:pPr marL="0" indent="0" algn="ctr">
              <a:buNone/>
            </a:pPr>
            <a:r>
              <a:rPr sz="560" b="0" i="0">
                <a:solidFill>
                  <a:srgbClr val="555555"/>
                </a:solidFill>
              </a:rPr>
              <a:t>−</a:t>
            </a:r>
          </a:p>
        </p:txBody>
      </p:sp>
      <p:sp>
        <p:nvSpPr>
          <p:cNvPr id="144" name="TextBox 143"/>
          <p:cNvSpPr txBox="1"/>
          <p:nvPr/>
        </p:nvSpPr>
        <p:spPr>
          <a:xfrm>
            <a:off x="5099913" y="2902408"/>
            <a:ext cx="118018" cy="118018"/>
          </a:xfrm>
          <a:prstGeom prst="rect">
            <a:avLst/>
          </a:prstGeom>
          <a:noFill/>
        </p:spPr>
        <p:txBody>
          <a:bodyPr wrap="square" lIns="0" tIns="0" rIns="0" bIns="0" anchor="ctr">
            <a:spAutoFit/>
          </a:bodyPr>
          <a:lstStyle/>
          <a:p>
            <a:pPr marL="0" indent="0" algn="ctr">
              <a:buNone/>
            </a:pPr>
            <a:r>
              <a:rPr sz="560" b="1" i="0">
                <a:solidFill>
                  <a:srgbClr val="222222"/>
                </a:solidFill>
              </a:rPr>
              <a:t>1</a:t>
            </a:r>
          </a:p>
        </p:txBody>
      </p:sp>
      <p:sp>
        <p:nvSpPr>
          <p:cNvPr id="145" name="TextBox 144"/>
          <p:cNvSpPr txBox="1"/>
          <p:nvPr/>
        </p:nvSpPr>
        <p:spPr>
          <a:xfrm>
            <a:off x="5212567" y="2902408"/>
            <a:ext cx="107289" cy="118018"/>
          </a:xfrm>
          <a:prstGeom prst="rect">
            <a:avLst/>
          </a:prstGeom>
          <a:noFill/>
        </p:spPr>
        <p:txBody>
          <a:bodyPr wrap="square" lIns="0" tIns="0" rIns="0" bIns="0" anchor="ctr">
            <a:spAutoFit/>
          </a:bodyPr>
          <a:lstStyle/>
          <a:p>
            <a:pPr marL="0" indent="0" algn="ctr">
              <a:buNone/>
            </a:pPr>
            <a:r>
              <a:rPr sz="560" b="0" i="0">
                <a:solidFill>
                  <a:srgbClr val="C8102E"/>
                </a:solidFill>
              </a:rPr>
              <a:t>+</a:t>
            </a:r>
          </a:p>
        </p:txBody>
      </p:sp>
      <p:sp>
        <p:nvSpPr>
          <p:cNvPr id="146" name="Rectangle 145"/>
          <p:cNvSpPr/>
          <p:nvPr/>
        </p:nvSpPr>
        <p:spPr>
          <a:xfrm>
            <a:off x="3447653" y="3133081"/>
            <a:ext cx="1882932"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7" name="Rounded Rectangle 146"/>
          <p:cNvSpPr/>
          <p:nvPr/>
        </p:nvSpPr>
        <p:spPr>
          <a:xfrm>
            <a:off x="3458382" y="3175997"/>
            <a:ext cx="1861474" cy="450616"/>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8" name="TextBox 147"/>
          <p:cNvSpPr txBox="1"/>
          <p:nvPr/>
        </p:nvSpPr>
        <p:spPr>
          <a:xfrm>
            <a:off x="3533485" y="3209525"/>
            <a:ext cx="1072896" cy="93878"/>
          </a:xfrm>
          <a:prstGeom prst="rect">
            <a:avLst/>
          </a:prstGeom>
          <a:noFill/>
        </p:spPr>
        <p:txBody>
          <a:bodyPr wrap="square" lIns="0" tIns="0" rIns="0" bIns="0" anchor="ctr">
            <a:spAutoFit/>
          </a:bodyPr>
          <a:lstStyle/>
          <a:p>
            <a:pPr marL="0" indent="0" algn="l">
              <a:buNone/>
            </a:pPr>
            <a:r>
              <a:rPr sz="560" b="1" i="0">
                <a:solidFill>
                  <a:srgbClr val="3A3A3A"/>
                </a:solidFill>
              </a:rPr>
              <a:t>Fee breakdown</a:t>
            </a:r>
          </a:p>
        </p:txBody>
      </p:sp>
      <p:sp>
        <p:nvSpPr>
          <p:cNvPr id="149" name="TextBox 148"/>
          <p:cNvSpPr txBox="1"/>
          <p:nvPr/>
        </p:nvSpPr>
        <p:spPr>
          <a:xfrm>
            <a:off x="3458382" y="3315473"/>
            <a:ext cx="1072896" cy="91196"/>
          </a:xfrm>
          <a:prstGeom prst="rect">
            <a:avLst/>
          </a:prstGeom>
          <a:noFill/>
        </p:spPr>
        <p:txBody>
          <a:bodyPr wrap="square" lIns="0" tIns="0" rIns="0" bIns="0" anchor="ctr">
            <a:spAutoFit/>
          </a:bodyPr>
          <a:lstStyle/>
          <a:p>
            <a:pPr marL="0" indent="0" algn="l">
              <a:buNone/>
            </a:pPr>
            <a:r>
              <a:rPr sz="520" b="0" i="0">
                <a:solidFill>
                  <a:srgbClr val="555555"/>
                </a:solidFill>
              </a:rPr>
              <a:t>Standard delivery</a:t>
            </a:r>
          </a:p>
        </p:txBody>
      </p:sp>
      <p:sp>
        <p:nvSpPr>
          <p:cNvPr id="150" name="TextBox 149"/>
          <p:cNvSpPr txBox="1"/>
          <p:nvPr/>
        </p:nvSpPr>
        <p:spPr>
          <a:xfrm>
            <a:off x="4568830" y="3315473"/>
            <a:ext cx="751027" cy="91196"/>
          </a:xfrm>
          <a:prstGeom prst="rect">
            <a:avLst/>
          </a:prstGeom>
          <a:noFill/>
        </p:spPr>
        <p:txBody>
          <a:bodyPr wrap="square" lIns="0" tIns="0" rIns="0" bIns="0" anchor="ctr">
            <a:spAutoFit/>
          </a:bodyPr>
          <a:lstStyle/>
          <a:p>
            <a:pPr marL="0" indent="0" algn="r">
              <a:buNone/>
            </a:pPr>
            <a:r>
              <a:rPr sz="520" b="0" i="0">
                <a:solidFill>
                  <a:srgbClr val="555555"/>
                </a:solidFill>
              </a:rPr>
              <a:t>Free</a:t>
            </a:r>
          </a:p>
        </p:txBody>
      </p:sp>
      <p:sp>
        <p:nvSpPr>
          <p:cNvPr id="151" name="TextBox 150"/>
          <p:cNvSpPr txBox="1"/>
          <p:nvPr/>
        </p:nvSpPr>
        <p:spPr>
          <a:xfrm>
            <a:off x="3458382" y="3406670"/>
            <a:ext cx="1072896" cy="91196"/>
          </a:xfrm>
          <a:prstGeom prst="rect">
            <a:avLst/>
          </a:prstGeom>
          <a:noFill/>
        </p:spPr>
        <p:txBody>
          <a:bodyPr wrap="square" lIns="0" tIns="0" rIns="0" bIns="0" anchor="ctr">
            <a:spAutoFit/>
          </a:bodyPr>
          <a:lstStyle/>
          <a:p>
            <a:pPr marL="0" indent="0" algn="l">
              <a:buNone/>
            </a:pPr>
            <a:r>
              <a:rPr sz="520" b="0" i="0">
                <a:solidFill>
                  <a:srgbClr val="555555"/>
                </a:solidFill>
              </a:rPr>
              <a:t>Bulky surcharge</a:t>
            </a:r>
          </a:p>
        </p:txBody>
      </p:sp>
      <p:sp>
        <p:nvSpPr>
          <p:cNvPr id="152" name="TextBox 151"/>
          <p:cNvSpPr txBox="1"/>
          <p:nvPr/>
        </p:nvSpPr>
        <p:spPr>
          <a:xfrm>
            <a:off x="4568830" y="3406670"/>
            <a:ext cx="751027" cy="91196"/>
          </a:xfrm>
          <a:prstGeom prst="rect">
            <a:avLst/>
          </a:prstGeom>
          <a:noFill/>
        </p:spPr>
        <p:txBody>
          <a:bodyPr wrap="square" lIns="0" tIns="0" rIns="0" bIns="0" anchor="ctr">
            <a:spAutoFit/>
          </a:bodyPr>
          <a:lstStyle/>
          <a:p>
            <a:pPr marL="0" indent="0" algn="r">
              <a:buNone/>
            </a:pPr>
            <a:r>
              <a:rPr sz="520" b="0" i="0">
                <a:solidFill>
                  <a:srgbClr val="555555"/>
                </a:solidFill>
              </a:rPr>
              <a:t>60,000 ₫</a:t>
            </a:r>
          </a:p>
        </p:txBody>
      </p:sp>
      <p:sp>
        <p:nvSpPr>
          <p:cNvPr id="153" name="TextBox 152"/>
          <p:cNvSpPr txBox="1"/>
          <p:nvPr/>
        </p:nvSpPr>
        <p:spPr>
          <a:xfrm>
            <a:off x="3458382" y="3494849"/>
            <a:ext cx="1072896" cy="97231"/>
          </a:xfrm>
          <a:prstGeom prst="rect">
            <a:avLst/>
          </a:prstGeom>
          <a:noFill/>
        </p:spPr>
        <p:txBody>
          <a:bodyPr wrap="square" lIns="0" tIns="0" rIns="0" bIns="0" anchor="ctr">
            <a:spAutoFit/>
          </a:bodyPr>
          <a:lstStyle/>
          <a:p>
            <a:pPr marL="0" indent="0" algn="l">
              <a:buNone/>
            </a:pPr>
            <a:r>
              <a:rPr sz="580" b="1" i="0">
                <a:solidFill>
                  <a:srgbClr val="222222"/>
                </a:solidFill>
              </a:rPr>
              <a:t>Total delivery</a:t>
            </a:r>
          </a:p>
        </p:txBody>
      </p:sp>
      <p:sp>
        <p:nvSpPr>
          <p:cNvPr id="154" name="TextBox 153"/>
          <p:cNvSpPr txBox="1"/>
          <p:nvPr/>
        </p:nvSpPr>
        <p:spPr>
          <a:xfrm>
            <a:off x="4568830" y="3494849"/>
            <a:ext cx="751027" cy="97231"/>
          </a:xfrm>
          <a:prstGeom prst="rect">
            <a:avLst/>
          </a:prstGeom>
          <a:noFill/>
        </p:spPr>
        <p:txBody>
          <a:bodyPr wrap="square" lIns="0" tIns="0" rIns="0" bIns="0" anchor="ctr">
            <a:spAutoFit/>
          </a:bodyPr>
          <a:lstStyle/>
          <a:p>
            <a:pPr marL="0" indent="0" algn="r">
              <a:buNone/>
            </a:pPr>
            <a:r>
              <a:rPr sz="580" b="1" i="0">
                <a:solidFill>
                  <a:srgbClr val="222222"/>
                </a:solidFill>
              </a:rPr>
              <a:t>60,000 ₫</a:t>
            </a:r>
          </a:p>
        </p:txBody>
      </p:sp>
      <p:sp>
        <p:nvSpPr>
          <p:cNvPr id="155" name="Rectangle 154"/>
          <p:cNvSpPr/>
          <p:nvPr/>
        </p:nvSpPr>
        <p:spPr>
          <a:xfrm>
            <a:off x="3383280" y="4538575"/>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6" name="Rectangle 155"/>
          <p:cNvSpPr/>
          <p:nvPr/>
        </p:nvSpPr>
        <p:spPr>
          <a:xfrm>
            <a:off x="3383280" y="4538575"/>
            <a:ext cx="2011679" cy="3111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7" name="TextBox 156"/>
          <p:cNvSpPr txBox="1"/>
          <p:nvPr/>
        </p:nvSpPr>
        <p:spPr>
          <a:xfrm>
            <a:off x="3458382" y="4570092"/>
            <a:ext cx="858316" cy="87172"/>
          </a:xfrm>
          <a:prstGeom prst="rect">
            <a:avLst/>
          </a:prstGeom>
          <a:noFill/>
        </p:spPr>
        <p:txBody>
          <a:bodyPr wrap="square" lIns="0" tIns="0" rIns="0" bIns="0" anchor="ctr">
            <a:spAutoFit/>
          </a:bodyPr>
          <a:lstStyle/>
          <a:p>
            <a:pPr marL="0" indent="0" algn="l">
              <a:buNone/>
            </a:pPr>
            <a:r>
              <a:rPr sz="520" b="0" i="0">
                <a:solidFill>
                  <a:srgbClr val="888888"/>
                </a:solidFill>
              </a:rPr>
              <a:t>Provisional total  ·  8 items</a:t>
            </a:r>
          </a:p>
        </p:txBody>
      </p:sp>
      <p:sp>
        <p:nvSpPr>
          <p:cNvPr id="158" name="TextBox 157"/>
          <p:cNvSpPr txBox="1"/>
          <p:nvPr/>
        </p:nvSpPr>
        <p:spPr>
          <a:xfrm>
            <a:off x="3458382" y="4621724"/>
            <a:ext cx="858316" cy="134112"/>
          </a:xfrm>
          <a:prstGeom prst="rect">
            <a:avLst/>
          </a:prstGeom>
          <a:noFill/>
        </p:spPr>
        <p:txBody>
          <a:bodyPr wrap="square" lIns="0" tIns="0" rIns="0" bIns="0" anchor="ctr">
            <a:spAutoFit/>
          </a:bodyPr>
          <a:lstStyle/>
          <a:p>
            <a:pPr marL="0" indent="0" algn="l">
              <a:buNone/>
            </a:pPr>
            <a:r>
              <a:rPr sz="800" b="1" i="0">
                <a:solidFill>
                  <a:srgbClr val="C8102E"/>
                </a:solidFill>
              </a:rPr>
              <a:t>554,000 ₫</a:t>
            </a:r>
          </a:p>
        </p:txBody>
      </p:sp>
      <p:sp>
        <p:nvSpPr>
          <p:cNvPr id="159" name="Rounded Rectangle 158"/>
          <p:cNvSpPr/>
          <p:nvPr/>
        </p:nvSpPr>
        <p:spPr>
          <a:xfrm>
            <a:off x="4590288" y="4602949"/>
            <a:ext cx="729569" cy="160934"/>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0" name="TextBox 159"/>
          <p:cNvSpPr txBox="1"/>
          <p:nvPr/>
        </p:nvSpPr>
        <p:spPr>
          <a:xfrm>
            <a:off x="4590288" y="4602949"/>
            <a:ext cx="729569" cy="160934"/>
          </a:xfrm>
          <a:prstGeom prst="rect">
            <a:avLst/>
          </a:prstGeom>
          <a:noFill/>
        </p:spPr>
        <p:txBody>
          <a:bodyPr wrap="square" lIns="0" tIns="0" rIns="0" bIns="0" anchor="ctr">
            <a:spAutoFit/>
          </a:bodyPr>
          <a:lstStyle/>
          <a:p>
            <a:pPr marL="0" indent="0" algn="ctr">
              <a:buNone/>
            </a:pPr>
            <a:r>
              <a:rPr sz="650" b="1" i="0">
                <a:solidFill>
                  <a:srgbClr val="FFFFFF"/>
                </a:solidFill>
              </a:rPr>
              <a:t>Proceed to Checkout</a:t>
            </a:r>
          </a:p>
        </p:txBody>
      </p:sp>
      <p:sp>
        <p:nvSpPr>
          <p:cNvPr id="161" name="Oval 160"/>
          <p:cNvSpPr/>
          <p:nvPr/>
        </p:nvSpPr>
        <p:spPr>
          <a:xfrm>
            <a:off x="3168701" y="1416448"/>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2" name="TextBox 161"/>
          <p:cNvSpPr txBox="1"/>
          <p:nvPr/>
        </p:nvSpPr>
        <p:spPr>
          <a:xfrm>
            <a:off x="3168701" y="1416448"/>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163" name="Oval 162"/>
          <p:cNvSpPr/>
          <p:nvPr/>
        </p:nvSpPr>
        <p:spPr>
          <a:xfrm>
            <a:off x="3168701" y="1824148"/>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4" name="TextBox 163"/>
          <p:cNvSpPr txBox="1"/>
          <p:nvPr/>
        </p:nvSpPr>
        <p:spPr>
          <a:xfrm>
            <a:off x="3168701" y="1824148"/>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sp>
        <p:nvSpPr>
          <p:cNvPr id="165" name="Oval 164"/>
          <p:cNvSpPr/>
          <p:nvPr/>
        </p:nvSpPr>
        <p:spPr>
          <a:xfrm>
            <a:off x="3168701" y="2489343"/>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6" name="TextBox 165"/>
          <p:cNvSpPr txBox="1"/>
          <p:nvPr/>
        </p:nvSpPr>
        <p:spPr>
          <a:xfrm>
            <a:off x="3168701" y="2489343"/>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sp>
        <p:nvSpPr>
          <p:cNvPr id="167" name="Oval 166"/>
          <p:cNvSpPr/>
          <p:nvPr/>
        </p:nvSpPr>
        <p:spPr>
          <a:xfrm>
            <a:off x="3168701" y="3401305"/>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8" name="TextBox 167"/>
          <p:cNvSpPr txBox="1"/>
          <p:nvPr/>
        </p:nvSpPr>
        <p:spPr>
          <a:xfrm>
            <a:off x="3168701" y="3401305"/>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8</a:t>
            </a:r>
          </a:p>
        </p:txBody>
      </p:sp>
      <p:graphicFrame>
        <p:nvGraphicFramePr>
          <p:cNvPr id="169" name="Table 168"/>
          <p:cNvGraphicFramePr>
            <a:graphicFrameLocks noGrp="1"/>
          </p:cNvGraphicFramePr>
          <p:nvPr/>
        </p:nvGraphicFramePr>
        <p:xfrm>
          <a:off x="7196328" y="886968"/>
          <a:ext cx="4718304" cy="378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65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5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5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65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Next-day address block</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The address resolved into a configured Next-day area, beyond the Standard radius (BRL-12).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65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Date, not slot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Long-distance delivery is not slot-based, so the customer picks a delivery date. No time window is promised.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65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Date selector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Unavailable days are shown but disabled, so the customer understands the constraint rather than wondering why a day is missing.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65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Next-day fee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Set by commercial configuration. The Standard freeship threshold does not apply to this service.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65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Bulky determination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Evaluated on the combination of selected products, not on any single product: total weight over 15 kg, or at least one item labelled bulky (BRL-22). The screen states which condition fired.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65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T+4 window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Days before T+4 are disabled for a bulky order, against T+2 for a standard order (BRL-23). The same rule applies to Pickup (BRL-23, CT-09).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420000">
                <a:tc>
                  <a:txBody>
                    <a:bodyPr/>
                    <a:lstStyle/>
                    <a:p>
                      <a:pPr marL="0" indent="0" algn="ctr">
                        <a:buNone/>
                      </a:pPr>
                      <a:r>
                        <a:rPr sz="65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Contributing items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Naming the items that triggered the rule lets the customer act on it — removing one can return the order to T+2, because the rule is re-evaluated whenever the selection changes.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420000">
                <a:tc>
                  <a:txBody>
                    <a:bodyPr/>
                    <a:lstStyle/>
                    <a:p>
                      <a:pPr marL="0" indent="0" algn="ctr">
                        <a:buNone/>
                      </a:pPr>
                      <a:r>
                        <a:rPr sz="650" b="0" i="0">
                          <a:solidFill>
                            <a:srgbClr val="222222"/>
                          </a:solidFill>
                        </a:rPr>
                        <a:t>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Bulky surcharge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Added on top of the service fee and never waived by the freeship threshold (BRL-23).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bl>
          </a:graphicData>
        </a:graphic>
      </p:graphicFrame>
      <p:sp>
        <p:nvSpPr>
          <p:cNvPr id="170" name="TextBox 169"/>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Open — OQ-09: whether Next-day coverage is complete across Vietnam or has gaps. Until it is confirmed, an address in an unconfigured area falls to the not-served state (SCR-HOM-05, state D) rather than silently offering Next-day.</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Cart (CT)</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CT-02 · CT-09 · CT-10</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SCR-CRT-04</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Cart — Pickup &amp; Locker</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56</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State A  ·  Self pick-up at the store</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59436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5873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29" name="TextBox 28"/>
          <p:cNvSpPr txBox="1"/>
          <p:nvPr/>
        </p:nvSpPr>
        <p:spPr>
          <a:xfrm>
            <a:off x="77675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Cart  (8)</a:t>
            </a:r>
          </a:p>
        </p:txBody>
      </p:sp>
      <p:sp>
        <p:nvSpPr>
          <p:cNvPr id="30" name="TextBox 29"/>
          <p:cNvSpPr txBox="1"/>
          <p:nvPr/>
        </p:nvSpPr>
        <p:spPr>
          <a:xfrm>
            <a:off x="2069591" y="998018"/>
            <a:ext cx="461345" cy="214579"/>
          </a:xfrm>
          <a:prstGeom prst="rect">
            <a:avLst/>
          </a:prstGeom>
          <a:noFill/>
        </p:spPr>
        <p:txBody>
          <a:bodyPr wrap="square" lIns="0" tIns="0" rIns="0" bIns="0" anchor="ctr">
            <a:spAutoFit/>
          </a:bodyPr>
          <a:lstStyle/>
          <a:p>
            <a:pPr marL="0" indent="0" algn="r">
              <a:buNone/>
            </a:pPr>
            <a:r>
              <a:rPr sz="600" b="0" i="0">
                <a:solidFill>
                  <a:srgbClr val="555555"/>
                </a:solidFill>
              </a:rPr>
              <a:t>Edit</a:t>
            </a:r>
          </a:p>
        </p:txBody>
      </p:sp>
      <p:sp>
        <p:nvSpPr>
          <p:cNvPr id="31" name="Rectangle 30"/>
          <p:cNvSpPr/>
          <p:nvPr/>
        </p:nvSpPr>
        <p:spPr>
          <a:xfrm>
            <a:off x="59436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594360" y="1217962"/>
            <a:ext cx="1005839" cy="160934"/>
          </a:xfrm>
          <a:prstGeom prst="rect">
            <a:avLst/>
          </a:prstGeom>
          <a:noFill/>
        </p:spPr>
        <p:txBody>
          <a:bodyPr wrap="square" lIns="0" tIns="0" rIns="0" bIns="0" anchor="ctr">
            <a:spAutoFit/>
          </a:bodyPr>
          <a:lstStyle/>
          <a:p>
            <a:pPr marL="0" indent="0" algn="ctr">
              <a:buNone/>
            </a:pPr>
            <a:r>
              <a:rPr sz="650" b="0" i="0">
                <a:solidFill>
                  <a:srgbClr val="888888"/>
                </a:solidFill>
              </a:rPr>
              <a:t>Delivery</a:t>
            </a:r>
          </a:p>
        </p:txBody>
      </p:sp>
      <p:sp>
        <p:nvSpPr>
          <p:cNvPr id="33" name="TextBox 32"/>
          <p:cNvSpPr txBox="1"/>
          <p:nvPr/>
        </p:nvSpPr>
        <p:spPr>
          <a:xfrm>
            <a:off x="1600199" y="1217962"/>
            <a:ext cx="1005839" cy="160934"/>
          </a:xfrm>
          <a:prstGeom prst="rect">
            <a:avLst/>
          </a:prstGeom>
          <a:noFill/>
        </p:spPr>
        <p:txBody>
          <a:bodyPr wrap="square" lIns="0" tIns="0" rIns="0" bIns="0" anchor="ctr">
            <a:spAutoFit/>
          </a:bodyPr>
          <a:lstStyle/>
          <a:p>
            <a:pPr marL="0" indent="0" algn="ctr">
              <a:buNone/>
            </a:pPr>
            <a:r>
              <a:rPr sz="650" b="1" i="0">
                <a:solidFill>
                  <a:srgbClr val="C8102E"/>
                </a:solidFill>
              </a:rPr>
              <a:t>Self pick-up</a:t>
            </a:r>
          </a:p>
        </p:txBody>
      </p:sp>
      <p:sp>
        <p:nvSpPr>
          <p:cNvPr id="34" name="Rectangle 33"/>
          <p:cNvSpPr/>
          <p:nvPr/>
        </p:nvSpPr>
        <p:spPr>
          <a:xfrm>
            <a:off x="1821484" y="1362803"/>
            <a:ext cx="563270" cy="1609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5" name="Rectangle 34"/>
          <p:cNvSpPr/>
          <p:nvPr/>
        </p:nvSpPr>
        <p:spPr>
          <a:xfrm>
            <a:off x="594360" y="1378896"/>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Rectangle 35"/>
          <p:cNvSpPr/>
          <p:nvPr/>
        </p:nvSpPr>
        <p:spPr>
          <a:xfrm>
            <a:off x="594360" y="1384261"/>
            <a:ext cx="2011679" cy="118018"/>
          </a:xfrm>
          <a:prstGeom prst="rect">
            <a:avLst/>
          </a:prstGeom>
          <a:solidFill>
            <a:srgbClr val="F7E9E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TextBox 36"/>
          <p:cNvSpPr txBox="1"/>
          <p:nvPr/>
        </p:nvSpPr>
        <p:spPr>
          <a:xfrm>
            <a:off x="669462" y="1384261"/>
            <a:ext cx="1394764" cy="118018"/>
          </a:xfrm>
          <a:prstGeom prst="rect">
            <a:avLst/>
          </a:prstGeom>
          <a:noFill/>
        </p:spPr>
        <p:txBody>
          <a:bodyPr wrap="square" lIns="0" tIns="0" rIns="0" bIns="0" anchor="ctr">
            <a:spAutoFit/>
          </a:bodyPr>
          <a:lstStyle/>
          <a:p>
            <a:pPr marL="0" indent="0" algn="l">
              <a:buNone/>
            </a:pPr>
            <a:r>
              <a:rPr sz="520" b="0" i="0">
                <a:solidFill>
                  <a:srgbClr val="555555"/>
                </a:solidFill>
              </a:rPr>
              <a:t>Serving store:  </a:t>
            </a:r>
            <a:r>
              <a:rPr sz="520" b="1" i="0">
                <a:solidFill>
                  <a:srgbClr val="C8102E"/>
                </a:solidFill>
              </a:rPr>
              <a:t>LOTTE Mart Nam Sài Gòn</a:t>
            </a:r>
          </a:p>
        </p:txBody>
      </p:sp>
      <p:sp>
        <p:nvSpPr>
          <p:cNvPr id="38" name="TextBox 37"/>
          <p:cNvSpPr txBox="1"/>
          <p:nvPr/>
        </p:nvSpPr>
        <p:spPr>
          <a:xfrm>
            <a:off x="2203703" y="1384261"/>
            <a:ext cx="327233" cy="118018"/>
          </a:xfrm>
          <a:prstGeom prst="rect">
            <a:avLst/>
          </a:prstGeom>
          <a:noFill/>
        </p:spPr>
        <p:txBody>
          <a:bodyPr wrap="square" lIns="0" tIns="0" rIns="0" bIns="0" anchor="ctr">
            <a:spAutoFit/>
          </a:bodyPr>
          <a:lstStyle/>
          <a:p>
            <a:pPr marL="0" indent="0" algn="r">
              <a:buNone/>
            </a:pPr>
            <a:r>
              <a:rPr sz="500" b="1" i="0">
                <a:solidFill>
                  <a:srgbClr val="C8102E"/>
                </a:solidFill>
              </a:rPr>
              <a:t>Change ›</a:t>
            </a:r>
          </a:p>
        </p:txBody>
      </p:sp>
      <p:sp>
        <p:nvSpPr>
          <p:cNvPr id="39" name="TextBox 38"/>
          <p:cNvSpPr txBox="1"/>
          <p:nvPr/>
        </p:nvSpPr>
        <p:spPr>
          <a:xfrm>
            <a:off x="669462" y="1509823"/>
            <a:ext cx="1341120" cy="92202"/>
          </a:xfrm>
          <a:prstGeom prst="rect">
            <a:avLst/>
          </a:prstGeom>
          <a:noFill/>
        </p:spPr>
        <p:txBody>
          <a:bodyPr wrap="square" lIns="0" tIns="0" rIns="0" bIns="0" anchor="ctr">
            <a:spAutoFit/>
          </a:bodyPr>
          <a:lstStyle/>
          <a:p>
            <a:pPr marL="0" indent="0" algn="l">
              <a:buNone/>
            </a:pPr>
            <a:r>
              <a:rPr sz="550" b="1" i="0">
                <a:solidFill>
                  <a:srgbClr val="555555"/>
                </a:solidFill>
              </a:rPr>
              <a:t>Collector name</a:t>
            </a:r>
            <a:r>
              <a:rPr sz="550" b="1" i="0">
                <a:solidFill>
                  <a:srgbClr val="C8102E"/>
                </a:solidFill>
              </a:rPr>
              <a:t> *</a:t>
            </a:r>
          </a:p>
        </p:txBody>
      </p:sp>
      <p:sp>
        <p:nvSpPr>
          <p:cNvPr id="40" name="Rounded Rectangle 39"/>
          <p:cNvSpPr/>
          <p:nvPr/>
        </p:nvSpPr>
        <p:spPr>
          <a:xfrm>
            <a:off x="669462" y="1593475"/>
            <a:ext cx="1861474" cy="139476"/>
          </a:xfrm>
          <a:prstGeom prst="roundRect">
            <a:avLst>
              <a:gd name="adj" fmla="val 18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TextBox 40"/>
          <p:cNvSpPr txBox="1"/>
          <p:nvPr/>
        </p:nvSpPr>
        <p:spPr>
          <a:xfrm>
            <a:off x="723107" y="1593475"/>
            <a:ext cx="1689811" cy="139476"/>
          </a:xfrm>
          <a:prstGeom prst="rect">
            <a:avLst/>
          </a:prstGeom>
          <a:noFill/>
        </p:spPr>
        <p:txBody>
          <a:bodyPr wrap="square" lIns="0" tIns="0" rIns="0" bIns="0" anchor="ctr">
            <a:spAutoFit/>
          </a:bodyPr>
          <a:lstStyle/>
          <a:p>
            <a:pPr marL="0" indent="0" algn="l">
              <a:buNone/>
            </a:pPr>
            <a:r>
              <a:rPr sz="600" b="0" i="0">
                <a:solidFill>
                  <a:srgbClr val="222222"/>
                </a:solidFill>
              </a:rPr>
              <a:t>Trần Minh Anh</a:t>
            </a:r>
          </a:p>
        </p:txBody>
      </p:sp>
      <p:sp>
        <p:nvSpPr>
          <p:cNvPr id="42" name="TextBox 41"/>
          <p:cNvSpPr txBox="1"/>
          <p:nvPr/>
        </p:nvSpPr>
        <p:spPr>
          <a:xfrm>
            <a:off x="669462" y="1733958"/>
            <a:ext cx="1861474" cy="83820"/>
          </a:xfrm>
          <a:prstGeom prst="rect">
            <a:avLst/>
          </a:prstGeom>
          <a:noFill/>
        </p:spPr>
        <p:txBody>
          <a:bodyPr wrap="square" lIns="0" tIns="0" rIns="0" bIns="0" anchor="ctr">
            <a:spAutoFit/>
          </a:bodyPr>
          <a:lstStyle/>
          <a:p>
            <a:pPr marL="0" indent="0" algn="l">
              <a:buNone/>
            </a:pPr>
            <a:r>
              <a:rPr sz="500" b="0" i="0">
                <a:solidFill>
                  <a:srgbClr val="888888"/>
                </a:solidFill>
              </a:rPr>
              <a:t>May be different from the account holder</a:t>
            </a:r>
          </a:p>
        </p:txBody>
      </p:sp>
      <p:sp>
        <p:nvSpPr>
          <p:cNvPr id="43" name="TextBox 42"/>
          <p:cNvSpPr txBox="1"/>
          <p:nvPr/>
        </p:nvSpPr>
        <p:spPr>
          <a:xfrm>
            <a:off x="669462" y="1831692"/>
            <a:ext cx="1341120" cy="92202"/>
          </a:xfrm>
          <a:prstGeom prst="rect">
            <a:avLst/>
          </a:prstGeom>
          <a:noFill/>
        </p:spPr>
        <p:txBody>
          <a:bodyPr wrap="square" lIns="0" tIns="0" rIns="0" bIns="0" anchor="ctr">
            <a:spAutoFit/>
          </a:bodyPr>
          <a:lstStyle/>
          <a:p>
            <a:pPr marL="0" indent="0" algn="l">
              <a:buNone/>
            </a:pPr>
            <a:r>
              <a:rPr sz="550" b="1" i="0">
                <a:solidFill>
                  <a:srgbClr val="555555"/>
                </a:solidFill>
              </a:rPr>
              <a:t>Collector phone</a:t>
            </a:r>
            <a:r>
              <a:rPr sz="550" b="1" i="0">
                <a:solidFill>
                  <a:srgbClr val="C8102E"/>
                </a:solidFill>
              </a:rPr>
              <a:t> *</a:t>
            </a:r>
          </a:p>
        </p:txBody>
      </p:sp>
      <p:sp>
        <p:nvSpPr>
          <p:cNvPr id="44" name="Rounded Rectangle 43"/>
          <p:cNvSpPr/>
          <p:nvPr/>
        </p:nvSpPr>
        <p:spPr>
          <a:xfrm>
            <a:off x="669462" y="1915344"/>
            <a:ext cx="1861474" cy="139476"/>
          </a:xfrm>
          <a:prstGeom prst="roundRect">
            <a:avLst>
              <a:gd name="adj" fmla="val 18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TextBox 44"/>
          <p:cNvSpPr txBox="1"/>
          <p:nvPr/>
        </p:nvSpPr>
        <p:spPr>
          <a:xfrm>
            <a:off x="723107" y="1915344"/>
            <a:ext cx="1689811" cy="139476"/>
          </a:xfrm>
          <a:prstGeom prst="rect">
            <a:avLst/>
          </a:prstGeom>
          <a:noFill/>
        </p:spPr>
        <p:txBody>
          <a:bodyPr wrap="square" lIns="0" tIns="0" rIns="0" bIns="0" anchor="ctr">
            <a:spAutoFit/>
          </a:bodyPr>
          <a:lstStyle/>
          <a:p>
            <a:pPr marL="0" indent="0" algn="l">
              <a:buNone/>
            </a:pPr>
            <a:r>
              <a:rPr sz="600" b="0" i="0">
                <a:solidFill>
                  <a:srgbClr val="222222"/>
                </a:solidFill>
              </a:rPr>
              <a:t>091 555 1234</a:t>
            </a:r>
          </a:p>
        </p:txBody>
      </p:sp>
      <p:sp>
        <p:nvSpPr>
          <p:cNvPr id="46" name="Rounded Rectangle 45"/>
          <p:cNvSpPr/>
          <p:nvPr/>
        </p:nvSpPr>
        <p:spPr>
          <a:xfrm>
            <a:off x="669462" y="2097736"/>
            <a:ext cx="1861474" cy="300410"/>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TextBox 46"/>
          <p:cNvSpPr txBox="1"/>
          <p:nvPr/>
        </p:nvSpPr>
        <p:spPr>
          <a:xfrm>
            <a:off x="744565" y="2120200"/>
            <a:ext cx="1072896" cy="83820"/>
          </a:xfrm>
          <a:prstGeom prst="rect">
            <a:avLst/>
          </a:prstGeom>
          <a:noFill/>
        </p:spPr>
        <p:txBody>
          <a:bodyPr wrap="square" lIns="0" tIns="0" rIns="0" bIns="0" anchor="ctr">
            <a:spAutoFit/>
          </a:bodyPr>
          <a:lstStyle/>
          <a:p>
            <a:pPr marL="0" indent="0" algn="l">
              <a:buNone/>
            </a:pPr>
            <a:r>
              <a:rPr sz="500" b="0" i="0">
                <a:solidFill>
                  <a:srgbClr val="888888"/>
                </a:solidFill>
              </a:rPr>
              <a:t>Pick-up store</a:t>
            </a:r>
          </a:p>
        </p:txBody>
      </p:sp>
      <p:sp>
        <p:nvSpPr>
          <p:cNvPr id="48" name="TextBox 47"/>
          <p:cNvSpPr txBox="1"/>
          <p:nvPr/>
        </p:nvSpPr>
        <p:spPr>
          <a:xfrm>
            <a:off x="744565" y="2195638"/>
            <a:ext cx="1341120" cy="93878"/>
          </a:xfrm>
          <a:prstGeom prst="rect">
            <a:avLst/>
          </a:prstGeom>
          <a:noFill/>
        </p:spPr>
        <p:txBody>
          <a:bodyPr wrap="square" lIns="0" tIns="0" rIns="0" bIns="0" anchor="ctr">
            <a:spAutoFit/>
          </a:bodyPr>
          <a:lstStyle/>
          <a:p>
            <a:pPr marL="0" indent="0" algn="l">
              <a:buNone/>
            </a:pPr>
            <a:r>
              <a:rPr sz="560" b="1" i="0">
                <a:solidFill>
                  <a:srgbClr val="222222"/>
                </a:solidFill>
              </a:rPr>
              <a:t>LOTTE Mart Nam Sài Gòn</a:t>
            </a:r>
          </a:p>
        </p:txBody>
      </p:sp>
      <p:sp>
        <p:nvSpPr>
          <p:cNvPr id="49" name="TextBox 48"/>
          <p:cNvSpPr txBox="1"/>
          <p:nvPr/>
        </p:nvSpPr>
        <p:spPr>
          <a:xfrm>
            <a:off x="744565" y="2291864"/>
            <a:ext cx="1341120" cy="83820"/>
          </a:xfrm>
          <a:prstGeom prst="rect">
            <a:avLst/>
          </a:prstGeom>
          <a:noFill/>
        </p:spPr>
        <p:txBody>
          <a:bodyPr wrap="square" lIns="0" tIns="0" rIns="0" bIns="0" anchor="ctr">
            <a:spAutoFit/>
          </a:bodyPr>
          <a:lstStyle/>
          <a:p>
            <a:pPr marL="0" indent="0" algn="l">
              <a:buNone/>
            </a:pPr>
            <a:r>
              <a:rPr sz="500" b="0" i="0">
                <a:solidFill>
                  <a:srgbClr val="555555"/>
                </a:solidFill>
              </a:rPr>
              <a:t>469 Nguyễn Hữu Thọ, Q.7  ·  2.1 km</a:t>
            </a:r>
          </a:p>
        </p:txBody>
      </p:sp>
      <p:sp>
        <p:nvSpPr>
          <p:cNvPr id="50" name="TextBox 49"/>
          <p:cNvSpPr txBox="1"/>
          <p:nvPr/>
        </p:nvSpPr>
        <p:spPr>
          <a:xfrm>
            <a:off x="2203703" y="2200667"/>
            <a:ext cx="252130" cy="83820"/>
          </a:xfrm>
          <a:prstGeom prst="rect">
            <a:avLst/>
          </a:prstGeom>
          <a:noFill/>
        </p:spPr>
        <p:txBody>
          <a:bodyPr wrap="square" lIns="0" tIns="0" rIns="0" bIns="0" anchor="ctr">
            <a:spAutoFit/>
          </a:bodyPr>
          <a:lstStyle/>
          <a:p>
            <a:pPr marL="0" indent="0" algn="r">
              <a:buNone/>
            </a:pPr>
            <a:r>
              <a:rPr sz="500" b="1" i="0">
                <a:solidFill>
                  <a:srgbClr val="C8102E"/>
                </a:solidFill>
              </a:rPr>
              <a:t>Change</a:t>
            </a:r>
          </a:p>
        </p:txBody>
      </p:sp>
      <p:sp>
        <p:nvSpPr>
          <p:cNvPr id="51" name="TextBox 50"/>
          <p:cNvSpPr txBox="1"/>
          <p:nvPr/>
        </p:nvSpPr>
        <p:spPr>
          <a:xfrm>
            <a:off x="669462" y="2429999"/>
            <a:ext cx="1341120" cy="97231"/>
          </a:xfrm>
          <a:prstGeom prst="rect">
            <a:avLst/>
          </a:prstGeom>
          <a:noFill/>
        </p:spPr>
        <p:txBody>
          <a:bodyPr wrap="square" lIns="0" tIns="0" rIns="0" bIns="0" anchor="ctr">
            <a:spAutoFit/>
          </a:bodyPr>
          <a:lstStyle/>
          <a:p>
            <a:pPr marL="0" indent="0" algn="l">
              <a:buNone/>
            </a:pPr>
            <a:r>
              <a:rPr sz="580" b="1" i="0">
                <a:solidFill>
                  <a:srgbClr val="3A3A3A"/>
                </a:solidFill>
              </a:rPr>
              <a:t>Pick-up time</a:t>
            </a:r>
          </a:p>
        </p:txBody>
      </p:sp>
      <p:sp>
        <p:nvSpPr>
          <p:cNvPr id="52" name="Rounded Rectangle 51"/>
          <p:cNvSpPr/>
          <p:nvPr/>
        </p:nvSpPr>
        <p:spPr>
          <a:xfrm>
            <a:off x="669462" y="2548353"/>
            <a:ext cx="1861474" cy="182392"/>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TextBox 52"/>
          <p:cNvSpPr txBox="1"/>
          <p:nvPr/>
        </p:nvSpPr>
        <p:spPr>
          <a:xfrm>
            <a:off x="744565" y="2548353"/>
            <a:ext cx="965606" cy="182392"/>
          </a:xfrm>
          <a:prstGeom prst="rect">
            <a:avLst/>
          </a:prstGeom>
          <a:noFill/>
        </p:spPr>
        <p:txBody>
          <a:bodyPr wrap="square" lIns="0" tIns="0" rIns="0" bIns="0" anchor="ctr">
            <a:spAutoFit/>
          </a:bodyPr>
          <a:lstStyle/>
          <a:p>
            <a:pPr marL="0" indent="0" algn="l">
              <a:buNone/>
            </a:pPr>
            <a:r>
              <a:rPr sz="560" b="1" i="0">
                <a:solidFill>
                  <a:srgbClr val="222222"/>
                </a:solidFill>
              </a:rPr>
              <a:t>14:00 – 16:00</a:t>
            </a:r>
          </a:p>
        </p:txBody>
      </p:sp>
      <p:sp>
        <p:nvSpPr>
          <p:cNvPr id="54" name="Rounded Rectangle 53"/>
          <p:cNvSpPr/>
          <p:nvPr/>
        </p:nvSpPr>
        <p:spPr>
          <a:xfrm>
            <a:off x="1838919" y="2591269"/>
            <a:ext cx="439887" cy="96560"/>
          </a:xfrm>
          <a:prstGeom prst="roundRect">
            <a:avLst>
              <a:gd name="adj" fmla="val 50000"/>
            </a:avLst>
          </a:prstGeom>
          <a:solidFill>
            <a:srgbClr val="E8F5EE"/>
          </a:solidFill>
          <a:ln w="635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5" name="TextBox 54"/>
          <p:cNvSpPr txBox="1"/>
          <p:nvPr/>
        </p:nvSpPr>
        <p:spPr>
          <a:xfrm>
            <a:off x="1838919" y="2591269"/>
            <a:ext cx="439887" cy="96560"/>
          </a:xfrm>
          <a:prstGeom prst="rect">
            <a:avLst/>
          </a:prstGeom>
          <a:noFill/>
        </p:spPr>
        <p:txBody>
          <a:bodyPr wrap="square" lIns="0" tIns="0" rIns="0" bIns="0" anchor="ctr">
            <a:spAutoFit/>
          </a:bodyPr>
          <a:lstStyle/>
          <a:p>
            <a:pPr marL="0" indent="0" algn="ctr">
              <a:buNone/>
            </a:pPr>
            <a:r>
              <a:rPr sz="440" b="1" i="0">
                <a:solidFill>
                  <a:srgbClr val="1B7F4B"/>
                </a:solidFill>
              </a:rPr>
              <a:t>Open</a:t>
            </a:r>
          </a:p>
        </p:txBody>
      </p:sp>
      <p:sp>
        <p:nvSpPr>
          <p:cNvPr id="56" name="Rounded Rectangle 55"/>
          <p:cNvSpPr/>
          <p:nvPr/>
        </p:nvSpPr>
        <p:spPr>
          <a:xfrm>
            <a:off x="2375367" y="2601998"/>
            <a:ext cx="75102" cy="75102"/>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7" name="Rounded Rectangle 56"/>
          <p:cNvSpPr/>
          <p:nvPr/>
        </p:nvSpPr>
        <p:spPr>
          <a:xfrm>
            <a:off x="669462" y="2773661"/>
            <a:ext cx="1861474" cy="182392"/>
          </a:xfrm>
          <a:prstGeom prst="roundRect">
            <a:avLst>
              <a:gd name="adj" fmla="val 10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8" name="TextBox 57"/>
          <p:cNvSpPr txBox="1"/>
          <p:nvPr/>
        </p:nvSpPr>
        <p:spPr>
          <a:xfrm>
            <a:off x="744565" y="2773661"/>
            <a:ext cx="965606" cy="182392"/>
          </a:xfrm>
          <a:prstGeom prst="rect">
            <a:avLst/>
          </a:prstGeom>
          <a:noFill/>
        </p:spPr>
        <p:txBody>
          <a:bodyPr wrap="square" lIns="0" tIns="0" rIns="0" bIns="0" anchor="ctr">
            <a:spAutoFit/>
          </a:bodyPr>
          <a:lstStyle/>
          <a:p>
            <a:pPr marL="0" indent="0" algn="l">
              <a:buNone/>
            </a:pPr>
            <a:r>
              <a:rPr sz="560" b="1" i="0">
                <a:solidFill>
                  <a:srgbClr val="C8102E"/>
                </a:solidFill>
              </a:rPr>
              <a:t>16:00 – 18:00</a:t>
            </a:r>
          </a:p>
        </p:txBody>
      </p:sp>
      <p:sp>
        <p:nvSpPr>
          <p:cNvPr id="59" name="Rounded Rectangle 58"/>
          <p:cNvSpPr/>
          <p:nvPr/>
        </p:nvSpPr>
        <p:spPr>
          <a:xfrm>
            <a:off x="1838919" y="2816577"/>
            <a:ext cx="439887" cy="96560"/>
          </a:xfrm>
          <a:prstGeom prst="roundRect">
            <a:avLst>
              <a:gd name="adj" fmla="val 50000"/>
            </a:avLst>
          </a:prstGeom>
          <a:solidFill>
            <a:srgbClr val="FFF6E5"/>
          </a:solidFill>
          <a:ln w="6350">
            <a:solidFill>
              <a:srgbClr val="B26A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0" name="TextBox 59"/>
          <p:cNvSpPr txBox="1"/>
          <p:nvPr/>
        </p:nvSpPr>
        <p:spPr>
          <a:xfrm>
            <a:off x="1838919" y="2816577"/>
            <a:ext cx="439887" cy="96560"/>
          </a:xfrm>
          <a:prstGeom prst="rect">
            <a:avLst/>
          </a:prstGeom>
          <a:noFill/>
        </p:spPr>
        <p:txBody>
          <a:bodyPr wrap="square" lIns="0" tIns="0" rIns="0" bIns="0" anchor="ctr">
            <a:spAutoFit/>
          </a:bodyPr>
          <a:lstStyle/>
          <a:p>
            <a:pPr marL="0" indent="0" algn="ctr">
              <a:buNone/>
            </a:pPr>
            <a:r>
              <a:rPr sz="440" b="1" i="0">
                <a:solidFill>
                  <a:srgbClr val="B26A00"/>
                </a:solidFill>
              </a:rPr>
              <a:t>Closing soon</a:t>
            </a:r>
          </a:p>
        </p:txBody>
      </p:sp>
      <p:sp>
        <p:nvSpPr>
          <p:cNvPr id="61" name="Rounded Rectangle 60"/>
          <p:cNvSpPr/>
          <p:nvPr/>
        </p:nvSpPr>
        <p:spPr>
          <a:xfrm>
            <a:off x="2375367" y="2827306"/>
            <a:ext cx="75102" cy="75102"/>
          </a:xfrm>
          <a:prstGeom prst="roundRect">
            <a:avLst>
              <a:gd name="adj" fmla="val 5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2" name="Rounded Rectangle 61"/>
          <p:cNvSpPr/>
          <p:nvPr/>
        </p:nvSpPr>
        <p:spPr>
          <a:xfrm>
            <a:off x="669462" y="2998969"/>
            <a:ext cx="1861474" cy="182392"/>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3" name="TextBox 62"/>
          <p:cNvSpPr txBox="1"/>
          <p:nvPr/>
        </p:nvSpPr>
        <p:spPr>
          <a:xfrm>
            <a:off x="744565" y="2998969"/>
            <a:ext cx="965606" cy="182392"/>
          </a:xfrm>
          <a:prstGeom prst="rect">
            <a:avLst/>
          </a:prstGeom>
          <a:noFill/>
        </p:spPr>
        <p:txBody>
          <a:bodyPr wrap="square" lIns="0" tIns="0" rIns="0" bIns="0" anchor="ctr">
            <a:spAutoFit/>
          </a:bodyPr>
          <a:lstStyle/>
          <a:p>
            <a:pPr marL="0" indent="0" algn="l">
              <a:buNone/>
            </a:pPr>
            <a:r>
              <a:rPr sz="560" b="1" i="0">
                <a:solidFill>
                  <a:srgbClr val="222222"/>
                </a:solidFill>
              </a:rPr>
              <a:t>18:00 – 20:00</a:t>
            </a:r>
          </a:p>
        </p:txBody>
      </p:sp>
      <p:sp>
        <p:nvSpPr>
          <p:cNvPr id="64" name="Rounded Rectangle 63"/>
          <p:cNvSpPr/>
          <p:nvPr/>
        </p:nvSpPr>
        <p:spPr>
          <a:xfrm>
            <a:off x="1838919" y="3041885"/>
            <a:ext cx="439887" cy="96560"/>
          </a:xfrm>
          <a:prstGeom prst="roundRect">
            <a:avLst>
              <a:gd name="adj" fmla="val 50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5" name="TextBox 64"/>
          <p:cNvSpPr txBox="1"/>
          <p:nvPr/>
        </p:nvSpPr>
        <p:spPr>
          <a:xfrm>
            <a:off x="1838919" y="3041885"/>
            <a:ext cx="439887" cy="96560"/>
          </a:xfrm>
          <a:prstGeom prst="rect">
            <a:avLst/>
          </a:prstGeom>
          <a:noFill/>
        </p:spPr>
        <p:txBody>
          <a:bodyPr wrap="square" lIns="0" tIns="0" rIns="0" bIns="0" anchor="ctr">
            <a:spAutoFit/>
          </a:bodyPr>
          <a:lstStyle/>
          <a:p>
            <a:pPr marL="0" indent="0" algn="ctr">
              <a:buNone/>
            </a:pPr>
            <a:r>
              <a:rPr sz="440" b="1" i="0">
                <a:solidFill>
                  <a:srgbClr val="C8102E"/>
                </a:solidFill>
              </a:rPr>
              <a:t>Closed</a:t>
            </a:r>
          </a:p>
        </p:txBody>
      </p:sp>
      <p:sp>
        <p:nvSpPr>
          <p:cNvPr id="66" name="Rounded Rectangle 65"/>
          <p:cNvSpPr/>
          <p:nvPr/>
        </p:nvSpPr>
        <p:spPr>
          <a:xfrm>
            <a:off x="2375367" y="3052614"/>
            <a:ext cx="75102" cy="75102"/>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7" name="Rounded Rectangle 66"/>
          <p:cNvSpPr/>
          <p:nvPr/>
        </p:nvSpPr>
        <p:spPr>
          <a:xfrm>
            <a:off x="669462" y="3224277"/>
            <a:ext cx="1861474" cy="236037"/>
          </a:xfrm>
          <a:prstGeom prst="roundRect">
            <a:avLst>
              <a:gd name="adj" fmla="val 10000"/>
            </a:avLst>
          </a:prstGeom>
          <a:solidFill>
            <a:srgbClr val="E8F5EE"/>
          </a:solidFill>
          <a:ln w="635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8" name="TextBox 67"/>
          <p:cNvSpPr txBox="1"/>
          <p:nvPr/>
        </p:nvSpPr>
        <p:spPr>
          <a:xfrm>
            <a:off x="744565" y="3239701"/>
            <a:ext cx="1711269" cy="87172"/>
          </a:xfrm>
          <a:prstGeom prst="rect">
            <a:avLst/>
          </a:prstGeom>
          <a:noFill/>
        </p:spPr>
        <p:txBody>
          <a:bodyPr wrap="square" lIns="0" tIns="0" rIns="0" bIns="0" anchor="ctr">
            <a:spAutoFit/>
          </a:bodyPr>
          <a:lstStyle/>
          <a:p>
            <a:pPr marL="0" indent="0" algn="l">
              <a:buNone/>
            </a:pPr>
            <a:r>
              <a:rPr sz="520" b="1" i="0">
                <a:solidFill>
                  <a:srgbClr val="14603A"/>
                </a:solidFill>
              </a:rPr>
              <a:t>Cash payment is available at pick-up</a:t>
            </a:r>
          </a:p>
        </p:txBody>
      </p:sp>
      <p:sp>
        <p:nvSpPr>
          <p:cNvPr id="69" name="TextBox 68"/>
          <p:cNvSpPr txBox="1"/>
          <p:nvPr/>
        </p:nvSpPr>
        <p:spPr>
          <a:xfrm>
            <a:off x="744565" y="3331567"/>
            <a:ext cx="1711269" cy="107289"/>
          </a:xfrm>
          <a:prstGeom prst="rect">
            <a:avLst/>
          </a:prstGeom>
          <a:noFill/>
        </p:spPr>
        <p:txBody>
          <a:bodyPr wrap="square" lIns="0" tIns="0" rIns="0" bIns="0" anchor="ctr">
            <a:spAutoFit/>
          </a:bodyPr>
          <a:lstStyle/>
          <a:p>
            <a:pPr marL="0" indent="0" algn="l">
              <a:buNone/>
            </a:pPr>
            <a:r>
              <a:rPr sz="500" b="0" i="0">
                <a:solidFill>
                  <a:srgbClr val="14603A"/>
                </a:solidFill>
              </a:rPr>
              <a:t>Your Platinum tier qualifies. New in To-Be.</a:t>
            </a:r>
          </a:p>
        </p:txBody>
      </p:sp>
      <p:sp>
        <p:nvSpPr>
          <p:cNvPr id="70" name="Rectangle 69"/>
          <p:cNvSpPr/>
          <p:nvPr/>
        </p:nvSpPr>
        <p:spPr>
          <a:xfrm>
            <a:off x="594360" y="4538575"/>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1" name="Rectangle 70"/>
          <p:cNvSpPr/>
          <p:nvPr/>
        </p:nvSpPr>
        <p:spPr>
          <a:xfrm>
            <a:off x="594360" y="4538575"/>
            <a:ext cx="2011679" cy="3111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2" name="TextBox 71"/>
          <p:cNvSpPr txBox="1"/>
          <p:nvPr/>
        </p:nvSpPr>
        <p:spPr>
          <a:xfrm>
            <a:off x="669462" y="4570092"/>
            <a:ext cx="858316" cy="87172"/>
          </a:xfrm>
          <a:prstGeom prst="rect">
            <a:avLst/>
          </a:prstGeom>
          <a:noFill/>
        </p:spPr>
        <p:txBody>
          <a:bodyPr wrap="square" lIns="0" tIns="0" rIns="0" bIns="0" anchor="ctr">
            <a:spAutoFit/>
          </a:bodyPr>
          <a:lstStyle/>
          <a:p>
            <a:pPr marL="0" indent="0" algn="l">
              <a:buNone/>
            </a:pPr>
            <a:r>
              <a:rPr sz="520" b="0" i="0">
                <a:solidFill>
                  <a:srgbClr val="888888"/>
                </a:solidFill>
              </a:rPr>
              <a:t>Provisional total  ·  8 items</a:t>
            </a:r>
          </a:p>
        </p:txBody>
      </p:sp>
      <p:sp>
        <p:nvSpPr>
          <p:cNvPr id="73" name="TextBox 72"/>
          <p:cNvSpPr txBox="1"/>
          <p:nvPr/>
        </p:nvSpPr>
        <p:spPr>
          <a:xfrm>
            <a:off x="669462" y="4621724"/>
            <a:ext cx="858316" cy="134112"/>
          </a:xfrm>
          <a:prstGeom prst="rect">
            <a:avLst/>
          </a:prstGeom>
          <a:noFill/>
        </p:spPr>
        <p:txBody>
          <a:bodyPr wrap="square" lIns="0" tIns="0" rIns="0" bIns="0" anchor="ctr">
            <a:spAutoFit/>
          </a:bodyPr>
          <a:lstStyle/>
          <a:p>
            <a:pPr marL="0" indent="0" algn="l">
              <a:buNone/>
            </a:pPr>
            <a:r>
              <a:rPr sz="800" b="1" i="0">
                <a:solidFill>
                  <a:srgbClr val="C8102E"/>
                </a:solidFill>
              </a:rPr>
              <a:t>486,000 ₫</a:t>
            </a:r>
          </a:p>
        </p:txBody>
      </p:sp>
      <p:sp>
        <p:nvSpPr>
          <p:cNvPr id="74" name="Rounded Rectangle 73"/>
          <p:cNvSpPr/>
          <p:nvPr/>
        </p:nvSpPr>
        <p:spPr>
          <a:xfrm>
            <a:off x="1801368" y="4602949"/>
            <a:ext cx="729569" cy="160934"/>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5" name="TextBox 74"/>
          <p:cNvSpPr txBox="1"/>
          <p:nvPr/>
        </p:nvSpPr>
        <p:spPr>
          <a:xfrm>
            <a:off x="1801368" y="4602949"/>
            <a:ext cx="729569" cy="160934"/>
          </a:xfrm>
          <a:prstGeom prst="rect">
            <a:avLst/>
          </a:prstGeom>
          <a:noFill/>
        </p:spPr>
        <p:txBody>
          <a:bodyPr wrap="square" lIns="0" tIns="0" rIns="0" bIns="0" anchor="ctr">
            <a:spAutoFit/>
          </a:bodyPr>
          <a:lstStyle/>
          <a:p>
            <a:pPr marL="0" indent="0" algn="ctr">
              <a:buNone/>
            </a:pPr>
            <a:r>
              <a:rPr sz="650" b="1" i="0">
                <a:solidFill>
                  <a:srgbClr val="FFFFFF"/>
                </a:solidFill>
              </a:rPr>
              <a:t>Proceed to Checkout</a:t>
            </a:r>
          </a:p>
        </p:txBody>
      </p:sp>
      <p:sp>
        <p:nvSpPr>
          <p:cNvPr id="76" name="Oval 75"/>
          <p:cNvSpPr/>
          <p:nvPr/>
        </p:nvSpPr>
        <p:spPr>
          <a:xfrm>
            <a:off x="379781" y="1394990"/>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7" name="TextBox 76"/>
          <p:cNvSpPr txBox="1"/>
          <p:nvPr/>
        </p:nvSpPr>
        <p:spPr>
          <a:xfrm>
            <a:off x="379781" y="1394990"/>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78" name="Oval 77"/>
          <p:cNvSpPr/>
          <p:nvPr/>
        </p:nvSpPr>
        <p:spPr>
          <a:xfrm>
            <a:off x="379781" y="1899251"/>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TextBox 78"/>
          <p:cNvSpPr txBox="1"/>
          <p:nvPr/>
        </p:nvSpPr>
        <p:spPr>
          <a:xfrm>
            <a:off x="379781" y="1899251"/>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80" name="Oval 79"/>
          <p:cNvSpPr/>
          <p:nvPr/>
        </p:nvSpPr>
        <p:spPr>
          <a:xfrm>
            <a:off x="379781" y="2317680"/>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1" name="TextBox 80"/>
          <p:cNvSpPr txBox="1"/>
          <p:nvPr/>
        </p:nvSpPr>
        <p:spPr>
          <a:xfrm>
            <a:off x="379781" y="2317680"/>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82" name="Oval 81"/>
          <p:cNvSpPr/>
          <p:nvPr/>
        </p:nvSpPr>
        <p:spPr>
          <a:xfrm>
            <a:off x="379781" y="302579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TextBox 82"/>
          <p:cNvSpPr txBox="1"/>
          <p:nvPr/>
        </p:nvSpPr>
        <p:spPr>
          <a:xfrm>
            <a:off x="379781" y="302579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84" name="Rounded Rectangle 83"/>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5" name="Rectangle 84"/>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6" name="TextBox 85"/>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State B  ·  Locker — two different journeys</a:t>
            </a:r>
          </a:p>
        </p:txBody>
      </p:sp>
      <p:sp>
        <p:nvSpPr>
          <p:cNvPr id="87" name="TextBox 86"/>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88" name="TextBox 87"/>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89" name="Rectangle 88"/>
          <p:cNvSpPr/>
          <p:nvPr/>
        </p:nvSpPr>
        <p:spPr>
          <a:xfrm>
            <a:off x="338328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0" name="TextBox 89"/>
          <p:cNvSpPr txBox="1"/>
          <p:nvPr/>
        </p:nvSpPr>
        <p:spPr>
          <a:xfrm>
            <a:off x="344765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91" name="TextBox 90"/>
          <p:cNvSpPr txBox="1"/>
          <p:nvPr/>
        </p:nvSpPr>
        <p:spPr>
          <a:xfrm>
            <a:off x="356567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Cart  (8)</a:t>
            </a:r>
          </a:p>
        </p:txBody>
      </p:sp>
      <p:sp>
        <p:nvSpPr>
          <p:cNvPr id="92" name="TextBox 91"/>
          <p:cNvSpPr txBox="1"/>
          <p:nvPr/>
        </p:nvSpPr>
        <p:spPr>
          <a:xfrm>
            <a:off x="4858511" y="998018"/>
            <a:ext cx="461345" cy="214579"/>
          </a:xfrm>
          <a:prstGeom prst="rect">
            <a:avLst/>
          </a:prstGeom>
          <a:noFill/>
        </p:spPr>
        <p:txBody>
          <a:bodyPr wrap="square" lIns="0" tIns="0" rIns="0" bIns="0" anchor="ctr">
            <a:spAutoFit/>
          </a:bodyPr>
          <a:lstStyle/>
          <a:p>
            <a:pPr marL="0" indent="0" algn="r">
              <a:buNone/>
            </a:pPr>
            <a:r>
              <a:rPr sz="600" b="0" i="0">
                <a:solidFill>
                  <a:srgbClr val="555555"/>
                </a:solidFill>
              </a:rPr>
              <a:t>Edit</a:t>
            </a:r>
          </a:p>
        </p:txBody>
      </p:sp>
      <p:sp>
        <p:nvSpPr>
          <p:cNvPr id="93" name="Rectangle 92"/>
          <p:cNvSpPr/>
          <p:nvPr/>
        </p:nvSpPr>
        <p:spPr>
          <a:xfrm>
            <a:off x="338328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4" name="TextBox 93"/>
          <p:cNvSpPr txBox="1"/>
          <p:nvPr/>
        </p:nvSpPr>
        <p:spPr>
          <a:xfrm>
            <a:off x="3383280" y="1217962"/>
            <a:ext cx="1005839" cy="160934"/>
          </a:xfrm>
          <a:prstGeom prst="rect">
            <a:avLst/>
          </a:prstGeom>
          <a:noFill/>
        </p:spPr>
        <p:txBody>
          <a:bodyPr wrap="square" lIns="0" tIns="0" rIns="0" bIns="0" anchor="ctr">
            <a:spAutoFit/>
          </a:bodyPr>
          <a:lstStyle/>
          <a:p>
            <a:pPr marL="0" indent="0" algn="ctr">
              <a:buNone/>
            </a:pPr>
            <a:r>
              <a:rPr sz="650" b="0" i="0">
                <a:solidFill>
                  <a:srgbClr val="888888"/>
                </a:solidFill>
              </a:rPr>
              <a:t>Delivery</a:t>
            </a:r>
          </a:p>
        </p:txBody>
      </p:sp>
      <p:sp>
        <p:nvSpPr>
          <p:cNvPr id="95" name="TextBox 94"/>
          <p:cNvSpPr txBox="1"/>
          <p:nvPr/>
        </p:nvSpPr>
        <p:spPr>
          <a:xfrm>
            <a:off x="4389119" y="1217962"/>
            <a:ext cx="1005839" cy="160934"/>
          </a:xfrm>
          <a:prstGeom prst="rect">
            <a:avLst/>
          </a:prstGeom>
          <a:noFill/>
        </p:spPr>
        <p:txBody>
          <a:bodyPr wrap="square" lIns="0" tIns="0" rIns="0" bIns="0" anchor="ctr">
            <a:spAutoFit/>
          </a:bodyPr>
          <a:lstStyle/>
          <a:p>
            <a:pPr marL="0" indent="0" algn="ctr">
              <a:buNone/>
            </a:pPr>
            <a:r>
              <a:rPr sz="650" b="1" i="0">
                <a:solidFill>
                  <a:srgbClr val="C8102E"/>
                </a:solidFill>
              </a:rPr>
              <a:t>Self pick-up</a:t>
            </a:r>
          </a:p>
        </p:txBody>
      </p:sp>
      <p:sp>
        <p:nvSpPr>
          <p:cNvPr id="96" name="Rectangle 95"/>
          <p:cNvSpPr/>
          <p:nvPr/>
        </p:nvSpPr>
        <p:spPr>
          <a:xfrm>
            <a:off x="4610404" y="1362803"/>
            <a:ext cx="563270" cy="1609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7" name="Rectangle 96"/>
          <p:cNvSpPr/>
          <p:nvPr/>
        </p:nvSpPr>
        <p:spPr>
          <a:xfrm>
            <a:off x="3383280" y="1378896"/>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8" name="Rectangle 97"/>
          <p:cNvSpPr/>
          <p:nvPr/>
        </p:nvSpPr>
        <p:spPr>
          <a:xfrm>
            <a:off x="3383280" y="1384261"/>
            <a:ext cx="2011679" cy="118018"/>
          </a:xfrm>
          <a:prstGeom prst="rect">
            <a:avLst/>
          </a:prstGeom>
          <a:solidFill>
            <a:srgbClr val="F7E9E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9" name="TextBox 98"/>
          <p:cNvSpPr txBox="1"/>
          <p:nvPr/>
        </p:nvSpPr>
        <p:spPr>
          <a:xfrm>
            <a:off x="3458382" y="1384261"/>
            <a:ext cx="1394764" cy="118018"/>
          </a:xfrm>
          <a:prstGeom prst="rect">
            <a:avLst/>
          </a:prstGeom>
          <a:noFill/>
        </p:spPr>
        <p:txBody>
          <a:bodyPr wrap="square" lIns="0" tIns="0" rIns="0" bIns="0" anchor="ctr">
            <a:spAutoFit/>
          </a:bodyPr>
          <a:lstStyle/>
          <a:p>
            <a:pPr marL="0" indent="0" algn="l">
              <a:buNone/>
            </a:pPr>
            <a:r>
              <a:rPr sz="520" b="0" i="0">
                <a:solidFill>
                  <a:srgbClr val="555555"/>
                </a:solidFill>
              </a:rPr>
              <a:t>Serving store:  </a:t>
            </a:r>
            <a:r>
              <a:rPr sz="520" b="1" i="0">
                <a:solidFill>
                  <a:srgbClr val="C8102E"/>
                </a:solidFill>
              </a:rPr>
              <a:t>LOTTE Mart Nam Sài Gòn</a:t>
            </a:r>
          </a:p>
        </p:txBody>
      </p:sp>
      <p:sp>
        <p:nvSpPr>
          <p:cNvPr id="100" name="TextBox 99"/>
          <p:cNvSpPr txBox="1"/>
          <p:nvPr/>
        </p:nvSpPr>
        <p:spPr>
          <a:xfrm>
            <a:off x="4992623" y="1384261"/>
            <a:ext cx="327233" cy="118018"/>
          </a:xfrm>
          <a:prstGeom prst="rect">
            <a:avLst/>
          </a:prstGeom>
          <a:noFill/>
        </p:spPr>
        <p:txBody>
          <a:bodyPr wrap="square" lIns="0" tIns="0" rIns="0" bIns="0" anchor="ctr">
            <a:spAutoFit/>
          </a:bodyPr>
          <a:lstStyle/>
          <a:p>
            <a:pPr marL="0" indent="0" algn="r">
              <a:buNone/>
            </a:pPr>
            <a:r>
              <a:rPr sz="500" b="1" i="0">
                <a:solidFill>
                  <a:srgbClr val="C8102E"/>
                </a:solidFill>
              </a:rPr>
              <a:t>Change ›</a:t>
            </a:r>
          </a:p>
        </p:txBody>
      </p:sp>
      <p:sp>
        <p:nvSpPr>
          <p:cNvPr id="101" name="Rounded Rectangle 100"/>
          <p:cNvSpPr/>
          <p:nvPr/>
        </p:nvSpPr>
        <p:spPr>
          <a:xfrm>
            <a:off x="3458382" y="1523737"/>
            <a:ext cx="1861474" cy="182392"/>
          </a:xfrm>
          <a:prstGeom prst="roundRect">
            <a:avLst>
              <a:gd name="adj" fmla="val 10000"/>
            </a:avLst>
          </a:prstGeom>
          <a:solidFill>
            <a:srgbClr val="EEF1F9"/>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2" name="TextBox 101"/>
          <p:cNvSpPr txBox="1"/>
          <p:nvPr/>
        </p:nvSpPr>
        <p:spPr>
          <a:xfrm>
            <a:off x="3533485" y="1523737"/>
            <a:ext cx="1711269" cy="182392"/>
          </a:xfrm>
          <a:prstGeom prst="rect">
            <a:avLst/>
          </a:prstGeom>
          <a:noFill/>
        </p:spPr>
        <p:txBody>
          <a:bodyPr wrap="square" lIns="0" tIns="0" rIns="0" bIns="0" anchor="ctr">
            <a:spAutoFit/>
          </a:bodyPr>
          <a:lstStyle/>
          <a:p>
            <a:pPr marL="0" indent="0" algn="l">
              <a:buNone/>
            </a:pPr>
            <a:r>
              <a:rPr sz="540" b="1" i="0">
                <a:solidFill>
                  <a:srgbClr val="1E2F6E"/>
                </a:solidFill>
              </a:rPr>
              <a:t>Collect from a locker instead of the counter</a:t>
            </a:r>
          </a:p>
        </p:txBody>
      </p:sp>
      <p:sp>
        <p:nvSpPr>
          <p:cNvPr id="103" name="Rounded Rectangle 102"/>
          <p:cNvSpPr/>
          <p:nvPr/>
        </p:nvSpPr>
        <p:spPr>
          <a:xfrm>
            <a:off x="3458382" y="1759774"/>
            <a:ext cx="1861474" cy="514990"/>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4" name="Rounded Rectangle 103"/>
          <p:cNvSpPr/>
          <p:nvPr/>
        </p:nvSpPr>
        <p:spPr>
          <a:xfrm>
            <a:off x="3533485" y="1802690"/>
            <a:ext cx="482803" cy="85831"/>
          </a:xfrm>
          <a:prstGeom prst="roundRect">
            <a:avLst>
              <a:gd name="adj" fmla="val 50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5" name="TextBox 104"/>
          <p:cNvSpPr txBox="1"/>
          <p:nvPr/>
        </p:nvSpPr>
        <p:spPr>
          <a:xfrm>
            <a:off x="3533485" y="1802690"/>
            <a:ext cx="482803" cy="85831"/>
          </a:xfrm>
          <a:prstGeom prst="rect">
            <a:avLst/>
          </a:prstGeom>
          <a:noFill/>
        </p:spPr>
        <p:txBody>
          <a:bodyPr wrap="square" lIns="0" tIns="0" rIns="0" bIns="0" anchor="ctr">
            <a:spAutoFit/>
          </a:bodyPr>
          <a:lstStyle/>
          <a:p>
            <a:pPr marL="0" indent="0" algn="ctr">
              <a:buNone/>
            </a:pPr>
            <a:r>
              <a:rPr sz="440" b="1" i="0">
                <a:solidFill>
                  <a:srgbClr val="C8102E"/>
                </a:solidFill>
              </a:rPr>
              <a:t>Delivery</a:t>
            </a:r>
          </a:p>
        </p:txBody>
      </p:sp>
      <p:sp>
        <p:nvSpPr>
          <p:cNvPr id="106" name="TextBox 105"/>
          <p:cNvSpPr txBox="1"/>
          <p:nvPr/>
        </p:nvSpPr>
        <p:spPr>
          <a:xfrm>
            <a:off x="3533485" y="1909645"/>
            <a:ext cx="1711269" cy="97231"/>
          </a:xfrm>
          <a:prstGeom prst="rect">
            <a:avLst/>
          </a:prstGeom>
          <a:noFill/>
        </p:spPr>
        <p:txBody>
          <a:bodyPr wrap="square" lIns="0" tIns="0" rIns="0" bIns="0" anchor="ctr">
            <a:spAutoFit/>
          </a:bodyPr>
          <a:lstStyle/>
          <a:p>
            <a:pPr marL="0" indent="0" algn="l">
              <a:buNone/>
            </a:pPr>
            <a:r>
              <a:rPr sz="580" b="1" i="0">
                <a:solidFill>
                  <a:srgbClr val="3A3A3A"/>
                </a:solidFill>
              </a:rPr>
              <a:t>Locker near your home</a:t>
            </a:r>
          </a:p>
        </p:txBody>
      </p:sp>
      <p:sp>
        <p:nvSpPr>
          <p:cNvPr id="107" name="TextBox 106"/>
          <p:cNvSpPr txBox="1"/>
          <p:nvPr/>
        </p:nvSpPr>
        <p:spPr>
          <a:xfrm>
            <a:off x="3533485" y="2017269"/>
            <a:ext cx="1711269" cy="214579"/>
          </a:xfrm>
          <a:prstGeom prst="rect">
            <a:avLst/>
          </a:prstGeom>
          <a:noFill/>
        </p:spPr>
        <p:txBody>
          <a:bodyPr wrap="square" lIns="0" tIns="0" rIns="0" bIns="0" anchor="t">
            <a:spAutoFit/>
          </a:bodyPr>
          <a:lstStyle/>
          <a:p>
            <a:pPr marL="0" indent="0" algn="l">
              <a:buNone/>
            </a:pPr>
            <a:r>
              <a:rPr sz="500" b="0" i="0">
                <a:solidFill>
                  <a:srgbClr val="555555"/>
                </a:solidFill>
              </a:rPr>
              <a:t>We deliver into a locker close to your address — you do not travel to the store. Shows expected time, locker name and locker address with a photo.</a:t>
            </a:r>
          </a:p>
        </p:txBody>
      </p:sp>
      <p:sp>
        <p:nvSpPr>
          <p:cNvPr id="108" name="Rounded Rectangle 107"/>
          <p:cNvSpPr/>
          <p:nvPr/>
        </p:nvSpPr>
        <p:spPr>
          <a:xfrm>
            <a:off x="3458382" y="2317680"/>
            <a:ext cx="1861474" cy="514990"/>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9" name="Rounded Rectangle 108"/>
          <p:cNvSpPr/>
          <p:nvPr/>
        </p:nvSpPr>
        <p:spPr>
          <a:xfrm>
            <a:off x="3533485" y="2360596"/>
            <a:ext cx="482803" cy="85831"/>
          </a:xfrm>
          <a:prstGeom prst="roundRect">
            <a:avLst>
              <a:gd name="adj" fmla="val 50000"/>
            </a:avLst>
          </a:prstGeom>
          <a:solidFill>
            <a:srgbClr val="EEF1F9"/>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0" name="TextBox 109"/>
          <p:cNvSpPr txBox="1"/>
          <p:nvPr/>
        </p:nvSpPr>
        <p:spPr>
          <a:xfrm>
            <a:off x="3533485" y="2360596"/>
            <a:ext cx="482803" cy="85831"/>
          </a:xfrm>
          <a:prstGeom prst="rect">
            <a:avLst/>
          </a:prstGeom>
          <a:noFill/>
        </p:spPr>
        <p:txBody>
          <a:bodyPr wrap="square" lIns="0" tIns="0" rIns="0" bIns="0" anchor="ctr">
            <a:spAutoFit/>
          </a:bodyPr>
          <a:lstStyle/>
          <a:p>
            <a:pPr marL="0" indent="0" algn="ctr">
              <a:buNone/>
            </a:pPr>
            <a:r>
              <a:rPr sz="440" b="1" i="0">
                <a:solidFill>
                  <a:srgbClr val="3D5298"/>
                </a:solidFill>
              </a:rPr>
              <a:t>Pickup</a:t>
            </a:r>
          </a:p>
        </p:txBody>
      </p:sp>
      <p:sp>
        <p:nvSpPr>
          <p:cNvPr id="111" name="TextBox 110"/>
          <p:cNvSpPr txBox="1"/>
          <p:nvPr/>
        </p:nvSpPr>
        <p:spPr>
          <a:xfrm>
            <a:off x="3533485" y="2467551"/>
            <a:ext cx="1711269" cy="97231"/>
          </a:xfrm>
          <a:prstGeom prst="rect">
            <a:avLst/>
          </a:prstGeom>
          <a:noFill/>
        </p:spPr>
        <p:txBody>
          <a:bodyPr wrap="square" lIns="0" tIns="0" rIns="0" bIns="0" anchor="ctr">
            <a:spAutoFit/>
          </a:bodyPr>
          <a:lstStyle/>
          <a:p>
            <a:pPr marL="0" indent="0" algn="l">
              <a:buNone/>
            </a:pPr>
            <a:r>
              <a:rPr sz="580" b="1" i="0">
                <a:solidFill>
                  <a:srgbClr val="3A3A3A"/>
                </a:solidFill>
              </a:rPr>
              <a:t>Locker inside the store</a:t>
            </a:r>
          </a:p>
        </p:txBody>
      </p:sp>
      <p:sp>
        <p:nvSpPr>
          <p:cNvPr id="112" name="TextBox 111"/>
          <p:cNvSpPr txBox="1"/>
          <p:nvPr/>
        </p:nvSpPr>
        <p:spPr>
          <a:xfrm>
            <a:off x="3533485" y="2575175"/>
            <a:ext cx="1711269" cy="214579"/>
          </a:xfrm>
          <a:prstGeom prst="rect">
            <a:avLst/>
          </a:prstGeom>
          <a:noFill/>
        </p:spPr>
        <p:txBody>
          <a:bodyPr wrap="square" lIns="0" tIns="0" rIns="0" bIns="0" anchor="t">
            <a:spAutoFit/>
          </a:bodyPr>
          <a:lstStyle/>
          <a:p>
            <a:pPr marL="0" indent="0" algn="l">
              <a:buNone/>
            </a:pPr>
            <a:r>
              <a:rPr sz="500" b="0" i="0">
                <a:solidFill>
                  <a:srgbClr val="555555"/>
                </a:solidFill>
              </a:rPr>
              <a:t>You travel to the store and collect from a locker inside it. Shows expected time and the locker position with directions or a photo.</a:t>
            </a:r>
          </a:p>
        </p:txBody>
      </p:sp>
      <p:sp>
        <p:nvSpPr>
          <p:cNvPr id="113" name="Rounded Rectangle 112"/>
          <p:cNvSpPr/>
          <p:nvPr/>
        </p:nvSpPr>
        <p:spPr>
          <a:xfrm>
            <a:off x="3458382" y="2875586"/>
            <a:ext cx="1861474" cy="482803"/>
          </a:xfrm>
          <a:prstGeom prst="roundRect">
            <a:avLst>
              <a:gd name="adj" fmla="val 10000"/>
            </a:avLst>
          </a:prstGeom>
          <a:solidFill>
            <a:srgbClr val="FFF6E5"/>
          </a:solidFill>
          <a:ln w="6350">
            <a:solidFill>
              <a:srgbClr val="B26A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4" name="TextBox 113"/>
          <p:cNvSpPr txBox="1"/>
          <p:nvPr/>
        </p:nvSpPr>
        <p:spPr>
          <a:xfrm>
            <a:off x="3533485" y="2909114"/>
            <a:ext cx="1711269" cy="93878"/>
          </a:xfrm>
          <a:prstGeom prst="rect">
            <a:avLst/>
          </a:prstGeom>
          <a:noFill/>
        </p:spPr>
        <p:txBody>
          <a:bodyPr wrap="square" lIns="0" tIns="0" rIns="0" bIns="0" anchor="ctr">
            <a:spAutoFit/>
          </a:bodyPr>
          <a:lstStyle/>
          <a:p>
            <a:pPr marL="0" indent="0" algn="l">
              <a:buNone/>
            </a:pPr>
            <a:r>
              <a:rPr sz="560" b="1" i="0">
                <a:solidFill>
                  <a:srgbClr val="8A5A00"/>
                </a:solidFill>
              </a:rPr>
              <a:t>Not yet specified  —  OQ-23</a:t>
            </a:r>
          </a:p>
        </p:txBody>
      </p:sp>
      <p:sp>
        <p:nvSpPr>
          <p:cNvPr id="115" name="TextBox 114"/>
          <p:cNvSpPr txBox="1"/>
          <p:nvPr/>
        </p:nvSpPr>
        <p:spPr>
          <a:xfrm>
            <a:off x="3533485" y="3015063"/>
            <a:ext cx="1711269" cy="300410"/>
          </a:xfrm>
          <a:prstGeom prst="rect">
            <a:avLst/>
          </a:prstGeom>
          <a:noFill/>
        </p:spPr>
        <p:txBody>
          <a:bodyPr wrap="square" lIns="0" tIns="0" rIns="0" bIns="0" anchor="t">
            <a:spAutoFit/>
          </a:bodyPr>
          <a:lstStyle/>
          <a:p>
            <a:pPr marL="0" indent="0" algn="l">
              <a:buNone/>
            </a:pPr>
            <a:r>
              <a:rPr sz="500" b="0" i="0">
                <a:solidFill>
                  <a:srgbClr val="8A5A00"/>
                </a:solidFill>
              </a:rPr>
              <a:t>Locker selection rules, holding period, cost and what happens when the customer does not collect in time are all pending from LOTTE MART. The two cards above are the agreed framing only.</a:t>
            </a:r>
          </a:p>
        </p:txBody>
      </p:sp>
      <p:sp>
        <p:nvSpPr>
          <p:cNvPr id="116" name="Rectangle 115"/>
          <p:cNvSpPr/>
          <p:nvPr/>
        </p:nvSpPr>
        <p:spPr>
          <a:xfrm>
            <a:off x="3383280" y="4538575"/>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7" name="Rectangle 116"/>
          <p:cNvSpPr/>
          <p:nvPr/>
        </p:nvSpPr>
        <p:spPr>
          <a:xfrm>
            <a:off x="3383280" y="4538575"/>
            <a:ext cx="2011679" cy="3111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8" name="TextBox 117"/>
          <p:cNvSpPr txBox="1"/>
          <p:nvPr/>
        </p:nvSpPr>
        <p:spPr>
          <a:xfrm>
            <a:off x="3458382" y="4570092"/>
            <a:ext cx="858316" cy="87172"/>
          </a:xfrm>
          <a:prstGeom prst="rect">
            <a:avLst/>
          </a:prstGeom>
          <a:noFill/>
        </p:spPr>
        <p:txBody>
          <a:bodyPr wrap="square" lIns="0" tIns="0" rIns="0" bIns="0" anchor="ctr">
            <a:spAutoFit/>
          </a:bodyPr>
          <a:lstStyle/>
          <a:p>
            <a:pPr marL="0" indent="0" algn="l">
              <a:buNone/>
            </a:pPr>
            <a:r>
              <a:rPr sz="520" b="0" i="0">
                <a:solidFill>
                  <a:srgbClr val="888888"/>
                </a:solidFill>
              </a:rPr>
              <a:t>Provisional total  ·  8 items</a:t>
            </a:r>
          </a:p>
        </p:txBody>
      </p:sp>
      <p:sp>
        <p:nvSpPr>
          <p:cNvPr id="119" name="TextBox 118"/>
          <p:cNvSpPr txBox="1"/>
          <p:nvPr/>
        </p:nvSpPr>
        <p:spPr>
          <a:xfrm>
            <a:off x="3458382" y="4621724"/>
            <a:ext cx="858316" cy="134112"/>
          </a:xfrm>
          <a:prstGeom prst="rect">
            <a:avLst/>
          </a:prstGeom>
          <a:noFill/>
        </p:spPr>
        <p:txBody>
          <a:bodyPr wrap="square" lIns="0" tIns="0" rIns="0" bIns="0" anchor="ctr">
            <a:spAutoFit/>
          </a:bodyPr>
          <a:lstStyle/>
          <a:p>
            <a:pPr marL="0" indent="0" algn="l">
              <a:buNone/>
            </a:pPr>
            <a:r>
              <a:rPr sz="800" b="1" i="0">
                <a:solidFill>
                  <a:srgbClr val="C8102E"/>
                </a:solidFill>
              </a:rPr>
              <a:t>486,000 ₫</a:t>
            </a:r>
          </a:p>
        </p:txBody>
      </p:sp>
      <p:sp>
        <p:nvSpPr>
          <p:cNvPr id="120" name="Rounded Rectangle 119"/>
          <p:cNvSpPr/>
          <p:nvPr/>
        </p:nvSpPr>
        <p:spPr>
          <a:xfrm>
            <a:off x="4590288" y="4602949"/>
            <a:ext cx="729569" cy="160934"/>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1" name="TextBox 120"/>
          <p:cNvSpPr txBox="1"/>
          <p:nvPr/>
        </p:nvSpPr>
        <p:spPr>
          <a:xfrm>
            <a:off x="4590288" y="4602949"/>
            <a:ext cx="729569" cy="160934"/>
          </a:xfrm>
          <a:prstGeom prst="rect">
            <a:avLst/>
          </a:prstGeom>
          <a:noFill/>
        </p:spPr>
        <p:txBody>
          <a:bodyPr wrap="square" lIns="0" tIns="0" rIns="0" bIns="0" anchor="ctr">
            <a:spAutoFit/>
          </a:bodyPr>
          <a:lstStyle/>
          <a:p>
            <a:pPr marL="0" indent="0" algn="ctr">
              <a:buNone/>
            </a:pPr>
            <a:r>
              <a:rPr sz="650" b="1" i="0">
                <a:solidFill>
                  <a:srgbClr val="FFFFFF"/>
                </a:solidFill>
              </a:rPr>
              <a:t>Proceed to Checkout</a:t>
            </a:r>
          </a:p>
        </p:txBody>
      </p:sp>
      <p:sp>
        <p:nvSpPr>
          <p:cNvPr id="122" name="Oval 121"/>
          <p:cNvSpPr/>
          <p:nvPr/>
        </p:nvSpPr>
        <p:spPr>
          <a:xfrm>
            <a:off x="3168701" y="1448634"/>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3" name="TextBox 122"/>
          <p:cNvSpPr txBox="1"/>
          <p:nvPr/>
        </p:nvSpPr>
        <p:spPr>
          <a:xfrm>
            <a:off x="3168701" y="1448634"/>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124" name="Oval 123"/>
          <p:cNvSpPr/>
          <p:nvPr/>
        </p:nvSpPr>
        <p:spPr>
          <a:xfrm>
            <a:off x="3168701" y="2006540"/>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5" name="TextBox 124"/>
          <p:cNvSpPr txBox="1"/>
          <p:nvPr/>
        </p:nvSpPr>
        <p:spPr>
          <a:xfrm>
            <a:off x="3168701" y="2006540"/>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sp>
        <p:nvSpPr>
          <p:cNvPr id="126" name="Oval 125"/>
          <p:cNvSpPr/>
          <p:nvPr/>
        </p:nvSpPr>
        <p:spPr>
          <a:xfrm>
            <a:off x="3168701" y="2564446"/>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7" name="TextBox 126"/>
          <p:cNvSpPr txBox="1"/>
          <p:nvPr/>
        </p:nvSpPr>
        <p:spPr>
          <a:xfrm>
            <a:off x="3168701" y="2564446"/>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graphicFrame>
        <p:nvGraphicFramePr>
          <p:cNvPr id="128" name="Table 127"/>
          <p:cNvGraphicFramePr>
            <a:graphicFrameLocks noGrp="1"/>
          </p:cNvGraphicFramePr>
          <p:nvPr/>
        </p:nvGraphicFramePr>
        <p:xfrm>
          <a:off x="7196328" y="886968"/>
          <a:ext cx="4718304" cy="336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Collector details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Name and phone are captured separately from the account profile, because the person collecting is often not the account holder (BRL-30).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Pick-up store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Independent of any delivery address. The customer may collect from a store other than the one they browsed.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Slot states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Open · Closing soon · Closed — unchanged from the current system. Capacity is held per slot: open while capacity remains, closed when exhausted (BRL-28). Slot suggestion follows the same precedence as Delivery (BRL-25 … BRL-27).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Cash at pick-up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 change from As-Is, which does not allow it. To-Be allows cash for selected tiers, Platinum and Diamond first (BRL-29). Eligibility is stated on-screen so an ineligible customer is not surprised at 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Near-home locker — Delivery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Belongs to the Delivery branch. LOTTE MART or a third party places the order in a locker near the customer's address (CT-10).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7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In-store locker — Pickup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Belongs to the Pickup branch. The customer travels to the store and collects from a locker inside it (CT-10).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420000">
                <a:tc>
                  <a:txBody>
                    <a:bodyPr/>
                    <a:lstStyle/>
                    <a:p>
                      <a:pPr marL="0" indent="0" algn="ctr">
                        <a:buNone/>
                      </a:pPr>
                      <a:r>
                        <a:rPr sz="70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Open scope marker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locker journey cannot be built from this specification alone. It is shown so the two journeys are not confused with each other, which is the mistake the As-Is naming invites.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129" name="TextBox 128"/>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Bulky orders move Pickup from T+2 to T+4 exactly as they do for Delivery (BRL-23). Open — OQ-14: whether some products support only Delivery or only Pickup; and OQ-23: the complete locker rule set.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Cart (CT)</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CT-05</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SCR-CRT-05</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Cart — Item Limit &amp; Remove Confirmation</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57</a:t>
            </a:r>
          </a:p>
        </p:txBody>
      </p:sp>
      <p:sp>
        <p:nvSpPr>
          <p:cNvPr id="22" name="Rounded Rectangle 21"/>
          <p:cNvSpPr/>
          <p:nvPr/>
        </p:nvSpPr>
        <p:spPr>
          <a:xfrm>
            <a:off x="383683" y="852203"/>
            <a:ext cx="1792955" cy="3483985"/>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411480" y="880000"/>
            <a:ext cx="1737360" cy="3428390"/>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383683" y="4354719"/>
            <a:ext cx="1792955" cy="120456"/>
          </a:xfrm>
          <a:prstGeom prst="rect">
            <a:avLst/>
          </a:prstGeom>
          <a:noFill/>
        </p:spPr>
        <p:txBody>
          <a:bodyPr wrap="square" lIns="0" tIns="0" rIns="0" bIns="0" anchor="t">
            <a:spAutoFit/>
          </a:bodyPr>
          <a:lstStyle/>
          <a:p>
            <a:pPr marL="0" indent="0" algn="ctr">
              <a:buNone/>
            </a:pPr>
            <a:r>
              <a:rPr sz="750" b="1" i="0">
                <a:solidFill>
                  <a:srgbClr val="1E2F6E"/>
                </a:solidFill>
              </a:rPr>
              <a:t>(a)  Swipe left to remove</a:t>
            </a:r>
          </a:p>
        </p:txBody>
      </p:sp>
      <p:sp>
        <p:nvSpPr>
          <p:cNvPr id="25" name="TextBox 24"/>
          <p:cNvSpPr txBox="1"/>
          <p:nvPr/>
        </p:nvSpPr>
        <p:spPr>
          <a:xfrm>
            <a:off x="476341" y="875596"/>
            <a:ext cx="277977" cy="92202"/>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1806000" y="879787"/>
            <a:ext cx="277977" cy="8382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411480" y="981925"/>
            <a:ext cx="1737360" cy="1853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467075" y="981925"/>
            <a:ext cx="83393" cy="185318"/>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29" name="TextBox 28"/>
          <p:cNvSpPr txBox="1"/>
          <p:nvPr/>
        </p:nvSpPr>
        <p:spPr>
          <a:xfrm>
            <a:off x="569000" y="981925"/>
            <a:ext cx="1274064" cy="185318"/>
          </a:xfrm>
          <a:prstGeom prst="rect">
            <a:avLst/>
          </a:prstGeom>
          <a:noFill/>
        </p:spPr>
        <p:txBody>
          <a:bodyPr wrap="square" lIns="0" tIns="0" rIns="0" bIns="0" anchor="ctr">
            <a:spAutoFit/>
          </a:bodyPr>
          <a:lstStyle/>
          <a:p>
            <a:pPr marL="0" indent="0" algn="l">
              <a:buNone/>
            </a:pPr>
            <a:r>
              <a:rPr sz="700" b="1" i="0">
                <a:solidFill>
                  <a:srgbClr val="1A1A1A"/>
                </a:solidFill>
              </a:rPr>
              <a:t>Cart  (8)</a:t>
            </a:r>
          </a:p>
        </p:txBody>
      </p:sp>
      <p:sp>
        <p:nvSpPr>
          <p:cNvPr id="30" name="TextBox 29"/>
          <p:cNvSpPr txBox="1"/>
          <p:nvPr/>
        </p:nvSpPr>
        <p:spPr>
          <a:xfrm>
            <a:off x="1685544" y="981925"/>
            <a:ext cx="398434" cy="185318"/>
          </a:xfrm>
          <a:prstGeom prst="rect">
            <a:avLst/>
          </a:prstGeom>
          <a:noFill/>
        </p:spPr>
        <p:txBody>
          <a:bodyPr wrap="square" lIns="0" tIns="0" rIns="0" bIns="0" anchor="ctr">
            <a:spAutoFit/>
          </a:bodyPr>
          <a:lstStyle/>
          <a:p>
            <a:pPr marL="0" indent="0" algn="r">
              <a:buNone/>
            </a:pPr>
            <a:r>
              <a:rPr sz="600" b="0" i="0">
                <a:solidFill>
                  <a:srgbClr val="555555"/>
                </a:solidFill>
              </a:rPr>
              <a:t>Edit</a:t>
            </a:r>
          </a:p>
        </p:txBody>
      </p:sp>
      <p:sp>
        <p:nvSpPr>
          <p:cNvPr id="31" name="Rectangle 30"/>
          <p:cNvSpPr/>
          <p:nvPr/>
        </p:nvSpPr>
        <p:spPr>
          <a:xfrm>
            <a:off x="411480" y="1167243"/>
            <a:ext cx="1737360" cy="4632"/>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411480" y="1171876"/>
            <a:ext cx="868680" cy="138988"/>
          </a:xfrm>
          <a:prstGeom prst="rect">
            <a:avLst/>
          </a:prstGeom>
          <a:noFill/>
        </p:spPr>
        <p:txBody>
          <a:bodyPr wrap="square" lIns="0" tIns="0" rIns="0" bIns="0" anchor="ctr">
            <a:spAutoFit/>
          </a:bodyPr>
          <a:lstStyle/>
          <a:p>
            <a:pPr marL="0" indent="0" algn="ctr">
              <a:buNone/>
            </a:pPr>
            <a:r>
              <a:rPr sz="650" b="1" i="0">
                <a:solidFill>
                  <a:srgbClr val="C8102E"/>
                </a:solidFill>
              </a:rPr>
              <a:t>Delivery</a:t>
            </a:r>
          </a:p>
        </p:txBody>
      </p:sp>
      <p:sp>
        <p:nvSpPr>
          <p:cNvPr id="33" name="Rectangle 32"/>
          <p:cNvSpPr/>
          <p:nvPr/>
        </p:nvSpPr>
        <p:spPr>
          <a:xfrm>
            <a:off x="602589" y="1296966"/>
            <a:ext cx="486460" cy="1389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1280160" y="1171876"/>
            <a:ext cx="868680" cy="138988"/>
          </a:xfrm>
          <a:prstGeom prst="rect">
            <a:avLst/>
          </a:prstGeom>
          <a:noFill/>
        </p:spPr>
        <p:txBody>
          <a:bodyPr wrap="square" lIns="0" tIns="0" rIns="0" bIns="0" anchor="ctr">
            <a:spAutoFit/>
          </a:bodyPr>
          <a:lstStyle/>
          <a:p>
            <a:pPr marL="0" indent="0" algn="ctr">
              <a:buNone/>
            </a:pPr>
            <a:r>
              <a:rPr sz="650" b="0" i="0">
                <a:solidFill>
                  <a:srgbClr val="888888"/>
                </a:solidFill>
              </a:rPr>
              <a:t>Self pick-up</a:t>
            </a:r>
          </a:p>
        </p:txBody>
      </p:sp>
      <p:sp>
        <p:nvSpPr>
          <p:cNvPr id="35" name="Rectangle 34"/>
          <p:cNvSpPr/>
          <p:nvPr/>
        </p:nvSpPr>
        <p:spPr>
          <a:xfrm>
            <a:off x="411480" y="1310865"/>
            <a:ext cx="1737360" cy="4632"/>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Rectangle 35"/>
          <p:cNvSpPr/>
          <p:nvPr/>
        </p:nvSpPr>
        <p:spPr>
          <a:xfrm>
            <a:off x="411480" y="1315498"/>
            <a:ext cx="1737360" cy="101925"/>
          </a:xfrm>
          <a:prstGeom prst="rect">
            <a:avLst/>
          </a:prstGeom>
          <a:solidFill>
            <a:srgbClr val="F7E9E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TextBox 36"/>
          <p:cNvSpPr txBox="1"/>
          <p:nvPr/>
        </p:nvSpPr>
        <p:spPr>
          <a:xfrm>
            <a:off x="476341" y="1315498"/>
            <a:ext cx="1204569" cy="101925"/>
          </a:xfrm>
          <a:prstGeom prst="rect">
            <a:avLst/>
          </a:prstGeom>
          <a:noFill/>
        </p:spPr>
        <p:txBody>
          <a:bodyPr wrap="square" lIns="0" tIns="0" rIns="0" bIns="0" anchor="ctr">
            <a:spAutoFit/>
          </a:bodyPr>
          <a:lstStyle/>
          <a:p>
            <a:pPr marL="0" indent="0" algn="l">
              <a:buNone/>
            </a:pPr>
            <a:r>
              <a:rPr sz="520" b="0" i="0">
                <a:solidFill>
                  <a:srgbClr val="555555"/>
                </a:solidFill>
              </a:rPr>
              <a:t>Serving store:  </a:t>
            </a:r>
            <a:r>
              <a:rPr sz="520" b="1" i="0">
                <a:solidFill>
                  <a:srgbClr val="C8102E"/>
                </a:solidFill>
              </a:rPr>
              <a:t>LOTTE Mart Nam Sài Gòn</a:t>
            </a:r>
          </a:p>
        </p:txBody>
      </p:sp>
      <p:sp>
        <p:nvSpPr>
          <p:cNvPr id="38" name="TextBox 37"/>
          <p:cNvSpPr txBox="1"/>
          <p:nvPr/>
        </p:nvSpPr>
        <p:spPr>
          <a:xfrm>
            <a:off x="1801368" y="1315498"/>
            <a:ext cx="282610" cy="101925"/>
          </a:xfrm>
          <a:prstGeom prst="rect">
            <a:avLst/>
          </a:prstGeom>
          <a:noFill/>
        </p:spPr>
        <p:txBody>
          <a:bodyPr wrap="square" lIns="0" tIns="0" rIns="0" bIns="0" anchor="ctr">
            <a:spAutoFit/>
          </a:bodyPr>
          <a:lstStyle/>
          <a:p>
            <a:pPr marL="0" indent="0" algn="r">
              <a:buNone/>
            </a:pPr>
            <a:r>
              <a:rPr sz="500" b="1" i="0">
                <a:solidFill>
                  <a:srgbClr val="C8102E"/>
                </a:solidFill>
              </a:rPr>
              <a:t>Change ›</a:t>
            </a:r>
          </a:p>
        </p:txBody>
      </p:sp>
      <p:sp>
        <p:nvSpPr>
          <p:cNvPr id="39" name="TextBox 38"/>
          <p:cNvSpPr txBox="1"/>
          <p:nvPr/>
        </p:nvSpPr>
        <p:spPr>
          <a:xfrm>
            <a:off x="476341" y="1423123"/>
            <a:ext cx="1158240" cy="90525"/>
          </a:xfrm>
          <a:prstGeom prst="rect">
            <a:avLst/>
          </a:prstGeom>
          <a:noFill/>
        </p:spPr>
        <p:txBody>
          <a:bodyPr wrap="square" lIns="0" tIns="0" rIns="0" bIns="0" anchor="ctr">
            <a:spAutoFit/>
          </a:bodyPr>
          <a:lstStyle/>
          <a:p>
            <a:pPr marL="0" indent="0" algn="l">
              <a:buNone/>
            </a:pPr>
            <a:r>
              <a:rPr sz="540" b="0" i="0">
                <a:solidFill>
                  <a:srgbClr val="888888"/>
                </a:solidFill>
              </a:rPr>
              <a:t>Swipe a row left to reveal Remove</a:t>
            </a:r>
          </a:p>
        </p:txBody>
      </p:sp>
      <p:sp>
        <p:nvSpPr>
          <p:cNvPr id="40" name="Rounded Rectangle 39"/>
          <p:cNvSpPr/>
          <p:nvPr/>
        </p:nvSpPr>
        <p:spPr>
          <a:xfrm>
            <a:off x="476341" y="1537880"/>
            <a:ext cx="1607637" cy="250179"/>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Rounded Rectangle 40"/>
          <p:cNvSpPr/>
          <p:nvPr/>
        </p:nvSpPr>
        <p:spPr>
          <a:xfrm>
            <a:off x="1592884" y="1537880"/>
            <a:ext cx="491093" cy="250179"/>
          </a:xfrm>
          <a:prstGeom prst="roundRect">
            <a:avLst>
              <a:gd name="adj" fmla="val 8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TextBox 41"/>
          <p:cNvSpPr txBox="1"/>
          <p:nvPr/>
        </p:nvSpPr>
        <p:spPr>
          <a:xfrm>
            <a:off x="1592884" y="1537880"/>
            <a:ext cx="491093" cy="250179"/>
          </a:xfrm>
          <a:prstGeom prst="rect">
            <a:avLst/>
          </a:prstGeom>
          <a:noFill/>
        </p:spPr>
        <p:txBody>
          <a:bodyPr wrap="square" lIns="0" tIns="0" rIns="0" bIns="0" anchor="ctr">
            <a:spAutoFit/>
          </a:bodyPr>
          <a:lstStyle/>
          <a:p>
            <a:pPr marL="0" indent="0" algn="ctr">
              <a:buNone/>
            </a:pPr>
            <a:r>
              <a:rPr sz="600" b="1" i="0">
                <a:solidFill>
                  <a:srgbClr val="FFFFFF"/>
                </a:solidFill>
              </a:rPr>
              <a:t>Remove</a:t>
            </a:r>
          </a:p>
        </p:txBody>
      </p:sp>
      <p:sp>
        <p:nvSpPr>
          <p:cNvPr id="43" name="Rounded Rectangle 42"/>
          <p:cNvSpPr/>
          <p:nvPr/>
        </p:nvSpPr>
        <p:spPr>
          <a:xfrm>
            <a:off x="541202" y="1570311"/>
            <a:ext cx="185318" cy="185318"/>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4" name="TextBox 43"/>
          <p:cNvSpPr txBox="1"/>
          <p:nvPr/>
        </p:nvSpPr>
        <p:spPr>
          <a:xfrm>
            <a:off x="763584" y="1573054"/>
            <a:ext cx="787603" cy="87172"/>
          </a:xfrm>
          <a:prstGeom prst="rect">
            <a:avLst/>
          </a:prstGeom>
          <a:noFill/>
        </p:spPr>
        <p:txBody>
          <a:bodyPr wrap="square" lIns="0" tIns="0" rIns="0" bIns="0" anchor="ctr">
            <a:spAutoFit/>
          </a:bodyPr>
          <a:lstStyle/>
          <a:p>
            <a:pPr marL="0" indent="0" algn="l">
              <a:buNone/>
            </a:pPr>
            <a:r>
              <a:rPr sz="520" b="1" i="0">
                <a:solidFill>
                  <a:srgbClr val="222222"/>
                </a:solidFill>
              </a:rPr>
              <a:t>Ba Vì yoghurt · pack of 12</a:t>
            </a:r>
          </a:p>
        </p:txBody>
      </p:sp>
      <p:sp>
        <p:nvSpPr>
          <p:cNvPr id="45" name="TextBox 44"/>
          <p:cNvSpPr txBox="1"/>
          <p:nvPr/>
        </p:nvSpPr>
        <p:spPr>
          <a:xfrm>
            <a:off x="763584" y="1653095"/>
            <a:ext cx="555955" cy="93878"/>
          </a:xfrm>
          <a:prstGeom prst="rect">
            <a:avLst/>
          </a:prstGeom>
          <a:noFill/>
        </p:spPr>
        <p:txBody>
          <a:bodyPr wrap="square" lIns="0" tIns="0" rIns="0" bIns="0" anchor="ctr">
            <a:spAutoFit/>
          </a:bodyPr>
          <a:lstStyle/>
          <a:p>
            <a:pPr marL="0" indent="0" algn="l">
              <a:buNone/>
            </a:pPr>
            <a:r>
              <a:rPr sz="560" b="1" i="0">
                <a:solidFill>
                  <a:srgbClr val="C8102E"/>
                </a:solidFill>
              </a:rPr>
              <a:t>78,000 ₫</a:t>
            </a:r>
          </a:p>
        </p:txBody>
      </p:sp>
      <p:sp>
        <p:nvSpPr>
          <p:cNvPr id="46" name="Rounded Rectangle 45"/>
          <p:cNvSpPr/>
          <p:nvPr/>
        </p:nvSpPr>
        <p:spPr>
          <a:xfrm>
            <a:off x="467075" y="1954846"/>
            <a:ext cx="55595" cy="55595"/>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TextBox 46"/>
          <p:cNvSpPr txBox="1"/>
          <p:nvPr/>
        </p:nvSpPr>
        <p:spPr>
          <a:xfrm>
            <a:off x="467075" y="1940734"/>
            <a:ext cx="55595" cy="83820"/>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48" name="Rounded Rectangle 47"/>
          <p:cNvSpPr/>
          <p:nvPr/>
        </p:nvSpPr>
        <p:spPr>
          <a:xfrm>
            <a:off x="550468" y="1885352"/>
            <a:ext cx="176052" cy="176052"/>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9" name="TextBox 48"/>
          <p:cNvSpPr txBox="1"/>
          <p:nvPr/>
        </p:nvSpPr>
        <p:spPr>
          <a:xfrm>
            <a:off x="550468" y="1885352"/>
            <a:ext cx="176052" cy="176052"/>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50" name="TextBox 49"/>
          <p:cNvSpPr txBox="1"/>
          <p:nvPr/>
        </p:nvSpPr>
        <p:spPr>
          <a:xfrm>
            <a:off x="763584" y="1853348"/>
            <a:ext cx="959022" cy="87172"/>
          </a:xfrm>
          <a:prstGeom prst="rect">
            <a:avLst/>
          </a:prstGeom>
          <a:noFill/>
        </p:spPr>
        <p:txBody>
          <a:bodyPr wrap="square" lIns="0" tIns="0" rIns="0" bIns="0" anchor="ctr">
            <a:spAutoFit/>
          </a:bodyPr>
          <a:lstStyle/>
          <a:p>
            <a:pPr marL="0" indent="0" algn="l">
              <a:buNone/>
            </a:pPr>
            <a:r>
              <a:rPr sz="520" b="1" i="0">
                <a:solidFill>
                  <a:srgbClr val="222222"/>
                </a:solidFill>
              </a:rPr>
              <a:t>Vinamilk fresh milk 1L</a:t>
            </a:r>
          </a:p>
        </p:txBody>
      </p:sp>
      <p:sp>
        <p:nvSpPr>
          <p:cNvPr id="51" name="TextBox 50"/>
          <p:cNvSpPr txBox="1"/>
          <p:nvPr/>
        </p:nvSpPr>
        <p:spPr>
          <a:xfrm>
            <a:off x="763584" y="1933388"/>
            <a:ext cx="694944" cy="93878"/>
          </a:xfrm>
          <a:prstGeom prst="rect">
            <a:avLst/>
          </a:prstGeom>
          <a:noFill/>
        </p:spPr>
        <p:txBody>
          <a:bodyPr wrap="square" lIns="0" tIns="0" rIns="0" bIns="0" anchor="ctr">
            <a:spAutoFit/>
          </a:bodyPr>
          <a:lstStyle/>
          <a:p>
            <a:pPr marL="0" indent="0" algn="l">
              <a:buNone/>
            </a:pPr>
            <a:r>
              <a:rPr sz="560" b="1" i="0">
                <a:solidFill>
                  <a:srgbClr val="C8102E"/>
                </a:solidFill>
              </a:rPr>
              <a:t>196,000 ₫</a:t>
            </a:r>
          </a:p>
        </p:txBody>
      </p:sp>
      <p:sp>
        <p:nvSpPr>
          <p:cNvPr id="52" name="Rounded Rectangle 51"/>
          <p:cNvSpPr/>
          <p:nvPr/>
        </p:nvSpPr>
        <p:spPr>
          <a:xfrm>
            <a:off x="1806000" y="1922416"/>
            <a:ext cx="277977" cy="101925"/>
          </a:xfrm>
          <a:prstGeom prst="roundRect">
            <a:avLst>
              <a:gd name="adj" fmla="val 2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TextBox 52"/>
          <p:cNvSpPr txBox="1"/>
          <p:nvPr/>
        </p:nvSpPr>
        <p:spPr>
          <a:xfrm>
            <a:off x="1806000" y="1922416"/>
            <a:ext cx="92659" cy="101925"/>
          </a:xfrm>
          <a:prstGeom prst="rect">
            <a:avLst/>
          </a:prstGeom>
          <a:noFill/>
        </p:spPr>
        <p:txBody>
          <a:bodyPr wrap="square" lIns="0" tIns="0" rIns="0" bIns="0" anchor="ctr">
            <a:spAutoFit/>
          </a:bodyPr>
          <a:lstStyle/>
          <a:p>
            <a:pPr marL="0" indent="0" algn="ctr">
              <a:buNone/>
            </a:pPr>
            <a:r>
              <a:rPr sz="560" b="0" i="0">
                <a:solidFill>
                  <a:srgbClr val="555555"/>
                </a:solidFill>
              </a:rPr>
              <a:t>−</a:t>
            </a:r>
          </a:p>
        </p:txBody>
      </p:sp>
      <p:sp>
        <p:nvSpPr>
          <p:cNvPr id="54" name="TextBox 53"/>
          <p:cNvSpPr txBox="1"/>
          <p:nvPr/>
        </p:nvSpPr>
        <p:spPr>
          <a:xfrm>
            <a:off x="1894027" y="1922416"/>
            <a:ext cx="101925" cy="101925"/>
          </a:xfrm>
          <a:prstGeom prst="rect">
            <a:avLst/>
          </a:prstGeom>
          <a:noFill/>
        </p:spPr>
        <p:txBody>
          <a:bodyPr wrap="square" lIns="0" tIns="0" rIns="0" bIns="0" anchor="ctr">
            <a:spAutoFit/>
          </a:bodyPr>
          <a:lstStyle/>
          <a:p>
            <a:pPr marL="0" indent="0" algn="ctr">
              <a:buNone/>
            </a:pPr>
            <a:r>
              <a:rPr sz="560" b="1" i="0">
                <a:solidFill>
                  <a:srgbClr val="222222"/>
                </a:solidFill>
              </a:rPr>
              <a:t>1</a:t>
            </a:r>
          </a:p>
        </p:txBody>
      </p:sp>
      <p:sp>
        <p:nvSpPr>
          <p:cNvPr id="55" name="TextBox 54"/>
          <p:cNvSpPr txBox="1"/>
          <p:nvPr/>
        </p:nvSpPr>
        <p:spPr>
          <a:xfrm>
            <a:off x="1991319" y="1922416"/>
            <a:ext cx="92659" cy="101925"/>
          </a:xfrm>
          <a:prstGeom prst="rect">
            <a:avLst/>
          </a:prstGeom>
          <a:noFill/>
        </p:spPr>
        <p:txBody>
          <a:bodyPr wrap="square" lIns="0" tIns="0" rIns="0" bIns="0" anchor="ctr">
            <a:spAutoFit/>
          </a:bodyPr>
          <a:lstStyle/>
          <a:p>
            <a:pPr marL="0" indent="0" algn="ctr">
              <a:buNone/>
            </a:pPr>
            <a:r>
              <a:rPr sz="560" b="0" i="0">
                <a:solidFill>
                  <a:srgbClr val="C8102E"/>
                </a:solidFill>
              </a:rPr>
              <a:t>+</a:t>
            </a:r>
          </a:p>
        </p:txBody>
      </p:sp>
      <p:sp>
        <p:nvSpPr>
          <p:cNvPr id="56" name="Rectangle 55"/>
          <p:cNvSpPr/>
          <p:nvPr/>
        </p:nvSpPr>
        <p:spPr>
          <a:xfrm>
            <a:off x="467075" y="2121633"/>
            <a:ext cx="1626168" cy="4632"/>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7" name="Rounded Rectangle 56"/>
          <p:cNvSpPr/>
          <p:nvPr/>
        </p:nvSpPr>
        <p:spPr>
          <a:xfrm>
            <a:off x="467075" y="2209659"/>
            <a:ext cx="55595" cy="55595"/>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8" name="TextBox 57"/>
          <p:cNvSpPr txBox="1"/>
          <p:nvPr/>
        </p:nvSpPr>
        <p:spPr>
          <a:xfrm>
            <a:off x="467075" y="2195547"/>
            <a:ext cx="55595" cy="83820"/>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59" name="Rounded Rectangle 58"/>
          <p:cNvSpPr/>
          <p:nvPr/>
        </p:nvSpPr>
        <p:spPr>
          <a:xfrm>
            <a:off x="550468" y="2140165"/>
            <a:ext cx="176052" cy="176052"/>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0" name="TextBox 59"/>
          <p:cNvSpPr txBox="1"/>
          <p:nvPr/>
        </p:nvSpPr>
        <p:spPr>
          <a:xfrm>
            <a:off x="550468" y="2140165"/>
            <a:ext cx="176052" cy="176052"/>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61" name="TextBox 60"/>
          <p:cNvSpPr txBox="1"/>
          <p:nvPr/>
        </p:nvSpPr>
        <p:spPr>
          <a:xfrm>
            <a:off x="763584" y="2108161"/>
            <a:ext cx="959022" cy="87172"/>
          </a:xfrm>
          <a:prstGeom prst="rect">
            <a:avLst/>
          </a:prstGeom>
          <a:noFill/>
        </p:spPr>
        <p:txBody>
          <a:bodyPr wrap="square" lIns="0" tIns="0" rIns="0" bIns="0" anchor="ctr">
            <a:spAutoFit/>
          </a:bodyPr>
          <a:lstStyle/>
          <a:p>
            <a:pPr marL="0" indent="0" algn="l">
              <a:buNone/>
            </a:pPr>
            <a:r>
              <a:rPr sz="520" b="1" i="0">
                <a:solidFill>
                  <a:srgbClr val="222222"/>
                </a:solidFill>
              </a:rPr>
              <a:t>Chicken breast 500g</a:t>
            </a:r>
          </a:p>
        </p:txBody>
      </p:sp>
      <p:sp>
        <p:nvSpPr>
          <p:cNvPr id="62" name="TextBox 61"/>
          <p:cNvSpPr txBox="1"/>
          <p:nvPr/>
        </p:nvSpPr>
        <p:spPr>
          <a:xfrm>
            <a:off x="763584" y="2188201"/>
            <a:ext cx="694944" cy="93878"/>
          </a:xfrm>
          <a:prstGeom prst="rect">
            <a:avLst/>
          </a:prstGeom>
          <a:noFill/>
        </p:spPr>
        <p:txBody>
          <a:bodyPr wrap="square" lIns="0" tIns="0" rIns="0" bIns="0" anchor="ctr">
            <a:spAutoFit/>
          </a:bodyPr>
          <a:lstStyle/>
          <a:p>
            <a:pPr marL="0" indent="0" algn="l">
              <a:buNone/>
            </a:pPr>
            <a:r>
              <a:rPr sz="560" b="1" i="0">
                <a:solidFill>
                  <a:srgbClr val="C8102E"/>
                </a:solidFill>
              </a:rPr>
              <a:t>112,000 ₫</a:t>
            </a:r>
          </a:p>
        </p:txBody>
      </p:sp>
      <p:sp>
        <p:nvSpPr>
          <p:cNvPr id="63" name="Rounded Rectangle 62"/>
          <p:cNvSpPr/>
          <p:nvPr/>
        </p:nvSpPr>
        <p:spPr>
          <a:xfrm>
            <a:off x="1806000" y="2177228"/>
            <a:ext cx="277977" cy="101925"/>
          </a:xfrm>
          <a:prstGeom prst="roundRect">
            <a:avLst>
              <a:gd name="adj" fmla="val 2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4" name="TextBox 63"/>
          <p:cNvSpPr txBox="1"/>
          <p:nvPr/>
        </p:nvSpPr>
        <p:spPr>
          <a:xfrm>
            <a:off x="1806000" y="2177228"/>
            <a:ext cx="92659" cy="101925"/>
          </a:xfrm>
          <a:prstGeom prst="rect">
            <a:avLst/>
          </a:prstGeom>
          <a:noFill/>
        </p:spPr>
        <p:txBody>
          <a:bodyPr wrap="square" lIns="0" tIns="0" rIns="0" bIns="0" anchor="ctr">
            <a:spAutoFit/>
          </a:bodyPr>
          <a:lstStyle/>
          <a:p>
            <a:pPr marL="0" indent="0" algn="ctr">
              <a:buNone/>
            </a:pPr>
            <a:r>
              <a:rPr sz="560" b="0" i="0">
                <a:solidFill>
                  <a:srgbClr val="555555"/>
                </a:solidFill>
              </a:rPr>
              <a:t>−</a:t>
            </a:r>
          </a:p>
        </p:txBody>
      </p:sp>
      <p:sp>
        <p:nvSpPr>
          <p:cNvPr id="65" name="TextBox 64"/>
          <p:cNvSpPr txBox="1"/>
          <p:nvPr/>
        </p:nvSpPr>
        <p:spPr>
          <a:xfrm>
            <a:off x="1894027" y="2177228"/>
            <a:ext cx="101925" cy="101925"/>
          </a:xfrm>
          <a:prstGeom prst="rect">
            <a:avLst/>
          </a:prstGeom>
          <a:noFill/>
        </p:spPr>
        <p:txBody>
          <a:bodyPr wrap="square" lIns="0" tIns="0" rIns="0" bIns="0" anchor="ctr">
            <a:spAutoFit/>
          </a:bodyPr>
          <a:lstStyle/>
          <a:p>
            <a:pPr marL="0" indent="0" algn="ctr">
              <a:buNone/>
            </a:pPr>
            <a:r>
              <a:rPr sz="560" b="1" i="0">
                <a:solidFill>
                  <a:srgbClr val="222222"/>
                </a:solidFill>
              </a:rPr>
              <a:t>1</a:t>
            </a:r>
          </a:p>
        </p:txBody>
      </p:sp>
      <p:sp>
        <p:nvSpPr>
          <p:cNvPr id="66" name="TextBox 65"/>
          <p:cNvSpPr txBox="1"/>
          <p:nvPr/>
        </p:nvSpPr>
        <p:spPr>
          <a:xfrm>
            <a:off x="1991319" y="2177228"/>
            <a:ext cx="92659" cy="101925"/>
          </a:xfrm>
          <a:prstGeom prst="rect">
            <a:avLst/>
          </a:prstGeom>
          <a:noFill/>
        </p:spPr>
        <p:txBody>
          <a:bodyPr wrap="square" lIns="0" tIns="0" rIns="0" bIns="0" anchor="ctr">
            <a:spAutoFit/>
          </a:bodyPr>
          <a:lstStyle/>
          <a:p>
            <a:pPr marL="0" indent="0" algn="ctr">
              <a:buNone/>
            </a:pPr>
            <a:r>
              <a:rPr sz="560" b="0" i="0">
                <a:solidFill>
                  <a:srgbClr val="C8102E"/>
                </a:solidFill>
              </a:rPr>
              <a:t>+</a:t>
            </a:r>
          </a:p>
        </p:txBody>
      </p:sp>
      <p:sp>
        <p:nvSpPr>
          <p:cNvPr id="67" name="Rectangle 66"/>
          <p:cNvSpPr/>
          <p:nvPr/>
        </p:nvSpPr>
        <p:spPr>
          <a:xfrm>
            <a:off x="467075" y="2376446"/>
            <a:ext cx="1626168" cy="4632"/>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8" name="Rounded Rectangle 67"/>
          <p:cNvSpPr/>
          <p:nvPr/>
        </p:nvSpPr>
        <p:spPr>
          <a:xfrm>
            <a:off x="476341" y="2399610"/>
            <a:ext cx="1607637" cy="277977"/>
          </a:xfrm>
          <a:prstGeom prst="roundRect">
            <a:avLst>
              <a:gd name="adj" fmla="val 10000"/>
            </a:avLst>
          </a:prstGeom>
          <a:solidFill>
            <a:srgbClr val="EEF1F9"/>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9" name="TextBox 68"/>
          <p:cNvSpPr txBox="1"/>
          <p:nvPr/>
        </p:nvSpPr>
        <p:spPr>
          <a:xfrm>
            <a:off x="541202" y="2414576"/>
            <a:ext cx="1477914" cy="90525"/>
          </a:xfrm>
          <a:prstGeom prst="rect">
            <a:avLst/>
          </a:prstGeom>
          <a:noFill/>
        </p:spPr>
        <p:txBody>
          <a:bodyPr wrap="square" lIns="0" tIns="0" rIns="0" bIns="0" anchor="ctr">
            <a:spAutoFit/>
          </a:bodyPr>
          <a:lstStyle/>
          <a:p>
            <a:pPr marL="0" indent="0" algn="l">
              <a:buNone/>
            </a:pPr>
            <a:r>
              <a:rPr sz="540" b="1" i="0">
                <a:solidFill>
                  <a:srgbClr val="1E2F6E"/>
                </a:solidFill>
              </a:rPr>
              <a:t>Two ways to remove, one confirmation</a:t>
            </a:r>
          </a:p>
        </p:txBody>
      </p:sp>
      <p:sp>
        <p:nvSpPr>
          <p:cNvPr id="70" name="TextBox 69"/>
          <p:cNvSpPr txBox="1"/>
          <p:nvPr/>
        </p:nvSpPr>
        <p:spPr>
          <a:xfrm>
            <a:off x="541202" y="2501536"/>
            <a:ext cx="1477914" cy="157520"/>
          </a:xfrm>
          <a:prstGeom prst="rect">
            <a:avLst/>
          </a:prstGeom>
          <a:noFill/>
        </p:spPr>
        <p:txBody>
          <a:bodyPr wrap="square" lIns="0" tIns="0" rIns="0" bIns="0" anchor="t">
            <a:spAutoFit/>
          </a:bodyPr>
          <a:lstStyle/>
          <a:p>
            <a:pPr marL="0" indent="0" algn="l">
              <a:buNone/>
            </a:pPr>
            <a:r>
              <a:rPr sz="500" b="0" i="0">
                <a:solidFill>
                  <a:srgbClr val="555555"/>
                </a:solidFill>
              </a:rPr>
              <a:t>Swipe left, or reduce the quantity to zero. Both raise the same dialog.</a:t>
            </a:r>
          </a:p>
        </p:txBody>
      </p:sp>
      <p:sp>
        <p:nvSpPr>
          <p:cNvPr id="71" name="Oval 70"/>
          <p:cNvSpPr/>
          <p:nvPr/>
        </p:nvSpPr>
        <p:spPr>
          <a:xfrm>
            <a:off x="253960" y="1417423"/>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2" name="TextBox 71"/>
          <p:cNvSpPr txBox="1"/>
          <p:nvPr/>
        </p:nvSpPr>
        <p:spPr>
          <a:xfrm>
            <a:off x="253960" y="1417423"/>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73" name="Rounded Rectangle 72"/>
          <p:cNvSpPr/>
          <p:nvPr/>
        </p:nvSpPr>
        <p:spPr>
          <a:xfrm>
            <a:off x="2523883" y="852203"/>
            <a:ext cx="1792955" cy="3483985"/>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Rectangle 73"/>
          <p:cNvSpPr/>
          <p:nvPr/>
        </p:nvSpPr>
        <p:spPr>
          <a:xfrm>
            <a:off x="2551680" y="880000"/>
            <a:ext cx="1737360" cy="3428390"/>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5" name="TextBox 74"/>
          <p:cNvSpPr txBox="1"/>
          <p:nvPr/>
        </p:nvSpPr>
        <p:spPr>
          <a:xfrm>
            <a:off x="2523883" y="4354719"/>
            <a:ext cx="1792955" cy="120456"/>
          </a:xfrm>
          <a:prstGeom prst="rect">
            <a:avLst/>
          </a:prstGeom>
          <a:noFill/>
        </p:spPr>
        <p:txBody>
          <a:bodyPr wrap="square" lIns="0" tIns="0" rIns="0" bIns="0" anchor="t">
            <a:spAutoFit/>
          </a:bodyPr>
          <a:lstStyle/>
          <a:p>
            <a:pPr marL="0" indent="0" algn="ctr">
              <a:buNone/>
            </a:pPr>
            <a:r>
              <a:rPr sz="750" b="1" i="0">
                <a:solidFill>
                  <a:srgbClr val="1E2F6E"/>
                </a:solidFill>
              </a:rPr>
              <a:t>(b)  Quantity reduced to zero</a:t>
            </a:r>
          </a:p>
        </p:txBody>
      </p:sp>
      <p:sp>
        <p:nvSpPr>
          <p:cNvPr id="76" name="TextBox 75"/>
          <p:cNvSpPr txBox="1"/>
          <p:nvPr/>
        </p:nvSpPr>
        <p:spPr>
          <a:xfrm>
            <a:off x="2616541" y="875596"/>
            <a:ext cx="277977" cy="92202"/>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77" name="TextBox 76"/>
          <p:cNvSpPr txBox="1"/>
          <p:nvPr/>
        </p:nvSpPr>
        <p:spPr>
          <a:xfrm>
            <a:off x="3946200" y="879787"/>
            <a:ext cx="277977" cy="8382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78" name="Rectangle 77"/>
          <p:cNvSpPr/>
          <p:nvPr/>
        </p:nvSpPr>
        <p:spPr>
          <a:xfrm>
            <a:off x="2551680" y="981925"/>
            <a:ext cx="1737360" cy="1853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TextBox 78"/>
          <p:cNvSpPr txBox="1"/>
          <p:nvPr/>
        </p:nvSpPr>
        <p:spPr>
          <a:xfrm>
            <a:off x="2607275" y="981925"/>
            <a:ext cx="83393" cy="185318"/>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80" name="TextBox 79"/>
          <p:cNvSpPr txBox="1"/>
          <p:nvPr/>
        </p:nvSpPr>
        <p:spPr>
          <a:xfrm>
            <a:off x="2709200" y="981925"/>
            <a:ext cx="1274064" cy="185318"/>
          </a:xfrm>
          <a:prstGeom prst="rect">
            <a:avLst/>
          </a:prstGeom>
          <a:noFill/>
        </p:spPr>
        <p:txBody>
          <a:bodyPr wrap="square" lIns="0" tIns="0" rIns="0" bIns="0" anchor="ctr">
            <a:spAutoFit/>
          </a:bodyPr>
          <a:lstStyle/>
          <a:p>
            <a:pPr marL="0" indent="0" algn="l">
              <a:buNone/>
            </a:pPr>
            <a:r>
              <a:rPr sz="700" b="1" i="0">
                <a:solidFill>
                  <a:srgbClr val="1A1A1A"/>
                </a:solidFill>
              </a:rPr>
              <a:t>Cart  (8)</a:t>
            </a:r>
          </a:p>
        </p:txBody>
      </p:sp>
      <p:sp>
        <p:nvSpPr>
          <p:cNvPr id="81" name="TextBox 80"/>
          <p:cNvSpPr txBox="1"/>
          <p:nvPr/>
        </p:nvSpPr>
        <p:spPr>
          <a:xfrm>
            <a:off x="3825744" y="981925"/>
            <a:ext cx="398434" cy="185318"/>
          </a:xfrm>
          <a:prstGeom prst="rect">
            <a:avLst/>
          </a:prstGeom>
          <a:noFill/>
        </p:spPr>
        <p:txBody>
          <a:bodyPr wrap="square" lIns="0" tIns="0" rIns="0" bIns="0" anchor="ctr">
            <a:spAutoFit/>
          </a:bodyPr>
          <a:lstStyle/>
          <a:p>
            <a:pPr marL="0" indent="0" algn="r">
              <a:buNone/>
            </a:pPr>
            <a:r>
              <a:rPr sz="600" b="0" i="0">
                <a:solidFill>
                  <a:srgbClr val="555555"/>
                </a:solidFill>
              </a:rPr>
              <a:t>Edit</a:t>
            </a:r>
          </a:p>
        </p:txBody>
      </p:sp>
      <p:sp>
        <p:nvSpPr>
          <p:cNvPr id="82" name="Rectangle 81"/>
          <p:cNvSpPr/>
          <p:nvPr/>
        </p:nvSpPr>
        <p:spPr>
          <a:xfrm>
            <a:off x="2551680" y="1167243"/>
            <a:ext cx="1737360" cy="4632"/>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TextBox 82"/>
          <p:cNvSpPr txBox="1"/>
          <p:nvPr/>
        </p:nvSpPr>
        <p:spPr>
          <a:xfrm>
            <a:off x="2551680" y="1171876"/>
            <a:ext cx="868680" cy="138988"/>
          </a:xfrm>
          <a:prstGeom prst="rect">
            <a:avLst/>
          </a:prstGeom>
          <a:noFill/>
        </p:spPr>
        <p:txBody>
          <a:bodyPr wrap="square" lIns="0" tIns="0" rIns="0" bIns="0" anchor="ctr">
            <a:spAutoFit/>
          </a:bodyPr>
          <a:lstStyle/>
          <a:p>
            <a:pPr marL="0" indent="0" algn="ctr">
              <a:buNone/>
            </a:pPr>
            <a:r>
              <a:rPr sz="650" b="1" i="0">
                <a:solidFill>
                  <a:srgbClr val="C8102E"/>
                </a:solidFill>
              </a:rPr>
              <a:t>Delivery</a:t>
            </a:r>
          </a:p>
        </p:txBody>
      </p:sp>
      <p:sp>
        <p:nvSpPr>
          <p:cNvPr id="84" name="Rectangle 83"/>
          <p:cNvSpPr/>
          <p:nvPr/>
        </p:nvSpPr>
        <p:spPr>
          <a:xfrm>
            <a:off x="2742789" y="1296966"/>
            <a:ext cx="486460" cy="1389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5" name="TextBox 84"/>
          <p:cNvSpPr txBox="1"/>
          <p:nvPr/>
        </p:nvSpPr>
        <p:spPr>
          <a:xfrm>
            <a:off x="3420360" y="1171876"/>
            <a:ext cx="868680" cy="138988"/>
          </a:xfrm>
          <a:prstGeom prst="rect">
            <a:avLst/>
          </a:prstGeom>
          <a:noFill/>
        </p:spPr>
        <p:txBody>
          <a:bodyPr wrap="square" lIns="0" tIns="0" rIns="0" bIns="0" anchor="ctr">
            <a:spAutoFit/>
          </a:bodyPr>
          <a:lstStyle/>
          <a:p>
            <a:pPr marL="0" indent="0" algn="ctr">
              <a:buNone/>
            </a:pPr>
            <a:r>
              <a:rPr sz="650" b="0" i="0">
                <a:solidFill>
                  <a:srgbClr val="888888"/>
                </a:solidFill>
              </a:rPr>
              <a:t>Self pick-up</a:t>
            </a:r>
          </a:p>
        </p:txBody>
      </p:sp>
      <p:sp>
        <p:nvSpPr>
          <p:cNvPr id="86" name="Rectangle 85"/>
          <p:cNvSpPr/>
          <p:nvPr/>
        </p:nvSpPr>
        <p:spPr>
          <a:xfrm>
            <a:off x="2551680" y="1310865"/>
            <a:ext cx="1737360" cy="4632"/>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7" name="Rectangle 86"/>
          <p:cNvSpPr/>
          <p:nvPr/>
        </p:nvSpPr>
        <p:spPr>
          <a:xfrm>
            <a:off x="2551680" y="1315498"/>
            <a:ext cx="1737360" cy="101925"/>
          </a:xfrm>
          <a:prstGeom prst="rect">
            <a:avLst/>
          </a:prstGeom>
          <a:solidFill>
            <a:srgbClr val="F7E9E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8" name="TextBox 87"/>
          <p:cNvSpPr txBox="1"/>
          <p:nvPr/>
        </p:nvSpPr>
        <p:spPr>
          <a:xfrm>
            <a:off x="2616541" y="1315498"/>
            <a:ext cx="1204569" cy="101925"/>
          </a:xfrm>
          <a:prstGeom prst="rect">
            <a:avLst/>
          </a:prstGeom>
          <a:noFill/>
        </p:spPr>
        <p:txBody>
          <a:bodyPr wrap="square" lIns="0" tIns="0" rIns="0" bIns="0" anchor="ctr">
            <a:spAutoFit/>
          </a:bodyPr>
          <a:lstStyle/>
          <a:p>
            <a:pPr marL="0" indent="0" algn="l">
              <a:buNone/>
            </a:pPr>
            <a:r>
              <a:rPr sz="520" b="0" i="0">
                <a:solidFill>
                  <a:srgbClr val="555555"/>
                </a:solidFill>
              </a:rPr>
              <a:t>Serving store:  </a:t>
            </a:r>
            <a:r>
              <a:rPr sz="520" b="1" i="0">
                <a:solidFill>
                  <a:srgbClr val="C8102E"/>
                </a:solidFill>
              </a:rPr>
              <a:t>LOTTE Mart Nam Sài Gòn</a:t>
            </a:r>
          </a:p>
        </p:txBody>
      </p:sp>
      <p:sp>
        <p:nvSpPr>
          <p:cNvPr id="89" name="TextBox 88"/>
          <p:cNvSpPr txBox="1"/>
          <p:nvPr/>
        </p:nvSpPr>
        <p:spPr>
          <a:xfrm>
            <a:off x="3941568" y="1315498"/>
            <a:ext cx="282610" cy="101925"/>
          </a:xfrm>
          <a:prstGeom prst="rect">
            <a:avLst/>
          </a:prstGeom>
          <a:noFill/>
        </p:spPr>
        <p:txBody>
          <a:bodyPr wrap="square" lIns="0" tIns="0" rIns="0" bIns="0" anchor="ctr">
            <a:spAutoFit/>
          </a:bodyPr>
          <a:lstStyle/>
          <a:p>
            <a:pPr marL="0" indent="0" algn="r">
              <a:buNone/>
            </a:pPr>
            <a:r>
              <a:rPr sz="500" b="1" i="0">
                <a:solidFill>
                  <a:srgbClr val="C8102E"/>
                </a:solidFill>
              </a:rPr>
              <a:t>Change ›</a:t>
            </a:r>
          </a:p>
        </p:txBody>
      </p:sp>
      <p:sp>
        <p:nvSpPr>
          <p:cNvPr id="90" name="Rounded Rectangle 89"/>
          <p:cNvSpPr/>
          <p:nvPr/>
        </p:nvSpPr>
        <p:spPr>
          <a:xfrm>
            <a:off x="2607275" y="1547146"/>
            <a:ext cx="55595" cy="55595"/>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1" name="TextBox 90"/>
          <p:cNvSpPr txBox="1"/>
          <p:nvPr/>
        </p:nvSpPr>
        <p:spPr>
          <a:xfrm>
            <a:off x="2607275" y="1533034"/>
            <a:ext cx="55595" cy="83820"/>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92" name="Rounded Rectangle 91"/>
          <p:cNvSpPr/>
          <p:nvPr/>
        </p:nvSpPr>
        <p:spPr>
          <a:xfrm>
            <a:off x="2690668" y="1477651"/>
            <a:ext cx="176052" cy="176052"/>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3" name="TextBox 92"/>
          <p:cNvSpPr txBox="1"/>
          <p:nvPr/>
        </p:nvSpPr>
        <p:spPr>
          <a:xfrm>
            <a:off x="2690668" y="1477651"/>
            <a:ext cx="176052" cy="176052"/>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94" name="TextBox 93"/>
          <p:cNvSpPr txBox="1"/>
          <p:nvPr/>
        </p:nvSpPr>
        <p:spPr>
          <a:xfrm>
            <a:off x="2903784" y="1445648"/>
            <a:ext cx="959022" cy="87172"/>
          </a:xfrm>
          <a:prstGeom prst="rect">
            <a:avLst/>
          </a:prstGeom>
          <a:noFill/>
        </p:spPr>
        <p:txBody>
          <a:bodyPr wrap="square" lIns="0" tIns="0" rIns="0" bIns="0" anchor="ctr">
            <a:spAutoFit/>
          </a:bodyPr>
          <a:lstStyle/>
          <a:p>
            <a:pPr marL="0" indent="0" algn="l">
              <a:buNone/>
            </a:pPr>
            <a:r>
              <a:rPr sz="520" b="1" i="0">
                <a:solidFill>
                  <a:srgbClr val="222222"/>
                </a:solidFill>
              </a:rPr>
              <a:t>Ba Vì yoghurt · pack of 12</a:t>
            </a:r>
          </a:p>
        </p:txBody>
      </p:sp>
      <p:sp>
        <p:nvSpPr>
          <p:cNvPr id="95" name="TextBox 94"/>
          <p:cNvSpPr txBox="1"/>
          <p:nvPr/>
        </p:nvSpPr>
        <p:spPr>
          <a:xfrm>
            <a:off x="2903784" y="1525688"/>
            <a:ext cx="694944" cy="93878"/>
          </a:xfrm>
          <a:prstGeom prst="rect">
            <a:avLst/>
          </a:prstGeom>
          <a:noFill/>
        </p:spPr>
        <p:txBody>
          <a:bodyPr wrap="square" lIns="0" tIns="0" rIns="0" bIns="0" anchor="ctr">
            <a:spAutoFit/>
          </a:bodyPr>
          <a:lstStyle/>
          <a:p>
            <a:pPr marL="0" indent="0" algn="l">
              <a:buNone/>
            </a:pPr>
            <a:r>
              <a:rPr sz="560" b="1" i="0">
                <a:solidFill>
                  <a:srgbClr val="C8102E"/>
                </a:solidFill>
              </a:rPr>
              <a:t>78,000 ₫</a:t>
            </a:r>
          </a:p>
        </p:txBody>
      </p:sp>
      <p:sp>
        <p:nvSpPr>
          <p:cNvPr id="96" name="Rounded Rectangle 95"/>
          <p:cNvSpPr/>
          <p:nvPr/>
        </p:nvSpPr>
        <p:spPr>
          <a:xfrm>
            <a:off x="3946200" y="1514715"/>
            <a:ext cx="277977" cy="101925"/>
          </a:xfrm>
          <a:prstGeom prst="roundRect">
            <a:avLst>
              <a:gd name="adj" fmla="val 2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7" name="TextBox 96"/>
          <p:cNvSpPr txBox="1"/>
          <p:nvPr/>
        </p:nvSpPr>
        <p:spPr>
          <a:xfrm>
            <a:off x="3946200" y="1514715"/>
            <a:ext cx="92659" cy="101925"/>
          </a:xfrm>
          <a:prstGeom prst="rect">
            <a:avLst/>
          </a:prstGeom>
          <a:noFill/>
        </p:spPr>
        <p:txBody>
          <a:bodyPr wrap="square" lIns="0" tIns="0" rIns="0" bIns="0" anchor="ctr">
            <a:spAutoFit/>
          </a:bodyPr>
          <a:lstStyle/>
          <a:p>
            <a:pPr marL="0" indent="0" algn="ctr">
              <a:buNone/>
            </a:pPr>
            <a:r>
              <a:rPr sz="560" b="0" i="0">
                <a:solidFill>
                  <a:srgbClr val="555555"/>
                </a:solidFill>
              </a:rPr>
              <a:t>−</a:t>
            </a:r>
          </a:p>
        </p:txBody>
      </p:sp>
      <p:sp>
        <p:nvSpPr>
          <p:cNvPr id="98" name="TextBox 97"/>
          <p:cNvSpPr txBox="1"/>
          <p:nvPr/>
        </p:nvSpPr>
        <p:spPr>
          <a:xfrm>
            <a:off x="4034227" y="1514715"/>
            <a:ext cx="101925" cy="101925"/>
          </a:xfrm>
          <a:prstGeom prst="rect">
            <a:avLst/>
          </a:prstGeom>
          <a:noFill/>
        </p:spPr>
        <p:txBody>
          <a:bodyPr wrap="square" lIns="0" tIns="0" rIns="0" bIns="0" anchor="ctr">
            <a:spAutoFit/>
          </a:bodyPr>
          <a:lstStyle/>
          <a:p>
            <a:pPr marL="0" indent="0" algn="ctr">
              <a:buNone/>
            </a:pPr>
            <a:r>
              <a:rPr sz="560" b="1" i="0">
                <a:solidFill>
                  <a:srgbClr val="222222"/>
                </a:solidFill>
              </a:rPr>
              <a:t>0</a:t>
            </a:r>
          </a:p>
        </p:txBody>
      </p:sp>
      <p:sp>
        <p:nvSpPr>
          <p:cNvPr id="99" name="TextBox 98"/>
          <p:cNvSpPr txBox="1"/>
          <p:nvPr/>
        </p:nvSpPr>
        <p:spPr>
          <a:xfrm>
            <a:off x="4131519" y="1514715"/>
            <a:ext cx="92659" cy="101925"/>
          </a:xfrm>
          <a:prstGeom prst="rect">
            <a:avLst/>
          </a:prstGeom>
          <a:noFill/>
        </p:spPr>
        <p:txBody>
          <a:bodyPr wrap="square" lIns="0" tIns="0" rIns="0" bIns="0" anchor="ctr">
            <a:spAutoFit/>
          </a:bodyPr>
          <a:lstStyle/>
          <a:p>
            <a:pPr marL="0" indent="0" algn="ctr">
              <a:buNone/>
            </a:pPr>
            <a:r>
              <a:rPr sz="560" b="0" i="0">
                <a:solidFill>
                  <a:srgbClr val="C8102E"/>
                </a:solidFill>
              </a:rPr>
              <a:t>+</a:t>
            </a:r>
          </a:p>
        </p:txBody>
      </p:sp>
      <p:sp>
        <p:nvSpPr>
          <p:cNvPr id="100" name="Rectangle 99"/>
          <p:cNvSpPr/>
          <p:nvPr/>
        </p:nvSpPr>
        <p:spPr>
          <a:xfrm>
            <a:off x="2607275" y="1713932"/>
            <a:ext cx="1626168" cy="4632"/>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1" name="Rounded Rectangle 100"/>
          <p:cNvSpPr/>
          <p:nvPr/>
        </p:nvSpPr>
        <p:spPr>
          <a:xfrm>
            <a:off x="2607275" y="1834389"/>
            <a:ext cx="55595" cy="55595"/>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2" name="TextBox 101"/>
          <p:cNvSpPr txBox="1"/>
          <p:nvPr/>
        </p:nvSpPr>
        <p:spPr>
          <a:xfrm>
            <a:off x="2607275" y="1820277"/>
            <a:ext cx="55595" cy="83820"/>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103" name="Rounded Rectangle 102"/>
          <p:cNvSpPr/>
          <p:nvPr/>
        </p:nvSpPr>
        <p:spPr>
          <a:xfrm>
            <a:off x="2690668" y="1764895"/>
            <a:ext cx="176052" cy="176052"/>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4" name="TextBox 103"/>
          <p:cNvSpPr txBox="1"/>
          <p:nvPr/>
        </p:nvSpPr>
        <p:spPr>
          <a:xfrm>
            <a:off x="2690668" y="1764895"/>
            <a:ext cx="176052" cy="176052"/>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105" name="TextBox 104"/>
          <p:cNvSpPr txBox="1"/>
          <p:nvPr/>
        </p:nvSpPr>
        <p:spPr>
          <a:xfrm>
            <a:off x="2903784" y="1732891"/>
            <a:ext cx="959022" cy="87172"/>
          </a:xfrm>
          <a:prstGeom prst="rect">
            <a:avLst/>
          </a:prstGeom>
          <a:noFill/>
        </p:spPr>
        <p:txBody>
          <a:bodyPr wrap="square" lIns="0" tIns="0" rIns="0" bIns="0" anchor="ctr">
            <a:spAutoFit/>
          </a:bodyPr>
          <a:lstStyle/>
          <a:p>
            <a:pPr marL="0" indent="0" algn="l">
              <a:buNone/>
            </a:pPr>
            <a:r>
              <a:rPr sz="520" b="1" i="0">
                <a:solidFill>
                  <a:srgbClr val="222222"/>
                </a:solidFill>
              </a:rPr>
              <a:t>Vinamilk fresh milk 1L</a:t>
            </a:r>
          </a:p>
        </p:txBody>
      </p:sp>
      <p:sp>
        <p:nvSpPr>
          <p:cNvPr id="106" name="TextBox 105"/>
          <p:cNvSpPr txBox="1"/>
          <p:nvPr/>
        </p:nvSpPr>
        <p:spPr>
          <a:xfrm>
            <a:off x="2903784" y="1812931"/>
            <a:ext cx="694944" cy="93878"/>
          </a:xfrm>
          <a:prstGeom prst="rect">
            <a:avLst/>
          </a:prstGeom>
          <a:noFill/>
        </p:spPr>
        <p:txBody>
          <a:bodyPr wrap="square" lIns="0" tIns="0" rIns="0" bIns="0" anchor="ctr">
            <a:spAutoFit/>
          </a:bodyPr>
          <a:lstStyle/>
          <a:p>
            <a:pPr marL="0" indent="0" algn="l">
              <a:buNone/>
            </a:pPr>
            <a:r>
              <a:rPr sz="560" b="1" i="0">
                <a:solidFill>
                  <a:srgbClr val="C8102E"/>
                </a:solidFill>
              </a:rPr>
              <a:t>196,000 ₫</a:t>
            </a:r>
          </a:p>
        </p:txBody>
      </p:sp>
      <p:sp>
        <p:nvSpPr>
          <p:cNvPr id="107" name="Rounded Rectangle 106"/>
          <p:cNvSpPr/>
          <p:nvPr/>
        </p:nvSpPr>
        <p:spPr>
          <a:xfrm>
            <a:off x="3946200" y="1801959"/>
            <a:ext cx="277977" cy="101925"/>
          </a:xfrm>
          <a:prstGeom prst="roundRect">
            <a:avLst>
              <a:gd name="adj" fmla="val 2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8" name="TextBox 107"/>
          <p:cNvSpPr txBox="1"/>
          <p:nvPr/>
        </p:nvSpPr>
        <p:spPr>
          <a:xfrm>
            <a:off x="3946200" y="1801959"/>
            <a:ext cx="92659" cy="101925"/>
          </a:xfrm>
          <a:prstGeom prst="rect">
            <a:avLst/>
          </a:prstGeom>
          <a:noFill/>
        </p:spPr>
        <p:txBody>
          <a:bodyPr wrap="square" lIns="0" tIns="0" rIns="0" bIns="0" anchor="ctr">
            <a:spAutoFit/>
          </a:bodyPr>
          <a:lstStyle/>
          <a:p>
            <a:pPr marL="0" indent="0" algn="ctr">
              <a:buNone/>
            </a:pPr>
            <a:r>
              <a:rPr sz="560" b="0" i="0">
                <a:solidFill>
                  <a:srgbClr val="555555"/>
                </a:solidFill>
              </a:rPr>
              <a:t>−</a:t>
            </a:r>
          </a:p>
        </p:txBody>
      </p:sp>
      <p:sp>
        <p:nvSpPr>
          <p:cNvPr id="109" name="TextBox 108"/>
          <p:cNvSpPr txBox="1"/>
          <p:nvPr/>
        </p:nvSpPr>
        <p:spPr>
          <a:xfrm>
            <a:off x="4034227" y="1801959"/>
            <a:ext cx="101925" cy="101925"/>
          </a:xfrm>
          <a:prstGeom prst="rect">
            <a:avLst/>
          </a:prstGeom>
          <a:noFill/>
        </p:spPr>
        <p:txBody>
          <a:bodyPr wrap="square" lIns="0" tIns="0" rIns="0" bIns="0" anchor="ctr">
            <a:spAutoFit/>
          </a:bodyPr>
          <a:lstStyle/>
          <a:p>
            <a:pPr marL="0" indent="0" algn="ctr">
              <a:buNone/>
            </a:pPr>
            <a:r>
              <a:rPr sz="560" b="1" i="0">
                <a:solidFill>
                  <a:srgbClr val="222222"/>
                </a:solidFill>
              </a:rPr>
              <a:t>1</a:t>
            </a:r>
          </a:p>
        </p:txBody>
      </p:sp>
      <p:sp>
        <p:nvSpPr>
          <p:cNvPr id="110" name="TextBox 109"/>
          <p:cNvSpPr txBox="1"/>
          <p:nvPr/>
        </p:nvSpPr>
        <p:spPr>
          <a:xfrm>
            <a:off x="4131519" y="1801959"/>
            <a:ext cx="92659" cy="101925"/>
          </a:xfrm>
          <a:prstGeom prst="rect">
            <a:avLst/>
          </a:prstGeom>
          <a:noFill/>
        </p:spPr>
        <p:txBody>
          <a:bodyPr wrap="square" lIns="0" tIns="0" rIns="0" bIns="0" anchor="ctr">
            <a:spAutoFit/>
          </a:bodyPr>
          <a:lstStyle/>
          <a:p>
            <a:pPr marL="0" indent="0" algn="ctr">
              <a:buNone/>
            </a:pPr>
            <a:r>
              <a:rPr sz="560" b="0" i="0">
                <a:solidFill>
                  <a:srgbClr val="C8102E"/>
                </a:solidFill>
              </a:rPr>
              <a:t>+</a:t>
            </a:r>
          </a:p>
        </p:txBody>
      </p:sp>
      <p:sp>
        <p:nvSpPr>
          <p:cNvPr id="111" name="Rectangle 110"/>
          <p:cNvSpPr/>
          <p:nvPr/>
        </p:nvSpPr>
        <p:spPr>
          <a:xfrm>
            <a:off x="2607275" y="2001176"/>
            <a:ext cx="1626168" cy="4632"/>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2" name="Rectangle 111"/>
          <p:cNvSpPr/>
          <p:nvPr/>
        </p:nvSpPr>
        <p:spPr>
          <a:xfrm>
            <a:off x="2551680" y="880000"/>
            <a:ext cx="1737360" cy="3428390"/>
          </a:xfrm>
          <a:prstGeom prst="rect">
            <a:avLst/>
          </a:prstGeom>
          <a:solidFill>
            <a:srgbClr val="1A1A1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3" name="Rounded Rectangle 112"/>
          <p:cNvSpPr/>
          <p:nvPr/>
        </p:nvSpPr>
        <p:spPr>
          <a:xfrm>
            <a:off x="2736998" y="2038240"/>
            <a:ext cx="1366723" cy="833932"/>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4" name="TextBox 113"/>
          <p:cNvSpPr txBox="1"/>
          <p:nvPr/>
        </p:nvSpPr>
        <p:spPr>
          <a:xfrm>
            <a:off x="2829657" y="2149431"/>
            <a:ext cx="1181404" cy="185318"/>
          </a:xfrm>
          <a:prstGeom prst="rect">
            <a:avLst/>
          </a:prstGeom>
          <a:noFill/>
        </p:spPr>
        <p:txBody>
          <a:bodyPr wrap="square" lIns="0" tIns="0" rIns="0" bIns="0" anchor="t">
            <a:spAutoFit/>
          </a:bodyPr>
          <a:lstStyle/>
          <a:p>
            <a:pPr marL="0" indent="0" algn="ctr">
              <a:buNone/>
            </a:pPr>
            <a:r>
              <a:rPr sz="750" b="1" i="0">
                <a:solidFill>
                  <a:srgbClr val="3A3A3A"/>
                </a:solidFill>
              </a:rPr>
              <a:t>Remove this product from your cart?</a:t>
            </a:r>
          </a:p>
        </p:txBody>
      </p:sp>
      <p:sp>
        <p:nvSpPr>
          <p:cNvPr id="115" name="TextBox 114"/>
          <p:cNvSpPr txBox="1"/>
          <p:nvPr/>
        </p:nvSpPr>
        <p:spPr>
          <a:xfrm>
            <a:off x="2829657" y="2362547"/>
            <a:ext cx="1181404" cy="185318"/>
          </a:xfrm>
          <a:prstGeom prst="rect">
            <a:avLst/>
          </a:prstGeom>
          <a:noFill/>
        </p:spPr>
        <p:txBody>
          <a:bodyPr wrap="square" lIns="0" tIns="0" rIns="0" bIns="0" anchor="t">
            <a:spAutoFit/>
          </a:bodyPr>
          <a:lstStyle/>
          <a:p>
            <a:pPr marL="0" indent="0" algn="ctr">
              <a:buNone/>
            </a:pPr>
            <a:r>
              <a:rPr sz="560" b="0" i="0">
                <a:solidFill>
                  <a:srgbClr val="888888"/>
                </a:solidFill>
              </a:rPr>
              <a:t>Ba Vì yoghurt · pack of 12</a:t>
            </a:r>
          </a:p>
        </p:txBody>
      </p:sp>
      <p:sp>
        <p:nvSpPr>
          <p:cNvPr id="116" name="Rounded Rectangle 115"/>
          <p:cNvSpPr/>
          <p:nvPr/>
        </p:nvSpPr>
        <p:spPr>
          <a:xfrm>
            <a:off x="2829657" y="2575663"/>
            <a:ext cx="555955" cy="166786"/>
          </a:xfrm>
          <a:prstGeom prst="roundRect">
            <a:avLst>
              <a:gd name="adj" fmla="val 2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7" name="TextBox 116"/>
          <p:cNvSpPr txBox="1"/>
          <p:nvPr/>
        </p:nvSpPr>
        <p:spPr>
          <a:xfrm>
            <a:off x="2829657" y="2575663"/>
            <a:ext cx="555955" cy="166786"/>
          </a:xfrm>
          <a:prstGeom prst="rect">
            <a:avLst/>
          </a:prstGeom>
          <a:noFill/>
        </p:spPr>
        <p:txBody>
          <a:bodyPr wrap="square" lIns="0" tIns="0" rIns="0" bIns="0" anchor="ctr">
            <a:spAutoFit/>
          </a:bodyPr>
          <a:lstStyle/>
          <a:p>
            <a:pPr marL="0" indent="0" algn="ctr">
              <a:buNone/>
            </a:pPr>
            <a:r>
              <a:rPr sz="650" b="1" i="0">
                <a:solidFill>
                  <a:srgbClr val="222222"/>
                </a:solidFill>
              </a:rPr>
              <a:t>No</a:t>
            </a:r>
          </a:p>
        </p:txBody>
      </p:sp>
      <p:sp>
        <p:nvSpPr>
          <p:cNvPr id="118" name="Rounded Rectangle 117"/>
          <p:cNvSpPr/>
          <p:nvPr/>
        </p:nvSpPr>
        <p:spPr>
          <a:xfrm>
            <a:off x="3455107" y="2575663"/>
            <a:ext cx="555955" cy="166786"/>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9" name="TextBox 118"/>
          <p:cNvSpPr txBox="1"/>
          <p:nvPr/>
        </p:nvSpPr>
        <p:spPr>
          <a:xfrm>
            <a:off x="3455107" y="2575663"/>
            <a:ext cx="555955" cy="166786"/>
          </a:xfrm>
          <a:prstGeom prst="rect">
            <a:avLst/>
          </a:prstGeom>
          <a:noFill/>
        </p:spPr>
        <p:txBody>
          <a:bodyPr wrap="square" lIns="0" tIns="0" rIns="0" bIns="0" anchor="ctr">
            <a:spAutoFit/>
          </a:bodyPr>
          <a:lstStyle/>
          <a:p>
            <a:pPr marL="0" indent="0" algn="ctr">
              <a:buNone/>
            </a:pPr>
            <a:r>
              <a:rPr sz="650" b="1" i="0">
                <a:solidFill>
                  <a:srgbClr val="FFFFFF"/>
                </a:solidFill>
              </a:rPr>
              <a:t>Confirm</a:t>
            </a:r>
          </a:p>
        </p:txBody>
      </p:sp>
      <p:sp>
        <p:nvSpPr>
          <p:cNvPr id="120" name="Oval 119"/>
          <p:cNvSpPr/>
          <p:nvPr/>
        </p:nvSpPr>
        <p:spPr>
          <a:xfrm>
            <a:off x="2394160" y="1343296"/>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1" name="TextBox 120"/>
          <p:cNvSpPr txBox="1"/>
          <p:nvPr/>
        </p:nvSpPr>
        <p:spPr>
          <a:xfrm>
            <a:off x="2394160" y="1343296"/>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122" name="Oval 121"/>
          <p:cNvSpPr/>
          <p:nvPr/>
        </p:nvSpPr>
        <p:spPr>
          <a:xfrm>
            <a:off x="2394160" y="2038240"/>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3" name="TextBox 122"/>
          <p:cNvSpPr txBox="1"/>
          <p:nvPr/>
        </p:nvSpPr>
        <p:spPr>
          <a:xfrm>
            <a:off x="2394160" y="2038240"/>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124" name="Oval 123"/>
          <p:cNvSpPr/>
          <p:nvPr/>
        </p:nvSpPr>
        <p:spPr>
          <a:xfrm>
            <a:off x="2394160" y="2575663"/>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5" name="TextBox 124"/>
          <p:cNvSpPr txBox="1"/>
          <p:nvPr/>
        </p:nvSpPr>
        <p:spPr>
          <a:xfrm>
            <a:off x="2394160" y="2575663"/>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126" name="Rounded Rectangle 125"/>
          <p:cNvSpPr/>
          <p:nvPr/>
        </p:nvSpPr>
        <p:spPr>
          <a:xfrm>
            <a:off x="4664083" y="852203"/>
            <a:ext cx="1792955" cy="3483985"/>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7" name="Rectangle 126"/>
          <p:cNvSpPr/>
          <p:nvPr/>
        </p:nvSpPr>
        <p:spPr>
          <a:xfrm>
            <a:off x="4691880" y="880000"/>
            <a:ext cx="1737360" cy="3428390"/>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8" name="TextBox 127"/>
          <p:cNvSpPr txBox="1"/>
          <p:nvPr/>
        </p:nvSpPr>
        <p:spPr>
          <a:xfrm>
            <a:off x="4664083" y="4354719"/>
            <a:ext cx="1792955" cy="120456"/>
          </a:xfrm>
          <a:prstGeom prst="rect">
            <a:avLst/>
          </a:prstGeom>
          <a:noFill/>
        </p:spPr>
        <p:txBody>
          <a:bodyPr wrap="square" lIns="0" tIns="0" rIns="0" bIns="0" anchor="t">
            <a:spAutoFit/>
          </a:bodyPr>
          <a:lstStyle/>
          <a:p>
            <a:pPr marL="0" indent="0" algn="ctr">
              <a:buNone/>
            </a:pPr>
            <a:r>
              <a:rPr sz="750" b="1" i="0">
                <a:solidFill>
                  <a:srgbClr val="1E2F6E"/>
                </a:solidFill>
              </a:rPr>
              <a:t>(c)  30-item limit reached</a:t>
            </a:r>
          </a:p>
        </p:txBody>
      </p:sp>
      <p:sp>
        <p:nvSpPr>
          <p:cNvPr id="129" name="TextBox 128"/>
          <p:cNvSpPr txBox="1"/>
          <p:nvPr/>
        </p:nvSpPr>
        <p:spPr>
          <a:xfrm>
            <a:off x="4756741" y="875596"/>
            <a:ext cx="277977" cy="92202"/>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130" name="TextBox 129"/>
          <p:cNvSpPr txBox="1"/>
          <p:nvPr/>
        </p:nvSpPr>
        <p:spPr>
          <a:xfrm>
            <a:off x="6086400" y="879787"/>
            <a:ext cx="277977" cy="8382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131" name="Rectangle 130"/>
          <p:cNvSpPr/>
          <p:nvPr/>
        </p:nvSpPr>
        <p:spPr>
          <a:xfrm>
            <a:off x="4691880" y="981925"/>
            <a:ext cx="1737360" cy="1853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2" name="TextBox 131"/>
          <p:cNvSpPr txBox="1"/>
          <p:nvPr/>
        </p:nvSpPr>
        <p:spPr>
          <a:xfrm>
            <a:off x="4747475" y="981925"/>
            <a:ext cx="83393" cy="185318"/>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133" name="TextBox 132"/>
          <p:cNvSpPr txBox="1"/>
          <p:nvPr/>
        </p:nvSpPr>
        <p:spPr>
          <a:xfrm>
            <a:off x="4849400" y="981925"/>
            <a:ext cx="1274064" cy="185318"/>
          </a:xfrm>
          <a:prstGeom prst="rect">
            <a:avLst/>
          </a:prstGeom>
          <a:noFill/>
        </p:spPr>
        <p:txBody>
          <a:bodyPr wrap="square" lIns="0" tIns="0" rIns="0" bIns="0" anchor="ctr">
            <a:spAutoFit/>
          </a:bodyPr>
          <a:lstStyle/>
          <a:p>
            <a:pPr marL="0" indent="0" algn="l">
              <a:buNone/>
            </a:pPr>
            <a:r>
              <a:rPr sz="700" b="1" i="0">
                <a:solidFill>
                  <a:srgbClr val="1A1A1A"/>
                </a:solidFill>
              </a:rPr>
              <a:t>Cart  (8)</a:t>
            </a:r>
          </a:p>
        </p:txBody>
      </p:sp>
      <p:sp>
        <p:nvSpPr>
          <p:cNvPr id="134" name="TextBox 133"/>
          <p:cNvSpPr txBox="1"/>
          <p:nvPr/>
        </p:nvSpPr>
        <p:spPr>
          <a:xfrm>
            <a:off x="5965944" y="981925"/>
            <a:ext cx="398434" cy="185318"/>
          </a:xfrm>
          <a:prstGeom prst="rect">
            <a:avLst/>
          </a:prstGeom>
          <a:noFill/>
        </p:spPr>
        <p:txBody>
          <a:bodyPr wrap="square" lIns="0" tIns="0" rIns="0" bIns="0" anchor="ctr">
            <a:spAutoFit/>
          </a:bodyPr>
          <a:lstStyle/>
          <a:p>
            <a:pPr marL="0" indent="0" algn="r">
              <a:buNone/>
            </a:pPr>
            <a:r>
              <a:rPr sz="600" b="0" i="0">
                <a:solidFill>
                  <a:srgbClr val="555555"/>
                </a:solidFill>
              </a:rPr>
              <a:t>Edit</a:t>
            </a:r>
          </a:p>
        </p:txBody>
      </p:sp>
      <p:sp>
        <p:nvSpPr>
          <p:cNvPr id="135" name="Rectangle 134"/>
          <p:cNvSpPr/>
          <p:nvPr/>
        </p:nvSpPr>
        <p:spPr>
          <a:xfrm>
            <a:off x="4691880" y="1167243"/>
            <a:ext cx="1737360" cy="4632"/>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6" name="TextBox 135"/>
          <p:cNvSpPr txBox="1"/>
          <p:nvPr/>
        </p:nvSpPr>
        <p:spPr>
          <a:xfrm>
            <a:off x="4691880" y="1171876"/>
            <a:ext cx="868680" cy="138988"/>
          </a:xfrm>
          <a:prstGeom prst="rect">
            <a:avLst/>
          </a:prstGeom>
          <a:noFill/>
        </p:spPr>
        <p:txBody>
          <a:bodyPr wrap="square" lIns="0" tIns="0" rIns="0" bIns="0" anchor="ctr">
            <a:spAutoFit/>
          </a:bodyPr>
          <a:lstStyle/>
          <a:p>
            <a:pPr marL="0" indent="0" algn="ctr">
              <a:buNone/>
            </a:pPr>
            <a:r>
              <a:rPr sz="650" b="1" i="0">
                <a:solidFill>
                  <a:srgbClr val="C8102E"/>
                </a:solidFill>
              </a:rPr>
              <a:t>Delivery</a:t>
            </a:r>
          </a:p>
        </p:txBody>
      </p:sp>
      <p:sp>
        <p:nvSpPr>
          <p:cNvPr id="137" name="Rectangle 136"/>
          <p:cNvSpPr/>
          <p:nvPr/>
        </p:nvSpPr>
        <p:spPr>
          <a:xfrm>
            <a:off x="4882989" y="1296966"/>
            <a:ext cx="486460" cy="1389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8" name="TextBox 137"/>
          <p:cNvSpPr txBox="1"/>
          <p:nvPr/>
        </p:nvSpPr>
        <p:spPr>
          <a:xfrm>
            <a:off x="5560560" y="1171876"/>
            <a:ext cx="868680" cy="138988"/>
          </a:xfrm>
          <a:prstGeom prst="rect">
            <a:avLst/>
          </a:prstGeom>
          <a:noFill/>
        </p:spPr>
        <p:txBody>
          <a:bodyPr wrap="square" lIns="0" tIns="0" rIns="0" bIns="0" anchor="ctr">
            <a:spAutoFit/>
          </a:bodyPr>
          <a:lstStyle/>
          <a:p>
            <a:pPr marL="0" indent="0" algn="ctr">
              <a:buNone/>
            </a:pPr>
            <a:r>
              <a:rPr sz="650" b="0" i="0">
                <a:solidFill>
                  <a:srgbClr val="888888"/>
                </a:solidFill>
              </a:rPr>
              <a:t>Self pick-up</a:t>
            </a:r>
          </a:p>
        </p:txBody>
      </p:sp>
      <p:sp>
        <p:nvSpPr>
          <p:cNvPr id="139" name="Rectangle 138"/>
          <p:cNvSpPr/>
          <p:nvPr/>
        </p:nvSpPr>
        <p:spPr>
          <a:xfrm>
            <a:off x="4691880" y="1310865"/>
            <a:ext cx="1737360" cy="4632"/>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0" name="Rectangle 139"/>
          <p:cNvSpPr/>
          <p:nvPr/>
        </p:nvSpPr>
        <p:spPr>
          <a:xfrm>
            <a:off x="4691880" y="1315498"/>
            <a:ext cx="1737360" cy="101925"/>
          </a:xfrm>
          <a:prstGeom prst="rect">
            <a:avLst/>
          </a:prstGeom>
          <a:solidFill>
            <a:srgbClr val="F7E9E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1" name="TextBox 140"/>
          <p:cNvSpPr txBox="1"/>
          <p:nvPr/>
        </p:nvSpPr>
        <p:spPr>
          <a:xfrm>
            <a:off x="4756741" y="1315498"/>
            <a:ext cx="1204569" cy="101925"/>
          </a:xfrm>
          <a:prstGeom prst="rect">
            <a:avLst/>
          </a:prstGeom>
          <a:noFill/>
        </p:spPr>
        <p:txBody>
          <a:bodyPr wrap="square" lIns="0" tIns="0" rIns="0" bIns="0" anchor="ctr">
            <a:spAutoFit/>
          </a:bodyPr>
          <a:lstStyle/>
          <a:p>
            <a:pPr marL="0" indent="0" algn="l">
              <a:buNone/>
            </a:pPr>
            <a:r>
              <a:rPr sz="520" b="0" i="0">
                <a:solidFill>
                  <a:srgbClr val="555555"/>
                </a:solidFill>
              </a:rPr>
              <a:t>Serving store:  </a:t>
            </a:r>
            <a:r>
              <a:rPr sz="520" b="1" i="0">
                <a:solidFill>
                  <a:srgbClr val="C8102E"/>
                </a:solidFill>
              </a:rPr>
              <a:t>LOTTE Mart Nam Sài Gòn</a:t>
            </a:r>
          </a:p>
        </p:txBody>
      </p:sp>
      <p:sp>
        <p:nvSpPr>
          <p:cNvPr id="142" name="TextBox 141"/>
          <p:cNvSpPr txBox="1"/>
          <p:nvPr/>
        </p:nvSpPr>
        <p:spPr>
          <a:xfrm>
            <a:off x="6081768" y="1315498"/>
            <a:ext cx="282610" cy="101925"/>
          </a:xfrm>
          <a:prstGeom prst="rect">
            <a:avLst/>
          </a:prstGeom>
          <a:noFill/>
        </p:spPr>
        <p:txBody>
          <a:bodyPr wrap="square" lIns="0" tIns="0" rIns="0" bIns="0" anchor="ctr">
            <a:spAutoFit/>
          </a:bodyPr>
          <a:lstStyle/>
          <a:p>
            <a:pPr marL="0" indent="0" algn="r">
              <a:buNone/>
            </a:pPr>
            <a:r>
              <a:rPr sz="500" b="1" i="0">
                <a:solidFill>
                  <a:srgbClr val="C8102E"/>
                </a:solidFill>
              </a:rPr>
              <a:t>Change ›</a:t>
            </a:r>
          </a:p>
        </p:txBody>
      </p:sp>
      <p:sp>
        <p:nvSpPr>
          <p:cNvPr id="143" name="Rounded Rectangle 142"/>
          <p:cNvSpPr/>
          <p:nvPr/>
        </p:nvSpPr>
        <p:spPr>
          <a:xfrm>
            <a:off x="4756741" y="1435955"/>
            <a:ext cx="1607637" cy="287243"/>
          </a:xfrm>
          <a:prstGeom prst="roundRect">
            <a:avLst>
              <a:gd name="adj" fmla="val 10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4" name="TextBox 143"/>
          <p:cNvSpPr txBox="1"/>
          <p:nvPr/>
        </p:nvSpPr>
        <p:spPr>
          <a:xfrm>
            <a:off x="4821602" y="1450920"/>
            <a:ext cx="1477914" cy="90525"/>
          </a:xfrm>
          <a:prstGeom prst="rect">
            <a:avLst/>
          </a:prstGeom>
          <a:noFill/>
        </p:spPr>
        <p:txBody>
          <a:bodyPr wrap="square" lIns="0" tIns="0" rIns="0" bIns="0" anchor="ctr">
            <a:spAutoFit/>
          </a:bodyPr>
          <a:lstStyle/>
          <a:p>
            <a:pPr marL="0" indent="0" algn="l">
              <a:buNone/>
            </a:pPr>
            <a:r>
              <a:rPr sz="540" b="1" i="0">
                <a:solidFill>
                  <a:srgbClr val="C8102E"/>
                </a:solidFill>
              </a:rPr>
              <a:t>You can check out up to 30 products at a time</a:t>
            </a:r>
          </a:p>
        </p:txBody>
      </p:sp>
      <p:sp>
        <p:nvSpPr>
          <p:cNvPr id="145" name="TextBox 144"/>
          <p:cNvSpPr txBox="1"/>
          <p:nvPr/>
        </p:nvSpPr>
        <p:spPr>
          <a:xfrm>
            <a:off x="4821602" y="1537880"/>
            <a:ext cx="1477914" cy="157520"/>
          </a:xfrm>
          <a:prstGeom prst="rect">
            <a:avLst/>
          </a:prstGeom>
          <a:noFill/>
        </p:spPr>
        <p:txBody>
          <a:bodyPr wrap="square" lIns="0" tIns="0" rIns="0" bIns="0" anchor="t">
            <a:spAutoFit/>
          </a:bodyPr>
          <a:lstStyle/>
          <a:p>
            <a:pPr marL="0" indent="0" algn="l">
              <a:buNone/>
            </a:pPr>
            <a:r>
              <a:rPr sz="500" b="0" i="0">
                <a:solidFill>
                  <a:srgbClr val="8A1520"/>
                </a:solidFill>
              </a:rPr>
              <a:t>You have selected 31. Unselect at least one item, or check out in two orders.</a:t>
            </a:r>
          </a:p>
        </p:txBody>
      </p:sp>
      <p:sp>
        <p:nvSpPr>
          <p:cNvPr id="146" name="Rounded Rectangle 145"/>
          <p:cNvSpPr/>
          <p:nvPr/>
        </p:nvSpPr>
        <p:spPr>
          <a:xfrm>
            <a:off x="4756741" y="1760262"/>
            <a:ext cx="1607637" cy="185318"/>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7" name="TextBox 146"/>
          <p:cNvSpPr txBox="1"/>
          <p:nvPr/>
        </p:nvSpPr>
        <p:spPr>
          <a:xfrm>
            <a:off x="4821602" y="1760262"/>
            <a:ext cx="926592" cy="185318"/>
          </a:xfrm>
          <a:prstGeom prst="rect">
            <a:avLst/>
          </a:prstGeom>
          <a:noFill/>
        </p:spPr>
        <p:txBody>
          <a:bodyPr wrap="square" lIns="0" tIns="0" rIns="0" bIns="0" anchor="ctr">
            <a:spAutoFit/>
          </a:bodyPr>
          <a:lstStyle/>
          <a:p>
            <a:pPr marL="0" indent="0" algn="l">
              <a:buNone/>
            </a:pPr>
            <a:r>
              <a:rPr sz="540" b="0" i="0">
                <a:solidFill>
                  <a:srgbClr val="555555"/>
                </a:solidFill>
              </a:rPr>
              <a:t>Selected for checkout</a:t>
            </a:r>
          </a:p>
        </p:txBody>
      </p:sp>
      <p:sp>
        <p:nvSpPr>
          <p:cNvPr id="148" name="TextBox 147"/>
          <p:cNvSpPr txBox="1"/>
          <p:nvPr/>
        </p:nvSpPr>
        <p:spPr>
          <a:xfrm>
            <a:off x="5850120" y="1760262"/>
            <a:ext cx="449397" cy="185318"/>
          </a:xfrm>
          <a:prstGeom prst="rect">
            <a:avLst/>
          </a:prstGeom>
          <a:noFill/>
        </p:spPr>
        <p:txBody>
          <a:bodyPr wrap="square" lIns="0" tIns="0" rIns="0" bIns="0" anchor="ctr">
            <a:spAutoFit/>
          </a:bodyPr>
          <a:lstStyle/>
          <a:p>
            <a:pPr marL="0" indent="0" algn="r">
              <a:buNone/>
            </a:pPr>
            <a:r>
              <a:rPr sz="700" b="1" i="0">
                <a:solidFill>
                  <a:srgbClr val="C8102E"/>
                </a:solidFill>
              </a:rPr>
              <a:t>31 / 30</a:t>
            </a:r>
          </a:p>
        </p:txBody>
      </p:sp>
      <p:sp>
        <p:nvSpPr>
          <p:cNvPr id="149" name="Rounded Rectangle 148"/>
          <p:cNvSpPr/>
          <p:nvPr/>
        </p:nvSpPr>
        <p:spPr>
          <a:xfrm>
            <a:off x="4747475" y="2093835"/>
            <a:ext cx="55595" cy="55595"/>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0" name="TextBox 149"/>
          <p:cNvSpPr txBox="1"/>
          <p:nvPr/>
        </p:nvSpPr>
        <p:spPr>
          <a:xfrm>
            <a:off x="4747475" y="2079723"/>
            <a:ext cx="55595" cy="83820"/>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151" name="Rounded Rectangle 150"/>
          <p:cNvSpPr/>
          <p:nvPr/>
        </p:nvSpPr>
        <p:spPr>
          <a:xfrm>
            <a:off x="4830868" y="2024341"/>
            <a:ext cx="176052" cy="176052"/>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2" name="TextBox 151"/>
          <p:cNvSpPr txBox="1"/>
          <p:nvPr/>
        </p:nvSpPr>
        <p:spPr>
          <a:xfrm>
            <a:off x="4830868" y="2024341"/>
            <a:ext cx="176052" cy="176052"/>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153" name="TextBox 152"/>
          <p:cNvSpPr txBox="1"/>
          <p:nvPr/>
        </p:nvSpPr>
        <p:spPr>
          <a:xfrm>
            <a:off x="5043984" y="1992337"/>
            <a:ext cx="959022" cy="87172"/>
          </a:xfrm>
          <a:prstGeom prst="rect">
            <a:avLst/>
          </a:prstGeom>
          <a:noFill/>
        </p:spPr>
        <p:txBody>
          <a:bodyPr wrap="square" lIns="0" tIns="0" rIns="0" bIns="0" anchor="ctr">
            <a:spAutoFit/>
          </a:bodyPr>
          <a:lstStyle/>
          <a:p>
            <a:pPr marL="0" indent="0" algn="l">
              <a:buNone/>
            </a:pPr>
            <a:r>
              <a:rPr sz="520" b="1" i="0">
                <a:solidFill>
                  <a:srgbClr val="222222"/>
                </a:solidFill>
              </a:rPr>
              <a:t>Vinamilk fresh milk 1L</a:t>
            </a:r>
          </a:p>
        </p:txBody>
      </p:sp>
      <p:sp>
        <p:nvSpPr>
          <p:cNvPr id="154" name="TextBox 153"/>
          <p:cNvSpPr txBox="1"/>
          <p:nvPr/>
        </p:nvSpPr>
        <p:spPr>
          <a:xfrm>
            <a:off x="5043984" y="2072377"/>
            <a:ext cx="694944" cy="93878"/>
          </a:xfrm>
          <a:prstGeom prst="rect">
            <a:avLst/>
          </a:prstGeom>
          <a:noFill/>
        </p:spPr>
        <p:txBody>
          <a:bodyPr wrap="square" lIns="0" tIns="0" rIns="0" bIns="0" anchor="ctr">
            <a:spAutoFit/>
          </a:bodyPr>
          <a:lstStyle/>
          <a:p>
            <a:pPr marL="0" indent="0" algn="l">
              <a:buNone/>
            </a:pPr>
            <a:r>
              <a:rPr sz="560" b="1" i="0">
                <a:solidFill>
                  <a:srgbClr val="C8102E"/>
                </a:solidFill>
              </a:rPr>
              <a:t>196,000 ₫</a:t>
            </a:r>
          </a:p>
        </p:txBody>
      </p:sp>
      <p:sp>
        <p:nvSpPr>
          <p:cNvPr id="155" name="Rounded Rectangle 154"/>
          <p:cNvSpPr/>
          <p:nvPr/>
        </p:nvSpPr>
        <p:spPr>
          <a:xfrm>
            <a:off x="6086400" y="2061404"/>
            <a:ext cx="277977" cy="101925"/>
          </a:xfrm>
          <a:prstGeom prst="roundRect">
            <a:avLst>
              <a:gd name="adj" fmla="val 2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6" name="TextBox 155"/>
          <p:cNvSpPr txBox="1"/>
          <p:nvPr/>
        </p:nvSpPr>
        <p:spPr>
          <a:xfrm>
            <a:off x="6086400" y="2061404"/>
            <a:ext cx="92659" cy="101925"/>
          </a:xfrm>
          <a:prstGeom prst="rect">
            <a:avLst/>
          </a:prstGeom>
          <a:noFill/>
        </p:spPr>
        <p:txBody>
          <a:bodyPr wrap="square" lIns="0" tIns="0" rIns="0" bIns="0" anchor="ctr">
            <a:spAutoFit/>
          </a:bodyPr>
          <a:lstStyle/>
          <a:p>
            <a:pPr marL="0" indent="0" algn="ctr">
              <a:buNone/>
            </a:pPr>
            <a:r>
              <a:rPr sz="560" b="0" i="0">
                <a:solidFill>
                  <a:srgbClr val="555555"/>
                </a:solidFill>
              </a:rPr>
              <a:t>−</a:t>
            </a:r>
          </a:p>
        </p:txBody>
      </p:sp>
      <p:sp>
        <p:nvSpPr>
          <p:cNvPr id="157" name="TextBox 156"/>
          <p:cNvSpPr txBox="1"/>
          <p:nvPr/>
        </p:nvSpPr>
        <p:spPr>
          <a:xfrm>
            <a:off x="6174427" y="2061404"/>
            <a:ext cx="101925" cy="101925"/>
          </a:xfrm>
          <a:prstGeom prst="rect">
            <a:avLst/>
          </a:prstGeom>
          <a:noFill/>
        </p:spPr>
        <p:txBody>
          <a:bodyPr wrap="square" lIns="0" tIns="0" rIns="0" bIns="0" anchor="ctr">
            <a:spAutoFit/>
          </a:bodyPr>
          <a:lstStyle/>
          <a:p>
            <a:pPr marL="0" indent="0" algn="ctr">
              <a:buNone/>
            </a:pPr>
            <a:r>
              <a:rPr sz="560" b="1" i="0">
                <a:solidFill>
                  <a:srgbClr val="222222"/>
                </a:solidFill>
              </a:rPr>
              <a:t>1</a:t>
            </a:r>
          </a:p>
        </p:txBody>
      </p:sp>
      <p:sp>
        <p:nvSpPr>
          <p:cNvPr id="158" name="TextBox 157"/>
          <p:cNvSpPr txBox="1"/>
          <p:nvPr/>
        </p:nvSpPr>
        <p:spPr>
          <a:xfrm>
            <a:off x="6271719" y="2061404"/>
            <a:ext cx="92659" cy="101925"/>
          </a:xfrm>
          <a:prstGeom prst="rect">
            <a:avLst/>
          </a:prstGeom>
          <a:noFill/>
        </p:spPr>
        <p:txBody>
          <a:bodyPr wrap="square" lIns="0" tIns="0" rIns="0" bIns="0" anchor="ctr">
            <a:spAutoFit/>
          </a:bodyPr>
          <a:lstStyle/>
          <a:p>
            <a:pPr marL="0" indent="0" algn="ctr">
              <a:buNone/>
            </a:pPr>
            <a:r>
              <a:rPr sz="560" b="0" i="0">
                <a:solidFill>
                  <a:srgbClr val="C8102E"/>
                </a:solidFill>
              </a:rPr>
              <a:t>+</a:t>
            </a:r>
          </a:p>
        </p:txBody>
      </p:sp>
      <p:sp>
        <p:nvSpPr>
          <p:cNvPr id="159" name="Rectangle 158"/>
          <p:cNvSpPr/>
          <p:nvPr/>
        </p:nvSpPr>
        <p:spPr>
          <a:xfrm>
            <a:off x="4747475" y="2260622"/>
            <a:ext cx="1626168" cy="4632"/>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0" name="Rounded Rectangle 159"/>
          <p:cNvSpPr/>
          <p:nvPr/>
        </p:nvSpPr>
        <p:spPr>
          <a:xfrm>
            <a:off x="4747475" y="2381079"/>
            <a:ext cx="55595" cy="55595"/>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1" name="TextBox 160"/>
          <p:cNvSpPr txBox="1"/>
          <p:nvPr/>
        </p:nvSpPr>
        <p:spPr>
          <a:xfrm>
            <a:off x="4747475" y="2366967"/>
            <a:ext cx="55595" cy="83820"/>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162" name="Rounded Rectangle 161"/>
          <p:cNvSpPr/>
          <p:nvPr/>
        </p:nvSpPr>
        <p:spPr>
          <a:xfrm>
            <a:off x="4830868" y="2311584"/>
            <a:ext cx="176052" cy="176052"/>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3" name="TextBox 162"/>
          <p:cNvSpPr txBox="1"/>
          <p:nvPr/>
        </p:nvSpPr>
        <p:spPr>
          <a:xfrm>
            <a:off x="4830868" y="2311584"/>
            <a:ext cx="176052" cy="176052"/>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164" name="TextBox 163"/>
          <p:cNvSpPr txBox="1"/>
          <p:nvPr/>
        </p:nvSpPr>
        <p:spPr>
          <a:xfrm>
            <a:off x="5043984" y="2279580"/>
            <a:ext cx="959022" cy="87172"/>
          </a:xfrm>
          <a:prstGeom prst="rect">
            <a:avLst/>
          </a:prstGeom>
          <a:noFill/>
        </p:spPr>
        <p:txBody>
          <a:bodyPr wrap="square" lIns="0" tIns="0" rIns="0" bIns="0" anchor="ctr">
            <a:spAutoFit/>
          </a:bodyPr>
          <a:lstStyle/>
          <a:p>
            <a:pPr marL="0" indent="0" algn="l">
              <a:buNone/>
            </a:pPr>
            <a:r>
              <a:rPr sz="520" b="1" i="0">
                <a:solidFill>
                  <a:srgbClr val="222222"/>
                </a:solidFill>
              </a:rPr>
              <a:t>Ba Vì yoghurt · pack of 12</a:t>
            </a:r>
          </a:p>
        </p:txBody>
      </p:sp>
      <p:sp>
        <p:nvSpPr>
          <p:cNvPr id="165" name="TextBox 164"/>
          <p:cNvSpPr txBox="1"/>
          <p:nvPr/>
        </p:nvSpPr>
        <p:spPr>
          <a:xfrm>
            <a:off x="5043984" y="2359621"/>
            <a:ext cx="694944" cy="93878"/>
          </a:xfrm>
          <a:prstGeom prst="rect">
            <a:avLst/>
          </a:prstGeom>
          <a:noFill/>
        </p:spPr>
        <p:txBody>
          <a:bodyPr wrap="square" lIns="0" tIns="0" rIns="0" bIns="0" anchor="ctr">
            <a:spAutoFit/>
          </a:bodyPr>
          <a:lstStyle/>
          <a:p>
            <a:pPr marL="0" indent="0" algn="l">
              <a:buNone/>
            </a:pPr>
            <a:r>
              <a:rPr sz="560" b="1" i="0">
                <a:solidFill>
                  <a:srgbClr val="C8102E"/>
                </a:solidFill>
              </a:rPr>
              <a:t>78,000 ₫</a:t>
            </a:r>
          </a:p>
        </p:txBody>
      </p:sp>
      <p:sp>
        <p:nvSpPr>
          <p:cNvPr id="166" name="Rounded Rectangle 165"/>
          <p:cNvSpPr/>
          <p:nvPr/>
        </p:nvSpPr>
        <p:spPr>
          <a:xfrm>
            <a:off x="6086400" y="2348648"/>
            <a:ext cx="277977" cy="101925"/>
          </a:xfrm>
          <a:prstGeom prst="roundRect">
            <a:avLst>
              <a:gd name="adj" fmla="val 2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7" name="TextBox 166"/>
          <p:cNvSpPr txBox="1"/>
          <p:nvPr/>
        </p:nvSpPr>
        <p:spPr>
          <a:xfrm>
            <a:off x="6086400" y="2348648"/>
            <a:ext cx="92659" cy="101925"/>
          </a:xfrm>
          <a:prstGeom prst="rect">
            <a:avLst/>
          </a:prstGeom>
          <a:noFill/>
        </p:spPr>
        <p:txBody>
          <a:bodyPr wrap="square" lIns="0" tIns="0" rIns="0" bIns="0" anchor="ctr">
            <a:spAutoFit/>
          </a:bodyPr>
          <a:lstStyle/>
          <a:p>
            <a:pPr marL="0" indent="0" algn="ctr">
              <a:buNone/>
            </a:pPr>
            <a:r>
              <a:rPr sz="560" b="0" i="0">
                <a:solidFill>
                  <a:srgbClr val="555555"/>
                </a:solidFill>
              </a:rPr>
              <a:t>−</a:t>
            </a:r>
          </a:p>
        </p:txBody>
      </p:sp>
      <p:sp>
        <p:nvSpPr>
          <p:cNvPr id="168" name="TextBox 167"/>
          <p:cNvSpPr txBox="1"/>
          <p:nvPr/>
        </p:nvSpPr>
        <p:spPr>
          <a:xfrm>
            <a:off x="6174427" y="2348648"/>
            <a:ext cx="101925" cy="101925"/>
          </a:xfrm>
          <a:prstGeom prst="rect">
            <a:avLst/>
          </a:prstGeom>
          <a:noFill/>
        </p:spPr>
        <p:txBody>
          <a:bodyPr wrap="square" lIns="0" tIns="0" rIns="0" bIns="0" anchor="ctr">
            <a:spAutoFit/>
          </a:bodyPr>
          <a:lstStyle/>
          <a:p>
            <a:pPr marL="0" indent="0" algn="ctr">
              <a:buNone/>
            </a:pPr>
            <a:r>
              <a:rPr sz="560" b="1" i="0">
                <a:solidFill>
                  <a:srgbClr val="222222"/>
                </a:solidFill>
              </a:rPr>
              <a:t>1</a:t>
            </a:r>
          </a:p>
        </p:txBody>
      </p:sp>
      <p:sp>
        <p:nvSpPr>
          <p:cNvPr id="169" name="TextBox 168"/>
          <p:cNvSpPr txBox="1"/>
          <p:nvPr/>
        </p:nvSpPr>
        <p:spPr>
          <a:xfrm>
            <a:off x="6271719" y="2348648"/>
            <a:ext cx="92659" cy="101925"/>
          </a:xfrm>
          <a:prstGeom prst="rect">
            <a:avLst/>
          </a:prstGeom>
          <a:noFill/>
        </p:spPr>
        <p:txBody>
          <a:bodyPr wrap="square" lIns="0" tIns="0" rIns="0" bIns="0" anchor="ctr">
            <a:spAutoFit/>
          </a:bodyPr>
          <a:lstStyle/>
          <a:p>
            <a:pPr marL="0" indent="0" algn="ctr">
              <a:buNone/>
            </a:pPr>
            <a:r>
              <a:rPr sz="560" b="0" i="0">
                <a:solidFill>
                  <a:srgbClr val="C8102E"/>
                </a:solidFill>
              </a:rPr>
              <a:t>+</a:t>
            </a:r>
          </a:p>
        </p:txBody>
      </p:sp>
      <p:sp>
        <p:nvSpPr>
          <p:cNvPr id="170" name="Rectangle 169"/>
          <p:cNvSpPr/>
          <p:nvPr/>
        </p:nvSpPr>
        <p:spPr>
          <a:xfrm>
            <a:off x="4747475" y="2547865"/>
            <a:ext cx="1626168" cy="4632"/>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1" name="Rounded Rectangle 170"/>
          <p:cNvSpPr/>
          <p:nvPr/>
        </p:nvSpPr>
        <p:spPr>
          <a:xfrm>
            <a:off x="4747475" y="2668322"/>
            <a:ext cx="55595" cy="55595"/>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2" name="TextBox 171"/>
          <p:cNvSpPr txBox="1"/>
          <p:nvPr/>
        </p:nvSpPr>
        <p:spPr>
          <a:xfrm>
            <a:off x="4747475" y="2654210"/>
            <a:ext cx="55595" cy="83820"/>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173" name="Rounded Rectangle 172"/>
          <p:cNvSpPr/>
          <p:nvPr/>
        </p:nvSpPr>
        <p:spPr>
          <a:xfrm>
            <a:off x="4830868" y="2598828"/>
            <a:ext cx="176052" cy="176052"/>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4" name="TextBox 173"/>
          <p:cNvSpPr txBox="1"/>
          <p:nvPr/>
        </p:nvSpPr>
        <p:spPr>
          <a:xfrm>
            <a:off x="4830868" y="2598828"/>
            <a:ext cx="176052" cy="176052"/>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175" name="TextBox 174"/>
          <p:cNvSpPr txBox="1"/>
          <p:nvPr/>
        </p:nvSpPr>
        <p:spPr>
          <a:xfrm>
            <a:off x="5043984" y="2566824"/>
            <a:ext cx="959022" cy="87172"/>
          </a:xfrm>
          <a:prstGeom prst="rect">
            <a:avLst/>
          </a:prstGeom>
          <a:noFill/>
        </p:spPr>
        <p:txBody>
          <a:bodyPr wrap="square" lIns="0" tIns="0" rIns="0" bIns="0" anchor="ctr">
            <a:spAutoFit/>
          </a:bodyPr>
          <a:lstStyle/>
          <a:p>
            <a:pPr marL="0" indent="0" algn="l">
              <a:buNone/>
            </a:pPr>
            <a:r>
              <a:rPr sz="520" b="1" i="0">
                <a:solidFill>
                  <a:srgbClr val="222222"/>
                </a:solidFill>
              </a:rPr>
              <a:t>Chicken breast 500g</a:t>
            </a:r>
          </a:p>
        </p:txBody>
      </p:sp>
      <p:sp>
        <p:nvSpPr>
          <p:cNvPr id="176" name="TextBox 175"/>
          <p:cNvSpPr txBox="1"/>
          <p:nvPr/>
        </p:nvSpPr>
        <p:spPr>
          <a:xfrm>
            <a:off x="5043984" y="2646864"/>
            <a:ext cx="694944" cy="93878"/>
          </a:xfrm>
          <a:prstGeom prst="rect">
            <a:avLst/>
          </a:prstGeom>
          <a:noFill/>
        </p:spPr>
        <p:txBody>
          <a:bodyPr wrap="square" lIns="0" tIns="0" rIns="0" bIns="0" anchor="ctr">
            <a:spAutoFit/>
          </a:bodyPr>
          <a:lstStyle/>
          <a:p>
            <a:pPr marL="0" indent="0" algn="l">
              <a:buNone/>
            </a:pPr>
            <a:r>
              <a:rPr sz="560" b="1" i="0">
                <a:solidFill>
                  <a:srgbClr val="C8102E"/>
                </a:solidFill>
              </a:rPr>
              <a:t>112,000 ₫</a:t>
            </a:r>
          </a:p>
        </p:txBody>
      </p:sp>
      <p:sp>
        <p:nvSpPr>
          <p:cNvPr id="177" name="Rounded Rectangle 176"/>
          <p:cNvSpPr/>
          <p:nvPr/>
        </p:nvSpPr>
        <p:spPr>
          <a:xfrm>
            <a:off x="6086400" y="2635891"/>
            <a:ext cx="277977" cy="101925"/>
          </a:xfrm>
          <a:prstGeom prst="roundRect">
            <a:avLst>
              <a:gd name="adj" fmla="val 2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8" name="TextBox 177"/>
          <p:cNvSpPr txBox="1"/>
          <p:nvPr/>
        </p:nvSpPr>
        <p:spPr>
          <a:xfrm>
            <a:off x="6086400" y="2635891"/>
            <a:ext cx="92659" cy="101925"/>
          </a:xfrm>
          <a:prstGeom prst="rect">
            <a:avLst/>
          </a:prstGeom>
          <a:noFill/>
        </p:spPr>
        <p:txBody>
          <a:bodyPr wrap="square" lIns="0" tIns="0" rIns="0" bIns="0" anchor="ctr">
            <a:spAutoFit/>
          </a:bodyPr>
          <a:lstStyle/>
          <a:p>
            <a:pPr marL="0" indent="0" algn="ctr">
              <a:buNone/>
            </a:pPr>
            <a:r>
              <a:rPr sz="560" b="0" i="0">
                <a:solidFill>
                  <a:srgbClr val="555555"/>
                </a:solidFill>
              </a:rPr>
              <a:t>−</a:t>
            </a:r>
          </a:p>
        </p:txBody>
      </p:sp>
      <p:sp>
        <p:nvSpPr>
          <p:cNvPr id="179" name="TextBox 178"/>
          <p:cNvSpPr txBox="1"/>
          <p:nvPr/>
        </p:nvSpPr>
        <p:spPr>
          <a:xfrm>
            <a:off x="6174427" y="2635891"/>
            <a:ext cx="101925" cy="101925"/>
          </a:xfrm>
          <a:prstGeom prst="rect">
            <a:avLst/>
          </a:prstGeom>
          <a:noFill/>
        </p:spPr>
        <p:txBody>
          <a:bodyPr wrap="square" lIns="0" tIns="0" rIns="0" bIns="0" anchor="ctr">
            <a:spAutoFit/>
          </a:bodyPr>
          <a:lstStyle/>
          <a:p>
            <a:pPr marL="0" indent="0" algn="ctr">
              <a:buNone/>
            </a:pPr>
            <a:r>
              <a:rPr sz="560" b="1" i="0">
                <a:solidFill>
                  <a:srgbClr val="222222"/>
                </a:solidFill>
              </a:rPr>
              <a:t>1</a:t>
            </a:r>
          </a:p>
        </p:txBody>
      </p:sp>
      <p:sp>
        <p:nvSpPr>
          <p:cNvPr id="180" name="TextBox 179"/>
          <p:cNvSpPr txBox="1"/>
          <p:nvPr/>
        </p:nvSpPr>
        <p:spPr>
          <a:xfrm>
            <a:off x="6271719" y="2635891"/>
            <a:ext cx="92659" cy="101925"/>
          </a:xfrm>
          <a:prstGeom prst="rect">
            <a:avLst/>
          </a:prstGeom>
          <a:noFill/>
        </p:spPr>
        <p:txBody>
          <a:bodyPr wrap="square" lIns="0" tIns="0" rIns="0" bIns="0" anchor="ctr">
            <a:spAutoFit/>
          </a:bodyPr>
          <a:lstStyle/>
          <a:p>
            <a:pPr marL="0" indent="0" algn="ctr">
              <a:buNone/>
            </a:pPr>
            <a:r>
              <a:rPr sz="560" b="0" i="0">
                <a:solidFill>
                  <a:srgbClr val="C8102E"/>
                </a:solidFill>
              </a:rPr>
              <a:t>+</a:t>
            </a:r>
          </a:p>
        </p:txBody>
      </p:sp>
      <p:sp>
        <p:nvSpPr>
          <p:cNvPr id="181" name="Rectangle 180"/>
          <p:cNvSpPr/>
          <p:nvPr/>
        </p:nvSpPr>
        <p:spPr>
          <a:xfrm>
            <a:off x="4747475" y="2835109"/>
            <a:ext cx="1626168" cy="4632"/>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2" name="Rectangle 181"/>
          <p:cNvSpPr/>
          <p:nvPr/>
        </p:nvSpPr>
        <p:spPr>
          <a:xfrm>
            <a:off x="4691880" y="4039678"/>
            <a:ext cx="1737360" cy="4632"/>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3" name="Rectangle 182"/>
          <p:cNvSpPr/>
          <p:nvPr/>
        </p:nvSpPr>
        <p:spPr>
          <a:xfrm>
            <a:off x="4691880" y="4039678"/>
            <a:ext cx="1737360" cy="26871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4" name="TextBox 183"/>
          <p:cNvSpPr txBox="1"/>
          <p:nvPr/>
        </p:nvSpPr>
        <p:spPr>
          <a:xfrm>
            <a:off x="4756741" y="4060954"/>
            <a:ext cx="741273" cy="87172"/>
          </a:xfrm>
          <a:prstGeom prst="rect">
            <a:avLst/>
          </a:prstGeom>
          <a:noFill/>
        </p:spPr>
        <p:txBody>
          <a:bodyPr wrap="square" lIns="0" tIns="0" rIns="0" bIns="0" anchor="ctr">
            <a:spAutoFit/>
          </a:bodyPr>
          <a:lstStyle/>
          <a:p>
            <a:pPr marL="0" indent="0" algn="l">
              <a:buNone/>
            </a:pPr>
            <a:r>
              <a:rPr sz="520" b="0" i="0">
                <a:solidFill>
                  <a:srgbClr val="888888"/>
                </a:solidFill>
              </a:rPr>
              <a:t>Provisional total  ·  31 items</a:t>
            </a:r>
          </a:p>
        </p:txBody>
      </p:sp>
      <p:sp>
        <p:nvSpPr>
          <p:cNvPr id="185" name="TextBox 184"/>
          <p:cNvSpPr txBox="1"/>
          <p:nvPr/>
        </p:nvSpPr>
        <p:spPr>
          <a:xfrm>
            <a:off x="4756741" y="4102345"/>
            <a:ext cx="741273" cy="134112"/>
          </a:xfrm>
          <a:prstGeom prst="rect">
            <a:avLst/>
          </a:prstGeom>
          <a:noFill/>
        </p:spPr>
        <p:txBody>
          <a:bodyPr wrap="square" lIns="0" tIns="0" rIns="0" bIns="0" anchor="ctr">
            <a:spAutoFit/>
          </a:bodyPr>
          <a:lstStyle/>
          <a:p>
            <a:pPr marL="0" indent="0" algn="l">
              <a:buNone/>
            </a:pPr>
            <a:r>
              <a:rPr sz="800" b="1" i="0">
                <a:solidFill>
                  <a:srgbClr val="C8102E"/>
                </a:solidFill>
              </a:rPr>
              <a:t>1,486,000 ₫</a:t>
            </a:r>
          </a:p>
        </p:txBody>
      </p:sp>
      <p:sp>
        <p:nvSpPr>
          <p:cNvPr id="186" name="Rounded Rectangle 185"/>
          <p:cNvSpPr/>
          <p:nvPr/>
        </p:nvSpPr>
        <p:spPr>
          <a:xfrm>
            <a:off x="5734296" y="4095274"/>
            <a:ext cx="630082" cy="138988"/>
          </a:xfrm>
          <a:prstGeom prst="roundRect">
            <a:avLst>
              <a:gd name="adj" fmla="val 20000"/>
            </a:avLst>
          </a:prstGeom>
          <a:solidFill>
            <a:srgbClr val="E0E0E0"/>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7" name="TextBox 186"/>
          <p:cNvSpPr txBox="1"/>
          <p:nvPr/>
        </p:nvSpPr>
        <p:spPr>
          <a:xfrm>
            <a:off x="5734296" y="4095274"/>
            <a:ext cx="630082" cy="138988"/>
          </a:xfrm>
          <a:prstGeom prst="rect">
            <a:avLst/>
          </a:prstGeom>
          <a:noFill/>
        </p:spPr>
        <p:txBody>
          <a:bodyPr wrap="square" lIns="0" tIns="0" rIns="0" bIns="0" anchor="ctr">
            <a:spAutoFit/>
          </a:bodyPr>
          <a:lstStyle/>
          <a:p>
            <a:pPr marL="0" indent="0" algn="ctr">
              <a:buNone/>
            </a:pPr>
            <a:r>
              <a:rPr sz="650" b="1" i="0">
                <a:solidFill>
                  <a:srgbClr val="888888"/>
                </a:solidFill>
              </a:rPr>
              <a:t>Proceed</a:t>
            </a:r>
          </a:p>
        </p:txBody>
      </p:sp>
      <p:sp>
        <p:nvSpPr>
          <p:cNvPr id="188" name="Oval 187"/>
          <p:cNvSpPr/>
          <p:nvPr/>
        </p:nvSpPr>
        <p:spPr>
          <a:xfrm>
            <a:off x="4534360" y="1343296"/>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9" name="TextBox 188"/>
          <p:cNvSpPr txBox="1"/>
          <p:nvPr/>
        </p:nvSpPr>
        <p:spPr>
          <a:xfrm>
            <a:off x="4534360" y="1343296"/>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190" name="Oval 189"/>
          <p:cNvSpPr/>
          <p:nvPr/>
        </p:nvSpPr>
        <p:spPr>
          <a:xfrm>
            <a:off x="4534360" y="1695400"/>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91" name="TextBox 190"/>
          <p:cNvSpPr txBox="1"/>
          <p:nvPr/>
        </p:nvSpPr>
        <p:spPr>
          <a:xfrm>
            <a:off x="4534360" y="1695400"/>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sp>
        <p:nvSpPr>
          <p:cNvPr id="192" name="Oval 191"/>
          <p:cNvSpPr/>
          <p:nvPr/>
        </p:nvSpPr>
        <p:spPr>
          <a:xfrm>
            <a:off x="4534360" y="4076742"/>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93" name="TextBox 192"/>
          <p:cNvSpPr txBox="1"/>
          <p:nvPr/>
        </p:nvSpPr>
        <p:spPr>
          <a:xfrm>
            <a:off x="4534360" y="4076742"/>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graphicFrame>
        <p:nvGraphicFramePr>
          <p:cNvPr id="194" name="Table 193"/>
          <p:cNvGraphicFramePr>
            <a:graphicFrameLocks noGrp="1"/>
          </p:cNvGraphicFramePr>
          <p:nvPr/>
        </p:nvGraphicFramePr>
        <p:xfrm>
          <a:off x="7196328" y="886968"/>
          <a:ext cx="4718304" cy="336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Swipe to remove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Swiping a row left reveals Remove. It does not delete immediately (CT-05, BRL-31).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Quantity reduced to zero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second removal trigger. Reaching zero does not delete silently.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Single confirmation dialog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Both triggers raise the same dialog, with the same wording and the same two options — No / Confirm. Only Confirm removes the product (BRL-31).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No / Confirm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No returns the row to its previous state, including restoring the quantity to 1 when it was reduced to zero.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Item-limit error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 maximum of 30 products may be selected for one checkout. Exceeding it raises an error and returns the customer to selection (CT-05, BRL-31).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7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Live counter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Shows selected against the limit, so the customer can see how far over they are without counting rows.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420000">
                <a:tc>
                  <a:txBody>
                    <a:bodyPr/>
                    <a:lstStyle/>
                    <a:p>
                      <a:pPr marL="0" indent="0" algn="ctr">
                        <a:buNone/>
                      </a:pPr>
                      <a:r>
                        <a:rPr sz="70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Proceed disabled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checkout hand-off is blocked until the selection is within the limit. The limit is a configuration parameter, not hard-coded.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195" name="TextBox 194"/>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The limit applies to products selected for one checkout, not to the total number of items held in the cart — the customer may keep more in the cart and check out in batches. Notes can be added per product on the same rows (CT-05).</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Cart (CT)</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CT-07</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SCR-CRT-06</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Cart — Store Change Warning &amp; Impact</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58</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Step 1  ·  Pre-filtered store list</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59436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5873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29" name="TextBox 28"/>
          <p:cNvSpPr txBox="1"/>
          <p:nvPr/>
        </p:nvSpPr>
        <p:spPr>
          <a:xfrm>
            <a:off x="77675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Cart  (8)</a:t>
            </a:r>
          </a:p>
        </p:txBody>
      </p:sp>
      <p:sp>
        <p:nvSpPr>
          <p:cNvPr id="30" name="TextBox 29"/>
          <p:cNvSpPr txBox="1"/>
          <p:nvPr/>
        </p:nvSpPr>
        <p:spPr>
          <a:xfrm>
            <a:off x="2069591" y="998018"/>
            <a:ext cx="461345" cy="214579"/>
          </a:xfrm>
          <a:prstGeom prst="rect">
            <a:avLst/>
          </a:prstGeom>
          <a:noFill/>
        </p:spPr>
        <p:txBody>
          <a:bodyPr wrap="square" lIns="0" tIns="0" rIns="0" bIns="0" anchor="ctr">
            <a:spAutoFit/>
          </a:bodyPr>
          <a:lstStyle/>
          <a:p>
            <a:pPr marL="0" indent="0" algn="r">
              <a:buNone/>
            </a:pPr>
            <a:r>
              <a:rPr sz="600" b="0" i="0">
                <a:solidFill>
                  <a:srgbClr val="555555"/>
                </a:solidFill>
              </a:rPr>
              <a:t>Edit</a:t>
            </a:r>
          </a:p>
        </p:txBody>
      </p:sp>
      <p:sp>
        <p:nvSpPr>
          <p:cNvPr id="31" name="Rectangle 30"/>
          <p:cNvSpPr/>
          <p:nvPr/>
        </p:nvSpPr>
        <p:spPr>
          <a:xfrm>
            <a:off x="59436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594360" y="1217962"/>
            <a:ext cx="1005839" cy="160934"/>
          </a:xfrm>
          <a:prstGeom prst="rect">
            <a:avLst/>
          </a:prstGeom>
          <a:noFill/>
        </p:spPr>
        <p:txBody>
          <a:bodyPr wrap="square" lIns="0" tIns="0" rIns="0" bIns="0" anchor="ctr">
            <a:spAutoFit/>
          </a:bodyPr>
          <a:lstStyle/>
          <a:p>
            <a:pPr marL="0" indent="0" algn="ctr">
              <a:buNone/>
            </a:pPr>
            <a:r>
              <a:rPr sz="650" b="1" i="0">
                <a:solidFill>
                  <a:srgbClr val="C8102E"/>
                </a:solidFill>
              </a:rPr>
              <a:t>Delivery</a:t>
            </a:r>
          </a:p>
        </p:txBody>
      </p:sp>
      <p:sp>
        <p:nvSpPr>
          <p:cNvPr id="33" name="Rectangle 32"/>
          <p:cNvSpPr/>
          <p:nvPr/>
        </p:nvSpPr>
        <p:spPr>
          <a:xfrm>
            <a:off x="815644" y="1362803"/>
            <a:ext cx="563270" cy="1609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1600199" y="1217962"/>
            <a:ext cx="1005839" cy="160934"/>
          </a:xfrm>
          <a:prstGeom prst="rect">
            <a:avLst/>
          </a:prstGeom>
          <a:noFill/>
        </p:spPr>
        <p:txBody>
          <a:bodyPr wrap="square" lIns="0" tIns="0" rIns="0" bIns="0" anchor="ctr">
            <a:spAutoFit/>
          </a:bodyPr>
          <a:lstStyle/>
          <a:p>
            <a:pPr marL="0" indent="0" algn="ctr">
              <a:buNone/>
            </a:pPr>
            <a:r>
              <a:rPr sz="650" b="0" i="0">
                <a:solidFill>
                  <a:srgbClr val="888888"/>
                </a:solidFill>
              </a:rPr>
              <a:t>Self pick-up</a:t>
            </a:r>
          </a:p>
        </p:txBody>
      </p:sp>
      <p:sp>
        <p:nvSpPr>
          <p:cNvPr id="35" name="Rectangle 34"/>
          <p:cNvSpPr/>
          <p:nvPr/>
        </p:nvSpPr>
        <p:spPr>
          <a:xfrm>
            <a:off x="594360" y="1378896"/>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Rectangle 35"/>
          <p:cNvSpPr/>
          <p:nvPr/>
        </p:nvSpPr>
        <p:spPr>
          <a:xfrm>
            <a:off x="594360" y="1384261"/>
            <a:ext cx="2011679" cy="118018"/>
          </a:xfrm>
          <a:prstGeom prst="rect">
            <a:avLst/>
          </a:prstGeom>
          <a:solidFill>
            <a:srgbClr val="F7E9E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TextBox 36"/>
          <p:cNvSpPr txBox="1"/>
          <p:nvPr/>
        </p:nvSpPr>
        <p:spPr>
          <a:xfrm>
            <a:off x="669462" y="1384261"/>
            <a:ext cx="1394764" cy="118018"/>
          </a:xfrm>
          <a:prstGeom prst="rect">
            <a:avLst/>
          </a:prstGeom>
          <a:noFill/>
        </p:spPr>
        <p:txBody>
          <a:bodyPr wrap="square" lIns="0" tIns="0" rIns="0" bIns="0" anchor="ctr">
            <a:spAutoFit/>
          </a:bodyPr>
          <a:lstStyle/>
          <a:p>
            <a:pPr marL="0" indent="0" algn="l">
              <a:buNone/>
            </a:pPr>
            <a:r>
              <a:rPr sz="520" b="0" i="0">
                <a:solidFill>
                  <a:srgbClr val="555555"/>
                </a:solidFill>
              </a:rPr>
              <a:t>Serving store:  </a:t>
            </a:r>
            <a:r>
              <a:rPr sz="520" b="1" i="0">
                <a:solidFill>
                  <a:srgbClr val="C8102E"/>
                </a:solidFill>
              </a:rPr>
              <a:t>LOTTE Mart Nam Sài Gòn</a:t>
            </a:r>
          </a:p>
        </p:txBody>
      </p:sp>
      <p:sp>
        <p:nvSpPr>
          <p:cNvPr id="38" name="TextBox 37"/>
          <p:cNvSpPr txBox="1"/>
          <p:nvPr/>
        </p:nvSpPr>
        <p:spPr>
          <a:xfrm>
            <a:off x="2203703" y="1384261"/>
            <a:ext cx="327233" cy="118018"/>
          </a:xfrm>
          <a:prstGeom prst="rect">
            <a:avLst/>
          </a:prstGeom>
          <a:noFill/>
        </p:spPr>
        <p:txBody>
          <a:bodyPr wrap="square" lIns="0" tIns="0" rIns="0" bIns="0" anchor="ctr">
            <a:spAutoFit/>
          </a:bodyPr>
          <a:lstStyle/>
          <a:p>
            <a:pPr marL="0" indent="0" algn="r">
              <a:buNone/>
            </a:pPr>
            <a:r>
              <a:rPr sz="500" b="1" i="0">
                <a:solidFill>
                  <a:srgbClr val="C8102E"/>
                </a:solidFill>
              </a:rPr>
              <a:t>Change ›</a:t>
            </a:r>
          </a:p>
        </p:txBody>
      </p:sp>
      <p:sp>
        <p:nvSpPr>
          <p:cNvPr id="39" name="Rectangle 38"/>
          <p:cNvSpPr/>
          <p:nvPr/>
        </p:nvSpPr>
        <p:spPr>
          <a:xfrm>
            <a:off x="594360" y="1523737"/>
            <a:ext cx="2011679" cy="3325977"/>
          </a:xfrm>
          <a:prstGeom prst="rect">
            <a:avLst/>
          </a:prstGeom>
          <a:solidFill>
            <a:srgbClr val="1A1A1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Rounded Rectangle 39"/>
          <p:cNvSpPr/>
          <p:nvPr/>
        </p:nvSpPr>
        <p:spPr>
          <a:xfrm>
            <a:off x="594360" y="2113830"/>
            <a:ext cx="2011679" cy="2735884"/>
          </a:xfrm>
          <a:prstGeom prst="roundRect">
            <a:avLst>
              <a:gd name="adj" fmla="val 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Rounded Rectangle 40"/>
          <p:cNvSpPr/>
          <p:nvPr/>
        </p:nvSpPr>
        <p:spPr>
          <a:xfrm>
            <a:off x="1503639" y="2151381"/>
            <a:ext cx="193121" cy="21457"/>
          </a:xfrm>
          <a:prstGeom prst="roundRect">
            <a:avLst>
              <a:gd name="adj" fmla="val 50000"/>
            </a:avLst>
          </a:prstGeom>
          <a:solidFill>
            <a:srgbClr val="CCCCCC"/>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TextBox 41"/>
          <p:cNvSpPr txBox="1"/>
          <p:nvPr/>
        </p:nvSpPr>
        <p:spPr>
          <a:xfrm>
            <a:off x="680191" y="2194633"/>
            <a:ext cx="1689811" cy="117348"/>
          </a:xfrm>
          <a:prstGeom prst="rect">
            <a:avLst/>
          </a:prstGeom>
          <a:noFill/>
        </p:spPr>
        <p:txBody>
          <a:bodyPr wrap="square" lIns="0" tIns="0" rIns="0" bIns="0" anchor="ctr">
            <a:spAutoFit/>
          </a:bodyPr>
          <a:lstStyle/>
          <a:p>
            <a:pPr marL="0" indent="0" algn="l">
              <a:buNone/>
            </a:pPr>
            <a:r>
              <a:rPr sz="700" b="1" i="0">
                <a:solidFill>
                  <a:srgbClr val="1A1A1A"/>
                </a:solidFill>
              </a:rPr>
              <a:t>Change serving store</a:t>
            </a:r>
          </a:p>
        </p:txBody>
      </p:sp>
      <p:sp>
        <p:nvSpPr>
          <p:cNvPr id="43" name="TextBox 42"/>
          <p:cNvSpPr txBox="1"/>
          <p:nvPr/>
        </p:nvSpPr>
        <p:spPr>
          <a:xfrm>
            <a:off x="2434376" y="2199662"/>
            <a:ext cx="107289" cy="107289"/>
          </a:xfrm>
          <a:prstGeom prst="rect">
            <a:avLst/>
          </a:prstGeom>
          <a:noFill/>
        </p:spPr>
        <p:txBody>
          <a:bodyPr wrap="square" lIns="0" tIns="0" rIns="0" bIns="0" anchor="ctr">
            <a:spAutoFit/>
          </a:bodyPr>
          <a:lstStyle/>
          <a:p>
            <a:pPr marL="0" indent="0" algn="ctr">
              <a:buNone/>
            </a:pPr>
            <a:r>
              <a:rPr sz="600" b="0" i="0">
                <a:solidFill>
                  <a:srgbClr val="888888"/>
                </a:solidFill>
              </a:rPr>
              <a:t>✕</a:t>
            </a:r>
          </a:p>
        </p:txBody>
      </p:sp>
      <p:sp>
        <p:nvSpPr>
          <p:cNvPr id="44" name="Rectangle 43"/>
          <p:cNvSpPr/>
          <p:nvPr/>
        </p:nvSpPr>
        <p:spPr>
          <a:xfrm>
            <a:off x="594360" y="2328409"/>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Rounded Rectangle 44"/>
          <p:cNvSpPr/>
          <p:nvPr/>
        </p:nvSpPr>
        <p:spPr>
          <a:xfrm>
            <a:off x="648004" y="2360596"/>
            <a:ext cx="1904390" cy="171663"/>
          </a:xfrm>
          <a:prstGeom prst="roundRect">
            <a:avLst>
              <a:gd name="adj" fmla="val 15000"/>
            </a:avLst>
          </a:prstGeom>
          <a:solidFill>
            <a:srgbClr val="EEF1F9"/>
          </a:solidFill>
          <a:ln w="6350">
            <a:solidFill>
              <a:srgbClr val="EEF1F9"/>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TextBox 45"/>
          <p:cNvSpPr txBox="1"/>
          <p:nvPr/>
        </p:nvSpPr>
        <p:spPr>
          <a:xfrm>
            <a:off x="690920" y="2360596"/>
            <a:ext cx="96560" cy="171663"/>
          </a:xfrm>
          <a:prstGeom prst="rect">
            <a:avLst/>
          </a:prstGeom>
          <a:noFill/>
        </p:spPr>
        <p:txBody>
          <a:bodyPr wrap="square" lIns="0" tIns="0" rIns="0" bIns="0" anchor="ctr">
            <a:spAutoFit/>
          </a:bodyPr>
          <a:lstStyle/>
          <a:p>
            <a:pPr marL="0" indent="0" algn="ctr">
              <a:buNone/>
            </a:pPr>
            <a:r>
              <a:rPr sz="550" b="1" i="0">
                <a:solidFill>
                  <a:srgbClr val="3D5298"/>
                </a:solidFill>
              </a:rPr>
              <a:t>i</a:t>
            </a:r>
          </a:p>
        </p:txBody>
      </p:sp>
      <p:sp>
        <p:nvSpPr>
          <p:cNvPr id="47" name="TextBox 46"/>
          <p:cNvSpPr txBox="1"/>
          <p:nvPr/>
        </p:nvSpPr>
        <p:spPr>
          <a:xfrm>
            <a:off x="819668" y="2360596"/>
            <a:ext cx="1700540" cy="171663"/>
          </a:xfrm>
          <a:prstGeom prst="rect">
            <a:avLst/>
          </a:prstGeom>
          <a:noFill/>
        </p:spPr>
        <p:txBody>
          <a:bodyPr wrap="square" lIns="0" tIns="0" rIns="0" bIns="0" anchor="ctr">
            <a:spAutoFit/>
          </a:bodyPr>
          <a:lstStyle/>
          <a:p>
            <a:pPr marL="0" indent="0" algn="l">
              <a:buNone/>
            </a:pPr>
            <a:r>
              <a:rPr sz="540" b="0" i="0">
                <a:solidFill>
                  <a:srgbClr val="3D5298"/>
                </a:solidFill>
              </a:rPr>
              <a:t>Only stores that can serve 123 Nguyễn Thị Thập, Q.7 are listed</a:t>
            </a:r>
          </a:p>
        </p:txBody>
      </p:sp>
      <p:sp>
        <p:nvSpPr>
          <p:cNvPr id="48" name="Rounded Rectangle 47"/>
          <p:cNvSpPr/>
          <p:nvPr/>
        </p:nvSpPr>
        <p:spPr>
          <a:xfrm>
            <a:off x="669462" y="2575175"/>
            <a:ext cx="1861474" cy="300410"/>
          </a:xfrm>
          <a:prstGeom prst="roundRect">
            <a:avLst>
              <a:gd name="adj" fmla="val 12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9" name="TextBox 48"/>
          <p:cNvSpPr txBox="1"/>
          <p:nvPr/>
        </p:nvSpPr>
        <p:spPr>
          <a:xfrm>
            <a:off x="744565" y="2605350"/>
            <a:ext cx="1287475" cy="100584"/>
          </a:xfrm>
          <a:prstGeom prst="rect">
            <a:avLst/>
          </a:prstGeom>
          <a:noFill/>
        </p:spPr>
        <p:txBody>
          <a:bodyPr wrap="square" lIns="0" tIns="0" rIns="0" bIns="0" anchor="ctr">
            <a:spAutoFit/>
          </a:bodyPr>
          <a:lstStyle/>
          <a:p>
            <a:pPr marL="0" indent="0" algn="l">
              <a:buNone/>
            </a:pPr>
            <a:r>
              <a:rPr sz="600" b="1" i="0">
                <a:solidFill>
                  <a:srgbClr val="C8102E"/>
                </a:solidFill>
              </a:rPr>
              <a:t>LOTTE Mart Nam Sài Gòn</a:t>
            </a:r>
          </a:p>
        </p:txBody>
      </p:sp>
      <p:sp>
        <p:nvSpPr>
          <p:cNvPr id="50" name="TextBox 49"/>
          <p:cNvSpPr txBox="1"/>
          <p:nvPr/>
        </p:nvSpPr>
        <p:spPr>
          <a:xfrm>
            <a:off x="744565" y="2694200"/>
            <a:ext cx="1287475" cy="83820"/>
          </a:xfrm>
          <a:prstGeom prst="rect">
            <a:avLst/>
          </a:prstGeom>
          <a:noFill/>
        </p:spPr>
        <p:txBody>
          <a:bodyPr wrap="square" lIns="0" tIns="0" rIns="0" bIns="0" anchor="ctr">
            <a:spAutoFit/>
          </a:bodyPr>
          <a:lstStyle/>
          <a:p>
            <a:pPr marL="0" indent="0" algn="l">
              <a:buNone/>
            </a:pPr>
            <a:r>
              <a:rPr sz="500" b="0" i="0">
                <a:solidFill>
                  <a:srgbClr val="888888"/>
                </a:solidFill>
              </a:rPr>
              <a:t>2.1 km · current</a:t>
            </a:r>
          </a:p>
        </p:txBody>
      </p:sp>
      <p:sp>
        <p:nvSpPr>
          <p:cNvPr id="51" name="Rounded Rectangle 50"/>
          <p:cNvSpPr/>
          <p:nvPr/>
        </p:nvSpPr>
        <p:spPr>
          <a:xfrm>
            <a:off x="744565" y="2779025"/>
            <a:ext cx="751027" cy="69738"/>
          </a:xfrm>
          <a:prstGeom prst="roundRect">
            <a:avLst>
              <a:gd name="adj" fmla="val 50000"/>
            </a:avLst>
          </a:prstGeom>
          <a:solidFill>
            <a:srgbClr val="E8F5EE"/>
          </a:solidFill>
          <a:ln w="635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2" name="TextBox 51"/>
          <p:cNvSpPr txBox="1"/>
          <p:nvPr/>
        </p:nvSpPr>
        <p:spPr>
          <a:xfrm>
            <a:off x="744565" y="2778690"/>
            <a:ext cx="751027" cy="70408"/>
          </a:xfrm>
          <a:prstGeom prst="rect">
            <a:avLst/>
          </a:prstGeom>
          <a:noFill/>
        </p:spPr>
        <p:txBody>
          <a:bodyPr wrap="square" lIns="0" tIns="0" rIns="0" bIns="0" anchor="ctr">
            <a:spAutoFit/>
          </a:bodyPr>
          <a:lstStyle/>
          <a:p>
            <a:pPr marL="0" indent="0" algn="ctr">
              <a:buNone/>
            </a:pPr>
            <a:r>
              <a:rPr sz="420" b="1" i="0">
                <a:solidFill>
                  <a:srgbClr val="1B7F4B"/>
                </a:solidFill>
              </a:rPr>
              <a:t>60-Minute + Standard</a:t>
            </a:r>
          </a:p>
        </p:txBody>
      </p:sp>
      <p:sp>
        <p:nvSpPr>
          <p:cNvPr id="53" name="Rounded Rectangle 52"/>
          <p:cNvSpPr/>
          <p:nvPr/>
        </p:nvSpPr>
        <p:spPr>
          <a:xfrm>
            <a:off x="2375367" y="2687829"/>
            <a:ext cx="75102" cy="75102"/>
          </a:xfrm>
          <a:prstGeom prst="roundRect">
            <a:avLst>
              <a:gd name="adj" fmla="val 5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4" name="Rounded Rectangle 53"/>
          <p:cNvSpPr/>
          <p:nvPr/>
        </p:nvSpPr>
        <p:spPr>
          <a:xfrm>
            <a:off x="669462" y="2918502"/>
            <a:ext cx="1861474" cy="300410"/>
          </a:xfrm>
          <a:prstGeom prst="roundRect">
            <a:avLst>
              <a:gd name="adj" fmla="val 12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5" name="TextBox 54"/>
          <p:cNvSpPr txBox="1"/>
          <p:nvPr/>
        </p:nvSpPr>
        <p:spPr>
          <a:xfrm>
            <a:off x="744565" y="2948677"/>
            <a:ext cx="1287475" cy="100584"/>
          </a:xfrm>
          <a:prstGeom prst="rect">
            <a:avLst/>
          </a:prstGeom>
          <a:noFill/>
        </p:spPr>
        <p:txBody>
          <a:bodyPr wrap="square" lIns="0" tIns="0" rIns="0" bIns="0" anchor="ctr">
            <a:spAutoFit/>
          </a:bodyPr>
          <a:lstStyle/>
          <a:p>
            <a:pPr marL="0" indent="0" algn="l">
              <a:buNone/>
            </a:pPr>
            <a:r>
              <a:rPr sz="600" b="1" i="0">
                <a:solidFill>
                  <a:srgbClr val="222222"/>
                </a:solidFill>
              </a:rPr>
              <a:t>LOTTE Mart Tân Bình</a:t>
            </a:r>
          </a:p>
        </p:txBody>
      </p:sp>
      <p:sp>
        <p:nvSpPr>
          <p:cNvPr id="56" name="TextBox 55"/>
          <p:cNvSpPr txBox="1"/>
          <p:nvPr/>
        </p:nvSpPr>
        <p:spPr>
          <a:xfrm>
            <a:off x="744565" y="3037526"/>
            <a:ext cx="1287475" cy="83820"/>
          </a:xfrm>
          <a:prstGeom prst="rect">
            <a:avLst/>
          </a:prstGeom>
          <a:noFill/>
        </p:spPr>
        <p:txBody>
          <a:bodyPr wrap="square" lIns="0" tIns="0" rIns="0" bIns="0" anchor="ctr">
            <a:spAutoFit/>
          </a:bodyPr>
          <a:lstStyle/>
          <a:p>
            <a:pPr marL="0" indent="0" algn="l">
              <a:buNone/>
            </a:pPr>
            <a:r>
              <a:rPr sz="500" b="0" i="0">
                <a:solidFill>
                  <a:srgbClr val="888888"/>
                </a:solidFill>
              </a:rPr>
              <a:t>6.8 km</a:t>
            </a:r>
          </a:p>
        </p:txBody>
      </p:sp>
      <p:sp>
        <p:nvSpPr>
          <p:cNvPr id="57" name="Rounded Rectangle 56"/>
          <p:cNvSpPr/>
          <p:nvPr/>
        </p:nvSpPr>
        <p:spPr>
          <a:xfrm>
            <a:off x="744565" y="3122352"/>
            <a:ext cx="751027" cy="69738"/>
          </a:xfrm>
          <a:prstGeom prst="roundRect">
            <a:avLst>
              <a:gd name="adj" fmla="val 50000"/>
            </a:avLst>
          </a:prstGeom>
          <a:solidFill>
            <a:srgbClr val="EEF1F9"/>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8" name="TextBox 57"/>
          <p:cNvSpPr txBox="1"/>
          <p:nvPr/>
        </p:nvSpPr>
        <p:spPr>
          <a:xfrm>
            <a:off x="744565" y="3122017"/>
            <a:ext cx="751027" cy="70408"/>
          </a:xfrm>
          <a:prstGeom prst="rect">
            <a:avLst/>
          </a:prstGeom>
          <a:noFill/>
        </p:spPr>
        <p:txBody>
          <a:bodyPr wrap="square" lIns="0" tIns="0" rIns="0" bIns="0" anchor="ctr">
            <a:spAutoFit/>
          </a:bodyPr>
          <a:lstStyle/>
          <a:p>
            <a:pPr marL="0" indent="0" algn="ctr">
              <a:buNone/>
            </a:pPr>
            <a:r>
              <a:rPr sz="420" b="1" i="0">
                <a:solidFill>
                  <a:srgbClr val="3D5298"/>
                </a:solidFill>
              </a:rPr>
              <a:t>Standard only</a:t>
            </a:r>
          </a:p>
        </p:txBody>
      </p:sp>
      <p:sp>
        <p:nvSpPr>
          <p:cNvPr id="59" name="Rounded Rectangle 58"/>
          <p:cNvSpPr/>
          <p:nvPr/>
        </p:nvSpPr>
        <p:spPr>
          <a:xfrm>
            <a:off x="2375367" y="3031156"/>
            <a:ext cx="75102" cy="75102"/>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0" name="Rounded Rectangle 59"/>
          <p:cNvSpPr/>
          <p:nvPr/>
        </p:nvSpPr>
        <p:spPr>
          <a:xfrm>
            <a:off x="669462" y="3261829"/>
            <a:ext cx="1861474" cy="300410"/>
          </a:xfrm>
          <a:prstGeom prst="roundRect">
            <a:avLst>
              <a:gd name="adj" fmla="val 12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1" name="TextBox 60"/>
          <p:cNvSpPr txBox="1"/>
          <p:nvPr/>
        </p:nvSpPr>
        <p:spPr>
          <a:xfrm>
            <a:off x="744565" y="3292003"/>
            <a:ext cx="1287475" cy="100584"/>
          </a:xfrm>
          <a:prstGeom prst="rect">
            <a:avLst/>
          </a:prstGeom>
          <a:noFill/>
        </p:spPr>
        <p:txBody>
          <a:bodyPr wrap="square" lIns="0" tIns="0" rIns="0" bIns="0" anchor="ctr">
            <a:spAutoFit/>
          </a:bodyPr>
          <a:lstStyle/>
          <a:p>
            <a:pPr marL="0" indent="0" algn="l">
              <a:buNone/>
            </a:pPr>
            <a:r>
              <a:rPr sz="600" b="1" i="0">
                <a:solidFill>
                  <a:srgbClr val="222222"/>
                </a:solidFill>
              </a:rPr>
              <a:t>LOTTE Mart Gò Vấp</a:t>
            </a:r>
          </a:p>
        </p:txBody>
      </p:sp>
      <p:sp>
        <p:nvSpPr>
          <p:cNvPr id="62" name="TextBox 61"/>
          <p:cNvSpPr txBox="1"/>
          <p:nvPr/>
        </p:nvSpPr>
        <p:spPr>
          <a:xfrm>
            <a:off x="744565" y="3380853"/>
            <a:ext cx="1287475" cy="83820"/>
          </a:xfrm>
          <a:prstGeom prst="rect">
            <a:avLst/>
          </a:prstGeom>
          <a:noFill/>
        </p:spPr>
        <p:txBody>
          <a:bodyPr wrap="square" lIns="0" tIns="0" rIns="0" bIns="0" anchor="ctr">
            <a:spAutoFit/>
          </a:bodyPr>
          <a:lstStyle/>
          <a:p>
            <a:pPr marL="0" indent="0" algn="l">
              <a:buNone/>
            </a:pPr>
            <a:r>
              <a:rPr sz="500" b="0" i="0">
                <a:solidFill>
                  <a:srgbClr val="888888"/>
                </a:solidFill>
              </a:rPr>
              <a:t>9.4 km</a:t>
            </a:r>
          </a:p>
        </p:txBody>
      </p:sp>
      <p:sp>
        <p:nvSpPr>
          <p:cNvPr id="63" name="Rounded Rectangle 62"/>
          <p:cNvSpPr/>
          <p:nvPr/>
        </p:nvSpPr>
        <p:spPr>
          <a:xfrm>
            <a:off x="744565" y="3465679"/>
            <a:ext cx="751027" cy="69738"/>
          </a:xfrm>
          <a:prstGeom prst="roundRect">
            <a:avLst>
              <a:gd name="adj" fmla="val 50000"/>
            </a:avLst>
          </a:prstGeom>
          <a:solidFill>
            <a:srgbClr val="EEF1F9"/>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4" name="TextBox 63"/>
          <p:cNvSpPr txBox="1"/>
          <p:nvPr/>
        </p:nvSpPr>
        <p:spPr>
          <a:xfrm>
            <a:off x="744565" y="3465344"/>
            <a:ext cx="751027" cy="70408"/>
          </a:xfrm>
          <a:prstGeom prst="rect">
            <a:avLst/>
          </a:prstGeom>
          <a:noFill/>
        </p:spPr>
        <p:txBody>
          <a:bodyPr wrap="square" lIns="0" tIns="0" rIns="0" bIns="0" anchor="ctr">
            <a:spAutoFit/>
          </a:bodyPr>
          <a:lstStyle/>
          <a:p>
            <a:pPr marL="0" indent="0" algn="ctr">
              <a:buNone/>
            </a:pPr>
            <a:r>
              <a:rPr sz="420" b="1" i="0">
                <a:solidFill>
                  <a:srgbClr val="3D5298"/>
                </a:solidFill>
              </a:rPr>
              <a:t>Standard only</a:t>
            </a:r>
          </a:p>
        </p:txBody>
      </p:sp>
      <p:sp>
        <p:nvSpPr>
          <p:cNvPr id="65" name="Rounded Rectangle 64"/>
          <p:cNvSpPr/>
          <p:nvPr/>
        </p:nvSpPr>
        <p:spPr>
          <a:xfrm>
            <a:off x="2375367" y="3374483"/>
            <a:ext cx="75102" cy="75102"/>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6" name="TextBox 65"/>
          <p:cNvSpPr txBox="1"/>
          <p:nvPr/>
        </p:nvSpPr>
        <p:spPr>
          <a:xfrm>
            <a:off x="669462" y="3648071"/>
            <a:ext cx="1861474" cy="160934"/>
          </a:xfrm>
          <a:prstGeom prst="rect">
            <a:avLst/>
          </a:prstGeom>
          <a:noFill/>
        </p:spPr>
        <p:txBody>
          <a:bodyPr wrap="square" lIns="0" tIns="0" rIns="0" bIns="0" anchor="t">
            <a:spAutoFit/>
          </a:bodyPr>
          <a:lstStyle/>
          <a:p>
            <a:pPr marL="0" indent="0" algn="l">
              <a:buNone/>
            </a:pPr>
            <a:r>
              <a:rPr sz="500" b="0" i="0">
                <a:solidFill>
                  <a:srgbClr val="888888"/>
                </a:solidFill>
              </a:rPr>
              <a:t>Stores that cannot serve this address are not shown at all, so an invalid store cannot be selected.</a:t>
            </a:r>
          </a:p>
        </p:txBody>
      </p:sp>
      <p:sp>
        <p:nvSpPr>
          <p:cNvPr id="67" name="Oval 66"/>
          <p:cNvSpPr/>
          <p:nvPr/>
        </p:nvSpPr>
        <p:spPr>
          <a:xfrm>
            <a:off x="379781" y="219966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8" name="TextBox 67"/>
          <p:cNvSpPr txBox="1"/>
          <p:nvPr/>
        </p:nvSpPr>
        <p:spPr>
          <a:xfrm>
            <a:off x="379781" y="219966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69" name="Oval 68"/>
          <p:cNvSpPr/>
          <p:nvPr/>
        </p:nvSpPr>
        <p:spPr>
          <a:xfrm>
            <a:off x="379781" y="2414241"/>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0" name="TextBox 69"/>
          <p:cNvSpPr txBox="1"/>
          <p:nvPr/>
        </p:nvSpPr>
        <p:spPr>
          <a:xfrm>
            <a:off x="379781" y="2414241"/>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71" name="Oval 70"/>
          <p:cNvSpPr/>
          <p:nvPr/>
        </p:nvSpPr>
        <p:spPr>
          <a:xfrm>
            <a:off x="379781" y="2757567"/>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2" name="TextBox 71"/>
          <p:cNvSpPr txBox="1"/>
          <p:nvPr/>
        </p:nvSpPr>
        <p:spPr>
          <a:xfrm>
            <a:off x="379781" y="2757567"/>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73" name="Rounded Rectangle 72"/>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Rectangle 73"/>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5" name="TextBox 74"/>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Step 2  ·  Consolidated impact warning</a:t>
            </a:r>
          </a:p>
        </p:txBody>
      </p:sp>
      <p:sp>
        <p:nvSpPr>
          <p:cNvPr id="76" name="TextBox 75"/>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77" name="TextBox 76"/>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78" name="Rectangle 77"/>
          <p:cNvSpPr/>
          <p:nvPr/>
        </p:nvSpPr>
        <p:spPr>
          <a:xfrm>
            <a:off x="338328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TextBox 78"/>
          <p:cNvSpPr txBox="1"/>
          <p:nvPr/>
        </p:nvSpPr>
        <p:spPr>
          <a:xfrm>
            <a:off x="344765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80" name="TextBox 79"/>
          <p:cNvSpPr txBox="1"/>
          <p:nvPr/>
        </p:nvSpPr>
        <p:spPr>
          <a:xfrm>
            <a:off x="356567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Cart  (8)</a:t>
            </a:r>
          </a:p>
        </p:txBody>
      </p:sp>
      <p:sp>
        <p:nvSpPr>
          <p:cNvPr id="81" name="TextBox 80"/>
          <p:cNvSpPr txBox="1"/>
          <p:nvPr/>
        </p:nvSpPr>
        <p:spPr>
          <a:xfrm>
            <a:off x="4858511" y="998018"/>
            <a:ext cx="461345" cy="214579"/>
          </a:xfrm>
          <a:prstGeom prst="rect">
            <a:avLst/>
          </a:prstGeom>
          <a:noFill/>
        </p:spPr>
        <p:txBody>
          <a:bodyPr wrap="square" lIns="0" tIns="0" rIns="0" bIns="0" anchor="ctr">
            <a:spAutoFit/>
          </a:bodyPr>
          <a:lstStyle/>
          <a:p>
            <a:pPr marL="0" indent="0" algn="r">
              <a:buNone/>
            </a:pPr>
            <a:r>
              <a:rPr sz="600" b="0" i="0">
                <a:solidFill>
                  <a:srgbClr val="555555"/>
                </a:solidFill>
              </a:rPr>
              <a:t>Edit</a:t>
            </a:r>
          </a:p>
        </p:txBody>
      </p:sp>
      <p:sp>
        <p:nvSpPr>
          <p:cNvPr id="82" name="Rectangle 81"/>
          <p:cNvSpPr/>
          <p:nvPr/>
        </p:nvSpPr>
        <p:spPr>
          <a:xfrm>
            <a:off x="338328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TextBox 82"/>
          <p:cNvSpPr txBox="1"/>
          <p:nvPr/>
        </p:nvSpPr>
        <p:spPr>
          <a:xfrm>
            <a:off x="3383280" y="1217962"/>
            <a:ext cx="1005839" cy="160934"/>
          </a:xfrm>
          <a:prstGeom prst="rect">
            <a:avLst/>
          </a:prstGeom>
          <a:noFill/>
        </p:spPr>
        <p:txBody>
          <a:bodyPr wrap="square" lIns="0" tIns="0" rIns="0" bIns="0" anchor="ctr">
            <a:spAutoFit/>
          </a:bodyPr>
          <a:lstStyle/>
          <a:p>
            <a:pPr marL="0" indent="0" algn="ctr">
              <a:buNone/>
            </a:pPr>
            <a:r>
              <a:rPr sz="650" b="1" i="0">
                <a:solidFill>
                  <a:srgbClr val="C8102E"/>
                </a:solidFill>
              </a:rPr>
              <a:t>Delivery</a:t>
            </a:r>
          </a:p>
        </p:txBody>
      </p:sp>
      <p:sp>
        <p:nvSpPr>
          <p:cNvPr id="84" name="Rectangle 83"/>
          <p:cNvSpPr/>
          <p:nvPr/>
        </p:nvSpPr>
        <p:spPr>
          <a:xfrm>
            <a:off x="3604564" y="1362803"/>
            <a:ext cx="563270" cy="1609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5" name="TextBox 84"/>
          <p:cNvSpPr txBox="1"/>
          <p:nvPr/>
        </p:nvSpPr>
        <p:spPr>
          <a:xfrm>
            <a:off x="4389119" y="1217962"/>
            <a:ext cx="1005839" cy="160934"/>
          </a:xfrm>
          <a:prstGeom prst="rect">
            <a:avLst/>
          </a:prstGeom>
          <a:noFill/>
        </p:spPr>
        <p:txBody>
          <a:bodyPr wrap="square" lIns="0" tIns="0" rIns="0" bIns="0" anchor="ctr">
            <a:spAutoFit/>
          </a:bodyPr>
          <a:lstStyle/>
          <a:p>
            <a:pPr marL="0" indent="0" algn="ctr">
              <a:buNone/>
            </a:pPr>
            <a:r>
              <a:rPr sz="650" b="0" i="0">
                <a:solidFill>
                  <a:srgbClr val="888888"/>
                </a:solidFill>
              </a:rPr>
              <a:t>Self pick-up</a:t>
            </a:r>
          </a:p>
        </p:txBody>
      </p:sp>
      <p:sp>
        <p:nvSpPr>
          <p:cNvPr id="86" name="Rectangle 85"/>
          <p:cNvSpPr/>
          <p:nvPr/>
        </p:nvSpPr>
        <p:spPr>
          <a:xfrm>
            <a:off x="3383280" y="1378896"/>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7" name="Rectangle 86"/>
          <p:cNvSpPr/>
          <p:nvPr/>
        </p:nvSpPr>
        <p:spPr>
          <a:xfrm>
            <a:off x="3383280" y="1384261"/>
            <a:ext cx="2011679" cy="118018"/>
          </a:xfrm>
          <a:prstGeom prst="rect">
            <a:avLst/>
          </a:prstGeom>
          <a:solidFill>
            <a:srgbClr val="F7E9E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8" name="TextBox 87"/>
          <p:cNvSpPr txBox="1"/>
          <p:nvPr/>
        </p:nvSpPr>
        <p:spPr>
          <a:xfrm>
            <a:off x="3458382" y="1384261"/>
            <a:ext cx="1394764" cy="118018"/>
          </a:xfrm>
          <a:prstGeom prst="rect">
            <a:avLst/>
          </a:prstGeom>
          <a:noFill/>
        </p:spPr>
        <p:txBody>
          <a:bodyPr wrap="square" lIns="0" tIns="0" rIns="0" bIns="0" anchor="ctr">
            <a:spAutoFit/>
          </a:bodyPr>
          <a:lstStyle/>
          <a:p>
            <a:pPr marL="0" indent="0" algn="l">
              <a:buNone/>
            </a:pPr>
            <a:r>
              <a:rPr sz="520" b="0" i="0">
                <a:solidFill>
                  <a:srgbClr val="555555"/>
                </a:solidFill>
              </a:rPr>
              <a:t>Serving store:  </a:t>
            </a:r>
            <a:r>
              <a:rPr sz="520" b="1" i="0">
                <a:solidFill>
                  <a:srgbClr val="C8102E"/>
                </a:solidFill>
              </a:rPr>
              <a:t>LOTTE Mart Nam Sài Gòn</a:t>
            </a:r>
          </a:p>
        </p:txBody>
      </p:sp>
      <p:sp>
        <p:nvSpPr>
          <p:cNvPr id="89" name="TextBox 88"/>
          <p:cNvSpPr txBox="1"/>
          <p:nvPr/>
        </p:nvSpPr>
        <p:spPr>
          <a:xfrm>
            <a:off x="4992623" y="1384261"/>
            <a:ext cx="327233" cy="118018"/>
          </a:xfrm>
          <a:prstGeom prst="rect">
            <a:avLst/>
          </a:prstGeom>
          <a:noFill/>
        </p:spPr>
        <p:txBody>
          <a:bodyPr wrap="square" lIns="0" tIns="0" rIns="0" bIns="0" anchor="ctr">
            <a:spAutoFit/>
          </a:bodyPr>
          <a:lstStyle/>
          <a:p>
            <a:pPr marL="0" indent="0" algn="r">
              <a:buNone/>
            </a:pPr>
            <a:r>
              <a:rPr sz="500" b="1" i="0">
                <a:solidFill>
                  <a:srgbClr val="C8102E"/>
                </a:solidFill>
              </a:rPr>
              <a:t>Change ›</a:t>
            </a:r>
          </a:p>
        </p:txBody>
      </p:sp>
      <p:sp>
        <p:nvSpPr>
          <p:cNvPr id="90" name="Rectangle 89"/>
          <p:cNvSpPr/>
          <p:nvPr/>
        </p:nvSpPr>
        <p:spPr>
          <a:xfrm>
            <a:off x="3383280" y="880000"/>
            <a:ext cx="2011679" cy="3969715"/>
          </a:xfrm>
          <a:prstGeom prst="rect">
            <a:avLst/>
          </a:prstGeom>
          <a:solidFill>
            <a:srgbClr val="1A1A1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1" name="Rounded Rectangle 90"/>
          <p:cNvSpPr/>
          <p:nvPr/>
        </p:nvSpPr>
        <p:spPr>
          <a:xfrm>
            <a:off x="3512027" y="1577382"/>
            <a:ext cx="1754184" cy="2682240"/>
          </a:xfrm>
          <a:prstGeom prst="roundRect">
            <a:avLst>
              <a:gd name="adj" fmla="val 7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2" name="TextBox 91"/>
          <p:cNvSpPr txBox="1"/>
          <p:nvPr/>
        </p:nvSpPr>
        <p:spPr>
          <a:xfrm>
            <a:off x="3619317" y="1675451"/>
            <a:ext cx="1539605" cy="125730"/>
          </a:xfrm>
          <a:prstGeom prst="rect">
            <a:avLst/>
          </a:prstGeom>
          <a:noFill/>
        </p:spPr>
        <p:txBody>
          <a:bodyPr wrap="square" lIns="0" tIns="0" rIns="0" bIns="0" anchor="ctr">
            <a:spAutoFit/>
          </a:bodyPr>
          <a:lstStyle/>
          <a:p>
            <a:pPr marL="0" indent="0" algn="l">
              <a:buNone/>
            </a:pPr>
            <a:r>
              <a:rPr sz="750" b="1" i="0">
                <a:solidFill>
                  <a:srgbClr val="3A3A3A"/>
                </a:solidFill>
              </a:rPr>
              <a:t>Changing to LOTTE Mart Tân Bình</a:t>
            </a:r>
          </a:p>
        </p:txBody>
      </p:sp>
      <p:sp>
        <p:nvSpPr>
          <p:cNvPr id="93" name="TextBox 92"/>
          <p:cNvSpPr txBox="1"/>
          <p:nvPr/>
        </p:nvSpPr>
        <p:spPr>
          <a:xfrm>
            <a:off x="3619317" y="1813419"/>
            <a:ext cx="1539605" cy="160934"/>
          </a:xfrm>
          <a:prstGeom prst="rect">
            <a:avLst/>
          </a:prstGeom>
          <a:noFill/>
        </p:spPr>
        <p:txBody>
          <a:bodyPr wrap="square" lIns="0" tIns="0" rIns="0" bIns="0" anchor="t">
            <a:spAutoFit/>
          </a:bodyPr>
          <a:lstStyle/>
          <a:p>
            <a:pPr marL="0" indent="0" algn="l">
              <a:buNone/>
            </a:pPr>
            <a:r>
              <a:rPr sz="540" b="0" i="0">
                <a:solidFill>
                  <a:srgbClr val="888888"/>
                </a:solidFill>
              </a:rPr>
              <a:t>This will affect your order. Review the changes before you continue.</a:t>
            </a:r>
          </a:p>
        </p:txBody>
      </p:sp>
      <p:sp>
        <p:nvSpPr>
          <p:cNvPr id="94" name="Rounded Rectangle 93"/>
          <p:cNvSpPr/>
          <p:nvPr/>
        </p:nvSpPr>
        <p:spPr>
          <a:xfrm>
            <a:off x="3619317" y="2027998"/>
            <a:ext cx="1539605" cy="514990"/>
          </a:xfrm>
          <a:prstGeom prst="roundRect">
            <a:avLst>
              <a:gd name="adj" fmla="val 8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5" name="TextBox 94"/>
          <p:cNvSpPr txBox="1"/>
          <p:nvPr/>
        </p:nvSpPr>
        <p:spPr>
          <a:xfrm>
            <a:off x="3694419" y="2050797"/>
            <a:ext cx="1389400" cy="93878"/>
          </a:xfrm>
          <a:prstGeom prst="rect">
            <a:avLst/>
          </a:prstGeom>
          <a:noFill/>
        </p:spPr>
        <p:txBody>
          <a:bodyPr wrap="square" lIns="0" tIns="0" rIns="0" bIns="0" anchor="ctr">
            <a:spAutoFit/>
          </a:bodyPr>
          <a:lstStyle/>
          <a:p>
            <a:pPr marL="0" indent="0" algn="l">
              <a:buNone/>
            </a:pPr>
            <a:r>
              <a:rPr sz="560" b="1" i="0">
                <a:solidFill>
                  <a:srgbClr val="C8102E"/>
                </a:solidFill>
              </a:rPr>
              <a:t>Products  ·  3 affected</a:t>
            </a:r>
          </a:p>
        </p:txBody>
      </p:sp>
      <p:sp>
        <p:nvSpPr>
          <p:cNvPr id="96" name="TextBox 95"/>
          <p:cNvSpPr txBox="1"/>
          <p:nvPr/>
        </p:nvSpPr>
        <p:spPr>
          <a:xfrm>
            <a:off x="3694419" y="2156746"/>
            <a:ext cx="1389400" cy="354055"/>
          </a:xfrm>
          <a:prstGeom prst="rect">
            <a:avLst/>
          </a:prstGeom>
          <a:noFill/>
        </p:spPr>
        <p:txBody>
          <a:bodyPr wrap="square" lIns="0" tIns="0" rIns="0" bIns="0" anchor="t">
            <a:spAutoFit/>
          </a:bodyPr>
          <a:lstStyle/>
          <a:p>
            <a:pPr marL="0" indent="0" algn="l">
              <a:buNone/>
            </a:pPr>
            <a:r>
              <a:rPr sz="490" b="0" i="0">
                <a:solidFill>
                  <a:srgbClr val="8A1520"/>
                </a:solidFill>
              </a:rPr>
              <a:t>•  Chicken breast 500g — out of stock</a:t>
            </a:r>
          </a:p>
          <a:p>
            <a:pPr marL="0" indent="0" algn="l">
              <a:buNone/>
            </a:pPr>
            <a:r>
              <a:rPr sz="490" b="0" i="0">
                <a:solidFill>
                  <a:srgbClr val="8A1520"/>
                </a:solidFill>
              </a:rPr>
              <a:t>•  Norwegian salmon 300g — no longer sold here</a:t>
            </a:r>
          </a:p>
          <a:p>
            <a:pPr marL="0" indent="0" algn="l">
              <a:buNone/>
            </a:pPr>
            <a:r>
              <a:rPr sz="490" b="0" i="0">
                <a:solidFill>
                  <a:srgbClr val="8A1520"/>
                </a:solidFill>
              </a:rPr>
              <a:t>•  Vinamilk fresh milk 1L — price 196,000 → 208,000 ₫</a:t>
            </a:r>
          </a:p>
        </p:txBody>
      </p:sp>
      <p:sp>
        <p:nvSpPr>
          <p:cNvPr id="97" name="Rounded Rectangle 96"/>
          <p:cNvSpPr/>
          <p:nvPr/>
        </p:nvSpPr>
        <p:spPr>
          <a:xfrm>
            <a:off x="3619317" y="2596633"/>
            <a:ext cx="1539605" cy="407700"/>
          </a:xfrm>
          <a:prstGeom prst="roundRect">
            <a:avLst>
              <a:gd name="adj" fmla="val 8000"/>
            </a:avLst>
          </a:prstGeom>
          <a:solidFill>
            <a:srgbClr val="FFF6E5"/>
          </a:solidFill>
          <a:ln w="6350">
            <a:solidFill>
              <a:srgbClr val="B26A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8" name="TextBox 97"/>
          <p:cNvSpPr txBox="1"/>
          <p:nvPr/>
        </p:nvSpPr>
        <p:spPr>
          <a:xfrm>
            <a:off x="3694419" y="2619432"/>
            <a:ext cx="1389400" cy="93878"/>
          </a:xfrm>
          <a:prstGeom prst="rect">
            <a:avLst/>
          </a:prstGeom>
          <a:noFill/>
        </p:spPr>
        <p:txBody>
          <a:bodyPr wrap="square" lIns="0" tIns="0" rIns="0" bIns="0" anchor="ctr">
            <a:spAutoFit/>
          </a:bodyPr>
          <a:lstStyle/>
          <a:p>
            <a:pPr marL="0" indent="0" algn="l">
              <a:buNone/>
            </a:pPr>
            <a:r>
              <a:rPr sz="560" b="1" i="0">
                <a:solidFill>
                  <a:srgbClr val="8A5A00"/>
                </a:solidFill>
              </a:rPr>
              <a:t>Delivery  ·  2 affected</a:t>
            </a:r>
          </a:p>
        </p:txBody>
      </p:sp>
      <p:sp>
        <p:nvSpPr>
          <p:cNvPr id="99" name="TextBox 98"/>
          <p:cNvSpPr txBox="1"/>
          <p:nvPr/>
        </p:nvSpPr>
        <p:spPr>
          <a:xfrm>
            <a:off x="3694419" y="2725381"/>
            <a:ext cx="1389400" cy="246766"/>
          </a:xfrm>
          <a:prstGeom prst="rect">
            <a:avLst/>
          </a:prstGeom>
          <a:noFill/>
        </p:spPr>
        <p:txBody>
          <a:bodyPr wrap="square" lIns="0" tIns="0" rIns="0" bIns="0" anchor="t">
            <a:spAutoFit/>
          </a:bodyPr>
          <a:lstStyle/>
          <a:p>
            <a:pPr marL="0" indent="0" algn="l">
              <a:buNone/>
            </a:pPr>
            <a:r>
              <a:rPr sz="490" b="0" i="0">
                <a:solidFill>
                  <a:srgbClr val="8A5A00"/>
                </a:solidFill>
              </a:rPr>
              <a:t>•  60-Minute is not available at this store</a:t>
            </a:r>
          </a:p>
          <a:p>
            <a:pPr marL="0" indent="0" algn="l">
              <a:buNone/>
            </a:pPr>
            <a:r>
              <a:rPr sz="490" b="0" i="0">
                <a:solidFill>
                  <a:srgbClr val="8A5A00"/>
                </a:solidFill>
              </a:rPr>
              <a:t>•  Your 15:00–18:00 slot has no capacity left</a:t>
            </a:r>
          </a:p>
        </p:txBody>
      </p:sp>
      <p:sp>
        <p:nvSpPr>
          <p:cNvPr id="100" name="Rounded Rectangle 99"/>
          <p:cNvSpPr/>
          <p:nvPr/>
        </p:nvSpPr>
        <p:spPr>
          <a:xfrm>
            <a:off x="3619317" y="3057978"/>
            <a:ext cx="1539605" cy="354055"/>
          </a:xfrm>
          <a:prstGeom prst="roundRect">
            <a:avLst>
              <a:gd name="adj" fmla="val 8000"/>
            </a:avLst>
          </a:prstGeom>
          <a:solidFill>
            <a:srgbClr val="E8F5EE"/>
          </a:solidFill>
          <a:ln w="635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1" name="TextBox 100"/>
          <p:cNvSpPr txBox="1"/>
          <p:nvPr/>
        </p:nvSpPr>
        <p:spPr>
          <a:xfrm>
            <a:off x="3694419" y="3080777"/>
            <a:ext cx="1389400" cy="93878"/>
          </a:xfrm>
          <a:prstGeom prst="rect">
            <a:avLst/>
          </a:prstGeom>
          <a:noFill/>
        </p:spPr>
        <p:txBody>
          <a:bodyPr wrap="square" lIns="0" tIns="0" rIns="0" bIns="0" anchor="ctr">
            <a:spAutoFit/>
          </a:bodyPr>
          <a:lstStyle/>
          <a:p>
            <a:pPr marL="0" indent="0" algn="l">
              <a:buNone/>
            </a:pPr>
            <a:r>
              <a:rPr sz="560" b="1" i="0">
                <a:solidFill>
                  <a:srgbClr val="1B7F4B"/>
                </a:solidFill>
              </a:rPr>
              <a:t>If you continue</a:t>
            </a:r>
          </a:p>
        </p:txBody>
      </p:sp>
      <p:sp>
        <p:nvSpPr>
          <p:cNvPr id="102" name="TextBox 101"/>
          <p:cNvSpPr txBox="1"/>
          <p:nvPr/>
        </p:nvSpPr>
        <p:spPr>
          <a:xfrm>
            <a:off x="3694419" y="3186726"/>
            <a:ext cx="1389400" cy="203850"/>
          </a:xfrm>
          <a:prstGeom prst="rect">
            <a:avLst/>
          </a:prstGeom>
          <a:noFill/>
        </p:spPr>
        <p:txBody>
          <a:bodyPr wrap="square" lIns="0" tIns="0" rIns="0" bIns="0" anchor="t">
            <a:spAutoFit/>
          </a:bodyPr>
          <a:lstStyle/>
          <a:p>
            <a:pPr marL="0" indent="0" algn="l">
              <a:buNone/>
            </a:pPr>
            <a:r>
              <a:rPr sz="490" b="0" i="0">
                <a:solidFill>
                  <a:srgbClr val="14603A"/>
                </a:solidFill>
              </a:rPr>
              <a:t>Unavailable items move to a separate group — you can still check out the rest. A new service and slot will be suggested.</a:t>
            </a:r>
          </a:p>
        </p:txBody>
      </p:sp>
      <p:sp>
        <p:nvSpPr>
          <p:cNvPr id="103" name="Rounded Rectangle 102"/>
          <p:cNvSpPr/>
          <p:nvPr/>
        </p:nvSpPr>
        <p:spPr>
          <a:xfrm>
            <a:off x="3619317" y="3487137"/>
            <a:ext cx="740298" cy="203850"/>
          </a:xfrm>
          <a:prstGeom prst="roundRect">
            <a:avLst>
              <a:gd name="adj" fmla="val 2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4" name="TextBox 103"/>
          <p:cNvSpPr txBox="1"/>
          <p:nvPr/>
        </p:nvSpPr>
        <p:spPr>
          <a:xfrm>
            <a:off x="3619317" y="3487137"/>
            <a:ext cx="740298" cy="203850"/>
          </a:xfrm>
          <a:prstGeom prst="rect">
            <a:avLst/>
          </a:prstGeom>
          <a:noFill/>
        </p:spPr>
        <p:txBody>
          <a:bodyPr wrap="square" lIns="0" tIns="0" rIns="0" bIns="0" anchor="ctr">
            <a:spAutoFit/>
          </a:bodyPr>
          <a:lstStyle/>
          <a:p>
            <a:pPr marL="0" indent="0" algn="ctr">
              <a:buNone/>
            </a:pPr>
            <a:r>
              <a:rPr sz="650" b="1" i="0">
                <a:solidFill>
                  <a:srgbClr val="222222"/>
                </a:solidFill>
              </a:rPr>
              <a:t>Cancel</a:t>
            </a:r>
          </a:p>
        </p:txBody>
      </p:sp>
      <p:sp>
        <p:nvSpPr>
          <p:cNvPr id="105" name="Rounded Rectangle 104"/>
          <p:cNvSpPr/>
          <p:nvPr/>
        </p:nvSpPr>
        <p:spPr>
          <a:xfrm>
            <a:off x="4418624" y="3487137"/>
            <a:ext cx="740298" cy="203850"/>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6" name="TextBox 105"/>
          <p:cNvSpPr txBox="1"/>
          <p:nvPr/>
        </p:nvSpPr>
        <p:spPr>
          <a:xfrm>
            <a:off x="4418624" y="3487137"/>
            <a:ext cx="740298" cy="203850"/>
          </a:xfrm>
          <a:prstGeom prst="rect">
            <a:avLst/>
          </a:prstGeom>
          <a:noFill/>
        </p:spPr>
        <p:txBody>
          <a:bodyPr wrap="square" lIns="0" tIns="0" rIns="0" bIns="0" anchor="ctr">
            <a:spAutoFit/>
          </a:bodyPr>
          <a:lstStyle/>
          <a:p>
            <a:pPr marL="0" indent="0" algn="ctr">
              <a:buNone/>
            </a:pPr>
            <a:r>
              <a:rPr sz="650" b="1" i="0">
                <a:solidFill>
                  <a:srgbClr val="FFFFFF"/>
                </a:solidFill>
              </a:rPr>
              <a:t>Continue</a:t>
            </a:r>
          </a:p>
        </p:txBody>
      </p:sp>
      <p:sp>
        <p:nvSpPr>
          <p:cNvPr id="107" name="Oval 106"/>
          <p:cNvSpPr/>
          <p:nvPr/>
        </p:nvSpPr>
        <p:spPr>
          <a:xfrm>
            <a:off x="3168701" y="2027998"/>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8" name="TextBox 107"/>
          <p:cNvSpPr txBox="1"/>
          <p:nvPr/>
        </p:nvSpPr>
        <p:spPr>
          <a:xfrm>
            <a:off x="3168701" y="2027998"/>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109" name="Oval 108"/>
          <p:cNvSpPr/>
          <p:nvPr/>
        </p:nvSpPr>
        <p:spPr>
          <a:xfrm>
            <a:off x="3168701" y="2596633"/>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0" name="TextBox 109"/>
          <p:cNvSpPr txBox="1"/>
          <p:nvPr/>
        </p:nvSpPr>
        <p:spPr>
          <a:xfrm>
            <a:off x="3168701" y="2596633"/>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111" name="Oval 110"/>
          <p:cNvSpPr/>
          <p:nvPr/>
        </p:nvSpPr>
        <p:spPr>
          <a:xfrm>
            <a:off x="3168701" y="3057978"/>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2" name="TextBox 111"/>
          <p:cNvSpPr txBox="1"/>
          <p:nvPr/>
        </p:nvSpPr>
        <p:spPr>
          <a:xfrm>
            <a:off x="3168701" y="3057978"/>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sp>
        <p:nvSpPr>
          <p:cNvPr id="113" name="Oval 112"/>
          <p:cNvSpPr/>
          <p:nvPr/>
        </p:nvSpPr>
        <p:spPr>
          <a:xfrm>
            <a:off x="3168701" y="3487137"/>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4" name="TextBox 113"/>
          <p:cNvSpPr txBox="1"/>
          <p:nvPr/>
        </p:nvSpPr>
        <p:spPr>
          <a:xfrm>
            <a:off x="3168701" y="3487137"/>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graphicFrame>
        <p:nvGraphicFramePr>
          <p:cNvPr id="115" name="Table 114"/>
          <p:cNvGraphicFramePr>
            <a:graphicFrameLocks noGrp="1"/>
          </p:cNvGraphicFramePr>
          <p:nvPr/>
        </p:nvGraphicFramePr>
        <p:xfrm>
          <a:off x="7196328" y="886968"/>
          <a:ext cx="4718304" cy="336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Pre-filtered list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Inside the Cart, only stores that serve the current order address are shown — an invalid store cannot be chosen in the first place (CT-07, BRL-24). This is the key difference from the Homepage store sheet (SCR-HOM-04).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Filter explanation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States why the list is shorter than the one on the Homepage.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Service badge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Shows what each store would offer for this address, so the trade-off is visible before the tap.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Impact group (a) — Products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Per item: price changed, out of stock, or no longer sold at the new store (BRL-24). Each affected item is named — a count alone is not enough to decide.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Impact group (b) — Delivery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Whether the chosen service still exists at the new store (service-zone change), and whether the chosen slot still has capacity (BRL-24).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7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Consequence statement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What happens on Continue, stated before the customer commits: unavailable items are separated out, the rest remains checkable-out, and service and slot are re-suggested (BRL-24 … BRL-27).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420000">
                <a:tc>
                  <a:txBody>
                    <a:bodyPr/>
                    <a:lstStyle/>
                    <a:p>
                      <a:pPr marL="0" indent="0" algn="ctr">
                        <a:buNone/>
                      </a:pPr>
                      <a:r>
                        <a:rPr sz="70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Cancel / Continue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Cancel keeps the previous store and leaves the Cart entirely untouched. Continue applies the change. Unlike the Homepage, confirmation is mandatory here, because a composed order is at risk (BR-10).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116" name="TextBox 115"/>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Open — OQ-25: the layout of this warning when both impact groups fire at once and many products are affected, and the separate case where the entire basket becomes invalid at the new store. The rule is agreed; the screen design is not. This is the last open item blocking the Cart screen set.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Cart (CT)</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CT-08</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SCR-CRT-07</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Cart — Slot Selection &amp; Suggestion Rules</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59</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State A  ·  Customer has not changed the slot</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59436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5873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29" name="TextBox 28"/>
          <p:cNvSpPr txBox="1"/>
          <p:nvPr/>
        </p:nvSpPr>
        <p:spPr>
          <a:xfrm>
            <a:off x="77675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Cart  (8)</a:t>
            </a:r>
          </a:p>
        </p:txBody>
      </p:sp>
      <p:sp>
        <p:nvSpPr>
          <p:cNvPr id="30" name="TextBox 29"/>
          <p:cNvSpPr txBox="1"/>
          <p:nvPr/>
        </p:nvSpPr>
        <p:spPr>
          <a:xfrm>
            <a:off x="2069591" y="998018"/>
            <a:ext cx="461345" cy="214579"/>
          </a:xfrm>
          <a:prstGeom prst="rect">
            <a:avLst/>
          </a:prstGeom>
          <a:noFill/>
        </p:spPr>
        <p:txBody>
          <a:bodyPr wrap="square" lIns="0" tIns="0" rIns="0" bIns="0" anchor="ctr">
            <a:spAutoFit/>
          </a:bodyPr>
          <a:lstStyle/>
          <a:p>
            <a:pPr marL="0" indent="0" algn="r">
              <a:buNone/>
            </a:pPr>
            <a:r>
              <a:rPr sz="600" b="0" i="0">
                <a:solidFill>
                  <a:srgbClr val="555555"/>
                </a:solidFill>
              </a:rPr>
              <a:t>Edit</a:t>
            </a:r>
          </a:p>
        </p:txBody>
      </p:sp>
      <p:sp>
        <p:nvSpPr>
          <p:cNvPr id="31" name="Rectangle 30"/>
          <p:cNvSpPr/>
          <p:nvPr/>
        </p:nvSpPr>
        <p:spPr>
          <a:xfrm>
            <a:off x="59436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594360" y="1217962"/>
            <a:ext cx="1005839" cy="160934"/>
          </a:xfrm>
          <a:prstGeom prst="rect">
            <a:avLst/>
          </a:prstGeom>
          <a:noFill/>
        </p:spPr>
        <p:txBody>
          <a:bodyPr wrap="square" lIns="0" tIns="0" rIns="0" bIns="0" anchor="ctr">
            <a:spAutoFit/>
          </a:bodyPr>
          <a:lstStyle/>
          <a:p>
            <a:pPr marL="0" indent="0" algn="ctr">
              <a:buNone/>
            </a:pPr>
            <a:r>
              <a:rPr sz="650" b="1" i="0">
                <a:solidFill>
                  <a:srgbClr val="C8102E"/>
                </a:solidFill>
              </a:rPr>
              <a:t>Delivery</a:t>
            </a:r>
          </a:p>
        </p:txBody>
      </p:sp>
      <p:sp>
        <p:nvSpPr>
          <p:cNvPr id="33" name="Rectangle 32"/>
          <p:cNvSpPr/>
          <p:nvPr/>
        </p:nvSpPr>
        <p:spPr>
          <a:xfrm>
            <a:off x="815644" y="1362803"/>
            <a:ext cx="563270" cy="1609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1600199" y="1217962"/>
            <a:ext cx="1005839" cy="160934"/>
          </a:xfrm>
          <a:prstGeom prst="rect">
            <a:avLst/>
          </a:prstGeom>
          <a:noFill/>
        </p:spPr>
        <p:txBody>
          <a:bodyPr wrap="square" lIns="0" tIns="0" rIns="0" bIns="0" anchor="ctr">
            <a:spAutoFit/>
          </a:bodyPr>
          <a:lstStyle/>
          <a:p>
            <a:pPr marL="0" indent="0" algn="ctr">
              <a:buNone/>
            </a:pPr>
            <a:r>
              <a:rPr sz="650" b="0" i="0">
                <a:solidFill>
                  <a:srgbClr val="888888"/>
                </a:solidFill>
              </a:rPr>
              <a:t>Self pick-up</a:t>
            </a:r>
          </a:p>
        </p:txBody>
      </p:sp>
      <p:sp>
        <p:nvSpPr>
          <p:cNvPr id="35" name="Rectangle 34"/>
          <p:cNvSpPr/>
          <p:nvPr/>
        </p:nvSpPr>
        <p:spPr>
          <a:xfrm>
            <a:off x="594360" y="1378896"/>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Rectangle 35"/>
          <p:cNvSpPr/>
          <p:nvPr/>
        </p:nvSpPr>
        <p:spPr>
          <a:xfrm>
            <a:off x="594360" y="1384261"/>
            <a:ext cx="2011679" cy="118018"/>
          </a:xfrm>
          <a:prstGeom prst="rect">
            <a:avLst/>
          </a:prstGeom>
          <a:solidFill>
            <a:srgbClr val="F7E9E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TextBox 36"/>
          <p:cNvSpPr txBox="1"/>
          <p:nvPr/>
        </p:nvSpPr>
        <p:spPr>
          <a:xfrm>
            <a:off x="669462" y="1384261"/>
            <a:ext cx="1394764" cy="118018"/>
          </a:xfrm>
          <a:prstGeom prst="rect">
            <a:avLst/>
          </a:prstGeom>
          <a:noFill/>
        </p:spPr>
        <p:txBody>
          <a:bodyPr wrap="square" lIns="0" tIns="0" rIns="0" bIns="0" anchor="ctr">
            <a:spAutoFit/>
          </a:bodyPr>
          <a:lstStyle/>
          <a:p>
            <a:pPr marL="0" indent="0" algn="l">
              <a:buNone/>
            </a:pPr>
            <a:r>
              <a:rPr sz="520" b="0" i="0">
                <a:solidFill>
                  <a:srgbClr val="555555"/>
                </a:solidFill>
              </a:rPr>
              <a:t>Serving store:  </a:t>
            </a:r>
            <a:r>
              <a:rPr sz="520" b="1" i="0">
                <a:solidFill>
                  <a:srgbClr val="C8102E"/>
                </a:solidFill>
              </a:rPr>
              <a:t>LOTTE Mart Nam Sài Gòn</a:t>
            </a:r>
          </a:p>
        </p:txBody>
      </p:sp>
      <p:sp>
        <p:nvSpPr>
          <p:cNvPr id="38" name="TextBox 37"/>
          <p:cNvSpPr txBox="1"/>
          <p:nvPr/>
        </p:nvSpPr>
        <p:spPr>
          <a:xfrm>
            <a:off x="2203703" y="1384261"/>
            <a:ext cx="327233" cy="118018"/>
          </a:xfrm>
          <a:prstGeom prst="rect">
            <a:avLst/>
          </a:prstGeom>
          <a:noFill/>
        </p:spPr>
        <p:txBody>
          <a:bodyPr wrap="square" lIns="0" tIns="0" rIns="0" bIns="0" anchor="ctr">
            <a:spAutoFit/>
          </a:bodyPr>
          <a:lstStyle/>
          <a:p>
            <a:pPr marL="0" indent="0" algn="r">
              <a:buNone/>
            </a:pPr>
            <a:r>
              <a:rPr sz="500" b="1" i="0">
                <a:solidFill>
                  <a:srgbClr val="C8102E"/>
                </a:solidFill>
              </a:rPr>
              <a:t>Change ›</a:t>
            </a:r>
          </a:p>
        </p:txBody>
      </p:sp>
      <p:sp>
        <p:nvSpPr>
          <p:cNvPr id="39" name="Rectangle 38"/>
          <p:cNvSpPr/>
          <p:nvPr/>
        </p:nvSpPr>
        <p:spPr>
          <a:xfrm>
            <a:off x="594360" y="1523737"/>
            <a:ext cx="2011679" cy="3325977"/>
          </a:xfrm>
          <a:prstGeom prst="rect">
            <a:avLst/>
          </a:prstGeom>
          <a:solidFill>
            <a:srgbClr val="1A1A1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Rounded Rectangle 39"/>
          <p:cNvSpPr/>
          <p:nvPr/>
        </p:nvSpPr>
        <p:spPr>
          <a:xfrm>
            <a:off x="594360" y="1952896"/>
            <a:ext cx="2011679" cy="2896819"/>
          </a:xfrm>
          <a:prstGeom prst="roundRect">
            <a:avLst>
              <a:gd name="adj" fmla="val 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Rounded Rectangle 40"/>
          <p:cNvSpPr/>
          <p:nvPr/>
        </p:nvSpPr>
        <p:spPr>
          <a:xfrm>
            <a:off x="1503639" y="1990447"/>
            <a:ext cx="193121" cy="21457"/>
          </a:xfrm>
          <a:prstGeom prst="roundRect">
            <a:avLst>
              <a:gd name="adj" fmla="val 50000"/>
            </a:avLst>
          </a:prstGeom>
          <a:solidFill>
            <a:srgbClr val="CCCCCC"/>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TextBox 41"/>
          <p:cNvSpPr txBox="1"/>
          <p:nvPr/>
        </p:nvSpPr>
        <p:spPr>
          <a:xfrm>
            <a:off x="680191" y="2033698"/>
            <a:ext cx="1689811" cy="117348"/>
          </a:xfrm>
          <a:prstGeom prst="rect">
            <a:avLst/>
          </a:prstGeom>
          <a:noFill/>
        </p:spPr>
        <p:txBody>
          <a:bodyPr wrap="square" lIns="0" tIns="0" rIns="0" bIns="0" anchor="ctr">
            <a:spAutoFit/>
          </a:bodyPr>
          <a:lstStyle/>
          <a:p>
            <a:pPr marL="0" indent="0" algn="l">
              <a:buNone/>
            </a:pPr>
            <a:r>
              <a:rPr sz="700" b="1" i="0">
                <a:solidFill>
                  <a:srgbClr val="1A1A1A"/>
                </a:solidFill>
              </a:rPr>
              <a:t>Choose a delivery time</a:t>
            </a:r>
          </a:p>
        </p:txBody>
      </p:sp>
      <p:sp>
        <p:nvSpPr>
          <p:cNvPr id="43" name="TextBox 42"/>
          <p:cNvSpPr txBox="1"/>
          <p:nvPr/>
        </p:nvSpPr>
        <p:spPr>
          <a:xfrm>
            <a:off x="2434376" y="2038727"/>
            <a:ext cx="107289" cy="107289"/>
          </a:xfrm>
          <a:prstGeom prst="rect">
            <a:avLst/>
          </a:prstGeom>
          <a:noFill/>
        </p:spPr>
        <p:txBody>
          <a:bodyPr wrap="square" lIns="0" tIns="0" rIns="0" bIns="0" anchor="ctr">
            <a:spAutoFit/>
          </a:bodyPr>
          <a:lstStyle/>
          <a:p>
            <a:pPr marL="0" indent="0" algn="ctr">
              <a:buNone/>
            </a:pPr>
            <a:r>
              <a:rPr sz="600" b="0" i="0">
                <a:solidFill>
                  <a:srgbClr val="888888"/>
                </a:solidFill>
              </a:rPr>
              <a:t>✕</a:t>
            </a:r>
          </a:p>
        </p:txBody>
      </p:sp>
      <p:sp>
        <p:nvSpPr>
          <p:cNvPr id="44" name="Rectangle 43"/>
          <p:cNvSpPr/>
          <p:nvPr/>
        </p:nvSpPr>
        <p:spPr>
          <a:xfrm>
            <a:off x="594360" y="2167475"/>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TextBox 44"/>
          <p:cNvSpPr txBox="1"/>
          <p:nvPr/>
        </p:nvSpPr>
        <p:spPr>
          <a:xfrm>
            <a:off x="669462" y="2193962"/>
            <a:ext cx="1861474" cy="97231"/>
          </a:xfrm>
          <a:prstGeom prst="rect">
            <a:avLst/>
          </a:prstGeom>
          <a:noFill/>
        </p:spPr>
        <p:txBody>
          <a:bodyPr wrap="square" lIns="0" tIns="0" rIns="0" bIns="0" anchor="ctr">
            <a:spAutoFit/>
          </a:bodyPr>
          <a:lstStyle/>
          <a:p>
            <a:pPr marL="0" indent="0" algn="l">
              <a:buNone/>
            </a:pPr>
            <a:r>
              <a:rPr sz="580" b="1" i="0">
                <a:solidFill>
                  <a:srgbClr val="3A3A3A"/>
                </a:solidFill>
              </a:rPr>
              <a:t>Today  ·  Thursday 14 August</a:t>
            </a:r>
          </a:p>
        </p:txBody>
      </p:sp>
      <p:sp>
        <p:nvSpPr>
          <p:cNvPr id="46" name="Rounded Rectangle 45"/>
          <p:cNvSpPr/>
          <p:nvPr/>
        </p:nvSpPr>
        <p:spPr>
          <a:xfrm>
            <a:off x="669462" y="2328409"/>
            <a:ext cx="1861474" cy="236037"/>
          </a:xfrm>
          <a:prstGeom prst="roundRect">
            <a:avLst>
              <a:gd name="adj" fmla="val 10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TextBox 46"/>
          <p:cNvSpPr txBox="1"/>
          <p:nvPr/>
        </p:nvSpPr>
        <p:spPr>
          <a:xfrm>
            <a:off x="744565" y="2349532"/>
            <a:ext cx="1019251" cy="97231"/>
          </a:xfrm>
          <a:prstGeom prst="rect">
            <a:avLst/>
          </a:prstGeom>
          <a:noFill/>
        </p:spPr>
        <p:txBody>
          <a:bodyPr wrap="square" lIns="0" tIns="0" rIns="0" bIns="0" anchor="ctr">
            <a:spAutoFit/>
          </a:bodyPr>
          <a:lstStyle/>
          <a:p>
            <a:pPr marL="0" indent="0" algn="l">
              <a:buNone/>
            </a:pPr>
            <a:r>
              <a:rPr sz="580" b="1" i="0">
                <a:solidFill>
                  <a:srgbClr val="C8102E"/>
                </a:solidFill>
              </a:rPr>
              <a:t>11:00 – 13:00</a:t>
            </a:r>
          </a:p>
        </p:txBody>
      </p:sp>
      <p:sp>
        <p:nvSpPr>
          <p:cNvPr id="48" name="TextBox 47"/>
          <p:cNvSpPr txBox="1"/>
          <p:nvPr/>
        </p:nvSpPr>
        <p:spPr>
          <a:xfrm>
            <a:off x="744565" y="2449110"/>
            <a:ext cx="1287475" cy="80467"/>
          </a:xfrm>
          <a:prstGeom prst="rect">
            <a:avLst/>
          </a:prstGeom>
          <a:noFill/>
        </p:spPr>
        <p:txBody>
          <a:bodyPr wrap="square" lIns="0" tIns="0" rIns="0" bIns="0" anchor="ctr">
            <a:spAutoFit/>
          </a:bodyPr>
          <a:lstStyle/>
          <a:p>
            <a:pPr marL="0" indent="0" algn="l">
              <a:buNone/>
            </a:pPr>
            <a:r>
              <a:rPr sz="480" b="0" i="0">
                <a:solidFill>
                  <a:srgbClr val="888888"/>
                </a:solidFill>
              </a:rPr>
              <a:t>Earliest available</a:t>
            </a:r>
          </a:p>
        </p:txBody>
      </p:sp>
      <p:sp>
        <p:nvSpPr>
          <p:cNvPr id="49" name="Rounded Rectangle 48"/>
          <p:cNvSpPr/>
          <p:nvPr/>
        </p:nvSpPr>
        <p:spPr>
          <a:xfrm>
            <a:off x="1881835" y="2398147"/>
            <a:ext cx="396971" cy="91196"/>
          </a:xfrm>
          <a:prstGeom prst="roundRect">
            <a:avLst>
              <a:gd name="adj" fmla="val 50000"/>
            </a:avLst>
          </a:prstGeom>
          <a:solidFill>
            <a:srgbClr val="E8F5EE"/>
          </a:solidFill>
          <a:ln w="635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TextBox 49"/>
          <p:cNvSpPr txBox="1"/>
          <p:nvPr/>
        </p:nvSpPr>
        <p:spPr>
          <a:xfrm>
            <a:off x="1881835" y="2398147"/>
            <a:ext cx="396971" cy="91196"/>
          </a:xfrm>
          <a:prstGeom prst="rect">
            <a:avLst/>
          </a:prstGeom>
          <a:noFill/>
        </p:spPr>
        <p:txBody>
          <a:bodyPr wrap="square" lIns="0" tIns="0" rIns="0" bIns="0" anchor="ctr">
            <a:spAutoFit/>
          </a:bodyPr>
          <a:lstStyle/>
          <a:p>
            <a:pPr marL="0" indent="0" algn="ctr">
              <a:buNone/>
            </a:pPr>
            <a:r>
              <a:rPr sz="440" b="1" i="0">
                <a:solidFill>
                  <a:srgbClr val="1B7F4B"/>
                </a:solidFill>
              </a:rPr>
              <a:t>Suggested</a:t>
            </a:r>
          </a:p>
        </p:txBody>
      </p:sp>
      <p:sp>
        <p:nvSpPr>
          <p:cNvPr id="51" name="Rounded Rectangle 50"/>
          <p:cNvSpPr/>
          <p:nvPr/>
        </p:nvSpPr>
        <p:spPr>
          <a:xfrm>
            <a:off x="2375367" y="2408876"/>
            <a:ext cx="75102" cy="75102"/>
          </a:xfrm>
          <a:prstGeom prst="roundRect">
            <a:avLst>
              <a:gd name="adj" fmla="val 5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2" name="Rounded Rectangle 51"/>
          <p:cNvSpPr/>
          <p:nvPr/>
        </p:nvSpPr>
        <p:spPr>
          <a:xfrm>
            <a:off x="669462" y="2607362"/>
            <a:ext cx="1861474" cy="236037"/>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TextBox 52"/>
          <p:cNvSpPr txBox="1"/>
          <p:nvPr/>
        </p:nvSpPr>
        <p:spPr>
          <a:xfrm>
            <a:off x="744565" y="2628485"/>
            <a:ext cx="1019251" cy="97231"/>
          </a:xfrm>
          <a:prstGeom prst="rect">
            <a:avLst/>
          </a:prstGeom>
          <a:noFill/>
        </p:spPr>
        <p:txBody>
          <a:bodyPr wrap="square" lIns="0" tIns="0" rIns="0" bIns="0" anchor="ctr">
            <a:spAutoFit/>
          </a:bodyPr>
          <a:lstStyle/>
          <a:p>
            <a:pPr marL="0" indent="0" algn="l">
              <a:buNone/>
            </a:pPr>
            <a:r>
              <a:rPr sz="580" b="1" i="0">
                <a:solidFill>
                  <a:srgbClr val="222222"/>
                </a:solidFill>
              </a:rPr>
              <a:t>13:00 – 15:00</a:t>
            </a:r>
          </a:p>
        </p:txBody>
      </p:sp>
      <p:sp>
        <p:nvSpPr>
          <p:cNvPr id="54" name="TextBox 53"/>
          <p:cNvSpPr txBox="1"/>
          <p:nvPr/>
        </p:nvSpPr>
        <p:spPr>
          <a:xfrm>
            <a:off x="744565" y="2728063"/>
            <a:ext cx="1287475" cy="80467"/>
          </a:xfrm>
          <a:prstGeom prst="rect">
            <a:avLst/>
          </a:prstGeom>
          <a:noFill/>
        </p:spPr>
        <p:txBody>
          <a:bodyPr wrap="square" lIns="0" tIns="0" rIns="0" bIns="0" anchor="ctr">
            <a:spAutoFit/>
          </a:bodyPr>
          <a:lstStyle/>
          <a:p>
            <a:pPr marL="0" indent="0" algn="l">
              <a:buNone/>
            </a:pPr>
            <a:r>
              <a:rPr sz="480" b="0" i="0">
                <a:solidFill>
                  <a:srgbClr val="888888"/>
                </a:solidFill>
              </a:rPr>
              <a:t>Earns 50 points</a:t>
            </a:r>
          </a:p>
        </p:txBody>
      </p:sp>
      <p:sp>
        <p:nvSpPr>
          <p:cNvPr id="55" name="Rounded Rectangle 54"/>
          <p:cNvSpPr/>
          <p:nvPr/>
        </p:nvSpPr>
        <p:spPr>
          <a:xfrm>
            <a:off x="2375367" y="2687829"/>
            <a:ext cx="75102" cy="75102"/>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6" name="Rounded Rectangle 55"/>
          <p:cNvSpPr/>
          <p:nvPr/>
        </p:nvSpPr>
        <p:spPr>
          <a:xfrm>
            <a:off x="669462" y="2886315"/>
            <a:ext cx="1861474" cy="236037"/>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7" name="TextBox 56"/>
          <p:cNvSpPr txBox="1"/>
          <p:nvPr/>
        </p:nvSpPr>
        <p:spPr>
          <a:xfrm>
            <a:off x="744565" y="2907438"/>
            <a:ext cx="1019251" cy="97231"/>
          </a:xfrm>
          <a:prstGeom prst="rect">
            <a:avLst/>
          </a:prstGeom>
          <a:noFill/>
        </p:spPr>
        <p:txBody>
          <a:bodyPr wrap="square" lIns="0" tIns="0" rIns="0" bIns="0" anchor="ctr">
            <a:spAutoFit/>
          </a:bodyPr>
          <a:lstStyle/>
          <a:p>
            <a:pPr marL="0" indent="0" algn="l">
              <a:buNone/>
            </a:pPr>
            <a:r>
              <a:rPr sz="580" b="1" i="0">
                <a:solidFill>
                  <a:srgbClr val="222222"/>
                </a:solidFill>
              </a:rPr>
              <a:t>15:00 – 18:00</a:t>
            </a:r>
          </a:p>
        </p:txBody>
      </p:sp>
      <p:sp>
        <p:nvSpPr>
          <p:cNvPr id="58" name="TextBox 57"/>
          <p:cNvSpPr txBox="1"/>
          <p:nvPr/>
        </p:nvSpPr>
        <p:spPr>
          <a:xfrm>
            <a:off x="744565" y="3007016"/>
            <a:ext cx="1287475" cy="80467"/>
          </a:xfrm>
          <a:prstGeom prst="rect">
            <a:avLst/>
          </a:prstGeom>
          <a:noFill/>
        </p:spPr>
        <p:txBody>
          <a:bodyPr wrap="square" lIns="0" tIns="0" rIns="0" bIns="0" anchor="ctr">
            <a:spAutoFit/>
          </a:bodyPr>
          <a:lstStyle/>
          <a:p>
            <a:pPr marL="0" indent="0" algn="l">
              <a:buNone/>
            </a:pPr>
            <a:r>
              <a:rPr sz="480" b="0" i="0">
                <a:solidFill>
                  <a:srgbClr val="888888"/>
                </a:solidFill>
              </a:rPr>
              <a:t>You usually choose this</a:t>
            </a:r>
          </a:p>
        </p:txBody>
      </p:sp>
      <p:sp>
        <p:nvSpPr>
          <p:cNvPr id="59" name="Rounded Rectangle 58"/>
          <p:cNvSpPr/>
          <p:nvPr/>
        </p:nvSpPr>
        <p:spPr>
          <a:xfrm>
            <a:off x="2375367" y="2966782"/>
            <a:ext cx="75102" cy="75102"/>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0" name="Rounded Rectangle 59"/>
          <p:cNvSpPr/>
          <p:nvPr/>
        </p:nvSpPr>
        <p:spPr>
          <a:xfrm>
            <a:off x="669462" y="3165268"/>
            <a:ext cx="1861474" cy="236037"/>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1" name="TextBox 60"/>
          <p:cNvSpPr txBox="1"/>
          <p:nvPr/>
        </p:nvSpPr>
        <p:spPr>
          <a:xfrm>
            <a:off x="744565" y="3186391"/>
            <a:ext cx="1019251" cy="97231"/>
          </a:xfrm>
          <a:prstGeom prst="rect">
            <a:avLst/>
          </a:prstGeom>
          <a:noFill/>
        </p:spPr>
        <p:txBody>
          <a:bodyPr wrap="square" lIns="0" tIns="0" rIns="0" bIns="0" anchor="ctr">
            <a:spAutoFit/>
          </a:bodyPr>
          <a:lstStyle/>
          <a:p>
            <a:pPr marL="0" indent="0" algn="l">
              <a:buNone/>
            </a:pPr>
            <a:r>
              <a:rPr sz="580" b="1" i="0">
                <a:solidFill>
                  <a:srgbClr val="222222"/>
                </a:solidFill>
              </a:rPr>
              <a:t>18:00 – 20:00</a:t>
            </a:r>
          </a:p>
        </p:txBody>
      </p:sp>
      <p:sp>
        <p:nvSpPr>
          <p:cNvPr id="62" name="TextBox 61"/>
          <p:cNvSpPr txBox="1"/>
          <p:nvPr/>
        </p:nvSpPr>
        <p:spPr>
          <a:xfrm>
            <a:off x="744565" y="3285969"/>
            <a:ext cx="1287475" cy="80467"/>
          </a:xfrm>
          <a:prstGeom prst="rect">
            <a:avLst/>
          </a:prstGeom>
          <a:noFill/>
        </p:spPr>
        <p:txBody>
          <a:bodyPr wrap="square" lIns="0" tIns="0" rIns="0" bIns="0" anchor="ctr">
            <a:spAutoFit/>
          </a:bodyPr>
          <a:lstStyle/>
          <a:p>
            <a:pPr marL="0" indent="0" algn="l">
              <a:buNone/>
            </a:pPr>
            <a:r>
              <a:rPr sz="480" b="0" i="0">
                <a:solidFill>
                  <a:srgbClr val="888888"/>
                </a:solidFill>
              </a:rPr>
              <a:t>Earns 50 points  ·  Closing soon</a:t>
            </a:r>
          </a:p>
        </p:txBody>
      </p:sp>
      <p:sp>
        <p:nvSpPr>
          <p:cNvPr id="63" name="Rounded Rectangle 62"/>
          <p:cNvSpPr/>
          <p:nvPr/>
        </p:nvSpPr>
        <p:spPr>
          <a:xfrm>
            <a:off x="2375367" y="3245735"/>
            <a:ext cx="75102" cy="75102"/>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4" name="Rounded Rectangle 63"/>
          <p:cNvSpPr/>
          <p:nvPr/>
        </p:nvSpPr>
        <p:spPr>
          <a:xfrm>
            <a:off x="669462" y="3444221"/>
            <a:ext cx="1861474" cy="236037"/>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5" name="TextBox 64"/>
          <p:cNvSpPr txBox="1"/>
          <p:nvPr/>
        </p:nvSpPr>
        <p:spPr>
          <a:xfrm>
            <a:off x="744565" y="3465344"/>
            <a:ext cx="1019251" cy="97231"/>
          </a:xfrm>
          <a:prstGeom prst="rect">
            <a:avLst/>
          </a:prstGeom>
          <a:noFill/>
        </p:spPr>
        <p:txBody>
          <a:bodyPr wrap="square" lIns="0" tIns="0" rIns="0" bIns="0" anchor="ctr">
            <a:spAutoFit/>
          </a:bodyPr>
          <a:lstStyle/>
          <a:p>
            <a:pPr marL="0" indent="0" algn="l">
              <a:buNone/>
            </a:pPr>
            <a:r>
              <a:rPr sz="580" b="1" i="0">
                <a:solidFill>
                  <a:srgbClr val="222222"/>
                </a:solidFill>
              </a:rPr>
              <a:t>20:00 – 22:00</a:t>
            </a:r>
          </a:p>
        </p:txBody>
      </p:sp>
      <p:sp>
        <p:nvSpPr>
          <p:cNvPr id="66" name="TextBox 65"/>
          <p:cNvSpPr txBox="1"/>
          <p:nvPr/>
        </p:nvSpPr>
        <p:spPr>
          <a:xfrm>
            <a:off x="744565" y="3564921"/>
            <a:ext cx="1287475" cy="80467"/>
          </a:xfrm>
          <a:prstGeom prst="rect">
            <a:avLst/>
          </a:prstGeom>
          <a:noFill/>
        </p:spPr>
        <p:txBody>
          <a:bodyPr wrap="square" lIns="0" tIns="0" rIns="0" bIns="0" anchor="ctr">
            <a:spAutoFit/>
          </a:bodyPr>
          <a:lstStyle/>
          <a:p>
            <a:pPr marL="0" indent="0" algn="l">
              <a:buNone/>
            </a:pPr>
            <a:r>
              <a:rPr sz="480" b="0" i="0">
                <a:solidFill>
                  <a:srgbClr val="888888"/>
                </a:solidFill>
              </a:rPr>
              <a:t>Closed</a:t>
            </a:r>
          </a:p>
        </p:txBody>
      </p:sp>
      <p:sp>
        <p:nvSpPr>
          <p:cNvPr id="67" name="Rounded Rectangle 66"/>
          <p:cNvSpPr/>
          <p:nvPr/>
        </p:nvSpPr>
        <p:spPr>
          <a:xfrm>
            <a:off x="2375367" y="3524688"/>
            <a:ext cx="75102" cy="75102"/>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8" name="Rounded Rectangle 67"/>
          <p:cNvSpPr/>
          <p:nvPr/>
        </p:nvSpPr>
        <p:spPr>
          <a:xfrm>
            <a:off x="669462" y="3723174"/>
            <a:ext cx="1861474" cy="332597"/>
          </a:xfrm>
          <a:prstGeom prst="roundRect">
            <a:avLst>
              <a:gd name="adj" fmla="val 10000"/>
            </a:avLst>
          </a:prstGeom>
          <a:solidFill>
            <a:srgbClr val="EEF1F9"/>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9" name="TextBox 68"/>
          <p:cNvSpPr txBox="1"/>
          <p:nvPr/>
        </p:nvSpPr>
        <p:spPr>
          <a:xfrm>
            <a:off x="744565" y="3747650"/>
            <a:ext cx="1711269" cy="90525"/>
          </a:xfrm>
          <a:prstGeom prst="rect">
            <a:avLst/>
          </a:prstGeom>
          <a:noFill/>
        </p:spPr>
        <p:txBody>
          <a:bodyPr wrap="square" lIns="0" tIns="0" rIns="0" bIns="0" anchor="ctr">
            <a:spAutoFit/>
          </a:bodyPr>
          <a:lstStyle/>
          <a:p>
            <a:pPr marL="0" indent="0" algn="l">
              <a:buNone/>
            </a:pPr>
            <a:r>
              <a:rPr sz="540" b="1" i="0">
                <a:solidFill>
                  <a:srgbClr val="1E2F6E"/>
                </a:solidFill>
              </a:rPr>
              <a:t>Suggestion order (BRL-25)</a:t>
            </a:r>
          </a:p>
        </p:txBody>
      </p:sp>
      <p:sp>
        <p:nvSpPr>
          <p:cNvPr id="70" name="TextBox 69"/>
          <p:cNvSpPr txBox="1"/>
          <p:nvPr/>
        </p:nvSpPr>
        <p:spPr>
          <a:xfrm>
            <a:off x="744565" y="3841192"/>
            <a:ext cx="1711269" cy="193121"/>
          </a:xfrm>
          <a:prstGeom prst="rect">
            <a:avLst/>
          </a:prstGeom>
          <a:noFill/>
        </p:spPr>
        <p:txBody>
          <a:bodyPr wrap="square" lIns="0" tIns="0" rIns="0" bIns="0" anchor="t">
            <a:spAutoFit/>
          </a:bodyPr>
          <a:lstStyle/>
          <a:p>
            <a:pPr marL="0" indent="0" algn="l">
              <a:buNone/>
            </a:pPr>
            <a:r>
              <a:rPr sz="500" b="0" i="0">
                <a:solidFill>
                  <a:srgbClr val="555555"/>
                </a:solidFill>
              </a:rPr>
              <a:t>Earliest slot at this store  →  then: your usual slot  &gt;  earliest  &gt;  point-earning slot</a:t>
            </a:r>
          </a:p>
        </p:txBody>
      </p:sp>
      <p:sp>
        <p:nvSpPr>
          <p:cNvPr id="71" name="Oval 70"/>
          <p:cNvSpPr/>
          <p:nvPr/>
        </p:nvSpPr>
        <p:spPr>
          <a:xfrm>
            <a:off x="379781" y="2038727"/>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2" name="TextBox 71"/>
          <p:cNvSpPr txBox="1"/>
          <p:nvPr/>
        </p:nvSpPr>
        <p:spPr>
          <a:xfrm>
            <a:off x="379781" y="2038727"/>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73" name="Oval 72"/>
          <p:cNvSpPr/>
          <p:nvPr/>
        </p:nvSpPr>
        <p:spPr>
          <a:xfrm>
            <a:off x="379781" y="2264035"/>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TextBox 73"/>
          <p:cNvSpPr txBox="1"/>
          <p:nvPr/>
        </p:nvSpPr>
        <p:spPr>
          <a:xfrm>
            <a:off x="379781" y="2264035"/>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75" name="Oval 74"/>
          <p:cNvSpPr/>
          <p:nvPr/>
        </p:nvSpPr>
        <p:spPr>
          <a:xfrm>
            <a:off x="379781" y="2821941"/>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6" name="TextBox 75"/>
          <p:cNvSpPr txBox="1"/>
          <p:nvPr/>
        </p:nvSpPr>
        <p:spPr>
          <a:xfrm>
            <a:off x="379781" y="2821941"/>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77" name="Oval 76"/>
          <p:cNvSpPr/>
          <p:nvPr/>
        </p:nvSpPr>
        <p:spPr>
          <a:xfrm>
            <a:off x="379781" y="3701716"/>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8" name="TextBox 77"/>
          <p:cNvSpPr txBox="1"/>
          <p:nvPr/>
        </p:nvSpPr>
        <p:spPr>
          <a:xfrm>
            <a:off x="379781" y="3701716"/>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79" name="Rounded Rectangle 78"/>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0" name="Rectangle 79"/>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1" name="TextBox 80"/>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State B  ·  Customer chose a slot on the Homepage</a:t>
            </a:r>
          </a:p>
        </p:txBody>
      </p:sp>
      <p:sp>
        <p:nvSpPr>
          <p:cNvPr id="82" name="TextBox 81"/>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83" name="TextBox 82"/>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84" name="Rectangle 83"/>
          <p:cNvSpPr/>
          <p:nvPr/>
        </p:nvSpPr>
        <p:spPr>
          <a:xfrm>
            <a:off x="338328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5" name="TextBox 84"/>
          <p:cNvSpPr txBox="1"/>
          <p:nvPr/>
        </p:nvSpPr>
        <p:spPr>
          <a:xfrm>
            <a:off x="344765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86" name="TextBox 85"/>
          <p:cNvSpPr txBox="1"/>
          <p:nvPr/>
        </p:nvSpPr>
        <p:spPr>
          <a:xfrm>
            <a:off x="356567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Cart  (8)</a:t>
            </a:r>
          </a:p>
        </p:txBody>
      </p:sp>
      <p:sp>
        <p:nvSpPr>
          <p:cNvPr id="87" name="TextBox 86"/>
          <p:cNvSpPr txBox="1"/>
          <p:nvPr/>
        </p:nvSpPr>
        <p:spPr>
          <a:xfrm>
            <a:off x="4858511" y="998018"/>
            <a:ext cx="461345" cy="214579"/>
          </a:xfrm>
          <a:prstGeom prst="rect">
            <a:avLst/>
          </a:prstGeom>
          <a:noFill/>
        </p:spPr>
        <p:txBody>
          <a:bodyPr wrap="square" lIns="0" tIns="0" rIns="0" bIns="0" anchor="ctr">
            <a:spAutoFit/>
          </a:bodyPr>
          <a:lstStyle/>
          <a:p>
            <a:pPr marL="0" indent="0" algn="r">
              <a:buNone/>
            </a:pPr>
            <a:r>
              <a:rPr sz="600" b="0" i="0">
                <a:solidFill>
                  <a:srgbClr val="555555"/>
                </a:solidFill>
              </a:rPr>
              <a:t>Edit</a:t>
            </a:r>
          </a:p>
        </p:txBody>
      </p:sp>
      <p:sp>
        <p:nvSpPr>
          <p:cNvPr id="88" name="Rectangle 87"/>
          <p:cNvSpPr/>
          <p:nvPr/>
        </p:nvSpPr>
        <p:spPr>
          <a:xfrm>
            <a:off x="338328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9" name="TextBox 88"/>
          <p:cNvSpPr txBox="1"/>
          <p:nvPr/>
        </p:nvSpPr>
        <p:spPr>
          <a:xfrm>
            <a:off x="3383280" y="1217962"/>
            <a:ext cx="1005839" cy="160934"/>
          </a:xfrm>
          <a:prstGeom prst="rect">
            <a:avLst/>
          </a:prstGeom>
          <a:noFill/>
        </p:spPr>
        <p:txBody>
          <a:bodyPr wrap="square" lIns="0" tIns="0" rIns="0" bIns="0" anchor="ctr">
            <a:spAutoFit/>
          </a:bodyPr>
          <a:lstStyle/>
          <a:p>
            <a:pPr marL="0" indent="0" algn="ctr">
              <a:buNone/>
            </a:pPr>
            <a:r>
              <a:rPr sz="650" b="1" i="0">
                <a:solidFill>
                  <a:srgbClr val="C8102E"/>
                </a:solidFill>
              </a:rPr>
              <a:t>Delivery</a:t>
            </a:r>
          </a:p>
        </p:txBody>
      </p:sp>
      <p:sp>
        <p:nvSpPr>
          <p:cNvPr id="90" name="Rectangle 89"/>
          <p:cNvSpPr/>
          <p:nvPr/>
        </p:nvSpPr>
        <p:spPr>
          <a:xfrm>
            <a:off x="3604564" y="1362803"/>
            <a:ext cx="563270" cy="1609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1" name="TextBox 90"/>
          <p:cNvSpPr txBox="1"/>
          <p:nvPr/>
        </p:nvSpPr>
        <p:spPr>
          <a:xfrm>
            <a:off x="4389119" y="1217962"/>
            <a:ext cx="1005839" cy="160934"/>
          </a:xfrm>
          <a:prstGeom prst="rect">
            <a:avLst/>
          </a:prstGeom>
          <a:noFill/>
        </p:spPr>
        <p:txBody>
          <a:bodyPr wrap="square" lIns="0" tIns="0" rIns="0" bIns="0" anchor="ctr">
            <a:spAutoFit/>
          </a:bodyPr>
          <a:lstStyle/>
          <a:p>
            <a:pPr marL="0" indent="0" algn="ctr">
              <a:buNone/>
            </a:pPr>
            <a:r>
              <a:rPr sz="650" b="0" i="0">
                <a:solidFill>
                  <a:srgbClr val="888888"/>
                </a:solidFill>
              </a:rPr>
              <a:t>Self pick-up</a:t>
            </a:r>
          </a:p>
        </p:txBody>
      </p:sp>
      <p:sp>
        <p:nvSpPr>
          <p:cNvPr id="92" name="Rectangle 91"/>
          <p:cNvSpPr/>
          <p:nvPr/>
        </p:nvSpPr>
        <p:spPr>
          <a:xfrm>
            <a:off x="3383280" y="1378896"/>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3" name="Rectangle 92"/>
          <p:cNvSpPr/>
          <p:nvPr/>
        </p:nvSpPr>
        <p:spPr>
          <a:xfrm>
            <a:off x="3383280" y="1384261"/>
            <a:ext cx="2011679" cy="118018"/>
          </a:xfrm>
          <a:prstGeom prst="rect">
            <a:avLst/>
          </a:prstGeom>
          <a:solidFill>
            <a:srgbClr val="F7E9E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4" name="TextBox 93"/>
          <p:cNvSpPr txBox="1"/>
          <p:nvPr/>
        </p:nvSpPr>
        <p:spPr>
          <a:xfrm>
            <a:off x="3458382" y="1384261"/>
            <a:ext cx="1394764" cy="118018"/>
          </a:xfrm>
          <a:prstGeom prst="rect">
            <a:avLst/>
          </a:prstGeom>
          <a:noFill/>
        </p:spPr>
        <p:txBody>
          <a:bodyPr wrap="square" lIns="0" tIns="0" rIns="0" bIns="0" anchor="ctr">
            <a:spAutoFit/>
          </a:bodyPr>
          <a:lstStyle/>
          <a:p>
            <a:pPr marL="0" indent="0" algn="l">
              <a:buNone/>
            </a:pPr>
            <a:r>
              <a:rPr sz="520" b="0" i="0">
                <a:solidFill>
                  <a:srgbClr val="555555"/>
                </a:solidFill>
              </a:rPr>
              <a:t>Serving store:  </a:t>
            </a:r>
            <a:r>
              <a:rPr sz="520" b="1" i="0">
                <a:solidFill>
                  <a:srgbClr val="C8102E"/>
                </a:solidFill>
              </a:rPr>
              <a:t>LOTTE Mart Nam Sài Gòn</a:t>
            </a:r>
          </a:p>
        </p:txBody>
      </p:sp>
      <p:sp>
        <p:nvSpPr>
          <p:cNvPr id="95" name="TextBox 94"/>
          <p:cNvSpPr txBox="1"/>
          <p:nvPr/>
        </p:nvSpPr>
        <p:spPr>
          <a:xfrm>
            <a:off x="4992623" y="1384261"/>
            <a:ext cx="327233" cy="118018"/>
          </a:xfrm>
          <a:prstGeom prst="rect">
            <a:avLst/>
          </a:prstGeom>
          <a:noFill/>
        </p:spPr>
        <p:txBody>
          <a:bodyPr wrap="square" lIns="0" tIns="0" rIns="0" bIns="0" anchor="ctr">
            <a:spAutoFit/>
          </a:bodyPr>
          <a:lstStyle/>
          <a:p>
            <a:pPr marL="0" indent="0" algn="r">
              <a:buNone/>
            </a:pPr>
            <a:r>
              <a:rPr sz="500" b="1" i="0">
                <a:solidFill>
                  <a:srgbClr val="C8102E"/>
                </a:solidFill>
              </a:rPr>
              <a:t>Change ›</a:t>
            </a:r>
          </a:p>
        </p:txBody>
      </p:sp>
      <p:sp>
        <p:nvSpPr>
          <p:cNvPr id="96" name="Rectangle 95"/>
          <p:cNvSpPr/>
          <p:nvPr/>
        </p:nvSpPr>
        <p:spPr>
          <a:xfrm>
            <a:off x="3383280" y="1523737"/>
            <a:ext cx="2011679" cy="3325977"/>
          </a:xfrm>
          <a:prstGeom prst="rect">
            <a:avLst/>
          </a:prstGeom>
          <a:solidFill>
            <a:srgbClr val="1A1A1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7" name="Rounded Rectangle 96"/>
          <p:cNvSpPr/>
          <p:nvPr/>
        </p:nvSpPr>
        <p:spPr>
          <a:xfrm>
            <a:off x="3383280" y="1952896"/>
            <a:ext cx="2011679" cy="2896819"/>
          </a:xfrm>
          <a:prstGeom prst="roundRect">
            <a:avLst>
              <a:gd name="adj" fmla="val 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8" name="Rounded Rectangle 97"/>
          <p:cNvSpPr/>
          <p:nvPr/>
        </p:nvSpPr>
        <p:spPr>
          <a:xfrm>
            <a:off x="4292559" y="1990447"/>
            <a:ext cx="193121" cy="21457"/>
          </a:xfrm>
          <a:prstGeom prst="roundRect">
            <a:avLst>
              <a:gd name="adj" fmla="val 50000"/>
            </a:avLst>
          </a:prstGeom>
          <a:solidFill>
            <a:srgbClr val="CCCCCC"/>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9" name="TextBox 98"/>
          <p:cNvSpPr txBox="1"/>
          <p:nvPr/>
        </p:nvSpPr>
        <p:spPr>
          <a:xfrm>
            <a:off x="3469111" y="2033698"/>
            <a:ext cx="1689811" cy="117348"/>
          </a:xfrm>
          <a:prstGeom prst="rect">
            <a:avLst/>
          </a:prstGeom>
          <a:noFill/>
        </p:spPr>
        <p:txBody>
          <a:bodyPr wrap="square" lIns="0" tIns="0" rIns="0" bIns="0" anchor="ctr">
            <a:spAutoFit/>
          </a:bodyPr>
          <a:lstStyle/>
          <a:p>
            <a:pPr marL="0" indent="0" algn="l">
              <a:buNone/>
            </a:pPr>
            <a:r>
              <a:rPr sz="700" b="1" i="0">
                <a:solidFill>
                  <a:srgbClr val="1A1A1A"/>
                </a:solidFill>
              </a:rPr>
              <a:t>Choose a delivery time</a:t>
            </a:r>
          </a:p>
        </p:txBody>
      </p:sp>
      <p:sp>
        <p:nvSpPr>
          <p:cNvPr id="100" name="TextBox 99"/>
          <p:cNvSpPr txBox="1"/>
          <p:nvPr/>
        </p:nvSpPr>
        <p:spPr>
          <a:xfrm>
            <a:off x="5223296" y="2038727"/>
            <a:ext cx="107289" cy="107289"/>
          </a:xfrm>
          <a:prstGeom prst="rect">
            <a:avLst/>
          </a:prstGeom>
          <a:noFill/>
        </p:spPr>
        <p:txBody>
          <a:bodyPr wrap="square" lIns="0" tIns="0" rIns="0" bIns="0" anchor="ctr">
            <a:spAutoFit/>
          </a:bodyPr>
          <a:lstStyle/>
          <a:p>
            <a:pPr marL="0" indent="0" algn="ctr">
              <a:buNone/>
            </a:pPr>
            <a:r>
              <a:rPr sz="600" b="0" i="0">
                <a:solidFill>
                  <a:srgbClr val="888888"/>
                </a:solidFill>
              </a:rPr>
              <a:t>✕</a:t>
            </a:r>
          </a:p>
        </p:txBody>
      </p:sp>
      <p:sp>
        <p:nvSpPr>
          <p:cNvPr id="101" name="Rectangle 100"/>
          <p:cNvSpPr/>
          <p:nvPr/>
        </p:nvSpPr>
        <p:spPr>
          <a:xfrm>
            <a:off x="3383280" y="2167475"/>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2" name="TextBox 101"/>
          <p:cNvSpPr txBox="1"/>
          <p:nvPr/>
        </p:nvSpPr>
        <p:spPr>
          <a:xfrm>
            <a:off x="3458382" y="2193962"/>
            <a:ext cx="1861474" cy="97231"/>
          </a:xfrm>
          <a:prstGeom prst="rect">
            <a:avLst/>
          </a:prstGeom>
          <a:noFill/>
        </p:spPr>
        <p:txBody>
          <a:bodyPr wrap="square" lIns="0" tIns="0" rIns="0" bIns="0" anchor="ctr">
            <a:spAutoFit/>
          </a:bodyPr>
          <a:lstStyle/>
          <a:p>
            <a:pPr marL="0" indent="0" algn="l">
              <a:buNone/>
            </a:pPr>
            <a:r>
              <a:rPr sz="580" b="1" i="0">
                <a:solidFill>
                  <a:srgbClr val="3A3A3A"/>
                </a:solidFill>
              </a:rPr>
              <a:t>Today  ·  Thursday 14 August</a:t>
            </a:r>
          </a:p>
        </p:txBody>
      </p:sp>
      <p:sp>
        <p:nvSpPr>
          <p:cNvPr id="103" name="Rounded Rectangle 102"/>
          <p:cNvSpPr/>
          <p:nvPr/>
        </p:nvSpPr>
        <p:spPr>
          <a:xfrm>
            <a:off x="3458382" y="2328409"/>
            <a:ext cx="1861474" cy="236037"/>
          </a:xfrm>
          <a:prstGeom prst="roundRect">
            <a:avLst>
              <a:gd name="adj" fmla="val 10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4" name="TextBox 103"/>
          <p:cNvSpPr txBox="1"/>
          <p:nvPr/>
        </p:nvSpPr>
        <p:spPr>
          <a:xfrm>
            <a:off x="3533485" y="2349532"/>
            <a:ext cx="1019251" cy="97231"/>
          </a:xfrm>
          <a:prstGeom prst="rect">
            <a:avLst/>
          </a:prstGeom>
          <a:noFill/>
        </p:spPr>
        <p:txBody>
          <a:bodyPr wrap="square" lIns="0" tIns="0" rIns="0" bIns="0" anchor="ctr">
            <a:spAutoFit/>
          </a:bodyPr>
          <a:lstStyle/>
          <a:p>
            <a:pPr marL="0" indent="0" algn="l">
              <a:buNone/>
            </a:pPr>
            <a:r>
              <a:rPr sz="580" b="1" i="0">
                <a:solidFill>
                  <a:srgbClr val="C8102E"/>
                </a:solidFill>
              </a:rPr>
              <a:t>15:00 – 18:00</a:t>
            </a:r>
          </a:p>
        </p:txBody>
      </p:sp>
      <p:sp>
        <p:nvSpPr>
          <p:cNvPr id="105" name="TextBox 104"/>
          <p:cNvSpPr txBox="1"/>
          <p:nvPr/>
        </p:nvSpPr>
        <p:spPr>
          <a:xfrm>
            <a:off x="3533485" y="2449110"/>
            <a:ext cx="1287475" cy="80467"/>
          </a:xfrm>
          <a:prstGeom prst="rect">
            <a:avLst/>
          </a:prstGeom>
          <a:noFill/>
        </p:spPr>
        <p:txBody>
          <a:bodyPr wrap="square" lIns="0" tIns="0" rIns="0" bIns="0" anchor="ctr">
            <a:spAutoFit/>
          </a:bodyPr>
          <a:lstStyle/>
          <a:p>
            <a:pPr marL="0" indent="0" algn="l">
              <a:buNone/>
            </a:pPr>
            <a:r>
              <a:rPr sz="480" b="0" i="0">
                <a:solidFill>
                  <a:srgbClr val="888888"/>
                </a:solidFill>
              </a:rPr>
              <a:t>You usually choose this</a:t>
            </a:r>
          </a:p>
        </p:txBody>
      </p:sp>
      <p:sp>
        <p:nvSpPr>
          <p:cNvPr id="106" name="Rounded Rectangle 105"/>
          <p:cNvSpPr/>
          <p:nvPr/>
        </p:nvSpPr>
        <p:spPr>
          <a:xfrm>
            <a:off x="4670755" y="2398147"/>
            <a:ext cx="396971" cy="91196"/>
          </a:xfrm>
          <a:prstGeom prst="roundRect">
            <a:avLst>
              <a:gd name="adj" fmla="val 50000"/>
            </a:avLst>
          </a:prstGeom>
          <a:solidFill>
            <a:srgbClr val="FFF6E5"/>
          </a:solidFill>
          <a:ln w="6350">
            <a:solidFill>
              <a:srgbClr val="B26A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7" name="TextBox 106"/>
          <p:cNvSpPr txBox="1"/>
          <p:nvPr/>
        </p:nvSpPr>
        <p:spPr>
          <a:xfrm>
            <a:off x="4670755" y="2398147"/>
            <a:ext cx="396971" cy="91196"/>
          </a:xfrm>
          <a:prstGeom prst="rect">
            <a:avLst/>
          </a:prstGeom>
          <a:noFill/>
        </p:spPr>
        <p:txBody>
          <a:bodyPr wrap="square" lIns="0" tIns="0" rIns="0" bIns="0" anchor="ctr">
            <a:spAutoFit/>
          </a:bodyPr>
          <a:lstStyle/>
          <a:p>
            <a:pPr marL="0" indent="0" algn="ctr">
              <a:buNone/>
            </a:pPr>
            <a:r>
              <a:rPr sz="440" b="1" i="0">
                <a:solidFill>
                  <a:srgbClr val="B26A00"/>
                </a:solidFill>
              </a:rPr>
              <a:t>Shown first</a:t>
            </a:r>
          </a:p>
        </p:txBody>
      </p:sp>
      <p:sp>
        <p:nvSpPr>
          <p:cNvPr id="108" name="Rounded Rectangle 107"/>
          <p:cNvSpPr/>
          <p:nvPr/>
        </p:nvSpPr>
        <p:spPr>
          <a:xfrm>
            <a:off x="5164287" y="2408876"/>
            <a:ext cx="75102" cy="75102"/>
          </a:xfrm>
          <a:prstGeom prst="roundRect">
            <a:avLst>
              <a:gd name="adj" fmla="val 5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9" name="Rounded Rectangle 108"/>
          <p:cNvSpPr/>
          <p:nvPr/>
        </p:nvSpPr>
        <p:spPr>
          <a:xfrm>
            <a:off x="3458382" y="2607362"/>
            <a:ext cx="1861474" cy="236037"/>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0" name="TextBox 109"/>
          <p:cNvSpPr txBox="1"/>
          <p:nvPr/>
        </p:nvSpPr>
        <p:spPr>
          <a:xfrm>
            <a:off x="3533485" y="2628485"/>
            <a:ext cx="1019251" cy="97231"/>
          </a:xfrm>
          <a:prstGeom prst="rect">
            <a:avLst/>
          </a:prstGeom>
          <a:noFill/>
        </p:spPr>
        <p:txBody>
          <a:bodyPr wrap="square" lIns="0" tIns="0" rIns="0" bIns="0" anchor="ctr">
            <a:spAutoFit/>
          </a:bodyPr>
          <a:lstStyle/>
          <a:p>
            <a:pPr marL="0" indent="0" algn="l">
              <a:buNone/>
            </a:pPr>
            <a:r>
              <a:rPr sz="580" b="1" i="0">
                <a:solidFill>
                  <a:srgbClr val="222222"/>
                </a:solidFill>
              </a:rPr>
              <a:t>11:00 – 13:00</a:t>
            </a:r>
          </a:p>
        </p:txBody>
      </p:sp>
      <p:sp>
        <p:nvSpPr>
          <p:cNvPr id="111" name="TextBox 110"/>
          <p:cNvSpPr txBox="1"/>
          <p:nvPr/>
        </p:nvSpPr>
        <p:spPr>
          <a:xfrm>
            <a:off x="3533485" y="2728063"/>
            <a:ext cx="1287475" cy="80467"/>
          </a:xfrm>
          <a:prstGeom prst="rect">
            <a:avLst/>
          </a:prstGeom>
          <a:noFill/>
        </p:spPr>
        <p:txBody>
          <a:bodyPr wrap="square" lIns="0" tIns="0" rIns="0" bIns="0" anchor="ctr">
            <a:spAutoFit/>
          </a:bodyPr>
          <a:lstStyle/>
          <a:p>
            <a:pPr marL="0" indent="0" algn="l">
              <a:buNone/>
            </a:pPr>
            <a:r>
              <a:rPr sz="480" b="0" i="0">
                <a:solidFill>
                  <a:srgbClr val="888888"/>
                </a:solidFill>
              </a:rPr>
              <a:t>Earliest available</a:t>
            </a:r>
          </a:p>
        </p:txBody>
      </p:sp>
      <p:sp>
        <p:nvSpPr>
          <p:cNvPr id="112" name="Rounded Rectangle 111"/>
          <p:cNvSpPr/>
          <p:nvPr/>
        </p:nvSpPr>
        <p:spPr>
          <a:xfrm>
            <a:off x="5164287" y="2687829"/>
            <a:ext cx="75102" cy="75102"/>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3" name="Rounded Rectangle 112"/>
          <p:cNvSpPr/>
          <p:nvPr/>
        </p:nvSpPr>
        <p:spPr>
          <a:xfrm>
            <a:off x="3458382" y="2886315"/>
            <a:ext cx="1861474" cy="236037"/>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4" name="TextBox 113"/>
          <p:cNvSpPr txBox="1"/>
          <p:nvPr/>
        </p:nvSpPr>
        <p:spPr>
          <a:xfrm>
            <a:off x="3533485" y="2907438"/>
            <a:ext cx="1019251" cy="97231"/>
          </a:xfrm>
          <a:prstGeom prst="rect">
            <a:avLst/>
          </a:prstGeom>
          <a:noFill/>
        </p:spPr>
        <p:txBody>
          <a:bodyPr wrap="square" lIns="0" tIns="0" rIns="0" bIns="0" anchor="ctr">
            <a:spAutoFit/>
          </a:bodyPr>
          <a:lstStyle/>
          <a:p>
            <a:pPr marL="0" indent="0" algn="l">
              <a:buNone/>
            </a:pPr>
            <a:r>
              <a:rPr sz="580" b="1" i="0">
                <a:solidFill>
                  <a:srgbClr val="222222"/>
                </a:solidFill>
              </a:rPr>
              <a:t>13:00 – 15:00</a:t>
            </a:r>
          </a:p>
        </p:txBody>
      </p:sp>
      <p:sp>
        <p:nvSpPr>
          <p:cNvPr id="115" name="TextBox 114"/>
          <p:cNvSpPr txBox="1"/>
          <p:nvPr/>
        </p:nvSpPr>
        <p:spPr>
          <a:xfrm>
            <a:off x="3533485" y="3007016"/>
            <a:ext cx="1287475" cy="80467"/>
          </a:xfrm>
          <a:prstGeom prst="rect">
            <a:avLst/>
          </a:prstGeom>
          <a:noFill/>
        </p:spPr>
        <p:txBody>
          <a:bodyPr wrap="square" lIns="0" tIns="0" rIns="0" bIns="0" anchor="ctr">
            <a:spAutoFit/>
          </a:bodyPr>
          <a:lstStyle/>
          <a:p>
            <a:pPr marL="0" indent="0" algn="l">
              <a:buNone/>
            </a:pPr>
            <a:r>
              <a:rPr sz="480" b="0" i="0">
                <a:solidFill>
                  <a:srgbClr val="888888"/>
                </a:solidFill>
              </a:rPr>
              <a:t>Earns 50 points</a:t>
            </a:r>
          </a:p>
        </p:txBody>
      </p:sp>
      <p:sp>
        <p:nvSpPr>
          <p:cNvPr id="116" name="Rounded Rectangle 115"/>
          <p:cNvSpPr/>
          <p:nvPr/>
        </p:nvSpPr>
        <p:spPr>
          <a:xfrm>
            <a:off x="5164287" y="2966782"/>
            <a:ext cx="75102" cy="75102"/>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7" name="Rounded Rectangle 116"/>
          <p:cNvSpPr/>
          <p:nvPr/>
        </p:nvSpPr>
        <p:spPr>
          <a:xfrm>
            <a:off x="3458382" y="3165268"/>
            <a:ext cx="1861474" cy="236037"/>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8" name="TextBox 117"/>
          <p:cNvSpPr txBox="1"/>
          <p:nvPr/>
        </p:nvSpPr>
        <p:spPr>
          <a:xfrm>
            <a:off x="3533485" y="3186391"/>
            <a:ext cx="1019251" cy="97231"/>
          </a:xfrm>
          <a:prstGeom prst="rect">
            <a:avLst/>
          </a:prstGeom>
          <a:noFill/>
        </p:spPr>
        <p:txBody>
          <a:bodyPr wrap="square" lIns="0" tIns="0" rIns="0" bIns="0" anchor="ctr">
            <a:spAutoFit/>
          </a:bodyPr>
          <a:lstStyle/>
          <a:p>
            <a:pPr marL="0" indent="0" algn="l">
              <a:buNone/>
            </a:pPr>
            <a:r>
              <a:rPr sz="580" b="1" i="0">
                <a:solidFill>
                  <a:srgbClr val="222222"/>
                </a:solidFill>
              </a:rPr>
              <a:t>18:00 – 20:00</a:t>
            </a:r>
          </a:p>
        </p:txBody>
      </p:sp>
      <p:sp>
        <p:nvSpPr>
          <p:cNvPr id="119" name="TextBox 118"/>
          <p:cNvSpPr txBox="1"/>
          <p:nvPr/>
        </p:nvSpPr>
        <p:spPr>
          <a:xfrm>
            <a:off x="3533485" y="3285969"/>
            <a:ext cx="1287475" cy="80467"/>
          </a:xfrm>
          <a:prstGeom prst="rect">
            <a:avLst/>
          </a:prstGeom>
          <a:noFill/>
        </p:spPr>
        <p:txBody>
          <a:bodyPr wrap="square" lIns="0" tIns="0" rIns="0" bIns="0" anchor="ctr">
            <a:spAutoFit/>
          </a:bodyPr>
          <a:lstStyle/>
          <a:p>
            <a:pPr marL="0" indent="0" algn="l">
              <a:buNone/>
            </a:pPr>
            <a:r>
              <a:rPr sz="480" b="0" i="0">
                <a:solidFill>
                  <a:srgbClr val="888888"/>
                </a:solidFill>
              </a:rPr>
              <a:t>Earns 50 points</a:t>
            </a:r>
          </a:p>
        </p:txBody>
      </p:sp>
      <p:sp>
        <p:nvSpPr>
          <p:cNvPr id="120" name="Rounded Rectangle 119"/>
          <p:cNvSpPr/>
          <p:nvPr/>
        </p:nvSpPr>
        <p:spPr>
          <a:xfrm>
            <a:off x="5164287" y="3245735"/>
            <a:ext cx="75102" cy="75102"/>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1" name="Rounded Rectangle 120"/>
          <p:cNvSpPr/>
          <p:nvPr/>
        </p:nvSpPr>
        <p:spPr>
          <a:xfrm>
            <a:off x="3458382" y="3444221"/>
            <a:ext cx="1861474" cy="396971"/>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2" name="TextBox 121"/>
          <p:cNvSpPr txBox="1"/>
          <p:nvPr/>
        </p:nvSpPr>
        <p:spPr>
          <a:xfrm>
            <a:off x="3533485" y="3468697"/>
            <a:ext cx="1711269" cy="90525"/>
          </a:xfrm>
          <a:prstGeom prst="rect">
            <a:avLst/>
          </a:prstGeom>
          <a:noFill/>
        </p:spPr>
        <p:txBody>
          <a:bodyPr wrap="square" lIns="0" tIns="0" rIns="0" bIns="0" anchor="ctr">
            <a:spAutoFit/>
          </a:bodyPr>
          <a:lstStyle/>
          <a:p>
            <a:pPr marL="0" indent="0" algn="l">
              <a:buNone/>
            </a:pPr>
            <a:r>
              <a:rPr sz="540" b="1" i="0">
                <a:solidFill>
                  <a:srgbClr val="3A3A3A"/>
                </a:solidFill>
              </a:rPr>
              <a:t>Another store can deliver sooner</a:t>
            </a:r>
          </a:p>
        </p:txBody>
      </p:sp>
      <p:sp>
        <p:nvSpPr>
          <p:cNvPr id="123" name="TextBox 122"/>
          <p:cNvSpPr txBox="1"/>
          <p:nvPr/>
        </p:nvSpPr>
        <p:spPr>
          <a:xfrm>
            <a:off x="3533485" y="3572968"/>
            <a:ext cx="1711269" cy="236037"/>
          </a:xfrm>
          <a:prstGeom prst="rect">
            <a:avLst/>
          </a:prstGeom>
          <a:noFill/>
        </p:spPr>
        <p:txBody>
          <a:bodyPr wrap="square" lIns="0" tIns="0" rIns="0" bIns="0" anchor="t">
            <a:spAutoFit/>
          </a:bodyPr>
          <a:lstStyle/>
          <a:p>
            <a:pPr marL="0" indent="0" algn="l">
              <a:buNone/>
            </a:pPr>
            <a:r>
              <a:rPr sz="500" b="0" i="0">
                <a:solidFill>
                  <a:srgbClr val="555555"/>
                </a:solidFill>
              </a:rPr>
              <a:t>Nam Sài Gòn:  earliest 15:00–18:00,  10 / 10 products</a:t>
            </a:r>
          </a:p>
          <a:p>
            <a:pPr marL="0" indent="0" algn="l">
              <a:buNone/>
            </a:pPr>
            <a:r>
              <a:rPr sz="500" b="0" i="0">
                <a:solidFill>
                  <a:srgbClr val="555555"/>
                </a:solidFill>
              </a:rPr>
              <a:t>Tân Bình:  earliest 11:00–13:00,  7 / 10 products</a:t>
            </a:r>
          </a:p>
        </p:txBody>
      </p:sp>
      <p:sp>
        <p:nvSpPr>
          <p:cNvPr id="124" name="Rounded Rectangle 123"/>
          <p:cNvSpPr/>
          <p:nvPr/>
        </p:nvSpPr>
        <p:spPr>
          <a:xfrm>
            <a:off x="3436924" y="3894837"/>
            <a:ext cx="1904390" cy="160934"/>
          </a:xfrm>
          <a:prstGeom prst="roundRect">
            <a:avLst>
              <a:gd name="adj" fmla="val 15000"/>
            </a:avLst>
          </a:prstGeom>
          <a:solidFill>
            <a:srgbClr val="F4F5F7"/>
          </a:solidFill>
          <a:ln w="6350">
            <a:solidFill>
              <a:srgbClr val="F4F5F7"/>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5" name="TextBox 124"/>
          <p:cNvSpPr txBox="1"/>
          <p:nvPr/>
        </p:nvSpPr>
        <p:spPr>
          <a:xfrm>
            <a:off x="3479840" y="3894837"/>
            <a:ext cx="96560" cy="160934"/>
          </a:xfrm>
          <a:prstGeom prst="rect">
            <a:avLst/>
          </a:prstGeom>
          <a:noFill/>
        </p:spPr>
        <p:txBody>
          <a:bodyPr wrap="square" lIns="0" tIns="0" rIns="0" bIns="0" anchor="ctr">
            <a:spAutoFit/>
          </a:bodyPr>
          <a:lstStyle/>
          <a:p>
            <a:pPr marL="0" indent="0" algn="ctr">
              <a:buNone/>
            </a:pPr>
            <a:r>
              <a:rPr sz="550" b="1" i="0">
                <a:solidFill>
                  <a:srgbClr val="555555"/>
                </a:solidFill>
              </a:rPr>
              <a:t>i</a:t>
            </a:r>
          </a:p>
        </p:txBody>
      </p:sp>
      <p:sp>
        <p:nvSpPr>
          <p:cNvPr id="126" name="TextBox 125"/>
          <p:cNvSpPr txBox="1"/>
          <p:nvPr/>
        </p:nvSpPr>
        <p:spPr>
          <a:xfrm>
            <a:off x="3608588" y="3894837"/>
            <a:ext cx="1700540" cy="160934"/>
          </a:xfrm>
          <a:prstGeom prst="rect">
            <a:avLst/>
          </a:prstGeom>
          <a:noFill/>
        </p:spPr>
        <p:txBody>
          <a:bodyPr wrap="square" lIns="0" tIns="0" rIns="0" bIns="0" anchor="ctr">
            <a:spAutoFit/>
          </a:bodyPr>
          <a:lstStyle/>
          <a:p>
            <a:pPr marL="0" indent="0" algn="l">
              <a:buNone/>
            </a:pPr>
            <a:r>
              <a:rPr sz="540" b="0" i="0">
                <a:solidFill>
                  <a:srgbClr val="555555"/>
                </a:solidFill>
              </a:rPr>
              <a:t>You decide — sooner with fewer items, or later with everything</a:t>
            </a:r>
          </a:p>
        </p:txBody>
      </p:sp>
      <p:sp>
        <p:nvSpPr>
          <p:cNvPr id="127" name="Oval 126"/>
          <p:cNvSpPr/>
          <p:nvPr/>
        </p:nvSpPr>
        <p:spPr>
          <a:xfrm>
            <a:off x="3168701" y="2038727"/>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8" name="TextBox 127"/>
          <p:cNvSpPr txBox="1"/>
          <p:nvPr/>
        </p:nvSpPr>
        <p:spPr>
          <a:xfrm>
            <a:off x="3168701" y="2038727"/>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129" name="Oval 128"/>
          <p:cNvSpPr/>
          <p:nvPr/>
        </p:nvSpPr>
        <p:spPr>
          <a:xfrm>
            <a:off x="3168701" y="3401305"/>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0" name="TextBox 129"/>
          <p:cNvSpPr txBox="1"/>
          <p:nvPr/>
        </p:nvSpPr>
        <p:spPr>
          <a:xfrm>
            <a:off x="3168701" y="3401305"/>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sp>
        <p:nvSpPr>
          <p:cNvPr id="131" name="Oval 130"/>
          <p:cNvSpPr/>
          <p:nvPr/>
        </p:nvSpPr>
        <p:spPr>
          <a:xfrm>
            <a:off x="3168701" y="3894837"/>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2" name="TextBox 131"/>
          <p:cNvSpPr txBox="1"/>
          <p:nvPr/>
        </p:nvSpPr>
        <p:spPr>
          <a:xfrm>
            <a:off x="3168701" y="3894837"/>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graphicFrame>
        <p:nvGraphicFramePr>
          <p:cNvPr id="133" name="Table 132"/>
          <p:cNvGraphicFramePr>
            <a:graphicFrameLocks noGrp="1"/>
          </p:cNvGraphicFramePr>
          <p:nvPr/>
        </p:nvGraphicFramePr>
        <p:xfrm>
          <a:off x="7196328" y="886968"/>
          <a:ext cx="4718304" cy="3403296"/>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Slot sheet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Opened from the delivery block. Shows every window for the selected day at the serving store.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Suggested slot — state 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When the customer did not actively change the slot on the Homepage, the earliest available slot at the store is suggested first (BRL-25).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Slot annotations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Each window states what makes it different — earliest, usual, point-earning, closing soon, closed. Point-earning windows are fixed low-demand windows and carry no benefit other than points (BRL-27).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Precedence, stated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rule is shown to the customer in plain language, so the ordering does not look arbitrary.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Suggested slot — state B</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When the customer actively chose a slot on the Homepage, their usual slot is shown first instead (BRL-26). “Usual” means the window with the largest share of their selections over the last two months, computed per delivery address across all stores (BRL-27).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7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Cross-store comparison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When another store can deliver sooner but holds fewer of the selected items, both options are stated with their trade-off — earliest time and items in stock.</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420000">
                <a:tc>
                  <a:txBody>
                    <a:bodyPr/>
                    <a:lstStyle/>
                    <a:p>
                      <a:pPr marL="0" indent="0" algn="ctr">
                        <a:buNone/>
                      </a:pPr>
                      <a:r>
                        <a:rPr sz="70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Customer decides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system does not switch stores on the customer's behalf here. Doing so would repeat the As-Is mistake of promising a delivery the basket cannot support.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134" name="TextBox 133"/>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The exact UI for the cross-store comparison in state B is not yet designed — it is carried as an open item in Part 6. Tie-break for the usual slot resolves to the earliest window (BRL-27). Slot capacity and re-opening follow BRL-20 and BRL-21.</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Checkout (CO)</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CO-01 … CO-03</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SCR-CHK-01</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Checkout — Locked Order Review</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60</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Step 1  ·  Delivery details and product list, read-only</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59436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5873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29" name="TextBox 28"/>
          <p:cNvSpPr txBox="1"/>
          <p:nvPr/>
        </p:nvSpPr>
        <p:spPr>
          <a:xfrm>
            <a:off x="77675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Checkout</a:t>
            </a:r>
          </a:p>
        </p:txBody>
      </p:sp>
      <p:sp>
        <p:nvSpPr>
          <p:cNvPr id="30" name="Rectangle 29"/>
          <p:cNvSpPr/>
          <p:nvPr/>
        </p:nvSpPr>
        <p:spPr>
          <a:xfrm>
            <a:off x="59436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Rectangle 30"/>
          <p:cNvSpPr/>
          <p:nvPr/>
        </p:nvSpPr>
        <p:spPr>
          <a:xfrm>
            <a:off x="594360" y="1217962"/>
            <a:ext cx="2011679" cy="128747"/>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669462" y="1217962"/>
            <a:ext cx="1861474" cy="128747"/>
          </a:xfrm>
          <a:prstGeom prst="rect">
            <a:avLst/>
          </a:prstGeom>
          <a:noFill/>
        </p:spPr>
        <p:txBody>
          <a:bodyPr wrap="square" lIns="0" tIns="0" rIns="0" bIns="0" anchor="ctr">
            <a:spAutoFit/>
          </a:bodyPr>
          <a:lstStyle/>
          <a:p>
            <a:pPr marL="0" indent="0" algn="l">
              <a:buNone/>
            </a:pPr>
            <a:r>
              <a:rPr sz="500" b="0" i="0">
                <a:solidFill>
                  <a:srgbClr val="555555"/>
                </a:solidFill>
              </a:rPr>
              <a:t>▤  Order details are locked — edit in the Cart</a:t>
            </a:r>
          </a:p>
        </p:txBody>
      </p:sp>
      <p:sp>
        <p:nvSpPr>
          <p:cNvPr id="33" name="Rounded Rectangle 32"/>
          <p:cNvSpPr/>
          <p:nvPr/>
        </p:nvSpPr>
        <p:spPr>
          <a:xfrm>
            <a:off x="669462" y="1368167"/>
            <a:ext cx="1861474" cy="386242"/>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744565" y="1390966"/>
            <a:ext cx="1180185" cy="93878"/>
          </a:xfrm>
          <a:prstGeom prst="rect">
            <a:avLst/>
          </a:prstGeom>
          <a:noFill/>
        </p:spPr>
        <p:txBody>
          <a:bodyPr wrap="square" lIns="0" tIns="0" rIns="0" bIns="0" anchor="ctr">
            <a:spAutoFit/>
          </a:bodyPr>
          <a:lstStyle/>
          <a:p>
            <a:pPr marL="0" indent="0" algn="l">
              <a:buNone/>
            </a:pPr>
            <a:r>
              <a:rPr sz="560" b="1" i="0">
                <a:solidFill>
                  <a:srgbClr val="3A3A3A"/>
                </a:solidFill>
              </a:rPr>
              <a:t>Delivery to</a:t>
            </a:r>
          </a:p>
        </p:txBody>
      </p:sp>
      <p:sp>
        <p:nvSpPr>
          <p:cNvPr id="35" name="TextBox 34"/>
          <p:cNvSpPr txBox="1"/>
          <p:nvPr/>
        </p:nvSpPr>
        <p:spPr>
          <a:xfrm>
            <a:off x="1935480" y="1399348"/>
            <a:ext cx="246766" cy="77114"/>
          </a:xfrm>
          <a:prstGeom prst="rect">
            <a:avLst/>
          </a:prstGeom>
          <a:noFill/>
        </p:spPr>
        <p:txBody>
          <a:bodyPr wrap="square" lIns="0" tIns="0" rIns="0" bIns="0" anchor="ctr">
            <a:spAutoFit/>
          </a:bodyPr>
          <a:lstStyle/>
          <a:p>
            <a:pPr marL="0" indent="0" algn="r">
              <a:buNone/>
            </a:pPr>
            <a:r>
              <a:rPr sz="459" b="0" i="0">
                <a:solidFill>
                  <a:srgbClr val="AAAAAA"/>
                </a:solidFill>
              </a:rPr>
              <a:t>Locked</a:t>
            </a:r>
          </a:p>
        </p:txBody>
      </p:sp>
      <p:sp>
        <p:nvSpPr>
          <p:cNvPr id="36" name="TextBox 35"/>
          <p:cNvSpPr txBox="1"/>
          <p:nvPr/>
        </p:nvSpPr>
        <p:spPr>
          <a:xfrm>
            <a:off x="744565" y="1491718"/>
            <a:ext cx="1711269" cy="85496"/>
          </a:xfrm>
          <a:prstGeom prst="rect">
            <a:avLst/>
          </a:prstGeom>
          <a:noFill/>
        </p:spPr>
        <p:txBody>
          <a:bodyPr wrap="square" lIns="0" tIns="0" rIns="0" bIns="0" anchor="ctr">
            <a:spAutoFit/>
          </a:bodyPr>
          <a:lstStyle/>
          <a:p>
            <a:pPr marL="0" indent="0" algn="l">
              <a:buNone/>
            </a:pPr>
            <a:r>
              <a:rPr sz="509" b="0" i="0">
                <a:solidFill>
                  <a:srgbClr val="555555"/>
                </a:solidFill>
              </a:rPr>
              <a:t>Ngọc  ·  090 123 4567</a:t>
            </a:r>
          </a:p>
        </p:txBody>
      </p:sp>
      <p:sp>
        <p:nvSpPr>
          <p:cNvPr id="37" name="TextBox 36"/>
          <p:cNvSpPr txBox="1"/>
          <p:nvPr/>
        </p:nvSpPr>
        <p:spPr>
          <a:xfrm>
            <a:off x="744565" y="1566820"/>
            <a:ext cx="1711269" cy="85496"/>
          </a:xfrm>
          <a:prstGeom prst="rect">
            <a:avLst/>
          </a:prstGeom>
          <a:noFill/>
        </p:spPr>
        <p:txBody>
          <a:bodyPr wrap="square" lIns="0" tIns="0" rIns="0" bIns="0" anchor="ctr">
            <a:spAutoFit/>
          </a:bodyPr>
          <a:lstStyle/>
          <a:p>
            <a:pPr marL="0" indent="0" algn="l">
              <a:buNone/>
            </a:pPr>
            <a:r>
              <a:rPr sz="509" b="0" i="0">
                <a:solidFill>
                  <a:srgbClr val="555555"/>
                </a:solidFill>
              </a:rPr>
              <a:t>123 Nguyễn Thị Thập, Tân Phú, Q.7</a:t>
            </a:r>
          </a:p>
        </p:txBody>
      </p:sp>
      <p:sp>
        <p:nvSpPr>
          <p:cNvPr id="38" name="TextBox 37"/>
          <p:cNvSpPr txBox="1"/>
          <p:nvPr/>
        </p:nvSpPr>
        <p:spPr>
          <a:xfrm>
            <a:off x="744565" y="1641923"/>
            <a:ext cx="1711269" cy="85496"/>
          </a:xfrm>
          <a:prstGeom prst="rect">
            <a:avLst/>
          </a:prstGeom>
          <a:noFill/>
        </p:spPr>
        <p:txBody>
          <a:bodyPr wrap="square" lIns="0" tIns="0" rIns="0" bIns="0" anchor="ctr">
            <a:spAutoFit/>
          </a:bodyPr>
          <a:lstStyle/>
          <a:p>
            <a:pPr marL="0" indent="0" algn="l">
              <a:buNone/>
            </a:pPr>
            <a:r>
              <a:rPr sz="509" b="0" i="0">
                <a:solidFill>
                  <a:srgbClr val="555555"/>
                </a:solidFill>
              </a:rPr>
              <a:t>Serving store: LOTTE Mart Nam Sài Gòn</a:t>
            </a:r>
          </a:p>
        </p:txBody>
      </p:sp>
      <p:sp>
        <p:nvSpPr>
          <p:cNvPr id="39" name="Rounded Rectangle 38"/>
          <p:cNvSpPr/>
          <p:nvPr/>
        </p:nvSpPr>
        <p:spPr>
          <a:xfrm>
            <a:off x="669462" y="1797326"/>
            <a:ext cx="1861474" cy="311139"/>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TextBox 39"/>
          <p:cNvSpPr txBox="1"/>
          <p:nvPr/>
        </p:nvSpPr>
        <p:spPr>
          <a:xfrm>
            <a:off x="744565" y="1820124"/>
            <a:ext cx="1180185" cy="93878"/>
          </a:xfrm>
          <a:prstGeom prst="rect">
            <a:avLst/>
          </a:prstGeom>
          <a:noFill/>
        </p:spPr>
        <p:txBody>
          <a:bodyPr wrap="square" lIns="0" tIns="0" rIns="0" bIns="0" anchor="ctr">
            <a:spAutoFit/>
          </a:bodyPr>
          <a:lstStyle/>
          <a:p>
            <a:pPr marL="0" indent="0" algn="l">
              <a:buNone/>
            </a:pPr>
            <a:r>
              <a:rPr sz="560" b="1" i="0">
                <a:solidFill>
                  <a:srgbClr val="3A3A3A"/>
                </a:solidFill>
              </a:rPr>
              <a:t>Delivery service</a:t>
            </a:r>
          </a:p>
        </p:txBody>
      </p:sp>
      <p:sp>
        <p:nvSpPr>
          <p:cNvPr id="41" name="TextBox 40"/>
          <p:cNvSpPr txBox="1"/>
          <p:nvPr/>
        </p:nvSpPr>
        <p:spPr>
          <a:xfrm>
            <a:off x="1935480" y="1828506"/>
            <a:ext cx="246766" cy="77114"/>
          </a:xfrm>
          <a:prstGeom prst="rect">
            <a:avLst/>
          </a:prstGeom>
          <a:noFill/>
        </p:spPr>
        <p:txBody>
          <a:bodyPr wrap="square" lIns="0" tIns="0" rIns="0" bIns="0" anchor="ctr">
            <a:spAutoFit/>
          </a:bodyPr>
          <a:lstStyle/>
          <a:p>
            <a:pPr marL="0" indent="0" algn="r">
              <a:buNone/>
            </a:pPr>
            <a:r>
              <a:rPr sz="459" b="0" i="0">
                <a:solidFill>
                  <a:srgbClr val="AAAAAA"/>
                </a:solidFill>
              </a:rPr>
              <a:t>Locked</a:t>
            </a:r>
          </a:p>
        </p:txBody>
      </p:sp>
      <p:sp>
        <p:nvSpPr>
          <p:cNvPr id="42" name="TextBox 41"/>
          <p:cNvSpPr txBox="1"/>
          <p:nvPr/>
        </p:nvSpPr>
        <p:spPr>
          <a:xfrm>
            <a:off x="744565" y="1920876"/>
            <a:ext cx="1711269" cy="85496"/>
          </a:xfrm>
          <a:prstGeom prst="rect">
            <a:avLst/>
          </a:prstGeom>
          <a:noFill/>
        </p:spPr>
        <p:txBody>
          <a:bodyPr wrap="square" lIns="0" tIns="0" rIns="0" bIns="0" anchor="ctr">
            <a:spAutoFit/>
          </a:bodyPr>
          <a:lstStyle/>
          <a:p>
            <a:pPr marL="0" indent="0" algn="l">
              <a:buNone/>
            </a:pPr>
            <a:r>
              <a:rPr sz="509" b="0" i="0">
                <a:solidFill>
                  <a:srgbClr val="555555"/>
                </a:solidFill>
              </a:rPr>
              <a:t>Standard delivery  ·  Free</a:t>
            </a:r>
          </a:p>
        </p:txBody>
      </p:sp>
      <p:sp>
        <p:nvSpPr>
          <p:cNvPr id="43" name="TextBox 42"/>
          <p:cNvSpPr txBox="1"/>
          <p:nvPr/>
        </p:nvSpPr>
        <p:spPr>
          <a:xfrm>
            <a:off x="744565" y="1995979"/>
            <a:ext cx="1711269" cy="85496"/>
          </a:xfrm>
          <a:prstGeom prst="rect">
            <a:avLst/>
          </a:prstGeom>
          <a:noFill/>
        </p:spPr>
        <p:txBody>
          <a:bodyPr wrap="square" lIns="0" tIns="0" rIns="0" bIns="0" anchor="ctr">
            <a:spAutoFit/>
          </a:bodyPr>
          <a:lstStyle/>
          <a:p>
            <a:pPr marL="0" indent="0" algn="l">
              <a:buNone/>
            </a:pPr>
            <a:r>
              <a:rPr sz="509" b="0" i="0">
                <a:solidFill>
                  <a:srgbClr val="555555"/>
                </a:solidFill>
              </a:rPr>
              <a:t>Today, 15:00 – 18:00</a:t>
            </a:r>
          </a:p>
        </p:txBody>
      </p:sp>
      <p:sp>
        <p:nvSpPr>
          <p:cNvPr id="44" name="Rounded Rectangle 43"/>
          <p:cNvSpPr/>
          <p:nvPr/>
        </p:nvSpPr>
        <p:spPr>
          <a:xfrm>
            <a:off x="669462" y="2151381"/>
            <a:ext cx="1861474" cy="139476"/>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TextBox 44"/>
          <p:cNvSpPr txBox="1"/>
          <p:nvPr/>
        </p:nvSpPr>
        <p:spPr>
          <a:xfrm>
            <a:off x="744565" y="2151381"/>
            <a:ext cx="965606" cy="139476"/>
          </a:xfrm>
          <a:prstGeom prst="rect">
            <a:avLst/>
          </a:prstGeom>
          <a:noFill/>
        </p:spPr>
        <p:txBody>
          <a:bodyPr wrap="square" lIns="0" tIns="0" rIns="0" bIns="0" anchor="ctr">
            <a:spAutoFit/>
          </a:bodyPr>
          <a:lstStyle/>
          <a:p>
            <a:pPr marL="0" indent="0" algn="l">
              <a:buNone/>
            </a:pPr>
            <a:r>
              <a:rPr sz="560" b="1" i="0">
                <a:solidFill>
                  <a:srgbClr val="3A3A3A"/>
                </a:solidFill>
              </a:rPr>
              <a:t>Products  ·  6 items</a:t>
            </a:r>
          </a:p>
        </p:txBody>
      </p:sp>
      <p:sp>
        <p:nvSpPr>
          <p:cNvPr id="46" name="Rounded Rectangle 45"/>
          <p:cNvSpPr/>
          <p:nvPr/>
        </p:nvSpPr>
        <p:spPr>
          <a:xfrm>
            <a:off x="1806732" y="2172839"/>
            <a:ext cx="321868" cy="96560"/>
          </a:xfrm>
          <a:prstGeom prst="roundRect">
            <a:avLst>
              <a:gd name="adj" fmla="val 50000"/>
            </a:avLst>
          </a:prstGeom>
          <a:solidFill>
            <a:srgbClr val="EEF1F9"/>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TextBox 46"/>
          <p:cNvSpPr txBox="1"/>
          <p:nvPr/>
        </p:nvSpPr>
        <p:spPr>
          <a:xfrm>
            <a:off x="1806732" y="2172839"/>
            <a:ext cx="321868" cy="96560"/>
          </a:xfrm>
          <a:prstGeom prst="rect">
            <a:avLst/>
          </a:prstGeom>
          <a:noFill/>
        </p:spPr>
        <p:txBody>
          <a:bodyPr wrap="square" lIns="0" tIns="0" rIns="0" bIns="0" anchor="ctr">
            <a:spAutoFit/>
          </a:bodyPr>
          <a:lstStyle/>
          <a:p>
            <a:pPr marL="0" indent="0" algn="ctr">
              <a:buNone/>
            </a:pPr>
            <a:r>
              <a:rPr sz="440" b="1" i="0">
                <a:solidFill>
                  <a:srgbClr val="3D5298"/>
                </a:solidFill>
              </a:rPr>
              <a:t>Detail</a:t>
            </a:r>
          </a:p>
        </p:txBody>
      </p:sp>
      <p:sp>
        <p:nvSpPr>
          <p:cNvPr id="48" name="Rounded Rectangle 47"/>
          <p:cNvSpPr/>
          <p:nvPr/>
        </p:nvSpPr>
        <p:spPr>
          <a:xfrm>
            <a:off x="2150059" y="2172839"/>
            <a:ext cx="332597" cy="96560"/>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9" name="TextBox 48"/>
          <p:cNvSpPr txBox="1"/>
          <p:nvPr/>
        </p:nvSpPr>
        <p:spPr>
          <a:xfrm>
            <a:off x="2150059" y="2172839"/>
            <a:ext cx="332597" cy="96560"/>
          </a:xfrm>
          <a:prstGeom prst="rect">
            <a:avLst/>
          </a:prstGeom>
          <a:noFill/>
        </p:spPr>
        <p:txBody>
          <a:bodyPr wrap="square" lIns="0" tIns="0" rIns="0" bIns="0" anchor="ctr">
            <a:spAutoFit/>
          </a:bodyPr>
          <a:lstStyle/>
          <a:p>
            <a:pPr marL="0" indent="0" algn="ctr">
              <a:buNone/>
            </a:pPr>
            <a:r>
              <a:rPr sz="440" b="0" i="0">
                <a:solidFill>
                  <a:srgbClr val="555555"/>
                </a:solidFill>
              </a:rPr>
              <a:t>Compact</a:t>
            </a:r>
          </a:p>
        </p:txBody>
      </p:sp>
      <p:sp>
        <p:nvSpPr>
          <p:cNvPr id="50" name="Rounded Rectangle 49"/>
          <p:cNvSpPr/>
          <p:nvPr/>
        </p:nvSpPr>
        <p:spPr>
          <a:xfrm>
            <a:off x="755294" y="2382054"/>
            <a:ext cx="203850" cy="203850"/>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1" name="TextBox 50"/>
          <p:cNvSpPr txBox="1"/>
          <p:nvPr/>
        </p:nvSpPr>
        <p:spPr>
          <a:xfrm>
            <a:off x="755294" y="2382054"/>
            <a:ext cx="203850" cy="203850"/>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52" name="TextBox 51"/>
          <p:cNvSpPr txBox="1"/>
          <p:nvPr/>
        </p:nvSpPr>
        <p:spPr>
          <a:xfrm>
            <a:off x="1002060" y="2349867"/>
            <a:ext cx="1110447" cy="91196"/>
          </a:xfrm>
          <a:prstGeom prst="rect">
            <a:avLst/>
          </a:prstGeom>
          <a:noFill/>
        </p:spPr>
        <p:txBody>
          <a:bodyPr wrap="square" lIns="0" tIns="0" rIns="0" bIns="0" anchor="ctr">
            <a:spAutoFit/>
          </a:bodyPr>
          <a:lstStyle/>
          <a:p>
            <a:pPr marL="0" indent="0" algn="l">
              <a:buNone/>
            </a:pPr>
            <a:r>
              <a:rPr sz="520" b="1" i="0">
                <a:solidFill>
                  <a:srgbClr val="222222"/>
                </a:solidFill>
              </a:rPr>
              <a:t>Vinamilk fresh milk 1L · pack of 4</a:t>
            </a:r>
          </a:p>
        </p:txBody>
      </p:sp>
      <p:sp>
        <p:nvSpPr>
          <p:cNvPr id="53" name="TextBox 52"/>
          <p:cNvSpPr txBox="1"/>
          <p:nvPr/>
        </p:nvSpPr>
        <p:spPr>
          <a:xfrm>
            <a:off x="1002060" y="2445087"/>
            <a:ext cx="804671" cy="93878"/>
          </a:xfrm>
          <a:prstGeom prst="rect">
            <a:avLst/>
          </a:prstGeom>
          <a:noFill/>
        </p:spPr>
        <p:txBody>
          <a:bodyPr wrap="square" lIns="0" tIns="0" rIns="0" bIns="0" anchor="ctr">
            <a:spAutoFit/>
          </a:bodyPr>
          <a:lstStyle/>
          <a:p>
            <a:pPr marL="0" indent="0" algn="l">
              <a:buNone/>
            </a:pPr>
            <a:r>
              <a:rPr sz="560" b="1" i="0">
                <a:solidFill>
                  <a:srgbClr val="C8102E"/>
                </a:solidFill>
              </a:rPr>
              <a:t>196,000 ₫</a:t>
            </a:r>
            <a:r>
              <a:rPr sz="459" b="0" i="0">
                <a:solidFill>
                  <a:srgbClr val="AAAAAA"/>
                </a:solidFill>
              </a:rPr>
              <a:t>   236,000 ₫</a:t>
            </a:r>
          </a:p>
        </p:txBody>
      </p:sp>
      <p:sp>
        <p:nvSpPr>
          <p:cNvPr id="54" name="Rounded Rectangle 53"/>
          <p:cNvSpPr/>
          <p:nvPr/>
        </p:nvSpPr>
        <p:spPr>
          <a:xfrm>
            <a:off x="1002060" y="2553717"/>
            <a:ext cx="278952" cy="69738"/>
          </a:xfrm>
          <a:prstGeom prst="roundRect">
            <a:avLst>
              <a:gd name="adj" fmla="val 50000"/>
            </a:avLst>
          </a:prstGeom>
          <a:solidFill>
            <a:srgbClr val="EEF1F9"/>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5" name="TextBox 54"/>
          <p:cNvSpPr txBox="1"/>
          <p:nvPr/>
        </p:nvSpPr>
        <p:spPr>
          <a:xfrm>
            <a:off x="1002060" y="2553382"/>
            <a:ext cx="278952" cy="70408"/>
          </a:xfrm>
          <a:prstGeom prst="rect">
            <a:avLst/>
          </a:prstGeom>
          <a:noFill/>
        </p:spPr>
        <p:txBody>
          <a:bodyPr wrap="square" lIns="0" tIns="0" rIns="0" bIns="0" anchor="ctr">
            <a:spAutoFit/>
          </a:bodyPr>
          <a:lstStyle/>
          <a:p>
            <a:pPr marL="0" indent="0" algn="ctr">
              <a:buNone/>
            </a:pPr>
            <a:r>
              <a:rPr sz="420" b="1" i="0">
                <a:solidFill>
                  <a:srgbClr val="3D5298"/>
                </a:solidFill>
              </a:rPr>
              <a:t>BNPL</a:t>
            </a:r>
          </a:p>
        </p:txBody>
      </p:sp>
      <p:sp>
        <p:nvSpPr>
          <p:cNvPr id="56" name="Rounded Rectangle 55"/>
          <p:cNvSpPr/>
          <p:nvPr/>
        </p:nvSpPr>
        <p:spPr>
          <a:xfrm>
            <a:off x="2209068" y="2424970"/>
            <a:ext cx="321868" cy="118018"/>
          </a:xfrm>
          <a:prstGeom prst="roundRect">
            <a:avLst>
              <a:gd name="adj" fmla="val 2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7" name="TextBox 56"/>
          <p:cNvSpPr txBox="1"/>
          <p:nvPr/>
        </p:nvSpPr>
        <p:spPr>
          <a:xfrm>
            <a:off x="2209068" y="2424970"/>
            <a:ext cx="107289" cy="118018"/>
          </a:xfrm>
          <a:prstGeom prst="rect">
            <a:avLst/>
          </a:prstGeom>
          <a:noFill/>
        </p:spPr>
        <p:txBody>
          <a:bodyPr wrap="square" lIns="0" tIns="0" rIns="0" bIns="0" anchor="ctr">
            <a:spAutoFit/>
          </a:bodyPr>
          <a:lstStyle/>
          <a:p>
            <a:pPr marL="0" indent="0" algn="ctr">
              <a:buNone/>
            </a:pPr>
            <a:r>
              <a:rPr sz="560" b="0" i="0">
                <a:solidFill>
                  <a:srgbClr val="555555"/>
                </a:solidFill>
              </a:rPr>
              <a:t>−</a:t>
            </a:r>
          </a:p>
        </p:txBody>
      </p:sp>
      <p:sp>
        <p:nvSpPr>
          <p:cNvPr id="58" name="TextBox 57"/>
          <p:cNvSpPr txBox="1"/>
          <p:nvPr/>
        </p:nvSpPr>
        <p:spPr>
          <a:xfrm>
            <a:off x="2310993" y="2424970"/>
            <a:ext cx="118018" cy="118018"/>
          </a:xfrm>
          <a:prstGeom prst="rect">
            <a:avLst/>
          </a:prstGeom>
          <a:noFill/>
        </p:spPr>
        <p:txBody>
          <a:bodyPr wrap="square" lIns="0" tIns="0" rIns="0" bIns="0" anchor="ctr">
            <a:spAutoFit/>
          </a:bodyPr>
          <a:lstStyle/>
          <a:p>
            <a:pPr marL="0" indent="0" algn="ctr">
              <a:buNone/>
            </a:pPr>
            <a:r>
              <a:rPr sz="560" b="1" i="0">
                <a:solidFill>
                  <a:srgbClr val="222222"/>
                </a:solidFill>
              </a:rPr>
              <a:t>1</a:t>
            </a:r>
          </a:p>
        </p:txBody>
      </p:sp>
      <p:sp>
        <p:nvSpPr>
          <p:cNvPr id="59" name="TextBox 58"/>
          <p:cNvSpPr txBox="1"/>
          <p:nvPr/>
        </p:nvSpPr>
        <p:spPr>
          <a:xfrm>
            <a:off x="2423647" y="2424970"/>
            <a:ext cx="107289" cy="118018"/>
          </a:xfrm>
          <a:prstGeom prst="rect">
            <a:avLst/>
          </a:prstGeom>
          <a:noFill/>
        </p:spPr>
        <p:txBody>
          <a:bodyPr wrap="square" lIns="0" tIns="0" rIns="0" bIns="0" anchor="ctr">
            <a:spAutoFit/>
          </a:bodyPr>
          <a:lstStyle/>
          <a:p>
            <a:pPr marL="0" indent="0" algn="ctr">
              <a:buNone/>
            </a:pPr>
            <a:r>
              <a:rPr sz="560" b="0" i="0">
                <a:solidFill>
                  <a:srgbClr val="C8102E"/>
                </a:solidFill>
              </a:rPr>
              <a:t>+</a:t>
            </a:r>
          </a:p>
        </p:txBody>
      </p:sp>
      <p:sp>
        <p:nvSpPr>
          <p:cNvPr id="60" name="Rectangle 59"/>
          <p:cNvSpPr/>
          <p:nvPr/>
        </p:nvSpPr>
        <p:spPr>
          <a:xfrm>
            <a:off x="658733" y="2655642"/>
            <a:ext cx="1882932"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1" name="Rounded Rectangle 60"/>
          <p:cNvSpPr/>
          <p:nvPr/>
        </p:nvSpPr>
        <p:spPr>
          <a:xfrm>
            <a:off x="755294" y="2714652"/>
            <a:ext cx="203850" cy="203850"/>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2" name="TextBox 61"/>
          <p:cNvSpPr txBox="1"/>
          <p:nvPr/>
        </p:nvSpPr>
        <p:spPr>
          <a:xfrm>
            <a:off x="755294" y="2714652"/>
            <a:ext cx="203850" cy="203850"/>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63" name="TextBox 62"/>
          <p:cNvSpPr txBox="1"/>
          <p:nvPr/>
        </p:nvSpPr>
        <p:spPr>
          <a:xfrm>
            <a:off x="1002060" y="2682465"/>
            <a:ext cx="1110447" cy="91196"/>
          </a:xfrm>
          <a:prstGeom prst="rect">
            <a:avLst/>
          </a:prstGeom>
          <a:noFill/>
        </p:spPr>
        <p:txBody>
          <a:bodyPr wrap="square" lIns="0" tIns="0" rIns="0" bIns="0" anchor="ctr">
            <a:spAutoFit/>
          </a:bodyPr>
          <a:lstStyle/>
          <a:p>
            <a:pPr marL="0" indent="0" algn="l">
              <a:buNone/>
            </a:pPr>
            <a:r>
              <a:rPr sz="520" b="1" i="0">
                <a:solidFill>
                  <a:srgbClr val="222222"/>
                </a:solidFill>
              </a:rPr>
              <a:t>Ba Vì yoghurt · pack of 12</a:t>
            </a:r>
          </a:p>
        </p:txBody>
      </p:sp>
      <p:sp>
        <p:nvSpPr>
          <p:cNvPr id="64" name="TextBox 63"/>
          <p:cNvSpPr txBox="1"/>
          <p:nvPr/>
        </p:nvSpPr>
        <p:spPr>
          <a:xfrm>
            <a:off x="1002060" y="2777684"/>
            <a:ext cx="804671" cy="93878"/>
          </a:xfrm>
          <a:prstGeom prst="rect">
            <a:avLst/>
          </a:prstGeom>
          <a:noFill/>
        </p:spPr>
        <p:txBody>
          <a:bodyPr wrap="square" lIns="0" tIns="0" rIns="0" bIns="0" anchor="ctr">
            <a:spAutoFit/>
          </a:bodyPr>
          <a:lstStyle/>
          <a:p>
            <a:pPr marL="0" indent="0" algn="l">
              <a:buNone/>
            </a:pPr>
            <a:r>
              <a:rPr sz="560" b="1" i="0">
                <a:solidFill>
                  <a:srgbClr val="C8102E"/>
                </a:solidFill>
              </a:rPr>
              <a:t>78,000 ₫</a:t>
            </a:r>
          </a:p>
        </p:txBody>
      </p:sp>
      <p:sp>
        <p:nvSpPr>
          <p:cNvPr id="65" name="Rounded Rectangle 64"/>
          <p:cNvSpPr/>
          <p:nvPr/>
        </p:nvSpPr>
        <p:spPr>
          <a:xfrm>
            <a:off x="2209068" y="2757567"/>
            <a:ext cx="321868" cy="118018"/>
          </a:xfrm>
          <a:prstGeom prst="roundRect">
            <a:avLst>
              <a:gd name="adj" fmla="val 2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6" name="TextBox 65"/>
          <p:cNvSpPr txBox="1"/>
          <p:nvPr/>
        </p:nvSpPr>
        <p:spPr>
          <a:xfrm>
            <a:off x="2209068" y="2757567"/>
            <a:ext cx="107289" cy="118018"/>
          </a:xfrm>
          <a:prstGeom prst="rect">
            <a:avLst/>
          </a:prstGeom>
          <a:noFill/>
        </p:spPr>
        <p:txBody>
          <a:bodyPr wrap="square" lIns="0" tIns="0" rIns="0" bIns="0" anchor="ctr">
            <a:spAutoFit/>
          </a:bodyPr>
          <a:lstStyle/>
          <a:p>
            <a:pPr marL="0" indent="0" algn="ctr">
              <a:buNone/>
            </a:pPr>
            <a:r>
              <a:rPr sz="560" b="0" i="0">
                <a:solidFill>
                  <a:srgbClr val="555555"/>
                </a:solidFill>
              </a:rPr>
              <a:t>−</a:t>
            </a:r>
          </a:p>
        </p:txBody>
      </p:sp>
      <p:sp>
        <p:nvSpPr>
          <p:cNvPr id="67" name="TextBox 66"/>
          <p:cNvSpPr txBox="1"/>
          <p:nvPr/>
        </p:nvSpPr>
        <p:spPr>
          <a:xfrm>
            <a:off x="2310993" y="2757567"/>
            <a:ext cx="118018" cy="118018"/>
          </a:xfrm>
          <a:prstGeom prst="rect">
            <a:avLst/>
          </a:prstGeom>
          <a:noFill/>
        </p:spPr>
        <p:txBody>
          <a:bodyPr wrap="square" lIns="0" tIns="0" rIns="0" bIns="0" anchor="ctr">
            <a:spAutoFit/>
          </a:bodyPr>
          <a:lstStyle/>
          <a:p>
            <a:pPr marL="0" indent="0" algn="ctr">
              <a:buNone/>
            </a:pPr>
            <a:r>
              <a:rPr sz="560" b="1" i="0">
                <a:solidFill>
                  <a:srgbClr val="222222"/>
                </a:solidFill>
              </a:rPr>
              <a:t>2</a:t>
            </a:r>
          </a:p>
        </p:txBody>
      </p:sp>
      <p:sp>
        <p:nvSpPr>
          <p:cNvPr id="68" name="TextBox 67"/>
          <p:cNvSpPr txBox="1"/>
          <p:nvPr/>
        </p:nvSpPr>
        <p:spPr>
          <a:xfrm>
            <a:off x="2423647" y="2757567"/>
            <a:ext cx="107289" cy="118018"/>
          </a:xfrm>
          <a:prstGeom prst="rect">
            <a:avLst/>
          </a:prstGeom>
          <a:noFill/>
        </p:spPr>
        <p:txBody>
          <a:bodyPr wrap="square" lIns="0" tIns="0" rIns="0" bIns="0" anchor="ctr">
            <a:spAutoFit/>
          </a:bodyPr>
          <a:lstStyle/>
          <a:p>
            <a:pPr marL="0" indent="0" algn="ctr">
              <a:buNone/>
            </a:pPr>
            <a:r>
              <a:rPr sz="560" b="0" i="0">
                <a:solidFill>
                  <a:srgbClr val="C8102E"/>
                </a:solidFill>
              </a:rPr>
              <a:t>+</a:t>
            </a:r>
          </a:p>
        </p:txBody>
      </p:sp>
      <p:sp>
        <p:nvSpPr>
          <p:cNvPr id="69" name="Rectangle 68"/>
          <p:cNvSpPr/>
          <p:nvPr/>
        </p:nvSpPr>
        <p:spPr>
          <a:xfrm>
            <a:off x="658733" y="2988240"/>
            <a:ext cx="1882932"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0" name="Rounded Rectangle 69"/>
          <p:cNvSpPr/>
          <p:nvPr/>
        </p:nvSpPr>
        <p:spPr>
          <a:xfrm>
            <a:off x="755294" y="3047249"/>
            <a:ext cx="203850" cy="203850"/>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1" name="TextBox 70"/>
          <p:cNvSpPr txBox="1"/>
          <p:nvPr/>
        </p:nvSpPr>
        <p:spPr>
          <a:xfrm>
            <a:off x="755294" y="3047249"/>
            <a:ext cx="203850" cy="203850"/>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72" name="TextBox 71"/>
          <p:cNvSpPr txBox="1"/>
          <p:nvPr/>
        </p:nvSpPr>
        <p:spPr>
          <a:xfrm>
            <a:off x="1002060" y="3015063"/>
            <a:ext cx="1110447" cy="91196"/>
          </a:xfrm>
          <a:prstGeom prst="rect">
            <a:avLst/>
          </a:prstGeom>
          <a:noFill/>
        </p:spPr>
        <p:txBody>
          <a:bodyPr wrap="square" lIns="0" tIns="0" rIns="0" bIns="0" anchor="ctr">
            <a:spAutoFit/>
          </a:bodyPr>
          <a:lstStyle/>
          <a:p>
            <a:pPr marL="0" indent="0" algn="l">
              <a:buNone/>
            </a:pPr>
            <a:r>
              <a:rPr sz="520" b="1" i="0">
                <a:solidFill>
                  <a:srgbClr val="222222"/>
                </a:solidFill>
              </a:rPr>
              <a:t>Chicken breast 500g</a:t>
            </a:r>
          </a:p>
        </p:txBody>
      </p:sp>
      <p:sp>
        <p:nvSpPr>
          <p:cNvPr id="73" name="TextBox 72"/>
          <p:cNvSpPr txBox="1"/>
          <p:nvPr/>
        </p:nvSpPr>
        <p:spPr>
          <a:xfrm>
            <a:off x="1002060" y="3110282"/>
            <a:ext cx="804671" cy="93878"/>
          </a:xfrm>
          <a:prstGeom prst="rect">
            <a:avLst/>
          </a:prstGeom>
          <a:noFill/>
        </p:spPr>
        <p:txBody>
          <a:bodyPr wrap="square" lIns="0" tIns="0" rIns="0" bIns="0" anchor="ctr">
            <a:spAutoFit/>
          </a:bodyPr>
          <a:lstStyle/>
          <a:p>
            <a:pPr marL="0" indent="0" algn="l">
              <a:buNone/>
            </a:pPr>
            <a:r>
              <a:rPr sz="560" b="1" i="0">
                <a:solidFill>
                  <a:srgbClr val="C8102E"/>
                </a:solidFill>
              </a:rPr>
              <a:t>112,000 ₫</a:t>
            </a:r>
          </a:p>
        </p:txBody>
      </p:sp>
      <p:sp>
        <p:nvSpPr>
          <p:cNvPr id="74" name="Rounded Rectangle 73"/>
          <p:cNvSpPr/>
          <p:nvPr/>
        </p:nvSpPr>
        <p:spPr>
          <a:xfrm>
            <a:off x="2209068" y="3090165"/>
            <a:ext cx="321868" cy="118018"/>
          </a:xfrm>
          <a:prstGeom prst="roundRect">
            <a:avLst>
              <a:gd name="adj" fmla="val 2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5" name="TextBox 74"/>
          <p:cNvSpPr txBox="1"/>
          <p:nvPr/>
        </p:nvSpPr>
        <p:spPr>
          <a:xfrm>
            <a:off x="2209068" y="3090165"/>
            <a:ext cx="107289" cy="118018"/>
          </a:xfrm>
          <a:prstGeom prst="rect">
            <a:avLst/>
          </a:prstGeom>
          <a:noFill/>
        </p:spPr>
        <p:txBody>
          <a:bodyPr wrap="square" lIns="0" tIns="0" rIns="0" bIns="0" anchor="ctr">
            <a:spAutoFit/>
          </a:bodyPr>
          <a:lstStyle/>
          <a:p>
            <a:pPr marL="0" indent="0" algn="ctr">
              <a:buNone/>
            </a:pPr>
            <a:r>
              <a:rPr sz="560" b="0" i="0">
                <a:solidFill>
                  <a:srgbClr val="555555"/>
                </a:solidFill>
              </a:rPr>
              <a:t>−</a:t>
            </a:r>
          </a:p>
        </p:txBody>
      </p:sp>
      <p:sp>
        <p:nvSpPr>
          <p:cNvPr id="76" name="TextBox 75"/>
          <p:cNvSpPr txBox="1"/>
          <p:nvPr/>
        </p:nvSpPr>
        <p:spPr>
          <a:xfrm>
            <a:off x="2310993" y="3090165"/>
            <a:ext cx="118018" cy="118018"/>
          </a:xfrm>
          <a:prstGeom prst="rect">
            <a:avLst/>
          </a:prstGeom>
          <a:noFill/>
        </p:spPr>
        <p:txBody>
          <a:bodyPr wrap="square" lIns="0" tIns="0" rIns="0" bIns="0" anchor="ctr">
            <a:spAutoFit/>
          </a:bodyPr>
          <a:lstStyle/>
          <a:p>
            <a:pPr marL="0" indent="0" algn="ctr">
              <a:buNone/>
            </a:pPr>
            <a:r>
              <a:rPr sz="560" b="1" i="0">
                <a:solidFill>
                  <a:srgbClr val="222222"/>
                </a:solidFill>
              </a:rPr>
              <a:t>1</a:t>
            </a:r>
          </a:p>
        </p:txBody>
      </p:sp>
      <p:sp>
        <p:nvSpPr>
          <p:cNvPr id="77" name="TextBox 76"/>
          <p:cNvSpPr txBox="1"/>
          <p:nvPr/>
        </p:nvSpPr>
        <p:spPr>
          <a:xfrm>
            <a:off x="2423647" y="3090165"/>
            <a:ext cx="107289" cy="118018"/>
          </a:xfrm>
          <a:prstGeom prst="rect">
            <a:avLst/>
          </a:prstGeom>
          <a:noFill/>
        </p:spPr>
        <p:txBody>
          <a:bodyPr wrap="square" lIns="0" tIns="0" rIns="0" bIns="0" anchor="ctr">
            <a:spAutoFit/>
          </a:bodyPr>
          <a:lstStyle/>
          <a:p>
            <a:pPr marL="0" indent="0" algn="ctr">
              <a:buNone/>
            </a:pPr>
            <a:r>
              <a:rPr sz="560" b="0" i="0">
                <a:solidFill>
                  <a:srgbClr val="C8102E"/>
                </a:solidFill>
              </a:rPr>
              <a:t>+</a:t>
            </a:r>
          </a:p>
        </p:txBody>
      </p:sp>
      <p:sp>
        <p:nvSpPr>
          <p:cNvPr id="78" name="Rectangle 77"/>
          <p:cNvSpPr/>
          <p:nvPr/>
        </p:nvSpPr>
        <p:spPr>
          <a:xfrm>
            <a:off x="658733" y="3320838"/>
            <a:ext cx="1882932"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Rounded Rectangle 78"/>
          <p:cNvSpPr/>
          <p:nvPr/>
        </p:nvSpPr>
        <p:spPr>
          <a:xfrm>
            <a:off x="669462" y="3353025"/>
            <a:ext cx="1861474" cy="257495"/>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0" name="TextBox 79"/>
          <p:cNvSpPr txBox="1"/>
          <p:nvPr/>
        </p:nvSpPr>
        <p:spPr>
          <a:xfrm>
            <a:off x="744565" y="3372136"/>
            <a:ext cx="1287475" cy="90525"/>
          </a:xfrm>
          <a:prstGeom prst="rect">
            <a:avLst/>
          </a:prstGeom>
          <a:noFill/>
        </p:spPr>
        <p:txBody>
          <a:bodyPr wrap="square" lIns="0" tIns="0" rIns="0" bIns="0" anchor="ctr">
            <a:spAutoFit/>
          </a:bodyPr>
          <a:lstStyle/>
          <a:p>
            <a:pPr marL="0" indent="0" algn="l">
              <a:buNone/>
            </a:pPr>
            <a:r>
              <a:rPr sz="540" b="1" i="0">
                <a:solidFill>
                  <a:srgbClr val="3A3A3A"/>
                </a:solidFill>
              </a:rPr>
              <a:t>Order note</a:t>
            </a:r>
          </a:p>
        </p:txBody>
      </p:sp>
      <p:sp>
        <p:nvSpPr>
          <p:cNvPr id="81" name="Rounded Rectangle 80"/>
          <p:cNvSpPr/>
          <p:nvPr/>
        </p:nvSpPr>
        <p:spPr>
          <a:xfrm>
            <a:off x="744565" y="3460314"/>
            <a:ext cx="1711269" cy="118018"/>
          </a:xfrm>
          <a:prstGeom prst="roundRect">
            <a:avLst>
              <a:gd name="adj" fmla="val 20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2" name="TextBox 81"/>
          <p:cNvSpPr txBox="1"/>
          <p:nvPr/>
        </p:nvSpPr>
        <p:spPr>
          <a:xfrm>
            <a:off x="798210" y="3460314"/>
            <a:ext cx="1609343" cy="118018"/>
          </a:xfrm>
          <a:prstGeom prst="rect">
            <a:avLst/>
          </a:prstGeom>
          <a:noFill/>
        </p:spPr>
        <p:txBody>
          <a:bodyPr wrap="square" lIns="0" tIns="0" rIns="0" bIns="0" anchor="ctr">
            <a:spAutoFit/>
          </a:bodyPr>
          <a:lstStyle/>
          <a:p>
            <a:pPr marL="0" indent="0" algn="l">
              <a:buNone/>
            </a:pPr>
            <a:r>
              <a:rPr sz="500" b="0" i="0">
                <a:solidFill>
                  <a:srgbClr val="222222"/>
                </a:solidFill>
              </a:rPr>
              <a:t>Call me before you arrive</a:t>
            </a:r>
          </a:p>
        </p:txBody>
      </p:sp>
      <p:sp>
        <p:nvSpPr>
          <p:cNvPr id="83" name="Rounded Rectangle 82"/>
          <p:cNvSpPr/>
          <p:nvPr/>
        </p:nvSpPr>
        <p:spPr>
          <a:xfrm>
            <a:off x="669462" y="3653436"/>
            <a:ext cx="1861474" cy="236037"/>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4" name="TextBox 83"/>
          <p:cNvSpPr txBox="1"/>
          <p:nvPr/>
        </p:nvSpPr>
        <p:spPr>
          <a:xfrm>
            <a:off x="744565" y="3667183"/>
            <a:ext cx="1287475" cy="90525"/>
          </a:xfrm>
          <a:prstGeom prst="rect">
            <a:avLst/>
          </a:prstGeom>
          <a:noFill/>
        </p:spPr>
        <p:txBody>
          <a:bodyPr wrap="square" lIns="0" tIns="0" rIns="0" bIns="0" anchor="ctr">
            <a:spAutoFit/>
          </a:bodyPr>
          <a:lstStyle/>
          <a:p>
            <a:pPr marL="0" indent="0" algn="l">
              <a:buNone/>
            </a:pPr>
            <a:r>
              <a:rPr sz="540" b="1" i="0">
                <a:solidFill>
                  <a:srgbClr val="3A3A3A"/>
                </a:solidFill>
              </a:rPr>
              <a:t>Pack in a carton box</a:t>
            </a:r>
          </a:p>
        </p:txBody>
      </p:sp>
      <p:sp>
        <p:nvSpPr>
          <p:cNvPr id="85" name="TextBox 84"/>
          <p:cNvSpPr txBox="1"/>
          <p:nvPr/>
        </p:nvSpPr>
        <p:spPr>
          <a:xfrm>
            <a:off x="744565" y="3752678"/>
            <a:ext cx="1287475" cy="80467"/>
          </a:xfrm>
          <a:prstGeom prst="rect">
            <a:avLst/>
          </a:prstGeom>
          <a:noFill/>
        </p:spPr>
        <p:txBody>
          <a:bodyPr wrap="square" lIns="0" tIns="0" rIns="0" bIns="0" anchor="ctr">
            <a:spAutoFit/>
          </a:bodyPr>
          <a:lstStyle/>
          <a:p>
            <a:pPr marL="0" indent="0" algn="l">
              <a:buNone/>
            </a:pPr>
            <a:r>
              <a:rPr sz="480" b="0" i="0">
                <a:solidFill>
                  <a:srgbClr val="888888"/>
                </a:solidFill>
              </a:rPr>
              <a:t>Packing fee TBC — OQ-16</a:t>
            </a:r>
          </a:p>
        </p:txBody>
      </p:sp>
      <p:sp>
        <p:nvSpPr>
          <p:cNvPr id="86" name="Rounded Rectangle 85"/>
          <p:cNvSpPr/>
          <p:nvPr/>
        </p:nvSpPr>
        <p:spPr>
          <a:xfrm>
            <a:off x="2257348" y="3717809"/>
            <a:ext cx="193121" cy="107289"/>
          </a:xfrm>
          <a:prstGeom prst="roundRect">
            <a:avLst>
              <a:gd name="adj" fmla="val 5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7" name="Rounded Rectangle 86"/>
          <p:cNvSpPr/>
          <p:nvPr/>
        </p:nvSpPr>
        <p:spPr>
          <a:xfrm>
            <a:off x="2353909" y="3728538"/>
            <a:ext cx="85831" cy="85831"/>
          </a:xfrm>
          <a:prstGeom prst="roundRect">
            <a:avLst>
              <a:gd name="adj" fmla="val 50000"/>
            </a:avLst>
          </a:prstGeom>
          <a:solidFill>
            <a:srgbClr val="FFFFFF"/>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8" name="Rectangle 87"/>
          <p:cNvSpPr/>
          <p:nvPr/>
        </p:nvSpPr>
        <p:spPr>
          <a:xfrm>
            <a:off x="594360" y="4538575"/>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9" name="Rectangle 88"/>
          <p:cNvSpPr/>
          <p:nvPr/>
        </p:nvSpPr>
        <p:spPr>
          <a:xfrm>
            <a:off x="594360" y="4538575"/>
            <a:ext cx="2011679" cy="3111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0" name="TextBox 89"/>
          <p:cNvSpPr txBox="1"/>
          <p:nvPr/>
        </p:nvSpPr>
        <p:spPr>
          <a:xfrm>
            <a:off x="669462" y="4570092"/>
            <a:ext cx="858316" cy="87172"/>
          </a:xfrm>
          <a:prstGeom prst="rect">
            <a:avLst/>
          </a:prstGeom>
          <a:noFill/>
        </p:spPr>
        <p:txBody>
          <a:bodyPr wrap="square" lIns="0" tIns="0" rIns="0" bIns="0" anchor="ctr">
            <a:spAutoFit/>
          </a:bodyPr>
          <a:lstStyle/>
          <a:p>
            <a:pPr marL="0" indent="0" algn="l">
              <a:buNone/>
            </a:pPr>
            <a:r>
              <a:rPr sz="520" b="0" i="0">
                <a:solidFill>
                  <a:srgbClr val="888888"/>
                </a:solidFill>
              </a:rPr>
              <a:t>Amount payable</a:t>
            </a:r>
          </a:p>
        </p:txBody>
      </p:sp>
      <p:sp>
        <p:nvSpPr>
          <p:cNvPr id="91" name="TextBox 90"/>
          <p:cNvSpPr txBox="1"/>
          <p:nvPr/>
        </p:nvSpPr>
        <p:spPr>
          <a:xfrm>
            <a:off x="669462" y="4621724"/>
            <a:ext cx="858316" cy="134112"/>
          </a:xfrm>
          <a:prstGeom prst="rect">
            <a:avLst/>
          </a:prstGeom>
          <a:noFill/>
        </p:spPr>
        <p:txBody>
          <a:bodyPr wrap="square" lIns="0" tIns="0" rIns="0" bIns="0" anchor="ctr">
            <a:spAutoFit/>
          </a:bodyPr>
          <a:lstStyle/>
          <a:p>
            <a:pPr marL="0" indent="0" algn="l">
              <a:buNone/>
            </a:pPr>
            <a:r>
              <a:rPr sz="800" b="1" i="0">
                <a:solidFill>
                  <a:srgbClr val="C8102E"/>
                </a:solidFill>
              </a:rPr>
              <a:t>446,000 ₫</a:t>
            </a:r>
          </a:p>
        </p:txBody>
      </p:sp>
      <p:sp>
        <p:nvSpPr>
          <p:cNvPr id="92" name="Rounded Rectangle 91"/>
          <p:cNvSpPr/>
          <p:nvPr/>
        </p:nvSpPr>
        <p:spPr>
          <a:xfrm>
            <a:off x="1801368" y="4602949"/>
            <a:ext cx="729569" cy="160934"/>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3" name="TextBox 92"/>
          <p:cNvSpPr txBox="1"/>
          <p:nvPr/>
        </p:nvSpPr>
        <p:spPr>
          <a:xfrm>
            <a:off x="1801368" y="4602949"/>
            <a:ext cx="729569" cy="160934"/>
          </a:xfrm>
          <a:prstGeom prst="rect">
            <a:avLst/>
          </a:prstGeom>
          <a:noFill/>
        </p:spPr>
        <p:txBody>
          <a:bodyPr wrap="square" lIns="0" tIns="0" rIns="0" bIns="0" anchor="ctr">
            <a:spAutoFit/>
          </a:bodyPr>
          <a:lstStyle/>
          <a:p>
            <a:pPr marL="0" indent="0" algn="ctr">
              <a:buNone/>
            </a:pPr>
            <a:r>
              <a:rPr sz="650" b="1" i="0">
                <a:solidFill>
                  <a:srgbClr val="FFFFFF"/>
                </a:solidFill>
              </a:rPr>
              <a:t>Continue to payment</a:t>
            </a:r>
          </a:p>
        </p:txBody>
      </p:sp>
      <p:sp>
        <p:nvSpPr>
          <p:cNvPr id="94" name="Oval 93"/>
          <p:cNvSpPr/>
          <p:nvPr/>
        </p:nvSpPr>
        <p:spPr>
          <a:xfrm>
            <a:off x="379781" y="1287700"/>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5" name="TextBox 94"/>
          <p:cNvSpPr txBox="1"/>
          <p:nvPr/>
        </p:nvSpPr>
        <p:spPr>
          <a:xfrm>
            <a:off x="379781" y="1287700"/>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96" name="Oval 95"/>
          <p:cNvSpPr/>
          <p:nvPr/>
        </p:nvSpPr>
        <p:spPr>
          <a:xfrm>
            <a:off x="379781" y="1448634"/>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7" name="TextBox 96"/>
          <p:cNvSpPr txBox="1"/>
          <p:nvPr/>
        </p:nvSpPr>
        <p:spPr>
          <a:xfrm>
            <a:off x="379781" y="1448634"/>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98" name="Oval 97"/>
          <p:cNvSpPr/>
          <p:nvPr/>
        </p:nvSpPr>
        <p:spPr>
          <a:xfrm>
            <a:off x="379781" y="1952896"/>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9" name="TextBox 98"/>
          <p:cNvSpPr txBox="1"/>
          <p:nvPr/>
        </p:nvSpPr>
        <p:spPr>
          <a:xfrm>
            <a:off x="379781" y="1952896"/>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100" name="Oval 99"/>
          <p:cNvSpPr/>
          <p:nvPr/>
        </p:nvSpPr>
        <p:spPr>
          <a:xfrm>
            <a:off x="379781" y="2317680"/>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1" name="TextBox 100"/>
          <p:cNvSpPr txBox="1"/>
          <p:nvPr/>
        </p:nvSpPr>
        <p:spPr>
          <a:xfrm>
            <a:off x="379781" y="2317680"/>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102" name="Oval 101"/>
          <p:cNvSpPr/>
          <p:nvPr/>
        </p:nvSpPr>
        <p:spPr>
          <a:xfrm>
            <a:off x="379781" y="3937753"/>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3" name="TextBox 102"/>
          <p:cNvSpPr txBox="1"/>
          <p:nvPr/>
        </p:nvSpPr>
        <p:spPr>
          <a:xfrm>
            <a:off x="379781" y="3937753"/>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sp>
        <p:nvSpPr>
          <p:cNvPr id="104" name="Oval 103"/>
          <p:cNvSpPr/>
          <p:nvPr/>
        </p:nvSpPr>
        <p:spPr>
          <a:xfrm>
            <a:off x="379781" y="4281080"/>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5" name="TextBox 104"/>
          <p:cNvSpPr txBox="1"/>
          <p:nvPr/>
        </p:nvSpPr>
        <p:spPr>
          <a:xfrm>
            <a:off x="379781" y="4281080"/>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8</a:t>
            </a:r>
          </a:p>
        </p:txBody>
      </p:sp>
      <p:sp>
        <p:nvSpPr>
          <p:cNvPr id="106" name="Rounded Rectangle 105"/>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7" name="Rectangle 106"/>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8" name="TextBox 107"/>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Step 2  ·  Attempting to edit sends the customer back</a:t>
            </a:r>
          </a:p>
        </p:txBody>
      </p:sp>
      <p:sp>
        <p:nvSpPr>
          <p:cNvPr id="109" name="TextBox 108"/>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110" name="TextBox 109"/>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111" name="Rectangle 110"/>
          <p:cNvSpPr/>
          <p:nvPr/>
        </p:nvSpPr>
        <p:spPr>
          <a:xfrm>
            <a:off x="338328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2" name="TextBox 111"/>
          <p:cNvSpPr txBox="1"/>
          <p:nvPr/>
        </p:nvSpPr>
        <p:spPr>
          <a:xfrm>
            <a:off x="344765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113" name="TextBox 112"/>
          <p:cNvSpPr txBox="1"/>
          <p:nvPr/>
        </p:nvSpPr>
        <p:spPr>
          <a:xfrm>
            <a:off x="356567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Checkout</a:t>
            </a:r>
          </a:p>
        </p:txBody>
      </p:sp>
      <p:sp>
        <p:nvSpPr>
          <p:cNvPr id="114" name="Rectangle 113"/>
          <p:cNvSpPr/>
          <p:nvPr/>
        </p:nvSpPr>
        <p:spPr>
          <a:xfrm>
            <a:off x="338328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5" name="Rectangle 114"/>
          <p:cNvSpPr/>
          <p:nvPr/>
        </p:nvSpPr>
        <p:spPr>
          <a:xfrm>
            <a:off x="3383280" y="1217962"/>
            <a:ext cx="2011679" cy="128747"/>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6" name="TextBox 115"/>
          <p:cNvSpPr txBox="1"/>
          <p:nvPr/>
        </p:nvSpPr>
        <p:spPr>
          <a:xfrm>
            <a:off x="3458382" y="1217962"/>
            <a:ext cx="1861474" cy="128747"/>
          </a:xfrm>
          <a:prstGeom prst="rect">
            <a:avLst/>
          </a:prstGeom>
          <a:noFill/>
        </p:spPr>
        <p:txBody>
          <a:bodyPr wrap="square" lIns="0" tIns="0" rIns="0" bIns="0" anchor="ctr">
            <a:spAutoFit/>
          </a:bodyPr>
          <a:lstStyle/>
          <a:p>
            <a:pPr marL="0" indent="0" algn="l">
              <a:buNone/>
            </a:pPr>
            <a:r>
              <a:rPr sz="500" b="0" i="0">
                <a:solidFill>
                  <a:srgbClr val="555555"/>
                </a:solidFill>
              </a:rPr>
              <a:t>▤  Order details are locked — edit in the Cart</a:t>
            </a:r>
          </a:p>
        </p:txBody>
      </p:sp>
      <p:sp>
        <p:nvSpPr>
          <p:cNvPr id="117" name="Rounded Rectangle 116"/>
          <p:cNvSpPr/>
          <p:nvPr/>
        </p:nvSpPr>
        <p:spPr>
          <a:xfrm>
            <a:off x="3458382" y="1368167"/>
            <a:ext cx="1861474" cy="386242"/>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8" name="TextBox 117"/>
          <p:cNvSpPr txBox="1"/>
          <p:nvPr/>
        </p:nvSpPr>
        <p:spPr>
          <a:xfrm>
            <a:off x="3533485" y="1390966"/>
            <a:ext cx="1180185" cy="93878"/>
          </a:xfrm>
          <a:prstGeom prst="rect">
            <a:avLst/>
          </a:prstGeom>
          <a:noFill/>
        </p:spPr>
        <p:txBody>
          <a:bodyPr wrap="square" lIns="0" tIns="0" rIns="0" bIns="0" anchor="ctr">
            <a:spAutoFit/>
          </a:bodyPr>
          <a:lstStyle/>
          <a:p>
            <a:pPr marL="0" indent="0" algn="l">
              <a:buNone/>
            </a:pPr>
            <a:r>
              <a:rPr sz="560" b="1" i="0">
                <a:solidFill>
                  <a:srgbClr val="3A3A3A"/>
                </a:solidFill>
              </a:rPr>
              <a:t>Delivery to</a:t>
            </a:r>
          </a:p>
        </p:txBody>
      </p:sp>
      <p:sp>
        <p:nvSpPr>
          <p:cNvPr id="119" name="TextBox 118"/>
          <p:cNvSpPr txBox="1"/>
          <p:nvPr/>
        </p:nvSpPr>
        <p:spPr>
          <a:xfrm>
            <a:off x="4724400" y="1399348"/>
            <a:ext cx="246766" cy="77114"/>
          </a:xfrm>
          <a:prstGeom prst="rect">
            <a:avLst/>
          </a:prstGeom>
          <a:noFill/>
        </p:spPr>
        <p:txBody>
          <a:bodyPr wrap="square" lIns="0" tIns="0" rIns="0" bIns="0" anchor="ctr">
            <a:spAutoFit/>
          </a:bodyPr>
          <a:lstStyle/>
          <a:p>
            <a:pPr marL="0" indent="0" algn="r">
              <a:buNone/>
            </a:pPr>
            <a:r>
              <a:rPr sz="459" b="0" i="0">
                <a:solidFill>
                  <a:srgbClr val="AAAAAA"/>
                </a:solidFill>
              </a:rPr>
              <a:t>Locked</a:t>
            </a:r>
          </a:p>
        </p:txBody>
      </p:sp>
      <p:sp>
        <p:nvSpPr>
          <p:cNvPr id="120" name="TextBox 119"/>
          <p:cNvSpPr txBox="1"/>
          <p:nvPr/>
        </p:nvSpPr>
        <p:spPr>
          <a:xfrm>
            <a:off x="3533485" y="1491718"/>
            <a:ext cx="1711269" cy="85496"/>
          </a:xfrm>
          <a:prstGeom prst="rect">
            <a:avLst/>
          </a:prstGeom>
          <a:noFill/>
        </p:spPr>
        <p:txBody>
          <a:bodyPr wrap="square" lIns="0" tIns="0" rIns="0" bIns="0" anchor="ctr">
            <a:spAutoFit/>
          </a:bodyPr>
          <a:lstStyle/>
          <a:p>
            <a:pPr marL="0" indent="0" algn="l">
              <a:buNone/>
            </a:pPr>
            <a:r>
              <a:rPr sz="509" b="0" i="0">
                <a:solidFill>
                  <a:srgbClr val="555555"/>
                </a:solidFill>
              </a:rPr>
              <a:t>Ngọc  ·  090 123 4567</a:t>
            </a:r>
          </a:p>
        </p:txBody>
      </p:sp>
      <p:sp>
        <p:nvSpPr>
          <p:cNvPr id="121" name="TextBox 120"/>
          <p:cNvSpPr txBox="1"/>
          <p:nvPr/>
        </p:nvSpPr>
        <p:spPr>
          <a:xfrm>
            <a:off x="3533485" y="1566820"/>
            <a:ext cx="1711269" cy="85496"/>
          </a:xfrm>
          <a:prstGeom prst="rect">
            <a:avLst/>
          </a:prstGeom>
          <a:noFill/>
        </p:spPr>
        <p:txBody>
          <a:bodyPr wrap="square" lIns="0" tIns="0" rIns="0" bIns="0" anchor="ctr">
            <a:spAutoFit/>
          </a:bodyPr>
          <a:lstStyle/>
          <a:p>
            <a:pPr marL="0" indent="0" algn="l">
              <a:buNone/>
            </a:pPr>
            <a:r>
              <a:rPr sz="509" b="0" i="0">
                <a:solidFill>
                  <a:srgbClr val="555555"/>
                </a:solidFill>
              </a:rPr>
              <a:t>123 Nguyễn Thị Thập, Tân Phú, Q.7</a:t>
            </a:r>
          </a:p>
        </p:txBody>
      </p:sp>
      <p:sp>
        <p:nvSpPr>
          <p:cNvPr id="122" name="TextBox 121"/>
          <p:cNvSpPr txBox="1"/>
          <p:nvPr/>
        </p:nvSpPr>
        <p:spPr>
          <a:xfrm>
            <a:off x="3533485" y="1641923"/>
            <a:ext cx="1711269" cy="85496"/>
          </a:xfrm>
          <a:prstGeom prst="rect">
            <a:avLst/>
          </a:prstGeom>
          <a:noFill/>
        </p:spPr>
        <p:txBody>
          <a:bodyPr wrap="square" lIns="0" tIns="0" rIns="0" bIns="0" anchor="ctr">
            <a:spAutoFit/>
          </a:bodyPr>
          <a:lstStyle/>
          <a:p>
            <a:pPr marL="0" indent="0" algn="l">
              <a:buNone/>
            </a:pPr>
            <a:r>
              <a:rPr sz="509" b="0" i="0">
                <a:solidFill>
                  <a:srgbClr val="555555"/>
                </a:solidFill>
              </a:rPr>
              <a:t>Serving store: LOTTE Mart Nam Sài Gòn</a:t>
            </a:r>
          </a:p>
        </p:txBody>
      </p:sp>
      <p:sp>
        <p:nvSpPr>
          <p:cNvPr id="123" name="Rounded Rectangle 122"/>
          <p:cNvSpPr/>
          <p:nvPr/>
        </p:nvSpPr>
        <p:spPr>
          <a:xfrm>
            <a:off x="3458382" y="1797326"/>
            <a:ext cx="1861474" cy="311139"/>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4" name="TextBox 123"/>
          <p:cNvSpPr txBox="1"/>
          <p:nvPr/>
        </p:nvSpPr>
        <p:spPr>
          <a:xfrm>
            <a:off x="3533485" y="1820124"/>
            <a:ext cx="1180185" cy="93878"/>
          </a:xfrm>
          <a:prstGeom prst="rect">
            <a:avLst/>
          </a:prstGeom>
          <a:noFill/>
        </p:spPr>
        <p:txBody>
          <a:bodyPr wrap="square" lIns="0" tIns="0" rIns="0" bIns="0" anchor="ctr">
            <a:spAutoFit/>
          </a:bodyPr>
          <a:lstStyle/>
          <a:p>
            <a:pPr marL="0" indent="0" algn="l">
              <a:buNone/>
            </a:pPr>
            <a:r>
              <a:rPr sz="560" b="1" i="0">
                <a:solidFill>
                  <a:srgbClr val="3A3A3A"/>
                </a:solidFill>
              </a:rPr>
              <a:t>Delivery service</a:t>
            </a:r>
          </a:p>
        </p:txBody>
      </p:sp>
      <p:sp>
        <p:nvSpPr>
          <p:cNvPr id="125" name="TextBox 124"/>
          <p:cNvSpPr txBox="1"/>
          <p:nvPr/>
        </p:nvSpPr>
        <p:spPr>
          <a:xfrm>
            <a:off x="4724400" y="1828506"/>
            <a:ext cx="246766" cy="77114"/>
          </a:xfrm>
          <a:prstGeom prst="rect">
            <a:avLst/>
          </a:prstGeom>
          <a:noFill/>
        </p:spPr>
        <p:txBody>
          <a:bodyPr wrap="square" lIns="0" tIns="0" rIns="0" bIns="0" anchor="ctr">
            <a:spAutoFit/>
          </a:bodyPr>
          <a:lstStyle/>
          <a:p>
            <a:pPr marL="0" indent="0" algn="r">
              <a:buNone/>
            </a:pPr>
            <a:r>
              <a:rPr sz="459" b="0" i="0">
                <a:solidFill>
                  <a:srgbClr val="AAAAAA"/>
                </a:solidFill>
              </a:rPr>
              <a:t>Locked</a:t>
            </a:r>
          </a:p>
        </p:txBody>
      </p:sp>
      <p:sp>
        <p:nvSpPr>
          <p:cNvPr id="126" name="TextBox 125"/>
          <p:cNvSpPr txBox="1"/>
          <p:nvPr/>
        </p:nvSpPr>
        <p:spPr>
          <a:xfrm>
            <a:off x="3533485" y="1920876"/>
            <a:ext cx="1711269" cy="85496"/>
          </a:xfrm>
          <a:prstGeom prst="rect">
            <a:avLst/>
          </a:prstGeom>
          <a:noFill/>
        </p:spPr>
        <p:txBody>
          <a:bodyPr wrap="square" lIns="0" tIns="0" rIns="0" bIns="0" anchor="ctr">
            <a:spAutoFit/>
          </a:bodyPr>
          <a:lstStyle/>
          <a:p>
            <a:pPr marL="0" indent="0" algn="l">
              <a:buNone/>
            </a:pPr>
            <a:r>
              <a:rPr sz="509" b="0" i="0">
                <a:solidFill>
                  <a:srgbClr val="555555"/>
                </a:solidFill>
              </a:rPr>
              <a:t>Standard delivery  ·  Free</a:t>
            </a:r>
          </a:p>
        </p:txBody>
      </p:sp>
      <p:sp>
        <p:nvSpPr>
          <p:cNvPr id="127" name="TextBox 126"/>
          <p:cNvSpPr txBox="1"/>
          <p:nvPr/>
        </p:nvSpPr>
        <p:spPr>
          <a:xfrm>
            <a:off x="3533485" y="1995979"/>
            <a:ext cx="1711269" cy="85496"/>
          </a:xfrm>
          <a:prstGeom prst="rect">
            <a:avLst/>
          </a:prstGeom>
          <a:noFill/>
        </p:spPr>
        <p:txBody>
          <a:bodyPr wrap="square" lIns="0" tIns="0" rIns="0" bIns="0" anchor="ctr">
            <a:spAutoFit/>
          </a:bodyPr>
          <a:lstStyle/>
          <a:p>
            <a:pPr marL="0" indent="0" algn="l">
              <a:buNone/>
            </a:pPr>
            <a:r>
              <a:rPr sz="509" b="0" i="0">
                <a:solidFill>
                  <a:srgbClr val="555555"/>
                </a:solidFill>
              </a:rPr>
              <a:t>Today, 15:00 – 18:00</a:t>
            </a:r>
          </a:p>
        </p:txBody>
      </p:sp>
      <p:sp>
        <p:nvSpPr>
          <p:cNvPr id="128" name="Rounded Rectangle 127"/>
          <p:cNvSpPr/>
          <p:nvPr/>
        </p:nvSpPr>
        <p:spPr>
          <a:xfrm>
            <a:off x="3458382" y="2151381"/>
            <a:ext cx="1861474" cy="139476"/>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9" name="TextBox 128"/>
          <p:cNvSpPr txBox="1"/>
          <p:nvPr/>
        </p:nvSpPr>
        <p:spPr>
          <a:xfrm>
            <a:off x="3533485" y="2151381"/>
            <a:ext cx="965606" cy="139476"/>
          </a:xfrm>
          <a:prstGeom prst="rect">
            <a:avLst/>
          </a:prstGeom>
          <a:noFill/>
        </p:spPr>
        <p:txBody>
          <a:bodyPr wrap="square" lIns="0" tIns="0" rIns="0" bIns="0" anchor="ctr">
            <a:spAutoFit/>
          </a:bodyPr>
          <a:lstStyle/>
          <a:p>
            <a:pPr marL="0" indent="0" algn="l">
              <a:buNone/>
            </a:pPr>
            <a:r>
              <a:rPr sz="560" b="1" i="0">
                <a:solidFill>
                  <a:srgbClr val="3A3A3A"/>
                </a:solidFill>
              </a:rPr>
              <a:t>Products  ·  6 items</a:t>
            </a:r>
          </a:p>
        </p:txBody>
      </p:sp>
      <p:sp>
        <p:nvSpPr>
          <p:cNvPr id="130" name="Rounded Rectangle 129"/>
          <p:cNvSpPr/>
          <p:nvPr/>
        </p:nvSpPr>
        <p:spPr>
          <a:xfrm>
            <a:off x="4595652" y="2172839"/>
            <a:ext cx="321868" cy="96560"/>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1" name="TextBox 130"/>
          <p:cNvSpPr txBox="1"/>
          <p:nvPr/>
        </p:nvSpPr>
        <p:spPr>
          <a:xfrm>
            <a:off x="4595652" y="2172839"/>
            <a:ext cx="321868" cy="96560"/>
          </a:xfrm>
          <a:prstGeom prst="rect">
            <a:avLst/>
          </a:prstGeom>
          <a:noFill/>
        </p:spPr>
        <p:txBody>
          <a:bodyPr wrap="square" lIns="0" tIns="0" rIns="0" bIns="0" anchor="ctr">
            <a:spAutoFit/>
          </a:bodyPr>
          <a:lstStyle/>
          <a:p>
            <a:pPr marL="0" indent="0" algn="ctr">
              <a:buNone/>
            </a:pPr>
            <a:r>
              <a:rPr sz="440" b="0" i="0">
                <a:solidFill>
                  <a:srgbClr val="555555"/>
                </a:solidFill>
              </a:rPr>
              <a:t>Detail</a:t>
            </a:r>
          </a:p>
        </p:txBody>
      </p:sp>
      <p:sp>
        <p:nvSpPr>
          <p:cNvPr id="132" name="Rounded Rectangle 131"/>
          <p:cNvSpPr/>
          <p:nvPr/>
        </p:nvSpPr>
        <p:spPr>
          <a:xfrm>
            <a:off x="4938979" y="2172839"/>
            <a:ext cx="332597" cy="96560"/>
          </a:xfrm>
          <a:prstGeom prst="roundRect">
            <a:avLst>
              <a:gd name="adj" fmla="val 50000"/>
            </a:avLst>
          </a:prstGeom>
          <a:solidFill>
            <a:srgbClr val="EEF1F9"/>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3" name="TextBox 132"/>
          <p:cNvSpPr txBox="1"/>
          <p:nvPr/>
        </p:nvSpPr>
        <p:spPr>
          <a:xfrm>
            <a:off x="4938979" y="2172839"/>
            <a:ext cx="332597" cy="96560"/>
          </a:xfrm>
          <a:prstGeom prst="rect">
            <a:avLst/>
          </a:prstGeom>
          <a:noFill/>
        </p:spPr>
        <p:txBody>
          <a:bodyPr wrap="square" lIns="0" tIns="0" rIns="0" bIns="0" anchor="ctr">
            <a:spAutoFit/>
          </a:bodyPr>
          <a:lstStyle/>
          <a:p>
            <a:pPr marL="0" indent="0" algn="ctr">
              <a:buNone/>
            </a:pPr>
            <a:r>
              <a:rPr sz="440" b="1" i="0">
                <a:solidFill>
                  <a:srgbClr val="3D5298"/>
                </a:solidFill>
              </a:rPr>
              <a:t>Compact</a:t>
            </a:r>
          </a:p>
        </p:txBody>
      </p:sp>
      <p:sp>
        <p:nvSpPr>
          <p:cNvPr id="134" name="TextBox 133"/>
          <p:cNvSpPr txBox="1"/>
          <p:nvPr/>
        </p:nvSpPr>
        <p:spPr>
          <a:xfrm>
            <a:off x="3533485" y="2333774"/>
            <a:ext cx="1072896" cy="85831"/>
          </a:xfrm>
          <a:prstGeom prst="rect">
            <a:avLst/>
          </a:prstGeom>
          <a:noFill/>
        </p:spPr>
        <p:txBody>
          <a:bodyPr wrap="square" lIns="0" tIns="0" rIns="0" bIns="0" anchor="ctr">
            <a:spAutoFit/>
          </a:bodyPr>
          <a:lstStyle/>
          <a:p>
            <a:pPr marL="0" indent="0" algn="l">
              <a:buNone/>
            </a:pPr>
            <a:r>
              <a:rPr sz="500" b="0" i="0">
                <a:solidFill>
                  <a:srgbClr val="222222"/>
                </a:solidFill>
              </a:rPr>
              <a:t>Vinamilk fresh milk 1L · pack of 4</a:t>
            </a:r>
          </a:p>
        </p:txBody>
      </p:sp>
      <p:sp>
        <p:nvSpPr>
          <p:cNvPr id="135" name="TextBox 134"/>
          <p:cNvSpPr txBox="1"/>
          <p:nvPr/>
        </p:nvSpPr>
        <p:spPr>
          <a:xfrm>
            <a:off x="4627839" y="2333774"/>
            <a:ext cx="214579" cy="85831"/>
          </a:xfrm>
          <a:prstGeom prst="rect">
            <a:avLst/>
          </a:prstGeom>
          <a:noFill/>
        </p:spPr>
        <p:txBody>
          <a:bodyPr wrap="square" lIns="0" tIns="0" rIns="0" bIns="0" anchor="ctr">
            <a:spAutoFit/>
          </a:bodyPr>
          <a:lstStyle/>
          <a:p>
            <a:pPr marL="0" indent="0" algn="ctr">
              <a:buNone/>
            </a:pPr>
            <a:r>
              <a:rPr sz="500" b="0" i="0">
                <a:solidFill>
                  <a:srgbClr val="888888"/>
                </a:solidFill>
              </a:rPr>
              <a:t>×1</a:t>
            </a:r>
          </a:p>
        </p:txBody>
      </p:sp>
      <p:sp>
        <p:nvSpPr>
          <p:cNvPr id="136" name="TextBox 135"/>
          <p:cNvSpPr txBox="1"/>
          <p:nvPr/>
        </p:nvSpPr>
        <p:spPr>
          <a:xfrm>
            <a:off x="4863876" y="2333774"/>
            <a:ext cx="380878" cy="85831"/>
          </a:xfrm>
          <a:prstGeom prst="rect">
            <a:avLst/>
          </a:prstGeom>
          <a:noFill/>
        </p:spPr>
        <p:txBody>
          <a:bodyPr wrap="square" lIns="0" tIns="0" rIns="0" bIns="0" anchor="ctr">
            <a:spAutoFit/>
          </a:bodyPr>
          <a:lstStyle/>
          <a:p>
            <a:pPr marL="0" indent="0" algn="r">
              <a:buNone/>
            </a:pPr>
            <a:r>
              <a:rPr sz="500" b="1" i="0">
                <a:solidFill>
                  <a:srgbClr val="222222"/>
                </a:solidFill>
              </a:rPr>
              <a:t>196,000 ₫</a:t>
            </a:r>
          </a:p>
        </p:txBody>
      </p:sp>
      <p:sp>
        <p:nvSpPr>
          <p:cNvPr id="137" name="Rectangle 136"/>
          <p:cNvSpPr/>
          <p:nvPr/>
        </p:nvSpPr>
        <p:spPr>
          <a:xfrm>
            <a:off x="3533485" y="2424970"/>
            <a:ext cx="171126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8" name="TextBox 137"/>
          <p:cNvSpPr txBox="1"/>
          <p:nvPr/>
        </p:nvSpPr>
        <p:spPr>
          <a:xfrm>
            <a:off x="3533485" y="2441063"/>
            <a:ext cx="1072896" cy="85831"/>
          </a:xfrm>
          <a:prstGeom prst="rect">
            <a:avLst/>
          </a:prstGeom>
          <a:noFill/>
        </p:spPr>
        <p:txBody>
          <a:bodyPr wrap="square" lIns="0" tIns="0" rIns="0" bIns="0" anchor="ctr">
            <a:spAutoFit/>
          </a:bodyPr>
          <a:lstStyle/>
          <a:p>
            <a:pPr marL="0" indent="0" algn="l">
              <a:buNone/>
            </a:pPr>
            <a:r>
              <a:rPr sz="500" b="0" i="0">
                <a:solidFill>
                  <a:srgbClr val="222222"/>
                </a:solidFill>
              </a:rPr>
              <a:t>Ba Vì yoghurt · pack of 12</a:t>
            </a:r>
          </a:p>
        </p:txBody>
      </p:sp>
      <p:sp>
        <p:nvSpPr>
          <p:cNvPr id="139" name="TextBox 138"/>
          <p:cNvSpPr txBox="1"/>
          <p:nvPr/>
        </p:nvSpPr>
        <p:spPr>
          <a:xfrm>
            <a:off x="4627839" y="2441063"/>
            <a:ext cx="214579" cy="85831"/>
          </a:xfrm>
          <a:prstGeom prst="rect">
            <a:avLst/>
          </a:prstGeom>
          <a:noFill/>
        </p:spPr>
        <p:txBody>
          <a:bodyPr wrap="square" lIns="0" tIns="0" rIns="0" bIns="0" anchor="ctr">
            <a:spAutoFit/>
          </a:bodyPr>
          <a:lstStyle/>
          <a:p>
            <a:pPr marL="0" indent="0" algn="ctr">
              <a:buNone/>
            </a:pPr>
            <a:r>
              <a:rPr sz="500" b="0" i="0">
                <a:solidFill>
                  <a:srgbClr val="888888"/>
                </a:solidFill>
              </a:rPr>
              <a:t>×2</a:t>
            </a:r>
          </a:p>
        </p:txBody>
      </p:sp>
      <p:sp>
        <p:nvSpPr>
          <p:cNvPr id="140" name="TextBox 139"/>
          <p:cNvSpPr txBox="1"/>
          <p:nvPr/>
        </p:nvSpPr>
        <p:spPr>
          <a:xfrm>
            <a:off x="4863876" y="2441063"/>
            <a:ext cx="380878" cy="85831"/>
          </a:xfrm>
          <a:prstGeom prst="rect">
            <a:avLst/>
          </a:prstGeom>
          <a:noFill/>
        </p:spPr>
        <p:txBody>
          <a:bodyPr wrap="square" lIns="0" tIns="0" rIns="0" bIns="0" anchor="ctr">
            <a:spAutoFit/>
          </a:bodyPr>
          <a:lstStyle/>
          <a:p>
            <a:pPr marL="0" indent="0" algn="r">
              <a:buNone/>
            </a:pPr>
            <a:r>
              <a:rPr sz="500" b="1" i="0">
                <a:solidFill>
                  <a:srgbClr val="222222"/>
                </a:solidFill>
              </a:rPr>
              <a:t>78,000 ₫</a:t>
            </a:r>
          </a:p>
        </p:txBody>
      </p:sp>
      <p:sp>
        <p:nvSpPr>
          <p:cNvPr id="141" name="Rectangle 140"/>
          <p:cNvSpPr/>
          <p:nvPr/>
        </p:nvSpPr>
        <p:spPr>
          <a:xfrm>
            <a:off x="3533485" y="2532259"/>
            <a:ext cx="171126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2" name="TextBox 141"/>
          <p:cNvSpPr txBox="1"/>
          <p:nvPr/>
        </p:nvSpPr>
        <p:spPr>
          <a:xfrm>
            <a:off x="3533485" y="2548353"/>
            <a:ext cx="1072896" cy="85831"/>
          </a:xfrm>
          <a:prstGeom prst="rect">
            <a:avLst/>
          </a:prstGeom>
          <a:noFill/>
        </p:spPr>
        <p:txBody>
          <a:bodyPr wrap="square" lIns="0" tIns="0" rIns="0" bIns="0" anchor="ctr">
            <a:spAutoFit/>
          </a:bodyPr>
          <a:lstStyle/>
          <a:p>
            <a:pPr marL="0" indent="0" algn="l">
              <a:buNone/>
            </a:pPr>
            <a:r>
              <a:rPr sz="500" b="0" i="0">
                <a:solidFill>
                  <a:srgbClr val="222222"/>
                </a:solidFill>
              </a:rPr>
              <a:t>Chicken breast 500g</a:t>
            </a:r>
          </a:p>
        </p:txBody>
      </p:sp>
      <p:sp>
        <p:nvSpPr>
          <p:cNvPr id="143" name="TextBox 142"/>
          <p:cNvSpPr txBox="1"/>
          <p:nvPr/>
        </p:nvSpPr>
        <p:spPr>
          <a:xfrm>
            <a:off x="4627839" y="2548353"/>
            <a:ext cx="214579" cy="85831"/>
          </a:xfrm>
          <a:prstGeom prst="rect">
            <a:avLst/>
          </a:prstGeom>
          <a:noFill/>
        </p:spPr>
        <p:txBody>
          <a:bodyPr wrap="square" lIns="0" tIns="0" rIns="0" bIns="0" anchor="ctr">
            <a:spAutoFit/>
          </a:bodyPr>
          <a:lstStyle/>
          <a:p>
            <a:pPr marL="0" indent="0" algn="ctr">
              <a:buNone/>
            </a:pPr>
            <a:r>
              <a:rPr sz="500" b="0" i="0">
                <a:solidFill>
                  <a:srgbClr val="888888"/>
                </a:solidFill>
              </a:rPr>
              <a:t>×1</a:t>
            </a:r>
          </a:p>
        </p:txBody>
      </p:sp>
      <p:sp>
        <p:nvSpPr>
          <p:cNvPr id="144" name="TextBox 143"/>
          <p:cNvSpPr txBox="1"/>
          <p:nvPr/>
        </p:nvSpPr>
        <p:spPr>
          <a:xfrm>
            <a:off x="4863876" y="2548353"/>
            <a:ext cx="380878" cy="85831"/>
          </a:xfrm>
          <a:prstGeom prst="rect">
            <a:avLst/>
          </a:prstGeom>
          <a:noFill/>
        </p:spPr>
        <p:txBody>
          <a:bodyPr wrap="square" lIns="0" tIns="0" rIns="0" bIns="0" anchor="ctr">
            <a:spAutoFit/>
          </a:bodyPr>
          <a:lstStyle/>
          <a:p>
            <a:pPr marL="0" indent="0" algn="r">
              <a:buNone/>
            </a:pPr>
            <a:r>
              <a:rPr sz="500" b="1" i="0">
                <a:solidFill>
                  <a:srgbClr val="222222"/>
                </a:solidFill>
              </a:rPr>
              <a:t>112,000 ₫</a:t>
            </a:r>
          </a:p>
        </p:txBody>
      </p:sp>
      <p:sp>
        <p:nvSpPr>
          <p:cNvPr id="145" name="Rectangle 144"/>
          <p:cNvSpPr/>
          <p:nvPr/>
        </p:nvSpPr>
        <p:spPr>
          <a:xfrm>
            <a:off x="3533485" y="2639549"/>
            <a:ext cx="171126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6" name="TextBox 145"/>
          <p:cNvSpPr txBox="1"/>
          <p:nvPr/>
        </p:nvSpPr>
        <p:spPr>
          <a:xfrm>
            <a:off x="3533485" y="2655642"/>
            <a:ext cx="1072896" cy="85831"/>
          </a:xfrm>
          <a:prstGeom prst="rect">
            <a:avLst/>
          </a:prstGeom>
          <a:noFill/>
        </p:spPr>
        <p:txBody>
          <a:bodyPr wrap="square" lIns="0" tIns="0" rIns="0" bIns="0" anchor="ctr">
            <a:spAutoFit/>
          </a:bodyPr>
          <a:lstStyle/>
          <a:p>
            <a:pPr marL="0" indent="0" algn="l">
              <a:buNone/>
            </a:pPr>
            <a:r>
              <a:rPr sz="500" b="0" i="0">
                <a:solidFill>
                  <a:srgbClr val="222222"/>
                </a:solidFill>
              </a:rPr>
              <a:t>Jasmine rice 5kg</a:t>
            </a:r>
          </a:p>
        </p:txBody>
      </p:sp>
      <p:sp>
        <p:nvSpPr>
          <p:cNvPr id="147" name="TextBox 146"/>
          <p:cNvSpPr txBox="1"/>
          <p:nvPr/>
        </p:nvSpPr>
        <p:spPr>
          <a:xfrm>
            <a:off x="4627839" y="2655642"/>
            <a:ext cx="214579" cy="85831"/>
          </a:xfrm>
          <a:prstGeom prst="rect">
            <a:avLst/>
          </a:prstGeom>
          <a:noFill/>
        </p:spPr>
        <p:txBody>
          <a:bodyPr wrap="square" lIns="0" tIns="0" rIns="0" bIns="0" anchor="ctr">
            <a:spAutoFit/>
          </a:bodyPr>
          <a:lstStyle/>
          <a:p>
            <a:pPr marL="0" indent="0" algn="ctr">
              <a:buNone/>
            </a:pPr>
            <a:r>
              <a:rPr sz="500" b="0" i="0">
                <a:solidFill>
                  <a:srgbClr val="888888"/>
                </a:solidFill>
              </a:rPr>
              <a:t>×1</a:t>
            </a:r>
          </a:p>
        </p:txBody>
      </p:sp>
      <p:sp>
        <p:nvSpPr>
          <p:cNvPr id="148" name="TextBox 147"/>
          <p:cNvSpPr txBox="1"/>
          <p:nvPr/>
        </p:nvSpPr>
        <p:spPr>
          <a:xfrm>
            <a:off x="4863876" y="2655642"/>
            <a:ext cx="380878" cy="85831"/>
          </a:xfrm>
          <a:prstGeom prst="rect">
            <a:avLst/>
          </a:prstGeom>
          <a:noFill/>
        </p:spPr>
        <p:txBody>
          <a:bodyPr wrap="square" lIns="0" tIns="0" rIns="0" bIns="0" anchor="ctr">
            <a:spAutoFit/>
          </a:bodyPr>
          <a:lstStyle/>
          <a:p>
            <a:pPr marL="0" indent="0" algn="r">
              <a:buNone/>
            </a:pPr>
            <a:r>
              <a:rPr sz="500" b="1" i="0">
                <a:solidFill>
                  <a:srgbClr val="222222"/>
                </a:solidFill>
              </a:rPr>
              <a:t>128,000 ₫</a:t>
            </a:r>
          </a:p>
        </p:txBody>
      </p:sp>
      <p:sp>
        <p:nvSpPr>
          <p:cNvPr id="149" name="Rectangle 148"/>
          <p:cNvSpPr/>
          <p:nvPr/>
        </p:nvSpPr>
        <p:spPr>
          <a:xfrm>
            <a:off x="3533485" y="2746839"/>
            <a:ext cx="171126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0" name="TextBox 149"/>
          <p:cNvSpPr txBox="1"/>
          <p:nvPr/>
        </p:nvSpPr>
        <p:spPr>
          <a:xfrm>
            <a:off x="3533485" y="2762932"/>
            <a:ext cx="1072896" cy="85831"/>
          </a:xfrm>
          <a:prstGeom prst="rect">
            <a:avLst/>
          </a:prstGeom>
          <a:noFill/>
        </p:spPr>
        <p:txBody>
          <a:bodyPr wrap="square" lIns="0" tIns="0" rIns="0" bIns="0" anchor="ctr">
            <a:spAutoFit/>
          </a:bodyPr>
          <a:lstStyle/>
          <a:p>
            <a:pPr marL="0" indent="0" algn="l">
              <a:buNone/>
            </a:pPr>
            <a:r>
              <a:rPr sz="500" b="0" i="0">
                <a:solidFill>
                  <a:srgbClr val="222222"/>
                </a:solidFill>
              </a:rPr>
              <a:t>Bottled water 1.5L ×12</a:t>
            </a:r>
          </a:p>
        </p:txBody>
      </p:sp>
      <p:sp>
        <p:nvSpPr>
          <p:cNvPr id="151" name="TextBox 150"/>
          <p:cNvSpPr txBox="1"/>
          <p:nvPr/>
        </p:nvSpPr>
        <p:spPr>
          <a:xfrm>
            <a:off x="4627839" y="2762932"/>
            <a:ext cx="214579" cy="85831"/>
          </a:xfrm>
          <a:prstGeom prst="rect">
            <a:avLst/>
          </a:prstGeom>
          <a:noFill/>
        </p:spPr>
        <p:txBody>
          <a:bodyPr wrap="square" lIns="0" tIns="0" rIns="0" bIns="0" anchor="ctr">
            <a:spAutoFit/>
          </a:bodyPr>
          <a:lstStyle/>
          <a:p>
            <a:pPr marL="0" indent="0" algn="ctr">
              <a:buNone/>
            </a:pPr>
            <a:r>
              <a:rPr sz="500" b="0" i="0">
                <a:solidFill>
                  <a:srgbClr val="888888"/>
                </a:solidFill>
              </a:rPr>
              <a:t>×1</a:t>
            </a:r>
          </a:p>
        </p:txBody>
      </p:sp>
      <p:sp>
        <p:nvSpPr>
          <p:cNvPr id="152" name="TextBox 151"/>
          <p:cNvSpPr txBox="1"/>
          <p:nvPr/>
        </p:nvSpPr>
        <p:spPr>
          <a:xfrm>
            <a:off x="4863876" y="2762932"/>
            <a:ext cx="380878" cy="85831"/>
          </a:xfrm>
          <a:prstGeom prst="rect">
            <a:avLst/>
          </a:prstGeom>
          <a:noFill/>
        </p:spPr>
        <p:txBody>
          <a:bodyPr wrap="square" lIns="0" tIns="0" rIns="0" bIns="0" anchor="ctr">
            <a:spAutoFit/>
          </a:bodyPr>
          <a:lstStyle/>
          <a:p>
            <a:pPr marL="0" indent="0" algn="r">
              <a:buNone/>
            </a:pPr>
            <a:r>
              <a:rPr sz="500" b="1" i="0">
                <a:solidFill>
                  <a:srgbClr val="222222"/>
                </a:solidFill>
              </a:rPr>
              <a:t>96,000 ₫</a:t>
            </a:r>
          </a:p>
        </p:txBody>
      </p:sp>
      <p:sp>
        <p:nvSpPr>
          <p:cNvPr id="153" name="Rectangle 152"/>
          <p:cNvSpPr/>
          <p:nvPr/>
        </p:nvSpPr>
        <p:spPr>
          <a:xfrm>
            <a:off x="3533485" y="2854128"/>
            <a:ext cx="171126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4" name="TextBox 153"/>
          <p:cNvSpPr txBox="1"/>
          <p:nvPr/>
        </p:nvSpPr>
        <p:spPr>
          <a:xfrm>
            <a:off x="3533485" y="2870222"/>
            <a:ext cx="1072896" cy="85831"/>
          </a:xfrm>
          <a:prstGeom prst="rect">
            <a:avLst/>
          </a:prstGeom>
          <a:noFill/>
        </p:spPr>
        <p:txBody>
          <a:bodyPr wrap="square" lIns="0" tIns="0" rIns="0" bIns="0" anchor="ctr">
            <a:spAutoFit/>
          </a:bodyPr>
          <a:lstStyle/>
          <a:p>
            <a:pPr marL="0" indent="0" algn="l">
              <a:buNone/>
            </a:pPr>
            <a:r>
              <a:rPr sz="500" b="0" i="0">
                <a:solidFill>
                  <a:srgbClr val="222222"/>
                </a:solidFill>
              </a:rPr>
              <a:t>Cooking oil 1L</a:t>
            </a:r>
          </a:p>
        </p:txBody>
      </p:sp>
      <p:sp>
        <p:nvSpPr>
          <p:cNvPr id="155" name="TextBox 154"/>
          <p:cNvSpPr txBox="1"/>
          <p:nvPr/>
        </p:nvSpPr>
        <p:spPr>
          <a:xfrm>
            <a:off x="4627839" y="2870222"/>
            <a:ext cx="214579" cy="85831"/>
          </a:xfrm>
          <a:prstGeom prst="rect">
            <a:avLst/>
          </a:prstGeom>
          <a:noFill/>
        </p:spPr>
        <p:txBody>
          <a:bodyPr wrap="square" lIns="0" tIns="0" rIns="0" bIns="0" anchor="ctr">
            <a:spAutoFit/>
          </a:bodyPr>
          <a:lstStyle/>
          <a:p>
            <a:pPr marL="0" indent="0" algn="ctr">
              <a:buNone/>
            </a:pPr>
            <a:r>
              <a:rPr sz="500" b="0" i="0">
                <a:solidFill>
                  <a:srgbClr val="888888"/>
                </a:solidFill>
              </a:rPr>
              <a:t>×1</a:t>
            </a:r>
          </a:p>
        </p:txBody>
      </p:sp>
      <p:sp>
        <p:nvSpPr>
          <p:cNvPr id="156" name="TextBox 155"/>
          <p:cNvSpPr txBox="1"/>
          <p:nvPr/>
        </p:nvSpPr>
        <p:spPr>
          <a:xfrm>
            <a:off x="4863876" y="2870222"/>
            <a:ext cx="380878" cy="85831"/>
          </a:xfrm>
          <a:prstGeom prst="rect">
            <a:avLst/>
          </a:prstGeom>
          <a:noFill/>
        </p:spPr>
        <p:txBody>
          <a:bodyPr wrap="square" lIns="0" tIns="0" rIns="0" bIns="0" anchor="ctr">
            <a:spAutoFit/>
          </a:bodyPr>
          <a:lstStyle/>
          <a:p>
            <a:pPr marL="0" indent="0" algn="r">
              <a:buNone/>
            </a:pPr>
            <a:r>
              <a:rPr sz="500" b="1" i="0">
                <a:solidFill>
                  <a:srgbClr val="222222"/>
                </a:solidFill>
              </a:rPr>
              <a:t>62,000 ₫</a:t>
            </a:r>
          </a:p>
        </p:txBody>
      </p:sp>
      <p:sp>
        <p:nvSpPr>
          <p:cNvPr id="157" name="Rectangle 156"/>
          <p:cNvSpPr/>
          <p:nvPr/>
        </p:nvSpPr>
        <p:spPr>
          <a:xfrm>
            <a:off x="3533485" y="2961418"/>
            <a:ext cx="171126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8" name="Rectangle 157"/>
          <p:cNvSpPr/>
          <p:nvPr/>
        </p:nvSpPr>
        <p:spPr>
          <a:xfrm>
            <a:off x="3383280" y="880000"/>
            <a:ext cx="2011679" cy="3969715"/>
          </a:xfrm>
          <a:prstGeom prst="rect">
            <a:avLst/>
          </a:prstGeom>
          <a:solidFill>
            <a:srgbClr val="1A1A1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9" name="Rounded Rectangle 158"/>
          <p:cNvSpPr/>
          <p:nvPr/>
        </p:nvSpPr>
        <p:spPr>
          <a:xfrm>
            <a:off x="3597859" y="2274764"/>
            <a:ext cx="1582521" cy="944148"/>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0" name="TextBox 159"/>
          <p:cNvSpPr txBox="1"/>
          <p:nvPr/>
        </p:nvSpPr>
        <p:spPr>
          <a:xfrm>
            <a:off x="3705148" y="2403512"/>
            <a:ext cx="1367942" cy="214579"/>
          </a:xfrm>
          <a:prstGeom prst="rect">
            <a:avLst/>
          </a:prstGeom>
          <a:noFill/>
        </p:spPr>
        <p:txBody>
          <a:bodyPr wrap="square" lIns="0" tIns="0" rIns="0" bIns="0" anchor="t">
            <a:spAutoFit/>
          </a:bodyPr>
          <a:lstStyle/>
          <a:p>
            <a:pPr marL="0" indent="0" algn="ctr">
              <a:buNone/>
            </a:pPr>
            <a:r>
              <a:rPr sz="750" b="1" i="0">
                <a:solidFill>
                  <a:srgbClr val="3A3A3A"/>
                </a:solidFill>
              </a:rPr>
              <a:t>Change something in this order?</a:t>
            </a:r>
          </a:p>
        </p:txBody>
      </p:sp>
      <p:sp>
        <p:nvSpPr>
          <p:cNvPr id="161" name="TextBox 160"/>
          <p:cNvSpPr txBox="1"/>
          <p:nvPr/>
        </p:nvSpPr>
        <p:spPr>
          <a:xfrm>
            <a:off x="3705148" y="2639549"/>
            <a:ext cx="1367942" cy="236037"/>
          </a:xfrm>
          <a:prstGeom prst="rect">
            <a:avLst/>
          </a:prstGeom>
          <a:noFill/>
        </p:spPr>
        <p:txBody>
          <a:bodyPr wrap="square" lIns="0" tIns="0" rIns="0" bIns="0" anchor="t">
            <a:spAutoFit/>
          </a:bodyPr>
          <a:lstStyle/>
          <a:p>
            <a:pPr marL="0" indent="0" algn="ctr">
              <a:buNone/>
            </a:pPr>
            <a:r>
              <a:rPr sz="530" b="0" i="0">
                <a:solidFill>
                  <a:srgbClr val="888888"/>
                </a:solidFill>
              </a:rPr>
              <a:t>Products, address, service and time slot can only be changed in the Cart. Your selections are kept.</a:t>
            </a:r>
          </a:p>
        </p:txBody>
      </p:sp>
      <p:sp>
        <p:nvSpPr>
          <p:cNvPr id="162" name="Rounded Rectangle 161"/>
          <p:cNvSpPr/>
          <p:nvPr/>
        </p:nvSpPr>
        <p:spPr>
          <a:xfrm>
            <a:off x="3705148" y="2950689"/>
            <a:ext cx="643737" cy="182392"/>
          </a:xfrm>
          <a:prstGeom prst="roundRect">
            <a:avLst>
              <a:gd name="adj" fmla="val 2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3" name="TextBox 162"/>
          <p:cNvSpPr txBox="1"/>
          <p:nvPr/>
        </p:nvSpPr>
        <p:spPr>
          <a:xfrm>
            <a:off x="3705148" y="2950689"/>
            <a:ext cx="643737" cy="182392"/>
          </a:xfrm>
          <a:prstGeom prst="rect">
            <a:avLst/>
          </a:prstGeom>
          <a:noFill/>
        </p:spPr>
        <p:txBody>
          <a:bodyPr wrap="square" lIns="0" tIns="0" rIns="0" bIns="0" anchor="ctr">
            <a:spAutoFit/>
          </a:bodyPr>
          <a:lstStyle/>
          <a:p>
            <a:pPr marL="0" indent="0" algn="ctr">
              <a:buNone/>
            </a:pPr>
            <a:r>
              <a:rPr sz="620" b="1" i="0">
                <a:solidFill>
                  <a:srgbClr val="222222"/>
                </a:solidFill>
              </a:rPr>
              <a:t>Stay here</a:t>
            </a:r>
          </a:p>
        </p:txBody>
      </p:sp>
      <p:sp>
        <p:nvSpPr>
          <p:cNvPr id="164" name="Rounded Rectangle 163"/>
          <p:cNvSpPr/>
          <p:nvPr/>
        </p:nvSpPr>
        <p:spPr>
          <a:xfrm>
            <a:off x="4429353" y="2950689"/>
            <a:ext cx="643737" cy="182392"/>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5" name="TextBox 164"/>
          <p:cNvSpPr txBox="1"/>
          <p:nvPr/>
        </p:nvSpPr>
        <p:spPr>
          <a:xfrm>
            <a:off x="4429353" y="2950689"/>
            <a:ext cx="643737" cy="182392"/>
          </a:xfrm>
          <a:prstGeom prst="rect">
            <a:avLst/>
          </a:prstGeom>
          <a:noFill/>
        </p:spPr>
        <p:txBody>
          <a:bodyPr wrap="square" lIns="0" tIns="0" rIns="0" bIns="0" anchor="ctr">
            <a:spAutoFit/>
          </a:bodyPr>
          <a:lstStyle/>
          <a:p>
            <a:pPr marL="0" indent="0" algn="ctr">
              <a:buNone/>
            </a:pPr>
            <a:r>
              <a:rPr sz="620" b="1" i="0">
                <a:solidFill>
                  <a:srgbClr val="FFFFFF"/>
                </a:solidFill>
              </a:rPr>
              <a:t>Back to Cart</a:t>
            </a:r>
          </a:p>
        </p:txBody>
      </p:sp>
      <p:sp>
        <p:nvSpPr>
          <p:cNvPr id="166" name="Oval 165"/>
          <p:cNvSpPr/>
          <p:nvPr/>
        </p:nvSpPr>
        <p:spPr>
          <a:xfrm>
            <a:off x="3168701" y="1952896"/>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7" name="TextBox 166"/>
          <p:cNvSpPr txBox="1"/>
          <p:nvPr/>
        </p:nvSpPr>
        <p:spPr>
          <a:xfrm>
            <a:off x="3168701" y="1952896"/>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168" name="Oval 167"/>
          <p:cNvSpPr/>
          <p:nvPr/>
        </p:nvSpPr>
        <p:spPr>
          <a:xfrm>
            <a:off x="3168701" y="2274764"/>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9" name="TextBox 168"/>
          <p:cNvSpPr txBox="1"/>
          <p:nvPr/>
        </p:nvSpPr>
        <p:spPr>
          <a:xfrm>
            <a:off x="3168701" y="2274764"/>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graphicFrame>
        <p:nvGraphicFramePr>
          <p:cNvPr id="170" name="Table 169"/>
          <p:cNvGraphicFramePr>
            <a:graphicFrameLocks noGrp="1"/>
          </p:cNvGraphicFramePr>
          <p:nvPr/>
        </p:nvGraphicFramePr>
        <p:xfrm>
          <a:off x="7196328" y="886968"/>
          <a:ext cx="4718304" cy="378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65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5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5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65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Lock notice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States, once and at the top, that the order is read-only and where to change it (CO-01, BR-09).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65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Delivery block — locked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Recipient, address and serving store are displayed for review only. There is no inline edit control (CO-01).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65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Service and slot — locked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The service and time slot chosen in the Cart, shown for confirmation. Changing them requires returning to the Cart, because they affect fee, availability and total.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65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Product list — Detail view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Full rows with image, price and quantity. No quantity controls and no remove action.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65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Product list — Compact view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Dense one-line rows for large orders. A display toggle only — it changes nothing about the order (CO-01).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65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Edit attempt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Tapping a locked element explains the rule and offers a route back to the Cart, rather than silently doing nothing. Selections are preserved on return (BRL-31).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420000">
                <a:tc>
                  <a:txBody>
                    <a:bodyPr/>
                    <a:lstStyle/>
                    <a:p>
                      <a:pPr marL="0" indent="0" algn="ctr">
                        <a:buNone/>
                      </a:pPr>
                      <a:r>
                        <a:rPr sz="65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Order note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One of only three inputs on this screen. Free text at order level, plus an out-of-stock notification preference (CO-02).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420000">
                <a:tc>
                  <a:txBody>
                    <a:bodyPr/>
                    <a:lstStyle/>
                    <a:p>
                      <a:pPr marL="0" indent="0" algn="ctr">
                        <a:buNone/>
                      </a:pPr>
                      <a:r>
                        <a:rPr sz="650" b="0" i="0">
                          <a:solidFill>
                            <a:srgbClr val="222222"/>
                          </a:solidFill>
                        </a:rPr>
                        <a:t>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Carton packing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The customer chooses whether the order is packed in a carton. Whether a fee applies, and how much, is not confirmed — OQ-16 (CO-03).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bl>
          </a:graphicData>
        </a:graphic>
      </p:graphicFrame>
      <p:sp>
        <p:nvSpPr>
          <p:cNvPr id="171" name="TextBox 170"/>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The order is locked because price, promotion set and total are computed against a fixed basket, a fixed store and a fixed slot. Allowing an edit here would require recomputing all three mid-payment — exactly where the As-Is flow produces stale prices and disputed totals (BR-09, NFR-04).</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Checkout (CO)</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CO-04 … CO-10</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SCR-CHK-02</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Checkout — Payment, Points &amp; Final Summary</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61</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Step 1  ·  Gift card, coupons, points, payment</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59436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5873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29" name="TextBox 28"/>
          <p:cNvSpPr txBox="1"/>
          <p:nvPr/>
        </p:nvSpPr>
        <p:spPr>
          <a:xfrm>
            <a:off x="77675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Payment</a:t>
            </a:r>
          </a:p>
        </p:txBody>
      </p:sp>
      <p:sp>
        <p:nvSpPr>
          <p:cNvPr id="30" name="Rectangle 29"/>
          <p:cNvSpPr/>
          <p:nvPr/>
        </p:nvSpPr>
        <p:spPr>
          <a:xfrm>
            <a:off x="59436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Rounded Rectangle 30"/>
          <p:cNvSpPr/>
          <p:nvPr/>
        </p:nvSpPr>
        <p:spPr>
          <a:xfrm>
            <a:off x="669462" y="1250149"/>
            <a:ext cx="1861474" cy="246766"/>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744565" y="1269259"/>
            <a:ext cx="1072896" cy="90525"/>
          </a:xfrm>
          <a:prstGeom prst="rect">
            <a:avLst/>
          </a:prstGeom>
          <a:noFill/>
        </p:spPr>
        <p:txBody>
          <a:bodyPr wrap="square" lIns="0" tIns="0" rIns="0" bIns="0" anchor="ctr">
            <a:spAutoFit/>
          </a:bodyPr>
          <a:lstStyle/>
          <a:p>
            <a:pPr marL="0" indent="0" algn="l">
              <a:buNone/>
            </a:pPr>
            <a:r>
              <a:rPr sz="540" b="1" i="0">
                <a:solidFill>
                  <a:srgbClr val="3A3A3A"/>
                </a:solidFill>
              </a:rPr>
              <a:t>GotIt / gift card</a:t>
            </a:r>
          </a:p>
        </p:txBody>
      </p:sp>
      <p:sp>
        <p:nvSpPr>
          <p:cNvPr id="33" name="Rounded Rectangle 32"/>
          <p:cNvSpPr/>
          <p:nvPr/>
        </p:nvSpPr>
        <p:spPr>
          <a:xfrm>
            <a:off x="744565" y="1357438"/>
            <a:ext cx="1287475" cy="118018"/>
          </a:xfrm>
          <a:prstGeom prst="roundRect">
            <a:avLst>
              <a:gd name="adj" fmla="val 20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798210" y="1357438"/>
            <a:ext cx="1180185" cy="118018"/>
          </a:xfrm>
          <a:prstGeom prst="rect">
            <a:avLst/>
          </a:prstGeom>
          <a:noFill/>
        </p:spPr>
        <p:txBody>
          <a:bodyPr wrap="square" lIns="0" tIns="0" rIns="0" bIns="0" anchor="ctr">
            <a:spAutoFit/>
          </a:bodyPr>
          <a:lstStyle/>
          <a:p>
            <a:pPr marL="0" indent="0" algn="l">
              <a:buNone/>
            </a:pPr>
            <a:r>
              <a:rPr sz="500" b="0" i="0">
                <a:solidFill>
                  <a:srgbClr val="AAAAAA"/>
                </a:solidFill>
              </a:rPr>
              <a:t>Enter or scan a code</a:t>
            </a:r>
          </a:p>
        </p:txBody>
      </p:sp>
      <p:sp>
        <p:nvSpPr>
          <p:cNvPr id="35" name="Rounded Rectangle 34"/>
          <p:cNvSpPr/>
          <p:nvPr/>
        </p:nvSpPr>
        <p:spPr>
          <a:xfrm>
            <a:off x="2074956" y="1362803"/>
            <a:ext cx="386242" cy="107289"/>
          </a:xfrm>
          <a:prstGeom prst="roundRect">
            <a:avLst>
              <a:gd name="adj" fmla="val 50000"/>
            </a:avLst>
          </a:prstGeom>
          <a:solidFill>
            <a:srgbClr val="EEF1F9"/>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TextBox 35"/>
          <p:cNvSpPr txBox="1"/>
          <p:nvPr/>
        </p:nvSpPr>
        <p:spPr>
          <a:xfrm>
            <a:off x="2074956" y="1362803"/>
            <a:ext cx="386242" cy="107289"/>
          </a:xfrm>
          <a:prstGeom prst="rect">
            <a:avLst/>
          </a:prstGeom>
          <a:noFill/>
        </p:spPr>
        <p:txBody>
          <a:bodyPr wrap="square" lIns="0" tIns="0" rIns="0" bIns="0" anchor="ctr">
            <a:spAutoFit/>
          </a:bodyPr>
          <a:lstStyle/>
          <a:p>
            <a:pPr marL="0" indent="0" algn="ctr">
              <a:buNone/>
            </a:pPr>
            <a:r>
              <a:rPr sz="459" b="1" i="0">
                <a:solidFill>
                  <a:srgbClr val="3D5298"/>
                </a:solidFill>
              </a:rPr>
              <a:t>Scan</a:t>
            </a:r>
          </a:p>
        </p:txBody>
      </p:sp>
      <p:sp>
        <p:nvSpPr>
          <p:cNvPr id="37" name="Rounded Rectangle 36"/>
          <p:cNvSpPr/>
          <p:nvPr/>
        </p:nvSpPr>
        <p:spPr>
          <a:xfrm>
            <a:off x="669462" y="1539831"/>
            <a:ext cx="1861474" cy="332597"/>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TextBox 37"/>
          <p:cNvSpPr txBox="1"/>
          <p:nvPr/>
        </p:nvSpPr>
        <p:spPr>
          <a:xfrm>
            <a:off x="744565" y="1558941"/>
            <a:ext cx="1072896" cy="90525"/>
          </a:xfrm>
          <a:prstGeom prst="rect">
            <a:avLst/>
          </a:prstGeom>
          <a:noFill/>
        </p:spPr>
        <p:txBody>
          <a:bodyPr wrap="square" lIns="0" tIns="0" rIns="0" bIns="0" anchor="ctr">
            <a:spAutoFit/>
          </a:bodyPr>
          <a:lstStyle/>
          <a:p>
            <a:pPr marL="0" indent="0" algn="l">
              <a:buNone/>
            </a:pPr>
            <a:r>
              <a:rPr sz="540" b="1" i="0">
                <a:solidFill>
                  <a:srgbClr val="3A3A3A"/>
                </a:solidFill>
              </a:rPr>
              <a:t>Coupons  ·  2 applied</a:t>
            </a:r>
          </a:p>
        </p:txBody>
      </p:sp>
      <p:sp>
        <p:nvSpPr>
          <p:cNvPr id="39" name="TextBox 38"/>
          <p:cNvSpPr txBox="1"/>
          <p:nvPr/>
        </p:nvSpPr>
        <p:spPr>
          <a:xfrm>
            <a:off x="744565" y="1648126"/>
            <a:ext cx="1711269" cy="83820"/>
          </a:xfrm>
          <a:prstGeom prst="rect">
            <a:avLst/>
          </a:prstGeom>
          <a:noFill/>
        </p:spPr>
        <p:txBody>
          <a:bodyPr wrap="square" lIns="0" tIns="0" rIns="0" bIns="0" anchor="ctr">
            <a:spAutoFit/>
          </a:bodyPr>
          <a:lstStyle/>
          <a:p>
            <a:pPr marL="0" indent="0" algn="l">
              <a:buNone/>
            </a:pPr>
            <a:r>
              <a:rPr sz="500" b="0" i="0">
                <a:solidFill>
                  <a:srgbClr val="555555"/>
                </a:solidFill>
              </a:rPr>
              <a:t>Delivery coupon   −20,000 ₫   Freeship over 150k</a:t>
            </a:r>
          </a:p>
        </p:txBody>
      </p:sp>
      <p:sp>
        <p:nvSpPr>
          <p:cNvPr id="40" name="TextBox 39"/>
          <p:cNvSpPr txBox="1"/>
          <p:nvPr/>
        </p:nvSpPr>
        <p:spPr>
          <a:xfrm>
            <a:off x="744565" y="1733958"/>
            <a:ext cx="1711269" cy="83820"/>
          </a:xfrm>
          <a:prstGeom prst="rect">
            <a:avLst/>
          </a:prstGeom>
          <a:noFill/>
        </p:spPr>
        <p:txBody>
          <a:bodyPr wrap="square" lIns="0" tIns="0" rIns="0" bIns="0" anchor="ctr">
            <a:spAutoFit/>
          </a:bodyPr>
          <a:lstStyle/>
          <a:p>
            <a:pPr marL="0" indent="0" algn="l">
              <a:buNone/>
            </a:pPr>
            <a:r>
              <a:rPr sz="500" b="0" i="0">
                <a:solidFill>
                  <a:srgbClr val="555555"/>
                </a:solidFill>
              </a:rPr>
              <a:t>Order coupon   −40,000 ₫   August dairy promotion</a:t>
            </a:r>
          </a:p>
        </p:txBody>
      </p:sp>
      <p:sp>
        <p:nvSpPr>
          <p:cNvPr id="41" name="Rounded Rectangle 40"/>
          <p:cNvSpPr/>
          <p:nvPr/>
        </p:nvSpPr>
        <p:spPr>
          <a:xfrm>
            <a:off x="669462" y="1915344"/>
            <a:ext cx="1861474" cy="300410"/>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TextBox 41"/>
          <p:cNvSpPr txBox="1"/>
          <p:nvPr/>
        </p:nvSpPr>
        <p:spPr>
          <a:xfrm>
            <a:off x="744565" y="1934455"/>
            <a:ext cx="1072896" cy="90525"/>
          </a:xfrm>
          <a:prstGeom prst="rect">
            <a:avLst/>
          </a:prstGeom>
          <a:noFill/>
        </p:spPr>
        <p:txBody>
          <a:bodyPr wrap="square" lIns="0" tIns="0" rIns="0" bIns="0" anchor="ctr">
            <a:spAutoFit/>
          </a:bodyPr>
          <a:lstStyle/>
          <a:p>
            <a:pPr marL="0" indent="0" algn="l">
              <a:buNone/>
            </a:pPr>
            <a:r>
              <a:rPr sz="540" b="1" i="0">
                <a:solidFill>
                  <a:srgbClr val="3A3A3A"/>
                </a:solidFill>
              </a:rPr>
              <a:t>Loyalty points</a:t>
            </a:r>
          </a:p>
        </p:txBody>
      </p:sp>
      <p:sp>
        <p:nvSpPr>
          <p:cNvPr id="43" name="TextBox 42"/>
          <p:cNvSpPr txBox="1"/>
          <p:nvPr/>
        </p:nvSpPr>
        <p:spPr>
          <a:xfrm>
            <a:off x="1667256" y="1939484"/>
            <a:ext cx="788578" cy="80467"/>
          </a:xfrm>
          <a:prstGeom prst="rect">
            <a:avLst/>
          </a:prstGeom>
          <a:noFill/>
        </p:spPr>
        <p:txBody>
          <a:bodyPr wrap="square" lIns="0" tIns="0" rIns="0" bIns="0" anchor="ctr">
            <a:spAutoFit/>
          </a:bodyPr>
          <a:lstStyle/>
          <a:p>
            <a:pPr marL="0" indent="0" algn="r">
              <a:buNone/>
            </a:pPr>
            <a:r>
              <a:rPr sz="480" b="0" i="0">
                <a:solidFill>
                  <a:srgbClr val="888888"/>
                </a:solidFill>
              </a:rPr>
              <a:t>12,480 available</a:t>
            </a:r>
          </a:p>
        </p:txBody>
      </p:sp>
      <p:sp>
        <p:nvSpPr>
          <p:cNvPr id="44" name="Rounded Rectangle 43"/>
          <p:cNvSpPr/>
          <p:nvPr/>
        </p:nvSpPr>
        <p:spPr>
          <a:xfrm>
            <a:off x="744565" y="2044092"/>
            <a:ext cx="1287475" cy="128747"/>
          </a:xfrm>
          <a:prstGeom prst="roundRect">
            <a:avLst>
              <a:gd name="adj" fmla="val 20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TextBox 44"/>
          <p:cNvSpPr txBox="1"/>
          <p:nvPr/>
        </p:nvSpPr>
        <p:spPr>
          <a:xfrm>
            <a:off x="798210" y="2044092"/>
            <a:ext cx="1180185" cy="128747"/>
          </a:xfrm>
          <a:prstGeom prst="rect">
            <a:avLst/>
          </a:prstGeom>
          <a:noFill/>
        </p:spPr>
        <p:txBody>
          <a:bodyPr wrap="square" lIns="0" tIns="0" rIns="0" bIns="0" anchor="ctr">
            <a:spAutoFit/>
          </a:bodyPr>
          <a:lstStyle/>
          <a:p>
            <a:pPr marL="0" indent="0" algn="l">
              <a:buNone/>
            </a:pPr>
            <a:r>
              <a:rPr sz="540" b="1" i="0">
                <a:solidFill>
                  <a:srgbClr val="222222"/>
                </a:solidFill>
              </a:rPr>
              <a:t>5,000</a:t>
            </a:r>
          </a:p>
        </p:txBody>
      </p:sp>
      <p:sp>
        <p:nvSpPr>
          <p:cNvPr id="46" name="Rounded Rectangle 45"/>
          <p:cNvSpPr/>
          <p:nvPr/>
        </p:nvSpPr>
        <p:spPr>
          <a:xfrm>
            <a:off x="2074956" y="2054821"/>
            <a:ext cx="386242" cy="107289"/>
          </a:xfrm>
          <a:prstGeom prst="roundRect">
            <a:avLst>
              <a:gd name="adj" fmla="val 50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TextBox 46"/>
          <p:cNvSpPr txBox="1"/>
          <p:nvPr/>
        </p:nvSpPr>
        <p:spPr>
          <a:xfrm>
            <a:off x="2074956" y="2054821"/>
            <a:ext cx="386242" cy="107289"/>
          </a:xfrm>
          <a:prstGeom prst="rect">
            <a:avLst/>
          </a:prstGeom>
          <a:noFill/>
        </p:spPr>
        <p:txBody>
          <a:bodyPr wrap="square" lIns="0" tIns="0" rIns="0" bIns="0" anchor="ctr">
            <a:spAutoFit/>
          </a:bodyPr>
          <a:lstStyle/>
          <a:p>
            <a:pPr marL="0" indent="0" algn="ctr">
              <a:buNone/>
            </a:pPr>
            <a:r>
              <a:rPr sz="459" b="1" i="0">
                <a:solidFill>
                  <a:srgbClr val="C8102E"/>
                </a:solidFill>
              </a:rPr>
              <a:t>Use all</a:t>
            </a:r>
          </a:p>
        </p:txBody>
      </p:sp>
      <p:sp>
        <p:nvSpPr>
          <p:cNvPr id="48" name="TextBox 47"/>
          <p:cNvSpPr txBox="1"/>
          <p:nvPr/>
        </p:nvSpPr>
        <p:spPr>
          <a:xfrm>
            <a:off x="669462" y="2247607"/>
            <a:ext cx="1072896" cy="97231"/>
          </a:xfrm>
          <a:prstGeom prst="rect">
            <a:avLst/>
          </a:prstGeom>
          <a:noFill/>
        </p:spPr>
        <p:txBody>
          <a:bodyPr wrap="square" lIns="0" tIns="0" rIns="0" bIns="0" anchor="ctr">
            <a:spAutoFit/>
          </a:bodyPr>
          <a:lstStyle/>
          <a:p>
            <a:pPr marL="0" indent="0" algn="l">
              <a:buNone/>
            </a:pPr>
            <a:r>
              <a:rPr sz="580" b="1" i="0">
                <a:solidFill>
                  <a:srgbClr val="3A3A3A"/>
                </a:solidFill>
              </a:rPr>
              <a:t>Payment method</a:t>
            </a:r>
          </a:p>
        </p:txBody>
      </p:sp>
      <p:sp>
        <p:nvSpPr>
          <p:cNvPr id="49" name="Rounded Rectangle 48"/>
          <p:cNvSpPr/>
          <p:nvPr/>
        </p:nvSpPr>
        <p:spPr>
          <a:xfrm>
            <a:off x="669462" y="2365960"/>
            <a:ext cx="1861474" cy="182392"/>
          </a:xfrm>
          <a:prstGeom prst="roundRect">
            <a:avLst>
              <a:gd name="adj" fmla="val 10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Rounded Rectangle 49"/>
          <p:cNvSpPr/>
          <p:nvPr/>
        </p:nvSpPr>
        <p:spPr>
          <a:xfrm>
            <a:off x="744565" y="2419605"/>
            <a:ext cx="75102" cy="75102"/>
          </a:xfrm>
          <a:prstGeom prst="roundRect">
            <a:avLst>
              <a:gd name="adj" fmla="val 5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1" name="TextBox 50"/>
          <p:cNvSpPr txBox="1"/>
          <p:nvPr/>
        </p:nvSpPr>
        <p:spPr>
          <a:xfrm>
            <a:off x="862584" y="2365960"/>
            <a:ext cx="1019251" cy="182392"/>
          </a:xfrm>
          <a:prstGeom prst="rect">
            <a:avLst/>
          </a:prstGeom>
          <a:noFill/>
        </p:spPr>
        <p:txBody>
          <a:bodyPr wrap="square" lIns="0" tIns="0" rIns="0" bIns="0" anchor="ctr">
            <a:spAutoFit/>
          </a:bodyPr>
          <a:lstStyle/>
          <a:p>
            <a:pPr marL="0" indent="0" algn="l">
              <a:buNone/>
            </a:pPr>
            <a:r>
              <a:rPr sz="540" b="1" i="0">
                <a:solidFill>
                  <a:srgbClr val="C8102E"/>
                </a:solidFill>
              </a:rPr>
              <a:t>MoMo</a:t>
            </a:r>
          </a:p>
        </p:txBody>
      </p:sp>
      <p:sp>
        <p:nvSpPr>
          <p:cNvPr id="52" name="Rounded Rectangle 51"/>
          <p:cNvSpPr/>
          <p:nvPr/>
        </p:nvSpPr>
        <p:spPr>
          <a:xfrm>
            <a:off x="1881835" y="2414241"/>
            <a:ext cx="579363" cy="85831"/>
          </a:xfrm>
          <a:prstGeom prst="roundRect">
            <a:avLst>
              <a:gd name="adj" fmla="val 50000"/>
            </a:avLst>
          </a:prstGeom>
          <a:solidFill>
            <a:srgbClr val="E8F5EE"/>
          </a:solidFill>
          <a:ln w="635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TextBox 52"/>
          <p:cNvSpPr txBox="1"/>
          <p:nvPr/>
        </p:nvSpPr>
        <p:spPr>
          <a:xfrm>
            <a:off x="1881835" y="2414241"/>
            <a:ext cx="579363" cy="85831"/>
          </a:xfrm>
          <a:prstGeom prst="rect">
            <a:avLst/>
          </a:prstGeom>
          <a:noFill/>
        </p:spPr>
        <p:txBody>
          <a:bodyPr wrap="square" lIns="0" tIns="0" rIns="0" bIns="0" anchor="ctr">
            <a:spAutoFit/>
          </a:bodyPr>
          <a:lstStyle/>
          <a:p>
            <a:pPr marL="0" indent="0" algn="ctr">
              <a:buNone/>
            </a:pPr>
            <a:r>
              <a:rPr sz="420" b="1" i="0">
                <a:solidFill>
                  <a:srgbClr val="1B7F4B"/>
                </a:solidFill>
              </a:rPr>
              <a:t>−10,000 ₫ back</a:t>
            </a:r>
          </a:p>
        </p:txBody>
      </p:sp>
      <p:sp>
        <p:nvSpPr>
          <p:cNvPr id="54" name="Rounded Rectangle 53"/>
          <p:cNvSpPr/>
          <p:nvPr/>
        </p:nvSpPr>
        <p:spPr>
          <a:xfrm>
            <a:off x="669462" y="2580540"/>
            <a:ext cx="1861474" cy="182392"/>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5" name="Rounded Rectangle 54"/>
          <p:cNvSpPr/>
          <p:nvPr/>
        </p:nvSpPr>
        <p:spPr>
          <a:xfrm>
            <a:off x="744565" y="2634184"/>
            <a:ext cx="75102" cy="75102"/>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6" name="TextBox 55"/>
          <p:cNvSpPr txBox="1"/>
          <p:nvPr/>
        </p:nvSpPr>
        <p:spPr>
          <a:xfrm>
            <a:off x="862584" y="2580540"/>
            <a:ext cx="1019251" cy="182392"/>
          </a:xfrm>
          <a:prstGeom prst="rect">
            <a:avLst/>
          </a:prstGeom>
          <a:noFill/>
        </p:spPr>
        <p:txBody>
          <a:bodyPr wrap="square" lIns="0" tIns="0" rIns="0" bIns="0" anchor="ctr">
            <a:spAutoFit/>
          </a:bodyPr>
          <a:lstStyle/>
          <a:p>
            <a:pPr marL="0" indent="0" algn="l">
              <a:buNone/>
            </a:pPr>
            <a:r>
              <a:rPr sz="540" b="1" i="0">
                <a:solidFill>
                  <a:srgbClr val="222222"/>
                </a:solidFill>
              </a:rPr>
              <a:t>ZaloPay</a:t>
            </a:r>
          </a:p>
        </p:txBody>
      </p:sp>
      <p:sp>
        <p:nvSpPr>
          <p:cNvPr id="57" name="Rounded Rectangle 56"/>
          <p:cNvSpPr/>
          <p:nvPr/>
        </p:nvSpPr>
        <p:spPr>
          <a:xfrm>
            <a:off x="669462" y="2795119"/>
            <a:ext cx="1861474" cy="182392"/>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8" name="Rounded Rectangle 57"/>
          <p:cNvSpPr/>
          <p:nvPr/>
        </p:nvSpPr>
        <p:spPr>
          <a:xfrm>
            <a:off x="744565" y="2848764"/>
            <a:ext cx="75102" cy="75102"/>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9" name="TextBox 58"/>
          <p:cNvSpPr txBox="1"/>
          <p:nvPr/>
        </p:nvSpPr>
        <p:spPr>
          <a:xfrm>
            <a:off x="862584" y="2795119"/>
            <a:ext cx="1019251" cy="182392"/>
          </a:xfrm>
          <a:prstGeom prst="rect">
            <a:avLst/>
          </a:prstGeom>
          <a:noFill/>
        </p:spPr>
        <p:txBody>
          <a:bodyPr wrap="square" lIns="0" tIns="0" rIns="0" bIns="0" anchor="ctr">
            <a:spAutoFit/>
          </a:bodyPr>
          <a:lstStyle/>
          <a:p>
            <a:pPr marL="0" indent="0" algn="l">
              <a:buNone/>
            </a:pPr>
            <a:r>
              <a:rPr sz="540" b="1" i="0">
                <a:solidFill>
                  <a:srgbClr val="222222"/>
                </a:solidFill>
              </a:rPr>
              <a:t>Card  ·  Visa / Master / JCB</a:t>
            </a:r>
          </a:p>
        </p:txBody>
      </p:sp>
      <p:sp>
        <p:nvSpPr>
          <p:cNvPr id="60" name="Rounded Rectangle 59"/>
          <p:cNvSpPr/>
          <p:nvPr/>
        </p:nvSpPr>
        <p:spPr>
          <a:xfrm>
            <a:off x="669462" y="3009698"/>
            <a:ext cx="1861474" cy="182392"/>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1" name="Rounded Rectangle 60"/>
          <p:cNvSpPr/>
          <p:nvPr/>
        </p:nvSpPr>
        <p:spPr>
          <a:xfrm>
            <a:off x="744565" y="3063343"/>
            <a:ext cx="75102" cy="75102"/>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2" name="TextBox 61"/>
          <p:cNvSpPr txBox="1"/>
          <p:nvPr/>
        </p:nvSpPr>
        <p:spPr>
          <a:xfrm>
            <a:off x="862584" y="3009698"/>
            <a:ext cx="1019251" cy="182392"/>
          </a:xfrm>
          <a:prstGeom prst="rect">
            <a:avLst/>
          </a:prstGeom>
          <a:noFill/>
        </p:spPr>
        <p:txBody>
          <a:bodyPr wrap="square" lIns="0" tIns="0" rIns="0" bIns="0" anchor="ctr">
            <a:spAutoFit/>
          </a:bodyPr>
          <a:lstStyle/>
          <a:p>
            <a:pPr marL="0" indent="0" algn="l">
              <a:buNone/>
            </a:pPr>
            <a:r>
              <a:rPr sz="540" b="1" i="0">
                <a:solidFill>
                  <a:srgbClr val="222222"/>
                </a:solidFill>
              </a:rPr>
              <a:t>BNPL  ·  pay in 3</a:t>
            </a:r>
          </a:p>
        </p:txBody>
      </p:sp>
      <p:sp>
        <p:nvSpPr>
          <p:cNvPr id="63" name="Rounded Rectangle 62"/>
          <p:cNvSpPr/>
          <p:nvPr/>
        </p:nvSpPr>
        <p:spPr>
          <a:xfrm>
            <a:off x="1881835" y="3057978"/>
            <a:ext cx="579363" cy="85831"/>
          </a:xfrm>
          <a:prstGeom prst="roundRect">
            <a:avLst>
              <a:gd name="adj" fmla="val 50000"/>
            </a:avLst>
          </a:prstGeom>
          <a:solidFill>
            <a:srgbClr val="E8F5EE"/>
          </a:solidFill>
          <a:ln w="635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4" name="TextBox 63"/>
          <p:cNvSpPr txBox="1"/>
          <p:nvPr/>
        </p:nvSpPr>
        <p:spPr>
          <a:xfrm>
            <a:off x="1881835" y="3057978"/>
            <a:ext cx="579363" cy="85831"/>
          </a:xfrm>
          <a:prstGeom prst="rect">
            <a:avLst/>
          </a:prstGeom>
          <a:noFill/>
        </p:spPr>
        <p:txBody>
          <a:bodyPr wrap="square" lIns="0" tIns="0" rIns="0" bIns="0" anchor="ctr">
            <a:spAutoFit/>
          </a:bodyPr>
          <a:lstStyle/>
          <a:p>
            <a:pPr marL="0" indent="0" algn="ctr">
              <a:buNone/>
            </a:pPr>
            <a:r>
              <a:rPr sz="420" b="1" i="0">
                <a:solidFill>
                  <a:srgbClr val="1B7F4B"/>
                </a:solidFill>
              </a:rPr>
              <a:t>Selected in your cart</a:t>
            </a:r>
          </a:p>
        </p:txBody>
      </p:sp>
      <p:sp>
        <p:nvSpPr>
          <p:cNvPr id="65" name="Rectangle 64"/>
          <p:cNvSpPr/>
          <p:nvPr/>
        </p:nvSpPr>
        <p:spPr>
          <a:xfrm>
            <a:off x="594360" y="4538575"/>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6" name="Rectangle 65"/>
          <p:cNvSpPr/>
          <p:nvPr/>
        </p:nvSpPr>
        <p:spPr>
          <a:xfrm>
            <a:off x="594360" y="4538575"/>
            <a:ext cx="2011679" cy="3111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7" name="TextBox 66"/>
          <p:cNvSpPr txBox="1"/>
          <p:nvPr/>
        </p:nvSpPr>
        <p:spPr>
          <a:xfrm>
            <a:off x="669462" y="4570092"/>
            <a:ext cx="858316" cy="87172"/>
          </a:xfrm>
          <a:prstGeom prst="rect">
            <a:avLst/>
          </a:prstGeom>
          <a:noFill/>
        </p:spPr>
        <p:txBody>
          <a:bodyPr wrap="square" lIns="0" tIns="0" rIns="0" bIns="0" anchor="ctr">
            <a:spAutoFit/>
          </a:bodyPr>
          <a:lstStyle/>
          <a:p>
            <a:pPr marL="0" indent="0" algn="l">
              <a:buNone/>
            </a:pPr>
            <a:r>
              <a:rPr sz="520" b="0" i="0">
                <a:solidFill>
                  <a:srgbClr val="888888"/>
                </a:solidFill>
              </a:rPr>
              <a:t>Amount payable</a:t>
            </a:r>
          </a:p>
        </p:txBody>
      </p:sp>
      <p:sp>
        <p:nvSpPr>
          <p:cNvPr id="68" name="TextBox 67"/>
          <p:cNvSpPr txBox="1"/>
          <p:nvPr/>
        </p:nvSpPr>
        <p:spPr>
          <a:xfrm>
            <a:off x="669462" y="4621724"/>
            <a:ext cx="858316" cy="134112"/>
          </a:xfrm>
          <a:prstGeom prst="rect">
            <a:avLst/>
          </a:prstGeom>
          <a:noFill/>
        </p:spPr>
        <p:txBody>
          <a:bodyPr wrap="square" lIns="0" tIns="0" rIns="0" bIns="0" anchor="ctr">
            <a:spAutoFit/>
          </a:bodyPr>
          <a:lstStyle/>
          <a:p>
            <a:pPr marL="0" indent="0" algn="l">
              <a:buNone/>
            </a:pPr>
            <a:r>
              <a:rPr sz="800" b="1" i="0">
                <a:solidFill>
                  <a:srgbClr val="C8102E"/>
                </a:solidFill>
              </a:rPr>
              <a:t>423,000 ₫</a:t>
            </a:r>
          </a:p>
        </p:txBody>
      </p:sp>
      <p:sp>
        <p:nvSpPr>
          <p:cNvPr id="69" name="Rounded Rectangle 68"/>
          <p:cNvSpPr/>
          <p:nvPr/>
        </p:nvSpPr>
        <p:spPr>
          <a:xfrm>
            <a:off x="1801368" y="4602949"/>
            <a:ext cx="729569" cy="160934"/>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0" name="TextBox 69"/>
          <p:cNvSpPr txBox="1"/>
          <p:nvPr/>
        </p:nvSpPr>
        <p:spPr>
          <a:xfrm>
            <a:off x="1801368" y="4602949"/>
            <a:ext cx="729569" cy="160934"/>
          </a:xfrm>
          <a:prstGeom prst="rect">
            <a:avLst/>
          </a:prstGeom>
          <a:noFill/>
        </p:spPr>
        <p:txBody>
          <a:bodyPr wrap="square" lIns="0" tIns="0" rIns="0" bIns="0" anchor="ctr">
            <a:spAutoFit/>
          </a:bodyPr>
          <a:lstStyle/>
          <a:p>
            <a:pPr marL="0" indent="0" algn="ctr">
              <a:buNone/>
            </a:pPr>
            <a:r>
              <a:rPr sz="650" b="1" i="0">
                <a:solidFill>
                  <a:srgbClr val="FFFFFF"/>
                </a:solidFill>
              </a:rPr>
              <a:t>Place order</a:t>
            </a:r>
          </a:p>
        </p:txBody>
      </p:sp>
      <p:sp>
        <p:nvSpPr>
          <p:cNvPr id="71" name="Oval 70"/>
          <p:cNvSpPr/>
          <p:nvPr/>
        </p:nvSpPr>
        <p:spPr>
          <a:xfrm>
            <a:off x="379781" y="126624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2" name="TextBox 71"/>
          <p:cNvSpPr txBox="1"/>
          <p:nvPr/>
        </p:nvSpPr>
        <p:spPr>
          <a:xfrm>
            <a:off x="379781" y="126624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73" name="Oval 72"/>
          <p:cNvSpPr/>
          <p:nvPr/>
        </p:nvSpPr>
        <p:spPr>
          <a:xfrm>
            <a:off x="379781" y="1588111"/>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TextBox 73"/>
          <p:cNvSpPr txBox="1"/>
          <p:nvPr/>
        </p:nvSpPr>
        <p:spPr>
          <a:xfrm>
            <a:off x="379781" y="1588111"/>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75" name="Oval 74"/>
          <p:cNvSpPr/>
          <p:nvPr/>
        </p:nvSpPr>
        <p:spPr>
          <a:xfrm>
            <a:off x="379781" y="1963624"/>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6" name="TextBox 75"/>
          <p:cNvSpPr txBox="1"/>
          <p:nvPr/>
        </p:nvSpPr>
        <p:spPr>
          <a:xfrm>
            <a:off x="379781" y="1963624"/>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77" name="Oval 76"/>
          <p:cNvSpPr/>
          <p:nvPr/>
        </p:nvSpPr>
        <p:spPr>
          <a:xfrm>
            <a:off x="379781" y="2414241"/>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8" name="TextBox 77"/>
          <p:cNvSpPr txBox="1"/>
          <p:nvPr/>
        </p:nvSpPr>
        <p:spPr>
          <a:xfrm>
            <a:off x="379781" y="2414241"/>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79" name="Oval 78"/>
          <p:cNvSpPr/>
          <p:nvPr/>
        </p:nvSpPr>
        <p:spPr>
          <a:xfrm>
            <a:off x="379781" y="302579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0" name="TextBox 79"/>
          <p:cNvSpPr txBox="1"/>
          <p:nvPr/>
        </p:nvSpPr>
        <p:spPr>
          <a:xfrm>
            <a:off x="379781" y="302579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81" name="Rounded Rectangle 80"/>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2" name="Rectangle 81"/>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TextBox 82"/>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Step 2  ·  VAT invoice, final summary, policies</a:t>
            </a:r>
          </a:p>
        </p:txBody>
      </p:sp>
      <p:sp>
        <p:nvSpPr>
          <p:cNvPr id="84" name="TextBox 83"/>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85" name="TextBox 84"/>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86" name="Rectangle 85"/>
          <p:cNvSpPr/>
          <p:nvPr/>
        </p:nvSpPr>
        <p:spPr>
          <a:xfrm>
            <a:off x="338328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7" name="TextBox 86"/>
          <p:cNvSpPr txBox="1"/>
          <p:nvPr/>
        </p:nvSpPr>
        <p:spPr>
          <a:xfrm>
            <a:off x="344765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88" name="TextBox 87"/>
          <p:cNvSpPr txBox="1"/>
          <p:nvPr/>
        </p:nvSpPr>
        <p:spPr>
          <a:xfrm>
            <a:off x="356567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Payment</a:t>
            </a:r>
          </a:p>
        </p:txBody>
      </p:sp>
      <p:sp>
        <p:nvSpPr>
          <p:cNvPr id="89" name="Rectangle 88"/>
          <p:cNvSpPr/>
          <p:nvPr/>
        </p:nvSpPr>
        <p:spPr>
          <a:xfrm>
            <a:off x="338328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0" name="Rounded Rectangle 89"/>
          <p:cNvSpPr/>
          <p:nvPr/>
        </p:nvSpPr>
        <p:spPr>
          <a:xfrm>
            <a:off x="3458382" y="1250149"/>
            <a:ext cx="1861474" cy="332597"/>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1" name="TextBox 90"/>
          <p:cNvSpPr txBox="1"/>
          <p:nvPr/>
        </p:nvSpPr>
        <p:spPr>
          <a:xfrm>
            <a:off x="3533485" y="1269259"/>
            <a:ext cx="1287475" cy="90525"/>
          </a:xfrm>
          <a:prstGeom prst="rect">
            <a:avLst/>
          </a:prstGeom>
          <a:noFill/>
        </p:spPr>
        <p:txBody>
          <a:bodyPr wrap="square" lIns="0" tIns="0" rIns="0" bIns="0" anchor="ctr">
            <a:spAutoFit/>
          </a:bodyPr>
          <a:lstStyle/>
          <a:p>
            <a:pPr marL="0" indent="0" algn="l">
              <a:buNone/>
            </a:pPr>
            <a:r>
              <a:rPr sz="540" b="1" i="0">
                <a:solidFill>
                  <a:srgbClr val="3A3A3A"/>
                </a:solidFill>
              </a:rPr>
              <a:t>VAT invoice</a:t>
            </a:r>
          </a:p>
        </p:txBody>
      </p:sp>
      <p:sp>
        <p:nvSpPr>
          <p:cNvPr id="92" name="Rounded Rectangle 91"/>
          <p:cNvSpPr/>
          <p:nvPr/>
        </p:nvSpPr>
        <p:spPr>
          <a:xfrm>
            <a:off x="5046268" y="1303793"/>
            <a:ext cx="193121" cy="107289"/>
          </a:xfrm>
          <a:prstGeom prst="roundRect">
            <a:avLst>
              <a:gd name="adj" fmla="val 5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3" name="Rounded Rectangle 92"/>
          <p:cNvSpPr/>
          <p:nvPr/>
        </p:nvSpPr>
        <p:spPr>
          <a:xfrm>
            <a:off x="5142829" y="1314522"/>
            <a:ext cx="85831" cy="85831"/>
          </a:xfrm>
          <a:prstGeom prst="roundRect">
            <a:avLst>
              <a:gd name="adj" fmla="val 50000"/>
            </a:avLst>
          </a:prstGeom>
          <a:solidFill>
            <a:srgbClr val="FFFFFF"/>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4" name="TextBox 93"/>
          <p:cNvSpPr txBox="1"/>
          <p:nvPr/>
        </p:nvSpPr>
        <p:spPr>
          <a:xfrm>
            <a:off x="3533485" y="1369173"/>
            <a:ext cx="1711269" cy="83820"/>
          </a:xfrm>
          <a:prstGeom prst="rect">
            <a:avLst/>
          </a:prstGeom>
          <a:noFill/>
        </p:spPr>
        <p:txBody>
          <a:bodyPr wrap="square" lIns="0" tIns="0" rIns="0" bIns="0" anchor="ctr">
            <a:spAutoFit/>
          </a:bodyPr>
          <a:lstStyle/>
          <a:p>
            <a:pPr marL="0" indent="0" algn="l">
              <a:buNone/>
            </a:pPr>
            <a:r>
              <a:rPr sz="500" b="0" i="0">
                <a:solidFill>
                  <a:srgbClr val="555555"/>
                </a:solidFill>
              </a:rPr>
              <a:t>Company · Tax code · Company address</a:t>
            </a:r>
          </a:p>
        </p:txBody>
      </p:sp>
      <p:sp>
        <p:nvSpPr>
          <p:cNvPr id="95" name="TextBox 94"/>
          <p:cNvSpPr txBox="1"/>
          <p:nvPr/>
        </p:nvSpPr>
        <p:spPr>
          <a:xfrm>
            <a:off x="3533485" y="1458358"/>
            <a:ext cx="1711269" cy="77114"/>
          </a:xfrm>
          <a:prstGeom prst="rect">
            <a:avLst/>
          </a:prstGeom>
          <a:noFill/>
        </p:spPr>
        <p:txBody>
          <a:bodyPr wrap="square" lIns="0" tIns="0" rIns="0" bIns="0" anchor="ctr">
            <a:spAutoFit/>
          </a:bodyPr>
          <a:lstStyle/>
          <a:p>
            <a:pPr marL="0" indent="0" algn="l">
              <a:buNone/>
            </a:pPr>
            <a:r>
              <a:rPr sz="459" b="0" i="0">
                <a:solidFill>
                  <a:srgbClr val="B26A00"/>
                </a:solidFill>
              </a:rPr>
              <a:t>Rules unchanged from today?  TBC — OQ-19</a:t>
            </a:r>
          </a:p>
        </p:txBody>
      </p:sp>
      <p:sp>
        <p:nvSpPr>
          <p:cNvPr id="96" name="Rounded Rectangle 95"/>
          <p:cNvSpPr/>
          <p:nvPr/>
        </p:nvSpPr>
        <p:spPr>
          <a:xfrm>
            <a:off x="3458382" y="1636391"/>
            <a:ext cx="1861474" cy="944148"/>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7" name="TextBox 96"/>
          <p:cNvSpPr txBox="1"/>
          <p:nvPr/>
        </p:nvSpPr>
        <p:spPr>
          <a:xfrm>
            <a:off x="3533485" y="1668243"/>
            <a:ext cx="1072896" cy="97231"/>
          </a:xfrm>
          <a:prstGeom prst="rect">
            <a:avLst/>
          </a:prstGeom>
          <a:noFill/>
        </p:spPr>
        <p:txBody>
          <a:bodyPr wrap="square" lIns="0" tIns="0" rIns="0" bIns="0" anchor="ctr">
            <a:spAutoFit/>
          </a:bodyPr>
          <a:lstStyle/>
          <a:p>
            <a:pPr marL="0" indent="0" algn="l">
              <a:buNone/>
            </a:pPr>
            <a:r>
              <a:rPr sz="580" b="1" i="0">
                <a:solidFill>
                  <a:srgbClr val="3A3A3A"/>
                </a:solidFill>
              </a:rPr>
              <a:t>Payment summary</a:t>
            </a:r>
          </a:p>
        </p:txBody>
      </p:sp>
      <p:sp>
        <p:nvSpPr>
          <p:cNvPr id="98" name="TextBox 97"/>
          <p:cNvSpPr txBox="1"/>
          <p:nvPr/>
        </p:nvSpPr>
        <p:spPr>
          <a:xfrm>
            <a:off x="3458382" y="1785927"/>
            <a:ext cx="1072896" cy="87172"/>
          </a:xfrm>
          <a:prstGeom prst="rect">
            <a:avLst/>
          </a:prstGeom>
          <a:noFill/>
        </p:spPr>
        <p:txBody>
          <a:bodyPr wrap="square" lIns="0" tIns="0" rIns="0" bIns="0" anchor="ctr">
            <a:spAutoFit/>
          </a:bodyPr>
          <a:lstStyle/>
          <a:p>
            <a:pPr marL="0" indent="0" algn="l">
              <a:buNone/>
            </a:pPr>
            <a:r>
              <a:rPr sz="520" b="0" i="0">
                <a:solidFill>
                  <a:srgbClr val="555555"/>
                </a:solidFill>
              </a:rPr>
              <a:t>Order value</a:t>
            </a:r>
          </a:p>
        </p:txBody>
      </p:sp>
      <p:sp>
        <p:nvSpPr>
          <p:cNvPr id="99" name="TextBox 98"/>
          <p:cNvSpPr txBox="1"/>
          <p:nvPr/>
        </p:nvSpPr>
        <p:spPr>
          <a:xfrm>
            <a:off x="4568830" y="1785927"/>
            <a:ext cx="751027" cy="87172"/>
          </a:xfrm>
          <a:prstGeom prst="rect">
            <a:avLst/>
          </a:prstGeom>
          <a:noFill/>
        </p:spPr>
        <p:txBody>
          <a:bodyPr wrap="square" lIns="0" tIns="0" rIns="0" bIns="0" anchor="ctr">
            <a:spAutoFit/>
          </a:bodyPr>
          <a:lstStyle/>
          <a:p>
            <a:pPr marL="0" indent="0" algn="r">
              <a:buNone/>
            </a:pPr>
            <a:r>
              <a:rPr sz="520" b="0" i="0">
                <a:solidFill>
                  <a:srgbClr val="555555"/>
                </a:solidFill>
              </a:rPr>
              <a:t>486,000 ₫</a:t>
            </a:r>
          </a:p>
        </p:txBody>
      </p:sp>
      <p:sp>
        <p:nvSpPr>
          <p:cNvPr id="100" name="TextBox 99"/>
          <p:cNvSpPr txBox="1"/>
          <p:nvPr/>
        </p:nvSpPr>
        <p:spPr>
          <a:xfrm>
            <a:off x="3458382" y="1871758"/>
            <a:ext cx="1072896" cy="87172"/>
          </a:xfrm>
          <a:prstGeom prst="rect">
            <a:avLst/>
          </a:prstGeom>
          <a:noFill/>
        </p:spPr>
        <p:txBody>
          <a:bodyPr wrap="square" lIns="0" tIns="0" rIns="0" bIns="0" anchor="ctr">
            <a:spAutoFit/>
          </a:bodyPr>
          <a:lstStyle/>
          <a:p>
            <a:pPr marL="0" indent="0" algn="l">
              <a:buNone/>
            </a:pPr>
            <a:r>
              <a:rPr sz="520" b="0" i="0">
                <a:solidFill>
                  <a:srgbClr val="555555"/>
                </a:solidFill>
              </a:rPr>
              <a:t>Nylon bag</a:t>
            </a:r>
          </a:p>
        </p:txBody>
      </p:sp>
      <p:sp>
        <p:nvSpPr>
          <p:cNvPr id="101" name="TextBox 100"/>
          <p:cNvSpPr txBox="1"/>
          <p:nvPr/>
        </p:nvSpPr>
        <p:spPr>
          <a:xfrm>
            <a:off x="4568830" y="1871758"/>
            <a:ext cx="751027" cy="87172"/>
          </a:xfrm>
          <a:prstGeom prst="rect">
            <a:avLst/>
          </a:prstGeom>
          <a:noFill/>
        </p:spPr>
        <p:txBody>
          <a:bodyPr wrap="square" lIns="0" tIns="0" rIns="0" bIns="0" anchor="ctr">
            <a:spAutoFit/>
          </a:bodyPr>
          <a:lstStyle/>
          <a:p>
            <a:pPr marL="0" indent="0" algn="r">
              <a:buNone/>
            </a:pPr>
            <a:r>
              <a:rPr sz="520" b="0" i="0">
                <a:solidFill>
                  <a:srgbClr val="555555"/>
                </a:solidFill>
              </a:rPr>
              <a:t>2,000 ₫</a:t>
            </a:r>
          </a:p>
        </p:txBody>
      </p:sp>
      <p:sp>
        <p:nvSpPr>
          <p:cNvPr id="102" name="TextBox 101"/>
          <p:cNvSpPr txBox="1"/>
          <p:nvPr/>
        </p:nvSpPr>
        <p:spPr>
          <a:xfrm>
            <a:off x="3458382" y="1957590"/>
            <a:ext cx="1072896" cy="87172"/>
          </a:xfrm>
          <a:prstGeom prst="rect">
            <a:avLst/>
          </a:prstGeom>
          <a:noFill/>
        </p:spPr>
        <p:txBody>
          <a:bodyPr wrap="square" lIns="0" tIns="0" rIns="0" bIns="0" anchor="ctr">
            <a:spAutoFit/>
          </a:bodyPr>
          <a:lstStyle/>
          <a:p>
            <a:pPr marL="0" indent="0" algn="l">
              <a:buNone/>
            </a:pPr>
            <a:r>
              <a:rPr sz="520" b="0" i="0">
                <a:solidFill>
                  <a:srgbClr val="555555"/>
                </a:solidFill>
              </a:rPr>
              <a:t>Delivery fee</a:t>
            </a:r>
          </a:p>
        </p:txBody>
      </p:sp>
      <p:sp>
        <p:nvSpPr>
          <p:cNvPr id="103" name="TextBox 102"/>
          <p:cNvSpPr txBox="1"/>
          <p:nvPr/>
        </p:nvSpPr>
        <p:spPr>
          <a:xfrm>
            <a:off x="4568830" y="1957590"/>
            <a:ext cx="751027" cy="87172"/>
          </a:xfrm>
          <a:prstGeom prst="rect">
            <a:avLst/>
          </a:prstGeom>
          <a:noFill/>
        </p:spPr>
        <p:txBody>
          <a:bodyPr wrap="square" lIns="0" tIns="0" rIns="0" bIns="0" anchor="ctr">
            <a:spAutoFit/>
          </a:bodyPr>
          <a:lstStyle/>
          <a:p>
            <a:pPr marL="0" indent="0" algn="r">
              <a:buNone/>
            </a:pPr>
            <a:r>
              <a:rPr sz="520" b="0" i="0">
                <a:solidFill>
                  <a:srgbClr val="555555"/>
                </a:solidFill>
              </a:rPr>
              <a:t>Free</a:t>
            </a:r>
          </a:p>
        </p:txBody>
      </p:sp>
      <p:sp>
        <p:nvSpPr>
          <p:cNvPr id="104" name="TextBox 103"/>
          <p:cNvSpPr txBox="1"/>
          <p:nvPr/>
        </p:nvSpPr>
        <p:spPr>
          <a:xfrm>
            <a:off x="3458382" y="2043422"/>
            <a:ext cx="1072896" cy="87172"/>
          </a:xfrm>
          <a:prstGeom prst="rect">
            <a:avLst/>
          </a:prstGeom>
          <a:noFill/>
        </p:spPr>
        <p:txBody>
          <a:bodyPr wrap="square" lIns="0" tIns="0" rIns="0" bIns="0" anchor="ctr">
            <a:spAutoFit/>
          </a:bodyPr>
          <a:lstStyle/>
          <a:p>
            <a:pPr marL="0" indent="0" algn="l">
              <a:buNone/>
            </a:pPr>
            <a:r>
              <a:rPr sz="520" b="0" i="0">
                <a:solidFill>
                  <a:srgbClr val="555555"/>
                </a:solidFill>
              </a:rPr>
              <a:t>Bulky surcharge</a:t>
            </a:r>
          </a:p>
        </p:txBody>
      </p:sp>
      <p:sp>
        <p:nvSpPr>
          <p:cNvPr id="105" name="TextBox 104"/>
          <p:cNvSpPr txBox="1"/>
          <p:nvPr/>
        </p:nvSpPr>
        <p:spPr>
          <a:xfrm>
            <a:off x="4568830" y="2043422"/>
            <a:ext cx="751027" cy="87172"/>
          </a:xfrm>
          <a:prstGeom prst="rect">
            <a:avLst/>
          </a:prstGeom>
          <a:noFill/>
        </p:spPr>
        <p:txBody>
          <a:bodyPr wrap="square" lIns="0" tIns="0" rIns="0" bIns="0" anchor="ctr">
            <a:spAutoFit/>
          </a:bodyPr>
          <a:lstStyle/>
          <a:p>
            <a:pPr marL="0" indent="0" algn="r">
              <a:buNone/>
            </a:pPr>
            <a:r>
              <a:rPr sz="520" b="0" i="0">
                <a:solidFill>
                  <a:srgbClr val="555555"/>
                </a:solidFill>
              </a:rPr>
              <a:t>—</a:t>
            </a:r>
          </a:p>
        </p:txBody>
      </p:sp>
      <p:sp>
        <p:nvSpPr>
          <p:cNvPr id="106" name="TextBox 105"/>
          <p:cNvSpPr txBox="1"/>
          <p:nvPr/>
        </p:nvSpPr>
        <p:spPr>
          <a:xfrm>
            <a:off x="3458382" y="2129253"/>
            <a:ext cx="1072896" cy="87172"/>
          </a:xfrm>
          <a:prstGeom prst="rect">
            <a:avLst/>
          </a:prstGeom>
          <a:noFill/>
        </p:spPr>
        <p:txBody>
          <a:bodyPr wrap="square" lIns="0" tIns="0" rIns="0" bIns="0" anchor="ctr">
            <a:spAutoFit/>
          </a:bodyPr>
          <a:lstStyle/>
          <a:p>
            <a:pPr marL="0" indent="0" algn="l">
              <a:buNone/>
            </a:pPr>
            <a:r>
              <a:rPr sz="520" b="0" i="0">
                <a:solidFill>
                  <a:srgbClr val="555555"/>
                </a:solidFill>
              </a:rPr>
              <a:t>Product discount</a:t>
            </a:r>
          </a:p>
        </p:txBody>
      </p:sp>
      <p:sp>
        <p:nvSpPr>
          <p:cNvPr id="107" name="TextBox 106"/>
          <p:cNvSpPr txBox="1"/>
          <p:nvPr/>
        </p:nvSpPr>
        <p:spPr>
          <a:xfrm>
            <a:off x="4568830" y="2129253"/>
            <a:ext cx="751027" cy="87172"/>
          </a:xfrm>
          <a:prstGeom prst="rect">
            <a:avLst/>
          </a:prstGeom>
          <a:noFill/>
        </p:spPr>
        <p:txBody>
          <a:bodyPr wrap="square" lIns="0" tIns="0" rIns="0" bIns="0" anchor="ctr">
            <a:spAutoFit/>
          </a:bodyPr>
          <a:lstStyle/>
          <a:p>
            <a:pPr marL="0" indent="0" algn="r">
              <a:buNone/>
            </a:pPr>
            <a:r>
              <a:rPr sz="520" b="0" i="0">
                <a:solidFill>
                  <a:srgbClr val="555555"/>
                </a:solidFill>
              </a:rPr>
              <a:t>−40,000 ₫</a:t>
            </a:r>
          </a:p>
        </p:txBody>
      </p:sp>
      <p:sp>
        <p:nvSpPr>
          <p:cNvPr id="108" name="TextBox 107"/>
          <p:cNvSpPr txBox="1"/>
          <p:nvPr/>
        </p:nvSpPr>
        <p:spPr>
          <a:xfrm>
            <a:off x="3458382" y="2215085"/>
            <a:ext cx="1072896" cy="87172"/>
          </a:xfrm>
          <a:prstGeom prst="rect">
            <a:avLst/>
          </a:prstGeom>
          <a:noFill/>
        </p:spPr>
        <p:txBody>
          <a:bodyPr wrap="square" lIns="0" tIns="0" rIns="0" bIns="0" anchor="ctr">
            <a:spAutoFit/>
          </a:bodyPr>
          <a:lstStyle/>
          <a:p>
            <a:pPr marL="0" indent="0" algn="l">
              <a:buNone/>
            </a:pPr>
            <a:r>
              <a:rPr sz="520" b="0" i="0">
                <a:solidFill>
                  <a:srgbClr val="555555"/>
                </a:solidFill>
              </a:rPr>
              <a:t>Delivery discount</a:t>
            </a:r>
          </a:p>
        </p:txBody>
      </p:sp>
      <p:sp>
        <p:nvSpPr>
          <p:cNvPr id="109" name="TextBox 108"/>
          <p:cNvSpPr txBox="1"/>
          <p:nvPr/>
        </p:nvSpPr>
        <p:spPr>
          <a:xfrm>
            <a:off x="4568830" y="2215085"/>
            <a:ext cx="751027" cy="87172"/>
          </a:xfrm>
          <a:prstGeom prst="rect">
            <a:avLst/>
          </a:prstGeom>
          <a:noFill/>
        </p:spPr>
        <p:txBody>
          <a:bodyPr wrap="square" lIns="0" tIns="0" rIns="0" bIns="0" anchor="ctr">
            <a:spAutoFit/>
          </a:bodyPr>
          <a:lstStyle/>
          <a:p>
            <a:pPr marL="0" indent="0" algn="r">
              <a:buNone/>
            </a:pPr>
            <a:r>
              <a:rPr sz="520" b="0" i="0">
                <a:solidFill>
                  <a:srgbClr val="555555"/>
                </a:solidFill>
              </a:rPr>
              <a:t>−20,000 ₫</a:t>
            </a:r>
          </a:p>
        </p:txBody>
      </p:sp>
      <p:sp>
        <p:nvSpPr>
          <p:cNvPr id="110" name="TextBox 109"/>
          <p:cNvSpPr txBox="1"/>
          <p:nvPr/>
        </p:nvSpPr>
        <p:spPr>
          <a:xfrm>
            <a:off x="3458382" y="2300917"/>
            <a:ext cx="1072896" cy="87172"/>
          </a:xfrm>
          <a:prstGeom prst="rect">
            <a:avLst/>
          </a:prstGeom>
          <a:noFill/>
        </p:spPr>
        <p:txBody>
          <a:bodyPr wrap="square" lIns="0" tIns="0" rIns="0" bIns="0" anchor="ctr">
            <a:spAutoFit/>
          </a:bodyPr>
          <a:lstStyle/>
          <a:p>
            <a:pPr marL="0" indent="0" algn="l">
              <a:buNone/>
            </a:pPr>
            <a:r>
              <a:rPr sz="520" b="0" i="0">
                <a:solidFill>
                  <a:srgbClr val="555555"/>
                </a:solidFill>
              </a:rPr>
              <a:t>Gift card</a:t>
            </a:r>
          </a:p>
        </p:txBody>
      </p:sp>
      <p:sp>
        <p:nvSpPr>
          <p:cNvPr id="111" name="TextBox 110"/>
          <p:cNvSpPr txBox="1"/>
          <p:nvPr/>
        </p:nvSpPr>
        <p:spPr>
          <a:xfrm>
            <a:off x="4568830" y="2300917"/>
            <a:ext cx="751027" cy="87172"/>
          </a:xfrm>
          <a:prstGeom prst="rect">
            <a:avLst/>
          </a:prstGeom>
          <a:noFill/>
        </p:spPr>
        <p:txBody>
          <a:bodyPr wrap="square" lIns="0" tIns="0" rIns="0" bIns="0" anchor="ctr">
            <a:spAutoFit/>
          </a:bodyPr>
          <a:lstStyle/>
          <a:p>
            <a:pPr marL="0" indent="0" algn="r">
              <a:buNone/>
            </a:pPr>
            <a:r>
              <a:rPr sz="520" b="0" i="0">
                <a:solidFill>
                  <a:srgbClr val="555555"/>
                </a:solidFill>
              </a:rPr>
              <a:t>—</a:t>
            </a:r>
          </a:p>
        </p:txBody>
      </p:sp>
      <p:sp>
        <p:nvSpPr>
          <p:cNvPr id="112" name="TextBox 111"/>
          <p:cNvSpPr txBox="1"/>
          <p:nvPr/>
        </p:nvSpPr>
        <p:spPr>
          <a:xfrm>
            <a:off x="3458382" y="2386748"/>
            <a:ext cx="1072896" cy="87172"/>
          </a:xfrm>
          <a:prstGeom prst="rect">
            <a:avLst/>
          </a:prstGeom>
          <a:noFill/>
        </p:spPr>
        <p:txBody>
          <a:bodyPr wrap="square" lIns="0" tIns="0" rIns="0" bIns="0" anchor="ctr">
            <a:spAutoFit/>
          </a:bodyPr>
          <a:lstStyle/>
          <a:p>
            <a:pPr marL="0" indent="0" algn="l">
              <a:buNone/>
            </a:pPr>
            <a:r>
              <a:rPr sz="520" b="0" i="0">
                <a:solidFill>
                  <a:srgbClr val="555555"/>
                </a:solidFill>
              </a:rPr>
              <a:t>Points used</a:t>
            </a:r>
          </a:p>
        </p:txBody>
      </p:sp>
      <p:sp>
        <p:nvSpPr>
          <p:cNvPr id="113" name="TextBox 112"/>
          <p:cNvSpPr txBox="1"/>
          <p:nvPr/>
        </p:nvSpPr>
        <p:spPr>
          <a:xfrm>
            <a:off x="4568830" y="2386748"/>
            <a:ext cx="751027" cy="87172"/>
          </a:xfrm>
          <a:prstGeom prst="rect">
            <a:avLst/>
          </a:prstGeom>
          <a:noFill/>
        </p:spPr>
        <p:txBody>
          <a:bodyPr wrap="square" lIns="0" tIns="0" rIns="0" bIns="0" anchor="ctr">
            <a:spAutoFit/>
          </a:bodyPr>
          <a:lstStyle/>
          <a:p>
            <a:pPr marL="0" indent="0" algn="r">
              <a:buNone/>
            </a:pPr>
            <a:r>
              <a:rPr sz="520" b="0" i="0">
                <a:solidFill>
                  <a:srgbClr val="555555"/>
                </a:solidFill>
              </a:rPr>
              <a:t>−5,000 ₫</a:t>
            </a:r>
          </a:p>
        </p:txBody>
      </p:sp>
      <p:sp>
        <p:nvSpPr>
          <p:cNvPr id="114" name="TextBox 113"/>
          <p:cNvSpPr txBox="1"/>
          <p:nvPr/>
        </p:nvSpPr>
        <p:spPr>
          <a:xfrm>
            <a:off x="3458382" y="2467550"/>
            <a:ext cx="1072896" cy="97231"/>
          </a:xfrm>
          <a:prstGeom prst="rect">
            <a:avLst/>
          </a:prstGeom>
          <a:noFill/>
        </p:spPr>
        <p:txBody>
          <a:bodyPr wrap="square" lIns="0" tIns="0" rIns="0" bIns="0" anchor="ctr">
            <a:spAutoFit/>
          </a:bodyPr>
          <a:lstStyle/>
          <a:p>
            <a:pPr marL="0" indent="0" algn="l">
              <a:buNone/>
            </a:pPr>
            <a:r>
              <a:rPr sz="580" b="1" i="0">
                <a:solidFill>
                  <a:srgbClr val="222222"/>
                </a:solidFill>
              </a:rPr>
              <a:t>Amount payable</a:t>
            </a:r>
          </a:p>
        </p:txBody>
      </p:sp>
      <p:sp>
        <p:nvSpPr>
          <p:cNvPr id="115" name="TextBox 114"/>
          <p:cNvSpPr txBox="1"/>
          <p:nvPr/>
        </p:nvSpPr>
        <p:spPr>
          <a:xfrm>
            <a:off x="4568830" y="2467550"/>
            <a:ext cx="751027" cy="97231"/>
          </a:xfrm>
          <a:prstGeom prst="rect">
            <a:avLst/>
          </a:prstGeom>
          <a:noFill/>
        </p:spPr>
        <p:txBody>
          <a:bodyPr wrap="square" lIns="0" tIns="0" rIns="0" bIns="0" anchor="ctr">
            <a:spAutoFit/>
          </a:bodyPr>
          <a:lstStyle/>
          <a:p>
            <a:pPr marL="0" indent="0" algn="r">
              <a:buNone/>
            </a:pPr>
            <a:r>
              <a:rPr sz="580" b="1" i="0">
                <a:solidFill>
                  <a:srgbClr val="222222"/>
                </a:solidFill>
              </a:rPr>
              <a:t>423,000 ₫</a:t>
            </a:r>
          </a:p>
        </p:txBody>
      </p:sp>
      <p:sp>
        <p:nvSpPr>
          <p:cNvPr id="116" name="Rounded Rectangle 115"/>
          <p:cNvSpPr/>
          <p:nvPr/>
        </p:nvSpPr>
        <p:spPr>
          <a:xfrm>
            <a:off x="3458382" y="2623455"/>
            <a:ext cx="1861474" cy="182392"/>
          </a:xfrm>
          <a:prstGeom prst="roundRect">
            <a:avLst>
              <a:gd name="adj" fmla="val 10000"/>
            </a:avLst>
          </a:prstGeom>
          <a:solidFill>
            <a:srgbClr val="E8F5EE"/>
          </a:solidFill>
          <a:ln w="635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7" name="TextBox 116"/>
          <p:cNvSpPr txBox="1"/>
          <p:nvPr/>
        </p:nvSpPr>
        <p:spPr>
          <a:xfrm>
            <a:off x="3533485" y="2623455"/>
            <a:ext cx="1711269" cy="182392"/>
          </a:xfrm>
          <a:prstGeom prst="rect">
            <a:avLst/>
          </a:prstGeom>
          <a:noFill/>
        </p:spPr>
        <p:txBody>
          <a:bodyPr wrap="square" lIns="0" tIns="0" rIns="0" bIns="0" anchor="ctr">
            <a:spAutoFit/>
          </a:bodyPr>
          <a:lstStyle/>
          <a:p>
            <a:pPr marL="0" indent="0" algn="l">
              <a:buNone/>
            </a:pPr>
            <a:r>
              <a:rPr sz="520" b="1" i="0">
                <a:solidFill>
                  <a:srgbClr val="14603A"/>
                </a:solidFill>
              </a:rPr>
              <a:t>You will earn 4,230 points from this order</a:t>
            </a:r>
          </a:p>
        </p:txBody>
      </p:sp>
      <p:sp>
        <p:nvSpPr>
          <p:cNvPr id="118" name="TextBox 117"/>
          <p:cNvSpPr txBox="1"/>
          <p:nvPr/>
        </p:nvSpPr>
        <p:spPr>
          <a:xfrm>
            <a:off x="3458382" y="2848764"/>
            <a:ext cx="1861474" cy="214579"/>
          </a:xfrm>
          <a:prstGeom prst="rect">
            <a:avLst/>
          </a:prstGeom>
          <a:noFill/>
        </p:spPr>
        <p:txBody>
          <a:bodyPr wrap="square" lIns="0" tIns="0" rIns="0" bIns="0" anchor="t">
            <a:spAutoFit/>
          </a:bodyPr>
          <a:lstStyle/>
          <a:p>
            <a:pPr marL="0" indent="0" algn="l">
              <a:buNone/>
            </a:pPr>
            <a:r>
              <a:rPr sz="500" b="0" i="0">
                <a:solidFill>
                  <a:srgbClr val="888888"/>
                </a:solidFill>
              </a:rPr>
              <a:t>By placing this order you accept the Return Policy, Purchase Policy and Privacy Policy.</a:t>
            </a:r>
          </a:p>
        </p:txBody>
      </p:sp>
      <p:sp>
        <p:nvSpPr>
          <p:cNvPr id="119" name="Rectangle 118"/>
          <p:cNvSpPr/>
          <p:nvPr/>
        </p:nvSpPr>
        <p:spPr>
          <a:xfrm>
            <a:off x="3383280" y="4538575"/>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0" name="Rectangle 119"/>
          <p:cNvSpPr/>
          <p:nvPr/>
        </p:nvSpPr>
        <p:spPr>
          <a:xfrm>
            <a:off x="3383280" y="4538575"/>
            <a:ext cx="2011679" cy="3111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1" name="TextBox 120"/>
          <p:cNvSpPr txBox="1"/>
          <p:nvPr/>
        </p:nvSpPr>
        <p:spPr>
          <a:xfrm>
            <a:off x="3458382" y="4570092"/>
            <a:ext cx="858316" cy="87172"/>
          </a:xfrm>
          <a:prstGeom prst="rect">
            <a:avLst/>
          </a:prstGeom>
          <a:noFill/>
        </p:spPr>
        <p:txBody>
          <a:bodyPr wrap="square" lIns="0" tIns="0" rIns="0" bIns="0" anchor="ctr">
            <a:spAutoFit/>
          </a:bodyPr>
          <a:lstStyle/>
          <a:p>
            <a:pPr marL="0" indent="0" algn="l">
              <a:buNone/>
            </a:pPr>
            <a:r>
              <a:rPr sz="520" b="0" i="0">
                <a:solidFill>
                  <a:srgbClr val="888888"/>
                </a:solidFill>
              </a:rPr>
              <a:t>Amount payable</a:t>
            </a:r>
          </a:p>
        </p:txBody>
      </p:sp>
      <p:sp>
        <p:nvSpPr>
          <p:cNvPr id="122" name="TextBox 121"/>
          <p:cNvSpPr txBox="1"/>
          <p:nvPr/>
        </p:nvSpPr>
        <p:spPr>
          <a:xfrm>
            <a:off x="3458382" y="4621724"/>
            <a:ext cx="858316" cy="134112"/>
          </a:xfrm>
          <a:prstGeom prst="rect">
            <a:avLst/>
          </a:prstGeom>
          <a:noFill/>
        </p:spPr>
        <p:txBody>
          <a:bodyPr wrap="square" lIns="0" tIns="0" rIns="0" bIns="0" anchor="ctr">
            <a:spAutoFit/>
          </a:bodyPr>
          <a:lstStyle/>
          <a:p>
            <a:pPr marL="0" indent="0" algn="l">
              <a:buNone/>
            </a:pPr>
            <a:r>
              <a:rPr sz="800" b="1" i="0">
                <a:solidFill>
                  <a:srgbClr val="C8102E"/>
                </a:solidFill>
              </a:rPr>
              <a:t>423,000 ₫</a:t>
            </a:r>
          </a:p>
        </p:txBody>
      </p:sp>
      <p:sp>
        <p:nvSpPr>
          <p:cNvPr id="123" name="Rounded Rectangle 122"/>
          <p:cNvSpPr/>
          <p:nvPr/>
        </p:nvSpPr>
        <p:spPr>
          <a:xfrm>
            <a:off x="4590288" y="4602949"/>
            <a:ext cx="729569" cy="160934"/>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4" name="TextBox 123"/>
          <p:cNvSpPr txBox="1"/>
          <p:nvPr/>
        </p:nvSpPr>
        <p:spPr>
          <a:xfrm>
            <a:off x="4590288" y="4602949"/>
            <a:ext cx="729569" cy="160934"/>
          </a:xfrm>
          <a:prstGeom prst="rect">
            <a:avLst/>
          </a:prstGeom>
          <a:noFill/>
        </p:spPr>
        <p:txBody>
          <a:bodyPr wrap="square" lIns="0" tIns="0" rIns="0" bIns="0" anchor="ctr">
            <a:spAutoFit/>
          </a:bodyPr>
          <a:lstStyle/>
          <a:p>
            <a:pPr marL="0" indent="0" algn="ctr">
              <a:buNone/>
            </a:pPr>
            <a:r>
              <a:rPr sz="650" b="1" i="0">
                <a:solidFill>
                  <a:srgbClr val="FFFFFF"/>
                </a:solidFill>
              </a:rPr>
              <a:t>Place order</a:t>
            </a:r>
          </a:p>
        </p:txBody>
      </p:sp>
      <p:sp>
        <p:nvSpPr>
          <p:cNvPr id="125" name="Oval 124"/>
          <p:cNvSpPr/>
          <p:nvPr/>
        </p:nvSpPr>
        <p:spPr>
          <a:xfrm>
            <a:off x="3168701" y="126624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6" name="TextBox 125"/>
          <p:cNvSpPr txBox="1"/>
          <p:nvPr/>
        </p:nvSpPr>
        <p:spPr>
          <a:xfrm>
            <a:off x="3168701" y="126624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sp>
        <p:nvSpPr>
          <p:cNvPr id="127" name="Oval 126"/>
          <p:cNvSpPr/>
          <p:nvPr/>
        </p:nvSpPr>
        <p:spPr>
          <a:xfrm>
            <a:off x="3168701" y="1738316"/>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8" name="TextBox 127"/>
          <p:cNvSpPr txBox="1"/>
          <p:nvPr/>
        </p:nvSpPr>
        <p:spPr>
          <a:xfrm>
            <a:off x="3168701" y="1738316"/>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sp>
        <p:nvSpPr>
          <p:cNvPr id="129" name="Oval 128"/>
          <p:cNvSpPr/>
          <p:nvPr/>
        </p:nvSpPr>
        <p:spPr>
          <a:xfrm>
            <a:off x="3168701" y="2757567"/>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0" name="TextBox 129"/>
          <p:cNvSpPr txBox="1"/>
          <p:nvPr/>
        </p:nvSpPr>
        <p:spPr>
          <a:xfrm>
            <a:off x="3168701" y="2757567"/>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8</a:t>
            </a:r>
          </a:p>
        </p:txBody>
      </p:sp>
      <p:sp>
        <p:nvSpPr>
          <p:cNvPr id="131" name="Oval 130"/>
          <p:cNvSpPr/>
          <p:nvPr/>
        </p:nvSpPr>
        <p:spPr>
          <a:xfrm>
            <a:off x="3168701" y="302579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2" name="TextBox 131"/>
          <p:cNvSpPr txBox="1"/>
          <p:nvPr/>
        </p:nvSpPr>
        <p:spPr>
          <a:xfrm>
            <a:off x="3168701" y="302579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9</a:t>
            </a:r>
          </a:p>
        </p:txBody>
      </p:sp>
      <p:sp>
        <p:nvSpPr>
          <p:cNvPr id="133" name="Oval 132"/>
          <p:cNvSpPr/>
          <p:nvPr/>
        </p:nvSpPr>
        <p:spPr>
          <a:xfrm>
            <a:off x="3168701" y="4635135"/>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4" name="TextBox 133"/>
          <p:cNvSpPr txBox="1"/>
          <p:nvPr/>
        </p:nvSpPr>
        <p:spPr>
          <a:xfrm>
            <a:off x="3168701" y="4635135"/>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10</a:t>
            </a:r>
          </a:p>
        </p:txBody>
      </p:sp>
      <p:graphicFrame>
        <p:nvGraphicFramePr>
          <p:cNvPr id="135" name="Table 134"/>
          <p:cNvGraphicFramePr>
            <a:graphicFrameLocks noGrp="1"/>
          </p:cNvGraphicFramePr>
          <p:nvPr/>
        </p:nvGraphicFramePr>
        <p:xfrm>
          <a:off x="7196328" y="886968"/>
          <a:ext cx="4718304" cy="4373996"/>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397636">
                <a:tc>
                  <a:txBody>
                    <a:bodyPr/>
                    <a:lstStyle/>
                    <a:p>
                      <a:pPr marL="0" indent="0" algn="ctr">
                        <a:buNone/>
                      </a:pPr>
                      <a:r>
                        <a:rPr sz="6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397636">
                <a:tc>
                  <a:txBody>
                    <a:bodyPr/>
                    <a:lstStyle/>
                    <a:p>
                      <a:pPr marL="0" indent="0" algn="ctr">
                        <a:buNone/>
                      </a:pPr>
                      <a:r>
                        <a:rPr sz="6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GotIt / gift card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Code entered manually or scanned; the value is applied against the order total (CO-04).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397636">
                <a:tc>
                  <a:txBody>
                    <a:bodyPr/>
                    <a:lstStyle/>
                    <a:p>
                      <a:pPr marL="0" indent="0" algn="ctr">
                        <a:buNone/>
                      </a:pPr>
                      <a:r>
                        <a:rPr sz="6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Coupons in two groups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Delivery coupons and order / product coupons are shown separately, each with the amount and the reason, so the customer can see what each one affects (CO-05, BRL-32). They were applied automatically in the Cart and are shown here for confirmation.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397636">
                <a:tc>
                  <a:txBody>
                    <a:bodyPr/>
                    <a:lstStyle/>
                    <a:p>
                      <a:pPr marL="0" indent="0" algn="ctr">
                        <a:buNone/>
                      </a:pPr>
                      <a:r>
                        <a:rPr sz="6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Loyalty points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Enter an amount, or apply the full balance in one tap (CO-05).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397636">
                <a:tc>
                  <a:txBody>
                    <a:bodyPr/>
                    <a:lstStyle/>
                    <a:p>
                      <a:pPr marL="0" indent="0" algn="ctr">
                        <a:buNone/>
                      </a:pPr>
                      <a:r>
                        <a:rPr sz="6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Payment method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MoMo, ZaloPay, card and BNPL, each able to carry its own promotion badge (CO-06, BRL-33).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397636">
                <a:tc>
                  <a:txBody>
                    <a:bodyPr/>
                    <a:lstStyle/>
                    <a:p>
                      <a:pPr marL="0" indent="0" algn="ctr">
                        <a:buNone/>
                      </a:pPr>
                      <a:r>
                        <a:rPr sz="6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BNPL carry-over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If BNPL was selected in the Cart it is pre-selected here, so the customer does not choose twice (BRL-33).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397636">
                <a:tc>
                  <a:txBody>
                    <a:bodyPr/>
                    <a:lstStyle/>
                    <a:p>
                      <a:pPr marL="0" indent="0" algn="ctr">
                        <a:buNone/>
                      </a:pPr>
                      <a:r>
                        <a:rPr sz="6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VAT invoice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Requested with a toggle, then invoice details are captured. Whether the To-Be rules differ from today is open — OQ-19 (CO-07).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397636">
                <a:tc>
                  <a:txBody>
                    <a:bodyPr/>
                    <a:lstStyle/>
                    <a:p>
                      <a:pPr marL="0" indent="0" algn="ctr">
                        <a:buNone/>
                      </a:pPr>
                      <a:r>
                        <a:rPr sz="60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Final payment summary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Order value · nylon bag · delivery fee · bulky surcharge · product discount · delivery discount · gift card · points used · amount payable. Every line is shown even when zero, so the total is always reconcilable (CO-08, BRL-34).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397636">
                <a:tc>
                  <a:txBody>
                    <a:bodyPr/>
                    <a:lstStyle/>
                    <a:p>
                      <a:pPr marL="0" indent="0" algn="ctr">
                        <a:buNone/>
                      </a:pPr>
                      <a:r>
                        <a:rPr sz="600" b="0" i="0">
                          <a:solidFill>
                            <a:srgbClr val="222222"/>
                          </a:solidFill>
                        </a:rPr>
                        <a:t>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Points to be earned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Shown alongside the total. Whether to display this is open — OQ-20; it is included here because it is the clearest argument for signing 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r h="397636">
                <a:tc>
                  <a:txBody>
                    <a:bodyPr/>
                    <a:lstStyle/>
                    <a:p>
                      <a:pPr marL="0" indent="0" algn="ctr">
                        <a:buNone/>
                      </a:pPr>
                      <a:r>
                        <a:rPr sz="600" b="0" i="0">
                          <a:solidFill>
                            <a:srgbClr val="222222"/>
                          </a:solidFill>
                        </a:rPr>
                        <a:t>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Policies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Return, purchase and privacy policies are linked from this line. Content must be supplied by LOTTE MART — OQ-21 (CO-09).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9"/>
                  </a:ext>
                </a:extLst>
              </a:tr>
              <a:tr h="397636">
                <a:tc>
                  <a:txBody>
                    <a:bodyPr/>
                    <a:lstStyle/>
                    <a:p>
                      <a:pPr marL="0" indent="0" algn="ctr">
                        <a:buNone/>
                      </a:pPr>
                      <a:r>
                        <a:rPr sz="600" b="0" i="0">
                          <a:solidFill>
                            <a:srgbClr val="222222"/>
                          </a:solidFill>
                        </a:rPr>
                        <a:t>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Place order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Commits the order. Everything after this point — confirmation, fulfilment, tracking — is outside the scope of this document (CO-10).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10"/>
                  </a:ext>
                </a:extLst>
              </a:tr>
            </a:tbl>
          </a:graphicData>
        </a:graphic>
      </p:graphicFrame>
      <p:sp>
        <p:nvSpPr>
          <p:cNvPr id="136" name="TextBox 135"/>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The amount payable shown in the sticky footer is recomputed as coupons, points and gift cards are applied, and always matches the summary above it. Open — OQ-16 the carton packing fee, OQ-17 the full promotion-type catalogue, OQ-19 VAT rules, OQ-20 points display, OQ-21 policy content.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Checkout (CO)</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CO-01</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SCR-CHK-03</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Checkout — Pickup Variant &amp; Order Placed</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62</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Variant  ·  Self pick-up, cash eligible</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59436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5873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29" name="TextBox 28"/>
          <p:cNvSpPr txBox="1"/>
          <p:nvPr/>
        </p:nvSpPr>
        <p:spPr>
          <a:xfrm>
            <a:off x="77675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Checkout</a:t>
            </a:r>
          </a:p>
        </p:txBody>
      </p:sp>
      <p:sp>
        <p:nvSpPr>
          <p:cNvPr id="30" name="Rectangle 29"/>
          <p:cNvSpPr/>
          <p:nvPr/>
        </p:nvSpPr>
        <p:spPr>
          <a:xfrm>
            <a:off x="59436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Rectangle 30"/>
          <p:cNvSpPr/>
          <p:nvPr/>
        </p:nvSpPr>
        <p:spPr>
          <a:xfrm>
            <a:off x="594360" y="1217962"/>
            <a:ext cx="2011679" cy="128747"/>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669462" y="1217962"/>
            <a:ext cx="1861474" cy="128747"/>
          </a:xfrm>
          <a:prstGeom prst="rect">
            <a:avLst/>
          </a:prstGeom>
          <a:noFill/>
        </p:spPr>
        <p:txBody>
          <a:bodyPr wrap="square" lIns="0" tIns="0" rIns="0" bIns="0" anchor="ctr">
            <a:spAutoFit/>
          </a:bodyPr>
          <a:lstStyle/>
          <a:p>
            <a:pPr marL="0" indent="0" algn="l">
              <a:buNone/>
            </a:pPr>
            <a:r>
              <a:rPr sz="500" b="0" i="0">
                <a:solidFill>
                  <a:srgbClr val="555555"/>
                </a:solidFill>
              </a:rPr>
              <a:t>▤  Order details are locked — edit in the Cart</a:t>
            </a:r>
          </a:p>
        </p:txBody>
      </p:sp>
      <p:sp>
        <p:nvSpPr>
          <p:cNvPr id="33" name="Rounded Rectangle 32"/>
          <p:cNvSpPr/>
          <p:nvPr/>
        </p:nvSpPr>
        <p:spPr>
          <a:xfrm>
            <a:off x="669462" y="1368167"/>
            <a:ext cx="1861474" cy="386242"/>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744565" y="1390966"/>
            <a:ext cx="1180185" cy="93878"/>
          </a:xfrm>
          <a:prstGeom prst="rect">
            <a:avLst/>
          </a:prstGeom>
          <a:noFill/>
        </p:spPr>
        <p:txBody>
          <a:bodyPr wrap="square" lIns="0" tIns="0" rIns="0" bIns="0" anchor="ctr">
            <a:spAutoFit/>
          </a:bodyPr>
          <a:lstStyle/>
          <a:p>
            <a:pPr marL="0" indent="0" algn="l">
              <a:buNone/>
            </a:pPr>
            <a:r>
              <a:rPr sz="560" b="1" i="0">
                <a:solidFill>
                  <a:srgbClr val="3A3A3A"/>
                </a:solidFill>
              </a:rPr>
              <a:t>Collect at</a:t>
            </a:r>
          </a:p>
        </p:txBody>
      </p:sp>
      <p:sp>
        <p:nvSpPr>
          <p:cNvPr id="35" name="TextBox 34"/>
          <p:cNvSpPr txBox="1"/>
          <p:nvPr/>
        </p:nvSpPr>
        <p:spPr>
          <a:xfrm>
            <a:off x="1935480" y="1399348"/>
            <a:ext cx="246766" cy="77114"/>
          </a:xfrm>
          <a:prstGeom prst="rect">
            <a:avLst/>
          </a:prstGeom>
          <a:noFill/>
        </p:spPr>
        <p:txBody>
          <a:bodyPr wrap="square" lIns="0" tIns="0" rIns="0" bIns="0" anchor="ctr">
            <a:spAutoFit/>
          </a:bodyPr>
          <a:lstStyle/>
          <a:p>
            <a:pPr marL="0" indent="0" algn="r">
              <a:buNone/>
            </a:pPr>
            <a:r>
              <a:rPr sz="459" b="0" i="0">
                <a:solidFill>
                  <a:srgbClr val="AAAAAA"/>
                </a:solidFill>
              </a:rPr>
              <a:t>Locked</a:t>
            </a:r>
          </a:p>
        </p:txBody>
      </p:sp>
      <p:sp>
        <p:nvSpPr>
          <p:cNvPr id="36" name="TextBox 35"/>
          <p:cNvSpPr txBox="1"/>
          <p:nvPr/>
        </p:nvSpPr>
        <p:spPr>
          <a:xfrm>
            <a:off x="744565" y="1491718"/>
            <a:ext cx="1711269" cy="85496"/>
          </a:xfrm>
          <a:prstGeom prst="rect">
            <a:avLst/>
          </a:prstGeom>
          <a:noFill/>
        </p:spPr>
        <p:txBody>
          <a:bodyPr wrap="square" lIns="0" tIns="0" rIns="0" bIns="0" anchor="ctr">
            <a:spAutoFit/>
          </a:bodyPr>
          <a:lstStyle/>
          <a:p>
            <a:pPr marL="0" indent="0" algn="l">
              <a:buNone/>
            </a:pPr>
            <a:r>
              <a:rPr sz="509" b="0" i="0">
                <a:solidFill>
                  <a:srgbClr val="555555"/>
                </a:solidFill>
              </a:rPr>
              <a:t>LOTTE Mart Nam Sài Gòn</a:t>
            </a:r>
          </a:p>
        </p:txBody>
      </p:sp>
      <p:sp>
        <p:nvSpPr>
          <p:cNvPr id="37" name="TextBox 36"/>
          <p:cNvSpPr txBox="1"/>
          <p:nvPr/>
        </p:nvSpPr>
        <p:spPr>
          <a:xfrm>
            <a:off x="744565" y="1566820"/>
            <a:ext cx="1711269" cy="85496"/>
          </a:xfrm>
          <a:prstGeom prst="rect">
            <a:avLst/>
          </a:prstGeom>
          <a:noFill/>
        </p:spPr>
        <p:txBody>
          <a:bodyPr wrap="square" lIns="0" tIns="0" rIns="0" bIns="0" anchor="ctr">
            <a:spAutoFit/>
          </a:bodyPr>
          <a:lstStyle/>
          <a:p>
            <a:pPr marL="0" indent="0" algn="l">
              <a:buNone/>
            </a:pPr>
            <a:r>
              <a:rPr sz="509" b="0" i="0">
                <a:solidFill>
                  <a:srgbClr val="555555"/>
                </a:solidFill>
              </a:rPr>
              <a:t>469 Nguyễn Hữu Thọ, Q.7  ·  2.1 km</a:t>
            </a:r>
          </a:p>
        </p:txBody>
      </p:sp>
      <p:sp>
        <p:nvSpPr>
          <p:cNvPr id="38" name="TextBox 37"/>
          <p:cNvSpPr txBox="1"/>
          <p:nvPr/>
        </p:nvSpPr>
        <p:spPr>
          <a:xfrm>
            <a:off x="744565" y="1641923"/>
            <a:ext cx="1711269" cy="85496"/>
          </a:xfrm>
          <a:prstGeom prst="rect">
            <a:avLst/>
          </a:prstGeom>
          <a:noFill/>
        </p:spPr>
        <p:txBody>
          <a:bodyPr wrap="square" lIns="0" tIns="0" rIns="0" bIns="0" anchor="ctr">
            <a:spAutoFit/>
          </a:bodyPr>
          <a:lstStyle/>
          <a:p>
            <a:pPr marL="0" indent="0" algn="l">
              <a:buNone/>
            </a:pPr>
            <a:r>
              <a:rPr sz="509" b="0" i="0">
                <a:solidFill>
                  <a:srgbClr val="555555"/>
                </a:solidFill>
              </a:rPr>
              <a:t>Today, 16:00 – 18:00</a:t>
            </a:r>
          </a:p>
        </p:txBody>
      </p:sp>
      <p:sp>
        <p:nvSpPr>
          <p:cNvPr id="39" name="Rounded Rectangle 38"/>
          <p:cNvSpPr/>
          <p:nvPr/>
        </p:nvSpPr>
        <p:spPr>
          <a:xfrm>
            <a:off x="669462" y="1797326"/>
            <a:ext cx="1861474" cy="311139"/>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TextBox 39"/>
          <p:cNvSpPr txBox="1"/>
          <p:nvPr/>
        </p:nvSpPr>
        <p:spPr>
          <a:xfrm>
            <a:off x="744565" y="1820124"/>
            <a:ext cx="1180185" cy="93878"/>
          </a:xfrm>
          <a:prstGeom prst="rect">
            <a:avLst/>
          </a:prstGeom>
          <a:noFill/>
        </p:spPr>
        <p:txBody>
          <a:bodyPr wrap="square" lIns="0" tIns="0" rIns="0" bIns="0" anchor="ctr">
            <a:spAutoFit/>
          </a:bodyPr>
          <a:lstStyle/>
          <a:p>
            <a:pPr marL="0" indent="0" algn="l">
              <a:buNone/>
            </a:pPr>
            <a:r>
              <a:rPr sz="560" b="1" i="0">
                <a:solidFill>
                  <a:srgbClr val="3A3A3A"/>
                </a:solidFill>
              </a:rPr>
              <a:t>Collected by</a:t>
            </a:r>
          </a:p>
        </p:txBody>
      </p:sp>
      <p:sp>
        <p:nvSpPr>
          <p:cNvPr id="41" name="TextBox 40"/>
          <p:cNvSpPr txBox="1"/>
          <p:nvPr/>
        </p:nvSpPr>
        <p:spPr>
          <a:xfrm>
            <a:off x="1935480" y="1828506"/>
            <a:ext cx="246766" cy="77114"/>
          </a:xfrm>
          <a:prstGeom prst="rect">
            <a:avLst/>
          </a:prstGeom>
          <a:noFill/>
        </p:spPr>
        <p:txBody>
          <a:bodyPr wrap="square" lIns="0" tIns="0" rIns="0" bIns="0" anchor="ctr">
            <a:spAutoFit/>
          </a:bodyPr>
          <a:lstStyle/>
          <a:p>
            <a:pPr marL="0" indent="0" algn="r">
              <a:buNone/>
            </a:pPr>
            <a:r>
              <a:rPr sz="459" b="0" i="0">
                <a:solidFill>
                  <a:srgbClr val="AAAAAA"/>
                </a:solidFill>
              </a:rPr>
              <a:t>Locked</a:t>
            </a:r>
          </a:p>
        </p:txBody>
      </p:sp>
      <p:sp>
        <p:nvSpPr>
          <p:cNvPr id="42" name="TextBox 41"/>
          <p:cNvSpPr txBox="1"/>
          <p:nvPr/>
        </p:nvSpPr>
        <p:spPr>
          <a:xfrm>
            <a:off x="744565" y="1920876"/>
            <a:ext cx="1711269" cy="85496"/>
          </a:xfrm>
          <a:prstGeom prst="rect">
            <a:avLst/>
          </a:prstGeom>
          <a:noFill/>
        </p:spPr>
        <p:txBody>
          <a:bodyPr wrap="square" lIns="0" tIns="0" rIns="0" bIns="0" anchor="ctr">
            <a:spAutoFit/>
          </a:bodyPr>
          <a:lstStyle/>
          <a:p>
            <a:pPr marL="0" indent="0" algn="l">
              <a:buNone/>
            </a:pPr>
            <a:r>
              <a:rPr sz="509" b="0" i="0">
                <a:solidFill>
                  <a:srgbClr val="555555"/>
                </a:solidFill>
              </a:rPr>
              <a:t>Trần Minh Anh  ·  091 555 1234</a:t>
            </a:r>
          </a:p>
        </p:txBody>
      </p:sp>
      <p:sp>
        <p:nvSpPr>
          <p:cNvPr id="43" name="TextBox 42"/>
          <p:cNvSpPr txBox="1"/>
          <p:nvPr/>
        </p:nvSpPr>
        <p:spPr>
          <a:xfrm>
            <a:off x="744565" y="1995979"/>
            <a:ext cx="1711269" cy="85496"/>
          </a:xfrm>
          <a:prstGeom prst="rect">
            <a:avLst/>
          </a:prstGeom>
          <a:noFill/>
        </p:spPr>
        <p:txBody>
          <a:bodyPr wrap="square" lIns="0" tIns="0" rIns="0" bIns="0" anchor="ctr">
            <a:spAutoFit/>
          </a:bodyPr>
          <a:lstStyle/>
          <a:p>
            <a:pPr marL="0" indent="0" algn="l">
              <a:buNone/>
            </a:pPr>
            <a:r>
              <a:rPr sz="509" b="0" i="0">
                <a:solidFill>
                  <a:srgbClr val="555555"/>
                </a:solidFill>
              </a:rPr>
              <a:t>Bring the order code and an ID document</a:t>
            </a:r>
          </a:p>
        </p:txBody>
      </p:sp>
      <p:sp>
        <p:nvSpPr>
          <p:cNvPr id="44" name="Rounded Rectangle 43"/>
          <p:cNvSpPr/>
          <p:nvPr/>
        </p:nvSpPr>
        <p:spPr>
          <a:xfrm>
            <a:off x="669462" y="2151381"/>
            <a:ext cx="1861474" cy="139476"/>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TextBox 44"/>
          <p:cNvSpPr txBox="1"/>
          <p:nvPr/>
        </p:nvSpPr>
        <p:spPr>
          <a:xfrm>
            <a:off x="744565" y="2151381"/>
            <a:ext cx="965606" cy="139476"/>
          </a:xfrm>
          <a:prstGeom prst="rect">
            <a:avLst/>
          </a:prstGeom>
          <a:noFill/>
        </p:spPr>
        <p:txBody>
          <a:bodyPr wrap="square" lIns="0" tIns="0" rIns="0" bIns="0" anchor="ctr">
            <a:spAutoFit/>
          </a:bodyPr>
          <a:lstStyle/>
          <a:p>
            <a:pPr marL="0" indent="0" algn="l">
              <a:buNone/>
            </a:pPr>
            <a:r>
              <a:rPr sz="560" b="1" i="0">
                <a:solidFill>
                  <a:srgbClr val="3A3A3A"/>
                </a:solidFill>
              </a:rPr>
              <a:t>Products  ·  6 items</a:t>
            </a:r>
          </a:p>
        </p:txBody>
      </p:sp>
      <p:sp>
        <p:nvSpPr>
          <p:cNvPr id="46" name="Rounded Rectangle 45"/>
          <p:cNvSpPr/>
          <p:nvPr/>
        </p:nvSpPr>
        <p:spPr>
          <a:xfrm>
            <a:off x="2150059" y="2172839"/>
            <a:ext cx="332597" cy="96560"/>
          </a:xfrm>
          <a:prstGeom prst="roundRect">
            <a:avLst>
              <a:gd name="adj" fmla="val 50000"/>
            </a:avLst>
          </a:prstGeom>
          <a:solidFill>
            <a:srgbClr val="EEF1F9"/>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TextBox 46"/>
          <p:cNvSpPr txBox="1"/>
          <p:nvPr/>
        </p:nvSpPr>
        <p:spPr>
          <a:xfrm>
            <a:off x="2150059" y="2172839"/>
            <a:ext cx="332597" cy="96560"/>
          </a:xfrm>
          <a:prstGeom prst="rect">
            <a:avLst/>
          </a:prstGeom>
          <a:noFill/>
        </p:spPr>
        <p:txBody>
          <a:bodyPr wrap="square" lIns="0" tIns="0" rIns="0" bIns="0" anchor="ctr">
            <a:spAutoFit/>
          </a:bodyPr>
          <a:lstStyle/>
          <a:p>
            <a:pPr marL="0" indent="0" algn="ctr">
              <a:buNone/>
            </a:pPr>
            <a:r>
              <a:rPr sz="440" b="1" i="0">
                <a:solidFill>
                  <a:srgbClr val="3D5298"/>
                </a:solidFill>
              </a:rPr>
              <a:t>Compact</a:t>
            </a:r>
          </a:p>
        </p:txBody>
      </p:sp>
      <p:sp>
        <p:nvSpPr>
          <p:cNvPr id="48" name="TextBox 47"/>
          <p:cNvSpPr txBox="1"/>
          <p:nvPr/>
        </p:nvSpPr>
        <p:spPr>
          <a:xfrm>
            <a:off x="744565" y="2333774"/>
            <a:ext cx="1072896" cy="85831"/>
          </a:xfrm>
          <a:prstGeom prst="rect">
            <a:avLst/>
          </a:prstGeom>
          <a:noFill/>
        </p:spPr>
        <p:txBody>
          <a:bodyPr wrap="square" lIns="0" tIns="0" rIns="0" bIns="0" anchor="ctr">
            <a:spAutoFit/>
          </a:bodyPr>
          <a:lstStyle/>
          <a:p>
            <a:pPr marL="0" indent="0" algn="l">
              <a:buNone/>
            </a:pPr>
            <a:r>
              <a:rPr sz="500" b="0" i="0">
                <a:solidFill>
                  <a:srgbClr val="222222"/>
                </a:solidFill>
              </a:rPr>
              <a:t>Vinamilk fresh milk 1L</a:t>
            </a:r>
          </a:p>
        </p:txBody>
      </p:sp>
      <p:sp>
        <p:nvSpPr>
          <p:cNvPr id="49" name="TextBox 48"/>
          <p:cNvSpPr txBox="1"/>
          <p:nvPr/>
        </p:nvSpPr>
        <p:spPr>
          <a:xfrm>
            <a:off x="1838919" y="2333774"/>
            <a:ext cx="214579" cy="85831"/>
          </a:xfrm>
          <a:prstGeom prst="rect">
            <a:avLst/>
          </a:prstGeom>
          <a:noFill/>
        </p:spPr>
        <p:txBody>
          <a:bodyPr wrap="square" lIns="0" tIns="0" rIns="0" bIns="0" anchor="ctr">
            <a:spAutoFit/>
          </a:bodyPr>
          <a:lstStyle/>
          <a:p>
            <a:pPr marL="0" indent="0" algn="ctr">
              <a:buNone/>
            </a:pPr>
            <a:r>
              <a:rPr sz="500" b="0" i="0">
                <a:solidFill>
                  <a:srgbClr val="888888"/>
                </a:solidFill>
              </a:rPr>
              <a:t>×1</a:t>
            </a:r>
          </a:p>
        </p:txBody>
      </p:sp>
      <p:sp>
        <p:nvSpPr>
          <p:cNvPr id="50" name="TextBox 49"/>
          <p:cNvSpPr txBox="1"/>
          <p:nvPr/>
        </p:nvSpPr>
        <p:spPr>
          <a:xfrm>
            <a:off x="2074956" y="2333774"/>
            <a:ext cx="380878" cy="85831"/>
          </a:xfrm>
          <a:prstGeom prst="rect">
            <a:avLst/>
          </a:prstGeom>
          <a:noFill/>
        </p:spPr>
        <p:txBody>
          <a:bodyPr wrap="square" lIns="0" tIns="0" rIns="0" bIns="0" anchor="ctr">
            <a:spAutoFit/>
          </a:bodyPr>
          <a:lstStyle/>
          <a:p>
            <a:pPr marL="0" indent="0" algn="r">
              <a:buNone/>
            </a:pPr>
            <a:r>
              <a:rPr sz="500" b="1" i="0">
                <a:solidFill>
                  <a:srgbClr val="222222"/>
                </a:solidFill>
              </a:rPr>
              <a:t>196,000 ₫</a:t>
            </a:r>
          </a:p>
        </p:txBody>
      </p:sp>
      <p:sp>
        <p:nvSpPr>
          <p:cNvPr id="51" name="Rectangle 50"/>
          <p:cNvSpPr/>
          <p:nvPr/>
        </p:nvSpPr>
        <p:spPr>
          <a:xfrm>
            <a:off x="744565" y="2424970"/>
            <a:ext cx="171126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2" name="TextBox 51"/>
          <p:cNvSpPr txBox="1"/>
          <p:nvPr/>
        </p:nvSpPr>
        <p:spPr>
          <a:xfrm>
            <a:off x="744565" y="2441063"/>
            <a:ext cx="1072896" cy="85831"/>
          </a:xfrm>
          <a:prstGeom prst="rect">
            <a:avLst/>
          </a:prstGeom>
          <a:noFill/>
        </p:spPr>
        <p:txBody>
          <a:bodyPr wrap="square" lIns="0" tIns="0" rIns="0" bIns="0" anchor="ctr">
            <a:spAutoFit/>
          </a:bodyPr>
          <a:lstStyle/>
          <a:p>
            <a:pPr marL="0" indent="0" algn="l">
              <a:buNone/>
            </a:pPr>
            <a:r>
              <a:rPr sz="500" b="0" i="0">
                <a:solidFill>
                  <a:srgbClr val="222222"/>
                </a:solidFill>
              </a:rPr>
              <a:t>Ba Vì yoghurt ×12</a:t>
            </a:r>
          </a:p>
        </p:txBody>
      </p:sp>
      <p:sp>
        <p:nvSpPr>
          <p:cNvPr id="53" name="TextBox 52"/>
          <p:cNvSpPr txBox="1"/>
          <p:nvPr/>
        </p:nvSpPr>
        <p:spPr>
          <a:xfrm>
            <a:off x="1838919" y="2441063"/>
            <a:ext cx="214579" cy="85831"/>
          </a:xfrm>
          <a:prstGeom prst="rect">
            <a:avLst/>
          </a:prstGeom>
          <a:noFill/>
        </p:spPr>
        <p:txBody>
          <a:bodyPr wrap="square" lIns="0" tIns="0" rIns="0" bIns="0" anchor="ctr">
            <a:spAutoFit/>
          </a:bodyPr>
          <a:lstStyle/>
          <a:p>
            <a:pPr marL="0" indent="0" algn="ctr">
              <a:buNone/>
            </a:pPr>
            <a:r>
              <a:rPr sz="500" b="0" i="0">
                <a:solidFill>
                  <a:srgbClr val="888888"/>
                </a:solidFill>
              </a:rPr>
              <a:t>×2</a:t>
            </a:r>
          </a:p>
        </p:txBody>
      </p:sp>
      <p:sp>
        <p:nvSpPr>
          <p:cNvPr id="54" name="TextBox 53"/>
          <p:cNvSpPr txBox="1"/>
          <p:nvPr/>
        </p:nvSpPr>
        <p:spPr>
          <a:xfrm>
            <a:off x="2074956" y="2441063"/>
            <a:ext cx="380878" cy="85831"/>
          </a:xfrm>
          <a:prstGeom prst="rect">
            <a:avLst/>
          </a:prstGeom>
          <a:noFill/>
        </p:spPr>
        <p:txBody>
          <a:bodyPr wrap="square" lIns="0" tIns="0" rIns="0" bIns="0" anchor="ctr">
            <a:spAutoFit/>
          </a:bodyPr>
          <a:lstStyle/>
          <a:p>
            <a:pPr marL="0" indent="0" algn="r">
              <a:buNone/>
            </a:pPr>
            <a:r>
              <a:rPr sz="500" b="1" i="0">
                <a:solidFill>
                  <a:srgbClr val="222222"/>
                </a:solidFill>
              </a:rPr>
              <a:t>78,000 ₫</a:t>
            </a:r>
          </a:p>
        </p:txBody>
      </p:sp>
      <p:sp>
        <p:nvSpPr>
          <p:cNvPr id="55" name="Rectangle 54"/>
          <p:cNvSpPr/>
          <p:nvPr/>
        </p:nvSpPr>
        <p:spPr>
          <a:xfrm>
            <a:off x="744565" y="2532259"/>
            <a:ext cx="171126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6" name="TextBox 55"/>
          <p:cNvSpPr txBox="1"/>
          <p:nvPr/>
        </p:nvSpPr>
        <p:spPr>
          <a:xfrm>
            <a:off x="744565" y="2548353"/>
            <a:ext cx="1072896" cy="85831"/>
          </a:xfrm>
          <a:prstGeom prst="rect">
            <a:avLst/>
          </a:prstGeom>
          <a:noFill/>
        </p:spPr>
        <p:txBody>
          <a:bodyPr wrap="square" lIns="0" tIns="0" rIns="0" bIns="0" anchor="ctr">
            <a:spAutoFit/>
          </a:bodyPr>
          <a:lstStyle/>
          <a:p>
            <a:pPr marL="0" indent="0" algn="l">
              <a:buNone/>
            </a:pPr>
            <a:r>
              <a:rPr sz="500" b="0" i="0">
                <a:solidFill>
                  <a:srgbClr val="222222"/>
                </a:solidFill>
              </a:rPr>
              <a:t>Chicken breast 500g</a:t>
            </a:r>
          </a:p>
        </p:txBody>
      </p:sp>
      <p:sp>
        <p:nvSpPr>
          <p:cNvPr id="57" name="TextBox 56"/>
          <p:cNvSpPr txBox="1"/>
          <p:nvPr/>
        </p:nvSpPr>
        <p:spPr>
          <a:xfrm>
            <a:off x="1838919" y="2548353"/>
            <a:ext cx="214579" cy="85831"/>
          </a:xfrm>
          <a:prstGeom prst="rect">
            <a:avLst/>
          </a:prstGeom>
          <a:noFill/>
        </p:spPr>
        <p:txBody>
          <a:bodyPr wrap="square" lIns="0" tIns="0" rIns="0" bIns="0" anchor="ctr">
            <a:spAutoFit/>
          </a:bodyPr>
          <a:lstStyle/>
          <a:p>
            <a:pPr marL="0" indent="0" algn="ctr">
              <a:buNone/>
            </a:pPr>
            <a:r>
              <a:rPr sz="500" b="0" i="0">
                <a:solidFill>
                  <a:srgbClr val="888888"/>
                </a:solidFill>
              </a:rPr>
              <a:t>×1</a:t>
            </a:r>
          </a:p>
        </p:txBody>
      </p:sp>
      <p:sp>
        <p:nvSpPr>
          <p:cNvPr id="58" name="TextBox 57"/>
          <p:cNvSpPr txBox="1"/>
          <p:nvPr/>
        </p:nvSpPr>
        <p:spPr>
          <a:xfrm>
            <a:off x="2074956" y="2548353"/>
            <a:ext cx="380878" cy="85831"/>
          </a:xfrm>
          <a:prstGeom prst="rect">
            <a:avLst/>
          </a:prstGeom>
          <a:noFill/>
        </p:spPr>
        <p:txBody>
          <a:bodyPr wrap="square" lIns="0" tIns="0" rIns="0" bIns="0" anchor="ctr">
            <a:spAutoFit/>
          </a:bodyPr>
          <a:lstStyle/>
          <a:p>
            <a:pPr marL="0" indent="0" algn="r">
              <a:buNone/>
            </a:pPr>
            <a:r>
              <a:rPr sz="500" b="1" i="0">
                <a:solidFill>
                  <a:srgbClr val="222222"/>
                </a:solidFill>
              </a:rPr>
              <a:t>112,000 ₫</a:t>
            </a:r>
          </a:p>
        </p:txBody>
      </p:sp>
      <p:sp>
        <p:nvSpPr>
          <p:cNvPr id="59" name="Rectangle 58"/>
          <p:cNvSpPr/>
          <p:nvPr/>
        </p:nvSpPr>
        <p:spPr>
          <a:xfrm>
            <a:off x="744565" y="2639549"/>
            <a:ext cx="171126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0" name="TextBox 59"/>
          <p:cNvSpPr txBox="1"/>
          <p:nvPr/>
        </p:nvSpPr>
        <p:spPr>
          <a:xfrm>
            <a:off x="669462" y="2708952"/>
            <a:ext cx="1072896" cy="97231"/>
          </a:xfrm>
          <a:prstGeom prst="rect">
            <a:avLst/>
          </a:prstGeom>
          <a:noFill/>
        </p:spPr>
        <p:txBody>
          <a:bodyPr wrap="square" lIns="0" tIns="0" rIns="0" bIns="0" anchor="ctr">
            <a:spAutoFit/>
          </a:bodyPr>
          <a:lstStyle/>
          <a:p>
            <a:pPr marL="0" indent="0" algn="l">
              <a:buNone/>
            </a:pPr>
            <a:r>
              <a:rPr sz="580" b="1" i="0">
                <a:solidFill>
                  <a:srgbClr val="3A3A3A"/>
                </a:solidFill>
              </a:rPr>
              <a:t>Payment method</a:t>
            </a:r>
          </a:p>
        </p:txBody>
      </p:sp>
      <p:sp>
        <p:nvSpPr>
          <p:cNvPr id="61" name="Rounded Rectangle 60"/>
          <p:cNvSpPr/>
          <p:nvPr/>
        </p:nvSpPr>
        <p:spPr>
          <a:xfrm>
            <a:off x="669462" y="2827306"/>
            <a:ext cx="1861474" cy="182392"/>
          </a:xfrm>
          <a:prstGeom prst="roundRect">
            <a:avLst>
              <a:gd name="adj" fmla="val 10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2" name="Rounded Rectangle 61"/>
          <p:cNvSpPr/>
          <p:nvPr/>
        </p:nvSpPr>
        <p:spPr>
          <a:xfrm>
            <a:off x="744565" y="2880951"/>
            <a:ext cx="75102" cy="75102"/>
          </a:xfrm>
          <a:prstGeom prst="roundRect">
            <a:avLst>
              <a:gd name="adj" fmla="val 5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3" name="TextBox 62"/>
          <p:cNvSpPr txBox="1"/>
          <p:nvPr/>
        </p:nvSpPr>
        <p:spPr>
          <a:xfrm>
            <a:off x="862584" y="2827306"/>
            <a:ext cx="1019251" cy="182392"/>
          </a:xfrm>
          <a:prstGeom prst="rect">
            <a:avLst/>
          </a:prstGeom>
          <a:noFill/>
        </p:spPr>
        <p:txBody>
          <a:bodyPr wrap="square" lIns="0" tIns="0" rIns="0" bIns="0" anchor="ctr">
            <a:spAutoFit/>
          </a:bodyPr>
          <a:lstStyle/>
          <a:p>
            <a:pPr marL="0" indent="0" algn="l">
              <a:buNone/>
            </a:pPr>
            <a:r>
              <a:rPr sz="540" b="1" i="0">
                <a:solidFill>
                  <a:srgbClr val="C8102E"/>
                </a:solidFill>
              </a:rPr>
              <a:t>Cash at pick-up</a:t>
            </a:r>
          </a:p>
        </p:txBody>
      </p:sp>
      <p:sp>
        <p:nvSpPr>
          <p:cNvPr id="64" name="Rounded Rectangle 63"/>
          <p:cNvSpPr/>
          <p:nvPr/>
        </p:nvSpPr>
        <p:spPr>
          <a:xfrm>
            <a:off x="1946208" y="2875586"/>
            <a:ext cx="514990" cy="85831"/>
          </a:xfrm>
          <a:prstGeom prst="roundRect">
            <a:avLst>
              <a:gd name="adj" fmla="val 50000"/>
            </a:avLst>
          </a:prstGeom>
          <a:solidFill>
            <a:srgbClr val="E8F5EE"/>
          </a:solidFill>
          <a:ln w="635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5" name="TextBox 64"/>
          <p:cNvSpPr txBox="1"/>
          <p:nvPr/>
        </p:nvSpPr>
        <p:spPr>
          <a:xfrm>
            <a:off x="1946208" y="2875586"/>
            <a:ext cx="514990" cy="85831"/>
          </a:xfrm>
          <a:prstGeom prst="rect">
            <a:avLst/>
          </a:prstGeom>
          <a:noFill/>
        </p:spPr>
        <p:txBody>
          <a:bodyPr wrap="square" lIns="0" tIns="0" rIns="0" bIns="0" anchor="ctr">
            <a:spAutoFit/>
          </a:bodyPr>
          <a:lstStyle/>
          <a:p>
            <a:pPr marL="0" indent="0" algn="ctr">
              <a:buNone/>
            </a:pPr>
            <a:r>
              <a:rPr sz="440" b="1" i="0">
                <a:solidFill>
                  <a:srgbClr val="1B7F4B"/>
                </a:solidFill>
              </a:rPr>
              <a:t>Platinum tier</a:t>
            </a:r>
          </a:p>
        </p:txBody>
      </p:sp>
      <p:sp>
        <p:nvSpPr>
          <p:cNvPr id="66" name="Rounded Rectangle 65"/>
          <p:cNvSpPr/>
          <p:nvPr/>
        </p:nvSpPr>
        <p:spPr>
          <a:xfrm>
            <a:off x="669462" y="3041885"/>
            <a:ext cx="1861474" cy="182392"/>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7" name="Rounded Rectangle 66"/>
          <p:cNvSpPr/>
          <p:nvPr/>
        </p:nvSpPr>
        <p:spPr>
          <a:xfrm>
            <a:off x="744565" y="3095530"/>
            <a:ext cx="75102" cy="75102"/>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8" name="TextBox 67"/>
          <p:cNvSpPr txBox="1"/>
          <p:nvPr/>
        </p:nvSpPr>
        <p:spPr>
          <a:xfrm>
            <a:off x="862584" y="3041885"/>
            <a:ext cx="1019251" cy="182392"/>
          </a:xfrm>
          <a:prstGeom prst="rect">
            <a:avLst/>
          </a:prstGeom>
          <a:noFill/>
        </p:spPr>
        <p:txBody>
          <a:bodyPr wrap="square" lIns="0" tIns="0" rIns="0" bIns="0" anchor="ctr">
            <a:spAutoFit/>
          </a:bodyPr>
          <a:lstStyle/>
          <a:p>
            <a:pPr marL="0" indent="0" algn="l">
              <a:buNone/>
            </a:pPr>
            <a:r>
              <a:rPr sz="540" b="1" i="0">
                <a:solidFill>
                  <a:srgbClr val="222222"/>
                </a:solidFill>
              </a:rPr>
              <a:t>MoMo</a:t>
            </a:r>
          </a:p>
        </p:txBody>
      </p:sp>
      <p:sp>
        <p:nvSpPr>
          <p:cNvPr id="69" name="Rounded Rectangle 68"/>
          <p:cNvSpPr/>
          <p:nvPr/>
        </p:nvSpPr>
        <p:spPr>
          <a:xfrm>
            <a:off x="669462" y="3256464"/>
            <a:ext cx="1861474" cy="182392"/>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0" name="Rounded Rectangle 69"/>
          <p:cNvSpPr/>
          <p:nvPr/>
        </p:nvSpPr>
        <p:spPr>
          <a:xfrm>
            <a:off x="744565" y="3310109"/>
            <a:ext cx="75102" cy="75102"/>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1" name="TextBox 70"/>
          <p:cNvSpPr txBox="1"/>
          <p:nvPr/>
        </p:nvSpPr>
        <p:spPr>
          <a:xfrm>
            <a:off x="862584" y="3256464"/>
            <a:ext cx="1019251" cy="182392"/>
          </a:xfrm>
          <a:prstGeom prst="rect">
            <a:avLst/>
          </a:prstGeom>
          <a:noFill/>
        </p:spPr>
        <p:txBody>
          <a:bodyPr wrap="square" lIns="0" tIns="0" rIns="0" bIns="0" anchor="ctr">
            <a:spAutoFit/>
          </a:bodyPr>
          <a:lstStyle/>
          <a:p>
            <a:pPr marL="0" indent="0" algn="l">
              <a:buNone/>
            </a:pPr>
            <a:r>
              <a:rPr sz="540" b="1" i="0">
                <a:solidFill>
                  <a:srgbClr val="222222"/>
                </a:solidFill>
              </a:rPr>
              <a:t>Card  ·  Visa / Master / JCB</a:t>
            </a:r>
          </a:p>
        </p:txBody>
      </p:sp>
      <p:sp>
        <p:nvSpPr>
          <p:cNvPr id="72" name="Rounded Rectangle 71"/>
          <p:cNvSpPr/>
          <p:nvPr/>
        </p:nvSpPr>
        <p:spPr>
          <a:xfrm>
            <a:off x="669462" y="3471043"/>
            <a:ext cx="1861474" cy="214579"/>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3" name="TextBox 72"/>
          <p:cNvSpPr txBox="1"/>
          <p:nvPr/>
        </p:nvSpPr>
        <p:spPr>
          <a:xfrm>
            <a:off x="744565" y="3471043"/>
            <a:ext cx="1072896" cy="214579"/>
          </a:xfrm>
          <a:prstGeom prst="rect">
            <a:avLst/>
          </a:prstGeom>
          <a:noFill/>
        </p:spPr>
        <p:txBody>
          <a:bodyPr wrap="square" lIns="0" tIns="0" rIns="0" bIns="0" anchor="ctr">
            <a:spAutoFit/>
          </a:bodyPr>
          <a:lstStyle/>
          <a:p>
            <a:pPr marL="0" indent="0" algn="l">
              <a:buNone/>
            </a:pPr>
            <a:r>
              <a:rPr sz="520" b="0" i="0">
                <a:solidFill>
                  <a:srgbClr val="555555"/>
                </a:solidFill>
              </a:rPr>
              <a:t>No delivery fee for pick-up</a:t>
            </a:r>
          </a:p>
        </p:txBody>
      </p:sp>
      <p:sp>
        <p:nvSpPr>
          <p:cNvPr id="74" name="TextBox 73"/>
          <p:cNvSpPr txBox="1"/>
          <p:nvPr/>
        </p:nvSpPr>
        <p:spPr>
          <a:xfrm>
            <a:off x="2074956" y="3471043"/>
            <a:ext cx="380878" cy="214579"/>
          </a:xfrm>
          <a:prstGeom prst="rect">
            <a:avLst/>
          </a:prstGeom>
          <a:noFill/>
        </p:spPr>
        <p:txBody>
          <a:bodyPr wrap="square" lIns="0" tIns="0" rIns="0" bIns="0" anchor="ctr">
            <a:spAutoFit/>
          </a:bodyPr>
          <a:lstStyle/>
          <a:p>
            <a:pPr marL="0" indent="0" algn="r">
              <a:buNone/>
            </a:pPr>
            <a:r>
              <a:rPr sz="540" b="1" i="0">
                <a:solidFill>
                  <a:srgbClr val="1B7F4B"/>
                </a:solidFill>
              </a:rPr>
              <a:t>Free</a:t>
            </a:r>
          </a:p>
        </p:txBody>
      </p:sp>
      <p:sp>
        <p:nvSpPr>
          <p:cNvPr id="75" name="Rectangle 74"/>
          <p:cNvSpPr/>
          <p:nvPr/>
        </p:nvSpPr>
        <p:spPr>
          <a:xfrm>
            <a:off x="594360" y="4538575"/>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6" name="Rectangle 75"/>
          <p:cNvSpPr/>
          <p:nvPr/>
        </p:nvSpPr>
        <p:spPr>
          <a:xfrm>
            <a:off x="594360" y="4538575"/>
            <a:ext cx="2011679" cy="3111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7" name="TextBox 76"/>
          <p:cNvSpPr txBox="1"/>
          <p:nvPr/>
        </p:nvSpPr>
        <p:spPr>
          <a:xfrm>
            <a:off x="669462" y="4570092"/>
            <a:ext cx="858316" cy="87172"/>
          </a:xfrm>
          <a:prstGeom prst="rect">
            <a:avLst/>
          </a:prstGeom>
          <a:noFill/>
        </p:spPr>
        <p:txBody>
          <a:bodyPr wrap="square" lIns="0" tIns="0" rIns="0" bIns="0" anchor="ctr">
            <a:spAutoFit/>
          </a:bodyPr>
          <a:lstStyle/>
          <a:p>
            <a:pPr marL="0" indent="0" algn="l">
              <a:buNone/>
            </a:pPr>
            <a:r>
              <a:rPr sz="520" b="0" i="0">
                <a:solidFill>
                  <a:srgbClr val="888888"/>
                </a:solidFill>
              </a:rPr>
              <a:t>Amount payable</a:t>
            </a:r>
          </a:p>
        </p:txBody>
      </p:sp>
      <p:sp>
        <p:nvSpPr>
          <p:cNvPr id="78" name="TextBox 77"/>
          <p:cNvSpPr txBox="1"/>
          <p:nvPr/>
        </p:nvSpPr>
        <p:spPr>
          <a:xfrm>
            <a:off x="669462" y="4621724"/>
            <a:ext cx="858316" cy="134112"/>
          </a:xfrm>
          <a:prstGeom prst="rect">
            <a:avLst/>
          </a:prstGeom>
          <a:noFill/>
        </p:spPr>
        <p:txBody>
          <a:bodyPr wrap="square" lIns="0" tIns="0" rIns="0" bIns="0" anchor="ctr">
            <a:spAutoFit/>
          </a:bodyPr>
          <a:lstStyle/>
          <a:p>
            <a:pPr marL="0" indent="0" algn="l">
              <a:buNone/>
            </a:pPr>
            <a:r>
              <a:rPr sz="800" b="1" i="0">
                <a:solidFill>
                  <a:srgbClr val="C8102E"/>
                </a:solidFill>
              </a:rPr>
              <a:t>448,000 ₫</a:t>
            </a:r>
          </a:p>
        </p:txBody>
      </p:sp>
      <p:sp>
        <p:nvSpPr>
          <p:cNvPr id="79" name="Rounded Rectangle 78"/>
          <p:cNvSpPr/>
          <p:nvPr/>
        </p:nvSpPr>
        <p:spPr>
          <a:xfrm>
            <a:off x="1801368" y="4602949"/>
            <a:ext cx="729569" cy="160934"/>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0" name="TextBox 79"/>
          <p:cNvSpPr txBox="1"/>
          <p:nvPr/>
        </p:nvSpPr>
        <p:spPr>
          <a:xfrm>
            <a:off x="1801368" y="4602949"/>
            <a:ext cx="729569" cy="160934"/>
          </a:xfrm>
          <a:prstGeom prst="rect">
            <a:avLst/>
          </a:prstGeom>
          <a:noFill/>
        </p:spPr>
        <p:txBody>
          <a:bodyPr wrap="square" lIns="0" tIns="0" rIns="0" bIns="0" anchor="ctr">
            <a:spAutoFit/>
          </a:bodyPr>
          <a:lstStyle/>
          <a:p>
            <a:pPr marL="0" indent="0" algn="ctr">
              <a:buNone/>
            </a:pPr>
            <a:r>
              <a:rPr sz="650" b="1" i="0">
                <a:solidFill>
                  <a:srgbClr val="FFFFFF"/>
                </a:solidFill>
              </a:rPr>
              <a:t>Place order</a:t>
            </a:r>
          </a:p>
        </p:txBody>
      </p:sp>
      <p:sp>
        <p:nvSpPr>
          <p:cNvPr id="81" name="Oval 80"/>
          <p:cNvSpPr/>
          <p:nvPr/>
        </p:nvSpPr>
        <p:spPr>
          <a:xfrm>
            <a:off x="379781" y="1287700"/>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2" name="TextBox 81"/>
          <p:cNvSpPr txBox="1"/>
          <p:nvPr/>
        </p:nvSpPr>
        <p:spPr>
          <a:xfrm>
            <a:off x="379781" y="1287700"/>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83" name="Oval 82"/>
          <p:cNvSpPr/>
          <p:nvPr/>
        </p:nvSpPr>
        <p:spPr>
          <a:xfrm>
            <a:off x="379781" y="1727587"/>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4" name="TextBox 83"/>
          <p:cNvSpPr txBox="1"/>
          <p:nvPr/>
        </p:nvSpPr>
        <p:spPr>
          <a:xfrm>
            <a:off x="379781" y="1727587"/>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85" name="Oval 84"/>
          <p:cNvSpPr/>
          <p:nvPr/>
        </p:nvSpPr>
        <p:spPr>
          <a:xfrm>
            <a:off x="379781" y="302579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6" name="TextBox 85"/>
          <p:cNvSpPr txBox="1"/>
          <p:nvPr/>
        </p:nvSpPr>
        <p:spPr>
          <a:xfrm>
            <a:off x="379781" y="302579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87" name="Oval 86"/>
          <p:cNvSpPr/>
          <p:nvPr/>
        </p:nvSpPr>
        <p:spPr>
          <a:xfrm>
            <a:off x="379781" y="3669529"/>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8" name="TextBox 87"/>
          <p:cNvSpPr txBox="1"/>
          <p:nvPr/>
        </p:nvSpPr>
        <p:spPr>
          <a:xfrm>
            <a:off x="379781" y="3669529"/>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89" name="Rounded Rectangle 88"/>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0" name="Rectangle 89"/>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1" name="TextBox 90"/>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Result  ·  order placed  (end of this specification)</a:t>
            </a:r>
          </a:p>
        </p:txBody>
      </p:sp>
      <p:sp>
        <p:nvSpPr>
          <p:cNvPr id="92" name="TextBox 91"/>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93" name="TextBox 92"/>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94" name="Rectangle 93"/>
          <p:cNvSpPr/>
          <p:nvPr/>
        </p:nvSpPr>
        <p:spPr>
          <a:xfrm>
            <a:off x="338328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5" name="TextBox 94"/>
          <p:cNvSpPr txBox="1"/>
          <p:nvPr/>
        </p:nvSpPr>
        <p:spPr>
          <a:xfrm>
            <a:off x="345838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Order placed</a:t>
            </a:r>
          </a:p>
        </p:txBody>
      </p:sp>
      <p:sp>
        <p:nvSpPr>
          <p:cNvPr id="96" name="Rectangle 95"/>
          <p:cNvSpPr/>
          <p:nvPr/>
        </p:nvSpPr>
        <p:spPr>
          <a:xfrm>
            <a:off x="338328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7" name="Rounded Rectangle 96"/>
          <p:cNvSpPr/>
          <p:nvPr/>
        </p:nvSpPr>
        <p:spPr>
          <a:xfrm>
            <a:off x="4171858" y="1394990"/>
            <a:ext cx="429158" cy="429158"/>
          </a:xfrm>
          <a:prstGeom prst="roundRect">
            <a:avLst>
              <a:gd name="adj" fmla="val 50000"/>
            </a:avLst>
          </a:prstGeom>
          <a:solidFill>
            <a:srgbClr val="E8F5EE"/>
          </a:solidFill>
          <a:ln w="635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8" name="TextBox 97"/>
          <p:cNvSpPr txBox="1"/>
          <p:nvPr/>
        </p:nvSpPr>
        <p:spPr>
          <a:xfrm>
            <a:off x="4171858" y="1394990"/>
            <a:ext cx="429158" cy="429158"/>
          </a:xfrm>
          <a:prstGeom prst="rect">
            <a:avLst/>
          </a:prstGeom>
          <a:noFill/>
        </p:spPr>
        <p:txBody>
          <a:bodyPr wrap="square" lIns="0" tIns="0" rIns="0" bIns="0" anchor="ctr">
            <a:spAutoFit/>
          </a:bodyPr>
          <a:lstStyle/>
          <a:p>
            <a:pPr marL="0" indent="0" algn="ctr">
              <a:buNone/>
            </a:pPr>
            <a:r>
              <a:rPr sz="1800" b="1" i="0">
                <a:solidFill>
                  <a:srgbClr val="1B7F4B"/>
                </a:solidFill>
              </a:rPr>
              <a:t>✓</a:t>
            </a:r>
          </a:p>
        </p:txBody>
      </p:sp>
      <p:sp>
        <p:nvSpPr>
          <p:cNvPr id="99" name="TextBox 98"/>
          <p:cNvSpPr txBox="1"/>
          <p:nvPr/>
        </p:nvSpPr>
        <p:spPr>
          <a:xfrm>
            <a:off x="3512027" y="1889360"/>
            <a:ext cx="1754184" cy="159258"/>
          </a:xfrm>
          <a:prstGeom prst="rect">
            <a:avLst/>
          </a:prstGeom>
          <a:noFill/>
        </p:spPr>
        <p:txBody>
          <a:bodyPr wrap="square" lIns="0" tIns="0" rIns="0" bIns="0" anchor="ctr">
            <a:spAutoFit/>
          </a:bodyPr>
          <a:lstStyle/>
          <a:p>
            <a:pPr marL="0" indent="0" algn="ctr">
              <a:buNone/>
            </a:pPr>
            <a:r>
              <a:rPr sz="950" b="1" i="0">
                <a:solidFill>
                  <a:srgbClr val="3A3A3A"/>
                </a:solidFill>
              </a:rPr>
              <a:t>Thank you, Ngọc</a:t>
            </a:r>
          </a:p>
        </p:txBody>
      </p:sp>
      <p:sp>
        <p:nvSpPr>
          <p:cNvPr id="100" name="TextBox 99"/>
          <p:cNvSpPr txBox="1"/>
          <p:nvPr/>
        </p:nvSpPr>
        <p:spPr>
          <a:xfrm>
            <a:off x="3512027" y="2049456"/>
            <a:ext cx="1754184" cy="160934"/>
          </a:xfrm>
          <a:prstGeom prst="rect">
            <a:avLst/>
          </a:prstGeom>
          <a:noFill/>
        </p:spPr>
        <p:txBody>
          <a:bodyPr wrap="square" lIns="0" tIns="0" rIns="0" bIns="0" anchor="t">
            <a:spAutoFit/>
          </a:bodyPr>
          <a:lstStyle/>
          <a:p>
            <a:pPr marL="0" indent="0" algn="ctr">
              <a:buNone/>
            </a:pPr>
            <a:r>
              <a:rPr sz="560" b="0" i="0">
                <a:solidFill>
                  <a:srgbClr val="888888"/>
                </a:solidFill>
              </a:rPr>
              <a:t>Your order LM2608140042 has been placed.</a:t>
            </a:r>
          </a:p>
        </p:txBody>
      </p:sp>
      <p:sp>
        <p:nvSpPr>
          <p:cNvPr id="101" name="Rounded Rectangle 100"/>
          <p:cNvSpPr/>
          <p:nvPr/>
        </p:nvSpPr>
        <p:spPr>
          <a:xfrm>
            <a:off x="3512027" y="2285493"/>
            <a:ext cx="1754184" cy="633008"/>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2" name="TextBox 101"/>
          <p:cNvSpPr txBox="1"/>
          <p:nvPr/>
        </p:nvSpPr>
        <p:spPr>
          <a:xfrm>
            <a:off x="3619317" y="2317345"/>
            <a:ext cx="1539605" cy="97231"/>
          </a:xfrm>
          <a:prstGeom prst="rect">
            <a:avLst/>
          </a:prstGeom>
          <a:noFill/>
        </p:spPr>
        <p:txBody>
          <a:bodyPr wrap="square" lIns="0" tIns="0" rIns="0" bIns="0" anchor="ctr">
            <a:spAutoFit/>
          </a:bodyPr>
          <a:lstStyle/>
          <a:p>
            <a:pPr marL="0" indent="0" algn="l">
              <a:buNone/>
            </a:pPr>
            <a:r>
              <a:rPr sz="580" b="1" i="0">
                <a:solidFill>
                  <a:srgbClr val="3A3A3A"/>
                </a:solidFill>
              </a:rPr>
              <a:t>Order summary</a:t>
            </a:r>
          </a:p>
        </p:txBody>
      </p:sp>
      <p:sp>
        <p:nvSpPr>
          <p:cNvPr id="103" name="TextBox 102"/>
          <p:cNvSpPr txBox="1"/>
          <p:nvPr/>
        </p:nvSpPr>
        <p:spPr>
          <a:xfrm>
            <a:off x="3458382" y="2435029"/>
            <a:ext cx="1072896" cy="87172"/>
          </a:xfrm>
          <a:prstGeom prst="rect">
            <a:avLst/>
          </a:prstGeom>
          <a:noFill/>
        </p:spPr>
        <p:txBody>
          <a:bodyPr wrap="square" lIns="0" tIns="0" rIns="0" bIns="0" anchor="ctr">
            <a:spAutoFit/>
          </a:bodyPr>
          <a:lstStyle/>
          <a:p>
            <a:pPr marL="0" indent="0" algn="l">
              <a:buNone/>
            </a:pPr>
            <a:r>
              <a:rPr sz="520" b="0" i="0">
                <a:solidFill>
                  <a:srgbClr val="555555"/>
                </a:solidFill>
              </a:rPr>
              <a:t>Collect at</a:t>
            </a:r>
          </a:p>
        </p:txBody>
      </p:sp>
      <p:sp>
        <p:nvSpPr>
          <p:cNvPr id="104" name="TextBox 103"/>
          <p:cNvSpPr txBox="1"/>
          <p:nvPr/>
        </p:nvSpPr>
        <p:spPr>
          <a:xfrm>
            <a:off x="4568830" y="2435029"/>
            <a:ext cx="751027" cy="87172"/>
          </a:xfrm>
          <a:prstGeom prst="rect">
            <a:avLst/>
          </a:prstGeom>
          <a:noFill/>
        </p:spPr>
        <p:txBody>
          <a:bodyPr wrap="square" lIns="0" tIns="0" rIns="0" bIns="0" anchor="ctr">
            <a:spAutoFit/>
          </a:bodyPr>
          <a:lstStyle/>
          <a:p>
            <a:pPr marL="0" indent="0" algn="r">
              <a:buNone/>
            </a:pPr>
            <a:r>
              <a:rPr sz="520" b="0" i="0">
                <a:solidFill>
                  <a:srgbClr val="555555"/>
                </a:solidFill>
              </a:rPr>
              <a:t>Nam Sài Gòn</a:t>
            </a:r>
          </a:p>
        </p:txBody>
      </p:sp>
      <p:sp>
        <p:nvSpPr>
          <p:cNvPr id="105" name="TextBox 104"/>
          <p:cNvSpPr txBox="1"/>
          <p:nvPr/>
        </p:nvSpPr>
        <p:spPr>
          <a:xfrm>
            <a:off x="3458382" y="2520860"/>
            <a:ext cx="1072896" cy="87172"/>
          </a:xfrm>
          <a:prstGeom prst="rect">
            <a:avLst/>
          </a:prstGeom>
          <a:noFill/>
        </p:spPr>
        <p:txBody>
          <a:bodyPr wrap="square" lIns="0" tIns="0" rIns="0" bIns="0" anchor="ctr">
            <a:spAutoFit/>
          </a:bodyPr>
          <a:lstStyle/>
          <a:p>
            <a:pPr marL="0" indent="0" algn="l">
              <a:buNone/>
            </a:pPr>
            <a:r>
              <a:rPr sz="520" b="0" i="0">
                <a:solidFill>
                  <a:srgbClr val="555555"/>
                </a:solidFill>
              </a:rPr>
              <a:t>Time</a:t>
            </a:r>
          </a:p>
        </p:txBody>
      </p:sp>
      <p:sp>
        <p:nvSpPr>
          <p:cNvPr id="106" name="TextBox 105"/>
          <p:cNvSpPr txBox="1"/>
          <p:nvPr/>
        </p:nvSpPr>
        <p:spPr>
          <a:xfrm>
            <a:off x="4568830" y="2520860"/>
            <a:ext cx="751027" cy="87172"/>
          </a:xfrm>
          <a:prstGeom prst="rect">
            <a:avLst/>
          </a:prstGeom>
          <a:noFill/>
        </p:spPr>
        <p:txBody>
          <a:bodyPr wrap="square" lIns="0" tIns="0" rIns="0" bIns="0" anchor="ctr">
            <a:spAutoFit/>
          </a:bodyPr>
          <a:lstStyle/>
          <a:p>
            <a:pPr marL="0" indent="0" algn="r">
              <a:buNone/>
            </a:pPr>
            <a:r>
              <a:rPr sz="520" b="0" i="0">
                <a:solidFill>
                  <a:srgbClr val="555555"/>
                </a:solidFill>
              </a:rPr>
              <a:t>Today 16:00–18:00</a:t>
            </a:r>
          </a:p>
        </p:txBody>
      </p:sp>
      <p:sp>
        <p:nvSpPr>
          <p:cNvPr id="107" name="TextBox 106"/>
          <p:cNvSpPr txBox="1"/>
          <p:nvPr/>
        </p:nvSpPr>
        <p:spPr>
          <a:xfrm>
            <a:off x="3458382" y="2606692"/>
            <a:ext cx="1072896" cy="87172"/>
          </a:xfrm>
          <a:prstGeom prst="rect">
            <a:avLst/>
          </a:prstGeom>
          <a:noFill/>
        </p:spPr>
        <p:txBody>
          <a:bodyPr wrap="square" lIns="0" tIns="0" rIns="0" bIns="0" anchor="ctr">
            <a:spAutoFit/>
          </a:bodyPr>
          <a:lstStyle/>
          <a:p>
            <a:pPr marL="0" indent="0" algn="l">
              <a:buNone/>
            </a:pPr>
            <a:r>
              <a:rPr sz="520" b="0" i="0">
                <a:solidFill>
                  <a:srgbClr val="555555"/>
                </a:solidFill>
              </a:rPr>
              <a:t>Items</a:t>
            </a:r>
          </a:p>
        </p:txBody>
      </p:sp>
      <p:sp>
        <p:nvSpPr>
          <p:cNvPr id="108" name="TextBox 107"/>
          <p:cNvSpPr txBox="1"/>
          <p:nvPr/>
        </p:nvSpPr>
        <p:spPr>
          <a:xfrm>
            <a:off x="4568830" y="2606692"/>
            <a:ext cx="751027" cy="87172"/>
          </a:xfrm>
          <a:prstGeom prst="rect">
            <a:avLst/>
          </a:prstGeom>
          <a:noFill/>
        </p:spPr>
        <p:txBody>
          <a:bodyPr wrap="square" lIns="0" tIns="0" rIns="0" bIns="0" anchor="ctr">
            <a:spAutoFit/>
          </a:bodyPr>
          <a:lstStyle/>
          <a:p>
            <a:pPr marL="0" indent="0" algn="r">
              <a:buNone/>
            </a:pPr>
            <a:r>
              <a:rPr sz="520" b="0" i="0">
                <a:solidFill>
                  <a:srgbClr val="555555"/>
                </a:solidFill>
              </a:rPr>
              <a:t>6</a:t>
            </a:r>
          </a:p>
        </p:txBody>
      </p:sp>
      <p:sp>
        <p:nvSpPr>
          <p:cNvPr id="109" name="TextBox 108"/>
          <p:cNvSpPr txBox="1"/>
          <p:nvPr/>
        </p:nvSpPr>
        <p:spPr>
          <a:xfrm>
            <a:off x="3458382" y="2692524"/>
            <a:ext cx="1072896" cy="87172"/>
          </a:xfrm>
          <a:prstGeom prst="rect">
            <a:avLst/>
          </a:prstGeom>
          <a:noFill/>
        </p:spPr>
        <p:txBody>
          <a:bodyPr wrap="square" lIns="0" tIns="0" rIns="0" bIns="0" anchor="ctr">
            <a:spAutoFit/>
          </a:bodyPr>
          <a:lstStyle/>
          <a:p>
            <a:pPr marL="0" indent="0" algn="l">
              <a:buNone/>
            </a:pPr>
            <a:r>
              <a:rPr sz="520" b="0" i="0">
                <a:solidFill>
                  <a:srgbClr val="555555"/>
                </a:solidFill>
              </a:rPr>
              <a:t>Paid</a:t>
            </a:r>
          </a:p>
        </p:txBody>
      </p:sp>
      <p:sp>
        <p:nvSpPr>
          <p:cNvPr id="110" name="TextBox 109"/>
          <p:cNvSpPr txBox="1"/>
          <p:nvPr/>
        </p:nvSpPr>
        <p:spPr>
          <a:xfrm>
            <a:off x="4568830" y="2692524"/>
            <a:ext cx="751027" cy="87172"/>
          </a:xfrm>
          <a:prstGeom prst="rect">
            <a:avLst/>
          </a:prstGeom>
          <a:noFill/>
        </p:spPr>
        <p:txBody>
          <a:bodyPr wrap="square" lIns="0" tIns="0" rIns="0" bIns="0" anchor="ctr">
            <a:spAutoFit/>
          </a:bodyPr>
          <a:lstStyle/>
          <a:p>
            <a:pPr marL="0" indent="0" algn="r">
              <a:buNone/>
            </a:pPr>
            <a:r>
              <a:rPr sz="520" b="0" i="0">
                <a:solidFill>
                  <a:srgbClr val="555555"/>
                </a:solidFill>
              </a:rPr>
              <a:t>Cash at pick-up</a:t>
            </a:r>
          </a:p>
        </p:txBody>
      </p:sp>
      <p:sp>
        <p:nvSpPr>
          <p:cNvPr id="111" name="TextBox 110"/>
          <p:cNvSpPr txBox="1"/>
          <p:nvPr/>
        </p:nvSpPr>
        <p:spPr>
          <a:xfrm>
            <a:off x="3458382" y="2773325"/>
            <a:ext cx="1072896" cy="97231"/>
          </a:xfrm>
          <a:prstGeom prst="rect">
            <a:avLst/>
          </a:prstGeom>
          <a:noFill/>
        </p:spPr>
        <p:txBody>
          <a:bodyPr wrap="square" lIns="0" tIns="0" rIns="0" bIns="0" anchor="ctr">
            <a:spAutoFit/>
          </a:bodyPr>
          <a:lstStyle/>
          <a:p>
            <a:pPr marL="0" indent="0" algn="l">
              <a:buNone/>
            </a:pPr>
            <a:r>
              <a:rPr sz="580" b="1" i="0">
                <a:solidFill>
                  <a:srgbClr val="222222"/>
                </a:solidFill>
              </a:rPr>
              <a:t>Amount</a:t>
            </a:r>
          </a:p>
        </p:txBody>
      </p:sp>
      <p:sp>
        <p:nvSpPr>
          <p:cNvPr id="112" name="TextBox 111"/>
          <p:cNvSpPr txBox="1"/>
          <p:nvPr/>
        </p:nvSpPr>
        <p:spPr>
          <a:xfrm>
            <a:off x="4568830" y="2773325"/>
            <a:ext cx="751027" cy="97231"/>
          </a:xfrm>
          <a:prstGeom prst="rect">
            <a:avLst/>
          </a:prstGeom>
          <a:noFill/>
        </p:spPr>
        <p:txBody>
          <a:bodyPr wrap="square" lIns="0" tIns="0" rIns="0" bIns="0" anchor="ctr">
            <a:spAutoFit/>
          </a:bodyPr>
          <a:lstStyle/>
          <a:p>
            <a:pPr marL="0" indent="0" algn="r">
              <a:buNone/>
            </a:pPr>
            <a:r>
              <a:rPr sz="580" b="1" i="0">
                <a:solidFill>
                  <a:srgbClr val="222222"/>
                </a:solidFill>
              </a:rPr>
              <a:t>448,000 ₫</a:t>
            </a:r>
          </a:p>
        </p:txBody>
      </p:sp>
      <p:sp>
        <p:nvSpPr>
          <p:cNvPr id="113" name="Rounded Rectangle 112"/>
          <p:cNvSpPr/>
          <p:nvPr/>
        </p:nvSpPr>
        <p:spPr>
          <a:xfrm>
            <a:off x="3512027" y="2982876"/>
            <a:ext cx="1754184" cy="203850"/>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4" name="TextBox 113"/>
          <p:cNvSpPr txBox="1"/>
          <p:nvPr/>
        </p:nvSpPr>
        <p:spPr>
          <a:xfrm>
            <a:off x="3512027" y="2982876"/>
            <a:ext cx="1754184" cy="203850"/>
          </a:xfrm>
          <a:prstGeom prst="rect">
            <a:avLst/>
          </a:prstGeom>
          <a:noFill/>
        </p:spPr>
        <p:txBody>
          <a:bodyPr wrap="square" lIns="0" tIns="0" rIns="0" bIns="0" anchor="ctr">
            <a:spAutoFit/>
          </a:bodyPr>
          <a:lstStyle/>
          <a:p>
            <a:pPr marL="0" indent="0" algn="ctr">
              <a:buNone/>
            </a:pPr>
            <a:r>
              <a:rPr sz="680" b="1" i="0">
                <a:solidFill>
                  <a:srgbClr val="FFFFFF"/>
                </a:solidFill>
              </a:rPr>
              <a:t>Track this order</a:t>
            </a:r>
          </a:p>
        </p:txBody>
      </p:sp>
      <p:sp>
        <p:nvSpPr>
          <p:cNvPr id="115" name="Rounded Rectangle 114"/>
          <p:cNvSpPr/>
          <p:nvPr/>
        </p:nvSpPr>
        <p:spPr>
          <a:xfrm>
            <a:off x="3512027" y="3229642"/>
            <a:ext cx="1754184" cy="203850"/>
          </a:xfrm>
          <a:prstGeom prst="roundRect">
            <a:avLst>
              <a:gd name="adj" fmla="val 2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6" name="TextBox 115"/>
          <p:cNvSpPr txBox="1"/>
          <p:nvPr/>
        </p:nvSpPr>
        <p:spPr>
          <a:xfrm>
            <a:off x="3512027" y="3229642"/>
            <a:ext cx="1754184" cy="203850"/>
          </a:xfrm>
          <a:prstGeom prst="rect">
            <a:avLst/>
          </a:prstGeom>
          <a:noFill/>
        </p:spPr>
        <p:txBody>
          <a:bodyPr wrap="square" lIns="0" tIns="0" rIns="0" bIns="0" anchor="ctr">
            <a:spAutoFit/>
          </a:bodyPr>
          <a:lstStyle/>
          <a:p>
            <a:pPr marL="0" indent="0" algn="ctr">
              <a:buNone/>
            </a:pPr>
            <a:r>
              <a:rPr sz="680" b="1" i="0">
                <a:solidFill>
                  <a:srgbClr val="222222"/>
                </a:solidFill>
              </a:rPr>
              <a:t>Continue shopping</a:t>
            </a:r>
          </a:p>
        </p:txBody>
      </p:sp>
      <p:sp>
        <p:nvSpPr>
          <p:cNvPr id="117" name="Rounded Rectangle 116"/>
          <p:cNvSpPr/>
          <p:nvPr/>
        </p:nvSpPr>
        <p:spPr>
          <a:xfrm>
            <a:off x="3512027" y="3519324"/>
            <a:ext cx="1754184" cy="450616"/>
          </a:xfrm>
          <a:prstGeom prst="roundRect">
            <a:avLst>
              <a:gd name="adj" fmla="val 10000"/>
            </a:avLst>
          </a:prstGeom>
          <a:solidFill>
            <a:srgbClr val="FFF6E5"/>
          </a:solidFill>
          <a:ln w="6350">
            <a:solidFill>
              <a:srgbClr val="B26A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8" name="TextBox 117"/>
          <p:cNvSpPr txBox="1"/>
          <p:nvPr/>
        </p:nvSpPr>
        <p:spPr>
          <a:xfrm>
            <a:off x="3619317" y="3554529"/>
            <a:ext cx="1539605" cy="90525"/>
          </a:xfrm>
          <a:prstGeom prst="rect">
            <a:avLst/>
          </a:prstGeom>
          <a:noFill/>
        </p:spPr>
        <p:txBody>
          <a:bodyPr wrap="square" lIns="0" tIns="0" rIns="0" bIns="0" anchor="ctr">
            <a:spAutoFit/>
          </a:bodyPr>
          <a:lstStyle/>
          <a:p>
            <a:pPr marL="0" indent="0" algn="l">
              <a:buNone/>
            </a:pPr>
            <a:r>
              <a:rPr sz="540" b="1" i="0">
                <a:solidFill>
                  <a:srgbClr val="8A5A00"/>
                </a:solidFill>
              </a:rPr>
              <a:t>Scope boundary</a:t>
            </a:r>
          </a:p>
        </p:txBody>
      </p:sp>
      <p:sp>
        <p:nvSpPr>
          <p:cNvPr id="119" name="TextBox 118"/>
          <p:cNvSpPr txBox="1"/>
          <p:nvPr/>
        </p:nvSpPr>
        <p:spPr>
          <a:xfrm>
            <a:off x="3619317" y="3658800"/>
            <a:ext cx="1539605" cy="278952"/>
          </a:xfrm>
          <a:prstGeom prst="rect">
            <a:avLst/>
          </a:prstGeom>
          <a:noFill/>
        </p:spPr>
        <p:txBody>
          <a:bodyPr wrap="square" lIns="0" tIns="0" rIns="0" bIns="0" anchor="t">
            <a:spAutoFit/>
          </a:bodyPr>
          <a:lstStyle/>
          <a:p>
            <a:pPr marL="0" indent="0" algn="l">
              <a:buNone/>
            </a:pPr>
            <a:r>
              <a:rPr sz="500" b="0" i="0">
                <a:solidFill>
                  <a:srgbClr val="8A5A00"/>
                </a:solidFill>
              </a:rPr>
              <a:t>Everything after Place Order — tracking, fulfilment, returns and refunds — is outside this specification and is covered by the Order Management deliverables.</a:t>
            </a:r>
          </a:p>
        </p:txBody>
      </p:sp>
      <p:sp>
        <p:nvSpPr>
          <p:cNvPr id="120" name="Oval 119"/>
          <p:cNvSpPr/>
          <p:nvPr/>
        </p:nvSpPr>
        <p:spPr>
          <a:xfrm>
            <a:off x="3168701" y="2285493"/>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1" name="TextBox 120"/>
          <p:cNvSpPr txBox="1"/>
          <p:nvPr/>
        </p:nvSpPr>
        <p:spPr>
          <a:xfrm>
            <a:off x="3168701" y="2285493"/>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122" name="Oval 121"/>
          <p:cNvSpPr/>
          <p:nvPr/>
        </p:nvSpPr>
        <p:spPr>
          <a:xfrm>
            <a:off x="3168701" y="2982876"/>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3" name="TextBox 122"/>
          <p:cNvSpPr txBox="1"/>
          <p:nvPr/>
        </p:nvSpPr>
        <p:spPr>
          <a:xfrm>
            <a:off x="3168701" y="2982876"/>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sp>
        <p:nvSpPr>
          <p:cNvPr id="124" name="Oval 123"/>
          <p:cNvSpPr/>
          <p:nvPr/>
        </p:nvSpPr>
        <p:spPr>
          <a:xfrm>
            <a:off x="3168701" y="3519324"/>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5" name="TextBox 124"/>
          <p:cNvSpPr txBox="1"/>
          <p:nvPr/>
        </p:nvSpPr>
        <p:spPr>
          <a:xfrm>
            <a:off x="3168701" y="3519324"/>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graphicFrame>
        <p:nvGraphicFramePr>
          <p:cNvPr id="126" name="Table 125"/>
          <p:cNvGraphicFramePr>
            <a:graphicFrameLocks noGrp="1"/>
          </p:cNvGraphicFramePr>
          <p:nvPr/>
        </p:nvGraphicFramePr>
        <p:xfrm>
          <a:off x="7196328" y="886968"/>
          <a:ext cx="4718304" cy="336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Collection block</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Replaces the delivery block for the Pickup branch: store, address, distance and the chosen collection window. Locked, like every other order detail (CO-01).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Collector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name and phone captured in the Cart, which may differ from the account holder (BRL-30). The screen states what to bring.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Cash at pick-up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Offered only to eligible tiers, Platinum and Diamond first — a change from As-Is, which does not allow cash at pickup (BRL-29). Ineligible customers do not see the option at all.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No delivery fee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Pickup carries no delivery fee, so the freeship threshold and delivery coupons do not apply. Bulky surcharge rules still apply where relevant (BRL-23).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Order confirmation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Order number and a compact summary of what was committed.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7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Next actions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Track the order, or continue shopping. Tracking belongs to the Order Management module.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420000">
                <a:tc>
                  <a:txBody>
                    <a:bodyPr/>
                    <a:lstStyle/>
                    <a:p>
                      <a:pPr marL="0" indent="0" algn="ctr">
                        <a:buNone/>
                      </a:pPr>
                      <a:r>
                        <a:rPr sz="70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Scope boundary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Stated explicitly on the last screen of the flow, so readers of this document know where its authority ends (Part 1, Out of scope).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127" name="TextBox 126"/>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This is the terminal screen of the Simplify User Flow. Post-order behaviour — fulfilment, dispatch, delivery status, returns and refunds — is specified elsewhere and has no dependency on the rules in this document.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128016" cy="68580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005840" y="2011680"/>
            <a:ext cx="2000000" cy="700000"/>
          </a:xfrm>
          <a:prstGeom prst="rect">
            <a:avLst/>
          </a:prstGeom>
          <a:noFill/>
        </p:spPr>
        <p:txBody>
          <a:bodyPr wrap="square" lIns="0" tIns="0" rIns="0" bIns="0" anchor="ctr">
            <a:spAutoFit/>
          </a:bodyPr>
          <a:lstStyle/>
          <a:p>
            <a:pPr marL="0" indent="0" algn="l">
              <a:buNone/>
            </a:pPr>
            <a:r>
              <a:rPr sz="5400" b="1" i="0">
                <a:solidFill>
                  <a:srgbClr val="C8102E"/>
                </a:solidFill>
              </a:rPr>
              <a:t>PART 6</a:t>
            </a:r>
          </a:p>
        </p:txBody>
      </p:sp>
      <p:sp>
        <p:nvSpPr>
          <p:cNvPr id="5" name="TextBox 4"/>
          <p:cNvSpPr txBox="1"/>
          <p:nvPr/>
        </p:nvSpPr>
        <p:spPr>
          <a:xfrm>
            <a:off x="1005840" y="2743200"/>
            <a:ext cx="9000000" cy="640080"/>
          </a:xfrm>
          <a:prstGeom prst="rect">
            <a:avLst/>
          </a:prstGeom>
          <a:noFill/>
        </p:spPr>
        <p:txBody>
          <a:bodyPr wrap="square" lIns="0" tIns="0" rIns="0" bIns="0" anchor="ctr">
            <a:spAutoFit/>
          </a:bodyPr>
          <a:lstStyle/>
          <a:p>
            <a:pPr marL="0" indent="0" algn="l">
              <a:buNone/>
            </a:pPr>
            <a:r>
              <a:rPr sz="3000" b="1" i="0">
                <a:solidFill>
                  <a:srgbClr val="FFFFFF"/>
                </a:solidFill>
              </a:rPr>
              <a:t>Quality, Risk &amp; Traceability</a:t>
            </a:r>
          </a:p>
        </p:txBody>
      </p:sp>
      <p:sp>
        <p:nvSpPr>
          <p:cNvPr id="6" name="TextBox 5"/>
          <p:cNvSpPr txBox="1"/>
          <p:nvPr/>
        </p:nvSpPr>
        <p:spPr>
          <a:xfrm>
            <a:off x="1005840" y="3429000"/>
            <a:ext cx="9000000" cy="320040"/>
          </a:xfrm>
          <a:prstGeom prst="rect">
            <a:avLst/>
          </a:prstGeom>
          <a:noFill/>
        </p:spPr>
        <p:txBody>
          <a:bodyPr wrap="square" lIns="0" tIns="0" rIns="0" bIns="0" anchor="ctr">
            <a:spAutoFit/>
          </a:bodyPr>
          <a:lstStyle/>
          <a:p>
            <a:pPr marL="0" indent="0" algn="l">
              <a:buNone/>
            </a:pPr>
            <a:r>
              <a:rPr sz="1200" b="0" i="0">
                <a:solidFill>
                  <a:srgbClr val="AAAACC"/>
                </a:solidFill>
              </a:rPr>
              <a:t>Non-functional requirements, open questions, As-Is gaps and the traceability matrix</a:t>
            </a:r>
          </a:p>
        </p:txBody>
      </p:sp>
      <p:sp>
        <p:nvSpPr>
          <p:cNvPr id="7" name="Oval 6"/>
          <p:cNvSpPr/>
          <p:nvPr/>
        </p:nvSpPr>
        <p:spPr>
          <a:xfrm>
            <a:off x="1005840" y="420624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 name="TextBox 7"/>
          <p:cNvSpPr txBox="1"/>
          <p:nvPr/>
        </p:nvSpPr>
        <p:spPr>
          <a:xfrm>
            <a:off x="1188720" y="411480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27 open questions with owner, priority and the artefact each one blocks</a:t>
            </a:r>
          </a:p>
        </p:txBody>
      </p:sp>
      <p:sp>
        <p:nvSpPr>
          <p:cNvPr id="9" name="Oval 8"/>
          <p:cNvSpPr/>
          <p:nvPr/>
        </p:nvSpPr>
        <p:spPr>
          <a:xfrm>
            <a:off x="1005840" y="452628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1188720" y="443484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As-Is pain points mapped to the To-Be decision that resolves them</a:t>
            </a:r>
          </a:p>
        </p:txBody>
      </p:sp>
      <p:sp>
        <p:nvSpPr>
          <p:cNvPr id="11" name="Oval 10"/>
          <p:cNvSpPr/>
          <p:nvPr/>
        </p:nvSpPr>
        <p:spPr>
          <a:xfrm>
            <a:off x="1005840" y="484632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1188720" y="475488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Full traceability: business requirement → rule → functional requirement → flow → screen</a:t>
            </a:r>
          </a:p>
        </p:txBody>
      </p:sp>
      <p:sp>
        <p:nvSpPr>
          <p:cNvPr id="13" name="Oval 12"/>
          <p:cNvSpPr/>
          <p:nvPr/>
        </p:nvSpPr>
        <p:spPr>
          <a:xfrm>
            <a:off x="1005840" y="516636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1188720" y="507492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What must be decided before this specification can be baselined</a:t>
            </a:r>
          </a:p>
        </p:txBody>
      </p:sp>
      <p:sp>
        <p:nvSpPr>
          <p:cNvPr id="15" name="Rectangle 14"/>
          <p:cNvSpPr/>
          <p:nvPr/>
        </p:nvSpPr>
        <p:spPr>
          <a:xfrm>
            <a:off x="0" y="6473952"/>
            <a:ext cx="12161520" cy="201168"/>
          </a:xfrm>
          <a:prstGeom prst="rect">
            <a:avLst/>
          </a:prstGeom>
          <a:solidFill>
            <a:srgbClr val="16234F"/>
          </a:solidFill>
          <a:ln w="12700">
            <a:solidFill>
              <a:srgbClr val="16234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6E7CA8"/>
                </a:solidFill>
              </a:rPr>
              <a:t>LOTTE MART VN Online Renewal 2026  —  Simplify User Flow  |  CONFIDENTIAL</a:t>
            </a:r>
          </a:p>
        </p:txBody>
      </p:sp>
      <p:sp>
        <p:nvSpPr>
          <p:cNvPr id="17" name="TextBox 16"/>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6E7CA8"/>
                </a:solidFill>
              </a:rPr>
              <a:t>63</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6  ·  As-Is Pain Points → To-Be Decisions</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64</a:t>
            </a:r>
          </a:p>
        </p:txBody>
      </p:sp>
      <p:sp>
        <p:nvSpPr>
          <p:cNvPr id="9" name="TextBox 8"/>
          <p:cNvSpPr txBox="1"/>
          <p:nvPr/>
        </p:nvSpPr>
        <p:spPr>
          <a:xfrm>
            <a:off x="274320" y="640080"/>
            <a:ext cx="11612880" cy="210000"/>
          </a:xfrm>
          <a:prstGeom prst="rect">
            <a:avLst/>
          </a:prstGeom>
          <a:noFill/>
        </p:spPr>
        <p:txBody>
          <a:bodyPr wrap="square" lIns="0" tIns="0" rIns="0" bIns="0" anchor="ctr">
            <a:spAutoFit/>
          </a:bodyPr>
          <a:lstStyle/>
          <a:p>
            <a:pPr marL="0" indent="0" algn="l">
              <a:buNone/>
            </a:pPr>
            <a:r>
              <a:rPr sz="800" b="0" i="0">
                <a:solidFill>
                  <a:srgbClr val="555555"/>
                </a:solidFill>
              </a:rPr>
              <a:t>The As-Is section of the source BRD was left open pending LOTTE MART input. The table below reconstructs the pain points that each To-Be decision was designed to resolve, so the rationale is not lost.</a:t>
            </a:r>
          </a:p>
        </p:txBody>
      </p:sp>
      <p:graphicFrame>
        <p:nvGraphicFramePr>
          <p:cNvPr id="10" name="Table 9"/>
          <p:cNvGraphicFramePr>
            <a:graphicFrameLocks noGrp="1"/>
          </p:cNvGraphicFramePr>
          <p:nvPr/>
        </p:nvGraphicFramePr>
        <p:xfrm>
          <a:off x="274320" y="960120"/>
          <a:ext cx="11612880" cy="4718304"/>
        </p:xfrm>
        <a:graphic>
          <a:graphicData uri="http://schemas.openxmlformats.org/drawingml/2006/table">
            <a:tbl>
              <a:tblPr/>
              <a:tblGrid>
                <a:gridCol w="36576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4114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192024">
                <a:tc>
                  <a:txBody>
                    <a:bodyPr/>
                    <a:lstStyle/>
                    <a:p>
                      <a:pPr marL="0" indent="0" algn="ctr">
                        <a:buNone/>
                      </a:pPr>
                      <a:r>
                        <a:rPr sz="700" b="1" i="0">
                          <a:solidFill>
                            <a:srgbClr val="FFFFFF"/>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As-Is pain point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Consequence today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To-Be decision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Rule / FR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502920">
                <a:tc>
                  <a:txBody>
                    <a:bodyPr/>
                    <a:lstStyle/>
                    <a:p>
                      <a:pPr marL="0" indent="0" algn="ctr">
                        <a:buNone/>
                      </a:pPr>
                      <a:r>
                        <a:rPr sz="700" b="0" i="0">
                          <a:solidFill>
                            <a:srgbClr val="222222"/>
                          </a:solidFill>
                        </a:rPr>
                        <a:t>G1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Several decisions are bundled into one step — service, slot, address and store are resolved together, late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customer cannot tell which choice caused which price or which delivery date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journey is split into six sequential blocks with one decision each; store context is established first, everything else follows from it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PF-01 · BRL-01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502920">
                <a:tc>
                  <a:txBody>
                    <a:bodyPr/>
                    <a:lstStyle/>
                    <a:p>
                      <a:pPr marL="0" indent="0" algn="ctr">
                        <a:buNone/>
                      </a:pPr>
                      <a:r>
                        <a:rPr sz="700" b="0" i="0">
                          <a:solidFill>
                            <a:srgbClr val="222222"/>
                          </a:solidFill>
                        </a:rPr>
                        <a:t>G2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 delivery service and time are suggested even for addresses that cannot be served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customer forms an expectation operations cannot meet — late or failed deliveries, and disputes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Outside every configured area no date and no time is shown; a clear message plus a Change address CTA replaces the guess. Browsing and Pickup continue normally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HP-04 · BRL-10 … 12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502920">
                <a:tc>
                  <a:txBody>
                    <a:bodyPr/>
                    <a:lstStyle/>
                    <a:p>
                      <a:pPr marL="0" indent="0" algn="ctr">
                        <a:buNone/>
                      </a:pPr>
                      <a:r>
                        <a:rPr sz="700" b="0" i="0">
                          <a:solidFill>
                            <a:srgbClr val="222222"/>
                          </a:solidFill>
                        </a:rPr>
                        <a:t>G3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Login is requested at inconsistent points, sometimes before the customer has shown any intent to buy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Abandonment before the catalogue has been seen; a registration wall in front of browsing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Login is enforced at exactly two points — Add to Cart and Cart entry — and the original action is always resumed afterwards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BR-02 · BRL-05 … 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502920">
                <a:tc>
                  <a:txBody>
                    <a:bodyPr/>
                    <a:lstStyle/>
                    <a:p>
                      <a:pPr marL="0" indent="0" algn="ctr">
                        <a:buNone/>
                      </a:pPr>
                      <a:r>
                        <a:rPr sz="700" b="0" i="0">
                          <a:solidFill>
                            <a:srgbClr val="222222"/>
                          </a:solidFill>
                        </a:rPr>
                        <a:t>G4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Changing store or address mid-journey silently alters prices, stock and delivery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basket changes without explanation; the customer discovers it at payment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Context-dependent handling: immediate on the Homepage with a notification, explicit consolidated confirmation inside the 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BR-10 · BRL-08 · BRL-09 · BRL-24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502920">
                <a:tc>
                  <a:txBody>
                    <a:bodyPr/>
                    <a:lstStyle/>
                    <a:p>
                      <a:pPr marL="0" indent="0" algn="ctr">
                        <a:buNone/>
                      </a:pPr>
                      <a:r>
                        <a:rPr sz="700" b="0" i="0">
                          <a:solidFill>
                            <a:srgbClr val="222222"/>
                          </a:solidFill>
                        </a:rPr>
                        <a:t>G5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order remains editable during payment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Price, promotion and total can drift between review and payment — stale prices and disputed totals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order is locked read-only at Checkout; any change returns the customer to the Cart with selections preserved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BR-09 · BRL-31 · NFR-04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502920">
                <a:tc>
                  <a:txBody>
                    <a:bodyPr/>
                    <a:lstStyle/>
                    <a:p>
                      <a:pPr marL="0" indent="0" algn="ctr">
                        <a:buNone/>
                      </a:pPr>
                      <a:r>
                        <a:rPr sz="700" b="0" i="0">
                          <a:solidFill>
                            <a:srgbClr val="222222"/>
                          </a:solidFill>
                        </a:rPr>
                        <a:t>G6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Coupons are presented as one undifferentiated list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customer cannot tell which coupon affects delivery and which affects the products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Coupons are grouped into delivery coupons and order / product coupons, applied automatically and re-confirmed at 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BRL-32 · CO-05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502920">
                <a:tc>
                  <a:txBody>
                    <a:bodyPr/>
                    <a:lstStyle/>
                    <a:p>
                      <a:pPr marL="0" indent="0" algn="ctr">
                        <a:buNone/>
                      </a:pPr>
                      <a:r>
                        <a:rPr sz="700" b="0" i="0">
                          <a:solidFill>
                            <a:srgbClr val="222222"/>
                          </a:solidFill>
                        </a:rPr>
                        <a:t>G7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Cash payment is not available at pick-up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 payment method many customers prefer is unavailable in the channel where it is most natural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Cash at pick-up is allowed for selected membership tiers, Platinum and Diamond first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BRL-29 · CT-09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502920">
                <a:tc>
                  <a:txBody>
                    <a:bodyPr/>
                    <a:lstStyle/>
                    <a:p>
                      <a:pPr marL="0" indent="0" algn="ctr">
                        <a:buNone/>
                      </a:pPr>
                      <a:r>
                        <a:rPr sz="700" b="0" i="0">
                          <a:solidFill>
                            <a:srgbClr val="222222"/>
                          </a:solidFill>
                        </a:rPr>
                        <a:t>G8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long-distance service is called “Nationwide”, which implies coverage everywhere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name promises more than the configuration delivers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Renamed “Next-day” in customer-facing copy and throughout this specification; coverage is stated per area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BRL-12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r h="502920">
                <a:tc>
                  <a:txBody>
                    <a:bodyPr/>
                    <a:lstStyle/>
                    <a:p>
                      <a:pPr marL="0" indent="0" algn="ctr">
                        <a:buNone/>
                      </a:pPr>
                      <a:r>
                        <a:rPr sz="700" b="0" i="0">
                          <a:solidFill>
                            <a:srgbClr val="222222"/>
                          </a:solidFill>
                        </a:rPr>
                        <a:t>G9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Bulky orders follow the same delivery window as ordinary orders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Delivery promises that operations cannot fulfil for heavy or oversized baskets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Bulky orders are detected from the selected combination and move from T+2 to T+4, with a separate surcharge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BR-12 · BRL-22 · BRL-23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9"/>
                  </a:ext>
                </a:extLst>
              </a:tr>
            </a:tbl>
          </a:graphicData>
        </a:graphic>
      </p:graphicFrame>
      <p:sp>
        <p:nvSpPr>
          <p:cNvPr id="11" name="TextBox 10"/>
          <p:cNvSpPr txBox="1"/>
          <p:nvPr/>
        </p:nvSpPr>
        <p:spPr>
          <a:xfrm>
            <a:off x="274320" y="5760720"/>
            <a:ext cx="11612880" cy="274320"/>
          </a:xfrm>
          <a:prstGeom prst="rect">
            <a:avLst/>
          </a:prstGeom>
          <a:noFill/>
        </p:spPr>
        <p:txBody>
          <a:bodyPr wrap="square" lIns="0" tIns="0" rIns="0" bIns="0" anchor="t">
            <a:spAutoFit/>
          </a:bodyPr>
          <a:lstStyle/>
          <a:p>
            <a:pPr marL="0" indent="0" algn="l">
              <a:buNone/>
            </a:pPr>
            <a:r>
              <a:rPr sz="750" b="0" i="1">
                <a:solidFill>
                  <a:srgbClr val="6B6800"/>
                </a:solidFill>
              </a:rPr>
              <a:t>⚠  These pain points are the BA's reconstruction from the design session, not a LOTTE MART-confirmed As-Is analysis. Section 2 of the source BRD remains open and must be completed before this document is baselined.</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6  ·  Open Questions  (OQ-01 … OQ-14)</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65</a:t>
            </a:r>
          </a:p>
        </p:txBody>
      </p:sp>
      <p:sp>
        <p:nvSpPr>
          <p:cNvPr id="9" name="TextBox 8"/>
          <p:cNvSpPr txBox="1"/>
          <p:nvPr/>
        </p:nvSpPr>
        <p:spPr>
          <a:xfrm>
            <a:off x="274320" y="640080"/>
            <a:ext cx="11612880" cy="210000"/>
          </a:xfrm>
          <a:prstGeom prst="rect">
            <a:avLst/>
          </a:prstGeom>
          <a:noFill/>
        </p:spPr>
        <p:txBody>
          <a:bodyPr wrap="square" lIns="0" tIns="0" rIns="0" bIns="0" anchor="ctr">
            <a:spAutoFit/>
          </a:bodyPr>
          <a:lstStyle/>
          <a:p>
            <a:pPr marL="0" indent="0" algn="l">
              <a:buNone/>
            </a:pPr>
            <a:r>
              <a:rPr sz="800" b="0" i="0">
                <a:solidFill>
                  <a:srgbClr val="555555"/>
                </a:solidFill>
              </a:rPr>
              <a:t>Twenty-seven items are unresolved. Each names an owner, a priority and the specific artefact it blocks, so it can be closed independently.</a:t>
            </a:r>
          </a:p>
        </p:txBody>
      </p:sp>
      <p:graphicFrame>
        <p:nvGraphicFramePr>
          <p:cNvPr id="10" name="Table 9"/>
          <p:cNvGraphicFramePr>
            <a:graphicFrameLocks noGrp="1"/>
          </p:cNvGraphicFramePr>
          <p:nvPr/>
        </p:nvGraphicFramePr>
        <p:xfrm>
          <a:off x="274320" y="960120"/>
          <a:ext cx="11612880" cy="3648456"/>
        </p:xfrm>
        <a:graphic>
          <a:graphicData uri="http://schemas.openxmlformats.org/drawingml/2006/table">
            <a:tbl>
              <a:tblPr/>
              <a:tblGrid>
                <a:gridCol w="5943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3154680">
                  <a:extLst>
                    <a:ext uri="{9D8B030D-6E8A-4147-A177-3AD203B41FA5}">
                      <a16:colId xmlns:a16="http://schemas.microsoft.com/office/drawing/2014/main" val="20005"/>
                    </a:ext>
                  </a:extLst>
                </a:gridCol>
              </a:tblGrid>
              <a:tr h="192024">
                <a:tc>
                  <a:txBody>
                    <a:bodyPr/>
                    <a:lstStyle/>
                    <a:p>
                      <a:pPr marL="0" indent="0" algn="ctr">
                        <a:buNone/>
                      </a:pPr>
                      <a:r>
                        <a:rPr sz="700" b="1" i="0">
                          <a:solidFill>
                            <a:srgbClr val="FFFFFF"/>
                          </a:solidFill>
                        </a:rPr>
                        <a:t>Ref</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Area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Question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Owner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Priority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What it blocks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46888">
                <a:tc>
                  <a:txBody>
                    <a:bodyPr/>
                    <a:lstStyle/>
                    <a:p>
                      <a:pPr marL="0" indent="0" algn="ctr">
                        <a:buNone/>
                      </a:pPr>
                      <a:r>
                        <a:rPr sz="700" b="0" i="0">
                          <a:solidFill>
                            <a:srgbClr val="222222"/>
                          </a:solidFill>
                        </a:rPr>
                        <a:t>OQ-01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Homepage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Which address to select when the active one is no longer valid after a store change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LOTTE MART / PO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High</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DECEE"/>
                    </a:solidFill>
                  </a:tcPr>
                </a:tc>
                <a:tc>
                  <a:txBody>
                    <a:bodyPr/>
                    <a:lstStyle/>
                    <a:p>
                      <a:pPr marL="0" indent="0" algn="l">
                        <a:buNone/>
                      </a:pPr>
                      <a:r>
                        <a:rPr sz="700" b="0" i="0">
                          <a:solidFill>
                            <a:srgbClr val="222222"/>
                          </a:solidFill>
                        </a:rPr>
                        <a:t>Blocks SCR-HOM-03 / 04 edge case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46888">
                <a:tc>
                  <a:txBody>
                    <a:bodyPr/>
                    <a:lstStyle/>
                    <a:p>
                      <a:pPr marL="0" indent="0" algn="ctr">
                        <a:buNone/>
                      </a:pPr>
                      <a:r>
                        <a:rPr sz="700" b="0" i="0">
                          <a:solidFill>
                            <a:srgbClr val="222222"/>
                          </a:solidFill>
                        </a:rPr>
                        <a:t>OQ-02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Signup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Should the gender field stay pre-selected as “Chị”</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LOTTE MART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Closed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tc>
                  <a:txBody>
                    <a:bodyPr/>
                    <a:lstStyle/>
                    <a:p>
                      <a:pPr marL="0" indent="0" algn="l">
                        <a:buNone/>
                      </a:pPr>
                      <a:r>
                        <a:rPr sz="700" b="0" i="0">
                          <a:solidFill>
                            <a:srgbClr val="222222"/>
                          </a:solidFill>
                        </a:rPr>
                        <a:t>Resolved — keep the pre-selection (SU-05)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46888">
                <a:tc>
                  <a:txBody>
                    <a:bodyPr/>
                    <a:lstStyle/>
                    <a:p>
                      <a:pPr marL="0" indent="0" algn="ctr">
                        <a:buNone/>
                      </a:pPr>
                      <a:r>
                        <a:rPr sz="700" b="0" i="0">
                          <a:solidFill>
                            <a:srgbClr val="222222"/>
                          </a:solidFill>
                        </a:rPr>
                        <a:t>OQ-03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Login / Signup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Exact wrong-attempt limits for OTP and PIN, and the lock duration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Security / Dev</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High</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DECEE"/>
                    </a:solidFill>
                  </a:tcPr>
                </a:tc>
                <a:tc>
                  <a:txBody>
                    <a:bodyPr/>
                    <a:lstStyle/>
                    <a:p>
                      <a:pPr marL="0" indent="0" algn="l">
                        <a:buNone/>
                      </a:pPr>
                      <a:r>
                        <a:rPr sz="700" b="0" i="0">
                          <a:solidFill>
                            <a:srgbClr val="222222"/>
                          </a:solidFill>
                        </a:rPr>
                        <a:t>Blocks NFR-01 implementation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46888">
                <a:tc>
                  <a:txBody>
                    <a:bodyPr/>
                    <a:lstStyle/>
                    <a:p>
                      <a:pPr marL="0" indent="0" algn="ctr">
                        <a:buNone/>
                      </a:pPr>
                      <a:r>
                        <a:rPr sz="700" b="0" i="0">
                          <a:solidFill>
                            <a:srgbClr val="222222"/>
                          </a:solidFill>
                        </a:rPr>
                        <a:t>OQ-04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Login gate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Is an expired session handled exactly as a Guest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Security / Dev</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Medium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tc>
                  <a:txBody>
                    <a:bodyPr/>
                    <a:lstStyle/>
                    <a:p>
                      <a:pPr marL="0" indent="0" algn="l">
                        <a:buNone/>
                      </a:pPr>
                      <a:r>
                        <a:rPr sz="700" b="0" i="0">
                          <a:solidFill>
                            <a:srgbClr val="222222"/>
                          </a:solidFill>
                        </a:rPr>
                        <a:t>Assumption carried in HP-07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246888">
                <a:tc>
                  <a:txBody>
                    <a:bodyPr/>
                    <a:lstStyle/>
                    <a:p>
                      <a:pPr marL="0" indent="0" algn="ctr">
                        <a:buNone/>
                      </a:pPr>
                      <a:r>
                        <a:rPr sz="700" b="0" i="0">
                          <a:solidFill>
                            <a:srgbClr val="222222"/>
                          </a:solidFill>
                        </a:rPr>
                        <a:t>OQ-05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How long out-of-stock items stay in the separated group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LOTTE MART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Medium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tc>
                  <a:txBody>
                    <a:bodyPr/>
                    <a:lstStyle/>
                    <a:p>
                      <a:pPr marL="0" indent="0" algn="l">
                        <a:buNone/>
                      </a:pPr>
                      <a:r>
                        <a:rPr sz="700" b="0" i="0">
                          <a:solidFill>
                            <a:srgbClr val="222222"/>
                          </a:solidFill>
                        </a:rPr>
                        <a:t>Affects SCR-CRT-01 sub-state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246888">
                <a:tc>
                  <a:txBody>
                    <a:bodyPr/>
                    <a:lstStyle/>
                    <a:p>
                      <a:pPr marL="0" indent="0" algn="ctr">
                        <a:buNone/>
                      </a:pPr>
                      <a:r>
                        <a:rPr sz="700" b="0" i="0">
                          <a:solidFill>
                            <a:srgbClr val="222222"/>
                          </a:solidFill>
                        </a:rPr>
                        <a:t>OQ-06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Onboarding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Content and artwork of the three introduction screens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LOTTE MART / Design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Low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2F2F2"/>
                    </a:solidFill>
                  </a:tcPr>
                </a:tc>
                <a:tc>
                  <a:txBody>
                    <a:bodyPr/>
                    <a:lstStyle/>
                    <a:p>
                      <a:pPr marL="0" indent="0" algn="l">
                        <a:buNone/>
                      </a:pPr>
                      <a:r>
                        <a:rPr sz="700" b="0" i="0">
                          <a:solidFill>
                            <a:srgbClr val="222222"/>
                          </a:solidFill>
                        </a:rPr>
                        <a:t>Blocks SCR-ONB-04 content only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246888">
                <a:tc>
                  <a:txBody>
                    <a:bodyPr/>
                    <a:lstStyle/>
                    <a:p>
                      <a:pPr marL="0" indent="0" algn="ctr">
                        <a:buNone/>
                      </a:pPr>
                      <a:r>
                        <a:rPr sz="700" b="0" i="0">
                          <a:solidFill>
                            <a:srgbClr val="222222"/>
                          </a:solidFill>
                        </a:rPr>
                        <a:t>OQ-07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Login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Biometric ticket behaviour when several accounts share one device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Dev</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Medium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tc>
                  <a:txBody>
                    <a:bodyPr/>
                    <a:lstStyle/>
                    <a:p>
                      <a:pPr marL="0" indent="0" algn="l">
                        <a:buNone/>
                      </a:pPr>
                      <a:r>
                        <a:rPr sz="700" b="0" i="0">
                          <a:solidFill>
                            <a:srgbClr val="222222"/>
                          </a:solidFill>
                        </a:rPr>
                        <a:t>Direction agreed, technical review pending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246888">
                <a:tc>
                  <a:txBody>
                    <a:bodyPr/>
                    <a:lstStyle/>
                    <a:p>
                      <a:pPr marL="0" indent="0" algn="ctr">
                        <a:buNone/>
                      </a:pPr>
                      <a:r>
                        <a:rPr sz="700" b="0" i="0">
                          <a:solidFill>
                            <a:srgbClr val="222222"/>
                          </a:solidFill>
                        </a:rPr>
                        <a:t>OQ-08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Signup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Technical confirmation that no automatic Zalo → SMS fallback is required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Dev</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Medium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tc>
                  <a:txBody>
                    <a:bodyPr/>
                    <a:lstStyle/>
                    <a:p>
                      <a:pPr marL="0" indent="0" algn="l">
                        <a:buNone/>
                      </a:pPr>
                      <a:r>
                        <a:rPr sz="700" b="0" i="0">
                          <a:solidFill>
                            <a:srgbClr val="222222"/>
                          </a:solidFill>
                        </a:rPr>
                        <a:t>Affects BRL-14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r h="246888">
                <a:tc>
                  <a:txBody>
                    <a:bodyPr/>
                    <a:lstStyle/>
                    <a:p>
                      <a:pPr marL="0" indent="0" algn="ctr">
                        <a:buNone/>
                      </a:pPr>
                      <a:r>
                        <a:rPr sz="700" b="0" i="0">
                          <a:solidFill>
                            <a:srgbClr val="222222"/>
                          </a:solidFill>
                        </a:rPr>
                        <a:t>OQ-09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Is Next-day coverage complete across Vietnam, or are there gaps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LOTTE MART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High</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DECEE"/>
                    </a:solidFill>
                  </a:tcPr>
                </a:tc>
                <a:tc>
                  <a:txBody>
                    <a:bodyPr/>
                    <a:lstStyle/>
                    <a:p>
                      <a:pPr marL="0" indent="0" algn="l">
                        <a:buNone/>
                      </a:pPr>
                      <a:r>
                        <a:rPr sz="700" b="0" i="0">
                          <a:solidFill>
                            <a:srgbClr val="222222"/>
                          </a:solidFill>
                        </a:rPr>
                        <a:t>Affects BRL-12 and the not-served state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9"/>
                  </a:ext>
                </a:extLst>
              </a:tr>
              <a:tr h="246888">
                <a:tc>
                  <a:txBody>
                    <a:bodyPr/>
                    <a:lstStyle/>
                    <a:p>
                      <a:pPr marL="0" indent="0" algn="ctr">
                        <a:buNone/>
                      </a:pPr>
                      <a:r>
                        <a:rPr sz="700" b="0" i="0">
                          <a:solidFill>
                            <a:srgbClr val="222222"/>
                          </a:solidFill>
                        </a:rPr>
                        <a:t>OQ-10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Does the serving store ever differ from the store used for pricing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LOTTE MART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Medium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tc>
                  <a:txBody>
                    <a:bodyPr/>
                    <a:lstStyle/>
                    <a:p>
                      <a:pPr marL="0" indent="0" algn="l">
                        <a:buNone/>
                      </a:pPr>
                      <a:r>
                        <a:rPr sz="700" b="0" i="0">
                          <a:solidFill>
                            <a:srgbClr val="222222"/>
                          </a:solidFill>
                        </a:rPr>
                        <a:t>Affects CT-02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10"/>
                  </a:ext>
                </a:extLst>
              </a:tr>
              <a:tr h="246888">
                <a:tc>
                  <a:txBody>
                    <a:bodyPr/>
                    <a:lstStyle/>
                    <a:p>
                      <a:pPr marL="0" indent="0" algn="ctr">
                        <a:buNone/>
                      </a:pPr>
                      <a:r>
                        <a:rPr sz="700" b="0" i="0">
                          <a:solidFill>
                            <a:srgbClr val="222222"/>
                          </a:solidFill>
                        </a:rPr>
                        <a:t>OQ-11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Login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Biometric handling when the customer moves to a new phone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Dev</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Medium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tc>
                  <a:txBody>
                    <a:bodyPr/>
                    <a:lstStyle/>
                    <a:p>
                      <a:pPr marL="0" indent="0" algn="l">
                        <a:buNone/>
                      </a:pPr>
                      <a:r>
                        <a:rPr sz="700" b="0" i="0">
                          <a:solidFill>
                            <a:srgbClr val="222222"/>
                          </a:solidFill>
                        </a:rPr>
                        <a:t>Affects LI-07, NFR-02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11"/>
                  </a:ext>
                </a:extLst>
              </a:tr>
              <a:tr h="246888">
                <a:tc>
                  <a:txBody>
                    <a:bodyPr/>
                    <a:lstStyle/>
                    <a:p>
                      <a:pPr marL="0" indent="0" algn="ctr">
                        <a:buNone/>
                      </a:pPr>
                      <a:r>
                        <a:rPr sz="700" b="0" i="0">
                          <a:solidFill>
                            <a:srgbClr val="222222"/>
                          </a:solidFill>
                        </a:rPr>
                        <a:t>OQ-12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Which system owns slot capacity and Next-day date configuration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SI / Dev</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High</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DECEE"/>
                    </a:solidFill>
                  </a:tcPr>
                </a:tc>
                <a:tc>
                  <a:txBody>
                    <a:bodyPr/>
                    <a:lstStyle/>
                    <a:p>
                      <a:pPr marL="0" indent="0" algn="l">
                        <a:buNone/>
                      </a:pPr>
                      <a:r>
                        <a:rPr sz="700" b="0" i="0">
                          <a:solidFill>
                            <a:srgbClr val="222222"/>
                          </a:solidFill>
                        </a:rPr>
                        <a:t>Affects CT-08 integration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12"/>
                  </a:ext>
                </a:extLst>
              </a:tr>
              <a:tr h="246888">
                <a:tc>
                  <a:txBody>
                    <a:bodyPr/>
                    <a:lstStyle/>
                    <a:p>
                      <a:pPr marL="0" indent="0" algn="ctr">
                        <a:buNone/>
                      </a:pPr>
                      <a:r>
                        <a:rPr sz="700" b="0" i="0">
                          <a:solidFill>
                            <a:srgbClr val="222222"/>
                          </a:solidFill>
                        </a:rPr>
                        <a:t>OQ-13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Can a customer hold more than one active 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LOTTE MART / PO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Low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2F2F2"/>
                    </a:solidFill>
                  </a:tcPr>
                </a:tc>
                <a:tc>
                  <a:txBody>
                    <a:bodyPr/>
                    <a:lstStyle/>
                    <a:p>
                      <a:pPr marL="0" indent="0" algn="l">
                        <a:buNone/>
                      </a:pPr>
                      <a:r>
                        <a:rPr sz="700" b="0" i="0">
                          <a:solidFill>
                            <a:srgbClr val="222222"/>
                          </a:solidFill>
                        </a:rPr>
                        <a:t>Affects CT-01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13"/>
                  </a:ext>
                </a:extLst>
              </a:tr>
              <a:tr h="246888">
                <a:tc>
                  <a:txBody>
                    <a:bodyPr/>
                    <a:lstStyle/>
                    <a:p>
                      <a:pPr marL="0" indent="0" algn="ctr">
                        <a:buNone/>
                      </a:pPr>
                      <a:r>
                        <a:rPr sz="700" b="0" i="0">
                          <a:solidFill>
                            <a:srgbClr val="222222"/>
                          </a:solidFill>
                        </a:rPr>
                        <a:t>OQ-14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Are there products that support only Delivery, or only Pickup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LOTTE MART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Medium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tc>
                  <a:txBody>
                    <a:bodyPr/>
                    <a:lstStyle/>
                    <a:p>
                      <a:pPr marL="0" indent="0" algn="l">
                        <a:buNone/>
                      </a:pPr>
                      <a:r>
                        <a:rPr sz="700" b="0" i="0">
                          <a:solidFill>
                            <a:srgbClr val="222222"/>
                          </a:solidFill>
                        </a:rPr>
                        <a:t>Affects CT-02, SCR-CRT-04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14"/>
                  </a:ext>
                </a:extLst>
              </a:tr>
            </a:tbl>
          </a:graphicData>
        </a:graphic>
      </p:graphicFrame>
      <p:sp>
        <p:nvSpPr>
          <p:cNvPr id="11" name="Rectangle 10"/>
          <p:cNvSpPr/>
          <p:nvPr/>
        </p:nvSpPr>
        <p:spPr>
          <a:xfrm>
            <a:off x="274320" y="4663440"/>
            <a:ext cx="11612880" cy="502920"/>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411480" y="4709160"/>
            <a:ext cx="11338560" cy="411480"/>
          </a:xfrm>
          <a:prstGeom prst="rect">
            <a:avLst/>
          </a:prstGeom>
          <a:noFill/>
        </p:spPr>
        <p:txBody>
          <a:bodyPr wrap="square" lIns="0" tIns="0" rIns="0" bIns="0" anchor="t">
            <a:spAutoFit/>
          </a:bodyPr>
          <a:lstStyle/>
          <a:p>
            <a:pPr marL="0" indent="0" algn="l">
              <a:buNone/>
            </a:pPr>
            <a:r>
              <a:rPr sz="750" b="0" i="0">
                <a:solidFill>
                  <a:srgbClr val="6B6800"/>
                </a:solidFill>
              </a:rPr>
              <a:t>Priority means impact on delivery, not importance to the business. High = a screen, calculation or integration cannot be built until it is answered. Medium = it can be built behind a configuration switch. Low = content or copy only.</a:t>
            </a:r>
          </a:p>
        </p:txBody>
      </p:sp>
      <p:sp>
        <p:nvSpPr>
          <p:cNvPr id="13" name="Rectangle 12"/>
          <p:cNvSpPr/>
          <p:nvPr/>
        </p:nvSpPr>
        <p:spPr>
          <a:xfrm>
            <a:off x="274320" y="525780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402336" y="5257800"/>
            <a:ext cx="11612880" cy="256032"/>
          </a:xfrm>
          <a:prstGeom prst="rect">
            <a:avLst/>
          </a:prstGeom>
          <a:noFill/>
        </p:spPr>
        <p:txBody>
          <a:bodyPr wrap="square" lIns="0" tIns="0" rIns="0" bIns="0" anchor="ctr">
            <a:spAutoFit/>
          </a:bodyPr>
          <a:lstStyle/>
          <a:p>
            <a:pPr marL="0" indent="0" algn="l">
              <a:buNone/>
            </a:pPr>
            <a:r>
              <a:rPr sz="1000" b="1" i="0">
                <a:solidFill>
                  <a:srgbClr val="1E2F6E"/>
                </a:solidFill>
              </a:rPr>
              <a:t>Decisions needed first  —  the four that unblock the most work</a:t>
            </a:r>
          </a:p>
        </p:txBody>
      </p:sp>
      <p:sp>
        <p:nvSpPr>
          <p:cNvPr id="15" name="Rectangle 14"/>
          <p:cNvSpPr/>
          <p:nvPr/>
        </p:nvSpPr>
        <p:spPr>
          <a:xfrm>
            <a:off x="274320" y="5532120"/>
            <a:ext cx="2857500" cy="59436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Rectangle 15"/>
          <p:cNvSpPr/>
          <p:nvPr/>
        </p:nvSpPr>
        <p:spPr>
          <a:xfrm>
            <a:off x="274320" y="5532120"/>
            <a:ext cx="36576" cy="59436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TextBox 16"/>
          <p:cNvSpPr txBox="1"/>
          <p:nvPr/>
        </p:nvSpPr>
        <p:spPr>
          <a:xfrm>
            <a:off x="411480" y="5577840"/>
            <a:ext cx="2583180" cy="164592"/>
          </a:xfrm>
          <a:prstGeom prst="rect">
            <a:avLst/>
          </a:prstGeom>
          <a:noFill/>
        </p:spPr>
        <p:txBody>
          <a:bodyPr wrap="square" lIns="0" tIns="0" rIns="0" bIns="0" anchor="ctr">
            <a:spAutoFit/>
          </a:bodyPr>
          <a:lstStyle/>
          <a:p>
            <a:pPr marL="0" indent="0" algn="l">
              <a:buNone/>
            </a:pPr>
            <a:r>
              <a:rPr sz="650" b="1" i="0">
                <a:solidFill>
                  <a:srgbClr val="C8102E"/>
                </a:solidFill>
              </a:rPr>
              <a:t>OQ-03   </a:t>
            </a:r>
            <a:r>
              <a:rPr sz="650" b="0" i="0">
                <a:solidFill>
                  <a:srgbClr val="888888"/>
                </a:solidFill>
              </a:rPr>
              <a:t>Security / Dev</a:t>
            </a:r>
          </a:p>
        </p:txBody>
      </p:sp>
      <p:sp>
        <p:nvSpPr>
          <p:cNvPr id="18" name="TextBox 17"/>
          <p:cNvSpPr txBox="1"/>
          <p:nvPr/>
        </p:nvSpPr>
        <p:spPr>
          <a:xfrm>
            <a:off x="411480" y="5751576"/>
            <a:ext cx="2583180" cy="164592"/>
          </a:xfrm>
          <a:prstGeom prst="rect">
            <a:avLst/>
          </a:prstGeom>
          <a:noFill/>
        </p:spPr>
        <p:txBody>
          <a:bodyPr wrap="square" lIns="0" tIns="0" rIns="0" bIns="0" anchor="ctr">
            <a:spAutoFit/>
          </a:bodyPr>
          <a:lstStyle/>
          <a:p>
            <a:pPr marL="0" indent="0" algn="l">
              <a:buNone/>
            </a:pPr>
            <a:r>
              <a:rPr sz="750" b="1" i="0">
                <a:solidFill>
                  <a:srgbClr val="1E2F6E"/>
                </a:solidFill>
              </a:rPr>
              <a:t>OTP and PIN attempt limits</a:t>
            </a:r>
          </a:p>
        </p:txBody>
      </p:sp>
      <p:sp>
        <p:nvSpPr>
          <p:cNvPr id="19" name="TextBox 18"/>
          <p:cNvSpPr txBox="1"/>
          <p:nvPr/>
        </p:nvSpPr>
        <p:spPr>
          <a:xfrm>
            <a:off x="411480" y="5925312"/>
            <a:ext cx="2583180" cy="164592"/>
          </a:xfrm>
          <a:prstGeom prst="rect">
            <a:avLst/>
          </a:prstGeom>
          <a:noFill/>
        </p:spPr>
        <p:txBody>
          <a:bodyPr wrap="square" lIns="0" tIns="0" rIns="0" bIns="0" anchor="ctr">
            <a:spAutoFit/>
          </a:bodyPr>
          <a:lstStyle/>
          <a:p>
            <a:pPr marL="0" indent="0" algn="l">
              <a:buNone/>
            </a:pPr>
            <a:r>
              <a:rPr sz="630" b="0" i="0">
                <a:solidFill>
                  <a:srgbClr val="555555"/>
                </a:solidFill>
              </a:rPr>
              <a:t>Blocks every authentication screen</a:t>
            </a:r>
          </a:p>
        </p:txBody>
      </p:sp>
      <p:sp>
        <p:nvSpPr>
          <p:cNvPr id="20" name="Rectangle 19"/>
          <p:cNvSpPr/>
          <p:nvPr/>
        </p:nvSpPr>
        <p:spPr>
          <a:xfrm>
            <a:off x="3200400" y="5532120"/>
            <a:ext cx="2857500" cy="59436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1" name="Rectangle 20"/>
          <p:cNvSpPr/>
          <p:nvPr/>
        </p:nvSpPr>
        <p:spPr>
          <a:xfrm>
            <a:off x="3200400" y="5532120"/>
            <a:ext cx="36576" cy="59436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TextBox 21"/>
          <p:cNvSpPr txBox="1"/>
          <p:nvPr/>
        </p:nvSpPr>
        <p:spPr>
          <a:xfrm>
            <a:off x="3337560" y="5577840"/>
            <a:ext cx="2583180" cy="164592"/>
          </a:xfrm>
          <a:prstGeom prst="rect">
            <a:avLst/>
          </a:prstGeom>
          <a:noFill/>
        </p:spPr>
        <p:txBody>
          <a:bodyPr wrap="square" lIns="0" tIns="0" rIns="0" bIns="0" anchor="ctr">
            <a:spAutoFit/>
          </a:bodyPr>
          <a:lstStyle/>
          <a:p>
            <a:pPr marL="0" indent="0" algn="l">
              <a:buNone/>
            </a:pPr>
            <a:r>
              <a:rPr sz="650" b="1" i="0">
                <a:solidFill>
                  <a:srgbClr val="C8102E"/>
                </a:solidFill>
              </a:rPr>
              <a:t>OQ-25   </a:t>
            </a:r>
            <a:r>
              <a:rPr sz="650" b="0" i="0">
                <a:solidFill>
                  <a:srgbClr val="888888"/>
                </a:solidFill>
              </a:rPr>
              <a:t>Design</a:t>
            </a:r>
          </a:p>
        </p:txBody>
      </p:sp>
      <p:sp>
        <p:nvSpPr>
          <p:cNvPr id="23" name="TextBox 22"/>
          <p:cNvSpPr txBox="1"/>
          <p:nvPr/>
        </p:nvSpPr>
        <p:spPr>
          <a:xfrm>
            <a:off x="3337560" y="5751576"/>
            <a:ext cx="2583180" cy="164592"/>
          </a:xfrm>
          <a:prstGeom prst="rect">
            <a:avLst/>
          </a:prstGeom>
          <a:noFill/>
        </p:spPr>
        <p:txBody>
          <a:bodyPr wrap="square" lIns="0" tIns="0" rIns="0" bIns="0" anchor="ctr">
            <a:spAutoFit/>
          </a:bodyPr>
          <a:lstStyle/>
          <a:p>
            <a:pPr marL="0" indent="0" algn="l">
              <a:buNone/>
            </a:pPr>
            <a:r>
              <a:rPr sz="750" b="1" i="0">
                <a:solidFill>
                  <a:srgbClr val="1E2F6E"/>
                </a:solidFill>
              </a:rPr>
              <a:t>Store-change warning design</a:t>
            </a:r>
          </a:p>
        </p:txBody>
      </p:sp>
      <p:sp>
        <p:nvSpPr>
          <p:cNvPr id="24" name="TextBox 23"/>
          <p:cNvSpPr txBox="1"/>
          <p:nvPr/>
        </p:nvSpPr>
        <p:spPr>
          <a:xfrm>
            <a:off x="3337560" y="5925312"/>
            <a:ext cx="2583180" cy="164592"/>
          </a:xfrm>
          <a:prstGeom prst="rect">
            <a:avLst/>
          </a:prstGeom>
          <a:noFill/>
        </p:spPr>
        <p:txBody>
          <a:bodyPr wrap="square" lIns="0" tIns="0" rIns="0" bIns="0" anchor="ctr">
            <a:spAutoFit/>
          </a:bodyPr>
          <a:lstStyle/>
          <a:p>
            <a:pPr marL="0" indent="0" algn="l">
              <a:buNone/>
            </a:pPr>
            <a:r>
              <a:rPr sz="630" b="0" i="0">
                <a:solidFill>
                  <a:srgbClr val="555555"/>
                </a:solidFill>
              </a:rPr>
              <a:t>Blocks the Cart screen hand-off</a:t>
            </a:r>
          </a:p>
        </p:txBody>
      </p:sp>
      <p:sp>
        <p:nvSpPr>
          <p:cNvPr id="25" name="Rectangle 24"/>
          <p:cNvSpPr/>
          <p:nvPr/>
        </p:nvSpPr>
        <p:spPr>
          <a:xfrm>
            <a:off x="6126480" y="5532120"/>
            <a:ext cx="2857500" cy="59436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6" name="Rectangle 25"/>
          <p:cNvSpPr/>
          <p:nvPr/>
        </p:nvSpPr>
        <p:spPr>
          <a:xfrm>
            <a:off x="6126480" y="5532120"/>
            <a:ext cx="36576" cy="59436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7" name="TextBox 26"/>
          <p:cNvSpPr txBox="1"/>
          <p:nvPr/>
        </p:nvSpPr>
        <p:spPr>
          <a:xfrm>
            <a:off x="6263640" y="5577840"/>
            <a:ext cx="2583180" cy="164592"/>
          </a:xfrm>
          <a:prstGeom prst="rect">
            <a:avLst/>
          </a:prstGeom>
          <a:noFill/>
        </p:spPr>
        <p:txBody>
          <a:bodyPr wrap="square" lIns="0" tIns="0" rIns="0" bIns="0" anchor="ctr">
            <a:spAutoFit/>
          </a:bodyPr>
          <a:lstStyle/>
          <a:p>
            <a:pPr marL="0" indent="0" algn="l">
              <a:buNone/>
            </a:pPr>
            <a:r>
              <a:rPr sz="650" b="1" i="0">
                <a:solidFill>
                  <a:srgbClr val="C8102E"/>
                </a:solidFill>
              </a:rPr>
              <a:t>OQ-16   </a:t>
            </a:r>
            <a:r>
              <a:rPr sz="650" b="0" i="0">
                <a:solidFill>
                  <a:srgbClr val="888888"/>
                </a:solidFill>
              </a:rPr>
              <a:t>LOTTE MART</a:t>
            </a:r>
          </a:p>
        </p:txBody>
      </p:sp>
      <p:sp>
        <p:nvSpPr>
          <p:cNvPr id="28" name="TextBox 27"/>
          <p:cNvSpPr txBox="1"/>
          <p:nvPr/>
        </p:nvSpPr>
        <p:spPr>
          <a:xfrm>
            <a:off x="6263640" y="5751576"/>
            <a:ext cx="2583180" cy="164592"/>
          </a:xfrm>
          <a:prstGeom prst="rect">
            <a:avLst/>
          </a:prstGeom>
          <a:noFill/>
        </p:spPr>
        <p:txBody>
          <a:bodyPr wrap="square" lIns="0" tIns="0" rIns="0" bIns="0" anchor="ctr">
            <a:spAutoFit/>
          </a:bodyPr>
          <a:lstStyle/>
          <a:p>
            <a:pPr marL="0" indent="0" algn="l">
              <a:buNone/>
            </a:pPr>
            <a:r>
              <a:rPr sz="750" b="1" i="0">
                <a:solidFill>
                  <a:srgbClr val="1E2F6E"/>
                </a:solidFill>
              </a:rPr>
              <a:t>Carton packing fee</a:t>
            </a:r>
          </a:p>
        </p:txBody>
      </p:sp>
      <p:sp>
        <p:nvSpPr>
          <p:cNvPr id="29" name="TextBox 28"/>
          <p:cNvSpPr txBox="1"/>
          <p:nvPr/>
        </p:nvSpPr>
        <p:spPr>
          <a:xfrm>
            <a:off x="6263640" y="5925312"/>
            <a:ext cx="2583180" cy="164592"/>
          </a:xfrm>
          <a:prstGeom prst="rect">
            <a:avLst/>
          </a:prstGeom>
          <a:noFill/>
        </p:spPr>
        <p:txBody>
          <a:bodyPr wrap="square" lIns="0" tIns="0" rIns="0" bIns="0" anchor="ctr">
            <a:spAutoFit/>
          </a:bodyPr>
          <a:lstStyle/>
          <a:p>
            <a:pPr marL="0" indent="0" algn="l">
              <a:buNone/>
            </a:pPr>
            <a:r>
              <a:rPr sz="630" b="0" i="0">
                <a:solidFill>
                  <a:srgbClr val="555555"/>
                </a:solidFill>
              </a:rPr>
              <a:t>Blocks the Checkout total</a:t>
            </a:r>
          </a:p>
        </p:txBody>
      </p:sp>
      <p:sp>
        <p:nvSpPr>
          <p:cNvPr id="30" name="Rectangle 29"/>
          <p:cNvSpPr/>
          <p:nvPr/>
        </p:nvSpPr>
        <p:spPr>
          <a:xfrm>
            <a:off x="9052560" y="5532120"/>
            <a:ext cx="2857500" cy="59436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Rectangle 30"/>
          <p:cNvSpPr/>
          <p:nvPr/>
        </p:nvSpPr>
        <p:spPr>
          <a:xfrm>
            <a:off x="9052560" y="5532120"/>
            <a:ext cx="36576" cy="59436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9189720" y="5577840"/>
            <a:ext cx="2583180" cy="164592"/>
          </a:xfrm>
          <a:prstGeom prst="rect">
            <a:avLst/>
          </a:prstGeom>
          <a:noFill/>
        </p:spPr>
        <p:txBody>
          <a:bodyPr wrap="square" lIns="0" tIns="0" rIns="0" bIns="0" anchor="ctr">
            <a:spAutoFit/>
          </a:bodyPr>
          <a:lstStyle/>
          <a:p>
            <a:pPr marL="0" indent="0" algn="l">
              <a:buNone/>
            </a:pPr>
            <a:r>
              <a:rPr sz="650" b="1" i="0">
                <a:solidFill>
                  <a:srgbClr val="C8102E"/>
                </a:solidFill>
              </a:rPr>
              <a:t>OQ-27   </a:t>
            </a:r>
            <a:r>
              <a:rPr sz="650" b="0" i="0">
                <a:solidFill>
                  <a:srgbClr val="888888"/>
                </a:solidFill>
              </a:rPr>
              <a:t>LOTTE MART</a:t>
            </a:r>
          </a:p>
        </p:txBody>
      </p:sp>
      <p:sp>
        <p:nvSpPr>
          <p:cNvPr id="33" name="TextBox 32"/>
          <p:cNvSpPr txBox="1"/>
          <p:nvPr/>
        </p:nvSpPr>
        <p:spPr>
          <a:xfrm>
            <a:off x="9189720" y="5751576"/>
            <a:ext cx="2583180" cy="164592"/>
          </a:xfrm>
          <a:prstGeom prst="rect">
            <a:avLst/>
          </a:prstGeom>
          <a:noFill/>
        </p:spPr>
        <p:txBody>
          <a:bodyPr wrap="square" lIns="0" tIns="0" rIns="0" bIns="0" anchor="ctr">
            <a:spAutoFit/>
          </a:bodyPr>
          <a:lstStyle/>
          <a:p>
            <a:pPr marL="0" indent="0" algn="l">
              <a:buNone/>
            </a:pPr>
            <a:r>
              <a:rPr sz="750" b="1" i="0">
                <a:solidFill>
                  <a:srgbClr val="1E2F6E"/>
                </a:solidFill>
              </a:rPr>
              <a:t>Objectives and success metrics</a:t>
            </a:r>
          </a:p>
        </p:txBody>
      </p:sp>
      <p:sp>
        <p:nvSpPr>
          <p:cNvPr id="34" name="TextBox 33"/>
          <p:cNvSpPr txBox="1"/>
          <p:nvPr/>
        </p:nvSpPr>
        <p:spPr>
          <a:xfrm>
            <a:off x="9189720" y="5925312"/>
            <a:ext cx="2583180" cy="164592"/>
          </a:xfrm>
          <a:prstGeom prst="rect">
            <a:avLst/>
          </a:prstGeom>
          <a:noFill/>
        </p:spPr>
        <p:txBody>
          <a:bodyPr wrap="square" lIns="0" tIns="0" rIns="0" bIns="0" anchor="ctr">
            <a:spAutoFit/>
          </a:bodyPr>
          <a:lstStyle/>
          <a:p>
            <a:pPr marL="0" indent="0" algn="l">
              <a:buNone/>
            </a:pPr>
            <a:r>
              <a:rPr sz="630" b="0" i="0">
                <a:solidFill>
                  <a:srgbClr val="555555"/>
                </a:solidFill>
              </a:rPr>
              <a:t>Blocks baselining this document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6  ·  Open Questions  (OQ-15 … OQ-27)  &amp;  Non-Functional Requirements</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66</a:t>
            </a:r>
          </a:p>
        </p:txBody>
      </p:sp>
      <p:graphicFrame>
        <p:nvGraphicFramePr>
          <p:cNvPr id="9" name="Table 8"/>
          <p:cNvGraphicFramePr>
            <a:graphicFrameLocks noGrp="1"/>
          </p:cNvGraphicFramePr>
          <p:nvPr/>
        </p:nvGraphicFramePr>
        <p:xfrm>
          <a:off x="274320" y="685800"/>
          <a:ext cx="11612880" cy="3401568"/>
        </p:xfrm>
        <a:graphic>
          <a:graphicData uri="http://schemas.openxmlformats.org/drawingml/2006/table">
            <a:tbl>
              <a:tblPr/>
              <a:tblGrid>
                <a:gridCol w="5943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3154680">
                  <a:extLst>
                    <a:ext uri="{9D8B030D-6E8A-4147-A177-3AD203B41FA5}">
                      <a16:colId xmlns:a16="http://schemas.microsoft.com/office/drawing/2014/main" val="20005"/>
                    </a:ext>
                  </a:extLst>
                </a:gridCol>
              </a:tblGrid>
              <a:tr h="192024">
                <a:tc>
                  <a:txBody>
                    <a:bodyPr/>
                    <a:lstStyle/>
                    <a:p>
                      <a:pPr marL="0" indent="0" algn="ctr">
                        <a:buNone/>
                      </a:pPr>
                      <a:r>
                        <a:rPr sz="700" b="1" i="0">
                          <a:solidFill>
                            <a:srgbClr val="FFFFFF"/>
                          </a:solidFill>
                        </a:rPr>
                        <a:t>Ref</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Area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Question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Owner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Priority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What it blocks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46888">
                <a:tc>
                  <a:txBody>
                    <a:bodyPr/>
                    <a:lstStyle/>
                    <a:p>
                      <a:pPr marL="0" indent="0" algn="ctr">
                        <a:buNone/>
                      </a:pPr>
                      <a:r>
                        <a:rPr sz="700" b="0" i="0">
                          <a:solidFill>
                            <a:srgbClr val="222222"/>
                          </a:solidFill>
                        </a:rPr>
                        <a:t>OQ-15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Which products to suggest for the freeship top-up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LOTTE MART / Design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Medium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tc>
                  <a:txBody>
                    <a:bodyPr/>
                    <a:lstStyle/>
                    <a:p>
                      <a:pPr marL="0" indent="0" algn="l">
                        <a:buNone/>
                      </a:pPr>
                      <a:r>
                        <a:rPr sz="700" b="0" i="0">
                          <a:solidFill>
                            <a:srgbClr val="222222"/>
                          </a:solidFill>
                        </a:rPr>
                        <a:t>Affects CT-03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46888">
                <a:tc>
                  <a:txBody>
                    <a:bodyPr/>
                    <a:lstStyle/>
                    <a:p>
                      <a:pPr marL="0" indent="0" algn="ctr">
                        <a:buNone/>
                      </a:pPr>
                      <a:r>
                        <a:rPr sz="700" b="0" i="0">
                          <a:solidFill>
                            <a:srgbClr val="222222"/>
                          </a:solidFill>
                        </a:rPr>
                        <a:t>OQ-16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Does carton packing carry a fee, and how much</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LOTTE MART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High</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DECEE"/>
                    </a:solidFill>
                  </a:tcPr>
                </a:tc>
                <a:tc>
                  <a:txBody>
                    <a:bodyPr/>
                    <a:lstStyle/>
                    <a:p>
                      <a:pPr marL="0" indent="0" algn="l">
                        <a:buNone/>
                      </a:pPr>
                      <a:r>
                        <a:rPr sz="700" b="0" i="0">
                          <a:solidFill>
                            <a:srgbClr val="222222"/>
                          </a:solidFill>
                        </a:rPr>
                        <a:t>Blocks the CO-08 calculation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46888">
                <a:tc>
                  <a:txBody>
                    <a:bodyPr/>
                    <a:lstStyle/>
                    <a:p>
                      <a:pPr marL="0" indent="0" algn="ctr">
                        <a:buNone/>
                      </a:pPr>
                      <a:r>
                        <a:rPr sz="700" b="0" i="0">
                          <a:solidFill>
                            <a:srgbClr val="222222"/>
                          </a:solidFill>
                        </a:rPr>
                        <a:t>OQ-17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complete catalogue of promotion types to display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LOTTE MART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High</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DECEE"/>
                    </a:solidFill>
                  </a:tcPr>
                </a:tc>
                <a:tc>
                  <a:txBody>
                    <a:bodyPr/>
                    <a:lstStyle/>
                    <a:p>
                      <a:pPr marL="0" indent="0" algn="l">
                        <a:buNone/>
                      </a:pPr>
                      <a:r>
                        <a:rPr sz="700" b="0" i="0">
                          <a:solidFill>
                            <a:srgbClr val="222222"/>
                          </a:solidFill>
                        </a:rPr>
                        <a:t>Affects BRL-32, CT-06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46888">
                <a:tc>
                  <a:txBody>
                    <a:bodyPr/>
                    <a:lstStyle/>
                    <a:p>
                      <a:pPr marL="0" indent="0" algn="ctr">
                        <a:buNone/>
                      </a:pPr>
                      <a:r>
                        <a:rPr sz="700" b="0" i="0">
                          <a:solidFill>
                            <a:srgbClr val="222222"/>
                          </a:solidFill>
                        </a:rPr>
                        <a:t>OQ-18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Are BNPL and 60-Minute eligibility per SKU or per order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LOTTE MART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Medium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tc>
                  <a:txBody>
                    <a:bodyPr/>
                    <a:lstStyle/>
                    <a:p>
                      <a:pPr marL="0" indent="0" algn="l">
                        <a:buNone/>
                      </a:pPr>
                      <a:r>
                        <a:rPr sz="700" b="0" i="0">
                          <a:solidFill>
                            <a:srgbClr val="222222"/>
                          </a:solidFill>
                        </a:rPr>
                        <a:t>Affects CT-04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246888">
                <a:tc>
                  <a:txBody>
                    <a:bodyPr/>
                    <a:lstStyle/>
                    <a:p>
                      <a:pPr marL="0" indent="0" algn="ctr">
                        <a:buNone/>
                      </a:pPr>
                      <a:r>
                        <a:rPr sz="700" b="0" i="0">
                          <a:solidFill>
                            <a:srgbClr val="222222"/>
                          </a:solidFill>
                        </a:rPr>
                        <a:t>OQ-19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Do VAT invoice rules change in To-Be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LOTTE MART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Medium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tc>
                  <a:txBody>
                    <a:bodyPr/>
                    <a:lstStyle/>
                    <a:p>
                      <a:pPr marL="0" indent="0" algn="l">
                        <a:buNone/>
                      </a:pPr>
                      <a:r>
                        <a:rPr sz="700" b="0" i="0">
                          <a:solidFill>
                            <a:srgbClr val="222222"/>
                          </a:solidFill>
                        </a:rPr>
                        <a:t>Affects CO-07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246888">
                <a:tc>
                  <a:txBody>
                    <a:bodyPr/>
                    <a:lstStyle/>
                    <a:p>
                      <a:pPr marL="0" indent="0" algn="ctr">
                        <a:buNone/>
                      </a:pPr>
                      <a:r>
                        <a:rPr sz="700" b="0" i="0">
                          <a:solidFill>
                            <a:srgbClr val="222222"/>
                          </a:solidFill>
                        </a:rPr>
                        <a:t>OQ-20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Should the points to be earned be displayed at 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LOTTE MART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Low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2F2F2"/>
                    </a:solidFill>
                  </a:tcPr>
                </a:tc>
                <a:tc>
                  <a:txBody>
                    <a:bodyPr/>
                    <a:lstStyle/>
                    <a:p>
                      <a:pPr marL="0" indent="0" algn="l">
                        <a:buNone/>
                      </a:pPr>
                      <a:r>
                        <a:rPr sz="700" b="0" i="0">
                          <a:solidFill>
                            <a:srgbClr val="222222"/>
                          </a:solidFill>
                        </a:rPr>
                        <a:t>Affects CO-05, SCR-CHK-02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246888">
                <a:tc>
                  <a:txBody>
                    <a:bodyPr/>
                    <a:lstStyle/>
                    <a:p>
                      <a:pPr marL="0" indent="0" algn="ctr">
                        <a:buNone/>
                      </a:pPr>
                      <a:r>
                        <a:rPr sz="700" b="0" i="0">
                          <a:solidFill>
                            <a:srgbClr val="222222"/>
                          </a:solidFill>
                        </a:rPr>
                        <a:t>OQ-21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Final content of the return, purchase and privacy policies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LOTTE MART / Legal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Medium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tc>
                  <a:txBody>
                    <a:bodyPr/>
                    <a:lstStyle/>
                    <a:p>
                      <a:pPr marL="0" indent="0" algn="l">
                        <a:buNone/>
                      </a:pPr>
                      <a:r>
                        <a:rPr sz="700" b="0" i="0">
                          <a:solidFill>
                            <a:srgbClr val="222222"/>
                          </a:solidFill>
                        </a:rPr>
                        <a:t>Blocks CO-09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246888">
                <a:tc>
                  <a:txBody>
                    <a:bodyPr/>
                    <a:lstStyle/>
                    <a:p>
                      <a:pPr marL="0" indent="0" algn="ctr">
                        <a:buNone/>
                      </a:pPr>
                      <a:r>
                        <a:rPr sz="700" b="0" i="0">
                          <a:solidFill>
                            <a:srgbClr val="222222"/>
                          </a:solidFill>
                        </a:rPr>
                        <a:t>OQ-22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Rules for gift items that are out of stock</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LOTTE MART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Medium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tc>
                  <a:txBody>
                    <a:bodyPr/>
                    <a:lstStyle/>
                    <a:p>
                      <a:pPr marL="0" indent="0" algn="l">
                        <a:buNone/>
                      </a:pPr>
                      <a:r>
                        <a:rPr sz="700" b="0" i="0">
                          <a:solidFill>
                            <a:srgbClr val="222222"/>
                          </a:solidFill>
                        </a:rPr>
                        <a:t>Affects BRL-34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r h="246888">
                <a:tc>
                  <a:txBody>
                    <a:bodyPr/>
                    <a:lstStyle/>
                    <a:p>
                      <a:pPr marL="0" indent="0" algn="ctr">
                        <a:buNone/>
                      </a:pPr>
                      <a:r>
                        <a:rPr sz="700" b="0" i="0">
                          <a:solidFill>
                            <a:srgbClr val="222222"/>
                          </a:solidFill>
                        </a:rPr>
                        <a:t>OQ-23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Complete locker rules — selection, holding period, cost, no-show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LOTTE MART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High</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DECEE"/>
                    </a:solidFill>
                  </a:tcPr>
                </a:tc>
                <a:tc>
                  <a:txBody>
                    <a:bodyPr/>
                    <a:lstStyle/>
                    <a:p>
                      <a:pPr marL="0" indent="0" algn="l">
                        <a:buNone/>
                      </a:pPr>
                      <a:r>
                        <a:rPr sz="700" b="0" i="0">
                          <a:solidFill>
                            <a:srgbClr val="222222"/>
                          </a:solidFill>
                        </a:rPr>
                        <a:t>Blocks CT-10, SCR-CRT-04 state B</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9"/>
                  </a:ext>
                </a:extLst>
              </a:tr>
              <a:tr h="246888">
                <a:tc>
                  <a:txBody>
                    <a:bodyPr/>
                    <a:lstStyle/>
                    <a:p>
                      <a:pPr marL="0" indent="0" algn="ctr">
                        <a:buNone/>
                      </a:pPr>
                      <a:r>
                        <a:rPr sz="700" b="0" i="0">
                          <a:solidFill>
                            <a:srgbClr val="222222"/>
                          </a:solidFill>
                        </a:rPr>
                        <a:t>OQ-24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All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Confirmation of Must / Should priorities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Medium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tc>
                  <a:txBody>
                    <a:bodyPr/>
                    <a:lstStyle/>
                    <a:p>
                      <a:pPr marL="0" indent="0" algn="l">
                        <a:buNone/>
                      </a:pPr>
                      <a:r>
                        <a:rPr sz="700" b="0" i="0">
                          <a:solidFill>
                            <a:srgbClr val="222222"/>
                          </a:solidFill>
                        </a:rPr>
                        <a:t>Affects release scoping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10"/>
                  </a:ext>
                </a:extLst>
              </a:tr>
              <a:tr h="246888">
                <a:tc>
                  <a:txBody>
                    <a:bodyPr/>
                    <a:lstStyle/>
                    <a:p>
                      <a:pPr marL="0" indent="0" algn="ctr">
                        <a:buNone/>
                      </a:pPr>
                      <a:r>
                        <a:rPr sz="700" b="0" i="0">
                          <a:solidFill>
                            <a:srgbClr val="222222"/>
                          </a:solidFill>
                        </a:rPr>
                        <a:t>OQ-25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Warning-screen design when several impact groups fire together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Design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High</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DECEE"/>
                    </a:solidFill>
                  </a:tcPr>
                </a:tc>
                <a:tc>
                  <a:txBody>
                    <a:bodyPr/>
                    <a:lstStyle/>
                    <a:p>
                      <a:pPr marL="0" indent="0" algn="l">
                        <a:buNone/>
                      </a:pPr>
                      <a:r>
                        <a:rPr sz="700" b="0" i="0">
                          <a:solidFill>
                            <a:srgbClr val="222222"/>
                          </a:solidFill>
                        </a:rPr>
                        <a:t>Blocks SCR-CRT-06 hand-off</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11"/>
                  </a:ext>
                </a:extLst>
              </a:tr>
              <a:tr h="246888">
                <a:tc>
                  <a:txBody>
                    <a:bodyPr/>
                    <a:lstStyle/>
                    <a:p>
                      <a:pPr marL="0" indent="0" algn="ctr">
                        <a:buNone/>
                      </a:pPr>
                      <a:r>
                        <a:rPr sz="700" b="0" i="0">
                          <a:solidFill>
                            <a:srgbClr val="222222"/>
                          </a:solidFill>
                        </a:rPr>
                        <a:t>OQ-26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Homepage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Which address becomes active after logout and re-login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LOTTE MART / PO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Medium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tc>
                  <a:txBody>
                    <a:bodyPr/>
                    <a:lstStyle/>
                    <a:p>
                      <a:pPr marL="0" indent="0" algn="l">
                        <a:buNone/>
                      </a:pPr>
                      <a:r>
                        <a:rPr sz="700" b="0" i="0">
                          <a:solidFill>
                            <a:srgbClr val="222222"/>
                          </a:solidFill>
                        </a:rPr>
                        <a:t>Affects HP-10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12"/>
                  </a:ext>
                </a:extLst>
              </a:tr>
              <a:tr h="246888">
                <a:tc>
                  <a:txBody>
                    <a:bodyPr/>
                    <a:lstStyle/>
                    <a:p>
                      <a:pPr marL="0" indent="0" algn="ctr">
                        <a:buNone/>
                      </a:pPr>
                      <a:r>
                        <a:rPr sz="700" b="0" i="0">
                          <a:solidFill>
                            <a:srgbClr val="222222"/>
                          </a:solidFill>
                        </a:rPr>
                        <a:t>OQ-27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All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Business objectives and target success metrics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LOTTE MART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High</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DECEE"/>
                    </a:solidFill>
                  </a:tcPr>
                </a:tc>
                <a:tc>
                  <a:txBody>
                    <a:bodyPr/>
                    <a:lstStyle/>
                    <a:p>
                      <a:pPr marL="0" indent="0" algn="l">
                        <a:buNone/>
                      </a:pPr>
                      <a:r>
                        <a:rPr sz="700" b="0" i="0">
                          <a:solidFill>
                            <a:srgbClr val="222222"/>
                          </a:solidFill>
                        </a:rPr>
                        <a:t>Blocks baselining of this document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13"/>
                  </a:ext>
                </a:extLst>
              </a:tr>
            </a:tbl>
          </a:graphicData>
        </a:graphic>
      </p:graphicFrame>
      <p:sp>
        <p:nvSpPr>
          <p:cNvPr id="10" name="Rectangle 9"/>
          <p:cNvSpPr/>
          <p:nvPr/>
        </p:nvSpPr>
        <p:spPr>
          <a:xfrm>
            <a:off x="274320" y="429768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 name="TextBox 10"/>
          <p:cNvSpPr txBox="1"/>
          <p:nvPr/>
        </p:nvSpPr>
        <p:spPr>
          <a:xfrm>
            <a:off x="402336" y="4297680"/>
            <a:ext cx="11612880" cy="256032"/>
          </a:xfrm>
          <a:prstGeom prst="rect">
            <a:avLst/>
          </a:prstGeom>
          <a:noFill/>
        </p:spPr>
        <p:txBody>
          <a:bodyPr wrap="square" lIns="0" tIns="0" rIns="0" bIns="0" anchor="ctr">
            <a:spAutoFit/>
          </a:bodyPr>
          <a:lstStyle/>
          <a:p>
            <a:pPr marL="0" indent="0" algn="l">
              <a:buNone/>
            </a:pPr>
            <a:r>
              <a:rPr sz="1000" b="1" i="0">
                <a:solidFill>
                  <a:srgbClr val="1E2F6E"/>
                </a:solidFill>
              </a:rPr>
              <a:t>Non-functional requirements</a:t>
            </a:r>
          </a:p>
        </p:txBody>
      </p:sp>
      <p:graphicFrame>
        <p:nvGraphicFramePr>
          <p:cNvPr id="12" name="Table 11"/>
          <p:cNvGraphicFramePr>
            <a:graphicFrameLocks noGrp="1"/>
          </p:cNvGraphicFramePr>
          <p:nvPr/>
        </p:nvGraphicFramePr>
        <p:xfrm>
          <a:off x="274320" y="4572000"/>
          <a:ext cx="11612880" cy="1563624"/>
        </p:xfrm>
        <a:graphic>
          <a:graphicData uri="http://schemas.openxmlformats.org/drawingml/2006/table">
            <a:tbl>
              <a:tblPr/>
              <a:tblGrid>
                <a:gridCol w="6858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804672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tblGrid>
              <a:tr h="192024">
                <a:tc>
                  <a:txBody>
                    <a:bodyPr/>
                    <a:lstStyle/>
                    <a:p>
                      <a:pPr marL="0" indent="0" algn="ctr">
                        <a:buNone/>
                      </a:pPr>
                      <a:r>
                        <a:rPr sz="700" b="1" i="0">
                          <a:solidFill>
                            <a:srgbClr val="FFFFFF"/>
                          </a:solidFill>
                        </a:rPr>
                        <a:t>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Category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Requirement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Status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74320">
                <a:tc>
                  <a:txBody>
                    <a:bodyPr/>
                    <a:lstStyle/>
                    <a:p>
                      <a:pPr marL="0" indent="0" algn="ctr">
                        <a:buNone/>
                      </a:pPr>
                      <a:r>
                        <a:rPr sz="700" b="0" i="0">
                          <a:solidFill>
                            <a:srgbClr val="222222"/>
                          </a:solidFill>
                        </a:rPr>
                        <a:t>NFR-01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Security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 wrong-attempt limit applies to both OTP and PIN. Proposed: temporary lock after N wrong OTP entries, a cap on OTP requests per period, and PIN lock after N failures forcing OTP re-verification.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Assumption — OQ-03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extLst>
                  <a:ext uri="{0D108BD9-81ED-4DB2-BD59-A6C34878D82A}">
                    <a16:rowId xmlns:a16="http://schemas.microsoft.com/office/drawing/2014/main" val="10001"/>
                  </a:ext>
                </a:extLst>
              </a:tr>
              <a:tr h="274320">
                <a:tc>
                  <a:txBody>
                    <a:bodyPr/>
                    <a:lstStyle/>
                    <a:p>
                      <a:pPr marL="0" indent="0" algn="ctr">
                        <a:buNone/>
                      </a:pPr>
                      <a:r>
                        <a:rPr sz="700" b="0" i="0">
                          <a:solidFill>
                            <a:srgbClr val="222222"/>
                          </a:solidFill>
                        </a:rPr>
                        <a:t>NFR-02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Security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One device holds one active biometric ticket at a time; overwriting it between accounts requires an explicit warning.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Proposed — OQ-07, OQ-11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extLst>
                  <a:ext uri="{0D108BD9-81ED-4DB2-BD59-A6C34878D82A}">
                    <a16:rowId xmlns:a16="http://schemas.microsoft.com/office/drawing/2014/main" val="10002"/>
                  </a:ext>
                </a:extLst>
              </a:tr>
              <a:tr h="274320">
                <a:tc>
                  <a:txBody>
                    <a:bodyPr/>
                    <a:lstStyle/>
                    <a:p>
                      <a:pPr marL="0" indent="0" algn="ctr">
                        <a:buNone/>
                      </a:pPr>
                      <a:r>
                        <a:rPr sz="700" b="0" i="0">
                          <a:solidFill>
                            <a:srgbClr val="222222"/>
                          </a:solidFill>
                        </a:rPr>
                        <a:t>NFR-03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Privacy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delivery address is cleared on logout; the selected store is retained.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3"/>
                  </a:ext>
                </a:extLst>
              </a:tr>
              <a:tr h="274320">
                <a:tc>
                  <a:txBody>
                    <a:bodyPr/>
                    <a:lstStyle/>
                    <a:p>
                      <a:pPr marL="0" indent="0" algn="ctr">
                        <a:buNone/>
                      </a:pPr>
                      <a:r>
                        <a:rPr sz="700" b="0" i="0">
                          <a:solidFill>
                            <a:srgbClr val="222222"/>
                          </a:solidFill>
                        </a:rPr>
                        <a:t>NFR-04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Data integrity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order is locked read-only at Checkout so price, promotion set and total cannot drift between review and payment.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4"/>
                  </a:ext>
                </a:extLst>
              </a:tr>
              <a:tr h="274320">
                <a:tc>
                  <a:txBody>
                    <a:bodyPr/>
                    <a:lstStyle/>
                    <a:p>
                      <a:pPr marL="0" indent="0" algn="ctr">
                        <a:buNone/>
                      </a:pPr>
                      <a:r>
                        <a:rPr sz="700" b="0" i="0">
                          <a:solidFill>
                            <a:srgbClr val="222222"/>
                          </a:solidFill>
                        </a:rPr>
                        <a:t>NFR-05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Cost control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OTP is sent over Zalo before SMS and never falls back automatically.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6  ·  Traceability Matrix  —  Business Requirement to Screen</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67</a:t>
            </a:r>
          </a:p>
        </p:txBody>
      </p:sp>
      <p:sp>
        <p:nvSpPr>
          <p:cNvPr id="9" name="TextBox 8"/>
          <p:cNvSpPr txBox="1"/>
          <p:nvPr/>
        </p:nvSpPr>
        <p:spPr>
          <a:xfrm>
            <a:off x="274320" y="640080"/>
            <a:ext cx="11612880" cy="210000"/>
          </a:xfrm>
          <a:prstGeom prst="rect">
            <a:avLst/>
          </a:prstGeom>
          <a:noFill/>
        </p:spPr>
        <p:txBody>
          <a:bodyPr wrap="square" lIns="0" tIns="0" rIns="0" bIns="0" anchor="ctr">
            <a:spAutoFit/>
          </a:bodyPr>
          <a:lstStyle/>
          <a:p>
            <a:pPr marL="0" indent="0" algn="l">
              <a:buNone/>
            </a:pPr>
            <a:r>
              <a:rPr sz="800" b="0" i="0">
                <a:solidFill>
                  <a:srgbClr val="555555"/>
                </a:solidFill>
              </a:rPr>
              <a:t>Read left to right: why the capability exists, the rule that fixes its behaviour, what the system must do, where it happens, and what the customer sees.</a:t>
            </a:r>
          </a:p>
        </p:txBody>
      </p:sp>
      <p:graphicFrame>
        <p:nvGraphicFramePr>
          <p:cNvPr id="10" name="Table 9"/>
          <p:cNvGraphicFramePr>
            <a:graphicFrameLocks noGrp="1"/>
          </p:cNvGraphicFramePr>
          <p:nvPr/>
        </p:nvGraphicFramePr>
        <p:xfrm>
          <a:off x="274320" y="960120"/>
          <a:ext cx="11612880" cy="4142232"/>
        </p:xfrm>
        <a:graphic>
          <a:graphicData uri="http://schemas.openxmlformats.org/drawingml/2006/table">
            <a:tbl>
              <a:tblPr/>
              <a:tblGrid>
                <a:gridCol w="21031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2468880">
                  <a:extLst>
                    <a:ext uri="{9D8B030D-6E8A-4147-A177-3AD203B41FA5}">
                      <a16:colId xmlns:a16="http://schemas.microsoft.com/office/drawing/2014/main" val="20004"/>
                    </a:ext>
                  </a:extLst>
                </a:gridCol>
              </a:tblGrid>
              <a:tr h="192024">
                <a:tc>
                  <a:txBody>
                    <a:bodyPr/>
                    <a:lstStyle/>
                    <a:p>
                      <a:pPr marL="0" indent="0" algn="ctr">
                        <a:buNone/>
                      </a:pPr>
                      <a:r>
                        <a:rPr sz="700" b="1" i="0">
                          <a:solidFill>
                            <a:srgbClr val="FFFFFF"/>
                          </a:solidFill>
                        </a:rPr>
                        <a:t>Business req.</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Business rules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Functional req.</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Process flow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Screens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329184">
                <a:tc>
                  <a:txBody>
                    <a:bodyPr/>
                    <a:lstStyle/>
                    <a:p>
                      <a:pPr marL="0" indent="0" algn="l">
                        <a:buNone/>
                      </a:pPr>
                      <a:r>
                        <a:rPr sz="700" b="0" i="0">
                          <a:solidFill>
                            <a:srgbClr val="222222"/>
                          </a:solidFill>
                        </a:rPr>
                        <a:t>BR-01  Guest browsing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BRL-04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ONB-07 · HP-01 … HP-04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PF-02 · PF-03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SCR-ONB-04 · SCR-HOM-01 · SCR-HOM-05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sz="700" b="0" i="0">
                          <a:solidFill>
                            <a:srgbClr val="222222"/>
                          </a:solidFill>
                        </a:rPr>
                        <a:t>BR-02  Login at two points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BRL-05 · BRL-06 · BRL-07 · BRL-08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HP-06 · HP-07 · SU-08 · LI-03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PF-04 · PF-05 · PF-06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SCR-AUT-01 · SCR-AUT-04 · SCR-AUT-05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329184">
                <a:tc>
                  <a:txBody>
                    <a:bodyPr/>
                    <a:lstStyle/>
                    <a:p>
                      <a:pPr marL="0" indent="0" algn="l">
                        <a:buNone/>
                      </a:pPr>
                      <a:r>
                        <a:rPr sz="700" b="0" i="0">
                          <a:solidFill>
                            <a:srgbClr val="222222"/>
                          </a:solidFill>
                        </a:rPr>
                        <a:t>BR-03  Store first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BRL-01 · BRL-02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ONB-05 · ONB-07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PF-02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SCR-ONB-03 · SCR-HOM-01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329184">
                <a:tc>
                  <a:txBody>
                    <a:bodyPr/>
                    <a:lstStyle/>
                    <a:p>
                      <a:pPr marL="0" indent="0" algn="l">
                        <a:buNone/>
                      </a:pPr>
                      <a:r>
                        <a:rPr sz="700" b="0" i="0">
                          <a:solidFill>
                            <a:srgbClr val="222222"/>
                          </a:solidFill>
                        </a:rPr>
                        <a:t>BR-04  Address at the 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BRL-03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HP-02 · HP-03 · HP-05 · CT-02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PF-03 · PF-07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SCR-HOM-02 · SCR-CRT-01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329184">
                <a:tc>
                  <a:txBody>
                    <a:bodyPr/>
                    <a:lstStyle/>
                    <a:p>
                      <a:pPr marL="0" indent="0" algn="l">
                        <a:buNone/>
                      </a:pPr>
                      <a:r>
                        <a:rPr sz="700" b="0" i="0">
                          <a:solidFill>
                            <a:srgbClr val="222222"/>
                          </a:solidFill>
                        </a:rPr>
                        <a:t>BR-05  Phone + OTP + PIN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BRL-13 … BRL-17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SU-01 … SU-04 · LI-01 · LI-02 · LI-05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PF-05 · PF-06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SCR-AUT-02 · SCR-AUT-03 · SCR-AUT-05 · SCR-AUT-06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329184">
                <a:tc>
                  <a:txBody>
                    <a:bodyPr/>
                    <a:lstStyle/>
                    <a:p>
                      <a:pPr marL="0" indent="0" algn="l">
                        <a:buNone/>
                      </a:pPr>
                      <a:r>
                        <a:rPr sz="700" b="0" i="0">
                          <a:solidFill>
                            <a:srgbClr val="222222"/>
                          </a:solidFill>
                        </a:rPr>
                        <a:t>BR-06  Dual pricing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BRL-04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HP-01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PF-03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SCR-HOM-01 · SCR-HOM-06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329184">
                <a:tc>
                  <a:txBody>
                    <a:bodyPr/>
                    <a:lstStyle/>
                    <a:p>
                      <a:pPr marL="0" indent="0" algn="l">
                        <a:buNone/>
                      </a:pPr>
                      <a:r>
                        <a:rPr sz="700" b="0" i="0">
                          <a:solidFill>
                            <a:srgbClr val="222222"/>
                          </a:solidFill>
                        </a:rPr>
                        <a:t>BR-07  Freeship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BRL-18 · BRL-19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CT-03 · CT-08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PF-07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SCR-CRT-01 · SCR-CRT-02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329184">
                <a:tc>
                  <a:txBody>
                    <a:bodyPr/>
                    <a:lstStyle/>
                    <a:p>
                      <a:pPr marL="0" indent="0" algn="l">
                        <a:buNone/>
                      </a:pPr>
                      <a:r>
                        <a:rPr sz="700" b="0" i="0">
                          <a:solidFill>
                            <a:srgbClr val="222222"/>
                          </a:solidFill>
                        </a:rPr>
                        <a:t>BR-08  Three fulfilment options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BRL-10 … BRL-12 · BRL-28 … BRL-30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CT-02 · CT-08 · CT-09 · CT-10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PF-07 · PF-08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SCR-CRT-02 · SCR-CRT-03 · SCR-CRT-04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r h="329184">
                <a:tc>
                  <a:txBody>
                    <a:bodyPr/>
                    <a:lstStyle/>
                    <a:p>
                      <a:pPr marL="0" indent="0" algn="l">
                        <a:buNone/>
                      </a:pPr>
                      <a:r>
                        <a:rPr sz="700" b="0" i="0">
                          <a:solidFill>
                            <a:srgbClr val="222222"/>
                          </a:solidFill>
                        </a:rPr>
                        <a:t>BR-09  Locked at 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BRL-31 · BRL-34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CO-01 · CO-08 · CT-11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PF-10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SCR-CHK-01 · SCR-CHK-02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9"/>
                  </a:ext>
                </a:extLst>
              </a:tr>
              <a:tr h="329184">
                <a:tc>
                  <a:txBody>
                    <a:bodyPr/>
                    <a:lstStyle/>
                    <a:p>
                      <a:pPr marL="0" indent="0" algn="l">
                        <a:buNone/>
                      </a:pPr>
                      <a:r>
                        <a:rPr sz="700" b="0" i="0">
                          <a:solidFill>
                            <a:srgbClr val="222222"/>
                          </a:solidFill>
                        </a:rPr>
                        <a:t>BR-10  Context-dependent change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BRL-08 · BRL-09 · BRL-24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HP-08 · HP-09 · CT-07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PF-03 · PF-09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SCR-HOM-03 · SCR-HOM-04 · SCR-CRT-06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10"/>
                  </a:ext>
                </a:extLst>
              </a:tr>
              <a:tr h="329184">
                <a:tc>
                  <a:txBody>
                    <a:bodyPr/>
                    <a:lstStyle/>
                    <a:p>
                      <a:pPr marL="0" indent="0" algn="l">
                        <a:buNone/>
                      </a:pPr>
                      <a:r>
                        <a:rPr sz="700" b="0" i="0">
                          <a:solidFill>
                            <a:srgbClr val="222222"/>
                          </a:solidFill>
                        </a:rPr>
                        <a:t>BR-11  Security limits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NFR-01 · NFR-02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LI-06 · LI-07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PF-05 · PF-06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SCR-AUT-02 · SCR-AUT-05 · SCR-AUT-06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11"/>
                  </a:ext>
                </a:extLst>
              </a:tr>
              <a:tr h="329184">
                <a:tc>
                  <a:txBody>
                    <a:bodyPr/>
                    <a:lstStyle/>
                    <a:p>
                      <a:pPr marL="0" indent="0" algn="l">
                        <a:buNone/>
                      </a:pPr>
                      <a:r>
                        <a:rPr sz="700" b="0" i="0">
                          <a:solidFill>
                            <a:srgbClr val="222222"/>
                          </a:solidFill>
                        </a:rPr>
                        <a:t>BR-12  Bulky orders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BRL-22 · BRL-23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CT-05 · CT-08 · CT-09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PF-07 · PF-08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SCR-CRT-03 · SCR-CRT-04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12"/>
                  </a:ext>
                </a:extLst>
              </a:tr>
            </a:tbl>
          </a:graphicData>
        </a:graphic>
      </p:graphicFrame>
      <p:sp>
        <p:nvSpPr>
          <p:cNvPr id="11" name="Rectangle 10"/>
          <p:cNvSpPr/>
          <p:nvPr/>
        </p:nvSpPr>
        <p:spPr>
          <a:xfrm>
            <a:off x="274320" y="5303520"/>
            <a:ext cx="11612880" cy="502920"/>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411480" y="5349240"/>
            <a:ext cx="11338560" cy="411480"/>
          </a:xfrm>
          <a:prstGeom prst="rect">
            <a:avLst/>
          </a:prstGeom>
          <a:noFill/>
        </p:spPr>
        <p:txBody>
          <a:bodyPr wrap="square" lIns="0" tIns="0" rIns="0" bIns="0" anchor="t">
            <a:spAutoFit/>
          </a:bodyPr>
          <a:lstStyle/>
          <a:p>
            <a:pPr marL="0" indent="0" algn="l">
              <a:buNone/>
            </a:pPr>
            <a:r>
              <a:rPr sz="750" b="0" i="0">
                <a:solidFill>
                  <a:srgbClr val="6B6800"/>
                </a:solidFill>
              </a:rPr>
              <a:t>Use this table when a rule changes: locate the rule, then update every functional requirement, flow and screen on that row. No rule is restated anywhere else in this document — the other parts reference it by ID.</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6  ·  Traceability Matrix  —  Screen Coverage &amp; Open-Item Impact</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68</a:t>
            </a:r>
          </a:p>
        </p:txBody>
      </p:sp>
      <p:sp>
        <p:nvSpPr>
          <p:cNvPr id="9" name="Rectangle 8"/>
          <p:cNvSpPr/>
          <p:nvPr/>
        </p:nvSpPr>
        <p:spPr>
          <a:xfrm>
            <a:off x="274320" y="64008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402336" y="640080"/>
            <a:ext cx="7315200" cy="256032"/>
          </a:xfrm>
          <a:prstGeom prst="rect">
            <a:avLst/>
          </a:prstGeom>
          <a:noFill/>
        </p:spPr>
        <p:txBody>
          <a:bodyPr wrap="square" lIns="0" tIns="0" rIns="0" bIns="0" anchor="ctr">
            <a:spAutoFit/>
          </a:bodyPr>
          <a:lstStyle/>
          <a:p>
            <a:pPr marL="0" indent="0" algn="l">
              <a:buNone/>
            </a:pPr>
            <a:r>
              <a:rPr sz="1000" b="1" i="0">
                <a:solidFill>
                  <a:srgbClr val="1E2F6E"/>
                </a:solidFill>
              </a:rPr>
              <a:t>Screens blocked or constrained by an open item</a:t>
            </a:r>
          </a:p>
        </p:txBody>
      </p:sp>
      <p:graphicFrame>
        <p:nvGraphicFramePr>
          <p:cNvPr id="11" name="Table 10"/>
          <p:cNvGraphicFramePr>
            <a:graphicFrameLocks noGrp="1"/>
          </p:cNvGraphicFramePr>
          <p:nvPr/>
        </p:nvGraphicFramePr>
        <p:xfrm>
          <a:off x="274320" y="914400"/>
          <a:ext cx="7315200" cy="2825496"/>
        </p:xfrm>
        <a:graphic>
          <a:graphicData uri="http://schemas.openxmlformats.org/drawingml/2006/table">
            <a:tbl>
              <a:tblPr/>
              <a:tblGrid>
                <a:gridCol w="21945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tblGrid>
              <a:tr h="192024">
                <a:tc>
                  <a:txBody>
                    <a:bodyPr/>
                    <a:lstStyle/>
                    <a:p>
                      <a:pPr marL="0" indent="0" algn="ctr">
                        <a:buNone/>
                      </a:pPr>
                      <a:r>
                        <a:rPr sz="700" b="1" i="0">
                          <a:solidFill>
                            <a:srgbClr val="FFFFFF"/>
                          </a:solidFill>
                        </a:rPr>
                        <a:t>Screen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Open item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What is blocked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Can development start?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329184">
                <a:tc>
                  <a:txBody>
                    <a:bodyPr/>
                    <a:lstStyle/>
                    <a:p>
                      <a:pPr marL="0" indent="0" algn="l">
                        <a:buNone/>
                      </a:pPr>
                      <a:r>
                        <a:rPr sz="700" b="0" i="0">
                          <a:solidFill>
                            <a:srgbClr val="222222"/>
                          </a:solidFill>
                        </a:rPr>
                        <a:t>SCR-ONB-04  Introduction carousel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OQ-06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Content and artwork of the three screens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Yes — layout is fixed, content is data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sz="700" b="0" i="0">
                          <a:solidFill>
                            <a:srgbClr val="222222"/>
                          </a:solidFill>
                        </a:rPr>
                        <a:t>SCR-AUT-02 / 03 / 05 / 06  Authentication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OQ-03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Attempt limits, lock duration and the lock message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Partly — build the screens, hold the limits as configuration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329184">
                <a:tc>
                  <a:txBody>
                    <a:bodyPr/>
                    <a:lstStyle/>
                    <a:p>
                      <a:pPr marL="0" indent="0" algn="l">
                        <a:buNone/>
                      </a:pPr>
                      <a:r>
                        <a:rPr sz="700" b="0" i="0">
                          <a:solidFill>
                            <a:srgbClr val="222222"/>
                          </a:solidFill>
                        </a:rPr>
                        <a:t>SCR-CRT-01  Cart standard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OQ-05 · OQ-15 · OQ-17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Out-of-stock retention, freeship suggestions, promotion catalogue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Partly — the core cart is unaffected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329184">
                <a:tc>
                  <a:txBody>
                    <a:bodyPr/>
                    <a:lstStyle/>
                    <a:p>
                      <a:pPr marL="0" indent="0" algn="l">
                        <a:buNone/>
                      </a:pPr>
                      <a:r>
                        <a:rPr sz="700" b="0" i="0">
                          <a:solidFill>
                            <a:srgbClr val="222222"/>
                          </a:solidFill>
                        </a:rPr>
                        <a:t>SCR-CRT-03  Next-day &amp; bulky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OQ-09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Whether an address without Next-day coverage falls to not-served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Yes — the not-served state is already specified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329184">
                <a:tc>
                  <a:txBody>
                    <a:bodyPr/>
                    <a:lstStyle/>
                    <a:p>
                      <a:pPr marL="0" indent="0" algn="l">
                        <a:buNone/>
                      </a:pPr>
                      <a:r>
                        <a:rPr sz="700" b="0" i="0">
                          <a:solidFill>
                            <a:srgbClr val="222222"/>
                          </a:solidFill>
                        </a:rPr>
                        <a:t>SCR-CRT-04  Pickup &amp; locker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OQ-14 · OQ-23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entire locker journey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Pickup yes, locker 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329184">
                <a:tc>
                  <a:txBody>
                    <a:bodyPr/>
                    <a:lstStyle/>
                    <a:p>
                      <a:pPr marL="0" indent="0" algn="l">
                        <a:buNone/>
                      </a:pPr>
                      <a:r>
                        <a:rPr sz="700" b="0" i="0">
                          <a:solidFill>
                            <a:srgbClr val="222222"/>
                          </a:solidFill>
                        </a:rPr>
                        <a:t>SCR-CRT-06  Store change warning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OQ-25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Layout when several impact groups fire together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No — design decision required first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329184">
                <a:tc>
                  <a:txBody>
                    <a:bodyPr/>
                    <a:lstStyle/>
                    <a:p>
                      <a:pPr marL="0" indent="0" algn="l">
                        <a:buNone/>
                      </a:pPr>
                      <a:r>
                        <a:rPr sz="700" b="0" i="0">
                          <a:solidFill>
                            <a:srgbClr val="222222"/>
                          </a:solidFill>
                        </a:rPr>
                        <a:t>SCR-CHK-01  Locked review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OQ-16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Carton packing fee and its effect on the total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Partly — fee held as configuration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329184">
                <a:tc>
                  <a:txBody>
                    <a:bodyPr/>
                    <a:lstStyle/>
                    <a:p>
                      <a:pPr marL="0" indent="0" algn="l">
                        <a:buNone/>
                      </a:pPr>
                      <a:r>
                        <a:rPr sz="700" b="0" i="0">
                          <a:solidFill>
                            <a:srgbClr val="222222"/>
                          </a:solidFill>
                        </a:rPr>
                        <a:t>SCR-CHK-02  Payment &amp; summary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OQ-19 · OQ-20 · OQ-21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VAT rules, points display, policy content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Partly — all three are content or a toggle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bl>
          </a:graphicData>
        </a:graphic>
      </p:graphicFrame>
      <p:sp>
        <p:nvSpPr>
          <p:cNvPr id="12" name="Rectangle 11"/>
          <p:cNvSpPr/>
          <p:nvPr/>
        </p:nvSpPr>
        <p:spPr>
          <a:xfrm>
            <a:off x="7772400" y="64008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 name="TextBox 12"/>
          <p:cNvSpPr txBox="1"/>
          <p:nvPr/>
        </p:nvSpPr>
        <p:spPr>
          <a:xfrm>
            <a:off x="7900416" y="640080"/>
            <a:ext cx="4114800" cy="256032"/>
          </a:xfrm>
          <a:prstGeom prst="rect">
            <a:avLst/>
          </a:prstGeom>
          <a:noFill/>
        </p:spPr>
        <p:txBody>
          <a:bodyPr wrap="square" lIns="0" tIns="0" rIns="0" bIns="0" anchor="ctr">
            <a:spAutoFit/>
          </a:bodyPr>
          <a:lstStyle/>
          <a:p>
            <a:pPr marL="0" indent="0" algn="l">
              <a:buNone/>
            </a:pPr>
            <a:r>
              <a:rPr sz="1000" b="1" i="0">
                <a:solidFill>
                  <a:srgbClr val="1E2F6E"/>
                </a:solidFill>
              </a:rPr>
              <a:t>Coverage check</a:t>
            </a:r>
          </a:p>
        </p:txBody>
      </p:sp>
      <p:graphicFrame>
        <p:nvGraphicFramePr>
          <p:cNvPr id="14" name="Table 13"/>
          <p:cNvGraphicFramePr>
            <a:graphicFrameLocks noGrp="1"/>
          </p:cNvGraphicFramePr>
          <p:nvPr/>
        </p:nvGraphicFramePr>
        <p:xfrm>
          <a:off x="7772400" y="914400"/>
          <a:ext cx="4114800" cy="1563624"/>
        </p:xfrm>
        <a:graphic>
          <a:graphicData uri="http://schemas.openxmlformats.org/drawingml/2006/table">
            <a:tbl>
              <a:tblPr/>
              <a:tblGrid>
                <a:gridCol w="20116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192024">
                <a:tc>
                  <a:txBody>
                    <a:bodyPr/>
                    <a:lstStyle/>
                    <a:p>
                      <a:pPr marL="0" indent="0" algn="ctr">
                        <a:buNone/>
                      </a:pPr>
                      <a:r>
                        <a:rPr sz="750" b="1" i="0">
                          <a:solidFill>
                            <a:srgbClr val="FFFFFF"/>
                          </a:solidFill>
                        </a:rPr>
                        <a:t>Artefact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Total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Covered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28600">
                <a:tc>
                  <a:txBody>
                    <a:bodyPr/>
                    <a:lstStyle/>
                    <a:p>
                      <a:pPr marL="0" indent="0" algn="l">
                        <a:buNone/>
                      </a:pPr>
                      <a:r>
                        <a:rPr sz="750" b="0" i="0">
                          <a:solidFill>
                            <a:srgbClr val="222222"/>
                          </a:solidFill>
                        </a:rPr>
                        <a:t>Business requirements BR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50" b="0" i="0">
                          <a:solidFill>
                            <a:srgbClr val="222222"/>
                          </a:solidFill>
                        </a:rPr>
                        <a:t>12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50" b="0" i="0">
                          <a:solidFill>
                            <a:srgbClr val="222222"/>
                          </a:solidFill>
                        </a:rPr>
                        <a:t>12 / 12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28600">
                <a:tc>
                  <a:txBody>
                    <a:bodyPr/>
                    <a:lstStyle/>
                    <a:p>
                      <a:pPr marL="0" indent="0" algn="l">
                        <a:buNone/>
                      </a:pPr>
                      <a:r>
                        <a:rPr sz="750" b="0" i="0">
                          <a:solidFill>
                            <a:srgbClr val="222222"/>
                          </a:solidFill>
                        </a:rPr>
                        <a:t>Business rules BRL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50" b="0" i="0">
                          <a:solidFill>
                            <a:srgbClr val="222222"/>
                          </a:solidFill>
                        </a:rPr>
                        <a:t>34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50" b="0" i="0">
                          <a:solidFill>
                            <a:srgbClr val="222222"/>
                          </a:solidFill>
                        </a:rPr>
                        <a:t>34 / 34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28600">
                <a:tc>
                  <a:txBody>
                    <a:bodyPr/>
                    <a:lstStyle/>
                    <a:p>
                      <a:pPr marL="0" indent="0" algn="l">
                        <a:buNone/>
                      </a:pPr>
                      <a:r>
                        <a:rPr sz="750" b="0" i="0">
                          <a:solidFill>
                            <a:srgbClr val="222222"/>
                          </a:solidFill>
                        </a:rPr>
                        <a:t>Functional requirements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50" b="0" i="0">
                          <a:solidFill>
                            <a:srgbClr val="222222"/>
                          </a:solidFill>
                        </a:rPr>
                        <a:t>54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50" b="0" i="0">
                          <a:solidFill>
                            <a:srgbClr val="222222"/>
                          </a:solidFill>
                        </a:rPr>
                        <a:t>54 / 54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28600">
                <a:tc>
                  <a:txBody>
                    <a:bodyPr/>
                    <a:lstStyle/>
                    <a:p>
                      <a:pPr marL="0" indent="0" algn="l">
                        <a:buNone/>
                      </a:pPr>
                      <a:r>
                        <a:rPr sz="750" b="0" i="0">
                          <a:solidFill>
                            <a:srgbClr val="222222"/>
                          </a:solidFill>
                        </a:rPr>
                        <a:t>Process flows PF</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50" b="0" i="0">
                          <a:solidFill>
                            <a:srgbClr val="222222"/>
                          </a:solidFill>
                        </a:rPr>
                        <a:t>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50" b="0" i="0">
                          <a:solidFill>
                            <a:srgbClr val="222222"/>
                          </a:solidFill>
                        </a:rPr>
                        <a:t>10 / 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228600">
                <a:tc>
                  <a:txBody>
                    <a:bodyPr/>
                    <a:lstStyle/>
                    <a:p>
                      <a:pPr marL="0" indent="0" algn="l">
                        <a:buNone/>
                      </a:pPr>
                      <a:r>
                        <a:rPr sz="750" b="0" i="0">
                          <a:solidFill>
                            <a:srgbClr val="222222"/>
                          </a:solidFill>
                        </a:rPr>
                        <a:t>Screens SCR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50" b="0" i="0">
                          <a:solidFill>
                            <a:srgbClr val="222222"/>
                          </a:solidFill>
                        </a:rPr>
                        <a:t>26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50" b="0" i="0">
                          <a:solidFill>
                            <a:srgbClr val="222222"/>
                          </a:solidFill>
                        </a:rPr>
                        <a:t>26 / 26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228600">
                <a:tc>
                  <a:txBody>
                    <a:bodyPr/>
                    <a:lstStyle/>
                    <a:p>
                      <a:pPr marL="0" indent="0" algn="l">
                        <a:buNone/>
                      </a:pPr>
                      <a:r>
                        <a:rPr sz="750" b="0" i="0">
                          <a:solidFill>
                            <a:srgbClr val="222222"/>
                          </a:solidFill>
                        </a:rPr>
                        <a:t>Non-functional NFR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5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50" b="0" i="0">
                          <a:solidFill>
                            <a:srgbClr val="222222"/>
                          </a:solidFill>
                        </a:rPr>
                        <a:t>5 / 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bl>
          </a:graphicData>
        </a:graphic>
      </p:graphicFrame>
      <p:sp>
        <p:nvSpPr>
          <p:cNvPr id="15" name="Rectangle 14"/>
          <p:cNvSpPr/>
          <p:nvPr/>
        </p:nvSpPr>
        <p:spPr>
          <a:xfrm>
            <a:off x="7772400" y="256032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7900416" y="2560320"/>
            <a:ext cx="4114800" cy="256032"/>
          </a:xfrm>
          <a:prstGeom prst="rect">
            <a:avLst/>
          </a:prstGeom>
          <a:noFill/>
        </p:spPr>
        <p:txBody>
          <a:bodyPr wrap="square" lIns="0" tIns="0" rIns="0" bIns="0" anchor="ctr">
            <a:spAutoFit/>
          </a:bodyPr>
          <a:lstStyle/>
          <a:p>
            <a:pPr marL="0" indent="0" algn="l">
              <a:buNone/>
            </a:pPr>
            <a:r>
              <a:rPr sz="1000" b="1" i="0">
                <a:solidFill>
                  <a:srgbClr val="1E2F6E"/>
                </a:solidFill>
              </a:rPr>
              <a:t>Every requirement lands on a screen</a:t>
            </a:r>
          </a:p>
        </p:txBody>
      </p:sp>
      <p:sp>
        <p:nvSpPr>
          <p:cNvPr id="17" name="Rectangle 16"/>
          <p:cNvSpPr/>
          <p:nvPr/>
        </p:nvSpPr>
        <p:spPr>
          <a:xfrm>
            <a:off x="7772400" y="2834640"/>
            <a:ext cx="4114800" cy="100584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7909560" y="2880360"/>
            <a:ext cx="3840480" cy="914400"/>
          </a:xfrm>
          <a:prstGeom prst="rect">
            <a:avLst/>
          </a:prstGeom>
          <a:noFill/>
        </p:spPr>
        <p:txBody>
          <a:bodyPr wrap="square" lIns="0" tIns="0" rIns="0" bIns="0" anchor="t">
            <a:spAutoFit/>
          </a:bodyPr>
          <a:lstStyle/>
          <a:p>
            <a:pPr marL="0" indent="0" algn="l">
              <a:buNone/>
            </a:pPr>
            <a:r>
              <a:rPr sz="750" b="0" i="0">
                <a:solidFill>
                  <a:srgbClr val="555555"/>
                </a:solidFill>
              </a:rPr>
              <a:t>No functional requirement in Part 3 is left without a screen in Part 5, and no screen in Part 5 exists without a functional requirement behind it. Where a requirement is realised across several screens, every screen is listed; where a screen realises several requirements, every requirement is cited in its description table.</a:t>
            </a:r>
          </a:p>
        </p:txBody>
      </p:sp>
      <p:sp>
        <p:nvSpPr>
          <p:cNvPr id="19" name="Rectangle 18"/>
          <p:cNvSpPr/>
          <p:nvPr/>
        </p:nvSpPr>
        <p:spPr>
          <a:xfrm>
            <a:off x="274320" y="393192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402336" y="3931920"/>
            <a:ext cx="11612880" cy="256032"/>
          </a:xfrm>
          <a:prstGeom prst="rect">
            <a:avLst/>
          </a:prstGeom>
          <a:noFill/>
        </p:spPr>
        <p:txBody>
          <a:bodyPr wrap="square" lIns="0" tIns="0" rIns="0" bIns="0" anchor="ctr">
            <a:spAutoFit/>
          </a:bodyPr>
          <a:lstStyle/>
          <a:p>
            <a:pPr marL="0" indent="0" algn="l">
              <a:buNone/>
            </a:pPr>
            <a:r>
              <a:rPr sz="1000" b="1" i="0">
                <a:solidFill>
                  <a:srgbClr val="1E2F6E"/>
                </a:solidFill>
              </a:rPr>
              <a:t>Suggested review sequence for LOTTE MART</a:t>
            </a:r>
          </a:p>
        </p:txBody>
      </p:sp>
      <p:sp>
        <p:nvSpPr>
          <p:cNvPr id="21" name="Rectangle 20"/>
          <p:cNvSpPr/>
          <p:nvPr/>
        </p:nvSpPr>
        <p:spPr>
          <a:xfrm>
            <a:off x="274320" y="4206240"/>
            <a:ext cx="2286000" cy="91440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Rectangle 21"/>
          <p:cNvSpPr/>
          <p:nvPr/>
        </p:nvSpPr>
        <p:spPr>
          <a:xfrm>
            <a:off x="274320" y="4206240"/>
            <a:ext cx="2286000" cy="36576"/>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Oval 22"/>
          <p:cNvSpPr/>
          <p:nvPr/>
        </p:nvSpPr>
        <p:spPr>
          <a:xfrm>
            <a:off x="411480" y="4297680"/>
            <a:ext cx="192024" cy="192024"/>
          </a:xfrm>
          <a:prstGeom prst="ellipse">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411480" y="4297680"/>
            <a:ext cx="192024" cy="192024"/>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25" name="TextBox 24"/>
          <p:cNvSpPr txBox="1"/>
          <p:nvPr/>
        </p:nvSpPr>
        <p:spPr>
          <a:xfrm>
            <a:off x="658368" y="4297680"/>
            <a:ext cx="1737360" cy="192024"/>
          </a:xfrm>
          <a:prstGeom prst="rect">
            <a:avLst/>
          </a:prstGeom>
          <a:noFill/>
        </p:spPr>
        <p:txBody>
          <a:bodyPr wrap="square" lIns="0" tIns="0" rIns="0" bIns="0" anchor="ctr">
            <a:spAutoFit/>
          </a:bodyPr>
          <a:lstStyle/>
          <a:p>
            <a:pPr marL="0" indent="0" algn="l">
              <a:buNone/>
            </a:pPr>
            <a:r>
              <a:rPr sz="750" b="1" i="0">
                <a:solidFill>
                  <a:srgbClr val="1E2F6E"/>
                </a:solidFill>
              </a:rPr>
              <a:t>Confirm scope and objectives</a:t>
            </a:r>
          </a:p>
        </p:txBody>
      </p:sp>
      <p:sp>
        <p:nvSpPr>
          <p:cNvPr id="26" name="TextBox 25"/>
          <p:cNvSpPr txBox="1"/>
          <p:nvPr/>
        </p:nvSpPr>
        <p:spPr>
          <a:xfrm>
            <a:off x="411480" y="4526280"/>
            <a:ext cx="2011680" cy="164592"/>
          </a:xfrm>
          <a:prstGeom prst="rect">
            <a:avLst/>
          </a:prstGeom>
          <a:noFill/>
        </p:spPr>
        <p:txBody>
          <a:bodyPr wrap="square" lIns="0" tIns="0" rIns="0" bIns="0" anchor="ctr">
            <a:spAutoFit/>
          </a:bodyPr>
          <a:lstStyle/>
          <a:p>
            <a:pPr marL="0" indent="0" algn="l">
              <a:buNone/>
            </a:pPr>
            <a:r>
              <a:rPr sz="630" b="1" i="0">
                <a:solidFill>
                  <a:srgbClr val="C8102E"/>
                </a:solidFill>
              </a:rPr>
              <a:t>Part 1 · OQ-27</a:t>
            </a:r>
          </a:p>
        </p:txBody>
      </p:sp>
      <p:sp>
        <p:nvSpPr>
          <p:cNvPr id="27" name="TextBox 26"/>
          <p:cNvSpPr txBox="1"/>
          <p:nvPr/>
        </p:nvSpPr>
        <p:spPr>
          <a:xfrm>
            <a:off x="411480" y="4709160"/>
            <a:ext cx="2011680" cy="365760"/>
          </a:xfrm>
          <a:prstGeom prst="rect">
            <a:avLst/>
          </a:prstGeom>
          <a:noFill/>
        </p:spPr>
        <p:txBody>
          <a:bodyPr wrap="square" lIns="0" tIns="0" rIns="0" bIns="0" anchor="t">
            <a:spAutoFit/>
          </a:bodyPr>
          <a:lstStyle/>
          <a:p>
            <a:pPr marL="0" indent="0" algn="l">
              <a:buNone/>
            </a:pPr>
            <a:r>
              <a:rPr sz="630" b="0" i="0">
                <a:solidFill>
                  <a:srgbClr val="555555"/>
                </a:solidFill>
              </a:rPr>
              <a:t>Nothing can be baselined until the objectives and target metrics exist.</a:t>
            </a:r>
          </a:p>
        </p:txBody>
      </p:sp>
      <p:sp>
        <p:nvSpPr>
          <p:cNvPr id="28" name="Rectangle 27"/>
          <p:cNvSpPr/>
          <p:nvPr/>
        </p:nvSpPr>
        <p:spPr>
          <a:xfrm>
            <a:off x="2651760" y="4206240"/>
            <a:ext cx="2286000" cy="91440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9" name="Rectangle 28"/>
          <p:cNvSpPr/>
          <p:nvPr/>
        </p:nvSpPr>
        <p:spPr>
          <a:xfrm>
            <a:off x="2651760" y="4206240"/>
            <a:ext cx="2286000" cy="36576"/>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0" name="Oval 29"/>
          <p:cNvSpPr/>
          <p:nvPr/>
        </p:nvSpPr>
        <p:spPr>
          <a:xfrm>
            <a:off x="2788920" y="4297680"/>
            <a:ext cx="192024" cy="192024"/>
          </a:xfrm>
          <a:prstGeom prst="ellipse">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TextBox 30"/>
          <p:cNvSpPr txBox="1"/>
          <p:nvPr/>
        </p:nvSpPr>
        <p:spPr>
          <a:xfrm>
            <a:off x="2788920" y="4297680"/>
            <a:ext cx="192024" cy="192024"/>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32" name="TextBox 31"/>
          <p:cNvSpPr txBox="1"/>
          <p:nvPr/>
        </p:nvSpPr>
        <p:spPr>
          <a:xfrm>
            <a:off x="3035808" y="4297680"/>
            <a:ext cx="1737360" cy="192024"/>
          </a:xfrm>
          <a:prstGeom prst="rect">
            <a:avLst/>
          </a:prstGeom>
          <a:noFill/>
        </p:spPr>
        <p:txBody>
          <a:bodyPr wrap="square" lIns="0" tIns="0" rIns="0" bIns="0" anchor="ctr">
            <a:spAutoFit/>
          </a:bodyPr>
          <a:lstStyle/>
          <a:p>
            <a:pPr marL="0" indent="0" algn="l">
              <a:buNone/>
            </a:pPr>
            <a:r>
              <a:rPr sz="750" b="1" i="0">
                <a:solidFill>
                  <a:srgbClr val="1E2F6E"/>
                </a:solidFill>
              </a:rPr>
              <a:t>Walk the flows</a:t>
            </a:r>
          </a:p>
        </p:txBody>
      </p:sp>
      <p:sp>
        <p:nvSpPr>
          <p:cNvPr id="33" name="TextBox 32"/>
          <p:cNvSpPr txBox="1"/>
          <p:nvPr/>
        </p:nvSpPr>
        <p:spPr>
          <a:xfrm>
            <a:off x="2788920" y="4526280"/>
            <a:ext cx="2011680" cy="164592"/>
          </a:xfrm>
          <a:prstGeom prst="rect">
            <a:avLst/>
          </a:prstGeom>
          <a:noFill/>
        </p:spPr>
        <p:txBody>
          <a:bodyPr wrap="square" lIns="0" tIns="0" rIns="0" bIns="0" anchor="ctr">
            <a:spAutoFit/>
          </a:bodyPr>
          <a:lstStyle/>
          <a:p>
            <a:pPr marL="0" indent="0" algn="l">
              <a:buNone/>
            </a:pPr>
            <a:r>
              <a:rPr sz="630" b="1" i="0">
                <a:solidFill>
                  <a:srgbClr val="C8102E"/>
                </a:solidFill>
              </a:rPr>
              <a:t>Part 2 · PF-01 to PF-10</a:t>
            </a:r>
          </a:p>
        </p:txBody>
      </p:sp>
      <p:sp>
        <p:nvSpPr>
          <p:cNvPr id="34" name="TextBox 33"/>
          <p:cNvSpPr txBox="1"/>
          <p:nvPr/>
        </p:nvSpPr>
        <p:spPr>
          <a:xfrm>
            <a:off x="2788920" y="4709160"/>
            <a:ext cx="2011680" cy="365760"/>
          </a:xfrm>
          <a:prstGeom prst="rect">
            <a:avLst/>
          </a:prstGeom>
          <a:noFill/>
        </p:spPr>
        <p:txBody>
          <a:bodyPr wrap="square" lIns="0" tIns="0" rIns="0" bIns="0" anchor="t">
            <a:spAutoFit/>
          </a:bodyPr>
          <a:lstStyle/>
          <a:p>
            <a:pPr marL="0" indent="0" algn="l">
              <a:buNone/>
            </a:pPr>
            <a:r>
              <a:rPr sz="630" b="0" i="0">
                <a:solidFill>
                  <a:srgbClr val="555555"/>
                </a:solidFill>
              </a:rPr>
              <a:t>Confirm the sequence and the two mandatory gates before debating detail.</a:t>
            </a:r>
          </a:p>
        </p:txBody>
      </p:sp>
      <p:sp>
        <p:nvSpPr>
          <p:cNvPr id="35" name="Rectangle 34"/>
          <p:cNvSpPr/>
          <p:nvPr/>
        </p:nvSpPr>
        <p:spPr>
          <a:xfrm>
            <a:off x="5029200" y="4206240"/>
            <a:ext cx="2286000" cy="91440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Rectangle 35"/>
          <p:cNvSpPr/>
          <p:nvPr/>
        </p:nvSpPr>
        <p:spPr>
          <a:xfrm>
            <a:off x="5029200" y="4206240"/>
            <a:ext cx="2286000" cy="36576"/>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Oval 36"/>
          <p:cNvSpPr/>
          <p:nvPr/>
        </p:nvSpPr>
        <p:spPr>
          <a:xfrm>
            <a:off x="5166360" y="4297680"/>
            <a:ext cx="192024" cy="192024"/>
          </a:xfrm>
          <a:prstGeom prst="ellipse">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TextBox 37"/>
          <p:cNvSpPr txBox="1"/>
          <p:nvPr/>
        </p:nvSpPr>
        <p:spPr>
          <a:xfrm>
            <a:off x="5166360" y="4297680"/>
            <a:ext cx="192024" cy="192024"/>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39" name="TextBox 38"/>
          <p:cNvSpPr txBox="1"/>
          <p:nvPr/>
        </p:nvSpPr>
        <p:spPr>
          <a:xfrm>
            <a:off x="5413248" y="4297680"/>
            <a:ext cx="1737360" cy="192024"/>
          </a:xfrm>
          <a:prstGeom prst="rect">
            <a:avLst/>
          </a:prstGeom>
          <a:noFill/>
        </p:spPr>
        <p:txBody>
          <a:bodyPr wrap="square" lIns="0" tIns="0" rIns="0" bIns="0" anchor="ctr">
            <a:spAutoFit/>
          </a:bodyPr>
          <a:lstStyle/>
          <a:p>
            <a:pPr marL="0" indent="0" algn="l">
              <a:buNone/>
            </a:pPr>
            <a:r>
              <a:rPr sz="750" b="1" i="0">
                <a:solidFill>
                  <a:srgbClr val="1E2F6E"/>
                </a:solidFill>
              </a:rPr>
              <a:t>Settle the rules</a:t>
            </a:r>
          </a:p>
        </p:txBody>
      </p:sp>
      <p:sp>
        <p:nvSpPr>
          <p:cNvPr id="40" name="TextBox 39"/>
          <p:cNvSpPr txBox="1"/>
          <p:nvPr/>
        </p:nvSpPr>
        <p:spPr>
          <a:xfrm>
            <a:off x="5166360" y="4526280"/>
            <a:ext cx="2011680" cy="164592"/>
          </a:xfrm>
          <a:prstGeom prst="rect">
            <a:avLst/>
          </a:prstGeom>
          <a:noFill/>
        </p:spPr>
        <p:txBody>
          <a:bodyPr wrap="square" lIns="0" tIns="0" rIns="0" bIns="0" anchor="ctr">
            <a:spAutoFit/>
          </a:bodyPr>
          <a:lstStyle/>
          <a:p>
            <a:pPr marL="0" indent="0" algn="l">
              <a:buNone/>
            </a:pPr>
            <a:r>
              <a:rPr sz="630" b="1" i="0">
                <a:solidFill>
                  <a:srgbClr val="C8102E"/>
                </a:solidFill>
              </a:rPr>
              <a:t>Part 4 · BRL-01 to BRL-34</a:t>
            </a:r>
          </a:p>
        </p:txBody>
      </p:sp>
      <p:sp>
        <p:nvSpPr>
          <p:cNvPr id="41" name="TextBox 40"/>
          <p:cNvSpPr txBox="1"/>
          <p:nvPr/>
        </p:nvSpPr>
        <p:spPr>
          <a:xfrm>
            <a:off x="5166360" y="4709160"/>
            <a:ext cx="2011680" cy="365760"/>
          </a:xfrm>
          <a:prstGeom prst="rect">
            <a:avLst/>
          </a:prstGeom>
          <a:noFill/>
        </p:spPr>
        <p:txBody>
          <a:bodyPr wrap="square" lIns="0" tIns="0" rIns="0" bIns="0" anchor="t">
            <a:spAutoFit/>
          </a:bodyPr>
          <a:lstStyle/>
          <a:p>
            <a:pPr marL="0" indent="0" algn="l">
              <a:buNone/>
            </a:pPr>
            <a:r>
              <a:rPr sz="630" b="0" i="0">
                <a:solidFill>
                  <a:srgbClr val="555555"/>
                </a:solidFill>
              </a:rPr>
              <a:t>Thresholds, radii, fees and precedence. This is where most decisions live.</a:t>
            </a:r>
          </a:p>
        </p:txBody>
      </p:sp>
      <p:sp>
        <p:nvSpPr>
          <p:cNvPr id="42" name="Rectangle 41"/>
          <p:cNvSpPr/>
          <p:nvPr/>
        </p:nvSpPr>
        <p:spPr>
          <a:xfrm>
            <a:off x="7406640" y="4206240"/>
            <a:ext cx="2286000" cy="91440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3" name="Rectangle 42"/>
          <p:cNvSpPr/>
          <p:nvPr/>
        </p:nvSpPr>
        <p:spPr>
          <a:xfrm>
            <a:off x="7406640" y="4206240"/>
            <a:ext cx="2286000" cy="36576"/>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4" name="Oval 43"/>
          <p:cNvSpPr/>
          <p:nvPr/>
        </p:nvSpPr>
        <p:spPr>
          <a:xfrm>
            <a:off x="7543800" y="4297680"/>
            <a:ext cx="192024" cy="192024"/>
          </a:xfrm>
          <a:prstGeom prst="ellipse">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TextBox 44"/>
          <p:cNvSpPr txBox="1"/>
          <p:nvPr/>
        </p:nvSpPr>
        <p:spPr>
          <a:xfrm>
            <a:off x="7543800" y="4297680"/>
            <a:ext cx="192024" cy="192024"/>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46" name="TextBox 45"/>
          <p:cNvSpPr txBox="1"/>
          <p:nvPr/>
        </p:nvSpPr>
        <p:spPr>
          <a:xfrm>
            <a:off x="7790688" y="4297680"/>
            <a:ext cx="1737360" cy="192024"/>
          </a:xfrm>
          <a:prstGeom prst="rect">
            <a:avLst/>
          </a:prstGeom>
          <a:noFill/>
        </p:spPr>
        <p:txBody>
          <a:bodyPr wrap="square" lIns="0" tIns="0" rIns="0" bIns="0" anchor="ctr">
            <a:spAutoFit/>
          </a:bodyPr>
          <a:lstStyle/>
          <a:p>
            <a:pPr marL="0" indent="0" algn="l">
              <a:buNone/>
            </a:pPr>
            <a:r>
              <a:rPr sz="750" b="1" i="0">
                <a:solidFill>
                  <a:srgbClr val="1E2F6E"/>
                </a:solidFill>
              </a:rPr>
              <a:t>Review the screens</a:t>
            </a:r>
          </a:p>
        </p:txBody>
      </p:sp>
      <p:sp>
        <p:nvSpPr>
          <p:cNvPr id="47" name="TextBox 46"/>
          <p:cNvSpPr txBox="1"/>
          <p:nvPr/>
        </p:nvSpPr>
        <p:spPr>
          <a:xfrm>
            <a:off x="7543800" y="4526280"/>
            <a:ext cx="2011680" cy="164592"/>
          </a:xfrm>
          <a:prstGeom prst="rect">
            <a:avLst/>
          </a:prstGeom>
          <a:noFill/>
        </p:spPr>
        <p:txBody>
          <a:bodyPr wrap="square" lIns="0" tIns="0" rIns="0" bIns="0" anchor="ctr">
            <a:spAutoFit/>
          </a:bodyPr>
          <a:lstStyle/>
          <a:p>
            <a:pPr marL="0" indent="0" algn="l">
              <a:buNone/>
            </a:pPr>
            <a:r>
              <a:rPr sz="630" b="1" i="0">
                <a:solidFill>
                  <a:srgbClr val="C8102E"/>
                </a:solidFill>
              </a:rPr>
              <a:t>Part 5 · 26 screens</a:t>
            </a:r>
          </a:p>
        </p:txBody>
      </p:sp>
      <p:sp>
        <p:nvSpPr>
          <p:cNvPr id="48" name="TextBox 47"/>
          <p:cNvSpPr txBox="1"/>
          <p:nvPr/>
        </p:nvSpPr>
        <p:spPr>
          <a:xfrm>
            <a:off x="7543800" y="4709160"/>
            <a:ext cx="2011680" cy="365760"/>
          </a:xfrm>
          <a:prstGeom prst="rect">
            <a:avLst/>
          </a:prstGeom>
          <a:noFill/>
        </p:spPr>
        <p:txBody>
          <a:bodyPr wrap="square" lIns="0" tIns="0" rIns="0" bIns="0" anchor="t">
            <a:spAutoFit/>
          </a:bodyPr>
          <a:lstStyle/>
          <a:p>
            <a:pPr marL="0" indent="0" algn="l">
              <a:buNone/>
            </a:pPr>
            <a:r>
              <a:rPr sz="630" b="0" i="0">
                <a:solidFill>
                  <a:srgbClr val="555555"/>
                </a:solidFill>
              </a:rPr>
              <a:t>Behaviour only — visual design follows in the Design phase.</a:t>
            </a:r>
          </a:p>
        </p:txBody>
      </p:sp>
      <p:sp>
        <p:nvSpPr>
          <p:cNvPr id="49" name="Rectangle 48"/>
          <p:cNvSpPr/>
          <p:nvPr/>
        </p:nvSpPr>
        <p:spPr>
          <a:xfrm>
            <a:off x="9784080" y="4206240"/>
            <a:ext cx="2286000" cy="91440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Rectangle 49"/>
          <p:cNvSpPr/>
          <p:nvPr/>
        </p:nvSpPr>
        <p:spPr>
          <a:xfrm>
            <a:off x="9784080" y="4206240"/>
            <a:ext cx="2286000" cy="36576"/>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1" name="Oval 50"/>
          <p:cNvSpPr/>
          <p:nvPr/>
        </p:nvSpPr>
        <p:spPr>
          <a:xfrm>
            <a:off x="9921240" y="4297680"/>
            <a:ext cx="192024" cy="192024"/>
          </a:xfrm>
          <a:prstGeom prst="ellipse">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2" name="TextBox 51"/>
          <p:cNvSpPr txBox="1"/>
          <p:nvPr/>
        </p:nvSpPr>
        <p:spPr>
          <a:xfrm>
            <a:off x="9921240" y="4297680"/>
            <a:ext cx="192024" cy="192024"/>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53" name="TextBox 52"/>
          <p:cNvSpPr txBox="1"/>
          <p:nvPr/>
        </p:nvSpPr>
        <p:spPr>
          <a:xfrm>
            <a:off x="10168128" y="4297680"/>
            <a:ext cx="1737360" cy="192024"/>
          </a:xfrm>
          <a:prstGeom prst="rect">
            <a:avLst/>
          </a:prstGeom>
          <a:noFill/>
        </p:spPr>
        <p:txBody>
          <a:bodyPr wrap="square" lIns="0" tIns="0" rIns="0" bIns="0" anchor="ctr">
            <a:spAutoFit/>
          </a:bodyPr>
          <a:lstStyle/>
          <a:p>
            <a:pPr marL="0" indent="0" algn="l">
              <a:buNone/>
            </a:pPr>
            <a:r>
              <a:rPr sz="750" b="1" i="0">
                <a:solidFill>
                  <a:srgbClr val="1E2F6E"/>
                </a:solidFill>
              </a:rPr>
              <a:t>Close the open items</a:t>
            </a:r>
          </a:p>
        </p:txBody>
      </p:sp>
      <p:sp>
        <p:nvSpPr>
          <p:cNvPr id="54" name="TextBox 53"/>
          <p:cNvSpPr txBox="1"/>
          <p:nvPr/>
        </p:nvSpPr>
        <p:spPr>
          <a:xfrm>
            <a:off x="9921240" y="4526280"/>
            <a:ext cx="2011680" cy="164592"/>
          </a:xfrm>
          <a:prstGeom prst="rect">
            <a:avLst/>
          </a:prstGeom>
          <a:noFill/>
        </p:spPr>
        <p:txBody>
          <a:bodyPr wrap="square" lIns="0" tIns="0" rIns="0" bIns="0" anchor="ctr">
            <a:spAutoFit/>
          </a:bodyPr>
          <a:lstStyle/>
          <a:p>
            <a:pPr marL="0" indent="0" algn="l">
              <a:buNone/>
            </a:pPr>
            <a:r>
              <a:rPr sz="630" b="1" i="0">
                <a:solidFill>
                  <a:srgbClr val="C8102E"/>
                </a:solidFill>
              </a:rPr>
              <a:t>Part 6 · OQ-01 to OQ-27</a:t>
            </a:r>
          </a:p>
        </p:txBody>
      </p:sp>
      <p:sp>
        <p:nvSpPr>
          <p:cNvPr id="55" name="TextBox 54"/>
          <p:cNvSpPr txBox="1"/>
          <p:nvPr/>
        </p:nvSpPr>
        <p:spPr>
          <a:xfrm>
            <a:off x="9921240" y="4709160"/>
            <a:ext cx="2011680" cy="365760"/>
          </a:xfrm>
          <a:prstGeom prst="rect">
            <a:avLst/>
          </a:prstGeom>
          <a:noFill/>
        </p:spPr>
        <p:txBody>
          <a:bodyPr wrap="square" lIns="0" tIns="0" rIns="0" bIns="0" anchor="t">
            <a:spAutoFit/>
          </a:bodyPr>
          <a:lstStyle/>
          <a:p>
            <a:pPr marL="0" indent="0" algn="l">
              <a:buNone/>
            </a:pPr>
            <a:r>
              <a:rPr sz="630" b="0" i="0">
                <a:solidFill>
                  <a:srgbClr val="555555"/>
                </a:solidFill>
              </a:rPr>
              <a:t>Start with the four High items that block the most work.</a:t>
            </a:r>
          </a:p>
        </p:txBody>
      </p:sp>
      <p:sp>
        <p:nvSpPr>
          <p:cNvPr id="56" name="Rectangle 55"/>
          <p:cNvSpPr/>
          <p:nvPr/>
        </p:nvSpPr>
        <p:spPr>
          <a:xfrm>
            <a:off x="274320" y="5303520"/>
            <a:ext cx="11612880" cy="594360"/>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7" name="TextBox 56"/>
          <p:cNvSpPr txBox="1"/>
          <p:nvPr/>
        </p:nvSpPr>
        <p:spPr>
          <a:xfrm>
            <a:off x="411480" y="5349240"/>
            <a:ext cx="11338560" cy="502920"/>
          </a:xfrm>
          <a:prstGeom prst="rect">
            <a:avLst/>
          </a:prstGeom>
          <a:noFill/>
        </p:spPr>
        <p:txBody>
          <a:bodyPr wrap="square" lIns="0" tIns="0" rIns="0" bIns="0" anchor="t">
            <a:spAutoFit/>
          </a:bodyPr>
          <a:lstStyle/>
          <a:p>
            <a:pPr marL="0" indent="0" algn="l">
              <a:buNone/>
            </a:pPr>
            <a:r>
              <a:rPr sz="750" b="0" i="0">
                <a:solidFill>
                  <a:srgbClr val="6B6800"/>
                </a:solidFill>
              </a:rPr>
              <a:t>Version 0.1 is a draft for review and is not baselined. It becomes v1.0 once the business objectives (OQ-27) are set, the four High open items are closed, the As-Is section of the source BRD is completed, and the Must / Should priorities are confirmed (OQ-24).</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128016" cy="68580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005840" y="1188720"/>
            <a:ext cx="9000000" cy="502920"/>
          </a:xfrm>
          <a:prstGeom prst="rect">
            <a:avLst/>
          </a:prstGeom>
          <a:noFill/>
        </p:spPr>
        <p:txBody>
          <a:bodyPr wrap="square" lIns="0" tIns="0" rIns="0" bIns="0" anchor="ctr">
            <a:spAutoFit/>
          </a:bodyPr>
          <a:lstStyle/>
          <a:p>
            <a:pPr marL="0" indent="0" algn="l">
              <a:buNone/>
            </a:pPr>
            <a:r>
              <a:rPr sz="2800" b="1" i="0">
                <a:solidFill>
                  <a:srgbClr val="FFFFFF"/>
                </a:solidFill>
              </a:rPr>
              <a:t>End of specification</a:t>
            </a:r>
          </a:p>
        </p:txBody>
      </p:sp>
      <p:sp>
        <p:nvSpPr>
          <p:cNvPr id="5" name="TextBox 4"/>
          <p:cNvSpPr txBox="1"/>
          <p:nvPr/>
        </p:nvSpPr>
        <p:spPr>
          <a:xfrm>
            <a:off x="1005840" y="1737360"/>
            <a:ext cx="9000000" cy="274320"/>
          </a:xfrm>
          <a:prstGeom prst="rect">
            <a:avLst/>
          </a:prstGeom>
          <a:noFill/>
        </p:spPr>
        <p:txBody>
          <a:bodyPr wrap="square" lIns="0" tIns="0" rIns="0" bIns="0" anchor="ctr">
            <a:spAutoFit/>
          </a:bodyPr>
          <a:lstStyle/>
          <a:p>
            <a:pPr marL="0" indent="0" algn="l">
              <a:buNone/>
            </a:pPr>
            <a:r>
              <a:rPr sz="1100" b="0" i="0">
                <a:solidFill>
                  <a:srgbClr val="AAAACC"/>
                </a:solidFill>
              </a:rPr>
              <a:t>MART-AN02-SRS-Simplify User Flow-v0.1-20260814</a:t>
            </a:r>
          </a:p>
        </p:txBody>
      </p:sp>
      <p:sp>
        <p:nvSpPr>
          <p:cNvPr id="6" name="Rectangle 5"/>
          <p:cNvSpPr/>
          <p:nvPr/>
        </p:nvSpPr>
        <p:spPr>
          <a:xfrm>
            <a:off x="1005840" y="2103120"/>
            <a:ext cx="1005840" cy="274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Rectangle 6"/>
          <p:cNvSpPr/>
          <p:nvPr/>
        </p:nvSpPr>
        <p:spPr>
          <a:xfrm>
            <a:off x="1005840" y="2560320"/>
            <a:ext cx="3200400" cy="1920240"/>
          </a:xfrm>
          <a:prstGeom prst="rect">
            <a:avLst/>
          </a:prstGeom>
          <a:solidFill>
            <a:srgbClr val="16234F"/>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 name="Rectangle 7"/>
          <p:cNvSpPr/>
          <p:nvPr/>
        </p:nvSpPr>
        <p:spPr>
          <a:xfrm>
            <a:off x="1005840" y="2560320"/>
            <a:ext cx="3200400" cy="274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 name="TextBox 8"/>
          <p:cNvSpPr txBox="1"/>
          <p:nvPr/>
        </p:nvSpPr>
        <p:spPr>
          <a:xfrm>
            <a:off x="1188720" y="2651760"/>
            <a:ext cx="2834640" cy="228600"/>
          </a:xfrm>
          <a:prstGeom prst="rect">
            <a:avLst/>
          </a:prstGeom>
          <a:noFill/>
        </p:spPr>
        <p:txBody>
          <a:bodyPr wrap="square" lIns="0" tIns="0" rIns="0" bIns="0" anchor="ctr">
            <a:spAutoFit/>
          </a:bodyPr>
          <a:lstStyle/>
          <a:p>
            <a:pPr marL="0" indent="0" algn="l">
              <a:buNone/>
            </a:pPr>
            <a:r>
              <a:rPr sz="1100" b="1" i="0">
                <a:solidFill>
                  <a:srgbClr val="FFFFFF"/>
                </a:solidFill>
              </a:rPr>
              <a:t>Contents</a:t>
            </a:r>
          </a:p>
        </p:txBody>
      </p:sp>
      <p:sp>
        <p:nvSpPr>
          <p:cNvPr id="10" name="TextBox 9"/>
          <p:cNvSpPr txBox="1"/>
          <p:nvPr/>
        </p:nvSpPr>
        <p:spPr>
          <a:xfrm>
            <a:off x="1188720" y="2926080"/>
            <a:ext cx="2834640" cy="1463040"/>
          </a:xfrm>
          <a:prstGeom prst="rect">
            <a:avLst/>
          </a:prstGeom>
          <a:noFill/>
        </p:spPr>
        <p:txBody>
          <a:bodyPr wrap="square" lIns="0" tIns="0" rIns="0" bIns="0" anchor="t">
            <a:spAutoFit/>
          </a:bodyPr>
          <a:lstStyle/>
          <a:p>
            <a:pPr marL="0" indent="0" algn="l">
              <a:lnSpc>
                <a:spcPct val="135000"/>
              </a:lnSpc>
              <a:buNone/>
            </a:pPr>
            <a:r>
              <a:rPr sz="800" b="0" i="0">
                <a:solidFill>
                  <a:srgbClr val="C6CCE4"/>
                </a:solidFill>
              </a:rPr>
              <a:t>10 process flows</a:t>
            </a:r>
          </a:p>
          <a:p>
            <a:pPr marL="0" indent="0" algn="l">
              <a:lnSpc>
                <a:spcPct val="135000"/>
              </a:lnSpc>
              <a:buNone/>
            </a:pPr>
            <a:r>
              <a:rPr sz="800" b="0" i="0">
                <a:solidFill>
                  <a:srgbClr val="C6CCE4"/>
                </a:solidFill>
              </a:rPr>
              <a:t>54 functional requirements</a:t>
            </a:r>
          </a:p>
          <a:p>
            <a:pPr marL="0" indent="0" algn="l">
              <a:lnSpc>
                <a:spcPct val="135000"/>
              </a:lnSpc>
              <a:buNone/>
            </a:pPr>
            <a:r>
              <a:rPr sz="800" b="0" i="0">
                <a:solidFill>
                  <a:srgbClr val="C6CCE4"/>
                </a:solidFill>
              </a:rPr>
              <a:t>12 business requirements</a:t>
            </a:r>
          </a:p>
          <a:p>
            <a:pPr marL="0" indent="0" algn="l">
              <a:lnSpc>
                <a:spcPct val="135000"/>
              </a:lnSpc>
              <a:buNone/>
            </a:pPr>
            <a:r>
              <a:rPr sz="800" b="0" i="0">
                <a:solidFill>
                  <a:srgbClr val="C6CCE4"/>
                </a:solidFill>
              </a:rPr>
              <a:t>34 business rules</a:t>
            </a:r>
          </a:p>
          <a:p>
            <a:pPr marL="0" indent="0" algn="l">
              <a:lnSpc>
                <a:spcPct val="135000"/>
              </a:lnSpc>
              <a:buNone/>
            </a:pPr>
            <a:r>
              <a:rPr sz="800" b="0" i="0">
                <a:solidFill>
                  <a:srgbClr val="C6CCE4"/>
                </a:solidFill>
              </a:rPr>
              <a:t>26 screen specifications</a:t>
            </a:r>
          </a:p>
          <a:p>
            <a:pPr marL="0" indent="0" algn="l">
              <a:lnSpc>
                <a:spcPct val="135000"/>
              </a:lnSpc>
              <a:buNone/>
            </a:pPr>
            <a:r>
              <a:rPr sz="800" b="0" i="0">
                <a:solidFill>
                  <a:srgbClr val="C6CCE4"/>
                </a:solidFill>
              </a:rPr>
              <a:t>5 non-functional requirements</a:t>
            </a:r>
          </a:p>
        </p:txBody>
      </p:sp>
      <p:sp>
        <p:nvSpPr>
          <p:cNvPr id="11" name="Rectangle 10"/>
          <p:cNvSpPr/>
          <p:nvPr/>
        </p:nvSpPr>
        <p:spPr>
          <a:xfrm>
            <a:off x="4480560" y="2560320"/>
            <a:ext cx="3200400" cy="1920240"/>
          </a:xfrm>
          <a:prstGeom prst="rect">
            <a:avLst/>
          </a:prstGeom>
          <a:solidFill>
            <a:srgbClr val="16234F"/>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Rectangle 11"/>
          <p:cNvSpPr/>
          <p:nvPr/>
        </p:nvSpPr>
        <p:spPr>
          <a:xfrm>
            <a:off x="4480560" y="2560320"/>
            <a:ext cx="3200400" cy="274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 name="TextBox 12"/>
          <p:cNvSpPr txBox="1"/>
          <p:nvPr/>
        </p:nvSpPr>
        <p:spPr>
          <a:xfrm>
            <a:off x="4663440" y="2651760"/>
            <a:ext cx="2834640" cy="228600"/>
          </a:xfrm>
          <a:prstGeom prst="rect">
            <a:avLst/>
          </a:prstGeom>
          <a:noFill/>
        </p:spPr>
        <p:txBody>
          <a:bodyPr wrap="square" lIns="0" tIns="0" rIns="0" bIns="0" anchor="ctr">
            <a:spAutoFit/>
          </a:bodyPr>
          <a:lstStyle/>
          <a:p>
            <a:pPr marL="0" indent="0" algn="l">
              <a:buNone/>
            </a:pPr>
            <a:r>
              <a:rPr sz="1100" b="1" i="0">
                <a:solidFill>
                  <a:srgbClr val="FFFFFF"/>
                </a:solidFill>
              </a:rPr>
              <a:t>Sources</a:t>
            </a:r>
          </a:p>
        </p:txBody>
      </p:sp>
      <p:sp>
        <p:nvSpPr>
          <p:cNvPr id="14" name="TextBox 13"/>
          <p:cNvSpPr txBox="1"/>
          <p:nvPr/>
        </p:nvSpPr>
        <p:spPr>
          <a:xfrm>
            <a:off x="4663440" y="2926080"/>
            <a:ext cx="2834640" cy="1463040"/>
          </a:xfrm>
          <a:prstGeom prst="rect">
            <a:avLst/>
          </a:prstGeom>
          <a:noFill/>
        </p:spPr>
        <p:txBody>
          <a:bodyPr wrap="square" lIns="0" tIns="0" rIns="0" bIns="0" anchor="t">
            <a:spAutoFit/>
          </a:bodyPr>
          <a:lstStyle/>
          <a:p>
            <a:pPr marL="0" indent="0" algn="l">
              <a:lnSpc>
                <a:spcPct val="135000"/>
              </a:lnSpc>
              <a:buNone/>
            </a:pPr>
            <a:r>
              <a:rPr sz="800" b="0" i="0">
                <a:solidFill>
                  <a:srgbClr val="C6CCE4"/>
                </a:solidFill>
              </a:rPr>
              <a:t>MART-AN02-BRD-Simplify User Flow-v0.1-20260813</a:t>
            </a:r>
          </a:p>
          <a:p>
            <a:pPr marL="0" indent="0" algn="l">
              <a:lnSpc>
                <a:spcPct val="135000"/>
              </a:lnSpc>
              <a:buNone/>
            </a:pPr>
            <a:r>
              <a:rPr sz="800" b="0" i="0">
                <a:solidFill>
                  <a:srgbClr val="C6CCE4"/>
                </a:solidFill>
              </a:rPr>
              <a:t>UX / BA design session, 13 Aug 2026</a:t>
            </a:r>
          </a:p>
          <a:p>
            <a:pPr marL="0" indent="0" algn="l">
              <a:lnSpc>
                <a:spcPct val="135000"/>
              </a:lnSpc>
              <a:buNone/>
            </a:pPr>
            <a:r>
              <a:rPr sz="800" b="0" i="0">
                <a:solidFill>
                  <a:srgbClr val="C6CCE4"/>
                </a:solidFill>
              </a:rPr>
              <a:t>New-Checkout-Flow-20260813.png</a:t>
            </a:r>
          </a:p>
          <a:p>
            <a:pPr marL="0" indent="0" algn="l">
              <a:lnSpc>
                <a:spcPct val="135000"/>
              </a:lnSpc>
              <a:buNone/>
            </a:pPr>
            <a:r>
              <a:rPr sz="800" b="0" i="0">
                <a:solidFill>
                  <a:srgbClr val="C6CCE4"/>
                </a:solidFill>
              </a:rPr>
              <a:t>QnA-SimplifyCheckout-Flow.xlsx</a:t>
            </a:r>
          </a:p>
          <a:p>
            <a:pPr marL="0" indent="0" algn="l">
              <a:lnSpc>
                <a:spcPct val="135000"/>
              </a:lnSpc>
              <a:buNone/>
            </a:pPr>
            <a:r>
              <a:rPr sz="800" b="0" i="0">
                <a:solidFill>
                  <a:srgbClr val="C6CCE4"/>
                </a:solidFill>
              </a:rPr>
              <a:t>Figma “Checkout Flow - Review”</a:t>
            </a:r>
          </a:p>
          <a:p>
            <a:pPr marL="0" indent="0" algn="l">
              <a:lnSpc>
                <a:spcPct val="135000"/>
              </a:lnSpc>
              <a:buNone/>
            </a:pPr>
            <a:r>
              <a:rPr sz="800" b="0" i="0">
                <a:solidFill>
                  <a:srgbClr val="C6CCE4"/>
                </a:solidFill>
              </a:rPr>
              <a:t>lottemart.vn — As-Is reference</a:t>
            </a:r>
          </a:p>
        </p:txBody>
      </p:sp>
      <p:sp>
        <p:nvSpPr>
          <p:cNvPr id="15" name="Rectangle 14"/>
          <p:cNvSpPr/>
          <p:nvPr/>
        </p:nvSpPr>
        <p:spPr>
          <a:xfrm>
            <a:off x="7955280" y="2560320"/>
            <a:ext cx="3200400" cy="1920240"/>
          </a:xfrm>
          <a:prstGeom prst="rect">
            <a:avLst/>
          </a:prstGeom>
          <a:solidFill>
            <a:srgbClr val="16234F"/>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Rectangle 15"/>
          <p:cNvSpPr/>
          <p:nvPr/>
        </p:nvSpPr>
        <p:spPr>
          <a:xfrm>
            <a:off x="7955280" y="2560320"/>
            <a:ext cx="3200400" cy="274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TextBox 16"/>
          <p:cNvSpPr txBox="1"/>
          <p:nvPr/>
        </p:nvSpPr>
        <p:spPr>
          <a:xfrm>
            <a:off x="8138160" y="2651760"/>
            <a:ext cx="2834640" cy="228600"/>
          </a:xfrm>
          <a:prstGeom prst="rect">
            <a:avLst/>
          </a:prstGeom>
          <a:noFill/>
        </p:spPr>
        <p:txBody>
          <a:bodyPr wrap="square" lIns="0" tIns="0" rIns="0" bIns="0" anchor="ctr">
            <a:spAutoFit/>
          </a:bodyPr>
          <a:lstStyle/>
          <a:p>
            <a:pPr marL="0" indent="0" algn="l">
              <a:buNone/>
            </a:pPr>
            <a:r>
              <a:rPr sz="1100" b="1" i="0">
                <a:solidFill>
                  <a:srgbClr val="FFFFFF"/>
                </a:solidFill>
              </a:rPr>
              <a:t>Next step</a:t>
            </a:r>
          </a:p>
        </p:txBody>
      </p:sp>
      <p:sp>
        <p:nvSpPr>
          <p:cNvPr id="18" name="TextBox 17"/>
          <p:cNvSpPr txBox="1"/>
          <p:nvPr/>
        </p:nvSpPr>
        <p:spPr>
          <a:xfrm>
            <a:off x="8138160" y="2926080"/>
            <a:ext cx="2834640" cy="1463040"/>
          </a:xfrm>
          <a:prstGeom prst="rect">
            <a:avLst/>
          </a:prstGeom>
          <a:noFill/>
        </p:spPr>
        <p:txBody>
          <a:bodyPr wrap="square" lIns="0" tIns="0" rIns="0" bIns="0" anchor="t">
            <a:spAutoFit/>
          </a:bodyPr>
          <a:lstStyle/>
          <a:p>
            <a:pPr marL="0" indent="0" algn="l">
              <a:lnSpc>
                <a:spcPct val="135000"/>
              </a:lnSpc>
              <a:buNone/>
            </a:pPr>
            <a:r>
              <a:rPr sz="800" b="0" i="0">
                <a:solidFill>
                  <a:srgbClr val="C6CCE4"/>
                </a:solidFill>
              </a:rPr>
              <a:t>Circulate for review</a:t>
            </a:r>
          </a:p>
          <a:p>
            <a:pPr marL="0" indent="0" algn="l">
              <a:lnSpc>
                <a:spcPct val="135000"/>
              </a:lnSpc>
              <a:buNone/>
            </a:pPr>
            <a:r>
              <a:rPr sz="800" b="0" i="0">
                <a:solidFill>
                  <a:srgbClr val="C6CCE4"/>
                </a:solidFill>
              </a:rPr>
              <a:t>Close OQ-03, OQ-16, OQ-25, OQ-27</a:t>
            </a:r>
          </a:p>
          <a:p>
            <a:pPr marL="0" indent="0" algn="l">
              <a:lnSpc>
                <a:spcPct val="135000"/>
              </a:lnSpc>
              <a:buNone/>
            </a:pPr>
            <a:r>
              <a:rPr sz="800" b="0" i="0">
                <a:solidFill>
                  <a:srgbClr val="C6CCE4"/>
                </a:solidFill>
              </a:rPr>
              <a:t>Complete the As-Is section</a:t>
            </a:r>
          </a:p>
          <a:p>
            <a:pPr marL="0" indent="0" algn="l">
              <a:lnSpc>
                <a:spcPct val="135000"/>
              </a:lnSpc>
              <a:buNone/>
            </a:pPr>
            <a:r>
              <a:rPr sz="800" b="0" i="0">
                <a:solidFill>
                  <a:srgbClr val="C6CCE4"/>
                </a:solidFill>
              </a:rPr>
              <a:t>Confirm Must / Should priorities</a:t>
            </a:r>
          </a:p>
          <a:p>
            <a:pPr marL="0" indent="0" algn="l">
              <a:lnSpc>
                <a:spcPct val="135000"/>
              </a:lnSpc>
              <a:buNone/>
            </a:pPr>
            <a:r>
              <a:rPr sz="800" b="0" i="0">
                <a:solidFill>
                  <a:srgbClr val="C6CCE4"/>
                </a:solidFill>
              </a:rPr>
              <a:t>Re-issue as v1.0 for baseline</a:t>
            </a:r>
          </a:p>
          <a:p>
            <a:pPr marL="0" indent="0" algn="l">
              <a:lnSpc>
                <a:spcPct val="135000"/>
              </a:lnSpc>
              <a:buNone/>
            </a:pPr>
            <a:r>
              <a:rPr sz="800" b="0" i="0">
                <a:solidFill>
                  <a:srgbClr val="C6CCE4"/>
                </a:solidFill>
              </a:rPr>
              <a:t>Hand over to the Design phase</a:t>
            </a:r>
          </a:p>
        </p:txBody>
      </p:sp>
      <p:sp>
        <p:nvSpPr>
          <p:cNvPr id="19" name="TextBox 18"/>
          <p:cNvSpPr txBox="1"/>
          <p:nvPr/>
        </p:nvSpPr>
        <p:spPr>
          <a:xfrm>
            <a:off x="1005840" y="4754880"/>
            <a:ext cx="9000000" cy="228600"/>
          </a:xfrm>
          <a:prstGeom prst="rect">
            <a:avLst/>
          </a:prstGeom>
          <a:noFill/>
        </p:spPr>
        <p:txBody>
          <a:bodyPr wrap="square" lIns="0" tIns="0" rIns="0" bIns="0" anchor="ctr">
            <a:spAutoFit/>
          </a:bodyPr>
          <a:lstStyle/>
          <a:p>
            <a:pPr marL="0" indent="0" algn="l">
              <a:buNone/>
            </a:pPr>
            <a:r>
              <a:rPr sz="900" b="0" i="0">
                <a:solidFill>
                  <a:srgbClr val="8892B8"/>
                </a:solidFill>
              </a:rPr>
              <a:t>Prepared by the MART BA Team  ·  Lotte Innovate Vietnam  ·  14 August 2026</a:t>
            </a:r>
          </a:p>
        </p:txBody>
      </p:sp>
      <p:sp>
        <p:nvSpPr>
          <p:cNvPr id="20" name="TextBox 19"/>
          <p:cNvSpPr txBox="1"/>
          <p:nvPr/>
        </p:nvSpPr>
        <p:spPr>
          <a:xfrm>
            <a:off x="1005840" y="5029200"/>
            <a:ext cx="9000000" cy="228600"/>
          </a:xfrm>
          <a:prstGeom prst="rect">
            <a:avLst/>
          </a:prstGeom>
          <a:noFill/>
        </p:spPr>
        <p:txBody>
          <a:bodyPr wrap="square" lIns="0" tIns="0" rIns="0" bIns="0" anchor="ctr">
            <a:spAutoFit/>
          </a:bodyPr>
          <a:lstStyle/>
          <a:p>
            <a:pPr marL="0" indent="0" algn="l">
              <a:buNone/>
            </a:pPr>
            <a:r>
              <a:rPr sz="900" b="0" i="0">
                <a:solidFill>
                  <a:srgbClr val="8892B8"/>
                </a:solidFill>
              </a:rPr>
              <a:t>Questions and review comments: Thai Bao Ngoc, Project Manager — MART VN Online Renewal 2026</a:t>
            </a:r>
          </a:p>
        </p:txBody>
      </p:sp>
      <p:sp>
        <p:nvSpPr>
          <p:cNvPr id="21" name="Rectangle 20"/>
          <p:cNvSpPr/>
          <p:nvPr/>
        </p:nvSpPr>
        <p:spPr>
          <a:xfrm>
            <a:off x="0" y="6473952"/>
            <a:ext cx="12161520" cy="201168"/>
          </a:xfrm>
          <a:prstGeom prst="rect">
            <a:avLst/>
          </a:prstGeom>
          <a:solidFill>
            <a:srgbClr val="16234F"/>
          </a:solidFill>
          <a:ln w="12700">
            <a:solidFill>
              <a:srgbClr val="16234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TextBox 21"/>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6E7CA8"/>
                </a:solidFill>
              </a:rPr>
              <a:t>LOTTE MART VN Online Renewal 2026  —  Simplify User Flow  |  CONFIDENTIAL</a:t>
            </a:r>
          </a:p>
        </p:txBody>
      </p:sp>
      <p:sp>
        <p:nvSpPr>
          <p:cNvPr id="23" name="TextBox 22"/>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6E7CA8"/>
                </a:solidFill>
              </a:rPr>
              <a:t>69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F5A2C89985331439B3265BA35E4D9E3" ma:contentTypeVersion="12" ma:contentTypeDescription="Create a new document." ma:contentTypeScope="" ma:versionID="f8d86c73e1cccb21a214d61933f493bc">
  <xsd:schema xmlns:xsd="http://www.w3.org/2001/XMLSchema" xmlns:xs="http://www.w3.org/2001/XMLSchema" xmlns:p="http://schemas.microsoft.com/office/2006/metadata/properties" xmlns:ns2="e99529cc-6d7e-4058-8f98-0e7609fd4346" xmlns:ns3="aa87b936-37ee-4552-b509-06d907961ce7" targetNamespace="http://schemas.microsoft.com/office/2006/metadata/properties" ma:root="true" ma:fieldsID="6503256ccc74950290225ad479ddaecc" ns2:_="" ns3:_="">
    <xsd:import namespace="e99529cc-6d7e-4058-8f98-0e7609fd4346"/>
    <xsd:import namespace="aa87b936-37ee-4552-b509-06d907961ce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Remarks" minOccurs="0"/>
                <xsd:element ref="ns2:FILEDESC_x002e_"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99529cc-6d7e-4058-8f98-0e7609fd434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Remarks" ma:index="11" nillable="true" ma:displayName="Remarks" ma:format="Dropdown" ma:internalName="Remarks">
      <xsd:simpleType>
        <xsd:restriction base="dms:Text">
          <xsd:maxLength value="255"/>
        </xsd:restriction>
      </xsd:simpleType>
    </xsd:element>
    <xsd:element name="FILEDESC_x002e_" ma:index="12" nillable="true" ma:displayName="FILE DESC." ma:format="Dropdown" ma:internalName="FILEDESC_x002e_">
      <xsd:simpleType>
        <xsd:restriction base="dms:Text">
          <xsd:maxLength value="255"/>
        </xsd:restriction>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9953d7f-7f22-4129-9e61-024c9966a045"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a87b936-37ee-4552-b509-06d907961ce7"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488fd90a-cbda-438a-99a0-ebbf021c8ff5}" ma:internalName="TaxCatchAll" ma:showField="CatchAllData" ma:web="aa87b936-37ee-4552-b509-06d907961ce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aa87b936-37ee-4552-b509-06d907961ce7" xsi:nil="true"/>
    <FILEDESC_x002e_ xmlns="e99529cc-6d7e-4058-8f98-0e7609fd4346" xsi:nil="true"/>
    <lcf76f155ced4ddcb4097134ff3c332f xmlns="e99529cc-6d7e-4058-8f98-0e7609fd4346">
      <Terms xmlns="http://schemas.microsoft.com/office/infopath/2007/PartnerControls"/>
    </lcf76f155ced4ddcb4097134ff3c332f>
    <Remarks xmlns="e99529cc-6d7e-4058-8f98-0e7609fd4346" xsi:nil="true"/>
  </documentManagement>
</p:properties>
</file>

<file path=customXml/itemProps1.xml><?xml version="1.0" encoding="utf-8"?>
<ds:datastoreItem xmlns:ds="http://schemas.openxmlformats.org/officeDocument/2006/customXml" ds:itemID="{A2DCC6A8-CFEB-41B6-A359-7310B03F7C7D}">
  <ds:schemaRefs>
    <ds:schemaRef ds:uri="aa87b936-37ee-4552-b509-06d907961ce7"/>
    <ds:schemaRef ds:uri="e99529cc-6d7e-4058-8f98-0e7609fd434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9DBFA4A-F7D7-4320-BCC0-FE59FEFD69AA}">
  <ds:schemaRefs>
    <ds:schemaRef ds:uri="http://schemas.microsoft.com/sharepoint/v3/contenttype/forms"/>
  </ds:schemaRefs>
</ds:datastoreItem>
</file>

<file path=customXml/itemProps3.xml><?xml version="1.0" encoding="utf-8"?>
<ds:datastoreItem xmlns:ds="http://schemas.openxmlformats.org/officeDocument/2006/customXml" ds:itemID="{1F468780-9A93-4E12-9374-63848EEB20BC}">
  <ds:schemaRefs>
    <ds:schemaRef ds:uri="aa87b936-37ee-4552-b509-06d907961ce7"/>
    <ds:schemaRef ds:uri="e99529cc-6d7e-4058-8f98-0e7609fd4346"/>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70</Slides>
  <Notes>1</Notes>
  <HiddenSlides>0</HiddenSlides>
  <ScaleCrop>false</ScaleCrop>
  <HeadingPairs>
    <vt:vector size="4" baseType="variant">
      <vt:variant>
        <vt:lpstr>Theme</vt:lpstr>
      </vt:variant>
      <vt:variant>
        <vt:i4>1</vt:i4>
      </vt:variant>
      <vt:variant>
        <vt:lpstr>Slide Titles</vt:lpstr>
      </vt:variant>
      <vt:variant>
        <vt:i4>70</vt:i4>
      </vt:variant>
    </vt:vector>
  </HeadingPairs>
  <TitlesOfParts>
    <vt:vector size="7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GEMS Screen Storyboard — System Management</dc:title>
  <dc:subject>GEMS-EPA-SB-SYS v0.0.1</dc:subject>
  <dc:creator>GEMS Business Analysis Team</dc:creator>
  <cp:revision>52</cp:revision>
  <dcterms:created xsi:type="dcterms:W3CDTF">2026-05-21T11:57:52Z</dcterms:created>
  <dcterms:modified xsi:type="dcterms:W3CDTF">2026-08-17T08:49:16Z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0x0101007F5A2C89985331439B3265BA35E4D9E3</vt:lpwstr>
  </property>
</Properties>
</file>