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B_0.xml" ContentType="application/vnd.ms-powerpoint.comments+xml"/>
  <Override PartName="/ppt/comments/modernComment_113_0.xml" ContentType="application/vnd.ms-powerpoint.comments+xml"/>
  <Override PartName="/ppt/comments/modernComment_118_0.xml" ContentType="application/vnd.ms-powerpoint.comments+xml"/>
  <Override PartName="/ppt/comments/modernComment_11E_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sldIdLst>
    <p:sldId id="256" r:id="rId5"/>
    <p:sldId id="257" r:id="rId6"/>
    <p:sldId id="258" r:id="rId7"/>
    <p:sldId id="264" r:id="rId8"/>
    <p:sldId id="265" r:id="rId9"/>
    <p:sldId id="266" r:id="rId10"/>
    <p:sldId id="267" r:id="rId11"/>
    <p:sldId id="268" r:id="rId12"/>
    <p:sldId id="269" r:id="rId13"/>
    <p:sldId id="270" r:id="rId14"/>
    <p:sldId id="271" r:id="rId15"/>
    <p:sldId id="272"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6293372D-D313-D958-3F8E-1770C929A45F}" name="Nguyen Ngoc  Son" initials="NS" userId="S::sonnn@lotte.vn::0443a5b6-a3d3-4346-84b2-7d806248ec31" providerId="AD"/>
  <p188:author id="{95BB21C1-F723-65BF-8F93-27AA95F93322}" name="Thai Bao Ngoc" initials="TN" userId="S::ngocthai@lotte.vn::72bcc3d4-c43f-40de-8505-791f5f3b0aa2"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 dt="2026-08-17T06:51:24.361"/>
    <p1510:client id="{79D0139B-1541-BF36-C7EC-24EEF1F0BE55}" v="353" dt="2026-08-17T03:01:05.550"/>
    <p1510:client id="{BBEC998C-F0CB-60C3-CF06-50FC8A7914FC}" v="1" dt="2026-08-17T06:54:13.619"/>
    <p1510:client id="{CAF7A7A7-976D-6EDC-3F42-DAC257831632}" v="851" dt="2026-08-17T06:46:57.5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omments/modernComment_10B_0.xml><?xml version="1.0" encoding="utf-8"?>
<p188:cmLst xmlns:a="http://schemas.openxmlformats.org/drawingml/2006/main" xmlns:r="http://schemas.openxmlformats.org/officeDocument/2006/relationships" xmlns:p188="http://schemas.microsoft.com/office/powerpoint/2018/8/main">
  <p188:cm id="{1C3DBEFA-0D8E-472F-B16F-E51898522C25}" authorId="{6293372D-D313-D958-3F8E-1770C929A45F}" created="2026-08-17T03:13:07.804">
    <ac:txMkLst xmlns:ac="http://schemas.microsoft.com/office/drawing/2013/main/command">
      <pc:docMk xmlns:pc="http://schemas.microsoft.com/office/powerpoint/2013/main/command"/>
      <pc:sldMk xmlns:pc="http://schemas.microsoft.com/office/powerpoint/2013/main/command" cId="0" sldId="267"/>
      <ac:graphicFrameMk id="35" creationId="{00000000-0000-0000-0000-000000000000}"/>
      <ac:tblMk/>
      <ac:tcMk rowId="10007" colId="20002"/>
      <ac:txMk cp="11" len="146">
        <ac:context len="158" hash="4249893129"/>
      </ac:txMk>
    </ac:txMkLst>
    <p188:pos x="2570480" y="5100320"/>
    <p188:txBody>
      <a:bodyPr/>
      <a:lstStyle/>
      <a:p>
        <a:r>
          <a:rPr lang="en-US"/>
          <a:t>em có sửa lại thông tin &amp; các trạng thái của product card sẽ xem ở tài liệu khác ạ</a:t>
        </a:r>
      </a:p>
    </p188:txBody>
  </p188:cm>
</p188:cmLst>
</file>

<file path=ppt/comments/modernComment_11E_0.xml><?xml version="1.0" encoding="utf-8"?>
<p188:cmLst xmlns:a="http://schemas.openxmlformats.org/drawingml/2006/main" xmlns:r="http://schemas.openxmlformats.org/officeDocument/2006/relationships" xmlns:p188="http://schemas.microsoft.com/office/powerpoint/2018/8/main">
  <p188:cm id="{158659D7-2735-4712-AFCA-02A773B4AF7C}" authorId="{6293372D-D313-D958-3F8E-1770C929A45F}" created="2026-08-17T06:27:52.847">
    <ac:deMkLst xmlns:ac="http://schemas.microsoft.com/office/drawing/2013/main/command">
      <pc:docMk xmlns:pc="http://schemas.microsoft.com/office/powerpoint/2013/main/command"/>
      <pc:sldMk xmlns:pc="http://schemas.microsoft.com/office/powerpoint/2013/main/command" cId="0" sldId="286"/>
      <ac:spMk id="36" creationId="{00000000-0000-0000-0000-000000000000}"/>
    </ac:deMkLst>
    <p188:txBody>
      <a:bodyPr/>
      <a:lstStyle/>
      <a:p>
        <a:r>
          <a:rPr lang="en-US"/>
          <a:t>em có sửa lại kịch bản ở đây 1 vài ý sao cho phù hợp hơn với workflow hiện tại ạ</a:t>
        </a:r>
      </a:p>
    </p188:txBody>
  </p188:cm>
</p188:cmLst>
</file>

<file path=ppt/comments/modernComment_113_0.xml><?xml version="1.0" encoding="utf-8"?>
<p188:cmLst xmlns:a="http://schemas.openxmlformats.org/drawingml/2006/main" xmlns:r="http://schemas.openxmlformats.org/officeDocument/2006/relationships" xmlns:p188="http://schemas.microsoft.com/office/powerpoint/2018/8/main">
  <p188:cm id="{3AFD2054-E50C-4496-82FA-12FC372630AA}" authorId="{6293372D-D313-D958-3F8E-1770C929A45F}" created="2026-08-17T04:17:22.485">
    <ac:deMkLst xmlns:ac="http://schemas.microsoft.com/office/drawing/2013/main/command">
      <pc:docMk xmlns:pc="http://schemas.microsoft.com/office/powerpoint/2013/main/command"/>
      <pc:sldMk xmlns:pc="http://schemas.microsoft.com/office/powerpoint/2013/main/command" cId="0" sldId="275"/>
      <ac:picMk id="40" creationId="{00000000-0000-0000-0000-000000000000}"/>
    </ac:deMkLst>
    <p188:txBody>
      <a:bodyPr/>
      <a:lstStyle/>
      <a:p>
        <a:r>
          <a:rPr lang="en-US"/>
          <a:t>hiện tại bottom sheet bộ lọc này có nút hành động sticky ngay ở dưới trong wireframe á chị ơi, chị check lại giúp em ạ</a:t>
        </a:r>
      </a:p>
    </p188:txBody>
  </p188:cm>
</p188:cmLst>
</file>

<file path=ppt/comments/modernComment_118_0.xml><?xml version="1.0" encoding="utf-8"?>
<p188:cmLst xmlns:a="http://schemas.openxmlformats.org/drawingml/2006/main" xmlns:r="http://schemas.openxmlformats.org/officeDocument/2006/relationships" xmlns:p188="http://schemas.microsoft.com/office/powerpoint/2018/8/main">
  <p188:cm id="{41D2670F-0B01-485F-8422-7001C05383C6}" authorId="{6293372D-D313-D958-3F8E-1770C929A45F}" created="2026-08-17T04:39:57.460">
    <ac:txMkLst xmlns:ac="http://schemas.microsoft.com/office/drawing/2013/main/command">
      <pc:docMk xmlns:pc="http://schemas.microsoft.com/office/powerpoint/2013/main/command"/>
      <pc:sldMk xmlns:pc="http://schemas.microsoft.com/office/powerpoint/2013/main/command" cId="0" sldId="280"/>
      <ac:graphicFrameMk id="35" creationId="{00000000-0000-0000-0000-000000000000}"/>
      <ac:tblMk/>
      <ac:tcMk rowId="10006" colId="20001"/>
      <ac:txMk cp="0" len="23">
        <ac:context len="24" hash="646980344"/>
      </ac:txMk>
    </ac:txMkLst>
    <p188:pos x="1889760" y="4277360"/>
    <p188:replyLst>
      <p188:reply id="{44AA8DF5-6823-4FD7-9124-7DD3325D4DB2}" authorId="{95BB21C1-F723-65BF-8F93-27AA95F93322}" created="2026-08-17T06:51:24.361">
        <p188:txBody>
          <a:bodyPr/>
          <a:lstStyle/>
          <a:p>
            <a:r>
              <a:rPr lang="en-US"/>
              <a:t>OK, sửa đi em, đơn giản thôi. Ảnh load từ Camera thì cứ đi theo default function trên phone nha. Cái này bị con AI dắt dắt thoai =) </a:t>
            </a:r>
          </a:p>
        </p188:txBody>
      </p188:reply>
    </p188:replyLst>
    <p188:txBody>
      <a:bodyPr/>
      <a:lstStyle/>
      <a:p>
        <a:r>
          <a:rPr lang="en-US"/>
          <a:t>dạ version này em nghĩ chưa cần đến nhãn phân loại trên ảnh, em thấy nó khá phức tạp logic chỗ này ạ</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17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B_0.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113_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118_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microsoft.com/office/2018/10/relationships/comments" Target="../comments/modernComment_11E_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그림 3">
            <a:extLst>
              <a:ext uri="{FF2B5EF4-FFF2-40B4-BE49-F238E27FC236}">
                <a16:creationId xmlns:a16="http://schemas.microsoft.com/office/drawing/2014/main" id="{8421178D-8D55-E504-FF75-8FEFD90D187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304123" y="494"/>
            <a:ext cx="9906000" cy="6858000"/>
          </a:xfrm>
          <a:prstGeom prst="rect">
            <a:avLst/>
          </a:prstGeom>
        </p:spPr>
      </p:pic>
      <p:sp>
        <p:nvSpPr>
          <p:cNvPr id="15" name="Text 13"/>
          <p:cNvSpPr/>
          <p:nvPr/>
        </p:nvSpPr>
        <p:spPr>
          <a:xfrm>
            <a:off x="411480" y="1737360"/>
            <a:ext cx="6858000" cy="1371600"/>
          </a:xfrm>
          <a:prstGeom prst="rect">
            <a:avLst/>
          </a:prstGeom>
          <a:noFill/>
          <a:ln/>
        </p:spPr>
        <p:txBody>
          <a:bodyPr wrap="square" lIns="0" tIns="0" rIns="0" bIns="0" rtlCol="0" anchor="ctr"/>
          <a:lstStyle/>
          <a:p>
            <a:pPr marL="0" indent="0">
              <a:buNone/>
            </a:pPr>
            <a:r>
              <a:rPr sz="5400" b="0">
                <a:solidFill>
                  <a:srgbClr val="222222"/>
                </a:solidFill>
                <a:latin typeface="Calibri"/>
              </a:rPr>
              <a:t>StoryBoard</a:t>
            </a:r>
            <a:endParaRPr lang="en-US" sz="5800"/>
          </a:p>
        </p:txBody>
      </p:sp>
      <p:sp>
        <p:nvSpPr>
          <p:cNvPr id="16" name="Text 14"/>
          <p:cNvSpPr/>
          <p:nvPr/>
        </p:nvSpPr>
        <p:spPr>
          <a:xfrm>
            <a:off x="411480" y="2935870"/>
            <a:ext cx="6858000" cy="411480"/>
          </a:xfrm>
          <a:prstGeom prst="rect">
            <a:avLst/>
          </a:prstGeom>
          <a:noFill/>
          <a:ln/>
        </p:spPr>
        <p:txBody>
          <a:bodyPr wrap="square" lIns="0" tIns="0" rIns="0" bIns="0" rtlCol="0" anchor="ctr"/>
          <a:lstStyle/>
          <a:p>
            <a:pPr marL="0" indent="0">
              <a:buNone/>
            </a:pPr>
            <a:r>
              <a:rPr sz="2000" b="0">
                <a:solidFill>
                  <a:srgbClr val="222222"/>
                </a:solidFill>
                <a:latin typeface="Calibri"/>
              </a:rPr>
              <a:t>Module:  </a:t>
            </a:r>
            <a:r>
              <a:rPr sz="2000" b="1">
                <a:solidFill>
                  <a:srgbClr val="222222"/>
                </a:solidFill>
                <a:latin typeface="Calibri"/>
              </a:rPr>
              <a:t>Smart Search (Tìm kiếm thông minh)</a:t>
            </a:r>
            <a:endParaRPr lang="en-US" b="1"/>
          </a:p>
        </p:txBody>
      </p:sp>
      <p:sp>
        <p:nvSpPr>
          <p:cNvPr id="17" name="Text 15"/>
          <p:cNvSpPr/>
          <p:nvPr/>
        </p:nvSpPr>
        <p:spPr>
          <a:xfrm>
            <a:off x="411480" y="3822192"/>
            <a:ext cx="4572000" cy="256032"/>
          </a:xfrm>
          <a:prstGeom prst="rect">
            <a:avLst/>
          </a:prstGeom>
          <a:noFill/>
          <a:ln/>
        </p:spPr>
        <p:txBody>
          <a:bodyPr wrap="square" lIns="0" tIns="0" rIns="0" bIns="0" rtlCol="0" anchor="ctr"/>
          <a:lstStyle/>
          <a:p>
            <a:pPr marL="0" indent="0">
              <a:buNone/>
            </a:pPr>
            <a:r>
              <a:rPr sz="1100" b="0">
                <a:solidFill>
                  <a:srgbClr val="555555"/>
                </a:solidFill>
                <a:latin typeface="Calibri"/>
              </a:rPr>
              <a:t>Step Name:  </a:t>
            </a:r>
            <a:r>
              <a:rPr sz="1100" b="1">
                <a:solidFill>
                  <a:srgbClr val="555555"/>
                </a:solidFill>
                <a:latin typeface="Calibri"/>
              </a:rPr>
              <a:t>Design — Wireframe Specification</a:t>
            </a:r>
            <a:endParaRPr lang="en-US" sz="1200"/>
          </a:p>
        </p:txBody>
      </p:sp>
      <p:sp>
        <p:nvSpPr>
          <p:cNvPr id="18" name="Text 16"/>
          <p:cNvSpPr/>
          <p:nvPr/>
        </p:nvSpPr>
        <p:spPr>
          <a:xfrm>
            <a:off x="411480" y="4114800"/>
            <a:ext cx="4572000" cy="256032"/>
          </a:xfrm>
          <a:prstGeom prst="rect">
            <a:avLst/>
          </a:prstGeom>
          <a:noFill/>
          <a:ln/>
        </p:spPr>
        <p:txBody>
          <a:bodyPr wrap="square" lIns="0" tIns="0" rIns="0" bIns="0" rtlCol="0" anchor="ctr"/>
          <a:lstStyle/>
          <a:p>
            <a:pPr marL="0" indent="0">
              <a:buNone/>
            </a:pPr>
            <a:r>
              <a:rPr sz="1100" b="0">
                <a:solidFill>
                  <a:srgbClr val="555555"/>
                </a:solidFill>
                <a:latin typeface="Calibri"/>
              </a:rPr>
              <a:t>Doc. ID:  </a:t>
            </a:r>
            <a:r>
              <a:rPr sz="1100" b="1">
                <a:solidFill>
                  <a:srgbClr val="555555"/>
                </a:solidFill>
                <a:latin typeface="Calibri"/>
              </a:rPr>
              <a:t>MART-DE03-SS-SB</a:t>
            </a:r>
            <a:endParaRPr lang="en-US" sz="1200"/>
          </a:p>
        </p:txBody>
      </p:sp>
      <p:sp>
        <p:nvSpPr>
          <p:cNvPr id="19" name="Text 17"/>
          <p:cNvSpPr/>
          <p:nvPr/>
        </p:nvSpPr>
        <p:spPr>
          <a:xfrm>
            <a:off x="411480" y="4407408"/>
            <a:ext cx="2743200" cy="256032"/>
          </a:xfrm>
          <a:prstGeom prst="rect">
            <a:avLst/>
          </a:prstGeom>
          <a:noFill/>
          <a:ln/>
        </p:spPr>
        <p:txBody>
          <a:bodyPr wrap="square" lIns="0" tIns="0" rIns="0" bIns="0" rtlCol="0" anchor="ctr"/>
          <a:lstStyle/>
          <a:p>
            <a:pPr marL="0" indent="0">
              <a:buNone/>
            </a:pPr>
            <a:r>
              <a:rPr sz="1100" b="0">
                <a:solidFill>
                  <a:srgbClr val="555555"/>
                </a:solidFill>
                <a:latin typeface="Calibri"/>
              </a:rPr>
              <a:t>Version:  </a:t>
            </a:r>
            <a:r>
              <a:rPr sz="1100" b="1">
                <a:solidFill>
                  <a:srgbClr val="555555"/>
                </a:solidFill>
                <a:latin typeface="Calibri"/>
              </a:rPr>
              <a:t>v0.1</a:t>
            </a:r>
            <a:endParaRPr lang="en-US" sz="1200"/>
          </a:p>
        </p:txBody>
      </p:sp>
      <p:sp>
        <p:nvSpPr>
          <p:cNvPr id="26" name="Text 24"/>
          <p:cNvSpPr/>
          <p:nvPr/>
        </p:nvSpPr>
        <p:spPr>
          <a:xfrm>
            <a:off x="10131552" y="5943600"/>
            <a:ext cx="347472" cy="347472"/>
          </a:xfrm>
          <a:prstGeom prst="rect">
            <a:avLst/>
          </a:prstGeom>
          <a:noFill/>
          <a:ln/>
        </p:spPr>
        <p:txBody>
          <a:bodyPr wrap="square" lIns="0" tIns="0" rIns="0" bIns="0" rtlCol="0" anchor="ctr"/>
          <a:lstStyle/>
          <a:p>
            <a:pPr marL="0" indent="0" algn="ctr">
              <a:buNone/>
            </a:pPr>
            <a:r>
              <a:rPr lang="en-US" sz="1100" b="1">
                <a:solidFill>
                  <a:srgbClr val="FFFFFF"/>
                </a:solidFill>
                <a:latin typeface="Arial" pitchFamily="34" charset="0"/>
                <a:ea typeface="Arial" pitchFamily="34" charset="-122"/>
                <a:cs typeface="Arial" pitchFamily="34" charset="-120"/>
              </a:rPr>
              <a:t>l</a:t>
            </a:r>
            <a:endParaRPr lang="en-US" sz="1100"/>
          </a:p>
        </p:txBody>
      </p:sp>
      <p:sp>
        <p:nvSpPr>
          <p:cNvPr id="28" name="Shape 26"/>
          <p:cNvSpPr/>
          <p:nvPr/>
        </p:nvSpPr>
        <p:spPr>
          <a:xfrm>
            <a:off x="0" y="6821424"/>
            <a:ext cx="12161520" cy="0"/>
          </a:xfrm>
          <a:prstGeom prst="line">
            <a:avLst/>
          </a:prstGeom>
          <a:noFill/>
          <a:ln w="25400">
            <a:solidFill>
              <a:srgbClr val="C8102E"/>
            </a:solidFill>
            <a:prstDash val="solid"/>
          </a:ln>
        </p:spPr>
        <p:txBody>
          <a:bodyPr/>
          <a:lstStyle/>
          <a:p>
            <a:endParaRPr lang="en-VN"/>
          </a:p>
        </p:txBody>
      </p:sp>
      <p:pic>
        <p:nvPicPr>
          <p:cNvPr id="34" name="그림 2">
            <a:extLst>
              <a:ext uri="{FF2B5EF4-FFF2-40B4-BE49-F238E27FC236}">
                <a16:creationId xmlns:a16="http://schemas.microsoft.com/office/drawing/2014/main" id="{AFB4C7F7-8865-F423-974B-62B8FB7B20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1480" y="5894397"/>
            <a:ext cx="1750952" cy="450246"/>
          </a:xfrm>
          <a:prstGeom prst="rect">
            <a:avLst/>
          </a:prstGeom>
        </p:spPr>
      </p:pic>
      <p:sp>
        <p:nvSpPr>
          <p:cNvPr id="35" name="Text 17">
            <a:extLst>
              <a:ext uri="{FF2B5EF4-FFF2-40B4-BE49-F238E27FC236}">
                <a16:creationId xmlns:a16="http://schemas.microsoft.com/office/drawing/2014/main" id="{9C5BFCB5-33A6-57A7-8E5C-932C8661A030}"/>
              </a:ext>
            </a:extLst>
          </p:cNvPr>
          <p:cNvSpPr/>
          <p:nvPr/>
        </p:nvSpPr>
        <p:spPr>
          <a:xfrm>
            <a:off x="411480" y="4699522"/>
            <a:ext cx="2743200" cy="256032"/>
          </a:xfrm>
          <a:prstGeom prst="rect">
            <a:avLst/>
          </a:prstGeom>
          <a:noFill/>
          <a:ln/>
        </p:spPr>
        <p:txBody>
          <a:bodyPr wrap="square" lIns="0" tIns="0" rIns="0" bIns="0" rtlCol="0" anchor="ctr"/>
          <a:lstStyle/>
          <a:p>
            <a:pPr marL="0" indent="0">
              <a:buNone/>
            </a:pPr>
            <a:r>
              <a:rPr sz="1100" b="0">
                <a:solidFill>
                  <a:srgbClr val="555555"/>
                </a:solidFill>
                <a:latin typeface="Calibri"/>
              </a:rPr>
              <a:t>Date:  </a:t>
            </a:r>
            <a:r>
              <a:rPr sz="1100" b="1">
                <a:solidFill>
                  <a:srgbClr val="555555"/>
                </a:solidFill>
                <a:latin typeface="Calibri"/>
              </a:rPr>
              <a:t>16/08/2026</a:t>
            </a:r>
            <a:endParaRPr 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54864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201168" y="0"/>
            <a:ext cx="8229600" cy="548640"/>
          </a:xfrm>
          <a:prstGeom prst="rect">
            <a:avLst/>
          </a:prstGeom>
          <a:noFill/>
          <a:ln/>
        </p:spPr>
        <p:txBody>
          <a:bodyPr wrap="square" lIns="0" tIns="0" rIns="0" bIns="0" rtlCol="0" anchor="ctr"/>
          <a:lstStyle/>
          <a:p>
            <a:pPr marL="0" indent="0">
              <a:buNone/>
            </a:pPr>
            <a:r>
              <a:rPr sz="2200" b="1">
                <a:solidFill>
                  <a:srgbClr val="FFFFFF"/>
                </a:solidFill>
                <a:latin typeface="Calibri"/>
              </a:rPr>
              <a:t>Tổng quan tài liệu &amp; Lịch sử phiên bản</a:t>
            </a:r>
            <a:endParaRPr lang="en-US" sz="1700"/>
          </a:p>
        </p:txBody>
      </p:sp>
      <p:sp>
        <p:nvSpPr>
          <p:cNvPr id="5" name="Text 3"/>
          <p:cNvSpPr/>
          <p:nvPr/>
        </p:nvSpPr>
        <p:spPr>
          <a:xfrm>
            <a:off x="8503920" y="0"/>
            <a:ext cx="3474720" cy="548640"/>
          </a:xfrm>
          <a:prstGeom prst="rect">
            <a:avLst/>
          </a:prstGeom>
          <a:noFill/>
          <a:ln/>
        </p:spPr>
        <p:txBody>
          <a:bodyPr wrap="square" lIns="0" tIns="0" rIns="0" bIns="0" rtlCol="0" anchor="ctr"/>
          <a:lstStyle/>
          <a:p>
            <a:pPr marL="0" indent="0" algn="r">
              <a:buNone/>
            </a:pPr>
            <a:r>
              <a:rPr sz="1100" b="0">
                <a:solidFill>
                  <a:srgbClr val="FFFFFF"/>
                </a:solidFill>
                <a:latin typeface="Calibri"/>
              </a:rPr>
              <a:t>v0.1  |  2026.08.16</a:t>
            </a:r>
            <a:endParaRPr lang="en-US" sz="850"/>
          </a:p>
        </p:txBody>
      </p:sp>
      <p:sp>
        <p:nvSpPr>
          <p:cNvPr id="6" name="Shape 4"/>
          <p:cNvSpPr/>
          <p:nvPr/>
        </p:nvSpPr>
        <p:spPr>
          <a:xfrm>
            <a:off x="274320" y="713232"/>
            <a:ext cx="64008" cy="256032"/>
          </a:xfrm>
          <a:prstGeom prst="rect">
            <a:avLst/>
          </a:prstGeom>
          <a:solidFill>
            <a:srgbClr val="C8102E"/>
          </a:solidFill>
          <a:ln w="12700">
            <a:solidFill>
              <a:srgbClr val="C8102E"/>
            </a:solidFill>
            <a:prstDash val="solid"/>
          </a:ln>
        </p:spPr>
        <p:txBody>
          <a:bodyPr/>
          <a:lstStyle/>
          <a:p>
            <a:endParaRPr lang="en-VN"/>
          </a:p>
        </p:txBody>
      </p:sp>
      <p:sp>
        <p:nvSpPr>
          <p:cNvPr id="7" name="Text 5"/>
          <p:cNvSpPr/>
          <p:nvPr/>
        </p:nvSpPr>
        <p:spPr>
          <a:xfrm>
            <a:off x="402336" y="713232"/>
            <a:ext cx="5358384" cy="256032"/>
          </a:xfrm>
          <a:prstGeom prst="rect">
            <a:avLst/>
          </a:prstGeom>
          <a:noFill/>
          <a:ln/>
        </p:spPr>
        <p:txBody>
          <a:bodyPr wrap="square" lIns="0" tIns="0" rIns="0" bIns="0" rtlCol="0" anchor="ctr"/>
          <a:lstStyle/>
          <a:p>
            <a:pPr marL="0" indent="0">
              <a:buNone/>
            </a:pPr>
            <a:r>
              <a:rPr sz="1100" b="1">
                <a:solidFill>
                  <a:srgbClr val="222222"/>
                </a:solidFill>
                <a:latin typeface="Calibri"/>
              </a:rPr>
              <a:t>Tổng quan tài liệu</a:t>
            </a:r>
            <a:endParaRPr lang="en-US" sz="1200"/>
          </a:p>
        </p:txBody>
      </p:sp>
      <p:graphicFrame>
        <p:nvGraphicFramePr>
          <p:cNvPr id="8" name="Table 0"/>
          <p:cNvGraphicFramePr>
            <a:graphicFrameLocks noGrp="1"/>
          </p:cNvGraphicFramePr>
          <p:nvPr>
            <p:extLst>
              <p:ext uri="{D42A27DB-BD31-4B8C-83A1-F6EECF244321}">
                <p14:modId xmlns:p14="http://schemas.microsoft.com/office/powerpoint/2010/main" val="158963436"/>
              </p:ext>
            </p:extLst>
          </p:nvPr>
        </p:nvGraphicFramePr>
        <p:xfrm>
          <a:off x="274320" y="1024128"/>
          <a:ext cx="11612880" cy="1645920"/>
        </p:xfrm>
        <a:graphic>
          <a:graphicData uri="http://schemas.openxmlformats.org/drawingml/2006/table">
            <a:tbl>
              <a:tblPr/>
              <a:tblGrid>
                <a:gridCol w="1463040">
                  <a:extLst>
                    <a:ext uri="{9D8B030D-6E8A-4147-A177-3AD203B41FA5}">
                      <a16:colId xmlns:a16="http://schemas.microsoft.com/office/drawing/2014/main" val="20000"/>
                    </a:ext>
                  </a:extLst>
                </a:gridCol>
                <a:gridCol w="10149840">
                  <a:extLst>
                    <a:ext uri="{9D8B030D-6E8A-4147-A177-3AD203B41FA5}">
                      <a16:colId xmlns:a16="http://schemas.microsoft.com/office/drawing/2014/main" val="20001"/>
                    </a:ext>
                  </a:extLst>
                </a:gridCol>
              </a:tblGrid>
              <a:tr h="274320">
                <a:tc>
                  <a:txBody>
                    <a:bodyPr/>
                    <a:lstStyle/>
                    <a:p>
                      <a:pPr marL="0" indent="0" algn="ctr">
                        <a:buNone/>
                      </a:pPr>
                      <a:r>
                        <a:rPr sz="900" b="1">
                          <a:solidFill>
                            <a:srgbClr val="555555"/>
                          </a:solidFill>
                          <a:latin typeface="Calibri"/>
                        </a:rPr>
                        <a:t>DỰ ÁN</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900" b="0">
                          <a:solidFill>
                            <a:srgbClr val="222222"/>
                          </a:solidFill>
                          <a:latin typeface="Calibri"/>
                        </a:rPr>
                        <a:t>LOTTE Mart Online Renewal 2026 — LOTTE Innovate Vietnam</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74320">
                <a:tc>
                  <a:txBody>
                    <a:bodyPr/>
                    <a:lstStyle/>
                    <a:p>
                      <a:pPr marL="0" indent="0" algn="ctr">
                        <a:buNone/>
                      </a:pPr>
                      <a:r>
                        <a:rPr sz="900" b="1">
                          <a:solidFill>
                            <a:srgbClr val="555555"/>
                          </a:solidFill>
                          <a:latin typeface="Calibri"/>
                        </a:rPr>
                        <a:t>HỆ THỐNG</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900" b="0">
                          <a:solidFill>
                            <a:srgbClr val="222222"/>
                          </a:solidFill>
                          <a:latin typeface="Calibri"/>
                        </a:rPr>
                        <a:t>Lottemart.vn — Mobile App (iOS / Android)</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FAFA"/>
                    </a:solidFill>
                  </a:tcPr>
                </a:tc>
                <a:extLst>
                  <a:ext uri="{0D108BD9-81ED-4DB2-BD59-A6C34878D82A}">
                    <a16:rowId xmlns:a16="http://schemas.microsoft.com/office/drawing/2014/main" val="10001"/>
                  </a:ext>
                </a:extLst>
              </a:tr>
              <a:tr h="274320">
                <a:tc>
                  <a:txBody>
                    <a:bodyPr/>
                    <a:lstStyle/>
                    <a:p>
                      <a:pPr marL="0" indent="0" algn="ctr">
                        <a:buNone/>
                      </a:pPr>
                      <a:r>
                        <a:rPr sz="900" b="1">
                          <a:solidFill>
                            <a:srgbClr val="555555"/>
                          </a:solidFill>
                          <a:latin typeface="Calibri"/>
                        </a:rPr>
                        <a:t>GIAI ĐOẠN</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900" b="0">
                          <a:solidFill>
                            <a:srgbClr val="222222"/>
                          </a:solidFill>
                          <a:latin typeface="Calibri"/>
                        </a:rPr>
                        <a:t>DESIGN — Wireframe Specification</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ctr">
                        <a:buNone/>
                      </a:pPr>
                      <a:r>
                        <a:rPr sz="900" b="1">
                          <a:solidFill>
                            <a:srgbClr val="555555"/>
                          </a:solidFill>
                          <a:latin typeface="Calibri"/>
                        </a:rPr>
                        <a:t>HẠNG MỤC</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900" b="0">
                          <a:solidFill>
                            <a:srgbClr val="222222"/>
                          </a:solidFill>
                          <a:latin typeface="Calibri"/>
                        </a:rPr>
                        <a:t>Smart Search — Tìm bằng chữ / Tìm bằng ảnh / Tìm bằng giọng nói</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FAFA"/>
                    </a:solidFill>
                  </a:tcPr>
                </a:tc>
                <a:extLst>
                  <a:ext uri="{0D108BD9-81ED-4DB2-BD59-A6C34878D82A}">
                    <a16:rowId xmlns:a16="http://schemas.microsoft.com/office/drawing/2014/main" val="10003"/>
                  </a:ext>
                </a:extLst>
              </a:tr>
              <a:tr h="274320">
                <a:tc>
                  <a:txBody>
                    <a:bodyPr/>
                    <a:lstStyle/>
                    <a:p>
                      <a:pPr marL="0" indent="0" algn="ctr">
                        <a:buNone/>
                      </a:pPr>
                      <a:r>
                        <a:rPr sz="900" b="1">
                          <a:solidFill>
                            <a:srgbClr val="555555"/>
                          </a:solidFill>
                          <a:latin typeface="Calibri"/>
                        </a:rPr>
                        <a:t>TÊN TÀI LIỆU</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900" b="0">
                          <a:solidFill>
                            <a:srgbClr val="222222"/>
                          </a:solidFill>
                          <a:latin typeface="Calibri"/>
                        </a:rPr>
                        <a:t>SCREEN STORYBOARD — SMART SEARCH</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ctr">
                        <a:buNone/>
                      </a:pPr>
                      <a:r>
                        <a:rPr sz="900" b="1">
                          <a:solidFill>
                            <a:srgbClr val="555555"/>
                          </a:solidFill>
                          <a:latin typeface="Calibri"/>
                        </a:rPr>
                        <a:t>PHIÊN BẢN</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900" b="0">
                          <a:solidFill>
                            <a:srgbClr val="222222"/>
                          </a:solidFill>
                          <a:latin typeface="Calibri"/>
                        </a:rPr>
                        <a:t>v0.1  (2026.08.16)</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FAFA"/>
                    </a:solidFill>
                  </a:tcPr>
                </a:tc>
                <a:extLst>
                  <a:ext uri="{0D108BD9-81ED-4DB2-BD59-A6C34878D82A}">
                    <a16:rowId xmlns:a16="http://schemas.microsoft.com/office/drawing/2014/main" val="10005"/>
                  </a:ext>
                </a:extLst>
              </a:tr>
            </a:tbl>
          </a:graphicData>
        </a:graphic>
      </p:graphicFrame>
      <p:sp>
        <p:nvSpPr>
          <p:cNvPr id="9" name="Shape 6"/>
          <p:cNvSpPr/>
          <p:nvPr/>
        </p:nvSpPr>
        <p:spPr>
          <a:xfrm>
            <a:off x="274320" y="2852928"/>
            <a:ext cx="64008" cy="256032"/>
          </a:xfrm>
          <a:prstGeom prst="rect">
            <a:avLst/>
          </a:prstGeom>
          <a:solidFill>
            <a:srgbClr val="C8102E"/>
          </a:solidFill>
          <a:ln w="12700">
            <a:solidFill>
              <a:srgbClr val="C8102E"/>
            </a:solidFill>
            <a:prstDash val="solid"/>
          </a:ln>
        </p:spPr>
        <p:txBody>
          <a:bodyPr/>
          <a:lstStyle/>
          <a:p>
            <a:endParaRPr lang="en-VN"/>
          </a:p>
        </p:txBody>
      </p:sp>
      <p:sp>
        <p:nvSpPr>
          <p:cNvPr id="10" name="Text 7"/>
          <p:cNvSpPr/>
          <p:nvPr/>
        </p:nvSpPr>
        <p:spPr>
          <a:xfrm>
            <a:off x="402336" y="2852928"/>
            <a:ext cx="5358384" cy="256032"/>
          </a:xfrm>
          <a:prstGeom prst="rect">
            <a:avLst/>
          </a:prstGeom>
          <a:noFill/>
          <a:ln/>
        </p:spPr>
        <p:txBody>
          <a:bodyPr wrap="square" lIns="0" tIns="0" rIns="0" bIns="0" rtlCol="0" anchor="ctr"/>
          <a:lstStyle/>
          <a:p>
            <a:pPr marL="0" indent="0">
              <a:buNone/>
            </a:pPr>
            <a:r>
              <a:rPr sz="1100" b="1">
                <a:solidFill>
                  <a:srgbClr val="222222"/>
                </a:solidFill>
                <a:latin typeface="Calibri"/>
              </a:rPr>
              <a:t>Lịch sử phiên bản</a:t>
            </a:r>
            <a:endParaRPr lang="en-US" sz="1200"/>
          </a:p>
        </p:txBody>
      </p:sp>
      <p:graphicFrame>
        <p:nvGraphicFramePr>
          <p:cNvPr id="11" name="Table 1"/>
          <p:cNvGraphicFramePr>
            <a:graphicFrameLocks noGrp="1"/>
          </p:cNvGraphicFramePr>
          <p:nvPr>
            <p:extLst>
              <p:ext uri="{D42A27DB-BD31-4B8C-83A1-F6EECF244321}">
                <p14:modId xmlns:p14="http://schemas.microsoft.com/office/powerpoint/2010/main" val="3372205086"/>
              </p:ext>
            </p:extLst>
          </p:nvPr>
        </p:nvGraphicFramePr>
        <p:xfrm>
          <a:off x="274320" y="3163824"/>
          <a:ext cx="11612880" cy="1828800"/>
        </p:xfrm>
        <a:graphic>
          <a:graphicData uri="http://schemas.openxmlformats.org/drawingml/2006/table">
            <a:tbl>
              <a:tblPr/>
              <a:tblGrid>
                <a:gridCol w="5029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576072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508760">
                  <a:extLst>
                    <a:ext uri="{9D8B030D-6E8A-4147-A177-3AD203B41FA5}">
                      <a16:colId xmlns:a16="http://schemas.microsoft.com/office/drawing/2014/main" val="20005"/>
                    </a:ext>
                  </a:extLst>
                </a:gridCol>
              </a:tblGrid>
              <a:tr h="365760">
                <a:tc>
                  <a:txBody>
                    <a:bodyPr/>
                    <a:lstStyle/>
                    <a:p>
                      <a:pPr marL="0" indent="0" algn="ctr">
                        <a:buNone/>
                      </a:pPr>
                      <a:r>
                        <a:rPr sz="850" b="1">
                          <a:solidFill>
                            <a:srgbClr val="FFFFFF"/>
                          </a:solidFill>
                          <a:latin typeface="Calibri"/>
                        </a:rPr>
                        <a:t>NO</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50" b="1">
                          <a:solidFill>
                            <a:srgbClr val="FFFFFF"/>
                          </a:solidFill>
                          <a:latin typeface="Calibri"/>
                        </a:rPr>
                        <a:t>Ver.</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50" b="1">
                          <a:solidFill>
                            <a:srgbClr val="FFFFFF"/>
                          </a:solidFill>
                          <a:latin typeface="Calibri"/>
                        </a:rPr>
                        <a:t>Ngày</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50" b="1">
                          <a:solidFill>
                            <a:srgbClr val="FFFFFF"/>
                          </a:solidFill>
                          <a:latin typeface="Calibri"/>
                        </a:rPr>
                        <a:t>Nội dung</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50" b="1">
                          <a:solidFill>
                            <a:srgbClr val="FFFFFF"/>
                          </a:solidFill>
                          <a:latin typeface="Calibri"/>
                        </a:rPr>
                        <a:t>Người lập</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50" b="1">
                          <a:solidFill>
                            <a:srgbClr val="FFFFFF"/>
                          </a:solidFill>
                          <a:latin typeface="Calibri"/>
                        </a:rPr>
                        <a:t>Xác nhận</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365760">
                <a:tc>
                  <a:txBody>
                    <a:bodyPr/>
                    <a:lstStyle/>
                    <a:p>
                      <a:pPr marL="0" indent="0" algn="ctr">
                        <a:buNone/>
                      </a:pPr>
                      <a:r>
                        <a:rPr sz="850" b="0">
                          <a:solidFill>
                            <a:srgbClr val="555555"/>
                          </a:solidFill>
                          <a:latin typeface="Calibri"/>
                        </a:rPr>
                        <a:t>1</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sz="850" b="0">
                          <a:solidFill>
                            <a:srgbClr val="555555"/>
                          </a:solidFill>
                          <a:latin typeface="Calibri"/>
                        </a:rPr>
                        <a:t>0.1</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sz="850" b="0">
                          <a:solidFill>
                            <a:srgbClr val="555555"/>
                          </a:solidFill>
                          <a:latin typeface="Calibri"/>
                        </a:rPr>
                        <a:t>2026.08.16</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sz="850" b="0">
                          <a:solidFill>
                            <a:srgbClr val="555555"/>
                          </a:solidFill>
                          <a:latin typeface="Calibri"/>
                        </a:rPr>
                        <a:t>Khởi tạo — dựng storyboard 19 màn hình từ Figma page “Smart Search”</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sz="850" b="0">
                          <a:solidFill>
                            <a:srgbClr val="555555"/>
                          </a:solidFill>
                          <a:latin typeface="Calibri"/>
                        </a:rPr>
                        <a:t>Thai Bao Ngoc</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sz="850" b="0">
                          <a:solidFill>
                            <a:srgbClr val="555555"/>
                          </a:solidFill>
                          <a:latin typeface="Calibri"/>
                        </a:rPr>
                        <a:t>—</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365760">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sp>
        <p:nvSpPr>
          <p:cNvPr id="12" name="Shape 8"/>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13" name="Text 9"/>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14" name="Text 10"/>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a:t>
            </a:r>
            <a:endParaRPr lang="en-US" sz="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54864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201168" y="0"/>
            <a:ext cx="10058400" cy="548640"/>
          </a:xfrm>
          <a:prstGeom prst="rect">
            <a:avLst/>
          </a:prstGeom>
          <a:noFill/>
          <a:ln/>
        </p:spPr>
        <p:txBody>
          <a:bodyPr wrap="square" lIns="0" tIns="0" rIns="0" bIns="0" rtlCol="0" anchor="ctr"/>
          <a:lstStyle/>
          <a:p>
            <a:pPr marL="0" indent="0">
              <a:buNone/>
            </a:pPr>
            <a:r>
              <a:rPr sz="2200" b="1">
                <a:solidFill>
                  <a:srgbClr val="FFFFFF"/>
                </a:solidFill>
                <a:latin typeface="Calibri"/>
              </a:rPr>
              <a:t>Cách đọc storyboard này</a:t>
            </a:r>
            <a:endParaRPr lang="en-US" sz="1700"/>
          </a:p>
        </p:txBody>
      </p:sp>
      <p:sp>
        <p:nvSpPr>
          <p:cNvPr id="5" name="Text 3"/>
          <p:cNvSpPr/>
          <p:nvPr/>
        </p:nvSpPr>
        <p:spPr>
          <a:xfrm>
            <a:off x="274320" y="621792"/>
            <a:ext cx="11612880" cy="256032"/>
          </a:xfrm>
          <a:prstGeom prst="rect">
            <a:avLst/>
          </a:prstGeom>
          <a:noFill/>
          <a:ln/>
        </p:spPr>
        <p:txBody>
          <a:bodyPr wrap="square" lIns="0" tIns="0" rIns="0" bIns="0" rtlCol="0" anchor="ctr"/>
          <a:lstStyle/>
          <a:p>
            <a:pPr marL="0" indent="0">
              <a:buNone/>
            </a:pPr>
            <a:r>
              <a:rPr sz="1000" b="0">
                <a:solidFill>
                  <a:srgbClr val="555555"/>
                </a:solidFill>
                <a:latin typeface="Calibri"/>
              </a:rPr>
              <a:t>Mỗi slide màn hình dùng chung một bố cục 3 vùng chuẩn, phục vụ truy vết yêu cầu và bàn giao cho đội phát triển.</a:t>
            </a:r>
            <a:endParaRPr lang="en-US" sz="1000"/>
          </a:p>
        </p:txBody>
      </p:sp>
      <p:sp>
        <p:nvSpPr>
          <p:cNvPr id="6" name="Shape 4"/>
          <p:cNvSpPr/>
          <p:nvPr/>
        </p:nvSpPr>
        <p:spPr>
          <a:xfrm>
            <a:off x="274320" y="969264"/>
            <a:ext cx="5029200" cy="438912"/>
          </a:xfrm>
          <a:prstGeom prst="rect">
            <a:avLst/>
          </a:prstGeom>
          <a:solidFill>
            <a:srgbClr val="1E2F6E"/>
          </a:solidFill>
          <a:ln w="9525">
            <a:solidFill>
              <a:srgbClr val="CCCCCC"/>
            </a:solidFill>
            <a:prstDash val="solid"/>
          </a:ln>
        </p:spPr>
        <p:txBody>
          <a:bodyPr/>
          <a:lstStyle/>
          <a:p>
            <a:endParaRPr lang="en-VN"/>
          </a:p>
        </p:txBody>
      </p:sp>
      <p:sp>
        <p:nvSpPr>
          <p:cNvPr id="7" name="Shape 5"/>
          <p:cNvSpPr/>
          <p:nvPr/>
        </p:nvSpPr>
        <p:spPr>
          <a:xfrm>
            <a:off x="274320" y="969264"/>
            <a:ext cx="64008" cy="438912"/>
          </a:xfrm>
          <a:prstGeom prst="rect">
            <a:avLst/>
          </a:prstGeom>
          <a:solidFill>
            <a:srgbClr val="C8102E"/>
          </a:solidFill>
          <a:ln w="12700">
            <a:solidFill>
              <a:srgbClr val="C8102E"/>
            </a:solidFill>
            <a:prstDash val="solid"/>
          </a:ln>
        </p:spPr>
        <p:txBody>
          <a:bodyPr/>
          <a:lstStyle/>
          <a:p>
            <a:endParaRPr lang="en-VN"/>
          </a:p>
        </p:txBody>
      </p:sp>
      <p:sp>
        <p:nvSpPr>
          <p:cNvPr id="8" name="Text 6"/>
          <p:cNvSpPr/>
          <p:nvPr/>
        </p:nvSpPr>
        <p:spPr>
          <a:xfrm>
            <a:off x="457200" y="1005840"/>
            <a:ext cx="4754880" cy="256032"/>
          </a:xfrm>
          <a:prstGeom prst="rect">
            <a:avLst/>
          </a:prstGeom>
          <a:noFill/>
          <a:ln/>
        </p:spPr>
        <p:txBody>
          <a:bodyPr wrap="square" lIns="0" tIns="0" rIns="0" bIns="0" rtlCol="0" anchor="ctr"/>
          <a:lstStyle/>
          <a:p>
            <a:pPr marL="0" indent="0">
              <a:buNone/>
            </a:pPr>
            <a:r>
              <a:rPr sz="1100" b="1">
                <a:solidFill>
                  <a:srgbClr val="FFFFFF"/>
                </a:solidFill>
                <a:latin typeface="Calibri"/>
              </a:rPr>
              <a:t>THANH TIÊU ĐỀ</a:t>
            </a:r>
            <a:endParaRPr lang="en-US" sz="850"/>
          </a:p>
        </p:txBody>
      </p:sp>
      <p:sp>
        <p:nvSpPr>
          <p:cNvPr id="9" name="Text 7"/>
          <p:cNvSpPr/>
          <p:nvPr/>
        </p:nvSpPr>
        <p:spPr>
          <a:xfrm>
            <a:off x="457200" y="1261872"/>
            <a:ext cx="4754880" cy="91440"/>
          </a:xfrm>
          <a:prstGeom prst="rect">
            <a:avLst/>
          </a:prstGeom>
          <a:noFill/>
          <a:ln/>
        </p:spPr>
        <p:txBody>
          <a:bodyPr wrap="square" lIns="0" tIns="0" rIns="0" bIns="0" rtlCol="0" anchor="ctr"/>
          <a:lstStyle/>
          <a:p>
            <a:pPr marL="0" indent="0">
              <a:buNone/>
            </a:pPr>
            <a:r>
              <a:rPr sz="800" b="0">
                <a:solidFill>
                  <a:srgbClr val="FFFFFF"/>
                </a:solidFill>
                <a:latin typeface="Calibri"/>
              </a:rPr>
              <a:t>Module  |  REQ ID  |  Screen ID  |  Tên màn hình  |  Người lập — định danh slide trong dự án.</a:t>
            </a:r>
            <a:endParaRPr lang="en-US" sz="800"/>
          </a:p>
        </p:txBody>
      </p:sp>
      <p:sp>
        <p:nvSpPr>
          <p:cNvPr id="10" name="Shape 8"/>
          <p:cNvSpPr/>
          <p:nvPr/>
        </p:nvSpPr>
        <p:spPr>
          <a:xfrm>
            <a:off x="274320" y="1408176"/>
            <a:ext cx="5029200" cy="1938528"/>
          </a:xfrm>
          <a:prstGeom prst="rect">
            <a:avLst/>
          </a:prstGeom>
          <a:solidFill>
            <a:srgbClr val="F2F2F2"/>
          </a:solidFill>
          <a:ln w="9525">
            <a:solidFill>
              <a:srgbClr val="CCCCCC"/>
            </a:solidFill>
            <a:prstDash val="solid"/>
          </a:ln>
        </p:spPr>
        <p:txBody>
          <a:bodyPr/>
          <a:lstStyle/>
          <a:p>
            <a:endParaRPr lang="en-VN"/>
          </a:p>
        </p:txBody>
      </p:sp>
      <p:sp>
        <p:nvSpPr>
          <p:cNvPr id="11" name="Shape 9"/>
          <p:cNvSpPr/>
          <p:nvPr/>
        </p:nvSpPr>
        <p:spPr>
          <a:xfrm>
            <a:off x="274320" y="1408176"/>
            <a:ext cx="64008" cy="1938528"/>
          </a:xfrm>
          <a:prstGeom prst="rect">
            <a:avLst/>
          </a:prstGeom>
          <a:solidFill>
            <a:srgbClr val="C8102E"/>
          </a:solidFill>
          <a:ln w="12700">
            <a:solidFill>
              <a:srgbClr val="C8102E"/>
            </a:solidFill>
            <a:prstDash val="solid"/>
          </a:ln>
        </p:spPr>
        <p:txBody>
          <a:bodyPr/>
          <a:lstStyle/>
          <a:p>
            <a:endParaRPr lang="en-VN"/>
          </a:p>
        </p:txBody>
      </p:sp>
      <p:sp>
        <p:nvSpPr>
          <p:cNvPr id="12" name="Text 10"/>
          <p:cNvSpPr/>
          <p:nvPr/>
        </p:nvSpPr>
        <p:spPr>
          <a:xfrm>
            <a:off x="457200" y="1444752"/>
            <a:ext cx="4754880" cy="256032"/>
          </a:xfrm>
          <a:prstGeom prst="rect">
            <a:avLst/>
          </a:prstGeom>
          <a:noFill/>
          <a:ln/>
        </p:spPr>
        <p:txBody>
          <a:bodyPr wrap="square" lIns="0" tIns="0" rIns="0" bIns="0" rtlCol="0" anchor="ctr"/>
          <a:lstStyle/>
          <a:p>
            <a:pPr marL="0" indent="0">
              <a:buNone/>
            </a:pPr>
            <a:r>
              <a:rPr sz="1100" b="1">
                <a:solidFill>
                  <a:srgbClr val="222222"/>
                </a:solidFill>
                <a:latin typeface="Calibri"/>
              </a:rPr>
              <a:t>VÙNG TRÁI  —  Mockup màn hình</a:t>
            </a:r>
            <a:endParaRPr lang="en-US" sz="850"/>
          </a:p>
        </p:txBody>
      </p:sp>
      <p:sp>
        <p:nvSpPr>
          <p:cNvPr id="13" name="Text 11"/>
          <p:cNvSpPr/>
          <p:nvPr/>
        </p:nvSpPr>
        <p:spPr>
          <a:xfrm>
            <a:off x="457200" y="1700784"/>
            <a:ext cx="4754880" cy="1591056"/>
          </a:xfrm>
          <a:prstGeom prst="rect">
            <a:avLst/>
          </a:prstGeom>
          <a:noFill/>
          <a:ln/>
        </p:spPr>
        <p:txBody>
          <a:bodyPr wrap="square" lIns="0" tIns="0" rIns="0" bIns="0" rtlCol="0" anchor="ctr"/>
          <a:lstStyle/>
          <a:p>
            <a:r>
              <a:rPr sz="900" b="0" err="1">
                <a:solidFill>
                  <a:srgbClr val="555555"/>
                </a:solidFill>
                <a:latin typeface="Calibri"/>
              </a:rPr>
              <a:t>Ảnh</a:t>
            </a:r>
            <a:r>
              <a:rPr sz="900" b="0">
                <a:solidFill>
                  <a:srgbClr val="555555"/>
                </a:solidFill>
                <a:latin typeface="Calibri"/>
              </a:rPr>
              <a:t> wireframe </a:t>
            </a:r>
            <a:r>
              <a:rPr sz="900" b="0" err="1">
                <a:solidFill>
                  <a:srgbClr val="555555"/>
                </a:solidFill>
                <a:latin typeface="Calibri"/>
              </a:rPr>
              <a:t>được</a:t>
            </a:r>
            <a:r>
              <a:rPr sz="900" b="0">
                <a:solidFill>
                  <a:srgbClr val="555555"/>
                </a:solidFill>
                <a:latin typeface="Calibri"/>
              </a:rPr>
              <a:t> </a:t>
            </a:r>
            <a:r>
              <a:rPr sz="900" b="0" err="1">
                <a:solidFill>
                  <a:srgbClr val="555555"/>
                </a:solidFill>
                <a:latin typeface="Calibri"/>
              </a:rPr>
              <a:t>xuất</a:t>
            </a:r>
            <a:r>
              <a:rPr sz="900" b="0">
                <a:solidFill>
                  <a:srgbClr val="555555"/>
                </a:solidFill>
                <a:latin typeface="Calibri"/>
              </a:rPr>
              <a:t> </a:t>
            </a:r>
            <a:r>
              <a:rPr sz="900" b="0" err="1">
                <a:solidFill>
                  <a:srgbClr val="555555"/>
                </a:solidFill>
                <a:latin typeface="Calibri"/>
              </a:rPr>
              <a:t>trực</a:t>
            </a:r>
            <a:r>
              <a:rPr sz="900" b="0">
                <a:solidFill>
                  <a:srgbClr val="555555"/>
                </a:solidFill>
                <a:latin typeface="Calibri"/>
              </a:rPr>
              <a:t> </a:t>
            </a:r>
            <a:r>
              <a:rPr sz="900" b="0" err="1">
                <a:solidFill>
                  <a:srgbClr val="555555"/>
                </a:solidFill>
                <a:latin typeface="Calibri"/>
              </a:rPr>
              <a:t>tiếp</a:t>
            </a:r>
            <a:r>
              <a:rPr sz="900" b="0">
                <a:solidFill>
                  <a:srgbClr val="555555"/>
                </a:solidFill>
                <a:latin typeface="Calibri"/>
              </a:rPr>
              <a:t> </a:t>
            </a:r>
            <a:r>
              <a:rPr sz="900" b="0" err="1">
                <a:solidFill>
                  <a:srgbClr val="555555"/>
                </a:solidFill>
                <a:latin typeface="Calibri"/>
              </a:rPr>
              <a:t>từ</a:t>
            </a:r>
            <a:r>
              <a:rPr sz="900" b="0">
                <a:solidFill>
                  <a:srgbClr val="555555"/>
                </a:solidFill>
                <a:latin typeface="Calibri"/>
              </a:rPr>
              <a:t> file Figma “</a:t>
            </a:r>
            <a:r>
              <a:rPr lang="en-US" sz="900" b="0">
                <a:solidFill>
                  <a:srgbClr val="555555"/>
                </a:solidFill>
                <a:ea typeface="+mn-lt"/>
                <a:cs typeface="+mn-lt"/>
              </a:rPr>
              <a:t>Checkout </a:t>
            </a:r>
            <a:r>
              <a:rPr lang="en-US" sz="900">
                <a:solidFill>
                  <a:srgbClr val="555555"/>
                </a:solidFill>
                <a:ea typeface="+mn-lt"/>
                <a:cs typeface="+mn-lt"/>
              </a:rPr>
              <a:t>Flow - Review</a:t>
            </a:r>
            <a:r>
              <a:rPr sz="900" b="0">
                <a:solidFill>
                  <a:srgbClr val="555555"/>
                </a:solidFill>
                <a:latin typeface="Calibri"/>
              </a:rPr>
              <a:t>”, page </a:t>
            </a:r>
            <a:r>
              <a:rPr sz="900" b="1">
                <a:solidFill>
                  <a:srgbClr val="555555"/>
                </a:solidFill>
                <a:latin typeface="Calibri"/>
              </a:rPr>
              <a:t>Smart Search</a:t>
            </a:r>
            <a:r>
              <a:rPr sz="900" b="0">
                <a:solidFill>
                  <a:srgbClr val="555555"/>
                </a:solidFill>
                <a:latin typeface="Calibri"/>
              </a:rPr>
              <a:t>.
Các </a:t>
            </a:r>
            <a:r>
              <a:rPr sz="900" b="0" err="1">
                <a:solidFill>
                  <a:srgbClr val="555555"/>
                </a:solidFill>
                <a:latin typeface="Calibri"/>
              </a:rPr>
              <a:t>chấm</a:t>
            </a:r>
            <a:r>
              <a:rPr sz="900" b="0">
                <a:solidFill>
                  <a:srgbClr val="555555"/>
                </a:solidFill>
                <a:latin typeface="Calibri"/>
              </a:rPr>
              <a:t> </a:t>
            </a:r>
            <a:r>
              <a:rPr sz="900" b="0" err="1">
                <a:solidFill>
                  <a:srgbClr val="555555"/>
                </a:solidFill>
                <a:latin typeface="Calibri"/>
              </a:rPr>
              <a:t>đỏ</a:t>
            </a:r>
            <a:r>
              <a:rPr sz="900" b="0">
                <a:solidFill>
                  <a:srgbClr val="555555"/>
                </a:solidFill>
                <a:latin typeface="Calibri"/>
              </a:rPr>
              <a:t> </a:t>
            </a:r>
            <a:r>
              <a:rPr sz="900" b="0" err="1">
                <a:solidFill>
                  <a:srgbClr val="555555"/>
                </a:solidFill>
                <a:latin typeface="Calibri"/>
              </a:rPr>
              <a:t>đánh</a:t>
            </a:r>
            <a:r>
              <a:rPr sz="900" b="0">
                <a:solidFill>
                  <a:srgbClr val="555555"/>
                </a:solidFill>
                <a:latin typeface="Calibri"/>
              </a:rPr>
              <a:t> </a:t>
            </a:r>
            <a:r>
              <a:rPr sz="900" b="0" err="1">
                <a:solidFill>
                  <a:srgbClr val="555555"/>
                </a:solidFill>
                <a:latin typeface="Calibri"/>
              </a:rPr>
              <a:t>dấu</a:t>
            </a:r>
            <a:r>
              <a:rPr sz="900" b="0">
                <a:solidFill>
                  <a:srgbClr val="555555"/>
                </a:solidFill>
                <a:latin typeface="Calibri"/>
              </a:rPr>
              <a:t> </a:t>
            </a:r>
            <a:r>
              <a:rPr sz="900" b="0" err="1">
                <a:solidFill>
                  <a:srgbClr val="555555"/>
                </a:solidFill>
                <a:latin typeface="Calibri"/>
              </a:rPr>
              <a:t>vị</a:t>
            </a:r>
            <a:r>
              <a:rPr sz="900" b="0">
                <a:solidFill>
                  <a:srgbClr val="555555"/>
                </a:solidFill>
                <a:latin typeface="Calibri"/>
              </a:rPr>
              <a:t> </a:t>
            </a:r>
            <a:r>
              <a:rPr sz="900" b="0" err="1">
                <a:solidFill>
                  <a:srgbClr val="555555"/>
                </a:solidFill>
                <a:latin typeface="Calibri"/>
              </a:rPr>
              <a:t>trí</a:t>
            </a:r>
            <a:r>
              <a:rPr sz="900" b="0">
                <a:solidFill>
                  <a:srgbClr val="555555"/>
                </a:solidFill>
                <a:latin typeface="Calibri"/>
              </a:rPr>
              <a:t> </a:t>
            </a:r>
            <a:r>
              <a:rPr sz="900" b="0" err="1">
                <a:solidFill>
                  <a:srgbClr val="555555"/>
                </a:solidFill>
                <a:latin typeface="Calibri"/>
              </a:rPr>
              <a:t>thành</a:t>
            </a:r>
            <a:r>
              <a:rPr sz="900" b="0">
                <a:solidFill>
                  <a:srgbClr val="555555"/>
                </a:solidFill>
                <a:latin typeface="Calibri"/>
              </a:rPr>
              <a:t> </a:t>
            </a:r>
            <a:r>
              <a:rPr sz="900" b="0" err="1">
                <a:solidFill>
                  <a:srgbClr val="555555"/>
                </a:solidFill>
                <a:latin typeface="Calibri"/>
              </a:rPr>
              <a:t>phần</a:t>
            </a:r>
            <a:r>
              <a:rPr sz="900" b="0">
                <a:solidFill>
                  <a:srgbClr val="555555"/>
                </a:solidFill>
                <a:latin typeface="Calibri"/>
              </a:rPr>
              <a:t> </a:t>
            </a:r>
            <a:r>
              <a:rPr sz="900" b="0" err="1">
                <a:solidFill>
                  <a:srgbClr val="555555"/>
                </a:solidFill>
                <a:latin typeface="Calibri"/>
              </a:rPr>
              <a:t>trên</a:t>
            </a:r>
            <a:r>
              <a:rPr sz="900" b="0">
                <a:solidFill>
                  <a:srgbClr val="555555"/>
                </a:solidFill>
                <a:latin typeface="Calibri"/>
              </a:rPr>
              <a:t> </a:t>
            </a:r>
            <a:r>
              <a:rPr sz="900" b="0" err="1">
                <a:solidFill>
                  <a:srgbClr val="555555"/>
                </a:solidFill>
                <a:latin typeface="Calibri"/>
              </a:rPr>
              <a:t>màn</a:t>
            </a:r>
            <a:r>
              <a:rPr sz="900" b="0">
                <a:solidFill>
                  <a:srgbClr val="555555"/>
                </a:solidFill>
                <a:latin typeface="Calibri"/>
              </a:rPr>
              <a:t> </a:t>
            </a:r>
            <a:r>
              <a:rPr sz="900" b="0" err="1">
                <a:solidFill>
                  <a:srgbClr val="555555"/>
                </a:solidFill>
                <a:latin typeface="Calibri"/>
              </a:rPr>
              <a:t>hình</a:t>
            </a:r>
            <a:r>
              <a:rPr sz="900" b="0">
                <a:solidFill>
                  <a:srgbClr val="555555"/>
                </a:solidFill>
                <a:latin typeface="Calibri"/>
              </a:rPr>
              <a:t>, </a:t>
            </a:r>
            <a:r>
              <a:rPr sz="900" b="0" err="1">
                <a:solidFill>
                  <a:srgbClr val="555555"/>
                </a:solidFill>
                <a:latin typeface="Calibri"/>
              </a:rPr>
              <a:t>nối</a:t>
            </a:r>
            <a:r>
              <a:rPr sz="900" b="0">
                <a:solidFill>
                  <a:srgbClr val="555555"/>
                </a:solidFill>
                <a:latin typeface="Calibri"/>
              </a:rPr>
              <a:t> </a:t>
            </a:r>
            <a:r>
              <a:rPr sz="900" b="0" err="1">
                <a:solidFill>
                  <a:srgbClr val="555555"/>
                </a:solidFill>
                <a:latin typeface="Calibri"/>
              </a:rPr>
              <a:t>bằng</a:t>
            </a:r>
            <a:r>
              <a:rPr sz="900" b="0">
                <a:solidFill>
                  <a:srgbClr val="555555"/>
                </a:solidFill>
                <a:latin typeface="Calibri"/>
              </a:rPr>
              <a:t> </a:t>
            </a:r>
            <a:r>
              <a:rPr sz="900" b="0" err="1">
                <a:solidFill>
                  <a:srgbClr val="555555"/>
                </a:solidFill>
                <a:latin typeface="Calibri"/>
              </a:rPr>
              <a:t>nét</a:t>
            </a:r>
            <a:r>
              <a:rPr sz="900" b="0">
                <a:solidFill>
                  <a:srgbClr val="555555"/>
                </a:solidFill>
                <a:latin typeface="Calibri"/>
              </a:rPr>
              <a:t> </a:t>
            </a:r>
            <a:r>
              <a:rPr sz="900" b="0" err="1">
                <a:solidFill>
                  <a:srgbClr val="555555"/>
                </a:solidFill>
                <a:latin typeface="Calibri"/>
              </a:rPr>
              <a:t>đứt</a:t>
            </a:r>
            <a:r>
              <a:rPr sz="900" b="0">
                <a:solidFill>
                  <a:srgbClr val="555555"/>
                </a:solidFill>
                <a:latin typeface="Calibri"/>
              </a:rPr>
              <a:t> </a:t>
            </a:r>
            <a:r>
              <a:rPr sz="900" b="0" err="1">
                <a:solidFill>
                  <a:srgbClr val="555555"/>
                </a:solidFill>
                <a:latin typeface="Calibri"/>
              </a:rPr>
              <a:t>tới</a:t>
            </a:r>
            <a:r>
              <a:rPr sz="900" b="0">
                <a:solidFill>
                  <a:srgbClr val="555555"/>
                </a:solidFill>
                <a:latin typeface="Calibri"/>
              </a:rPr>
              <a:t> </a:t>
            </a:r>
            <a:r>
              <a:rPr sz="900" b="0" err="1">
                <a:solidFill>
                  <a:srgbClr val="555555"/>
                </a:solidFill>
                <a:latin typeface="Calibri"/>
              </a:rPr>
              <a:t>vòng</a:t>
            </a:r>
            <a:r>
              <a:rPr sz="900" b="0">
                <a:solidFill>
                  <a:srgbClr val="555555"/>
                </a:solidFill>
                <a:latin typeface="Calibri"/>
              </a:rPr>
              <a:t> </a:t>
            </a:r>
            <a:r>
              <a:rPr sz="900" b="0" err="1">
                <a:solidFill>
                  <a:srgbClr val="555555"/>
                </a:solidFill>
                <a:latin typeface="Calibri"/>
              </a:rPr>
              <a:t>tròn</a:t>
            </a:r>
            <a:r>
              <a:rPr sz="900" b="0">
                <a:solidFill>
                  <a:srgbClr val="555555"/>
                </a:solidFill>
                <a:latin typeface="Calibri"/>
              </a:rPr>
              <a:t> </a:t>
            </a:r>
            <a:r>
              <a:rPr sz="900" b="0" err="1">
                <a:solidFill>
                  <a:srgbClr val="555555"/>
                </a:solidFill>
                <a:latin typeface="Calibri"/>
              </a:rPr>
              <a:t>số</a:t>
            </a:r>
            <a:r>
              <a:rPr sz="900" b="0">
                <a:solidFill>
                  <a:srgbClr val="555555"/>
                </a:solidFill>
                <a:latin typeface="Calibri"/>
              </a:rPr>
              <a:t> ở </a:t>
            </a:r>
            <a:r>
              <a:rPr sz="900" b="0" err="1">
                <a:solidFill>
                  <a:srgbClr val="555555"/>
                </a:solidFill>
                <a:latin typeface="Calibri"/>
              </a:rPr>
              <a:t>cột</a:t>
            </a:r>
            <a:r>
              <a:rPr sz="900" b="0">
                <a:solidFill>
                  <a:srgbClr val="555555"/>
                </a:solidFill>
                <a:latin typeface="Calibri"/>
              </a:rPr>
              <a:t> </a:t>
            </a:r>
            <a:r>
              <a:rPr sz="900" b="0" err="1">
                <a:solidFill>
                  <a:srgbClr val="555555"/>
                </a:solidFill>
                <a:latin typeface="Calibri"/>
              </a:rPr>
              <a:t>bên</a:t>
            </a:r>
            <a:r>
              <a:rPr sz="900" b="0">
                <a:solidFill>
                  <a:srgbClr val="555555"/>
                </a:solidFill>
                <a:latin typeface="Calibri"/>
              </a:rPr>
              <a:t> </a:t>
            </a:r>
            <a:r>
              <a:rPr sz="900" b="0" err="1">
                <a:solidFill>
                  <a:srgbClr val="555555"/>
                </a:solidFill>
                <a:latin typeface="Calibri"/>
              </a:rPr>
              <a:t>phải</a:t>
            </a:r>
            <a:r>
              <a:rPr sz="900" b="0">
                <a:solidFill>
                  <a:srgbClr val="555555"/>
                </a:solidFill>
                <a:latin typeface="Calibri"/>
              </a:rPr>
              <a:t>. Mỗi </a:t>
            </a:r>
            <a:r>
              <a:rPr sz="900" b="0" err="1">
                <a:solidFill>
                  <a:srgbClr val="555555"/>
                </a:solidFill>
                <a:latin typeface="Calibri"/>
              </a:rPr>
              <a:t>vòng</a:t>
            </a:r>
            <a:r>
              <a:rPr sz="900" b="0">
                <a:solidFill>
                  <a:srgbClr val="555555"/>
                </a:solidFill>
                <a:latin typeface="Calibri"/>
              </a:rPr>
              <a:t> </a:t>
            </a:r>
            <a:r>
              <a:rPr sz="900" b="0" err="1">
                <a:solidFill>
                  <a:srgbClr val="555555"/>
                </a:solidFill>
                <a:latin typeface="Calibri"/>
              </a:rPr>
              <a:t>tròn</a:t>
            </a:r>
            <a:r>
              <a:rPr sz="900" b="0">
                <a:solidFill>
                  <a:srgbClr val="555555"/>
                </a:solidFill>
                <a:latin typeface="Calibri"/>
              </a:rPr>
              <a:t> </a:t>
            </a:r>
            <a:r>
              <a:rPr sz="900" b="0" err="1">
                <a:solidFill>
                  <a:srgbClr val="555555"/>
                </a:solidFill>
                <a:latin typeface="Calibri"/>
              </a:rPr>
              <a:t>số</a:t>
            </a:r>
            <a:r>
              <a:rPr sz="900" b="0">
                <a:solidFill>
                  <a:srgbClr val="555555"/>
                </a:solidFill>
                <a:latin typeface="Calibri"/>
              </a:rPr>
              <a:t> </a:t>
            </a:r>
            <a:r>
              <a:rPr sz="900" b="0" err="1">
                <a:solidFill>
                  <a:srgbClr val="555555"/>
                </a:solidFill>
                <a:latin typeface="Calibri"/>
              </a:rPr>
              <a:t>tương</a:t>
            </a:r>
            <a:r>
              <a:rPr sz="900" b="0">
                <a:solidFill>
                  <a:srgbClr val="555555"/>
                </a:solidFill>
                <a:latin typeface="Calibri"/>
              </a:rPr>
              <a:t> </a:t>
            </a:r>
            <a:r>
              <a:rPr sz="900" b="0" err="1">
                <a:solidFill>
                  <a:srgbClr val="555555"/>
                </a:solidFill>
                <a:latin typeface="Calibri"/>
              </a:rPr>
              <a:t>ứng</a:t>
            </a:r>
            <a:r>
              <a:rPr sz="900" b="0">
                <a:solidFill>
                  <a:srgbClr val="555555"/>
                </a:solidFill>
                <a:latin typeface="Calibri"/>
              </a:rPr>
              <a:t> </a:t>
            </a:r>
            <a:r>
              <a:rPr sz="900" b="0" err="1">
                <a:solidFill>
                  <a:srgbClr val="555555"/>
                </a:solidFill>
                <a:latin typeface="Calibri"/>
              </a:rPr>
              <a:t>đúng</a:t>
            </a:r>
            <a:r>
              <a:rPr sz="900" b="0">
                <a:solidFill>
                  <a:srgbClr val="555555"/>
                </a:solidFill>
                <a:latin typeface="Calibri"/>
              </a:rPr>
              <a:t> </a:t>
            </a:r>
            <a:r>
              <a:rPr sz="900" b="0" err="1">
                <a:solidFill>
                  <a:srgbClr val="555555"/>
                </a:solidFill>
                <a:latin typeface="Calibri"/>
              </a:rPr>
              <a:t>một</a:t>
            </a:r>
            <a:r>
              <a:rPr sz="900" b="0">
                <a:solidFill>
                  <a:srgbClr val="555555"/>
                </a:solidFill>
                <a:latin typeface="Calibri"/>
              </a:rPr>
              <a:t> </a:t>
            </a:r>
            <a:r>
              <a:rPr sz="900" b="0" err="1">
                <a:solidFill>
                  <a:srgbClr val="555555"/>
                </a:solidFill>
                <a:latin typeface="Calibri"/>
              </a:rPr>
              <a:t>dòng</a:t>
            </a:r>
            <a:r>
              <a:rPr sz="900" b="0">
                <a:solidFill>
                  <a:srgbClr val="555555"/>
                </a:solidFill>
                <a:latin typeface="Calibri"/>
              </a:rPr>
              <a:t> </a:t>
            </a:r>
            <a:r>
              <a:rPr sz="900" b="0" err="1">
                <a:solidFill>
                  <a:srgbClr val="555555"/>
                </a:solidFill>
                <a:latin typeface="Calibri"/>
              </a:rPr>
              <a:t>trong</a:t>
            </a:r>
            <a:r>
              <a:rPr sz="900" b="0">
                <a:solidFill>
                  <a:srgbClr val="555555"/>
                </a:solidFill>
                <a:latin typeface="Calibri"/>
              </a:rPr>
              <a:t> </a:t>
            </a:r>
            <a:r>
              <a:rPr sz="900" b="0" err="1">
                <a:solidFill>
                  <a:srgbClr val="555555"/>
                </a:solidFill>
                <a:latin typeface="Calibri"/>
              </a:rPr>
              <a:t>bảng</a:t>
            </a:r>
            <a:r>
              <a:rPr sz="900" b="0">
                <a:solidFill>
                  <a:srgbClr val="555555"/>
                </a:solidFill>
                <a:latin typeface="Calibri"/>
              </a:rPr>
              <a:t> </a:t>
            </a:r>
            <a:r>
              <a:rPr sz="900" b="0" err="1">
                <a:solidFill>
                  <a:srgbClr val="555555"/>
                </a:solidFill>
                <a:latin typeface="Calibri"/>
              </a:rPr>
              <a:t>mô</a:t>
            </a:r>
            <a:r>
              <a:rPr sz="900" b="0">
                <a:solidFill>
                  <a:srgbClr val="555555"/>
                </a:solidFill>
                <a:latin typeface="Calibri"/>
              </a:rPr>
              <a:t> </a:t>
            </a:r>
            <a:r>
              <a:rPr sz="900" b="0" err="1">
                <a:solidFill>
                  <a:srgbClr val="555555"/>
                </a:solidFill>
                <a:latin typeface="Calibri"/>
              </a:rPr>
              <a:t>tả</a:t>
            </a:r>
            <a:r>
              <a:rPr sz="900" b="0">
                <a:solidFill>
                  <a:srgbClr val="555555"/>
                </a:solidFill>
                <a:latin typeface="Calibri"/>
              </a:rPr>
              <a:t>.</a:t>
            </a:r>
            <a:endParaRPr lang="en-US" sz="800"/>
          </a:p>
        </p:txBody>
      </p:sp>
      <p:sp>
        <p:nvSpPr>
          <p:cNvPr id="14" name="Shape 12"/>
          <p:cNvSpPr/>
          <p:nvPr/>
        </p:nvSpPr>
        <p:spPr>
          <a:xfrm>
            <a:off x="274320" y="3346704"/>
            <a:ext cx="5029200" cy="1938528"/>
          </a:xfrm>
          <a:prstGeom prst="rect">
            <a:avLst/>
          </a:prstGeom>
          <a:solidFill>
            <a:srgbClr val="EBF5FB"/>
          </a:solidFill>
          <a:ln w="9525">
            <a:solidFill>
              <a:srgbClr val="CCCCCC"/>
            </a:solidFill>
            <a:prstDash val="solid"/>
          </a:ln>
        </p:spPr>
        <p:txBody>
          <a:bodyPr/>
          <a:lstStyle/>
          <a:p>
            <a:endParaRPr lang="en-VN"/>
          </a:p>
        </p:txBody>
      </p:sp>
      <p:sp>
        <p:nvSpPr>
          <p:cNvPr id="15" name="Shape 13"/>
          <p:cNvSpPr/>
          <p:nvPr/>
        </p:nvSpPr>
        <p:spPr>
          <a:xfrm>
            <a:off x="274320" y="3346704"/>
            <a:ext cx="64008" cy="1938528"/>
          </a:xfrm>
          <a:prstGeom prst="rect">
            <a:avLst/>
          </a:prstGeom>
          <a:solidFill>
            <a:srgbClr val="C8102E"/>
          </a:solidFill>
          <a:ln w="12700">
            <a:solidFill>
              <a:srgbClr val="C8102E"/>
            </a:solidFill>
            <a:prstDash val="solid"/>
          </a:ln>
        </p:spPr>
        <p:txBody>
          <a:bodyPr/>
          <a:lstStyle/>
          <a:p>
            <a:endParaRPr lang="en-VN"/>
          </a:p>
        </p:txBody>
      </p:sp>
      <p:sp>
        <p:nvSpPr>
          <p:cNvPr id="16" name="Text 14"/>
          <p:cNvSpPr/>
          <p:nvPr/>
        </p:nvSpPr>
        <p:spPr>
          <a:xfrm>
            <a:off x="457200" y="3383280"/>
            <a:ext cx="4754880" cy="256032"/>
          </a:xfrm>
          <a:prstGeom prst="rect">
            <a:avLst/>
          </a:prstGeom>
          <a:noFill/>
          <a:ln/>
        </p:spPr>
        <p:txBody>
          <a:bodyPr wrap="square" lIns="0" tIns="0" rIns="0" bIns="0" rtlCol="0" anchor="ctr"/>
          <a:lstStyle/>
          <a:p>
            <a:pPr marL="0" indent="0">
              <a:buNone/>
            </a:pPr>
            <a:r>
              <a:rPr sz="1100" b="1">
                <a:solidFill>
                  <a:srgbClr val="222222"/>
                </a:solidFill>
                <a:latin typeface="Calibri"/>
              </a:rPr>
              <a:t>VÙNG PHẢI  —  Bảng mô tả</a:t>
            </a:r>
            <a:endParaRPr lang="en-US" sz="850"/>
          </a:p>
        </p:txBody>
      </p:sp>
      <p:sp>
        <p:nvSpPr>
          <p:cNvPr id="17" name="Text 15"/>
          <p:cNvSpPr/>
          <p:nvPr/>
        </p:nvSpPr>
        <p:spPr>
          <a:xfrm>
            <a:off x="457200" y="3639312"/>
            <a:ext cx="4754880" cy="1591056"/>
          </a:xfrm>
          <a:prstGeom prst="rect">
            <a:avLst/>
          </a:prstGeom>
          <a:noFill/>
          <a:ln/>
        </p:spPr>
        <p:txBody>
          <a:bodyPr wrap="square" lIns="0" tIns="0" rIns="0" bIns="0" rtlCol="0" anchor="ctr"/>
          <a:lstStyle/>
          <a:p>
            <a:pPr marL="0" indent="0">
              <a:buNone/>
            </a:pPr>
            <a:r>
              <a:rPr sz="900" b="0">
                <a:solidFill>
                  <a:srgbClr val="555555"/>
                </a:solidFill>
                <a:latin typeface="Calibri"/>
              </a:rPr>
              <a:t>Ba cột: STT / Thành phần / Mô tả. Mỗi dòng ứng với một vòng tròn số ở vùng trái. Nội dung gồm: hành vi giao diện, quy tắc hiển thị, thuật toán &amp; nguồn dữ liệu, điều hướng màn hình và ràng buộc nghiệp vụ.</a:t>
            </a:r>
            <a:endParaRPr lang="en-US" sz="800"/>
          </a:p>
        </p:txBody>
      </p:sp>
      <p:sp>
        <p:nvSpPr>
          <p:cNvPr id="18" name="Shape 16"/>
          <p:cNvSpPr/>
          <p:nvPr/>
        </p:nvSpPr>
        <p:spPr>
          <a:xfrm>
            <a:off x="274320" y="5285232"/>
            <a:ext cx="5029200" cy="548640"/>
          </a:xfrm>
          <a:prstGeom prst="rect">
            <a:avLst/>
          </a:prstGeom>
          <a:solidFill>
            <a:srgbClr val="FFFDE7"/>
          </a:solidFill>
          <a:ln w="9525">
            <a:solidFill>
              <a:srgbClr val="CCCCCC"/>
            </a:solidFill>
            <a:prstDash val="solid"/>
          </a:ln>
        </p:spPr>
        <p:txBody>
          <a:bodyPr/>
          <a:lstStyle/>
          <a:p>
            <a:endParaRPr lang="en-VN"/>
          </a:p>
        </p:txBody>
      </p:sp>
      <p:sp>
        <p:nvSpPr>
          <p:cNvPr id="19" name="Shape 17"/>
          <p:cNvSpPr/>
          <p:nvPr/>
        </p:nvSpPr>
        <p:spPr>
          <a:xfrm>
            <a:off x="274320" y="5285232"/>
            <a:ext cx="64008" cy="548640"/>
          </a:xfrm>
          <a:prstGeom prst="rect">
            <a:avLst/>
          </a:prstGeom>
          <a:solidFill>
            <a:srgbClr val="C8102E"/>
          </a:solidFill>
          <a:ln w="12700">
            <a:solidFill>
              <a:srgbClr val="C8102E"/>
            </a:solidFill>
            <a:prstDash val="solid"/>
          </a:ln>
        </p:spPr>
        <p:txBody>
          <a:bodyPr/>
          <a:lstStyle/>
          <a:p>
            <a:endParaRPr lang="en-VN"/>
          </a:p>
        </p:txBody>
      </p:sp>
      <p:sp>
        <p:nvSpPr>
          <p:cNvPr id="20" name="Text 18"/>
          <p:cNvSpPr/>
          <p:nvPr/>
        </p:nvSpPr>
        <p:spPr>
          <a:xfrm>
            <a:off x="457200" y="5321808"/>
            <a:ext cx="4754880" cy="256032"/>
          </a:xfrm>
          <a:prstGeom prst="rect">
            <a:avLst/>
          </a:prstGeom>
          <a:noFill/>
          <a:ln/>
        </p:spPr>
        <p:txBody>
          <a:bodyPr wrap="square" lIns="0" tIns="0" rIns="0" bIns="0" rtlCol="0" anchor="ctr"/>
          <a:lstStyle/>
          <a:p>
            <a:pPr marL="0" indent="0">
              <a:buNone/>
            </a:pPr>
            <a:r>
              <a:rPr sz="1100" b="1">
                <a:solidFill>
                  <a:srgbClr val="222222"/>
                </a:solidFill>
                <a:latin typeface="Calibri"/>
              </a:rPr>
              <a:t>VÙNG DƯỚI  —  Ghi chú</a:t>
            </a:r>
            <a:endParaRPr lang="en-US" sz="850"/>
          </a:p>
        </p:txBody>
      </p:sp>
      <p:sp>
        <p:nvSpPr>
          <p:cNvPr id="21" name="Text 19"/>
          <p:cNvSpPr/>
          <p:nvPr/>
        </p:nvSpPr>
        <p:spPr>
          <a:xfrm>
            <a:off x="457200" y="5577840"/>
            <a:ext cx="4754880" cy="201168"/>
          </a:xfrm>
          <a:prstGeom prst="rect">
            <a:avLst/>
          </a:prstGeom>
          <a:noFill/>
          <a:ln/>
        </p:spPr>
        <p:txBody>
          <a:bodyPr wrap="square" lIns="0" tIns="0" rIns="0" bIns="0" rtlCol="0" anchor="ctr"/>
          <a:lstStyle/>
          <a:p>
            <a:pPr marL="0" indent="0">
              <a:buNone/>
            </a:pPr>
            <a:r>
              <a:rPr sz="900" b="0">
                <a:solidFill>
                  <a:srgbClr val="555555"/>
                </a:solidFill>
                <a:latin typeface="Calibri"/>
              </a:rPr>
              <a:t>Ràng buộc quan trọng, trường hợp biên, gap thiết kế hoặc mục cần chốt của riêng màn hình đó.</a:t>
            </a:r>
            <a:endParaRPr lang="en-US" sz="800"/>
          </a:p>
        </p:txBody>
      </p:sp>
      <p:sp>
        <p:nvSpPr>
          <p:cNvPr id="22" name="Shape 20"/>
          <p:cNvSpPr/>
          <p:nvPr/>
        </p:nvSpPr>
        <p:spPr>
          <a:xfrm>
            <a:off x="5577840" y="969264"/>
            <a:ext cx="64008" cy="256032"/>
          </a:xfrm>
          <a:prstGeom prst="rect">
            <a:avLst/>
          </a:prstGeom>
          <a:solidFill>
            <a:srgbClr val="C8102E"/>
          </a:solidFill>
          <a:ln w="12700">
            <a:solidFill>
              <a:srgbClr val="C8102E"/>
            </a:solidFill>
            <a:prstDash val="solid"/>
          </a:ln>
        </p:spPr>
        <p:txBody>
          <a:bodyPr/>
          <a:lstStyle/>
          <a:p>
            <a:endParaRPr lang="en-VN"/>
          </a:p>
        </p:txBody>
      </p:sp>
      <p:sp>
        <p:nvSpPr>
          <p:cNvPr id="23" name="Text 21"/>
          <p:cNvSpPr/>
          <p:nvPr/>
        </p:nvSpPr>
        <p:spPr>
          <a:xfrm>
            <a:off x="5705856" y="969264"/>
            <a:ext cx="6272784" cy="256032"/>
          </a:xfrm>
          <a:prstGeom prst="rect">
            <a:avLst/>
          </a:prstGeom>
          <a:noFill/>
          <a:ln/>
        </p:spPr>
        <p:txBody>
          <a:bodyPr wrap="square" lIns="0" tIns="0" rIns="0" bIns="0" rtlCol="0" anchor="ctr"/>
          <a:lstStyle/>
          <a:p>
            <a:pPr marL="0" indent="0">
              <a:buNone/>
            </a:pPr>
            <a:r>
              <a:rPr sz="1100" b="1">
                <a:solidFill>
                  <a:srgbClr val="222222"/>
                </a:solidFill>
                <a:latin typeface="Calibri"/>
              </a:rPr>
              <a:t>Ký hiệu chú giải</a:t>
            </a:r>
            <a:endParaRPr lang="en-US" sz="120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577840" y="1280160"/>
          <a:ext cx="6400800" cy="2962656"/>
        </p:xfrm>
        <a:graphic>
          <a:graphicData uri="http://schemas.openxmlformats.org/drawingml/2006/table">
            <a:tbl>
              <a:tblPr/>
              <a:tblGrid>
                <a:gridCol w="5486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493776">
                <a:tc>
                  <a:txBody>
                    <a:bodyPr/>
                    <a:lstStyle/>
                    <a:p>
                      <a:pPr marL="0" indent="0" algn="ctr">
                        <a:buNone/>
                      </a:pPr>
                      <a:r>
                        <a:rPr sz="850" b="1">
                          <a:solidFill>
                            <a:srgbClr val="FFFFFF"/>
                          </a:solidFill>
                          <a:latin typeface="Calibri"/>
                        </a:rPr>
                        <a:t>Ký hiệu</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50" b="1">
                          <a:solidFill>
                            <a:srgbClr val="FFFFFF"/>
                          </a:solidFill>
                          <a:latin typeface="Calibri"/>
                        </a:rPr>
                        <a:t>Thành phần</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50" b="1">
                          <a:solidFill>
                            <a:srgbClr val="FFFFFF"/>
                          </a:solidFill>
                          <a:latin typeface="Calibri"/>
                        </a:rPr>
                        <a:t>Diễn giải</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493776">
                <a:tc>
                  <a:txBody>
                    <a:bodyPr/>
                    <a:lstStyle/>
                    <a:p>
                      <a:pPr marL="0" indent="0" algn="ctr">
                        <a:buNone/>
                      </a:pPr>
                      <a:r>
                        <a:rPr sz="850" b="1">
                          <a:solidFill>
                            <a:srgbClr val="C8102E"/>
                          </a:solidFill>
                          <a:latin typeface="Calibri"/>
                        </a:rPr>
                        <a:t>①</a:t>
                      </a:r>
                      <a:endParaRPr lang="en-US" sz="14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50" b="0">
                          <a:solidFill>
                            <a:srgbClr val="555555"/>
                          </a:solidFill>
                          <a:latin typeface="Calibri"/>
                        </a:rPr>
                        <a:t>Đánh dấu chú giải</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50" b="0">
                          <a:solidFill>
                            <a:srgbClr val="555555"/>
                          </a:solidFill>
                          <a:latin typeface="Calibri"/>
                        </a:rPr>
                        <a:t>Vòng tròn đỏ đánh số, nối bằng nét đứt tới đúng thành phần trên mockup. Số trùng với số dòng trong bảng mô tả.</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marL="0" indent="0" algn="ctr">
                        <a:buNone/>
                      </a:pPr>
                      <a:r>
                        <a:rPr sz="850" b="1">
                          <a:solidFill>
                            <a:srgbClr val="C8102E"/>
                          </a:solidFill>
                          <a:latin typeface="Calibri"/>
                        </a:rPr>
                        <a:t>*</a:t>
                      </a:r>
                      <a:endParaRPr lang="en-US" sz="14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50" b="0">
                          <a:solidFill>
                            <a:srgbClr val="555555"/>
                          </a:solidFill>
                          <a:latin typeface="Calibri"/>
                        </a:rPr>
                        <a:t>Trường bắt buộc</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50" b="0">
                          <a:solidFill>
                            <a:srgbClr val="555555"/>
                          </a:solidFill>
                          <a:latin typeface="Calibri"/>
                        </a:rPr>
                        <a:t>Dấu sao trên nhãn trường = bắt buộc nhập. Không gửi được form khi còn trường bắt buộc bỏ trống.</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93776">
                <a:tc>
                  <a:txBody>
                    <a:bodyPr/>
                    <a:lstStyle/>
                    <a:p>
                      <a:pPr marL="0" indent="0" algn="ctr">
                        <a:buNone/>
                      </a:pPr>
                      <a:r>
                        <a:rPr sz="850" b="1">
                          <a:solidFill>
                            <a:srgbClr val="C8102E"/>
                          </a:solidFill>
                          <a:latin typeface="Calibri"/>
                        </a:rPr>
                        <a:t>▼</a:t>
                      </a:r>
                      <a:endParaRPr lang="en-US" sz="14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50" b="0">
                          <a:solidFill>
                            <a:srgbClr val="555555"/>
                          </a:solidFill>
                          <a:latin typeface="Calibri"/>
                        </a:rPr>
                        <a:t>Danh sách chọn</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50" b="0">
                          <a:solidFill>
                            <a:srgbClr val="555555"/>
                          </a:solidFill>
                          <a:latin typeface="Calibri"/>
                        </a:rPr>
                        <a:t>Mở ra danh sách lựa chọn; có thể kèm khả năng tìm kiếm/lọc trong danh sách.</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marL="0" indent="0" algn="ctr">
                        <a:buNone/>
                      </a:pPr>
                      <a:r>
                        <a:rPr sz="850" b="1">
                          <a:solidFill>
                            <a:srgbClr val="C8102E"/>
                          </a:solidFill>
                          <a:latin typeface="Calibri"/>
                        </a:rPr>
                        <a:t>⚠</a:t>
                      </a:r>
                      <a:endParaRPr lang="en-US" sz="14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50" b="0">
                          <a:solidFill>
                            <a:srgbClr val="555555"/>
                          </a:solidFill>
                          <a:latin typeface="Calibri"/>
                        </a:rPr>
                        <a:t>Quy tắc kiểm tra</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50" b="0">
                          <a:solidFill>
                            <a:srgbClr val="555555"/>
                          </a:solidFill>
                          <a:latin typeface="Calibri"/>
                        </a:rPr>
                        <a:t>Quy tắc hoặc ràng buộc nghiệp vụ áp cho trường / hành động (ví dụ: ngưỡng, định dạng, kiểm tra trùng, phân quyền).</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493776">
                <a:tc>
                  <a:txBody>
                    <a:bodyPr/>
                    <a:lstStyle/>
                    <a:p>
                      <a:pPr marL="0" indent="0" algn="ctr">
                        <a:buNone/>
                      </a:pPr>
                      <a:r>
                        <a:rPr sz="850" b="1">
                          <a:solidFill>
                            <a:srgbClr val="C8102E"/>
                          </a:solidFill>
                          <a:latin typeface="Calibri"/>
                        </a:rPr>
                        <a:t>→</a:t>
                      </a:r>
                      <a:endParaRPr lang="en-US" sz="14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50" b="0">
                          <a:solidFill>
                            <a:srgbClr val="555555"/>
                          </a:solidFill>
                          <a:latin typeface="Calibri"/>
                        </a:rPr>
                        <a:t>Luồng điều hướng</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50" b="0">
                          <a:solidFill>
                            <a:srgbClr val="555555"/>
                          </a:solidFill>
                          <a:latin typeface="Calibri"/>
                        </a:rPr>
                        <a:t>Chuyển màn hình hoặc chuyển trạng thái được kích hoạt bởi thao tác của người dùng.</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hape 22"/>
          <p:cNvSpPr/>
          <p:nvPr/>
        </p:nvSpPr>
        <p:spPr>
          <a:xfrm>
            <a:off x="5577840" y="4343400"/>
            <a:ext cx="64008" cy="256032"/>
          </a:xfrm>
          <a:prstGeom prst="rect">
            <a:avLst/>
          </a:prstGeom>
          <a:solidFill>
            <a:srgbClr val="C8102E"/>
          </a:solidFill>
          <a:ln w="12700">
            <a:solidFill>
              <a:srgbClr val="C8102E"/>
            </a:solidFill>
            <a:prstDash val="solid"/>
          </a:ln>
        </p:spPr>
        <p:txBody>
          <a:bodyPr/>
          <a:lstStyle/>
          <a:p>
            <a:endParaRPr lang="en-VN"/>
          </a:p>
        </p:txBody>
      </p:sp>
      <p:sp>
        <p:nvSpPr>
          <p:cNvPr id="26" name="Text 23"/>
          <p:cNvSpPr/>
          <p:nvPr/>
        </p:nvSpPr>
        <p:spPr>
          <a:xfrm>
            <a:off x="5705856" y="4343400"/>
            <a:ext cx="6272784" cy="256032"/>
          </a:xfrm>
          <a:prstGeom prst="rect">
            <a:avLst/>
          </a:prstGeom>
          <a:noFill/>
          <a:ln/>
        </p:spPr>
        <p:txBody>
          <a:bodyPr wrap="square" lIns="0" tIns="0" rIns="0" bIns="0" rtlCol="0" anchor="ctr"/>
          <a:lstStyle/>
          <a:p>
            <a:pPr marL="0" indent="0">
              <a:buNone/>
            </a:pPr>
            <a:r>
              <a:rPr sz="1100" b="1">
                <a:solidFill>
                  <a:srgbClr val="222222"/>
                </a:solidFill>
                <a:latin typeface="Calibri"/>
              </a:rPr>
              <a:t>Bảng mô tả — hướng dẫn cột</a:t>
            </a:r>
            <a:endParaRPr lang="en-US" sz="120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5577840" y="4654296"/>
          <a:ext cx="6400800" cy="1828800"/>
        </p:xfrm>
        <a:graphic>
          <a:graphicData uri="http://schemas.openxmlformats.org/drawingml/2006/table">
            <a:tbl>
              <a:tblPr/>
              <a:tblGrid>
                <a:gridCol w="109728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457200">
                <a:tc>
                  <a:txBody>
                    <a:bodyPr/>
                    <a:lstStyle/>
                    <a:p>
                      <a:pPr marL="0" indent="0" algn="ctr">
                        <a:buNone/>
                      </a:pPr>
                      <a:r>
                        <a:rPr sz="850" b="1">
                          <a:solidFill>
                            <a:srgbClr val="FFFFFF"/>
                          </a:solidFill>
                          <a:latin typeface="Calibri"/>
                        </a:rPr>
                        <a:t>Cột</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50" b="1">
                          <a:solidFill>
                            <a:srgbClr val="FFFFFF"/>
                          </a:solidFill>
                          <a:latin typeface="Calibri"/>
                        </a:rPr>
                        <a:t>Nội dung</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457200">
                <a:tc>
                  <a:txBody>
                    <a:bodyPr/>
                    <a:lstStyle/>
                    <a:p>
                      <a:pPr marL="0" indent="0" algn="ctr">
                        <a:buNone/>
                      </a:pPr>
                      <a:r>
                        <a:rPr sz="850" b="1">
                          <a:solidFill>
                            <a:srgbClr val="555555"/>
                          </a:solidFill>
                          <a:latin typeface="Calibri"/>
                        </a:rPr>
                        <a:t>STT</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50" b="0">
                          <a:solidFill>
                            <a:srgbClr val="555555"/>
                          </a:solidFill>
                          <a:latin typeface="Calibri"/>
                        </a:rPr>
                        <a:t>Số thứ tự chú giải, trùng với vòng tròn đỏ trên mockup.</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sz="850" b="1">
                          <a:solidFill>
                            <a:srgbClr val="555555"/>
                          </a:solidFill>
                          <a:latin typeface="Calibri"/>
                        </a:rPr>
                        <a:t>Thành phần</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50" b="0">
                          <a:solidFill>
                            <a:srgbClr val="555555"/>
                          </a:solidFill>
                          <a:latin typeface="Calibri"/>
                        </a:rPr>
                        <a:t>Tên thành phần giao diện, trường, nút hoặc khối được mô tả.</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57200">
                <a:tc>
                  <a:txBody>
                    <a:bodyPr/>
                    <a:lstStyle/>
                    <a:p>
                      <a:pPr marL="0" indent="0" algn="ctr">
                        <a:buNone/>
                      </a:pPr>
                      <a:r>
                        <a:rPr sz="850" b="1">
                          <a:solidFill>
                            <a:srgbClr val="555555"/>
                          </a:solidFill>
                          <a:latin typeface="Calibri"/>
                        </a:rPr>
                        <a:t>Mô tả</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50" b="0">
                          <a:solidFill>
                            <a:srgbClr val="555555"/>
                          </a:solidFill>
                          <a:latin typeface="Calibri"/>
                        </a:rPr>
                        <a:t>Hành vi, quy tắc hiển thị, thuật toán &amp; nguồn dữ liệu, điều hướng và ràng buộc nghiệp vụ.</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8" name="Shape 2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29" name="Text 2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0" name="Text 2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2</a:t>
            </a:r>
            <a:endParaRPr lang="en-US" sz="7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54864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201168" y="0"/>
            <a:ext cx="10058400" cy="548640"/>
          </a:xfrm>
          <a:prstGeom prst="rect">
            <a:avLst/>
          </a:prstGeom>
          <a:noFill/>
          <a:ln/>
        </p:spPr>
        <p:txBody>
          <a:bodyPr wrap="square" lIns="0" tIns="0" rIns="0" bIns="0" rtlCol="0" anchor="ctr"/>
          <a:lstStyle/>
          <a:p>
            <a:pPr marL="0" indent="0">
              <a:buNone/>
            </a:pPr>
            <a:r>
              <a:rPr sz="2200" b="1">
                <a:solidFill>
                  <a:srgbClr val="FFFFFF"/>
                </a:solidFill>
                <a:latin typeface="Calibri"/>
              </a:rPr>
              <a:t>1. Mục tiêu nghiệp vụ &amp; Phạm vi storyboard</a:t>
            </a:r>
            <a:endParaRPr lang="en-US" sz="1700"/>
          </a:p>
        </p:txBody>
      </p:sp>
      <p:sp>
        <p:nvSpPr>
          <p:cNvPr id="28" name="Shape 2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29" name="Text 2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0" name="Text 2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3</a:t>
            </a:r>
            <a:endParaRPr lang="en-US" sz="700"/>
          </a:p>
        </p:txBody>
      </p:sp>
      <p:sp>
        <p:nvSpPr>
          <p:cNvPr id="31" name="TextBox 30"/>
          <p:cNvSpPr txBox="1"/>
          <p:nvPr/>
        </p:nvSpPr>
        <p:spPr>
          <a:xfrm>
            <a:off x="274320" y="621792"/>
            <a:ext cx="11612880" cy="256032"/>
          </a:xfrm>
          <a:prstGeom prst="rect">
            <a:avLst/>
          </a:prstGeom>
          <a:noFill/>
        </p:spPr>
        <p:txBody>
          <a:bodyPr wrap="square" lIns="0" tIns="0" rIns="0" bIns="0" anchor="t">
            <a:spAutoFit/>
          </a:bodyPr>
          <a:lstStyle/>
          <a:p>
            <a:pPr algn="l"/>
            <a:r>
              <a:rPr sz="1000" b="0">
                <a:solidFill>
                  <a:srgbClr val="555555"/>
                </a:solidFill>
                <a:latin typeface="Calibri"/>
              </a:rPr>
              <a:t>Smart Search là điểm vào của toàn bộ hành trình mua sắm trên app. Storyboard này đặc tả 19 màn hình thuộc 3 phương thức tìm kiếm, dựng trực tiếp từ file wireframe Figma của dự án.</a:t>
            </a:r>
          </a:p>
        </p:txBody>
      </p:sp>
      <p:sp>
        <p:nvSpPr>
          <p:cNvPr id="32" name="Rectangle 31"/>
          <p:cNvSpPr/>
          <p:nvPr/>
        </p:nvSpPr>
        <p:spPr>
          <a:xfrm>
            <a:off x="274320" y="1000000"/>
            <a:ext cx="2810000" cy="205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3" name="Rectangle 32"/>
          <p:cNvSpPr/>
          <p:nvPr/>
        </p:nvSpPr>
        <p:spPr>
          <a:xfrm>
            <a:off x="274320" y="1000000"/>
            <a:ext cx="2810000" cy="32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FFFFFF"/>
                </a:solidFill>
                <a:latin typeface="Calibri"/>
              </a:rPr>
              <a:t>1. Rút ngắn đường tới sản phẩm</a:t>
            </a:r>
          </a:p>
        </p:txBody>
      </p:sp>
      <p:sp>
        <p:nvSpPr>
          <p:cNvPr id="34" name="TextBox 33"/>
          <p:cNvSpPr txBox="1"/>
          <p:nvPr/>
        </p:nvSpPr>
        <p:spPr>
          <a:xfrm>
            <a:off x="384320" y="1410000"/>
            <a:ext cx="2590000" cy="1570000"/>
          </a:xfrm>
          <a:prstGeom prst="rect">
            <a:avLst/>
          </a:prstGeom>
          <a:noFill/>
        </p:spPr>
        <p:txBody>
          <a:bodyPr wrap="square" lIns="0" tIns="0" rIns="0" bIns="0" anchor="t">
            <a:spAutoFit/>
          </a:bodyPr>
          <a:lstStyle/>
          <a:p>
            <a:pPr algn="l"/>
            <a:r>
              <a:rPr sz="900" b="0">
                <a:solidFill>
                  <a:srgbClr val="555555"/>
                </a:solidFill>
                <a:latin typeface="Calibri"/>
              </a:rPr>
              <a:t>Khách FMCG mua lặp lại: “Thường mua”, “Tìm kiếm gần đây” và nút thêm nhanh cho phép mua lại nhu yếu phẩm mà không cần thực sự tìm kiếm.</a:t>
            </a:r>
          </a:p>
          <a:p>
            <a:pPr algn="l"/>
            <a:r>
              <a:rPr sz="800" b="1">
                <a:solidFill>
                  <a:srgbClr val="C8102E"/>
                </a:solidFill>
                <a:latin typeface="Calibri"/>
              </a:rPr>
              <a:t>Màn hình: </a:t>
            </a:r>
            <a:r>
              <a:rPr sz="800" b="0">
                <a:solidFill>
                  <a:srgbClr val="C8102E"/>
                </a:solidFill>
                <a:latin typeface="Calibri"/>
              </a:rPr>
              <a:t>SS-SCR-001, 011</a:t>
            </a:r>
          </a:p>
        </p:txBody>
      </p:sp>
      <p:sp>
        <p:nvSpPr>
          <p:cNvPr id="35" name="Rectangle 34"/>
          <p:cNvSpPr/>
          <p:nvPr/>
        </p:nvSpPr>
        <p:spPr>
          <a:xfrm>
            <a:off x="3194320" y="1000000"/>
            <a:ext cx="2810000" cy="205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6" name="Rectangle 35"/>
          <p:cNvSpPr/>
          <p:nvPr/>
        </p:nvSpPr>
        <p:spPr>
          <a:xfrm>
            <a:off x="3194320" y="1000000"/>
            <a:ext cx="2810000" cy="32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FFFFFF"/>
                </a:solidFill>
                <a:latin typeface="Calibri"/>
              </a:rPr>
              <a:t>2. Giảm ma sát khi nhập liệu</a:t>
            </a:r>
          </a:p>
        </p:txBody>
      </p:sp>
      <p:sp>
        <p:nvSpPr>
          <p:cNvPr id="37" name="TextBox 36"/>
          <p:cNvSpPr txBox="1"/>
          <p:nvPr/>
        </p:nvSpPr>
        <p:spPr>
          <a:xfrm>
            <a:off x="3304320" y="1410000"/>
            <a:ext cx="2590000" cy="1570000"/>
          </a:xfrm>
          <a:prstGeom prst="rect">
            <a:avLst/>
          </a:prstGeom>
          <a:noFill/>
        </p:spPr>
        <p:txBody>
          <a:bodyPr wrap="square" lIns="0" tIns="0" rIns="0" bIns="0" anchor="t">
            <a:spAutoFit/>
          </a:bodyPr>
          <a:lstStyle/>
          <a:p>
            <a:pPr algn="l"/>
            <a:r>
              <a:rPr sz="900" b="0">
                <a:solidFill>
                  <a:srgbClr val="555555"/>
                </a:solidFill>
                <a:latin typeface="Calibri"/>
              </a:rPr>
              <a:t>Autocomplete với debounce 300ms, tự phát hiện lỗi chính tả và ba phương thức nhập (chữ / ảnh / giọng nói) cho mọi ngữ cảnh mua sắm.</a:t>
            </a:r>
          </a:p>
          <a:p>
            <a:pPr algn="l"/>
            <a:r>
              <a:rPr sz="800" b="1">
                <a:solidFill>
                  <a:srgbClr val="C8102E"/>
                </a:solidFill>
                <a:latin typeface="Calibri"/>
              </a:rPr>
              <a:t>Màn hình: </a:t>
            </a:r>
            <a:r>
              <a:rPr sz="800" b="0">
                <a:solidFill>
                  <a:srgbClr val="C8102E"/>
                </a:solidFill>
                <a:latin typeface="Calibri"/>
              </a:rPr>
              <a:t>SS-SCR-002, 003, 013, 017</a:t>
            </a:r>
          </a:p>
        </p:txBody>
      </p:sp>
      <p:sp>
        <p:nvSpPr>
          <p:cNvPr id="38" name="Rectangle 37"/>
          <p:cNvSpPr/>
          <p:nvPr/>
        </p:nvSpPr>
        <p:spPr>
          <a:xfrm>
            <a:off x="6114320" y="1000000"/>
            <a:ext cx="2810000" cy="205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9" name="Rectangle 38"/>
          <p:cNvSpPr/>
          <p:nvPr/>
        </p:nvSpPr>
        <p:spPr>
          <a:xfrm>
            <a:off x="6114320" y="1000000"/>
            <a:ext cx="2810000" cy="32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FFFFFF"/>
                </a:solidFill>
                <a:latin typeface="Calibri"/>
              </a:rPr>
              <a:t>3. Trả kết quả đúng &amp; minh bạch</a:t>
            </a:r>
          </a:p>
        </p:txBody>
      </p:sp>
      <p:sp>
        <p:nvSpPr>
          <p:cNvPr id="40" name="TextBox 39"/>
          <p:cNvSpPr txBox="1"/>
          <p:nvPr/>
        </p:nvSpPr>
        <p:spPr>
          <a:xfrm>
            <a:off x="6224320" y="1410000"/>
            <a:ext cx="2590000" cy="1570000"/>
          </a:xfrm>
          <a:prstGeom prst="rect">
            <a:avLst/>
          </a:prstGeom>
          <a:noFill/>
        </p:spPr>
        <p:txBody>
          <a:bodyPr wrap="square" lIns="0" tIns="0" rIns="0" bIns="0" anchor="t">
            <a:spAutoFit/>
          </a:bodyPr>
          <a:lstStyle/>
          <a:p>
            <a:pPr algn="l"/>
            <a:r>
              <a:rPr sz="900" b="0">
                <a:solidFill>
                  <a:srgbClr val="555555"/>
                </a:solidFill>
                <a:latin typeface="Calibri"/>
              </a:rPr>
              <a:t>Xếp hạng theo độ liên quan, lọc nhanh theo thuộc tính cốt lõi, nhãn Sponsored bắt buộc theo yêu cầu minh bạch quảng cáo.</a:t>
            </a:r>
          </a:p>
          <a:p>
            <a:pPr algn="l"/>
            <a:r>
              <a:rPr sz="800" b="1">
                <a:solidFill>
                  <a:srgbClr val="C8102E"/>
                </a:solidFill>
                <a:latin typeface="Calibri"/>
              </a:rPr>
              <a:t>Màn hình: </a:t>
            </a:r>
            <a:r>
              <a:rPr sz="800" b="0">
                <a:solidFill>
                  <a:srgbClr val="C8102E"/>
                </a:solidFill>
                <a:latin typeface="Calibri"/>
              </a:rPr>
              <a:t>SS-SCR-005 → 010</a:t>
            </a:r>
          </a:p>
        </p:txBody>
      </p:sp>
      <p:sp>
        <p:nvSpPr>
          <p:cNvPr id="41" name="Rectangle 40"/>
          <p:cNvSpPr/>
          <p:nvPr/>
        </p:nvSpPr>
        <p:spPr>
          <a:xfrm>
            <a:off x="9034320" y="1000000"/>
            <a:ext cx="2810000" cy="205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42" name="Rectangle 41"/>
          <p:cNvSpPr/>
          <p:nvPr/>
        </p:nvSpPr>
        <p:spPr>
          <a:xfrm>
            <a:off x="9034320" y="1000000"/>
            <a:ext cx="2810000" cy="32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FFFFFF"/>
                </a:solidFill>
                <a:latin typeface="Calibri"/>
              </a:rPr>
              <a:t>4. Không bao giờ có trang trắng</a:t>
            </a:r>
          </a:p>
        </p:txBody>
      </p:sp>
      <p:sp>
        <p:nvSpPr>
          <p:cNvPr id="43" name="TextBox 42"/>
          <p:cNvSpPr txBox="1"/>
          <p:nvPr/>
        </p:nvSpPr>
        <p:spPr>
          <a:xfrm>
            <a:off x="9144320" y="1410000"/>
            <a:ext cx="2590000" cy="1570000"/>
          </a:xfrm>
          <a:prstGeom prst="rect">
            <a:avLst/>
          </a:prstGeom>
          <a:noFill/>
        </p:spPr>
        <p:txBody>
          <a:bodyPr wrap="square" lIns="0" tIns="0" rIns="0" bIns="0" anchor="t">
            <a:spAutoFit/>
          </a:bodyPr>
          <a:lstStyle/>
          <a:p>
            <a:pPr algn="l"/>
            <a:r>
              <a:rPr sz="900" b="0">
                <a:solidFill>
                  <a:srgbClr val="555555"/>
                </a:solidFill>
                <a:latin typeface="Calibri"/>
              </a:rPr>
              <a:t>Ba tầng cứu luồng: sửa chính tả → sản phẩm thay thế &amp; bán kèm → hàng bán chạy. Mọi trạng thái lỗi đều có đường thoát.</a:t>
            </a:r>
          </a:p>
          <a:p>
            <a:pPr algn="l"/>
            <a:r>
              <a:rPr sz="800" b="1">
                <a:solidFill>
                  <a:srgbClr val="C8102E"/>
                </a:solidFill>
                <a:latin typeface="Calibri"/>
              </a:rPr>
              <a:t>Màn hình: </a:t>
            </a:r>
            <a:r>
              <a:rPr sz="800" b="0">
                <a:solidFill>
                  <a:srgbClr val="C8102E"/>
                </a:solidFill>
                <a:latin typeface="Calibri"/>
              </a:rPr>
              <a:t>SS-SCR-003, 012, 016, 019</a:t>
            </a:r>
          </a:p>
        </p:txBody>
      </p:sp>
      <p:sp>
        <p:nvSpPr>
          <p:cNvPr id="44" name="TextBox 43"/>
          <p:cNvSpPr txBox="1"/>
          <p:nvPr/>
        </p:nvSpPr>
        <p:spPr>
          <a:xfrm>
            <a:off x="274320" y="3250000"/>
            <a:ext cx="11612880" cy="256032"/>
          </a:xfrm>
          <a:prstGeom prst="rect">
            <a:avLst/>
          </a:prstGeom>
          <a:noFill/>
        </p:spPr>
        <p:txBody>
          <a:bodyPr wrap="square" lIns="0" tIns="0" rIns="0" bIns="0" anchor="t">
            <a:spAutoFit/>
          </a:bodyPr>
          <a:lstStyle/>
          <a:p>
            <a:pPr algn="l"/>
            <a:r>
              <a:rPr sz="1200" b="1">
                <a:solidFill>
                  <a:srgbClr val="222222"/>
                </a:solidFill>
                <a:latin typeface="Calibri"/>
              </a:rPr>
              <a:t>Phạm vi &amp; nguồn dữ liệu</a:t>
            </a:r>
          </a:p>
        </p:txBody>
      </p:sp>
      <p:sp>
        <p:nvSpPr>
          <p:cNvPr id="45" name="Rectangle 44"/>
          <p:cNvSpPr/>
          <p:nvPr/>
        </p:nvSpPr>
        <p:spPr>
          <a:xfrm>
            <a:off x="274320" y="3600000"/>
            <a:ext cx="2100000" cy="560000"/>
          </a:xfrm>
          <a:prstGeom prst="rect">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222222"/>
                </a:solidFill>
                <a:latin typeface="Calibri"/>
              </a:rPr>
              <a:t>Nguồn thiết kế</a:t>
            </a:r>
          </a:p>
        </p:txBody>
      </p:sp>
      <p:sp>
        <p:nvSpPr>
          <p:cNvPr id="46" name="Rectangle 45"/>
          <p:cNvSpPr/>
          <p:nvPr/>
        </p:nvSpPr>
        <p:spPr>
          <a:xfrm>
            <a:off x="2374320" y="3600000"/>
            <a:ext cx="9512880" cy="56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0">
                <a:solidFill>
                  <a:srgbClr val="555555"/>
                </a:solidFill>
                <a:latin typeface="Calibri"/>
              </a:rPr>
              <a:t>Figma — “</a:t>
            </a:r>
            <a:r>
              <a:rPr lang="en-US" sz="850" b="0">
                <a:solidFill>
                  <a:srgbClr val="555555"/>
                </a:solidFill>
                <a:ea typeface="+mn-lt"/>
                <a:cs typeface="+mn-lt"/>
              </a:rPr>
              <a:t>Checkout </a:t>
            </a:r>
            <a:r>
              <a:rPr lang="en-US" sz="850">
                <a:solidFill>
                  <a:srgbClr val="555555"/>
                </a:solidFill>
                <a:ea typeface="+mn-lt"/>
                <a:cs typeface="+mn-lt"/>
              </a:rPr>
              <a:t>Flow </a:t>
            </a:r>
            <a:r>
              <a:rPr lang="en-US" sz="850" b="0">
                <a:solidFill>
                  <a:srgbClr val="555555"/>
                </a:solidFill>
                <a:ea typeface="+mn-lt"/>
                <a:cs typeface="+mn-lt"/>
              </a:rPr>
              <a:t>- </a:t>
            </a:r>
            <a:r>
              <a:rPr lang="en-US" sz="850">
                <a:solidFill>
                  <a:srgbClr val="555555"/>
                </a:solidFill>
                <a:ea typeface="+mn-lt"/>
                <a:cs typeface="+mn-lt"/>
              </a:rPr>
              <a:t>Review</a:t>
            </a:r>
            <a:r>
              <a:rPr sz="850" b="0">
                <a:solidFill>
                  <a:srgbClr val="555555"/>
                </a:solidFill>
                <a:latin typeface="Calibri"/>
              </a:rPr>
              <a:t>”, </a:t>
            </a:r>
            <a:r>
              <a:rPr lang="en-US" sz="850">
                <a:solidFill>
                  <a:srgbClr val="555555"/>
                </a:solidFill>
                <a:latin typeface="Calibri"/>
              </a:rPr>
              <a:t>page Smart</a:t>
            </a:r>
            <a:r>
              <a:rPr sz="850" b="0">
                <a:solidFill>
                  <a:srgbClr val="555555"/>
                </a:solidFill>
                <a:latin typeface="Calibri"/>
              </a:rPr>
              <a:t> Search (section Text Search / Image Search / Voice Search).</a:t>
            </a:r>
          </a:p>
        </p:txBody>
      </p:sp>
      <p:sp>
        <p:nvSpPr>
          <p:cNvPr id="47" name="Rectangle 46"/>
          <p:cNvSpPr/>
          <p:nvPr/>
        </p:nvSpPr>
        <p:spPr>
          <a:xfrm>
            <a:off x="274320" y="4180000"/>
            <a:ext cx="2100000" cy="560000"/>
          </a:xfrm>
          <a:prstGeom prst="rect">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222222"/>
                </a:solidFill>
                <a:latin typeface="Calibri"/>
              </a:rPr>
              <a:t>Trong phạm vi</a:t>
            </a:r>
          </a:p>
        </p:txBody>
      </p:sp>
      <p:sp>
        <p:nvSpPr>
          <p:cNvPr id="48" name="Rectangle 47"/>
          <p:cNvSpPr/>
          <p:nvPr/>
        </p:nvSpPr>
        <p:spPr>
          <a:xfrm>
            <a:off x="2374320" y="4180000"/>
            <a:ext cx="9512880" cy="56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0">
                <a:solidFill>
                  <a:srgbClr val="555555"/>
                </a:solidFill>
                <a:latin typeface="Calibri"/>
              </a:rPr>
              <a:t>19 màn hình &amp; trạng thái: Pre-search, Autocomplete, Sửa chính tả, Đang xử lý, Kết quả (lưới / danh sách), Sắp xếp, Bộ lọc, Sau lọc, Thêm giỏ, Zero result, Chụp ảnh, Chọn ảnh, Kết quả ảnh, Lỗi ảnh, Lắng nghe, Kết quả giọng nói, Lỗi giọng nói, Bán kèm.</a:t>
            </a:r>
          </a:p>
        </p:txBody>
      </p:sp>
      <p:sp>
        <p:nvSpPr>
          <p:cNvPr id="49" name="Rectangle 48"/>
          <p:cNvSpPr/>
          <p:nvPr/>
        </p:nvSpPr>
        <p:spPr>
          <a:xfrm>
            <a:off x="274320" y="4760000"/>
            <a:ext cx="2100000" cy="560000"/>
          </a:xfrm>
          <a:prstGeom prst="rect">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222222"/>
                </a:solidFill>
                <a:latin typeface="Calibri"/>
              </a:rPr>
              <a:t>Ngoài phạm vi</a:t>
            </a:r>
          </a:p>
        </p:txBody>
      </p:sp>
      <p:sp>
        <p:nvSpPr>
          <p:cNvPr id="50" name="Rectangle 49"/>
          <p:cNvSpPr/>
          <p:nvPr/>
        </p:nvSpPr>
        <p:spPr>
          <a:xfrm>
            <a:off x="2374320" y="4760000"/>
            <a:ext cx="9512880" cy="56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0">
                <a:solidFill>
                  <a:srgbClr val="555555"/>
                </a:solidFill>
                <a:latin typeface="Calibri"/>
              </a:rPr>
              <a:t>Trang chi tiết sản phẩm (PDP), Giỏ hàng &amp; Checkout, đăng nhập/đăng ký, backoffice cấu hình từ khoá và Retail Media. Đặc tả kỹ thuật của engine tìm kiếm nằm ở tài liệu riêng.</a:t>
            </a:r>
          </a:p>
        </p:txBody>
      </p:sp>
      <p:sp>
        <p:nvSpPr>
          <p:cNvPr id="51" name="Rectangle 50"/>
          <p:cNvSpPr/>
          <p:nvPr/>
        </p:nvSpPr>
        <p:spPr>
          <a:xfrm>
            <a:off x="274320" y="5340000"/>
            <a:ext cx="2100000" cy="560000"/>
          </a:xfrm>
          <a:prstGeom prst="rect">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222222"/>
                </a:solidFill>
                <a:latin typeface="Calibri"/>
              </a:rPr>
              <a:t>Nền tảng</a:t>
            </a:r>
          </a:p>
        </p:txBody>
      </p:sp>
      <p:sp>
        <p:nvSpPr>
          <p:cNvPr id="52" name="Rectangle 51"/>
          <p:cNvSpPr/>
          <p:nvPr/>
        </p:nvSpPr>
        <p:spPr>
          <a:xfrm>
            <a:off x="2374320" y="5340000"/>
            <a:ext cx="9512880" cy="56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0">
                <a:solidFill>
                  <a:srgbClr val="555555"/>
                </a:solidFill>
                <a:latin typeface="Calibri"/>
              </a:rPr>
              <a:t>Mobile App — khung 390 × 852 (iPhone 14 Pro reference). Bản Web sẽ kế thừa cùng logic, khác bố cục.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54864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201168" y="0"/>
            <a:ext cx="10058400" cy="548640"/>
          </a:xfrm>
          <a:prstGeom prst="rect">
            <a:avLst/>
          </a:prstGeom>
          <a:noFill/>
          <a:ln/>
        </p:spPr>
        <p:txBody>
          <a:bodyPr wrap="square" lIns="0" tIns="0" rIns="0" bIns="0" rtlCol="0" anchor="ctr"/>
          <a:lstStyle/>
          <a:p>
            <a:pPr marL="0" indent="0">
              <a:buNone/>
            </a:pPr>
            <a:r>
              <a:rPr sz="2200" b="1">
                <a:solidFill>
                  <a:srgbClr val="FFFFFF"/>
                </a:solidFill>
                <a:latin typeface="Calibri"/>
              </a:rPr>
              <a:t>2. Kịch bản demo &amp; Bản đồ hành trình</a:t>
            </a:r>
            <a:endParaRPr lang="en-US" sz="1700"/>
          </a:p>
        </p:txBody>
      </p:sp>
      <p:sp>
        <p:nvSpPr>
          <p:cNvPr id="28" name="Shape 2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29" name="Text 2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0" name="Text 2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4</a:t>
            </a:r>
            <a:endParaRPr lang="en-US" sz="700"/>
          </a:p>
        </p:txBody>
      </p:sp>
      <p:sp>
        <p:nvSpPr>
          <p:cNvPr id="31" name="TextBox 30"/>
          <p:cNvSpPr txBox="1"/>
          <p:nvPr/>
        </p:nvSpPr>
        <p:spPr>
          <a:xfrm>
            <a:off x="274320" y="621792"/>
            <a:ext cx="11612880" cy="256032"/>
          </a:xfrm>
          <a:prstGeom prst="rect">
            <a:avLst/>
          </a:prstGeom>
          <a:noFill/>
        </p:spPr>
        <p:txBody>
          <a:bodyPr wrap="square" lIns="0" tIns="0" rIns="0" bIns="0" anchor="t">
            <a:spAutoFit/>
          </a:bodyPr>
          <a:lstStyle/>
          <a:p>
            <a:pPr algn="l"/>
            <a:r>
              <a:rPr sz="1000" b="0">
                <a:solidFill>
                  <a:srgbClr val="555555"/>
                </a:solidFill>
                <a:latin typeface="Calibri"/>
              </a:rPr>
              <a:t>Ba kịch bản trình diễn, mỗi kịch bản bắt đầu từ một pain point có thật của khách mua siêu thị và kết thúc ở hành động thêm vào giỏ.</a:t>
            </a:r>
          </a:p>
        </p:txBody>
      </p:sp>
      <p:sp>
        <p:nvSpPr>
          <p:cNvPr id="32" name="Rectangle 31"/>
          <p:cNvSpPr/>
          <p:nvPr/>
        </p:nvSpPr>
        <p:spPr>
          <a:xfrm>
            <a:off x="274320" y="1000000"/>
            <a:ext cx="11612880" cy="1560000"/>
          </a:xfrm>
          <a:prstGeom prst="rect">
            <a:avLst/>
          </a:prstGeom>
          <a:solidFill>
            <a:srgbClr val="FAFAFA"/>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3" name="TextBox 32"/>
          <p:cNvSpPr txBox="1"/>
          <p:nvPr/>
        </p:nvSpPr>
        <p:spPr>
          <a:xfrm>
            <a:off x="420000" y="1090000"/>
            <a:ext cx="5000000" cy="240000"/>
          </a:xfrm>
          <a:prstGeom prst="rect">
            <a:avLst/>
          </a:prstGeom>
          <a:noFill/>
        </p:spPr>
        <p:txBody>
          <a:bodyPr wrap="square" lIns="0" tIns="0" rIns="0" bIns="0" anchor="t">
            <a:spAutoFit/>
          </a:bodyPr>
          <a:lstStyle/>
          <a:p>
            <a:pPr algn="l"/>
            <a:r>
              <a:rPr sz="1000" b="1">
                <a:solidFill>
                  <a:srgbClr val="C8102E"/>
                </a:solidFill>
                <a:latin typeface="Calibri"/>
              </a:rPr>
              <a:t>KỊCH BẢN 1 — Tìm bằng chữ</a:t>
            </a:r>
          </a:p>
        </p:txBody>
      </p:sp>
      <p:sp>
        <p:nvSpPr>
          <p:cNvPr id="34" name="TextBox 33"/>
          <p:cNvSpPr txBox="1"/>
          <p:nvPr/>
        </p:nvSpPr>
        <p:spPr>
          <a:xfrm>
            <a:off x="420000" y="1330000"/>
            <a:ext cx="5200000" cy="240000"/>
          </a:xfrm>
          <a:prstGeom prst="rect">
            <a:avLst/>
          </a:prstGeom>
          <a:noFill/>
        </p:spPr>
        <p:txBody>
          <a:bodyPr wrap="square" lIns="0" tIns="0" rIns="0" bIns="0" anchor="t">
            <a:spAutoFit/>
          </a:bodyPr>
          <a:lstStyle/>
          <a:p>
            <a:pPr algn="l"/>
            <a:r>
              <a:rPr sz="850" b="0">
                <a:solidFill>
                  <a:srgbClr val="888888"/>
                </a:solidFill>
                <a:latin typeface="Calibri"/>
              </a:rPr>
              <a:t>Chị Lan cần mua sữa cho cả tuần nhưng không nhớ chính xác tên sản phẩm.</a:t>
            </a:r>
          </a:p>
        </p:txBody>
      </p:sp>
      <p:sp>
        <p:nvSpPr>
          <p:cNvPr id="35" name="Rectangle 34"/>
          <p:cNvSpPr/>
          <p:nvPr/>
        </p:nvSpPr>
        <p:spPr>
          <a:xfrm>
            <a:off x="420000" y="162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Pre-search</a:t>
            </a:r>
          </a:p>
        </p:txBody>
      </p:sp>
      <p:sp>
        <p:nvSpPr>
          <p:cNvPr id="36" name="Rectangle 35"/>
          <p:cNvSpPr/>
          <p:nvPr/>
        </p:nvSpPr>
        <p:spPr>
          <a:xfrm>
            <a:off x="420000" y="162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SS-SCR-001</a:t>
            </a:r>
          </a:p>
        </p:txBody>
      </p:sp>
      <p:sp>
        <p:nvSpPr>
          <p:cNvPr id="37" name="TextBox 36"/>
          <p:cNvSpPr txBox="1"/>
          <p:nvPr/>
        </p:nvSpPr>
        <p:spPr>
          <a:xfrm>
            <a:off x="1920000" y="177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38" name="Rectangle 37"/>
          <p:cNvSpPr/>
          <p:nvPr/>
        </p:nvSpPr>
        <p:spPr>
          <a:xfrm>
            <a:off x="2090000" y="162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Autocomplete</a:t>
            </a:r>
          </a:p>
        </p:txBody>
      </p:sp>
      <p:sp>
        <p:nvSpPr>
          <p:cNvPr id="39" name="Rectangle 38"/>
          <p:cNvSpPr/>
          <p:nvPr/>
        </p:nvSpPr>
        <p:spPr>
          <a:xfrm>
            <a:off x="2090000" y="162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SS-SCR-002</a:t>
            </a:r>
          </a:p>
        </p:txBody>
      </p:sp>
      <p:sp>
        <p:nvSpPr>
          <p:cNvPr id="40" name="TextBox 39"/>
          <p:cNvSpPr txBox="1"/>
          <p:nvPr/>
        </p:nvSpPr>
        <p:spPr>
          <a:xfrm>
            <a:off x="3590000" y="177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41" name="Rectangle 40"/>
          <p:cNvSpPr/>
          <p:nvPr/>
        </p:nvSpPr>
        <p:spPr>
          <a:xfrm>
            <a:off x="3760000" y="162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Đang xử lý</a:t>
            </a:r>
          </a:p>
        </p:txBody>
      </p:sp>
      <p:sp>
        <p:nvSpPr>
          <p:cNvPr id="42" name="Rectangle 41"/>
          <p:cNvSpPr/>
          <p:nvPr/>
        </p:nvSpPr>
        <p:spPr>
          <a:xfrm>
            <a:off x="3760000" y="162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SS-SCR-004</a:t>
            </a:r>
          </a:p>
        </p:txBody>
      </p:sp>
      <p:sp>
        <p:nvSpPr>
          <p:cNvPr id="43" name="TextBox 42"/>
          <p:cNvSpPr txBox="1"/>
          <p:nvPr/>
        </p:nvSpPr>
        <p:spPr>
          <a:xfrm>
            <a:off x="5260000" y="177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44" name="Rectangle 43"/>
          <p:cNvSpPr/>
          <p:nvPr/>
        </p:nvSpPr>
        <p:spPr>
          <a:xfrm>
            <a:off x="5430000" y="162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Kết quả lưới</a:t>
            </a:r>
          </a:p>
        </p:txBody>
      </p:sp>
      <p:sp>
        <p:nvSpPr>
          <p:cNvPr id="45" name="Rectangle 44"/>
          <p:cNvSpPr/>
          <p:nvPr/>
        </p:nvSpPr>
        <p:spPr>
          <a:xfrm>
            <a:off x="5430000" y="162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SS-SCR-005</a:t>
            </a:r>
          </a:p>
        </p:txBody>
      </p:sp>
      <p:sp>
        <p:nvSpPr>
          <p:cNvPr id="46" name="TextBox 45"/>
          <p:cNvSpPr txBox="1"/>
          <p:nvPr/>
        </p:nvSpPr>
        <p:spPr>
          <a:xfrm>
            <a:off x="6930000" y="177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47" name="Rectangle 46"/>
          <p:cNvSpPr/>
          <p:nvPr/>
        </p:nvSpPr>
        <p:spPr>
          <a:xfrm>
            <a:off x="7100000" y="162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Bộ lọc</a:t>
            </a:r>
          </a:p>
        </p:txBody>
      </p:sp>
      <p:sp>
        <p:nvSpPr>
          <p:cNvPr id="48" name="Rectangle 47"/>
          <p:cNvSpPr/>
          <p:nvPr/>
        </p:nvSpPr>
        <p:spPr>
          <a:xfrm>
            <a:off x="7100000" y="162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SS-SCR-009</a:t>
            </a:r>
          </a:p>
        </p:txBody>
      </p:sp>
      <p:sp>
        <p:nvSpPr>
          <p:cNvPr id="49" name="TextBox 48"/>
          <p:cNvSpPr txBox="1"/>
          <p:nvPr/>
        </p:nvSpPr>
        <p:spPr>
          <a:xfrm>
            <a:off x="8600000" y="177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50" name="Rectangle 49"/>
          <p:cNvSpPr/>
          <p:nvPr/>
        </p:nvSpPr>
        <p:spPr>
          <a:xfrm>
            <a:off x="8770000" y="162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Thêm vào giỏ</a:t>
            </a:r>
          </a:p>
        </p:txBody>
      </p:sp>
      <p:sp>
        <p:nvSpPr>
          <p:cNvPr id="51" name="Rectangle 50"/>
          <p:cNvSpPr/>
          <p:nvPr/>
        </p:nvSpPr>
        <p:spPr>
          <a:xfrm>
            <a:off x="8770000" y="162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SS-SCR-011</a:t>
            </a:r>
          </a:p>
        </p:txBody>
      </p:sp>
      <p:sp>
        <p:nvSpPr>
          <p:cNvPr id="52" name="TextBox 51"/>
          <p:cNvSpPr txBox="1"/>
          <p:nvPr/>
        </p:nvSpPr>
        <p:spPr>
          <a:xfrm>
            <a:off x="10500000" y="1680000"/>
            <a:ext cx="2600000" cy="500000"/>
          </a:xfrm>
          <a:prstGeom prst="rect">
            <a:avLst/>
          </a:prstGeom>
          <a:noFill/>
        </p:spPr>
        <p:txBody>
          <a:bodyPr wrap="square" lIns="0" tIns="0" rIns="0" bIns="0" anchor="t">
            <a:spAutoFit/>
          </a:bodyPr>
          <a:lstStyle/>
          <a:p>
            <a:pPr algn="l"/>
            <a:r>
              <a:rPr sz="800" b="0">
                <a:solidFill>
                  <a:srgbClr val="C8102E"/>
                </a:solidFill>
                <a:latin typeface="Calibri"/>
              </a:rPr>
              <a:t>⤷ Gõ sai chính tả → SS-SCR-003</a:t>
            </a:r>
          </a:p>
          <a:p>
            <a:pPr algn="l"/>
            <a:r>
              <a:rPr sz="800" b="0">
                <a:solidFill>
                  <a:srgbClr val="C8102E"/>
                </a:solidFill>
                <a:latin typeface="Calibri"/>
              </a:rPr>
              <a:t>⤷ Không có kết quả → SS-SCR-012</a:t>
            </a:r>
          </a:p>
        </p:txBody>
      </p:sp>
      <p:sp>
        <p:nvSpPr>
          <p:cNvPr id="53" name="Rectangle 52"/>
          <p:cNvSpPr/>
          <p:nvPr/>
        </p:nvSpPr>
        <p:spPr>
          <a:xfrm>
            <a:off x="274320" y="2660000"/>
            <a:ext cx="11612880" cy="1560000"/>
          </a:xfrm>
          <a:prstGeom prst="rect">
            <a:avLst/>
          </a:prstGeom>
          <a:solidFill>
            <a:srgbClr val="FAFAFA"/>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54" name="TextBox 53"/>
          <p:cNvSpPr txBox="1"/>
          <p:nvPr/>
        </p:nvSpPr>
        <p:spPr>
          <a:xfrm>
            <a:off x="420000" y="2750000"/>
            <a:ext cx="5000000" cy="240000"/>
          </a:xfrm>
          <a:prstGeom prst="rect">
            <a:avLst/>
          </a:prstGeom>
          <a:noFill/>
        </p:spPr>
        <p:txBody>
          <a:bodyPr wrap="square" lIns="0" tIns="0" rIns="0" bIns="0" anchor="t">
            <a:spAutoFit/>
          </a:bodyPr>
          <a:lstStyle/>
          <a:p>
            <a:pPr algn="l"/>
            <a:r>
              <a:rPr sz="1000" b="1">
                <a:solidFill>
                  <a:srgbClr val="C8102E"/>
                </a:solidFill>
                <a:latin typeface="Calibri"/>
              </a:rPr>
              <a:t>KỊCH BẢN 2 — Tìm bằng ảnh</a:t>
            </a:r>
          </a:p>
        </p:txBody>
      </p:sp>
      <p:sp>
        <p:nvSpPr>
          <p:cNvPr id="55" name="TextBox 54"/>
          <p:cNvSpPr txBox="1"/>
          <p:nvPr/>
        </p:nvSpPr>
        <p:spPr>
          <a:xfrm>
            <a:off x="420000" y="2990000"/>
            <a:ext cx="5200000" cy="240000"/>
          </a:xfrm>
          <a:prstGeom prst="rect">
            <a:avLst/>
          </a:prstGeom>
          <a:noFill/>
        </p:spPr>
        <p:txBody>
          <a:bodyPr wrap="square" lIns="0" tIns="0" rIns="0" bIns="0" anchor="t">
            <a:spAutoFit/>
          </a:bodyPr>
          <a:lstStyle/>
          <a:p>
            <a:pPr algn="l"/>
            <a:r>
              <a:rPr sz="850" b="0">
                <a:solidFill>
                  <a:srgbClr val="888888"/>
                </a:solidFill>
                <a:latin typeface="Calibri"/>
              </a:rPr>
              <a:t>Anh Minh cầm hộp sữa đã dùng hết, không biết gọi tên loại đó là gì.</a:t>
            </a:r>
          </a:p>
        </p:txBody>
      </p:sp>
      <p:sp>
        <p:nvSpPr>
          <p:cNvPr id="56" name="Rectangle 55"/>
          <p:cNvSpPr/>
          <p:nvPr/>
        </p:nvSpPr>
        <p:spPr>
          <a:xfrm>
            <a:off x="420000" y="328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Chạm icon Camera</a:t>
            </a:r>
          </a:p>
        </p:txBody>
      </p:sp>
      <p:sp>
        <p:nvSpPr>
          <p:cNvPr id="57" name="Rectangle 56"/>
          <p:cNvSpPr/>
          <p:nvPr/>
        </p:nvSpPr>
        <p:spPr>
          <a:xfrm>
            <a:off x="420000" y="328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SS-SCR-001</a:t>
            </a:r>
          </a:p>
        </p:txBody>
      </p:sp>
      <p:sp>
        <p:nvSpPr>
          <p:cNvPr id="58" name="TextBox 57"/>
          <p:cNvSpPr txBox="1"/>
          <p:nvPr/>
        </p:nvSpPr>
        <p:spPr>
          <a:xfrm>
            <a:off x="1920000" y="343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59" name="Rectangle 58"/>
          <p:cNvSpPr/>
          <p:nvPr/>
        </p:nvSpPr>
        <p:spPr>
          <a:xfrm>
            <a:off x="2090000" y="328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Chụp ảnh</a:t>
            </a:r>
          </a:p>
        </p:txBody>
      </p:sp>
      <p:sp>
        <p:nvSpPr>
          <p:cNvPr id="60" name="Rectangle 59"/>
          <p:cNvSpPr/>
          <p:nvPr/>
        </p:nvSpPr>
        <p:spPr>
          <a:xfrm>
            <a:off x="2090000" y="328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SS-SCR-013</a:t>
            </a:r>
          </a:p>
        </p:txBody>
      </p:sp>
      <p:sp>
        <p:nvSpPr>
          <p:cNvPr id="61" name="TextBox 60"/>
          <p:cNvSpPr txBox="1"/>
          <p:nvPr/>
        </p:nvSpPr>
        <p:spPr>
          <a:xfrm>
            <a:off x="3590000" y="343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62" name="Rectangle 61"/>
          <p:cNvSpPr/>
          <p:nvPr/>
        </p:nvSpPr>
        <p:spPr>
          <a:xfrm>
            <a:off x="3760000" y="328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Đang xử lý</a:t>
            </a:r>
          </a:p>
        </p:txBody>
      </p:sp>
      <p:sp>
        <p:nvSpPr>
          <p:cNvPr id="63" name="Rectangle 62"/>
          <p:cNvSpPr/>
          <p:nvPr/>
        </p:nvSpPr>
        <p:spPr>
          <a:xfrm>
            <a:off x="3760000" y="328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SS-SCR-004</a:t>
            </a:r>
          </a:p>
        </p:txBody>
      </p:sp>
      <p:sp>
        <p:nvSpPr>
          <p:cNvPr id="64" name="TextBox 63"/>
          <p:cNvSpPr txBox="1"/>
          <p:nvPr/>
        </p:nvSpPr>
        <p:spPr>
          <a:xfrm>
            <a:off x="5260000" y="343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65" name="Rectangle 64"/>
          <p:cNvSpPr/>
          <p:nvPr/>
        </p:nvSpPr>
        <p:spPr>
          <a:xfrm>
            <a:off x="5430000" y="328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Kết quả nhận diện</a:t>
            </a:r>
          </a:p>
        </p:txBody>
      </p:sp>
      <p:sp>
        <p:nvSpPr>
          <p:cNvPr id="66" name="Rectangle 65"/>
          <p:cNvSpPr/>
          <p:nvPr/>
        </p:nvSpPr>
        <p:spPr>
          <a:xfrm>
            <a:off x="5430000" y="328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SS-SCR-015</a:t>
            </a:r>
          </a:p>
        </p:txBody>
      </p:sp>
      <p:sp>
        <p:nvSpPr>
          <p:cNvPr id="67" name="TextBox 66"/>
          <p:cNvSpPr txBox="1"/>
          <p:nvPr/>
        </p:nvSpPr>
        <p:spPr>
          <a:xfrm>
            <a:off x="6930000" y="343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68" name="Rectangle 67"/>
          <p:cNvSpPr/>
          <p:nvPr/>
        </p:nvSpPr>
        <p:spPr>
          <a:xfrm>
            <a:off x="7100000" y="328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Thêm vào giỏ</a:t>
            </a:r>
          </a:p>
        </p:txBody>
      </p:sp>
      <p:sp>
        <p:nvSpPr>
          <p:cNvPr id="69" name="Rectangle 68"/>
          <p:cNvSpPr/>
          <p:nvPr/>
        </p:nvSpPr>
        <p:spPr>
          <a:xfrm>
            <a:off x="7100000" y="328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SS-SCR-011</a:t>
            </a:r>
          </a:p>
        </p:txBody>
      </p:sp>
      <p:sp>
        <p:nvSpPr>
          <p:cNvPr id="70" name="TextBox 69"/>
          <p:cNvSpPr txBox="1"/>
          <p:nvPr/>
        </p:nvSpPr>
        <p:spPr>
          <a:xfrm>
            <a:off x="8830000" y="3340000"/>
            <a:ext cx="2600000" cy="500000"/>
          </a:xfrm>
          <a:prstGeom prst="rect">
            <a:avLst/>
          </a:prstGeom>
          <a:noFill/>
        </p:spPr>
        <p:txBody>
          <a:bodyPr wrap="square" lIns="0" tIns="0" rIns="0" bIns="0" anchor="t">
            <a:spAutoFit/>
          </a:bodyPr>
          <a:lstStyle/>
          <a:p>
            <a:pPr algn="l"/>
            <a:r>
              <a:rPr sz="800" b="0">
                <a:solidFill>
                  <a:srgbClr val="C8102E"/>
                </a:solidFill>
                <a:latin typeface="Calibri"/>
              </a:rPr>
              <a:t>⤷ Chọn ảnh có sẵn → SS-SCR-014</a:t>
            </a:r>
          </a:p>
          <a:p>
            <a:pPr algn="l"/>
            <a:r>
              <a:rPr sz="800" b="0">
                <a:solidFill>
                  <a:srgbClr val="C8102E"/>
                </a:solidFill>
                <a:latin typeface="Calibri"/>
              </a:rPr>
              <a:t>⤷ Ảnh mờ / không nhận diện → SS-SCR-016</a:t>
            </a:r>
          </a:p>
        </p:txBody>
      </p:sp>
      <p:sp>
        <p:nvSpPr>
          <p:cNvPr id="71" name="Rectangle 70"/>
          <p:cNvSpPr/>
          <p:nvPr/>
        </p:nvSpPr>
        <p:spPr>
          <a:xfrm>
            <a:off x="274320" y="4320000"/>
            <a:ext cx="11612880" cy="1560000"/>
          </a:xfrm>
          <a:prstGeom prst="rect">
            <a:avLst/>
          </a:prstGeom>
          <a:solidFill>
            <a:srgbClr val="FAFAFA"/>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72" name="TextBox 71"/>
          <p:cNvSpPr txBox="1"/>
          <p:nvPr/>
        </p:nvSpPr>
        <p:spPr>
          <a:xfrm>
            <a:off x="420000" y="4410000"/>
            <a:ext cx="5000000" cy="240000"/>
          </a:xfrm>
          <a:prstGeom prst="rect">
            <a:avLst/>
          </a:prstGeom>
          <a:noFill/>
        </p:spPr>
        <p:txBody>
          <a:bodyPr wrap="square" lIns="0" tIns="0" rIns="0" bIns="0" anchor="t">
            <a:spAutoFit/>
          </a:bodyPr>
          <a:lstStyle/>
          <a:p>
            <a:pPr algn="l"/>
            <a:r>
              <a:rPr sz="1000" b="1">
                <a:solidFill>
                  <a:srgbClr val="C8102E"/>
                </a:solidFill>
                <a:latin typeface="Calibri"/>
              </a:rPr>
              <a:t>KỊCH BẢN 3 — Tìm bằng giọng nói</a:t>
            </a:r>
          </a:p>
        </p:txBody>
      </p:sp>
      <p:sp>
        <p:nvSpPr>
          <p:cNvPr id="73" name="TextBox 72"/>
          <p:cNvSpPr txBox="1"/>
          <p:nvPr/>
        </p:nvSpPr>
        <p:spPr>
          <a:xfrm>
            <a:off x="420000" y="4650000"/>
            <a:ext cx="5200000" cy="240000"/>
          </a:xfrm>
          <a:prstGeom prst="rect">
            <a:avLst/>
          </a:prstGeom>
          <a:noFill/>
        </p:spPr>
        <p:txBody>
          <a:bodyPr wrap="square" lIns="0" tIns="0" rIns="0" bIns="0" anchor="t">
            <a:spAutoFit/>
          </a:bodyPr>
          <a:lstStyle/>
          <a:p>
            <a:pPr algn="l"/>
            <a:r>
              <a:rPr sz="850" b="0">
                <a:solidFill>
                  <a:srgbClr val="888888"/>
                </a:solidFill>
                <a:latin typeface="Calibri"/>
              </a:rPr>
              <a:t>Chị Hà đang bế con, một tay cầm điện thoại, không gõ được.</a:t>
            </a:r>
          </a:p>
        </p:txBody>
      </p:sp>
      <p:sp>
        <p:nvSpPr>
          <p:cNvPr id="74" name="Rectangle 73"/>
          <p:cNvSpPr/>
          <p:nvPr/>
        </p:nvSpPr>
        <p:spPr>
          <a:xfrm>
            <a:off x="420000" y="494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Chạm icon Mic</a:t>
            </a:r>
          </a:p>
        </p:txBody>
      </p:sp>
      <p:sp>
        <p:nvSpPr>
          <p:cNvPr id="75" name="Rectangle 74"/>
          <p:cNvSpPr/>
          <p:nvPr/>
        </p:nvSpPr>
        <p:spPr>
          <a:xfrm>
            <a:off x="420000" y="494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SS-SCR-001</a:t>
            </a:r>
          </a:p>
        </p:txBody>
      </p:sp>
      <p:sp>
        <p:nvSpPr>
          <p:cNvPr id="76" name="TextBox 75"/>
          <p:cNvSpPr txBox="1"/>
          <p:nvPr/>
        </p:nvSpPr>
        <p:spPr>
          <a:xfrm>
            <a:off x="1920000" y="509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77" name="Rectangle 76"/>
          <p:cNvSpPr/>
          <p:nvPr/>
        </p:nvSpPr>
        <p:spPr>
          <a:xfrm>
            <a:off x="2090000" y="494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Đang lắng nghe</a:t>
            </a:r>
          </a:p>
        </p:txBody>
      </p:sp>
      <p:sp>
        <p:nvSpPr>
          <p:cNvPr id="78" name="Rectangle 77"/>
          <p:cNvSpPr/>
          <p:nvPr/>
        </p:nvSpPr>
        <p:spPr>
          <a:xfrm>
            <a:off x="2090000" y="494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SS-SCR-017</a:t>
            </a:r>
          </a:p>
        </p:txBody>
      </p:sp>
      <p:sp>
        <p:nvSpPr>
          <p:cNvPr id="79" name="TextBox 78"/>
          <p:cNvSpPr txBox="1"/>
          <p:nvPr/>
        </p:nvSpPr>
        <p:spPr>
          <a:xfrm>
            <a:off x="3590000" y="509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80" name="Rectangle 79"/>
          <p:cNvSpPr/>
          <p:nvPr/>
        </p:nvSpPr>
        <p:spPr>
          <a:xfrm>
            <a:off x="3760000" y="494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Đang xử lý</a:t>
            </a:r>
          </a:p>
        </p:txBody>
      </p:sp>
      <p:sp>
        <p:nvSpPr>
          <p:cNvPr id="81" name="Rectangle 80"/>
          <p:cNvSpPr/>
          <p:nvPr/>
        </p:nvSpPr>
        <p:spPr>
          <a:xfrm>
            <a:off x="3760000" y="494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SS-SCR-004</a:t>
            </a:r>
          </a:p>
        </p:txBody>
      </p:sp>
      <p:sp>
        <p:nvSpPr>
          <p:cNvPr id="82" name="TextBox 81"/>
          <p:cNvSpPr txBox="1"/>
          <p:nvPr/>
        </p:nvSpPr>
        <p:spPr>
          <a:xfrm>
            <a:off x="5260000" y="509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83" name="Rectangle 82"/>
          <p:cNvSpPr/>
          <p:nvPr/>
        </p:nvSpPr>
        <p:spPr>
          <a:xfrm>
            <a:off x="5430000" y="494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Kết quả</a:t>
            </a:r>
          </a:p>
        </p:txBody>
      </p:sp>
      <p:sp>
        <p:nvSpPr>
          <p:cNvPr id="84" name="Rectangle 83"/>
          <p:cNvSpPr/>
          <p:nvPr/>
        </p:nvSpPr>
        <p:spPr>
          <a:xfrm>
            <a:off x="5430000" y="494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SS-SCR-018</a:t>
            </a:r>
          </a:p>
        </p:txBody>
      </p:sp>
      <p:sp>
        <p:nvSpPr>
          <p:cNvPr id="85" name="TextBox 84"/>
          <p:cNvSpPr txBox="1"/>
          <p:nvPr/>
        </p:nvSpPr>
        <p:spPr>
          <a:xfrm>
            <a:off x="6930000" y="509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86" name="Rectangle 85"/>
          <p:cNvSpPr/>
          <p:nvPr/>
        </p:nvSpPr>
        <p:spPr>
          <a:xfrm>
            <a:off x="7100000" y="494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Thêm vào giỏ</a:t>
            </a:r>
          </a:p>
        </p:txBody>
      </p:sp>
      <p:sp>
        <p:nvSpPr>
          <p:cNvPr id="87" name="Rectangle 86"/>
          <p:cNvSpPr/>
          <p:nvPr/>
        </p:nvSpPr>
        <p:spPr>
          <a:xfrm>
            <a:off x="7100000" y="494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SS-SCR-011</a:t>
            </a:r>
          </a:p>
        </p:txBody>
      </p:sp>
      <p:sp>
        <p:nvSpPr>
          <p:cNvPr id="88" name="TextBox 87"/>
          <p:cNvSpPr txBox="1"/>
          <p:nvPr/>
        </p:nvSpPr>
        <p:spPr>
          <a:xfrm>
            <a:off x="8830000" y="5000000"/>
            <a:ext cx="2600000" cy="500000"/>
          </a:xfrm>
          <a:prstGeom prst="rect">
            <a:avLst/>
          </a:prstGeom>
          <a:noFill/>
        </p:spPr>
        <p:txBody>
          <a:bodyPr wrap="square" lIns="0" tIns="0" rIns="0" bIns="0" anchor="t">
            <a:spAutoFit/>
          </a:bodyPr>
          <a:lstStyle/>
          <a:p>
            <a:pPr algn="l"/>
            <a:r>
              <a:rPr sz="800" b="0">
                <a:solidFill>
                  <a:srgbClr val="C8102E"/>
                </a:solidFill>
                <a:latin typeface="Calibri"/>
              </a:rPr>
              <a:t>⤷ Giọng không rõ → SS-SCR-019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54864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201168" y="0"/>
            <a:ext cx="10058400" cy="548640"/>
          </a:xfrm>
          <a:prstGeom prst="rect">
            <a:avLst/>
          </a:prstGeom>
          <a:noFill/>
          <a:ln/>
        </p:spPr>
        <p:txBody>
          <a:bodyPr wrap="square" lIns="0" tIns="0" rIns="0" bIns="0" rtlCol="0" anchor="ctr"/>
          <a:lstStyle/>
          <a:p>
            <a:pPr marL="0" indent="0">
              <a:buNone/>
            </a:pPr>
            <a:r>
              <a:rPr sz="2200" b="1">
                <a:solidFill>
                  <a:srgbClr val="FFFFFF"/>
                </a:solidFill>
                <a:latin typeface="Calibri"/>
              </a:rPr>
              <a:t>3. Giá trị nghiệp vụ &amp; Điểm khác biệt</a:t>
            </a:r>
            <a:endParaRPr lang="en-US" sz="1700"/>
          </a:p>
        </p:txBody>
      </p:sp>
      <p:sp>
        <p:nvSpPr>
          <p:cNvPr id="28" name="Shape 2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29" name="Text 2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0" name="Text 2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5</a:t>
            </a:r>
            <a:endParaRPr lang="en-US" sz="700"/>
          </a:p>
        </p:txBody>
      </p:sp>
      <p:sp>
        <p:nvSpPr>
          <p:cNvPr id="31" name="TextBox 30"/>
          <p:cNvSpPr txBox="1"/>
          <p:nvPr/>
        </p:nvSpPr>
        <p:spPr>
          <a:xfrm>
            <a:off x="274320" y="621792"/>
            <a:ext cx="11612880" cy="256032"/>
          </a:xfrm>
          <a:prstGeom prst="rect">
            <a:avLst/>
          </a:prstGeom>
          <a:noFill/>
        </p:spPr>
        <p:txBody>
          <a:bodyPr wrap="square" lIns="0" tIns="0" rIns="0" bIns="0" anchor="t">
            <a:spAutoFit/>
          </a:bodyPr>
          <a:lstStyle/>
          <a:p>
            <a:pPr algn="l"/>
            <a:r>
              <a:rPr sz="1000" b="0">
                <a:solidFill>
                  <a:srgbClr val="555555"/>
                </a:solidFill>
                <a:latin typeface="Calibri"/>
              </a:rPr>
              <a:t>Bốn năng lực mà bộ màn hình phía sau chứng minh được — mỗi năng lực gắn với kết quả kinh doanh cụ thể.</a:t>
            </a:r>
          </a:p>
        </p:txBody>
      </p:sp>
      <p:sp>
        <p:nvSpPr>
          <p:cNvPr id="32" name="Rectangle 31"/>
          <p:cNvSpPr/>
          <p:nvPr/>
        </p:nvSpPr>
        <p:spPr>
          <a:xfrm>
            <a:off x="274320" y="1000000"/>
            <a:ext cx="2810000" cy="390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3" name="Rectangle 32"/>
          <p:cNvSpPr/>
          <p:nvPr/>
        </p:nvSpPr>
        <p:spPr>
          <a:xfrm>
            <a:off x="274320" y="1000000"/>
            <a:ext cx="2810000" cy="62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a:solidFill>
                  <a:srgbClr val="FFFFFF"/>
                </a:solidFill>
                <a:latin typeface="Calibri"/>
              </a:rPr>
              <a:t>Omni-search ngay trên trang chủ</a:t>
            </a:r>
          </a:p>
        </p:txBody>
      </p:sp>
      <p:sp>
        <p:nvSpPr>
          <p:cNvPr id="34" name="TextBox 33"/>
          <p:cNvSpPr txBox="1"/>
          <p:nvPr/>
        </p:nvSpPr>
        <p:spPr>
          <a:xfrm>
            <a:off x="404320" y="1720000"/>
            <a:ext cx="2550000" cy="900000"/>
          </a:xfrm>
          <a:prstGeom prst="rect">
            <a:avLst/>
          </a:prstGeom>
          <a:noFill/>
        </p:spPr>
        <p:txBody>
          <a:bodyPr wrap="square" lIns="0" tIns="0" rIns="0" bIns="0" anchor="t">
            <a:spAutoFit/>
          </a:bodyPr>
          <a:lstStyle/>
          <a:p>
            <a:pPr algn="l"/>
            <a:r>
              <a:rPr sz="900" b="1">
                <a:solidFill>
                  <a:srgbClr val="222222"/>
                </a:solidFill>
                <a:latin typeface="Calibri"/>
              </a:rPr>
              <a:t>Chữ, ảnh và giọng nói dùng chung một trang kết quả, một bộ lọc, một bộ sắp xếp.</a:t>
            </a:r>
          </a:p>
        </p:txBody>
      </p:sp>
      <p:sp>
        <p:nvSpPr>
          <p:cNvPr id="35" name="Rectangle 34"/>
          <p:cNvSpPr/>
          <p:nvPr/>
        </p:nvSpPr>
        <p:spPr>
          <a:xfrm>
            <a:off x="404320" y="2680000"/>
            <a:ext cx="2550000" cy="12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6" name="TextBox 35"/>
          <p:cNvSpPr txBox="1"/>
          <p:nvPr/>
        </p:nvSpPr>
        <p:spPr>
          <a:xfrm>
            <a:off x="404320" y="2800000"/>
            <a:ext cx="2550000" cy="1900000"/>
          </a:xfrm>
          <a:prstGeom prst="rect">
            <a:avLst/>
          </a:prstGeom>
          <a:noFill/>
        </p:spPr>
        <p:txBody>
          <a:bodyPr wrap="square" lIns="0" tIns="0" rIns="0" bIns="0" anchor="t">
            <a:spAutoFit/>
          </a:bodyPr>
          <a:lstStyle/>
          <a:p>
            <a:pPr algn="l"/>
            <a:r>
              <a:rPr sz="800" b="1">
                <a:solidFill>
                  <a:srgbClr val="C8102E"/>
                </a:solidFill>
                <a:latin typeface="Calibri"/>
              </a:rPr>
              <a:t>Kết quả kỳ vọng</a:t>
            </a:r>
          </a:p>
          <a:p>
            <a:pPr algn="l"/>
            <a:r>
              <a:rPr sz="900" b="0">
                <a:solidFill>
                  <a:srgbClr val="555555"/>
                </a:solidFill>
                <a:latin typeface="Calibri"/>
              </a:rPr>
              <a:t>Khách chọn phương thức phù hợp ngữ cảnh (đang bế con, đang đứng trước tủ lạnh) thay vì bỏ cuộc. Chi phí phát triển thấp vì dùng chung 70% component.</a:t>
            </a:r>
          </a:p>
        </p:txBody>
      </p:sp>
      <p:sp>
        <p:nvSpPr>
          <p:cNvPr id="37" name="Rectangle 36"/>
          <p:cNvSpPr/>
          <p:nvPr/>
        </p:nvSpPr>
        <p:spPr>
          <a:xfrm>
            <a:off x="3194320" y="1000000"/>
            <a:ext cx="2810000" cy="390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8" name="Rectangle 37"/>
          <p:cNvSpPr/>
          <p:nvPr/>
        </p:nvSpPr>
        <p:spPr>
          <a:xfrm>
            <a:off x="3194320" y="1000000"/>
            <a:ext cx="2810000" cy="62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a:solidFill>
                  <a:srgbClr val="FFFFFF"/>
                </a:solidFill>
                <a:latin typeface="Calibri"/>
              </a:rPr>
              <a:t>Cá nhân hoá từ dữ liệu đơn hàng thật</a:t>
            </a:r>
          </a:p>
        </p:txBody>
      </p:sp>
      <p:sp>
        <p:nvSpPr>
          <p:cNvPr id="39" name="TextBox 38"/>
          <p:cNvSpPr txBox="1"/>
          <p:nvPr/>
        </p:nvSpPr>
        <p:spPr>
          <a:xfrm>
            <a:off x="3324320" y="1720000"/>
            <a:ext cx="2550000" cy="900000"/>
          </a:xfrm>
          <a:prstGeom prst="rect">
            <a:avLst/>
          </a:prstGeom>
          <a:noFill/>
        </p:spPr>
        <p:txBody>
          <a:bodyPr wrap="square" lIns="0" tIns="0" rIns="0" bIns="0" anchor="t">
            <a:spAutoFit/>
          </a:bodyPr>
          <a:lstStyle/>
          <a:p>
            <a:pPr algn="l"/>
            <a:r>
              <a:rPr sz="900" b="1">
                <a:solidFill>
                  <a:srgbClr val="222222"/>
                </a:solidFill>
                <a:latin typeface="Calibri"/>
              </a:rPr>
              <a:t>“Thường mua” lấy từ Order History 90 ngày, lọc theo tồn kho &gt; 0.</a:t>
            </a:r>
          </a:p>
        </p:txBody>
      </p:sp>
      <p:sp>
        <p:nvSpPr>
          <p:cNvPr id="40" name="Rectangle 39"/>
          <p:cNvSpPr/>
          <p:nvPr/>
        </p:nvSpPr>
        <p:spPr>
          <a:xfrm>
            <a:off x="3324320" y="2680000"/>
            <a:ext cx="2550000" cy="12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41" name="TextBox 40"/>
          <p:cNvSpPr txBox="1"/>
          <p:nvPr/>
        </p:nvSpPr>
        <p:spPr>
          <a:xfrm>
            <a:off x="3324320" y="2800000"/>
            <a:ext cx="2550000" cy="1900000"/>
          </a:xfrm>
          <a:prstGeom prst="rect">
            <a:avLst/>
          </a:prstGeom>
          <a:noFill/>
        </p:spPr>
        <p:txBody>
          <a:bodyPr wrap="square" lIns="0" tIns="0" rIns="0" bIns="0" anchor="t">
            <a:spAutoFit/>
          </a:bodyPr>
          <a:lstStyle/>
          <a:p>
            <a:pPr algn="l"/>
            <a:r>
              <a:rPr sz="800" b="1">
                <a:solidFill>
                  <a:srgbClr val="C8102E"/>
                </a:solidFill>
                <a:latin typeface="Calibri"/>
              </a:rPr>
              <a:t>Kết quả kỳ vọng</a:t>
            </a:r>
          </a:p>
          <a:p>
            <a:pPr algn="l"/>
            <a:r>
              <a:rPr sz="900" b="0">
                <a:solidFill>
                  <a:srgbClr val="555555"/>
                </a:solidFill>
                <a:latin typeface="Calibri"/>
              </a:rPr>
              <a:t>Rút ngắn phễu mua hàng nhu yếu phẩm xuống 2 thao tác. Tăng tần suất mua lại — chỉ số quan trọng nhất của kênh online siêu thị.</a:t>
            </a:r>
          </a:p>
        </p:txBody>
      </p:sp>
      <p:sp>
        <p:nvSpPr>
          <p:cNvPr id="42" name="Rectangle 41"/>
          <p:cNvSpPr/>
          <p:nvPr/>
        </p:nvSpPr>
        <p:spPr>
          <a:xfrm>
            <a:off x="6114320" y="1000000"/>
            <a:ext cx="2810000" cy="390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43" name="Rectangle 42"/>
          <p:cNvSpPr/>
          <p:nvPr/>
        </p:nvSpPr>
        <p:spPr>
          <a:xfrm>
            <a:off x="6114320" y="1000000"/>
            <a:ext cx="2810000" cy="62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a:solidFill>
                  <a:srgbClr val="FFFFFF"/>
                </a:solidFill>
                <a:latin typeface="Calibri"/>
              </a:rPr>
              <a:t>Zero Result Prevention 3 tầng</a:t>
            </a:r>
          </a:p>
        </p:txBody>
      </p:sp>
      <p:sp>
        <p:nvSpPr>
          <p:cNvPr id="44" name="TextBox 43"/>
          <p:cNvSpPr txBox="1"/>
          <p:nvPr/>
        </p:nvSpPr>
        <p:spPr>
          <a:xfrm>
            <a:off x="6244320" y="1720000"/>
            <a:ext cx="2550000" cy="900000"/>
          </a:xfrm>
          <a:prstGeom prst="rect">
            <a:avLst/>
          </a:prstGeom>
          <a:noFill/>
        </p:spPr>
        <p:txBody>
          <a:bodyPr wrap="square" lIns="0" tIns="0" rIns="0" bIns="0" anchor="t">
            <a:spAutoFit/>
          </a:bodyPr>
          <a:lstStyle/>
          <a:p>
            <a:pPr algn="l"/>
            <a:r>
              <a:rPr sz="900" b="1">
                <a:solidFill>
                  <a:srgbClr val="222222"/>
                </a:solidFill>
                <a:latin typeface="Calibri"/>
              </a:rPr>
              <a:t>Sửa chính tả → sản phẩm thay thế / bán kèm → hàng bán chạy.</a:t>
            </a:r>
          </a:p>
        </p:txBody>
      </p:sp>
      <p:sp>
        <p:nvSpPr>
          <p:cNvPr id="45" name="Rectangle 44"/>
          <p:cNvSpPr/>
          <p:nvPr/>
        </p:nvSpPr>
        <p:spPr>
          <a:xfrm>
            <a:off x="6244320" y="2680000"/>
            <a:ext cx="2550000" cy="12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46" name="TextBox 45"/>
          <p:cNvSpPr txBox="1"/>
          <p:nvPr/>
        </p:nvSpPr>
        <p:spPr>
          <a:xfrm>
            <a:off x="6244320" y="2800000"/>
            <a:ext cx="2550000" cy="1900000"/>
          </a:xfrm>
          <a:prstGeom prst="rect">
            <a:avLst/>
          </a:prstGeom>
          <a:noFill/>
        </p:spPr>
        <p:txBody>
          <a:bodyPr wrap="square" lIns="0" tIns="0" rIns="0" bIns="0" anchor="t">
            <a:spAutoFit/>
          </a:bodyPr>
          <a:lstStyle/>
          <a:p>
            <a:pPr algn="l"/>
            <a:r>
              <a:rPr sz="800" b="1">
                <a:solidFill>
                  <a:srgbClr val="C8102E"/>
                </a:solidFill>
                <a:latin typeface="Calibri"/>
              </a:rPr>
              <a:t>Kết quả kỳ vọng</a:t>
            </a:r>
          </a:p>
          <a:p>
            <a:pPr algn="l"/>
            <a:r>
              <a:rPr sz="900" b="0">
                <a:solidFill>
                  <a:srgbClr val="555555"/>
                </a:solidFill>
                <a:latin typeface="Calibri"/>
              </a:rPr>
              <a:t>Không có trang trắng đồng nghĩa mọi lượt tìm kiếm đều còn cơ hội chuyển đổi. Thu hồi phần lớn lưu lượng hiện đang thoát ở bước tìm kiếm.</a:t>
            </a:r>
          </a:p>
        </p:txBody>
      </p:sp>
      <p:sp>
        <p:nvSpPr>
          <p:cNvPr id="47" name="Rectangle 46"/>
          <p:cNvSpPr/>
          <p:nvPr/>
        </p:nvSpPr>
        <p:spPr>
          <a:xfrm>
            <a:off x="9034320" y="1000000"/>
            <a:ext cx="2810000" cy="390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48" name="Rectangle 47"/>
          <p:cNvSpPr/>
          <p:nvPr/>
        </p:nvSpPr>
        <p:spPr>
          <a:xfrm>
            <a:off x="9034320" y="1000000"/>
            <a:ext cx="2810000" cy="62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a:solidFill>
                  <a:srgbClr val="FFFFFF"/>
                </a:solidFill>
                <a:latin typeface="Calibri"/>
              </a:rPr>
              <a:t>Minh bạch quảng cáo sẵn sàng cho Retail Media</a:t>
            </a:r>
          </a:p>
        </p:txBody>
      </p:sp>
      <p:sp>
        <p:nvSpPr>
          <p:cNvPr id="49" name="TextBox 48"/>
          <p:cNvSpPr txBox="1"/>
          <p:nvPr/>
        </p:nvSpPr>
        <p:spPr>
          <a:xfrm>
            <a:off x="9164320" y="1720000"/>
            <a:ext cx="2550000" cy="900000"/>
          </a:xfrm>
          <a:prstGeom prst="rect">
            <a:avLst/>
          </a:prstGeom>
          <a:noFill/>
        </p:spPr>
        <p:txBody>
          <a:bodyPr wrap="square" lIns="0" tIns="0" rIns="0" bIns="0" anchor="t">
            <a:spAutoFit/>
          </a:bodyPr>
          <a:lstStyle/>
          <a:p>
            <a:pPr algn="l"/>
            <a:r>
              <a:rPr sz="900" b="1">
                <a:solidFill>
                  <a:srgbClr val="222222"/>
                </a:solidFill>
                <a:latin typeface="Calibri"/>
              </a:rPr>
              <a:t>Nhãn “Sponsored” là thành phần bắt buộc trong mọi chế độ xem.</a:t>
            </a:r>
          </a:p>
        </p:txBody>
      </p:sp>
      <p:sp>
        <p:nvSpPr>
          <p:cNvPr id="50" name="Rectangle 49"/>
          <p:cNvSpPr/>
          <p:nvPr/>
        </p:nvSpPr>
        <p:spPr>
          <a:xfrm>
            <a:off x="9164320" y="2680000"/>
            <a:ext cx="2550000" cy="12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51" name="TextBox 50"/>
          <p:cNvSpPr txBox="1"/>
          <p:nvPr/>
        </p:nvSpPr>
        <p:spPr>
          <a:xfrm>
            <a:off x="9164320" y="2800000"/>
            <a:ext cx="2550000" cy="1900000"/>
          </a:xfrm>
          <a:prstGeom prst="rect">
            <a:avLst/>
          </a:prstGeom>
          <a:noFill/>
        </p:spPr>
        <p:txBody>
          <a:bodyPr wrap="square" lIns="0" tIns="0" rIns="0" bIns="0" anchor="t">
            <a:spAutoFit/>
          </a:bodyPr>
          <a:lstStyle/>
          <a:p>
            <a:pPr algn="l"/>
            <a:r>
              <a:rPr sz="800" b="1">
                <a:solidFill>
                  <a:srgbClr val="C8102E"/>
                </a:solidFill>
                <a:latin typeface="Calibri"/>
              </a:rPr>
              <a:t>Kết quả kỳ vọng</a:t>
            </a:r>
          </a:p>
          <a:p>
            <a:pPr algn="l"/>
            <a:r>
              <a:rPr sz="900" b="0">
                <a:solidFill>
                  <a:srgbClr val="555555"/>
                </a:solidFill>
                <a:latin typeface="Calibri"/>
              </a:rPr>
              <a:t>Mở đường doanh thu quảng cáo từ nhà cung cấp mà vẫn tuân thủ yêu cầu minh bạch — không phải làm lại giao diện về sau.</a:t>
            </a:r>
          </a:p>
        </p:txBody>
      </p:sp>
      <p:sp>
        <p:nvSpPr>
          <p:cNvPr id="52" name="TextBox 51"/>
          <p:cNvSpPr txBox="1"/>
          <p:nvPr/>
        </p:nvSpPr>
        <p:spPr>
          <a:xfrm>
            <a:off x="274320" y="5100000"/>
            <a:ext cx="11612880" cy="240000"/>
          </a:xfrm>
          <a:prstGeom prst="rect">
            <a:avLst/>
          </a:prstGeom>
          <a:noFill/>
        </p:spPr>
        <p:txBody>
          <a:bodyPr wrap="square" lIns="0" tIns="0" rIns="0" bIns="0" anchor="t">
            <a:spAutoFit/>
          </a:bodyPr>
          <a:lstStyle/>
          <a:p>
            <a:pPr algn="l"/>
            <a:r>
              <a:rPr sz="1000" b="1">
                <a:solidFill>
                  <a:srgbClr val="222222"/>
                </a:solidFill>
                <a:latin typeface="Calibri"/>
              </a:rPr>
              <a:t>Lưu ý về mức độ chắc chắn</a:t>
            </a:r>
          </a:p>
        </p:txBody>
      </p:sp>
      <p:sp>
        <p:nvSpPr>
          <p:cNvPr id="53" name="TextBox 52"/>
          <p:cNvSpPr txBox="1"/>
          <p:nvPr/>
        </p:nvSpPr>
        <p:spPr>
          <a:xfrm>
            <a:off x="274320" y="5380000"/>
            <a:ext cx="11612880" cy="700000"/>
          </a:xfrm>
          <a:prstGeom prst="rect">
            <a:avLst/>
          </a:prstGeom>
          <a:noFill/>
        </p:spPr>
        <p:txBody>
          <a:bodyPr wrap="square" lIns="0" tIns="0" rIns="0" bIns="0" anchor="t">
            <a:spAutoFit/>
          </a:bodyPr>
          <a:lstStyle/>
          <a:p>
            <a:pPr algn="l"/>
            <a:r>
              <a:rPr sz="900" b="0">
                <a:solidFill>
                  <a:srgbClr val="888888"/>
                </a:solidFill>
                <a:latin typeface="Calibri"/>
              </a:rPr>
              <a:t>Các giá trị trên bám sát đúng những gì 19 màn hình phía sau thể hiện được. Phần định lượng (tỉ lệ thoát ở bước tìm kiếm, tỉ lệ mua lại) cần lấy từ số liệu vận hành hiện tại trước khi đưa vào báo cáo cho MART KR — storyboard này không tự đặt ra con số.</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FR-SP-02</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SS-SCR-001</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kiếm — Trạng thái chờ (Pre-search)</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4012687584"/>
              </p:ext>
            </p:extLst>
          </p:nvPr>
        </p:nvGraphicFramePr>
        <p:xfrm>
          <a:off x="7196328" y="886968"/>
          <a:ext cx="4544568" cy="417576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a:t>
                      </a:r>
                      <a:r>
                        <a:rPr sz="800" b="1" err="1">
                          <a:solidFill>
                            <a:srgbClr val="FFFFFF"/>
                          </a:solidFill>
                          <a:latin typeface="Calibri"/>
                        </a:rPr>
                        <a:t>phần</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err="1">
                          <a:solidFill>
                            <a:srgbClr val="FFFFFF"/>
                          </a:solidFill>
                          <a:latin typeface="Calibri"/>
                        </a:rPr>
                        <a:t>Mô</a:t>
                      </a:r>
                      <a:r>
                        <a:rPr sz="800" b="1">
                          <a:solidFill>
                            <a:srgbClr val="FFFFFF"/>
                          </a:solidFill>
                          <a:latin typeface="Calibri"/>
                        </a:rPr>
                        <a:t> </a:t>
                      </a:r>
                      <a:r>
                        <a:rPr sz="800" b="1" err="1">
                          <a:solidFill>
                            <a:srgbClr val="FFFFFF"/>
                          </a:solidFill>
                          <a:latin typeface="Calibri"/>
                        </a:rPr>
                        <a:t>tả</a:t>
                      </a:r>
                      <a:r>
                        <a:rPr sz="800" b="1">
                          <a:solidFill>
                            <a:srgbClr val="FFFFFF"/>
                          </a:solidFill>
                          <a:latin typeface="Calibri"/>
                        </a:rPr>
                        <a:t>  /  </a:t>
                      </a:r>
                      <a:r>
                        <a:rPr sz="800" b="1" err="1">
                          <a:solidFill>
                            <a:srgbClr val="FFFFFF"/>
                          </a:solidFill>
                          <a:latin typeface="Calibri"/>
                        </a:rPr>
                        <a:t>Hành</a:t>
                      </a:r>
                      <a:r>
                        <a:rPr sz="800" b="1">
                          <a:solidFill>
                            <a:srgbClr val="FFFFFF"/>
                          </a:solidFill>
                          <a:latin typeface="Calibri"/>
                        </a:rPr>
                        <a:t> vi  /  Quy </a:t>
                      </a:r>
                      <a:r>
                        <a:rPr sz="800" b="1" err="1">
                          <a:solidFill>
                            <a:srgbClr val="FFFFFF"/>
                          </a:solidFill>
                          <a:latin typeface="Calibri"/>
                        </a:rPr>
                        <a:t>tắc</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Search Bar (Omni-search)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err="1">
                          <a:solidFill>
                            <a:srgbClr val="555555"/>
                          </a:solidFill>
                          <a:latin typeface="Calibri"/>
                        </a:rPr>
                        <a:t>Gồm</a:t>
                      </a:r>
                      <a:r>
                        <a:rPr sz="750" b="0">
                          <a:solidFill>
                            <a:srgbClr val="555555"/>
                          </a:solidFill>
                          <a:latin typeface="Calibri"/>
                        </a:rPr>
                        <a:t>: logo, ô </a:t>
                      </a:r>
                      <a:r>
                        <a:rPr sz="750" b="0" err="1">
                          <a:solidFill>
                            <a:srgbClr val="555555"/>
                          </a:solidFill>
                          <a:latin typeface="Calibri"/>
                        </a:rPr>
                        <a:t>nhập</a:t>
                      </a:r>
                      <a:r>
                        <a:rPr sz="750" b="0">
                          <a:solidFill>
                            <a:srgbClr val="555555"/>
                          </a:solidFill>
                          <a:latin typeface="Calibri"/>
                        </a:rPr>
                        <a:t> </a:t>
                      </a:r>
                      <a:r>
                        <a:rPr sz="750" b="0" err="1">
                          <a:solidFill>
                            <a:srgbClr val="555555"/>
                          </a:solidFill>
                          <a:latin typeface="Calibri"/>
                        </a:rPr>
                        <a:t>với</a:t>
                      </a:r>
                      <a:r>
                        <a:rPr sz="750" b="0">
                          <a:solidFill>
                            <a:srgbClr val="555555"/>
                          </a:solidFill>
                          <a:latin typeface="Calibri"/>
                        </a:rPr>
                        <a:t> placeholder </a:t>
                      </a:r>
                      <a:r>
                        <a:rPr sz="750" b="0" err="1">
                          <a:solidFill>
                            <a:srgbClr val="555555"/>
                          </a:solidFill>
                          <a:latin typeface="Calibri"/>
                        </a:rPr>
                        <a:t>xoay</a:t>
                      </a:r>
                      <a:r>
                        <a:rPr sz="750" b="0">
                          <a:solidFill>
                            <a:srgbClr val="555555"/>
                          </a:solidFill>
                          <a:latin typeface="Calibri"/>
                        </a:rPr>
                        <a:t> </a:t>
                      </a:r>
                      <a:r>
                        <a:rPr sz="750" b="0" err="1">
                          <a:solidFill>
                            <a:srgbClr val="555555"/>
                          </a:solidFill>
                          <a:latin typeface="Calibri"/>
                        </a:rPr>
                        <a:t>vòng</a:t>
                      </a:r>
                      <a:r>
                        <a:rPr sz="750" b="0">
                          <a:solidFill>
                            <a:srgbClr val="555555"/>
                          </a:solidFill>
                          <a:latin typeface="Calibri"/>
                        </a:rPr>
                        <a:t> </a:t>
                      </a:r>
                      <a:r>
                        <a:rPr sz="750" b="0" err="1">
                          <a:solidFill>
                            <a:srgbClr val="555555"/>
                          </a:solidFill>
                          <a:latin typeface="Calibri"/>
                        </a:rPr>
                        <a:t>theo</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đang</a:t>
                      </a:r>
                      <a:r>
                        <a:rPr sz="750" b="0">
                          <a:solidFill>
                            <a:srgbClr val="555555"/>
                          </a:solidFill>
                          <a:latin typeface="Calibri"/>
                        </a:rPr>
                        <a:t> hot, icon Mic (voice) </a:t>
                      </a:r>
                      <a:r>
                        <a:rPr sz="750" b="0" err="1">
                          <a:solidFill>
                            <a:srgbClr val="555555"/>
                          </a:solidFill>
                          <a:latin typeface="Calibri"/>
                        </a:rPr>
                        <a:t>và</a:t>
                      </a:r>
                      <a:r>
                        <a:rPr sz="750" b="0">
                          <a:solidFill>
                            <a:srgbClr val="555555"/>
                          </a:solidFill>
                          <a:latin typeface="Calibri"/>
                        </a:rPr>
                        <a:t> Camera (image), icon Giỏ </a:t>
                      </a:r>
                      <a:r>
                        <a:rPr sz="750" b="0" err="1">
                          <a:solidFill>
                            <a:srgbClr val="555555"/>
                          </a:solidFill>
                          <a:latin typeface="Calibri"/>
                        </a:rPr>
                        <a:t>hàng</a:t>
                      </a:r>
                      <a:r>
                        <a:rPr sz="750" b="0">
                          <a:solidFill>
                            <a:srgbClr val="555555"/>
                          </a:solidFill>
                          <a:latin typeface="Calibri"/>
                        </a:rPr>
                        <a:t> </a:t>
                      </a:r>
                      <a:r>
                        <a:rPr sz="750" b="0" err="1">
                          <a:solidFill>
                            <a:srgbClr val="555555"/>
                          </a:solidFill>
                          <a:latin typeface="Calibri"/>
                        </a:rPr>
                        <a:t>kèm</a:t>
                      </a:r>
                      <a:r>
                        <a:rPr sz="750" b="0">
                          <a:solidFill>
                            <a:srgbClr val="555555"/>
                          </a:solidFill>
                          <a:latin typeface="Calibri"/>
                        </a:rPr>
                        <a:t> badge </a:t>
                      </a:r>
                      <a:r>
                        <a:rPr sz="750" b="0" err="1">
                          <a:solidFill>
                            <a:srgbClr val="555555"/>
                          </a:solidFill>
                          <a:latin typeface="Calibri"/>
                        </a:rPr>
                        <a:t>số</a:t>
                      </a:r>
                      <a:r>
                        <a:rPr sz="750" b="0">
                          <a:solidFill>
                            <a:srgbClr val="555555"/>
                          </a:solidFill>
                          <a:latin typeface="Calibri"/>
                        </a:rPr>
                        <a:t> </a:t>
                      </a:r>
                      <a:r>
                        <a:rPr sz="750" b="0" err="1">
                          <a:solidFill>
                            <a:srgbClr val="555555"/>
                          </a:solidFill>
                          <a:latin typeface="Calibri"/>
                        </a:rPr>
                        <a:t>lượng</a:t>
                      </a:r>
                      <a:r>
                        <a:rPr sz="750" b="0">
                          <a:solidFill>
                            <a:srgbClr val="555555"/>
                          </a:solidFill>
                          <a:latin typeface="Calibri"/>
                        </a:rPr>
                        <a:t>. → Tap ô </a:t>
                      </a:r>
                      <a:r>
                        <a:rPr sz="750" b="0" err="1">
                          <a:solidFill>
                            <a:srgbClr val="555555"/>
                          </a:solidFill>
                          <a:latin typeface="Calibri"/>
                        </a:rPr>
                        <a:t>nhập</a:t>
                      </a:r>
                      <a:r>
                        <a:rPr sz="750" b="0">
                          <a:solidFill>
                            <a:srgbClr val="555555"/>
                          </a:solidFill>
                          <a:latin typeface="Calibri"/>
                        </a:rPr>
                        <a:t> </a:t>
                      </a:r>
                      <a:r>
                        <a:rPr sz="750" b="0" err="1">
                          <a:solidFill>
                            <a:srgbClr val="555555"/>
                          </a:solidFill>
                          <a:latin typeface="Calibri"/>
                        </a:rPr>
                        <a:t>mở</a:t>
                      </a:r>
                      <a:r>
                        <a:rPr sz="750" b="0">
                          <a:solidFill>
                            <a:srgbClr val="555555"/>
                          </a:solidFill>
                          <a:latin typeface="Calibri"/>
                        </a:rPr>
                        <a:t> SS-SCR-002. → Tap Mic </a:t>
                      </a:r>
                      <a:r>
                        <a:rPr sz="750" b="0" err="1">
                          <a:solidFill>
                            <a:srgbClr val="555555"/>
                          </a:solidFill>
                          <a:latin typeface="Calibri"/>
                        </a:rPr>
                        <a:t>mở</a:t>
                      </a:r>
                      <a:r>
                        <a:rPr sz="750" b="0">
                          <a:solidFill>
                            <a:srgbClr val="555555"/>
                          </a:solidFill>
                          <a:latin typeface="Calibri"/>
                        </a:rPr>
                        <a:t> SS-SCR-016. → Tap Camera </a:t>
                      </a:r>
                      <a:r>
                        <a:rPr sz="750" b="0" err="1">
                          <a:solidFill>
                            <a:srgbClr val="555555"/>
                          </a:solidFill>
                          <a:latin typeface="Calibri"/>
                        </a:rPr>
                        <a:t>mở</a:t>
                      </a:r>
                      <a:r>
                        <a:rPr sz="750" b="0">
                          <a:solidFill>
                            <a:srgbClr val="555555"/>
                          </a:solidFill>
                          <a:latin typeface="Calibri"/>
                        </a:rPr>
                        <a:t> SS-SCR-012.</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err="1">
                          <a:solidFill>
                            <a:srgbClr val="222222"/>
                          </a:solidFill>
                          <a:latin typeface="Calibri"/>
                        </a:rPr>
                        <a:t>Tìm</a:t>
                      </a:r>
                      <a:r>
                        <a:rPr sz="800" b="1">
                          <a:solidFill>
                            <a:srgbClr val="222222"/>
                          </a:solidFill>
                          <a:latin typeface="Calibri"/>
                        </a:rPr>
                        <a:t> </a:t>
                      </a:r>
                      <a:r>
                        <a:rPr sz="800" b="1" err="1">
                          <a:solidFill>
                            <a:srgbClr val="222222"/>
                          </a:solidFill>
                          <a:latin typeface="Calibri"/>
                        </a:rPr>
                        <a:t>kiếm</a:t>
                      </a:r>
                      <a:r>
                        <a:rPr sz="800" b="1">
                          <a:solidFill>
                            <a:srgbClr val="222222"/>
                          </a:solidFill>
                          <a:latin typeface="Calibri"/>
                        </a:rPr>
                        <a:t> </a:t>
                      </a:r>
                      <a:r>
                        <a:rPr sz="800" b="1" err="1">
                          <a:solidFill>
                            <a:srgbClr val="222222"/>
                          </a:solidFill>
                          <a:latin typeface="Calibri"/>
                        </a:rPr>
                        <a:t>gần</a:t>
                      </a:r>
                      <a:r>
                        <a:rPr sz="800" b="1">
                          <a:solidFill>
                            <a:srgbClr val="222222"/>
                          </a:solidFill>
                          <a:latin typeface="Calibri"/>
                        </a:rPr>
                        <a:t> </a:t>
                      </a:r>
                      <a:r>
                        <a:rPr sz="800" b="1" err="1">
                          <a:solidFill>
                            <a:srgbClr val="222222"/>
                          </a:solidFill>
                          <a:latin typeface="Calibri"/>
                        </a:rPr>
                        <a:t>đây</a:t>
                      </a:r>
                      <a:r>
                        <a:rPr sz="800" b="1">
                          <a:solidFill>
                            <a:srgbClr val="222222"/>
                          </a:solidFill>
                          <a:latin typeface="Calibri"/>
                        </a:rPr>
                        <a:t> — header</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err="1">
                          <a:solidFill>
                            <a:srgbClr val="555555"/>
                          </a:solidFill>
                          <a:latin typeface="Calibri"/>
                        </a:rPr>
                        <a:t>Nhãn</a:t>
                      </a:r>
                      <a:r>
                        <a:rPr sz="750" b="0">
                          <a:solidFill>
                            <a:srgbClr val="555555"/>
                          </a:solidFill>
                          <a:latin typeface="Calibri"/>
                        </a:rPr>
                        <a:t> </a:t>
                      </a:r>
                      <a:r>
                        <a:rPr sz="750" b="0" err="1">
                          <a:solidFill>
                            <a:srgbClr val="555555"/>
                          </a:solidFill>
                          <a:latin typeface="Calibri"/>
                        </a:rPr>
                        <a:t>mục</a:t>
                      </a:r>
                      <a:r>
                        <a:rPr sz="750" b="0">
                          <a:solidFill>
                            <a:srgbClr val="555555"/>
                          </a:solidFill>
                          <a:latin typeface="Calibri"/>
                        </a:rPr>
                        <a:t> + </a:t>
                      </a:r>
                      <a:r>
                        <a:rPr sz="750" b="0" err="1">
                          <a:solidFill>
                            <a:srgbClr val="555555"/>
                          </a:solidFill>
                          <a:latin typeface="Calibri"/>
                        </a:rPr>
                        <a:t>hành</a:t>
                      </a:r>
                      <a:r>
                        <a:rPr sz="750" b="0">
                          <a:solidFill>
                            <a:srgbClr val="555555"/>
                          </a:solidFill>
                          <a:latin typeface="Calibri"/>
                        </a:rPr>
                        <a:t> </a:t>
                      </a:r>
                      <a:r>
                        <a:rPr sz="750" b="0" err="1">
                          <a:solidFill>
                            <a:srgbClr val="555555"/>
                          </a:solidFill>
                          <a:latin typeface="Calibri"/>
                        </a:rPr>
                        <a:t>động</a:t>
                      </a:r>
                      <a:r>
                        <a:rPr sz="750" b="0">
                          <a:solidFill>
                            <a:srgbClr val="555555"/>
                          </a:solidFill>
                          <a:latin typeface="Calibri"/>
                        </a:rPr>
                        <a:t> "</a:t>
                      </a:r>
                      <a:r>
                        <a:rPr sz="750" b="0" err="1">
                          <a:solidFill>
                            <a:srgbClr val="555555"/>
                          </a:solidFill>
                          <a:latin typeface="Calibri"/>
                        </a:rPr>
                        <a:t>Xoá</a:t>
                      </a:r>
                      <a:r>
                        <a:rPr sz="750" b="0">
                          <a:solidFill>
                            <a:srgbClr val="555555"/>
                          </a:solidFill>
                          <a:latin typeface="Calibri"/>
                        </a:rPr>
                        <a:t> </a:t>
                      </a:r>
                      <a:r>
                        <a:rPr sz="750" b="0" err="1">
                          <a:solidFill>
                            <a:srgbClr val="555555"/>
                          </a:solidFill>
                          <a:latin typeface="Calibri"/>
                        </a:rPr>
                        <a:t>tất</a:t>
                      </a:r>
                      <a:r>
                        <a:rPr sz="750" b="0">
                          <a:solidFill>
                            <a:srgbClr val="555555"/>
                          </a:solidFill>
                          <a:latin typeface="Calibri"/>
                        </a:rPr>
                        <a:t> </a:t>
                      </a:r>
                      <a:r>
                        <a:rPr sz="750" b="0" err="1">
                          <a:solidFill>
                            <a:srgbClr val="555555"/>
                          </a:solidFill>
                          <a:latin typeface="Calibri"/>
                        </a:rPr>
                        <a:t>cả</a:t>
                      </a:r>
                      <a:r>
                        <a:rPr sz="750" b="0">
                          <a:solidFill>
                            <a:srgbClr val="555555"/>
                          </a:solidFill>
                          <a:latin typeface="Calibri"/>
                        </a:rPr>
                        <a:t>" (</a:t>
                      </a:r>
                      <a:r>
                        <a:rPr sz="750" b="0" err="1">
                          <a:solidFill>
                            <a:srgbClr val="555555"/>
                          </a:solidFill>
                          <a:latin typeface="Calibri"/>
                        </a:rPr>
                        <a:t>xoá</a:t>
                      </a:r>
                      <a:r>
                        <a:rPr sz="750" b="0">
                          <a:solidFill>
                            <a:srgbClr val="555555"/>
                          </a:solidFill>
                          <a:latin typeface="Calibri"/>
                        </a:rPr>
                        <a:t> </a:t>
                      </a:r>
                      <a:r>
                        <a:rPr sz="750" b="0" err="1">
                          <a:solidFill>
                            <a:srgbClr val="555555"/>
                          </a:solidFill>
                          <a:latin typeface="Calibri"/>
                        </a:rPr>
                        <a:t>toàn</a:t>
                      </a:r>
                      <a:r>
                        <a:rPr sz="750" b="0">
                          <a:solidFill>
                            <a:srgbClr val="555555"/>
                          </a:solidFill>
                          <a:latin typeface="Calibri"/>
                        </a:rPr>
                        <a:t> </a:t>
                      </a:r>
                      <a:r>
                        <a:rPr sz="750" b="0" err="1">
                          <a:solidFill>
                            <a:srgbClr val="555555"/>
                          </a:solidFill>
                          <a:latin typeface="Calibri"/>
                        </a:rPr>
                        <a:t>bộ</a:t>
                      </a:r>
                      <a:r>
                        <a:rPr sz="750" b="0">
                          <a:solidFill>
                            <a:srgbClr val="555555"/>
                          </a:solidFill>
                          <a:latin typeface="Calibri"/>
                        </a:rPr>
                        <a:t> </a:t>
                      </a:r>
                      <a:r>
                        <a:rPr sz="750" b="0" err="1">
                          <a:solidFill>
                            <a:srgbClr val="555555"/>
                          </a:solidFill>
                          <a:latin typeface="Calibri"/>
                        </a:rPr>
                        <a:t>lịch</a:t>
                      </a:r>
                      <a:r>
                        <a:rPr sz="750" b="0">
                          <a:solidFill>
                            <a:srgbClr val="555555"/>
                          </a:solidFill>
                          <a:latin typeface="Calibri"/>
                        </a:rPr>
                        <a:t> </a:t>
                      </a:r>
                      <a:r>
                        <a:rPr sz="750" b="0" err="1">
                          <a:solidFill>
                            <a:srgbClr val="555555"/>
                          </a:solidFill>
                          <a:latin typeface="Calibri"/>
                        </a:rPr>
                        <a:t>sử</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kiếm</a:t>
                      </a:r>
                      <a:r>
                        <a:rPr sz="750" b="0">
                          <a:solidFill>
                            <a:srgbClr val="555555"/>
                          </a:solidFill>
                          <a:latin typeface="Calibri"/>
                        </a:rPr>
                        <a:t> </a:t>
                      </a:r>
                      <a:r>
                        <a:rPr sz="750" b="0" err="1">
                          <a:solidFill>
                            <a:srgbClr val="555555"/>
                          </a:solidFill>
                          <a:latin typeface="Calibri"/>
                        </a:rPr>
                        <a:t>cục</a:t>
                      </a:r>
                      <a:r>
                        <a:rPr sz="750" b="0">
                          <a:solidFill>
                            <a:srgbClr val="555555"/>
                          </a:solidFill>
                          <a:latin typeface="Calibri"/>
                        </a:rPr>
                        <a:t> </a:t>
                      </a:r>
                      <a:r>
                        <a:rPr sz="750" b="0" err="1">
                          <a:solidFill>
                            <a:srgbClr val="555555"/>
                          </a:solidFill>
                          <a:latin typeface="Calibri"/>
                        </a:rPr>
                        <a:t>bộ</a:t>
                      </a:r>
                      <a:r>
                        <a:rPr sz="750" b="0">
                          <a:solidFill>
                            <a:srgbClr val="555555"/>
                          </a:solidFill>
                          <a:latin typeface="Calibri"/>
                        </a:rPr>
                        <a:t> </a:t>
                      </a:r>
                      <a:r>
                        <a:rPr sz="750" b="0" err="1">
                          <a:solidFill>
                            <a:srgbClr val="555555"/>
                          </a:solidFill>
                          <a:latin typeface="Calibri"/>
                        </a:rPr>
                        <a:t>của</a:t>
                      </a:r>
                      <a:r>
                        <a:rPr sz="750" b="0">
                          <a:solidFill>
                            <a:srgbClr val="555555"/>
                          </a:solidFill>
                          <a:latin typeface="Calibri"/>
                        </a:rPr>
                        <a:t> </a:t>
                      </a:r>
                      <a:r>
                        <a:rPr sz="750" b="0" err="1">
                          <a:solidFill>
                            <a:srgbClr val="555555"/>
                          </a:solidFill>
                          <a:latin typeface="Calibri"/>
                        </a:rPr>
                        <a:t>thiết</a:t>
                      </a:r>
                      <a:r>
                        <a:rPr sz="750" b="0">
                          <a:solidFill>
                            <a:srgbClr val="555555"/>
                          </a:solidFill>
                          <a:latin typeface="Calibri"/>
                        </a:rPr>
                        <a:t> </a:t>
                      </a:r>
                      <a:r>
                        <a:rPr sz="750" b="0" err="1">
                          <a:solidFill>
                            <a:srgbClr val="555555"/>
                          </a:solidFill>
                          <a:latin typeface="Calibri"/>
                        </a:rPr>
                        <a:t>bị</a:t>
                      </a:r>
                      <a:r>
                        <a:rPr sz="750" b="0">
                          <a:solidFill>
                            <a:srgbClr val="555555"/>
                          </a:solidFill>
                          <a:latin typeface="Calibri"/>
                        </a:rPr>
                        <a:t>/</a:t>
                      </a:r>
                      <a:r>
                        <a:rPr sz="750" b="0" err="1">
                          <a:solidFill>
                            <a:srgbClr val="555555"/>
                          </a:solidFill>
                          <a:latin typeface="Calibri"/>
                        </a:rPr>
                        <a:t>tài</a:t>
                      </a:r>
                      <a:r>
                        <a:rPr sz="750" b="0">
                          <a:solidFill>
                            <a:srgbClr val="555555"/>
                          </a:solidFill>
                          <a:latin typeface="Calibri"/>
                        </a:rPr>
                        <a:t> </a:t>
                      </a:r>
                      <a:r>
                        <a:rPr sz="750" b="0" err="1">
                          <a:solidFill>
                            <a:srgbClr val="555555"/>
                          </a:solidFill>
                          <a:latin typeface="Calibri"/>
                        </a:rPr>
                        <a:t>khoản</a:t>
                      </a:r>
                      <a:r>
                        <a:rPr sz="750" b="0">
                          <a:solidFill>
                            <a:srgbClr val="555555"/>
                          </a:solidFill>
                          <a:latin typeface="Calibri"/>
                        </a:rPr>
                        <a:t>). ⚠ </a:t>
                      </a:r>
                      <a:r>
                        <a:rPr sz="750" b="0" err="1">
                          <a:solidFill>
                            <a:srgbClr val="555555"/>
                          </a:solidFill>
                          <a:latin typeface="Calibri"/>
                        </a:rPr>
                        <a:t>Ẩn</a:t>
                      </a:r>
                      <a:r>
                        <a:rPr sz="750" b="0">
                          <a:solidFill>
                            <a:srgbClr val="555555"/>
                          </a:solidFill>
                          <a:latin typeface="Calibri"/>
                        </a:rPr>
                        <a:t> </a:t>
                      </a:r>
                      <a:r>
                        <a:rPr sz="750" b="0" err="1">
                          <a:solidFill>
                            <a:srgbClr val="555555"/>
                          </a:solidFill>
                          <a:latin typeface="Calibri"/>
                        </a:rPr>
                        <a:t>cả</a:t>
                      </a:r>
                      <a:r>
                        <a:rPr sz="750" b="0">
                          <a:solidFill>
                            <a:srgbClr val="555555"/>
                          </a:solidFill>
                          <a:latin typeface="Calibri"/>
                        </a:rPr>
                        <a:t> </a:t>
                      </a:r>
                      <a:r>
                        <a:rPr sz="750" b="0" err="1">
                          <a:solidFill>
                            <a:srgbClr val="555555"/>
                          </a:solidFill>
                          <a:latin typeface="Calibri"/>
                        </a:rPr>
                        <a:t>khối</a:t>
                      </a:r>
                      <a:r>
                        <a:rPr sz="750" b="0">
                          <a:solidFill>
                            <a:srgbClr val="555555"/>
                          </a:solidFill>
                          <a:latin typeface="Calibri"/>
                        </a:rPr>
                        <a:t> </a:t>
                      </a:r>
                      <a:r>
                        <a:rPr sz="750" b="0" err="1">
                          <a:solidFill>
                            <a:srgbClr val="555555"/>
                          </a:solidFill>
                          <a:latin typeface="Calibri"/>
                        </a:rPr>
                        <a:t>nếu</a:t>
                      </a:r>
                      <a:r>
                        <a:rPr sz="750" b="0">
                          <a:solidFill>
                            <a:srgbClr val="555555"/>
                          </a:solidFill>
                          <a:latin typeface="Calibri"/>
                        </a:rPr>
                        <a:t> </a:t>
                      </a:r>
                      <a:r>
                        <a:rPr sz="750" b="0" err="1">
                          <a:solidFill>
                            <a:srgbClr val="555555"/>
                          </a:solidFill>
                          <a:latin typeface="Calibri"/>
                        </a:rPr>
                        <a:t>lịch</a:t>
                      </a:r>
                      <a:r>
                        <a:rPr sz="750" b="0">
                          <a:solidFill>
                            <a:srgbClr val="555555"/>
                          </a:solidFill>
                          <a:latin typeface="Calibri"/>
                        </a:rPr>
                        <a:t> </a:t>
                      </a:r>
                      <a:r>
                        <a:rPr sz="750" b="0" err="1">
                          <a:solidFill>
                            <a:srgbClr val="555555"/>
                          </a:solidFill>
                          <a:latin typeface="Calibri"/>
                        </a:rPr>
                        <a:t>sử</a:t>
                      </a:r>
                      <a:r>
                        <a:rPr sz="750" b="0">
                          <a:solidFill>
                            <a:srgbClr val="555555"/>
                          </a:solidFill>
                          <a:latin typeface="Calibri"/>
                        </a:rPr>
                        <a:t> </a:t>
                      </a:r>
                      <a:r>
                        <a:rPr sz="750" b="0" err="1">
                          <a:solidFill>
                            <a:srgbClr val="555555"/>
                          </a:solidFill>
                          <a:latin typeface="Calibri"/>
                        </a:rPr>
                        <a:t>rỗng</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Chip </a:t>
                      </a:r>
                      <a:r>
                        <a:rPr sz="800" b="1" err="1">
                          <a:solidFill>
                            <a:srgbClr val="222222"/>
                          </a:solidFill>
                          <a:latin typeface="Calibri"/>
                        </a:rPr>
                        <a:t>từ</a:t>
                      </a:r>
                      <a:r>
                        <a:rPr sz="800" b="1">
                          <a:solidFill>
                            <a:srgbClr val="222222"/>
                          </a:solidFill>
                          <a:latin typeface="Calibri"/>
                        </a:rPr>
                        <a:t> </a:t>
                      </a:r>
                      <a:r>
                        <a:rPr sz="800" b="1" err="1">
                          <a:solidFill>
                            <a:srgbClr val="222222"/>
                          </a:solidFill>
                          <a:latin typeface="Calibri"/>
                        </a:rPr>
                        <a:t>khoá</a:t>
                      </a:r>
                      <a:r>
                        <a:rPr sz="800" b="1">
                          <a:solidFill>
                            <a:srgbClr val="222222"/>
                          </a:solidFill>
                          <a:latin typeface="Calibri"/>
                        </a:rPr>
                        <a:t> </a:t>
                      </a:r>
                      <a:r>
                        <a:rPr sz="800" b="1" err="1">
                          <a:solidFill>
                            <a:srgbClr val="222222"/>
                          </a:solidFill>
                          <a:latin typeface="Calibri"/>
                        </a:rPr>
                        <a:t>gần</a:t>
                      </a:r>
                      <a:r>
                        <a:rPr sz="800" b="1">
                          <a:solidFill>
                            <a:srgbClr val="222222"/>
                          </a:solidFill>
                          <a:latin typeface="Calibri"/>
                        </a:rPr>
                        <a:t> </a:t>
                      </a:r>
                      <a:r>
                        <a:rPr sz="800" b="1" err="1">
                          <a:solidFill>
                            <a:srgbClr val="222222"/>
                          </a:solidFill>
                          <a:latin typeface="Calibri"/>
                        </a:rPr>
                        <a:t>đây</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Hiển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dạng</a:t>
                      </a:r>
                      <a:r>
                        <a:rPr sz="750" b="0">
                          <a:solidFill>
                            <a:srgbClr val="555555"/>
                          </a:solidFill>
                          <a:latin typeface="Calibri"/>
                        </a:rPr>
                        <a:t> chip </a:t>
                      </a:r>
                      <a:r>
                        <a:rPr sz="750" b="0" err="1">
                          <a:solidFill>
                            <a:srgbClr val="555555"/>
                          </a:solidFill>
                          <a:latin typeface="Calibri"/>
                        </a:rPr>
                        <a:t>ngang</a:t>
                      </a:r>
                      <a:r>
                        <a:rPr sz="750" b="0">
                          <a:solidFill>
                            <a:srgbClr val="555555"/>
                          </a:solidFill>
                          <a:latin typeface="Calibri"/>
                        </a:rPr>
                        <a:t>, </a:t>
                      </a:r>
                      <a:r>
                        <a:rPr sz="750" b="0" err="1">
                          <a:solidFill>
                            <a:srgbClr val="555555"/>
                          </a:solidFill>
                          <a:latin typeface="Calibri"/>
                        </a:rPr>
                        <a:t>tối</a:t>
                      </a:r>
                      <a:r>
                        <a:rPr sz="750" b="0">
                          <a:solidFill>
                            <a:srgbClr val="555555"/>
                          </a:solidFill>
                          <a:latin typeface="Calibri"/>
                        </a:rPr>
                        <a:t> </a:t>
                      </a:r>
                      <a:r>
                        <a:rPr sz="750" b="0" err="1">
                          <a:solidFill>
                            <a:srgbClr val="555555"/>
                          </a:solidFill>
                          <a:latin typeface="Calibri"/>
                        </a:rPr>
                        <a:t>đa</a:t>
                      </a:r>
                      <a:r>
                        <a:rPr sz="750" b="0">
                          <a:solidFill>
                            <a:srgbClr val="555555"/>
                          </a:solidFill>
                          <a:latin typeface="Calibri"/>
                        </a:rPr>
                        <a:t> 10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gần</a:t>
                      </a:r>
                      <a:r>
                        <a:rPr sz="750" b="0">
                          <a:solidFill>
                            <a:srgbClr val="555555"/>
                          </a:solidFill>
                          <a:latin typeface="Calibri"/>
                        </a:rPr>
                        <a:t> </a:t>
                      </a:r>
                      <a:r>
                        <a:rPr sz="750" b="0" err="1">
                          <a:solidFill>
                            <a:srgbClr val="555555"/>
                          </a:solidFill>
                          <a:latin typeface="Calibri"/>
                        </a:rPr>
                        <a:t>nhất</a:t>
                      </a:r>
                      <a:r>
                        <a:rPr sz="750" b="0">
                          <a:solidFill>
                            <a:srgbClr val="555555"/>
                          </a:solidFill>
                          <a:latin typeface="Calibri"/>
                        </a:rPr>
                        <a:t>, </a:t>
                      </a:r>
                      <a:r>
                        <a:rPr sz="750" b="0" err="1">
                          <a:solidFill>
                            <a:srgbClr val="555555"/>
                          </a:solidFill>
                          <a:latin typeface="Calibri"/>
                        </a:rPr>
                        <a:t>mới</a:t>
                      </a:r>
                      <a:r>
                        <a:rPr sz="750" b="0">
                          <a:solidFill>
                            <a:srgbClr val="555555"/>
                          </a:solidFill>
                          <a:latin typeface="Calibri"/>
                        </a:rPr>
                        <a:t> </a:t>
                      </a:r>
                      <a:r>
                        <a:rPr sz="750" b="0" err="1">
                          <a:solidFill>
                            <a:srgbClr val="555555"/>
                          </a:solidFill>
                          <a:latin typeface="Calibri"/>
                        </a:rPr>
                        <a:t>nhất</a:t>
                      </a:r>
                      <a:r>
                        <a:rPr sz="750" b="0">
                          <a:solidFill>
                            <a:srgbClr val="555555"/>
                          </a:solidFill>
                          <a:latin typeface="Calibri"/>
                        </a:rPr>
                        <a:t> </a:t>
                      </a:r>
                      <a:r>
                        <a:rPr sz="750" b="0" err="1">
                          <a:solidFill>
                            <a:srgbClr val="555555"/>
                          </a:solidFill>
                          <a:latin typeface="Calibri"/>
                        </a:rPr>
                        <a:t>đứng</a:t>
                      </a:r>
                      <a:r>
                        <a:rPr sz="750" b="0">
                          <a:solidFill>
                            <a:srgbClr val="555555"/>
                          </a:solidFill>
                          <a:latin typeface="Calibri"/>
                        </a:rPr>
                        <a:t> </a:t>
                      </a:r>
                      <a:r>
                        <a:rPr sz="750" b="0" err="1">
                          <a:solidFill>
                            <a:srgbClr val="555555"/>
                          </a:solidFill>
                          <a:latin typeface="Calibri"/>
                        </a:rPr>
                        <a:t>trước</a:t>
                      </a:r>
                      <a:r>
                        <a:rPr sz="750" b="0">
                          <a:solidFill>
                            <a:srgbClr val="555555"/>
                          </a:solidFill>
                          <a:latin typeface="Calibri"/>
                        </a:rPr>
                        <a:t>. </a:t>
                      </a:r>
                      <a:r>
                        <a:rPr sz="750" b="0" err="1">
                          <a:solidFill>
                            <a:srgbClr val="555555"/>
                          </a:solidFill>
                          <a:latin typeface="Calibri"/>
                        </a:rPr>
                        <a:t>Dạng</a:t>
                      </a:r>
                      <a:r>
                        <a:rPr sz="750" b="0">
                          <a:solidFill>
                            <a:srgbClr val="555555"/>
                          </a:solidFill>
                          <a:latin typeface="Calibri"/>
                        </a:rPr>
                        <a:t> chip (</a:t>
                      </a:r>
                      <a:r>
                        <a:rPr sz="750" b="0" err="1">
                          <a:solidFill>
                            <a:srgbClr val="555555"/>
                          </a:solidFill>
                          <a:latin typeface="Calibri"/>
                        </a:rPr>
                        <a:t>thay</a:t>
                      </a:r>
                      <a:r>
                        <a:rPr sz="750" b="0">
                          <a:solidFill>
                            <a:srgbClr val="555555"/>
                          </a:solidFill>
                          <a:latin typeface="Calibri"/>
                        </a:rPr>
                        <a:t> </a:t>
                      </a:r>
                      <a:r>
                        <a:rPr sz="750" b="0" err="1">
                          <a:solidFill>
                            <a:srgbClr val="555555"/>
                          </a:solidFill>
                          <a:latin typeface="Calibri"/>
                        </a:rPr>
                        <a:t>cho</a:t>
                      </a:r>
                      <a:r>
                        <a:rPr sz="750" b="0">
                          <a:solidFill>
                            <a:srgbClr val="555555"/>
                          </a:solidFill>
                          <a:latin typeface="Calibri"/>
                        </a:rPr>
                        <a:t> list </a:t>
                      </a:r>
                      <a:r>
                        <a:rPr sz="750" b="0" err="1">
                          <a:solidFill>
                            <a:srgbClr val="555555"/>
                          </a:solidFill>
                          <a:latin typeface="Calibri"/>
                        </a:rPr>
                        <a:t>dọc</a:t>
                      </a:r>
                      <a:r>
                        <a:rPr sz="750" b="0">
                          <a:solidFill>
                            <a:srgbClr val="555555"/>
                          </a:solidFill>
                          <a:latin typeface="Calibri"/>
                        </a:rPr>
                        <a:t>)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tiết</a:t>
                      </a:r>
                      <a:r>
                        <a:rPr sz="750" b="0">
                          <a:solidFill>
                            <a:srgbClr val="555555"/>
                          </a:solidFill>
                          <a:latin typeface="Calibri"/>
                        </a:rPr>
                        <a:t> </a:t>
                      </a:r>
                      <a:r>
                        <a:rPr sz="750" b="0" err="1">
                          <a:solidFill>
                            <a:srgbClr val="555555"/>
                          </a:solidFill>
                          <a:latin typeface="Calibri"/>
                        </a:rPr>
                        <a:t>kiệm</a:t>
                      </a:r>
                      <a:r>
                        <a:rPr sz="750" b="0">
                          <a:solidFill>
                            <a:srgbClr val="555555"/>
                          </a:solidFill>
                          <a:latin typeface="Calibri"/>
                        </a:rPr>
                        <a:t> </a:t>
                      </a:r>
                      <a:r>
                        <a:rPr sz="750" b="0" err="1">
                          <a:solidFill>
                            <a:srgbClr val="555555"/>
                          </a:solidFill>
                          <a:latin typeface="Calibri"/>
                        </a:rPr>
                        <a:t>diện</a:t>
                      </a:r>
                      <a:r>
                        <a:rPr sz="750" b="0">
                          <a:solidFill>
                            <a:srgbClr val="555555"/>
                          </a:solidFill>
                          <a:latin typeface="Calibri"/>
                        </a:rPr>
                        <a:t> </a:t>
                      </a:r>
                      <a:r>
                        <a:rPr sz="750" b="0" err="1">
                          <a:solidFill>
                            <a:srgbClr val="555555"/>
                          </a:solidFill>
                          <a:latin typeface="Calibri"/>
                        </a:rPr>
                        <a:t>tích</a:t>
                      </a:r>
                      <a:r>
                        <a:rPr sz="750" b="0">
                          <a:solidFill>
                            <a:srgbClr val="555555"/>
                          </a:solidFill>
                          <a:latin typeface="Calibri"/>
                        </a:rPr>
                        <a:t> — </a:t>
                      </a:r>
                      <a:r>
                        <a:rPr sz="750" b="0" err="1">
                          <a:solidFill>
                            <a:srgbClr val="555555"/>
                          </a:solidFill>
                          <a:latin typeface="Calibri"/>
                        </a:rPr>
                        <a:t>phù</a:t>
                      </a:r>
                      <a:r>
                        <a:rPr sz="750" b="0">
                          <a:solidFill>
                            <a:srgbClr val="555555"/>
                          </a:solidFill>
                          <a:latin typeface="Calibri"/>
                        </a:rPr>
                        <a:t> </a:t>
                      </a:r>
                      <a:r>
                        <a:rPr sz="750" b="0" err="1">
                          <a:solidFill>
                            <a:srgbClr val="555555"/>
                          </a:solidFill>
                          <a:latin typeface="Calibri"/>
                        </a:rPr>
                        <a:t>hợp</a:t>
                      </a:r>
                      <a:r>
                        <a:rPr sz="750" b="0">
                          <a:solidFill>
                            <a:srgbClr val="555555"/>
                          </a:solidFill>
                          <a:latin typeface="Calibri"/>
                        </a:rPr>
                        <a:t> </a:t>
                      </a:r>
                      <a:r>
                        <a:rPr sz="750" b="0" err="1">
                          <a:solidFill>
                            <a:srgbClr val="555555"/>
                          </a:solidFill>
                          <a:latin typeface="Calibri"/>
                        </a:rPr>
                        <a:t>hành</a:t>
                      </a:r>
                      <a:r>
                        <a:rPr sz="750" b="0">
                          <a:solidFill>
                            <a:srgbClr val="555555"/>
                          </a:solidFill>
                          <a:latin typeface="Calibri"/>
                        </a:rPr>
                        <a:t> vi </a:t>
                      </a:r>
                      <a:r>
                        <a:rPr sz="750" b="0" err="1">
                          <a:solidFill>
                            <a:srgbClr val="555555"/>
                          </a:solidFill>
                          <a:latin typeface="Calibri"/>
                        </a:rPr>
                        <a:t>mua</a:t>
                      </a:r>
                      <a:r>
                        <a:rPr sz="750" b="0">
                          <a:solidFill>
                            <a:srgbClr val="555555"/>
                          </a:solidFill>
                          <a:latin typeface="Calibri"/>
                        </a:rPr>
                        <a:t> FMCG </a:t>
                      </a:r>
                      <a:r>
                        <a:rPr sz="750" b="0" err="1">
                          <a:solidFill>
                            <a:srgbClr val="555555"/>
                          </a:solidFill>
                          <a:latin typeface="Calibri"/>
                        </a:rPr>
                        <a:t>lặp</a:t>
                      </a:r>
                      <a:r>
                        <a:rPr sz="750" b="0">
                          <a:solidFill>
                            <a:srgbClr val="555555"/>
                          </a:solidFill>
                          <a:latin typeface="Calibri"/>
                        </a:rPr>
                        <a:t> </a:t>
                      </a:r>
                      <a:r>
                        <a:rPr sz="750" b="0" err="1">
                          <a:solidFill>
                            <a:srgbClr val="555555"/>
                          </a:solidFill>
                          <a:latin typeface="Calibri"/>
                        </a:rPr>
                        <a:t>lại</a:t>
                      </a:r>
                      <a:r>
                        <a:rPr sz="750" b="0">
                          <a:solidFill>
                            <a:srgbClr val="555555"/>
                          </a:solidFill>
                          <a:latin typeface="Calibri"/>
                        </a:rPr>
                        <a:t>. → Tap chip </a:t>
                      </a:r>
                      <a:r>
                        <a:rPr sz="750" b="0" err="1">
                          <a:solidFill>
                            <a:srgbClr val="555555"/>
                          </a:solidFill>
                          <a:latin typeface="Calibri"/>
                        </a:rPr>
                        <a:t>chạy</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kiếm</a:t>
                      </a:r>
                      <a:r>
                        <a:rPr sz="750" b="0">
                          <a:solidFill>
                            <a:srgbClr val="555555"/>
                          </a:solidFill>
                          <a:latin typeface="Calibri"/>
                        </a:rPr>
                        <a:t> </a:t>
                      </a:r>
                      <a:r>
                        <a:rPr sz="750" b="0" err="1">
                          <a:solidFill>
                            <a:srgbClr val="555555"/>
                          </a:solidFill>
                          <a:latin typeface="Calibri"/>
                        </a:rPr>
                        <a:t>ngay</a:t>
                      </a:r>
                      <a:r>
                        <a:rPr sz="750" b="0">
                          <a:solidFill>
                            <a:srgbClr val="555555"/>
                          </a:solidFill>
                          <a:latin typeface="Calibri"/>
                        </a:rPr>
                        <a:t> (SS-SCR-004).</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Xu </a:t>
                      </a:r>
                      <a:r>
                        <a:rPr sz="800" b="1" err="1">
                          <a:solidFill>
                            <a:srgbClr val="222222"/>
                          </a:solidFill>
                          <a:latin typeface="Calibri"/>
                        </a:rPr>
                        <a:t>hướng</a:t>
                      </a:r>
                      <a:r>
                        <a:rPr sz="800" b="1">
                          <a:solidFill>
                            <a:srgbClr val="222222"/>
                          </a:solidFill>
                          <a:latin typeface="Calibri"/>
                        </a:rPr>
                        <a:t> </a:t>
                      </a:r>
                      <a:r>
                        <a:rPr sz="800" b="1" err="1">
                          <a:solidFill>
                            <a:srgbClr val="222222"/>
                          </a:solidFill>
                          <a:latin typeface="Calibri"/>
                        </a:rPr>
                        <a:t>tìm</a:t>
                      </a:r>
                      <a:r>
                        <a:rPr sz="800" b="1">
                          <a:solidFill>
                            <a:srgbClr val="222222"/>
                          </a:solidFill>
                          <a:latin typeface="Calibri"/>
                        </a:rPr>
                        <a:t> </a:t>
                      </a:r>
                      <a:r>
                        <a:rPr sz="800" b="1" err="1">
                          <a:solidFill>
                            <a:srgbClr val="222222"/>
                          </a:solidFill>
                          <a:latin typeface="Calibri"/>
                        </a:rPr>
                        <a:t>kiếm</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Top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nhiều</a:t>
                      </a:r>
                      <a:r>
                        <a:rPr sz="750" b="0">
                          <a:solidFill>
                            <a:srgbClr val="555555"/>
                          </a:solidFill>
                          <a:latin typeface="Calibri"/>
                        </a:rPr>
                        <a:t> </a:t>
                      </a:r>
                      <a:r>
                        <a:rPr sz="750" b="0" err="1">
                          <a:solidFill>
                            <a:srgbClr val="555555"/>
                          </a:solidFill>
                          <a:latin typeface="Calibri"/>
                        </a:rPr>
                        <a:t>nhất</a:t>
                      </a:r>
                      <a:r>
                        <a:rPr sz="750" b="0">
                          <a:solidFill>
                            <a:srgbClr val="555555"/>
                          </a:solidFill>
                          <a:latin typeface="Calibri"/>
                        </a:rPr>
                        <a:t> </a:t>
                      </a:r>
                      <a:r>
                        <a:rPr sz="750" b="0" err="1">
                          <a:solidFill>
                            <a:srgbClr val="555555"/>
                          </a:solidFill>
                          <a:latin typeface="Calibri"/>
                        </a:rPr>
                        <a:t>toàn</a:t>
                      </a:r>
                      <a:r>
                        <a:rPr sz="750" b="0">
                          <a:solidFill>
                            <a:srgbClr val="555555"/>
                          </a:solidFill>
                          <a:latin typeface="Calibri"/>
                        </a:rPr>
                        <a:t> </a:t>
                      </a:r>
                      <a:r>
                        <a:rPr sz="750" b="0" err="1">
                          <a:solidFill>
                            <a:srgbClr val="555555"/>
                          </a:solidFill>
                          <a:latin typeface="Calibri"/>
                        </a:rPr>
                        <a:t>hệ</a:t>
                      </a:r>
                      <a:r>
                        <a:rPr sz="750" b="0">
                          <a:solidFill>
                            <a:srgbClr val="555555"/>
                          </a:solidFill>
                          <a:latin typeface="Calibri"/>
                        </a:rPr>
                        <a:t> </a:t>
                      </a:r>
                      <a:r>
                        <a:rPr sz="750" b="0" err="1">
                          <a:solidFill>
                            <a:srgbClr val="555555"/>
                          </a:solidFill>
                          <a:latin typeface="Calibri"/>
                        </a:rPr>
                        <a:t>thống</a:t>
                      </a:r>
                      <a:r>
                        <a:rPr sz="750" b="0">
                          <a:solidFill>
                            <a:srgbClr val="555555"/>
                          </a:solidFill>
                          <a:latin typeface="Calibri"/>
                        </a:rPr>
                        <a:t>. </a:t>
                      </a:r>
                      <a:r>
                        <a:rPr sz="750" b="0" err="1">
                          <a:solidFill>
                            <a:srgbClr val="555555"/>
                          </a:solidFill>
                          <a:latin typeface="Calibri"/>
                        </a:rPr>
                        <a:t>Thuật</a:t>
                      </a:r>
                      <a:r>
                        <a:rPr sz="750" b="0">
                          <a:solidFill>
                            <a:srgbClr val="555555"/>
                          </a:solidFill>
                          <a:latin typeface="Calibri"/>
                        </a:rPr>
                        <a:t> </a:t>
                      </a:r>
                      <a:r>
                        <a:rPr sz="750" b="0" err="1">
                          <a:solidFill>
                            <a:srgbClr val="555555"/>
                          </a:solidFill>
                          <a:latin typeface="Calibri"/>
                        </a:rPr>
                        <a:t>toán</a:t>
                      </a:r>
                      <a:r>
                        <a:rPr sz="750" b="0">
                          <a:solidFill>
                            <a:srgbClr val="555555"/>
                          </a:solidFill>
                          <a:latin typeface="Calibri"/>
                        </a:rPr>
                        <a:t>: </a:t>
                      </a:r>
                      <a:r>
                        <a:rPr sz="750" b="0" err="1">
                          <a:solidFill>
                            <a:srgbClr val="555555"/>
                          </a:solidFill>
                          <a:latin typeface="Calibri"/>
                        </a:rPr>
                        <a:t>gom</a:t>
                      </a:r>
                      <a:r>
                        <a:rPr sz="750" b="0">
                          <a:solidFill>
                            <a:srgbClr val="555555"/>
                          </a:solidFill>
                          <a:latin typeface="Calibri"/>
                        </a:rPr>
                        <a:t> </a:t>
                      </a:r>
                      <a:r>
                        <a:rPr sz="750" b="0" err="1">
                          <a:solidFill>
                            <a:srgbClr val="555555"/>
                          </a:solidFill>
                          <a:latin typeface="Calibri"/>
                        </a:rPr>
                        <a:t>nhóm</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đã</a:t>
                      </a:r>
                      <a:r>
                        <a:rPr sz="750" b="0">
                          <a:solidFill>
                            <a:srgbClr val="555555"/>
                          </a:solidFill>
                          <a:latin typeface="Calibri"/>
                        </a:rPr>
                        <a:t> search </a:t>
                      </a:r>
                      <a:r>
                        <a:rPr sz="750" b="0" err="1">
                          <a:solidFill>
                            <a:srgbClr val="555555"/>
                          </a:solidFill>
                          <a:latin typeface="Calibri"/>
                        </a:rPr>
                        <a:t>trong</a:t>
                      </a:r>
                      <a:r>
                        <a:rPr sz="750" b="0">
                          <a:solidFill>
                            <a:srgbClr val="555555"/>
                          </a:solidFill>
                          <a:latin typeface="Calibri"/>
                        </a:rPr>
                        <a:t> 7 </a:t>
                      </a:r>
                      <a:r>
                        <a:rPr sz="750" b="0" err="1">
                          <a:solidFill>
                            <a:srgbClr val="555555"/>
                          </a:solidFill>
                          <a:latin typeface="Calibri"/>
                        </a:rPr>
                        <a:t>ngày</a:t>
                      </a:r>
                      <a:r>
                        <a:rPr lang="en-US" sz="750" b="0">
                          <a:solidFill>
                            <a:srgbClr val="555555"/>
                          </a:solidFill>
                          <a:latin typeface="Calibri"/>
                        </a:rPr>
                        <a:t>,</a:t>
                      </a:r>
                      <a:r>
                        <a:rPr sz="750" b="0">
                          <a:solidFill>
                            <a:srgbClr val="555555"/>
                          </a:solidFill>
                          <a:latin typeface="Calibri"/>
                        </a:rPr>
                        <a:t> </a:t>
                      </a:r>
                      <a:r>
                        <a:rPr sz="750" b="0" err="1">
                          <a:solidFill>
                            <a:srgbClr val="555555"/>
                          </a:solidFill>
                          <a:latin typeface="Calibri"/>
                        </a:rPr>
                        <a:t>tính</a:t>
                      </a:r>
                      <a:r>
                        <a:rPr sz="750" b="0">
                          <a:solidFill>
                            <a:srgbClr val="555555"/>
                          </a:solidFill>
                          <a:latin typeface="Calibri"/>
                        </a:rPr>
                        <a:t> Trending Score </a:t>
                      </a:r>
                      <a:r>
                        <a:rPr sz="750" b="0" err="1">
                          <a:solidFill>
                            <a:srgbClr val="555555"/>
                          </a:solidFill>
                          <a:latin typeface="Calibri"/>
                        </a:rPr>
                        <a:t>theo</a:t>
                      </a:r>
                      <a:r>
                        <a:rPr sz="750" b="0">
                          <a:solidFill>
                            <a:srgbClr val="555555"/>
                          </a:solidFill>
                          <a:latin typeface="Calibri"/>
                        </a:rPr>
                        <a:t> </a:t>
                      </a:r>
                      <a:r>
                        <a:rPr sz="750" b="0" err="1">
                          <a:solidFill>
                            <a:srgbClr val="555555"/>
                          </a:solidFill>
                          <a:latin typeface="Calibri"/>
                        </a:rPr>
                        <a:t>mức</a:t>
                      </a:r>
                      <a:r>
                        <a:rPr sz="750" b="0">
                          <a:solidFill>
                            <a:srgbClr val="555555"/>
                          </a:solidFill>
                          <a:latin typeface="Calibri"/>
                        </a:rPr>
                        <a:t> </a:t>
                      </a:r>
                      <a:r>
                        <a:rPr sz="750" b="0" err="1">
                          <a:solidFill>
                            <a:srgbClr val="555555"/>
                          </a:solidFill>
                          <a:latin typeface="Calibri"/>
                        </a:rPr>
                        <a:t>tăng</a:t>
                      </a:r>
                      <a:r>
                        <a:rPr sz="750" b="0">
                          <a:solidFill>
                            <a:srgbClr val="555555"/>
                          </a:solidFill>
                          <a:latin typeface="Calibri"/>
                        </a:rPr>
                        <a:t> </a:t>
                      </a:r>
                      <a:r>
                        <a:rPr sz="750" b="0" err="1">
                          <a:solidFill>
                            <a:srgbClr val="555555"/>
                          </a:solidFill>
                          <a:latin typeface="Calibri"/>
                        </a:rPr>
                        <a:t>đột</a:t>
                      </a:r>
                      <a:r>
                        <a:rPr sz="750" b="0">
                          <a:solidFill>
                            <a:srgbClr val="555555"/>
                          </a:solidFill>
                          <a:latin typeface="Calibri"/>
                        </a:rPr>
                        <a:t> </a:t>
                      </a:r>
                      <a:r>
                        <a:rPr sz="750" b="0" err="1">
                          <a:solidFill>
                            <a:srgbClr val="555555"/>
                          </a:solidFill>
                          <a:latin typeface="Calibri"/>
                        </a:rPr>
                        <a:t>biến</a:t>
                      </a:r>
                      <a:r>
                        <a:rPr sz="750" b="0">
                          <a:solidFill>
                            <a:srgbClr val="555555"/>
                          </a:solidFill>
                          <a:latin typeface="Calibri"/>
                        </a:rPr>
                        <a:t> (spike/momentum). ⚠ </a:t>
                      </a:r>
                      <a:r>
                        <a:rPr sz="750" b="0" err="1">
                          <a:solidFill>
                            <a:srgbClr val="555555"/>
                          </a:solidFill>
                          <a:latin typeface="Calibri"/>
                        </a:rPr>
                        <a:t>Áp</a:t>
                      </a:r>
                      <a:r>
                        <a:rPr sz="750" b="0">
                          <a:solidFill>
                            <a:srgbClr val="555555"/>
                          </a:solidFill>
                          <a:latin typeface="Calibri"/>
                        </a:rPr>
                        <a:t> </a:t>
                      </a:r>
                      <a:r>
                        <a:rPr sz="750" b="0" err="1">
                          <a:solidFill>
                            <a:srgbClr val="555555"/>
                          </a:solidFill>
                          <a:latin typeface="Calibri"/>
                        </a:rPr>
                        <a:t>dụng</a:t>
                      </a:r>
                      <a:r>
                        <a:rPr sz="750" b="0">
                          <a:solidFill>
                            <a:srgbClr val="555555"/>
                          </a:solidFill>
                          <a:latin typeface="Calibri"/>
                        </a:rPr>
                        <a:t> profanity filter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chỉ</a:t>
                      </a:r>
                      <a:r>
                        <a:rPr sz="750" b="0">
                          <a:solidFill>
                            <a:srgbClr val="555555"/>
                          </a:solidFill>
                          <a:latin typeface="Calibri"/>
                        </a:rPr>
                        <a:t> </a:t>
                      </a:r>
                      <a:r>
                        <a:rPr sz="750" b="0" err="1">
                          <a:solidFill>
                            <a:srgbClr val="555555"/>
                          </a:solidFill>
                          <a:latin typeface="Calibri"/>
                        </a:rPr>
                        <a:t>hiển</a:t>
                      </a:r>
                      <a:r>
                        <a:rPr sz="750" b="0">
                          <a:solidFill>
                            <a:srgbClr val="555555"/>
                          </a:solidFill>
                          <a:latin typeface="Calibri"/>
                        </a:rPr>
                        <a:t>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có</a:t>
                      </a:r>
                      <a:r>
                        <a:rPr sz="750" b="0">
                          <a:solidFill>
                            <a:srgbClr val="555555"/>
                          </a:solidFill>
                          <a:latin typeface="Calibri"/>
                        </a:rPr>
                        <a:t> </a:t>
                      </a:r>
                      <a:r>
                        <a:rPr sz="750" b="0" err="1">
                          <a:solidFill>
                            <a:srgbClr val="555555"/>
                          </a:solidFill>
                          <a:latin typeface="Calibri"/>
                        </a:rPr>
                        <a:t>kết</a:t>
                      </a:r>
                      <a:r>
                        <a:rPr sz="750" b="0">
                          <a:solidFill>
                            <a:srgbClr val="555555"/>
                          </a:solidFill>
                          <a:latin typeface="Calibri"/>
                        </a:rPr>
                        <a:t> </a:t>
                      </a:r>
                      <a:r>
                        <a:rPr sz="750" b="0" err="1">
                          <a:solidFill>
                            <a:srgbClr val="555555"/>
                          </a:solidFill>
                          <a:latin typeface="Calibri"/>
                        </a:rPr>
                        <a:t>quả</a:t>
                      </a:r>
                      <a:r>
                        <a:rPr sz="750" b="0">
                          <a:solidFill>
                            <a:srgbClr val="555555"/>
                          </a:solidFill>
                          <a:latin typeface="Calibri"/>
                        </a:rPr>
                        <a:t> &gt; 0. </a:t>
                      </a:r>
                      <a:r>
                        <a:rPr sz="750" b="0" err="1">
                          <a:solidFill>
                            <a:srgbClr val="555555"/>
                          </a:solidFill>
                          <a:latin typeface="Calibri"/>
                        </a:rPr>
                        <a:t>Lấy</a:t>
                      </a:r>
                      <a:r>
                        <a:rPr sz="750" b="0">
                          <a:solidFill>
                            <a:srgbClr val="555555"/>
                          </a:solidFill>
                          <a:latin typeface="Calibri"/>
                        </a:rPr>
                        <a:t> Top 10.</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Nhãn</a:t>
                      </a:r>
                      <a:r>
                        <a:rPr sz="800" b="1">
                          <a:solidFill>
                            <a:srgbClr val="222222"/>
                          </a:solidFill>
                          <a:latin typeface="Calibri"/>
                        </a:rPr>
                        <a:t> </a:t>
                      </a:r>
                      <a:r>
                        <a:rPr sz="800" b="1" err="1">
                          <a:solidFill>
                            <a:srgbClr val="222222"/>
                          </a:solidFill>
                          <a:latin typeface="Calibri"/>
                        </a:rPr>
                        <a:t>thứ</a:t>
                      </a:r>
                      <a:r>
                        <a:rPr sz="800" b="1">
                          <a:solidFill>
                            <a:srgbClr val="222222"/>
                          </a:solidFill>
                          <a:latin typeface="Calibri"/>
                        </a:rPr>
                        <a:t> </a:t>
                      </a:r>
                      <a:r>
                        <a:rPr sz="800" b="1" err="1">
                          <a:solidFill>
                            <a:srgbClr val="222222"/>
                          </a:solidFill>
                          <a:latin typeface="Calibri"/>
                        </a:rPr>
                        <a:t>hạng</a:t>
                      </a:r>
                      <a:r>
                        <a:rPr sz="800" b="1">
                          <a:solidFill>
                            <a:srgbClr val="222222"/>
                          </a:solidFill>
                          <a:latin typeface="Calibri"/>
                        </a:rPr>
                        <a:t> &amp; icon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#1–#3 </a:t>
                      </a:r>
                      <a:r>
                        <a:rPr sz="750" b="0" err="1">
                          <a:solidFill>
                            <a:srgbClr val="555555"/>
                          </a:solidFill>
                          <a:latin typeface="Calibri"/>
                        </a:rPr>
                        <a:t>hiển</a:t>
                      </a:r>
                      <a:r>
                        <a:rPr sz="750" b="0">
                          <a:solidFill>
                            <a:srgbClr val="555555"/>
                          </a:solidFill>
                          <a:latin typeface="Calibri"/>
                        </a:rPr>
                        <a:t> </a:t>
                      </a:r>
                      <a:r>
                        <a:rPr sz="750" b="0" err="1">
                          <a:solidFill>
                            <a:srgbClr val="555555"/>
                          </a:solidFill>
                          <a:latin typeface="Calibri"/>
                        </a:rPr>
                        <a:t>thị</a:t>
                      </a:r>
                      <a:r>
                        <a:rPr sz="750" b="0">
                          <a:solidFill>
                            <a:srgbClr val="555555"/>
                          </a:solidFill>
                          <a:latin typeface="Calibri"/>
                        </a:rPr>
                        <a:t> icon 🔥 (hot)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số</a:t>
                      </a:r>
                      <a:r>
                        <a:rPr sz="750" b="0">
                          <a:solidFill>
                            <a:srgbClr val="555555"/>
                          </a:solidFill>
                          <a:latin typeface="Calibri"/>
                        </a:rPr>
                        <a:t> </a:t>
                      </a:r>
                      <a:r>
                        <a:rPr sz="750" b="0" err="1">
                          <a:solidFill>
                            <a:srgbClr val="555555"/>
                          </a:solidFill>
                          <a:latin typeface="Calibri"/>
                        </a:rPr>
                        <a:t>hạng</a:t>
                      </a:r>
                      <a:r>
                        <a:rPr sz="750" b="0">
                          <a:solidFill>
                            <a:srgbClr val="555555"/>
                          </a:solidFill>
                          <a:latin typeface="Calibri"/>
                        </a:rPr>
                        <a:t> </a:t>
                      </a:r>
                      <a:r>
                        <a:rPr sz="750" b="0" err="1">
                          <a:solidFill>
                            <a:srgbClr val="555555"/>
                          </a:solidFill>
                          <a:latin typeface="Calibri"/>
                        </a:rPr>
                        <a:t>màu</a:t>
                      </a:r>
                      <a:r>
                        <a:rPr sz="750" b="0">
                          <a:solidFill>
                            <a:srgbClr val="555555"/>
                          </a:solidFill>
                          <a:latin typeface="Calibri"/>
                        </a:rPr>
                        <a:t> </a:t>
                      </a:r>
                      <a:r>
                        <a:rPr sz="750" b="0" err="1">
                          <a:solidFill>
                            <a:srgbClr val="555555"/>
                          </a:solidFill>
                          <a:latin typeface="Calibri"/>
                        </a:rPr>
                        <a:t>đỏ</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#4 </a:t>
                      </a:r>
                      <a:r>
                        <a:rPr sz="750" b="0" err="1">
                          <a:solidFill>
                            <a:srgbClr val="555555"/>
                          </a:solidFill>
                          <a:latin typeface="Calibri"/>
                        </a:rPr>
                        <a:t>trở</a:t>
                      </a:r>
                      <a:r>
                        <a:rPr sz="750" b="0">
                          <a:solidFill>
                            <a:srgbClr val="555555"/>
                          </a:solidFill>
                          <a:latin typeface="Calibri"/>
                        </a:rPr>
                        <a:t> </a:t>
                      </a:r>
                      <a:r>
                        <a:rPr sz="750" b="0" err="1">
                          <a:solidFill>
                            <a:srgbClr val="555555"/>
                          </a:solidFill>
                          <a:latin typeface="Calibri"/>
                        </a:rPr>
                        <a:t>đi</a:t>
                      </a:r>
                      <a:r>
                        <a:rPr sz="750" b="0">
                          <a:solidFill>
                            <a:srgbClr val="555555"/>
                          </a:solidFill>
                          <a:latin typeface="Calibri"/>
                        </a:rPr>
                        <a:t> </a:t>
                      </a:r>
                      <a:r>
                        <a:rPr sz="750" b="0" err="1">
                          <a:solidFill>
                            <a:srgbClr val="555555"/>
                          </a:solidFill>
                          <a:latin typeface="Calibri"/>
                        </a:rPr>
                        <a:t>dùng</a:t>
                      </a:r>
                      <a:r>
                        <a:rPr sz="750" b="0">
                          <a:solidFill>
                            <a:srgbClr val="555555"/>
                          </a:solidFill>
                          <a:latin typeface="Calibri"/>
                        </a:rPr>
                        <a:t> icon xu </a:t>
                      </a:r>
                      <a:r>
                        <a:rPr sz="750" b="0" err="1">
                          <a:solidFill>
                            <a:srgbClr val="555555"/>
                          </a:solidFill>
                          <a:latin typeface="Calibri"/>
                        </a:rPr>
                        <a:t>hướng</a:t>
                      </a:r>
                      <a:r>
                        <a:rPr sz="750" b="0">
                          <a:solidFill>
                            <a:srgbClr val="555555"/>
                          </a:solidFill>
                          <a:latin typeface="Calibri"/>
                        </a:rPr>
                        <a:t>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màu</a:t>
                      </a:r>
                      <a:r>
                        <a:rPr sz="750" b="0">
                          <a:solidFill>
                            <a:srgbClr val="555555"/>
                          </a:solidFill>
                          <a:latin typeface="Calibri"/>
                        </a:rPr>
                        <a:t> </a:t>
                      </a:r>
                      <a:r>
                        <a:rPr sz="750" b="0" err="1">
                          <a:solidFill>
                            <a:srgbClr val="555555"/>
                          </a:solidFill>
                          <a:latin typeface="Calibri"/>
                        </a:rPr>
                        <a:t>xám</a:t>
                      </a:r>
                      <a:r>
                        <a:rPr sz="750" b="0">
                          <a:solidFill>
                            <a:srgbClr val="555555"/>
                          </a:solidFill>
                          <a:latin typeface="Calibri"/>
                        </a:rPr>
                        <a:t>. Vai </a:t>
                      </a:r>
                      <a:r>
                        <a:rPr sz="750" b="0" err="1">
                          <a:solidFill>
                            <a:srgbClr val="555555"/>
                          </a:solidFill>
                          <a:latin typeface="Calibri"/>
                        </a:rPr>
                        <a:t>trò</a:t>
                      </a:r>
                      <a:r>
                        <a:rPr sz="750" b="0">
                          <a:solidFill>
                            <a:srgbClr val="555555"/>
                          </a:solidFill>
                          <a:latin typeface="Calibri"/>
                        </a:rPr>
                        <a:t> "Discovery" — </a:t>
                      </a:r>
                      <a:r>
                        <a:rPr sz="750" b="0" err="1">
                          <a:solidFill>
                            <a:srgbClr val="555555"/>
                          </a:solidFill>
                          <a:latin typeface="Calibri"/>
                        </a:rPr>
                        <a:t>điều</a:t>
                      </a:r>
                      <a:r>
                        <a:rPr sz="750" b="0">
                          <a:solidFill>
                            <a:srgbClr val="555555"/>
                          </a:solidFill>
                          <a:latin typeface="Calibri"/>
                        </a:rPr>
                        <a:t> </a:t>
                      </a:r>
                      <a:r>
                        <a:rPr sz="750" b="0" err="1">
                          <a:solidFill>
                            <a:srgbClr val="555555"/>
                          </a:solidFill>
                          <a:latin typeface="Calibri"/>
                        </a:rPr>
                        <a:t>hướng</a:t>
                      </a:r>
                      <a:r>
                        <a:rPr sz="750" b="0">
                          <a:solidFill>
                            <a:srgbClr val="555555"/>
                          </a:solidFill>
                          <a:latin typeface="Calibri"/>
                        </a:rPr>
                        <a:t> </a:t>
                      </a:r>
                      <a:r>
                        <a:rPr sz="750" b="0" err="1">
                          <a:solidFill>
                            <a:srgbClr val="555555"/>
                          </a:solidFill>
                          <a:latin typeface="Calibri"/>
                        </a:rPr>
                        <a:t>khách</a:t>
                      </a:r>
                      <a:r>
                        <a:rPr sz="750" b="0">
                          <a:solidFill>
                            <a:srgbClr val="555555"/>
                          </a:solidFill>
                          <a:latin typeface="Calibri"/>
                        </a:rPr>
                        <a:t> </a:t>
                      </a:r>
                      <a:r>
                        <a:rPr sz="750" b="0" err="1">
                          <a:solidFill>
                            <a:srgbClr val="555555"/>
                          </a:solidFill>
                          <a:latin typeface="Calibri"/>
                        </a:rPr>
                        <a:t>tới</a:t>
                      </a:r>
                      <a:r>
                        <a:rPr sz="750" b="0">
                          <a:solidFill>
                            <a:srgbClr val="555555"/>
                          </a:solidFill>
                          <a:latin typeface="Calibri"/>
                        </a:rPr>
                        <a:t> campaign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chạy</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Thường </a:t>
                      </a:r>
                      <a:r>
                        <a:rPr sz="800" b="1" err="1">
                          <a:solidFill>
                            <a:srgbClr val="222222"/>
                          </a:solidFill>
                          <a:latin typeface="Calibri"/>
                        </a:rPr>
                        <a:t>mua</a:t>
                      </a:r>
                      <a:r>
                        <a:rPr sz="800" b="1">
                          <a:solidFill>
                            <a:srgbClr val="222222"/>
                          </a:solidFill>
                          <a:latin typeface="Calibri"/>
                        </a:rPr>
                        <a:t> (Frequently Purchased)</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 </a:t>
                      </a:r>
                      <a:r>
                        <a:rPr sz="750" b="0" err="1">
                          <a:solidFill>
                            <a:srgbClr val="555555"/>
                          </a:solidFill>
                          <a:latin typeface="Calibri"/>
                        </a:rPr>
                        <a:t>Chỉ</a:t>
                      </a:r>
                      <a:r>
                        <a:rPr sz="750" b="0">
                          <a:solidFill>
                            <a:srgbClr val="555555"/>
                          </a:solidFill>
                          <a:latin typeface="Calibri"/>
                        </a:rPr>
                        <a:t> </a:t>
                      </a:r>
                      <a:r>
                        <a:rPr sz="750" b="0" err="1">
                          <a:solidFill>
                            <a:srgbClr val="555555"/>
                          </a:solidFill>
                          <a:latin typeface="Calibri"/>
                        </a:rPr>
                        <a:t>hiển</a:t>
                      </a:r>
                      <a:r>
                        <a:rPr sz="750" b="0">
                          <a:solidFill>
                            <a:srgbClr val="555555"/>
                          </a:solidFill>
                          <a:latin typeface="Calibri"/>
                        </a:rPr>
                        <a:t>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cho</a:t>
                      </a:r>
                      <a:r>
                        <a:rPr sz="750" b="0">
                          <a:solidFill>
                            <a:srgbClr val="555555"/>
                          </a:solidFill>
                          <a:latin typeface="Calibri"/>
                        </a:rPr>
                        <a:t> user </a:t>
                      </a:r>
                      <a:r>
                        <a:rPr sz="750" b="0" err="1">
                          <a:solidFill>
                            <a:srgbClr val="555555"/>
                          </a:solidFill>
                          <a:latin typeface="Calibri"/>
                        </a:rPr>
                        <a:t>đã</a:t>
                      </a:r>
                      <a:r>
                        <a:rPr sz="750" b="0">
                          <a:solidFill>
                            <a:srgbClr val="555555"/>
                          </a:solidFill>
                          <a:latin typeface="Calibri"/>
                        </a:rPr>
                        <a:t> </a:t>
                      </a:r>
                      <a:r>
                        <a:rPr sz="750" b="0" err="1">
                          <a:solidFill>
                            <a:srgbClr val="555555"/>
                          </a:solidFill>
                          <a:latin typeface="Calibri"/>
                        </a:rPr>
                        <a:t>đăng</a:t>
                      </a:r>
                      <a:r>
                        <a:rPr sz="750" b="0">
                          <a:solidFill>
                            <a:srgbClr val="555555"/>
                          </a:solidFill>
                          <a:latin typeface="Calibri"/>
                        </a:rPr>
                        <a:t> </a:t>
                      </a:r>
                      <a:r>
                        <a:rPr sz="750" b="0" err="1">
                          <a:solidFill>
                            <a:srgbClr val="555555"/>
                          </a:solidFill>
                          <a:latin typeface="Calibri"/>
                        </a:rPr>
                        <a:t>nhập</a:t>
                      </a:r>
                      <a:r>
                        <a:rPr sz="750" b="0">
                          <a:solidFill>
                            <a:srgbClr val="555555"/>
                          </a:solidFill>
                          <a:latin typeface="Calibri"/>
                        </a:rPr>
                        <a:t>. Data source: Order History </a:t>
                      </a:r>
                      <a:r>
                        <a:rPr sz="750" b="0" err="1">
                          <a:solidFill>
                            <a:srgbClr val="555555"/>
                          </a:solidFill>
                          <a:latin typeface="Calibri"/>
                        </a:rPr>
                        <a:t>của</a:t>
                      </a:r>
                      <a:r>
                        <a:rPr sz="750" b="0">
                          <a:solidFill>
                            <a:srgbClr val="555555"/>
                          </a:solidFill>
                          <a:latin typeface="Calibri"/>
                        </a:rPr>
                        <a:t> </a:t>
                      </a:r>
                      <a:r>
                        <a:rPr sz="750" b="0" err="1">
                          <a:solidFill>
                            <a:srgbClr val="555555"/>
                          </a:solidFill>
                          <a:latin typeface="Calibri"/>
                        </a:rPr>
                        <a:t>User_ID</a:t>
                      </a:r>
                      <a:r>
                        <a:rPr sz="750" b="0">
                          <a:solidFill>
                            <a:srgbClr val="555555"/>
                          </a:solidFill>
                          <a:latin typeface="Calibri"/>
                        </a:rPr>
                        <a:t> </a:t>
                      </a:r>
                      <a:r>
                        <a:rPr sz="750" b="0" err="1">
                          <a:solidFill>
                            <a:srgbClr val="555555"/>
                          </a:solidFill>
                          <a:latin typeface="Calibri"/>
                        </a:rPr>
                        <a:t>với</a:t>
                      </a:r>
                      <a:r>
                        <a:rPr sz="750" b="0">
                          <a:solidFill>
                            <a:srgbClr val="555555"/>
                          </a:solidFill>
                          <a:latin typeface="Calibri"/>
                        </a:rPr>
                        <a:t> </a:t>
                      </a:r>
                      <a:r>
                        <a:rPr sz="750" b="0" err="1">
                          <a:solidFill>
                            <a:srgbClr val="555555"/>
                          </a:solidFill>
                          <a:latin typeface="Calibri"/>
                        </a:rPr>
                        <a:t>trạng</a:t>
                      </a:r>
                      <a:r>
                        <a:rPr sz="750" b="0">
                          <a:solidFill>
                            <a:srgbClr val="555555"/>
                          </a:solidFill>
                          <a:latin typeface="Calibri"/>
                        </a:rPr>
                        <a:t> </a:t>
                      </a:r>
                      <a:r>
                        <a:rPr sz="750" b="0" err="1">
                          <a:solidFill>
                            <a:srgbClr val="555555"/>
                          </a:solidFill>
                          <a:latin typeface="Calibri"/>
                        </a:rPr>
                        <a:t>thái</a:t>
                      </a:r>
                      <a:r>
                        <a:rPr sz="750" b="0">
                          <a:solidFill>
                            <a:srgbClr val="555555"/>
                          </a:solidFill>
                          <a:latin typeface="Calibri"/>
                        </a:rPr>
                        <a:t> COMPLETED </a:t>
                      </a:r>
                      <a:r>
                        <a:rPr sz="750" b="0" err="1">
                          <a:solidFill>
                            <a:srgbClr val="555555"/>
                          </a:solidFill>
                          <a:latin typeface="Calibri"/>
                        </a:rPr>
                        <a:t>trong</a:t>
                      </a:r>
                      <a:r>
                        <a:rPr sz="750" b="0">
                          <a:solidFill>
                            <a:srgbClr val="555555"/>
                          </a:solidFill>
                          <a:latin typeface="Calibri"/>
                        </a:rPr>
                        <a:t> T = 90 </a:t>
                      </a:r>
                      <a:r>
                        <a:rPr sz="750" b="0" err="1">
                          <a:solidFill>
                            <a:srgbClr val="555555"/>
                          </a:solidFill>
                          <a:latin typeface="Calibri"/>
                        </a:rPr>
                        <a:t>ngày</a:t>
                      </a:r>
                      <a:r>
                        <a:rPr sz="750" b="0">
                          <a:solidFill>
                            <a:srgbClr val="555555"/>
                          </a:solidFill>
                          <a:latin typeface="Calibri"/>
                        </a:rPr>
                        <a:t>; </a:t>
                      </a:r>
                      <a:r>
                        <a:rPr sz="750" b="0" err="1">
                          <a:solidFill>
                            <a:srgbClr val="555555"/>
                          </a:solidFill>
                          <a:latin typeface="Calibri"/>
                        </a:rPr>
                        <a:t>đếm</a:t>
                      </a:r>
                      <a:r>
                        <a:rPr sz="750" b="0">
                          <a:solidFill>
                            <a:srgbClr val="555555"/>
                          </a:solidFill>
                          <a:latin typeface="Calibri"/>
                        </a:rPr>
                        <a:t> </a:t>
                      </a:r>
                      <a:r>
                        <a:rPr sz="750" b="0" err="1">
                          <a:solidFill>
                            <a:srgbClr val="555555"/>
                          </a:solidFill>
                          <a:latin typeface="Calibri"/>
                        </a:rPr>
                        <a:t>tần</a:t>
                      </a:r>
                      <a:r>
                        <a:rPr sz="750" b="0">
                          <a:solidFill>
                            <a:srgbClr val="555555"/>
                          </a:solidFill>
                          <a:latin typeface="Calibri"/>
                        </a:rPr>
                        <a:t> </a:t>
                      </a:r>
                      <a:r>
                        <a:rPr sz="750" b="0" err="1">
                          <a:solidFill>
                            <a:srgbClr val="555555"/>
                          </a:solidFill>
                          <a:latin typeface="Calibri"/>
                        </a:rPr>
                        <a:t>suất</a:t>
                      </a:r>
                      <a:r>
                        <a:rPr sz="750" b="0">
                          <a:solidFill>
                            <a:srgbClr val="555555"/>
                          </a:solidFill>
                          <a:latin typeface="Calibri"/>
                        </a:rPr>
                        <a:t> Product_ID, </a:t>
                      </a:r>
                      <a:r>
                        <a:rPr sz="750" b="0" err="1">
                          <a:solidFill>
                            <a:srgbClr val="555555"/>
                          </a:solidFill>
                          <a:latin typeface="Calibri"/>
                        </a:rPr>
                        <a:t>sắp</a:t>
                      </a:r>
                      <a:r>
                        <a:rPr sz="750" b="0">
                          <a:solidFill>
                            <a:srgbClr val="555555"/>
                          </a:solidFill>
                          <a:latin typeface="Calibri"/>
                        </a:rPr>
                        <a:t> </a:t>
                      </a:r>
                      <a:r>
                        <a:rPr sz="750" b="0" err="1">
                          <a:solidFill>
                            <a:srgbClr val="555555"/>
                          </a:solidFill>
                          <a:latin typeface="Calibri"/>
                        </a:rPr>
                        <a:t>xếp</a:t>
                      </a:r>
                      <a:r>
                        <a:rPr sz="750" b="0">
                          <a:solidFill>
                            <a:srgbClr val="555555"/>
                          </a:solidFill>
                          <a:latin typeface="Calibri"/>
                        </a:rPr>
                        <a:t> </a:t>
                      </a:r>
                      <a:r>
                        <a:rPr sz="750" b="0" err="1">
                          <a:solidFill>
                            <a:srgbClr val="555555"/>
                          </a:solidFill>
                          <a:latin typeface="Calibri"/>
                        </a:rPr>
                        <a:t>giảm</a:t>
                      </a:r>
                      <a:r>
                        <a:rPr sz="750" b="0">
                          <a:solidFill>
                            <a:srgbClr val="555555"/>
                          </a:solidFill>
                          <a:latin typeface="Calibri"/>
                        </a:rPr>
                        <a:t> </a:t>
                      </a:r>
                      <a:r>
                        <a:rPr sz="750" b="0" err="1">
                          <a:solidFill>
                            <a:srgbClr val="555555"/>
                          </a:solidFill>
                          <a:latin typeface="Calibri"/>
                        </a:rPr>
                        <a:t>dần</a:t>
                      </a:r>
                      <a:r>
                        <a:rPr sz="750" b="0">
                          <a:solidFill>
                            <a:srgbClr val="555555"/>
                          </a:solidFill>
                          <a:latin typeface="Calibri"/>
                        </a:rPr>
                        <a:t>, </a:t>
                      </a:r>
                      <a:r>
                        <a:rPr sz="750" b="0" err="1">
                          <a:solidFill>
                            <a:srgbClr val="555555"/>
                          </a:solidFill>
                          <a:latin typeface="Calibri"/>
                        </a:rPr>
                        <a:t>lấy</a:t>
                      </a:r>
                      <a:r>
                        <a:rPr sz="750" b="0">
                          <a:solidFill>
                            <a:srgbClr val="555555"/>
                          </a:solidFill>
                          <a:latin typeface="Calibri"/>
                        </a:rPr>
                        <a:t> Top </a:t>
                      </a:r>
                      <a:r>
                        <a:rPr lang="en-US" sz="750" b="0">
                          <a:solidFill>
                            <a:srgbClr val="555555"/>
                          </a:solidFill>
                          <a:latin typeface="Calibri"/>
                        </a:rPr>
                        <a:t>10</a:t>
                      </a:r>
                      <a:r>
                        <a:rPr sz="750" b="0">
                          <a:solidFill>
                            <a:srgbClr val="555555"/>
                          </a:solidFill>
                          <a:latin typeface="Calibri"/>
                        </a:rPr>
                        <a:t> SKU </a:t>
                      </a:r>
                      <a:r>
                        <a:rPr sz="750" b="0" err="1">
                          <a:solidFill>
                            <a:srgbClr val="555555"/>
                          </a:solidFill>
                          <a:latin typeface="Calibri"/>
                        </a:rPr>
                        <a:t>còn</a:t>
                      </a:r>
                      <a:r>
                        <a:rPr sz="750" b="0">
                          <a:solidFill>
                            <a:srgbClr val="555555"/>
                          </a:solidFill>
                          <a:latin typeface="Calibri"/>
                        </a:rPr>
                        <a:t> </a:t>
                      </a:r>
                      <a:r>
                        <a:rPr sz="750" b="0" err="1">
                          <a:solidFill>
                            <a:srgbClr val="555555"/>
                          </a:solidFill>
                          <a:latin typeface="Calibri"/>
                        </a:rPr>
                        <a:t>hàng</a:t>
                      </a:r>
                      <a:r>
                        <a:rPr sz="750" b="0">
                          <a:solidFill>
                            <a:srgbClr val="555555"/>
                          </a:solidFill>
                          <a:latin typeface="Calibri"/>
                        </a:rPr>
                        <a:t> (stock &gt; 0</a:t>
                      </a:r>
                      <a:r>
                        <a:rPr lang="en-US" sz="750" b="0">
                          <a:solidFill>
                            <a:srgbClr val="555555"/>
                          </a:solidFill>
                          <a:latin typeface="Calibri"/>
                        </a:rPr>
                        <a:t>) </a:t>
                      </a:r>
                      <a:r>
                        <a:rPr lang="en-US" sz="750" b="0" err="1">
                          <a:solidFill>
                            <a:srgbClr val="555555"/>
                          </a:solidFill>
                          <a:latin typeface="Calibri"/>
                        </a:rPr>
                        <a:t>trước</a:t>
                      </a:r>
                      <a:r>
                        <a:rPr lang="en-US" sz="750" b="0">
                          <a:solidFill>
                            <a:srgbClr val="555555"/>
                          </a:solidFill>
                          <a:latin typeface="Calibri"/>
                        </a:rPr>
                        <a:t>, </a:t>
                      </a:r>
                      <a:r>
                        <a:rPr lang="en-US" sz="750" b="0" err="1">
                          <a:solidFill>
                            <a:srgbClr val="555555"/>
                          </a:solidFill>
                          <a:latin typeface="Calibri"/>
                        </a:rPr>
                        <a:t>sau</a:t>
                      </a:r>
                      <a:r>
                        <a:rPr lang="en-US" sz="750" b="0">
                          <a:solidFill>
                            <a:srgbClr val="555555"/>
                          </a:solidFill>
                          <a:latin typeface="Calibri"/>
                        </a:rPr>
                        <a:t> </a:t>
                      </a:r>
                      <a:r>
                        <a:rPr lang="en-US" sz="750" b="0" err="1">
                          <a:solidFill>
                            <a:srgbClr val="555555"/>
                          </a:solidFill>
                          <a:latin typeface="Calibri"/>
                        </a:rPr>
                        <a:t>khi</a:t>
                      </a:r>
                      <a:r>
                        <a:rPr lang="en-US" sz="750" b="0">
                          <a:solidFill>
                            <a:srgbClr val="555555"/>
                          </a:solidFill>
                          <a:latin typeface="Calibri"/>
                        </a:rPr>
                        <a:t> user </a:t>
                      </a:r>
                      <a:r>
                        <a:rPr lang="en-US" sz="750" b="0" err="1">
                          <a:solidFill>
                            <a:srgbClr val="555555"/>
                          </a:solidFill>
                          <a:latin typeface="Calibri"/>
                        </a:rPr>
                        <a:t>lướt</a:t>
                      </a:r>
                      <a:r>
                        <a:rPr lang="en-US" sz="750" b="0">
                          <a:solidFill>
                            <a:srgbClr val="555555"/>
                          </a:solidFill>
                          <a:latin typeface="Calibri"/>
                        </a:rPr>
                        <a:t> </a:t>
                      </a:r>
                      <a:r>
                        <a:rPr lang="en-US" sz="750" b="0" err="1">
                          <a:solidFill>
                            <a:srgbClr val="555555"/>
                          </a:solidFill>
                          <a:latin typeface="Calibri"/>
                        </a:rPr>
                        <a:t>hết</a:t>
                      </a:r>
                      <a:r>
                        <a:rPr lang="en-US" sz="750" b="0">
                          <a:solidFill>
                            <a:srgbClr val="555555"/>
                          </a:solidFill>
                          <a:latin typeface="Calibri"/>
                        </a:rPr>
                        <a:t> SKU </a:t>
                      </a:r>
                      <a:r>
                        <a:rPr lang="en-US" sz="750" b="0" err="1">
                          <a:solidFill>
                            <a:srgbClr val="555555"/>
                          </a:solidFill>
                          <a:latin typeface="Calibri"/>
                        </a:rPr>
                        <a:t>thì</a:t>
                      </a:r>
                      <a:r>
                        <a:rPr lang="en-US" sz="750" b="0">
                          <a:solidFill>
                            <a:srgbClr val="555555"/>
                          </a:solidFill>
                          <a:latin typeface="Calibri"/>
                        </a:rPr>
                        <a:t> </a:t>
                      </a:r>
                      <a:r>
                        <a:rPr lang="en-US" sz="750" b="0" err="1">
                          <a:solidFill>
                            <a:srgbClr val="555555"/>
                          </a:solidFill>
                          <a:latin typeface="Calibri"/>
                        </a:rPr>
                        <a:t>hiển</a:t>
                      </a:r>
                      <a:r>
                        <a:rPr lang="en-US" sz="750" b="0">
                          <a:solidFill>
                            <a:srgbClr val="555555"/>
                          </a:solidFill>
                          <a:latin typeface="Calibri"/>
                        </a:rPr>
                        <a:t> </a:t>
                      </a:r>
                      <a:r>
                        <a:rPr lang="en-US" sz="750" b="0" err="1">
                          <a:solidFill>
                            <a:srgbClr val="555555"/>
                          </a:solidFill>
                          <a:latin typeface="Calibri"/>
                        </a:rPr>
                        <a:t>thị</a:t>
                      </a:r>
                      <a:r>
                        <a:rPr lang="en-US" sz="750" b="0">
                          <a:solidFill>
                            <a:srgbClr val="555555"/>
                          </a:solidFill>
                          <a:latin typeface="Calibri"/>
                        </a:rPr>
                        <a:t> </a:t>
                      </a:r>
                      <a:r>
                        <a:rPr lang="en-US" sz="750" b="0" err="1">
                          <a:solidFill>
                            <a:srgbClr val="555555"/>
                          </a:solidFill>
                          <a:latin typeface="Calibri"/>
                        </a:rPr>
                        <a:t>tiếp</a:t>
                      </a:r>
                      <a:r>
                        <a:rPr lang="en-US" sz="750" b="0">
                          <a:solidFill>
                            <a:srgbClr val="555555"/>
                          </a:solidFill>
                          <a:latin typeface="Calibri"/>
                        </a:rPr>
                        <a:t> top 10 SKU, </a:t>
                      </a:r>
                      <a:r>
                        <a:rPr lang="en-US" sz="750" b="0" err="1">
                          <a:solidFill>
                            <a:srgbClr val="555555"/>
                          </a:solidFill>
                          <a:latin typeface="Calibri"/>
                        </a:rPr>
                        <a:t>cứ</a:t>
                      </a:r>
                      <a:r>
                        <a:rPr lang="en-US" sz="750" b="0">
                          <a:solidFill>
                            <a:srgbClr val="555555"/>
                          </a:solidFill>
                          <a:latin typeface="Calibri"/>
                        </a:rPr>
                        <a:t> </a:t>
                      </a:r>
                      <a:r>
                        <a:rPr lang="en-US" sz="750" b="0" err="1">
                          <a:solidFill>
                            <a:srgbClr val="555555"/>
                          </a:solidFill>
                          <a:latin typeface="Calibri"/>
                        </a:rPr>
                        <a:t>tiếp</a:t>
                      </a:r>
                      <a:r>
                        <a:rPr lang="en-US" sz="750" b="0">
                          <a:solidFill>
                            <a:srgbClr val="555555"/>
                          </a:solidFill>
                          <a:latin typeface="Calibri"/>
                        </a:rPr>
                        <a:t> </a:t>
                      </a:r>
                      <a:r>
                        <a:rPr lang="en-US" sz="750" b="0" err="1">
                          <a:solidFill>
                            <a:srgbClr val="555555"/>
                          </a:solidFill>
                          <a:latin typeface="Calibri"/>
                        </a:rPr>
                        <a:t>tục</a:t>
                      </a:r>
                      <a:r>
                        <a:rPr lang="en-US" sz="750" b="0">
                          <a:solidFill>
                            <a:srgbClr val="555555"/>
                          </a:solidFill>
                          <a:latin typeface="Calibri"/>
                        </a:rPr>
                        <a:t> </a:t>
                      </a:r>
                      <a:r>
                        <a:rPr lang="en-US" sz="750" b="0" err="1">
                          <a:solidFill>
                            <a:srgbClr val="555555"/>
                          </a:solidFill>
                          <a:latin typeface="Calibri"/>
                        </a:rPr>
                        <a:t>như</a:t>
                      </a:r>
                      <a:r>
                        <a:rPr lang="en-US" sz="750" b="0">
                          <a:solidFill>
                            <a:srgbClr val="555555"/>
                          </a:solidFill>
                          <a:latin typeface="Calibri"/>
                        </a:rPr>
                        <a:t> </a:t>
                      </a:r>
                      <a:r>
                        <a:rPr lang="en-US" sz="750" b="0" err="1">
                          <a:solidFill>
                            <a:srgbClr val="555555"/>
                          </a:solidFill>
                          <a:latin typeface="Calibri"/>
                        </a:rPr>
                        <a:t>thế</a:t>
                      </a:r>
                      <a:r>
                        <a:rPr lang="en-US"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Product card + </a:t>
                      </a:r>
                      <a:r>
                        <a:rPr sz="800" b="1" err="1">
                          <a:solidFill>
                            <a:srgbClr val="222222"/>
                          </a:solidFill>
                          <a:latin typeface="Calibri"/>
                        </a:rPr>
                        <a:t>Thêm</a:t>
                      </a:r>
                      <a:r>
                        <a:rPr sz="800" b="1">
                          <a:solidFill>
                            <a:srgbClr val="222222"/>
                          </a:solidFill>
                          <a:latin typeface="Calibri"/>
                        </a:rPr>
                        <a:t> </a:t>
                      </a:r>
                      <a:r>
                        <a:rPr sz="800" b="1" err="1">
                          <a:solidFill>
                            <a:srgbClr val="222222"/>
                          </a:solidFill>
                          <a:latin typeface="Calibri"/>
                        </a:rPr>
                        <a:t>nhanh</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vi-VN" sz="750" b="0">
                          <a:solidFill>
                            <a:srgbClr val="555555"/>
                          </a:solidFill>
                          <a:latin typeface="Calibri"/>
                        </a:rPr>
                        <a:t>Card </a:t>
                      </a:r>
                      <a:r>
                        <a:rPr lang="vi-VN" sz="750" b="0" err="1">
                          <a:solidFill>
                            <a:srgbClr val="555555"/>
                          </a:solidFill>
                          <a:latin typeface="Calibri"/>
                        </a:rPr>
                        <a:t>chuẩn</a:t>
                      </a:r>
                      <a:r>
                        <a:rPr lang="vi-VN" sz="750" b="0">
                          <a:solidFill>
                            <a:srgbClr val="555555"/>
                          </a:solidFill>
                          <a:latin typeface="Calibri"/>
                        </a:rPr>
                        <a:t>: </a:t>
                      </a:r>
                      <a:r>
                        <a:rPr lang="vi-VN" sz="750" b="0" err="1">
                          <a:solidFill>
                            <a:srgbClr val="555555"/>
                          </a:solidFill>
                          <a:latin typeface="Calibri"/>
                        </a:rPr>
                        <a:t>thông</a:t>
                      </a:r>
                      <a:r>
                        <a:rPr lang="vi-VN" sz="750" b="0">
                          <a:solidFill>
                            <a:srgbClr val="555555"/>
                          </a:solidFill>
                          <a:latin typeface="Calibri"/>
                        </a:rPr>
                        <a:t> tin </a:t>
                      </a:r>
                      <a:r>
                        <a:rPr lang="vi-VN" sz="750" b="0" err="1">
                          <a:solidFill>
                            <a:srgbClr val="555555"/>
                          </a:solidFill>
                          <a:latin typeface="Calibri"/>
                        </a:rPr>
                        <a:t>hiển</a:t>
                      </a:r>
                      <a:r>
                        <a:rPr lang="vi-VN" sz="750" b="0">
                          <a:solidFill>
                            <a:srgbClr val="555555"/>
                          </a:solidFill>
                          <a:latin typeface="Calibri"/>
                        </a:rPr>
                        <a:t> </a:t>
                      </a:r>
                      <a:r>
                        <a:rPr lang="vi-VN" sz="750" b="0" err="1">
                          <a:solidFill>
                            <a:srgbClr val="555555"/>
                          </a:solidFill>
                          <a:latin typeface="Calibri"/>
                        </a:rPr>
                        <a:t>thị</a:t>
                      </a:r>
                      <a:r>
                        <a:rPr lang="vi-VN" sz="750" b="0">
                          <a:solidFill>
                            <a:srgbClr val="555555"/>
                          </a:solidFill>
                          <a:latin typeface="Calibri"/>
                        </a:rPr>
                        <a:t> chi </a:t>
                      </a:r>
                      <a:r>
                        <a:rPr lang="vi-VN" sz="750" b="0" err="1">
                          <a:solidFill>
                            <a:srgbClr val="555555"/>
                          </a:solidFill>
                          <a:latin typeface="Calibri"/>
                        </a:rPr>
                        <a:t>tiết</a:t>
                      </a:r>
                      <a:r>
                        <a:rPr lang="vi-VN" sz="750" b="0">
                          <a:solidFill>
                            <a:srgbClr val="555555"/>
                          </a:solidFill>
                          <a:latin typeface="Calibri"/>
                        </a:rPr>
                        <a:t> &amp; </a:t>
                      </a:r>
                      <a:r>
                        <a:rPr lang="vi-VN" sz="750" b="0" err="1">
                          <a:solidFill>
                            <a:srgbClr val="555555"/>
                          </a:solidFill>
                          <a:latin typeface="Calibri"/>
                        </a:rPr>
                        <a:t>các</a:t>
                      </a:r>
                      <a:r>
                        <a:rPr lang="vi-VN" sz="750" b="0">
                          <a:solidFill>
                            <a:srgbClr val="555555"/>
                          </a:solidFill>
                          <a:latin typeface="Calibri"/>
                        </a:rPr>
                        <a:t> </a:t>
                      </a:r>
                      <a:r>
                        <a:rPr lang="vi-VN" sz="750" b="0" err="1">
                          <a:solidFill>
                            <a:srgbClr val="555555"/>
                          </a:solidFill>
                          <a:latin typeface="Calibri"/>
                        </a:rPr>
                        <a:t>trạng</a:t>
                      </a:r>
                      <a:r>
                        <a:rPr lang="vi-VN" sz="750" b="0">
                          <a:solidFill>
                            <a:srgbClr val="555555"/>
                          </a:solidFill>
                          <a:latin typeface="Calibri"/>
                        </a:rPr>
                        <a:t> </a:t>
                      </a:r>
                      <a:r>
                        <a:rPr lang="vi-VN" sz="750" b="0" err="1">
                          <a:solidFill>
                            <a:srgbClr val="555555"/>
                          </a:solidFill>
                          <a:latin typeface="Calibri"/>
                        </a:rPr>
                        <a:t>thái</a:t>
                      </a:r>
                      <a:r>
                        <a:rPr lang="vi-VN" sz="750" b="0">
                          <a:solidFill>
                            <a:srgbClr val="555555"/>
                          </a:solidFill>
                          <a:latin typeface="Calibri"/>
                        </a:rPr>
                        <a:t> </a:t>
                      </a:r>
                      <a:r>
                        <a:rPr lang="vi-VN" sz="750" b="0" err="1">
                          <a:solidFill>
                            <a:srgbClr val="555555"/>
                          </a:solidFill>
                          <a:latin typeface="Calibri"/>
                        </a:rPr>
                        <a:t>được</a:t>
                      </a:r>
                      <a:r>
                        <a:rPr lang="vi-VN" sz="750" b="0">
                          <a:solidFill>
                            <a:srgbClr val="555555"/>
                          </a:solidFill>
                          <a:latin typeface="Calibri"/>
                        </a:rPr>
                        <a:t> </a:t>
                      </a:r>
                      <a:r>
                        <a:rPr lang="vi-VN" sz="750" b="0" err="1">
                          <a:solidFill>
                            <a:srgbClr val="555555"/>
                          </a:solidFill>
                          <a:latin typeface="Calibri"/>
                        </a:rPr>
                        <a:t>định</a:t>
                      </a:r>
                      <a:r>
                        <a:rPr lang="vi-VN" sz="750" b="0">
                          <a:solidFill>
                            <a:srgbClr val="555555"/>
                          </a:solidFill>
                          <a:latin typeface="Calibri"/>
                        </a:rPr>
                        <a:t> </a:t>
                      </a:r>
                      <a:r>
                        <a:rPr lang="vi-VN" sz="750" b="0" err="1">
                          <a:solidFill>
                            <a:srgbClr val="555555"/>
                          </a:solidFill>
                          <a:latin typeface="Calibri"/>
                        </a:rPr>
                        <a:t>nghĩa</a:t>
                      </a:r>
                      <a:r>
                        <a:rPr lang="vi-VN" sz="750" b="0">
                          <a:solidFill>
                            <a:srgbClr val="555555"/>
                          </a:solidFill>
                          <a:latin typeface="Calibri"/>
                        </a:rPr>
                        <a:t> ở </a:t>
                      </a:r>
                      <a:r>
                        <a:rPr lang="vi-VN" sz="750" b="0" err="1">
                          <a:solidFill>
                            <a:srgbClr val="555555"/>
                          </a:solidFill>
                          <a:latin typeface="Calibri"/>
                        </a:rPr>
                        <a:t>tài</a:t>
                      </a:r>
                      <a:r>
                        <a:rPr lang="vi-VN" sz="750" b="0">
                          <a:solidFill>
                            <a:srgbClr val="555555"/>
                          </a:solidFill>
                          <a:latin typeface="Calibri"/>
                        </a:rPr>
                        <a:t> </a:t>
                      </a:r>
                      <a:r>
                        <a:rPr lang="vi-VN" sz="750" b="0" err="1">
                          <a:solidFill>
                            <a:srgbClr val="555555"/>
                          </a:solidFill>
                          <a:latin typeface="Calibri"/>
                        </a:rPr>
                        <a:t>liệu</a:t>
                      </a:r>
                      <a:r>
                        <a:rPr lang="vi-VN" sz="750" b="0">
                          <a:solidFill>
                            <a:srgbClr val="555555"/>
                          </a:solidFill>
                          <a:latin typeface="Calibri"/>
                        </a:rPr>
                        <a:t> khác → Tap card </a:t>
                      </a:r>
                      <a:r>
                        <a:rPr lang="vi-VN" sz="750" b="0" err="1">
                          <a:solidFill>
                            <a:srgbClr val="555555"/>
                          </a:solidFill>
                          <a:latin typeface="Calibri"/>
                        </a:rPr>
                        <a:t>mở</a:t>
                      </a:r>
                      <a:r>
                        <a:rPr lang="vi-VN" sz="750" b="0">
                          <a:solidFill>
                            <a:srgbClr val="555555"/>
                          </a:solidFill>
                          <a:latin typeface="Calibri"/>
                        </a:rPr>
                        <a:t> PDP; tap (+) </a:t>
                      </a:r>
                      <a:r>
                        <a:rPr lang="vi-VN" sz="750" b="0" err="1">
                          <a:solidFill>
                            <a:srgbClr val="555555"/>
                          </a:solidFill>
                          <a:latin typeface="Calibri"/>
                        </a:rPr>
                        <a:t>thêm</a:t>
                      </a:r>
                      <a:r>
                        <a:rPr lang="vi-VN" sz="750" b="0">
                          <a:solidFill>
                            <a:srgbClr val="555555"/>
                          </a:solidFill>
                          <a:latin typeface="Calibri"/>
                        </a:rPr>
                        <a:t> 1 </a:t>
                      </a:r>
                      <a:r>
                        <a:rPr lang="vi-VN" sz="750" b="0" err="1">
                          <a:solidFill>
                            <a:srgbClr val="555555"/>
                          </a:solidFill>
                          <a:latin typeface="Calibri"/>
                        </a:rPr>
                        <a:t>đơn</a:t>
                      </a:r>
                      <a:r>
                        <a:rPr lang="vi-VN" sz="750" b="0">
                          <a:solidFill>
                            <a:srgbClr val="555555"/>
                          </a:solidFill>
                          <a:latin typeface="Calibri"/>
                        </a:rPr>
                        <a:t> </a:t>
                      </a:r>
                      <a:r>
                        <a:rPr lang="vi-VN" sz="750" b="0" err="1">
                          <a:solidFill>
                            <a:srgbClr val="555555"/>
                          </a:solidFill>
                          <a:latin typeface="Calibri"/>
                        </a:rPr>
                        <a:t>vị</a:t>
                      </a:r>
                      <a:r>
                        <a:rPr lang="vi-VN" sz="750" b="0">
                          <a:solidFill>
                            <a:srgbClr val="555555"/>
                          </a:solidFill>
                          <a:latin typeface="Calibri"/>
                        </a:rPr>
                        <a:t> </a:t>
                      </a:r>
                      <a:r>
                        <a:rPr lang="vi-VN" sz="750" b="0" err="1">
                          <a:solidFill>
                            <a:srgbClr val="555555"/>
                          </a:solidFill>
                          <a:latin typeface="Calibri"/>
                        </a:rPr>
                        <a:t>và</a:t>
                      </a:r>
                      <a:r>
                        <a:rPr lang="vi-VN" sz="750" b="0">
                          <a:solidFill>
                            <a:srgbClr val="555555"/>
                          </a:solidFill>
                          <a:latin typeface="Calibri"/>
                        </a:rPr>
                        <a:t> </a:t>
                      </a:r>
                      <a:r>
                        <a:rPr lang="vi-VN" sz="750" b="0" err="1">
                          <a:solidFill>
                            <a:srgbClr val="555555"/>
                          </a:solidFill>
                          <a:latin typeface="Calibri"/>
                        </a:rPr>
                        <a:t>hiện</a:t>
                      </a:r>
                      <a:r>
                        <a:rPr lang="vi-VN" sz="750" b="0">
                          <a:solidFill>
                            <a:srgbClr val="555555"/>
                          </a:solidFill>
                          <a:latin typeface="Calibri"/>
                        </a:rPr>
                        <a:t> toast (SS-SCR-010).</a:t>
                      </a:r>
                      <a:endParaRPr lang="vi-VN"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Khối 6 phụ thuộc trạng thái đăng nhập — cần chốt hành vi cho khách vãng lai (ẩn hoàn toàn hay thay bằng "Bán chạy"). Placeholder xoay vòng lấy từ cùng nguồn dữ liệu với khối 4.</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6</a:t>
            </a:r>
            <a:endParaRPr lang="en-US" sz="700"/>
          </a:p>
        </p:txBody>
      </p:sp>
      <p:pic>
        <p:nvPicPr>
          <p:cNvPr id="40" name="Picture 39" descr="SS-SCR-001.png"/>
          <p:cNvPicPr>
            <a:picLocks noChangeAspect="1"/>
          </p:cNvPicPr>
          <p:nvPr/>
        </p:nvPicPr>
        <p:blipFill>
          <a:blip r:embed="rId3"/>
          <a:stretch>
            <a:fillRect/>
          </a:stretch>
        </p:blipFill>
        <p:spPr>
          <a:xfrm>
            <a:off x="1250467" y="602920"/>
            <a:ext cx="4594810" cy="4737760"/>
          </a:xfrm>
          <a:prstGeom prst="rect">
            <a:avLst/>
          </a:prstGeom>
        </p:spPr>
      </p:pic>
    </p:spTree>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FR-SP-01</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SS-SCR-002</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kiếm — Gợi ý từ khoá (Autocomplete)</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3998476965"/>
              </p:ext>
            </p:extLst>
          </p:nvPr>
        </p:nvGraphicFramePr>
        <p:xfrm>
          <a:off x="7196328" y="886968"/>
          <a:ext cx="4544568" cy="362712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a:t>
                      </a:r>
                      <a:r>
                        <a:rPr sz="800" b="1" err="1">
                          <a:solidFill>
                            <a:srgbClr val="FFFFFF"/>
                          </a:solidFill>
                          <a:latin typeface="Calibri"/>
                        </a:rPr>
                        <a:t>phần</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err="1">
                          <a:solidFill>
                            <a:srgbClr val="FFFFFF"/>
                          </a:solidFill>
                          <a:latin typeface="Calibri"/>
                        </a:rPr>
                        <a:t>Mô</a:t>
                      </a:r>
                      <a:r>
                        <a:rPr sz="800" b="1">
                          <a:solidFill>
                            <a:srgbClr val="FFFFFF"/>
                          </a:solidFill>
                          <a:latin typeface="Calibri"/>
                        </a:rPr>
                        <a:t> </a:t>
                      </a:r>
                      <a:r>
                        <a:rPr sz="800" b="1" err="1">
                          <a:solidFill>
                            <a:srgbClr val="FFFFFF"/>
                          </a:solidFill>
                          <a:latin typeface="Calibri"/>
                        </a:rPr>
                        <a:t>tả</a:t>
                      </a:r>
                      <a:r>
                        <a:rPr sz="800" b="1">
                          <a:solidFill>
                            <a:srgbClr val="FFFFFF"/>
                          </a:solidFill>
                          <a:latin typeface="Calibri"/>
                        </a:rPr>
                        <a:t>  /  </a:t>
                      </a:r>
                      <a:r>
                        <a:rPr sz="800" b="1" err="1">
                          <a:solidFill>
                            <a:srgbClr val="FFFFFF"/>
                          </a:solidFill>
                          <a:latin typeface="Calibri"/>
                        </a:rPr>
                        <a:t>Hành</a:t>
                      </a:r>
                      <a:r>
                        <a:rPr sz="800" b="1">
                          <a:solidFill>
                            <a:srgbClr val="FFFFFF"/>
                          </a:solidFill>
                          <a:latin typeface="Calibri"/>
                        </a:rPr>
                        <a:t> vi  /  Quy </a:t>
                      </a:r>
                      <a:r>
                        <a:rPr sz="800" b="1" err="1">
                          <a:solidFill>
                            <a:srgbClr val="FFFFFF"/>
                          </a:solidFill>
                          <a:latin typeface="Calibri"/>
                        </a:rPr>
                        <a:t>tắc</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Ô </a:t>
                      </a:r>
                      <a:r>
                        <a:rPr sz="800" b="1" err="1">
                          <a:solidFill>
                            <a:srgbClr val="222222"/>
                          </a:solidFill>
                          <a:latin typeface="Calibri"/>
                        </a:rPr>
                        <a:t>nhập</a:t>
                      </a:r>
                      <a:r>
                        <a:rPr sz="800" b="1">
                          <a:solidFill>
                            <a:srgbClr val="222222"/>
                          </a:solidFill>
                          <a:latin typeface="Calibri"/>
                        </a:rPr>
                        <a:t> (</a:t>
                      </a:r>
                      <a:r>
                        <a:rPr sz="800" b="1" err="1">
                          <a:solidFill>
                            <a:srgbClr val="222222"/>
                          </a:solidFill>
                          <a:latin typeface="Calibri"/>
                        </a:rPr>
                        <a:t>đang</a:t>
                      </a:r>
                      <a:r>
                        <a:rPr sz="800" b="1">
                          <a:solidFill>
                            <a:srgbClr val="222222"/>
                          </a:solidFill>
                          <a:latin typeface="Calibri"/>
                        </a:rPr>
                        <a:t> </a:t>
                      </a:r>
                      <a:r>
                        <a:rPr sz="800" b="1" err="1">
                          <a:solidFill>
                            <a:srgbClr val="222222"/>
                          </a:solidFill>
                          <a:latin typeface="Calibri"/>
                        </a:rPr>
                        <a:t>gõ</a:t>
                      </a:r>
                      <a:r>
                        <a:rPr sz="800" b="1">
                          <a:solidFill>
                            <a:srgbClr val="222222"/>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Hiển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nút</a:t>
                      </a:r>
                      <a:r>
                        <a:rPr sz="750" b="0">
                          <a:solidFill>
                            <a:srgbClr val="555555"/>
                          </a:solidFill>
                          <a:latin typeface="Calibri"/>
                        </a:rPr>
                        <a:t> Back,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gõ</a:t>
                      </a:r>
                      <a:r>
                        <a:rPr sz="750" b="0">
                          <a:solidFill>
                            <a:srgbClr val="555555"/>
                          </a:solidFill>
                          <a:latin typeface="Calibri"/>
                        </a:rPr>
                        <a:t>, </a:t>
                      </a:r>
                      <a:r>
                        <a:rPr sz="750" b="0" err="1">
                          <a:solidFill>
                            <a:srgbClr val="555555"/>
                          </a:solidFill>
                          <a:latin typeface="Calibri"/>
                        </a:rPr>
                        <a:t>nút</a:t>
                      </a:r>
                      <a:r>
                        <a:rPr sz="750" b="0">
                          <a:solidFill>
                            <a:srgbClr val="555555"/>
                          </a:solidFill>
                          <a:latin typeface="Calibri"/>
                        </a:rPr>
                        <a:t> (✕) </a:t>
                      </a:r>
                      <a:r>
                        <a:rPr sz="750" b="0" err="1">
                          <a:solidFill>
                            <a:srgbClr val="555555"/>
                          </a:solidFill>
                          <a:latin typeface="Calibri"/>
                        </a:rPr>
                        <a:t>xoá</a:t>
                      </a:r>
                      <a:r>
                        <a:rPr sz="750" b="0">
                          <a:solidFill>
                            <a:srgbClr val="555555"/>
                          </a:solidFill>
                          <a:latin typeface="Calibri"/>
                        </a:rPr>
                        <a:t> </a:t>
                      </a:r>
                      <a:r>
                        <a:rPr sz="750" b="0" err="1">
                          <a:solidFill>
                            <a:srgbClr val="555555"/>
                          </a:solidFill>
                          <a:latin typeface="Calibri"/>
                        </a:rPr>
                        <a:t>nhanh</a:t>
                      </a:r>
                      <a:r>
                        <a:rPr sz="750" b="0">
                          <a:solidFill>
                            <a:srgbClr val="555555"/>
                          </a:solidFill>
                          <a:latin typeface="Calibri"/>
                        </a:rPr>
                        <a:t> </a:t>
                      </a:r>
                      <a:r>
                        <a:rPr sz="750" b="0" err="1">
                          <a:solidFill>
                            <a:srgbClr val="555555"/>
                          </a:solidFill>
                          <a:latin typeface="Calibri"/>
                        </a:rPr>
                        <a:t>nội</a:t>
                      </a:r>
                      <a:r>
                        <a:rPr sz="750" b="0">
                          <a:solidFill>
                            <a:srgbClr val="555555"/>
                          </a:solidFill>
                          <a:latin typeface="Calibri"/>
                        </a:rPr>
                        <a:t> dung, </a:t>
                      </a:r>
                      <a:r>
                        <a:rPr sz="750" b="0" err="1">
                          <a:solidFill>
                            <a:srgbClr val="555555"/>
                          </a:solidFill>
                          <a:latin typeface="Calibri"/>
                        </a:rPr>
                        <a:t>giữ</a:t>
                      </a:r>
                      <a:r>
                        <a:rPr sz="750" b="0">
                          <a:solidFill>
                            <a:srgbClr val="555555"/>
                          </a:solidFill>
                          <a:latin typeface="Calibri"/>
                        </a:rPr>
                        <a:t> </a:t>
                      </a:r>
                      <a:r>
                        <a:rPr sz="750" b="0" err="1">
                          <a:solidFill>
                            <a:srgbClr val="555555"/>
                          </a:solidFill>
                          <a:latin typeface="Calibri"/>
                        </a:rPr>
                        <a:t>nguyên</a:t>
                      </a:r>
                      <a:r>
                        <a:rPr sz="750" b="0">
                          <a:solidFill>
                            <a:srgbClr val="555555"/>
                          </a:solidFill>
                          <a:latin typeface="Calibri"/>
                        </a:rPr>
                        <a:t> icon Mic/Camera/</a:t>
                      </a:r>
                      <a:r>
                        <a:rPr sz="750" b="0" err="1">
                          <a:solidFill>
                            <a:srgbClr val="555555"/>
                          </a:solidFill>
                          <a:latin typeface="Calibri"/>
                        </a:rPr>
                        <a:t>Giỏ</a:t>
                      </a:r>
                      <a:r>
                        <a:rPr sz="750" b="0">
                          <a:solidFill>
                            <a:srgbClr val="555555"/>
                          </a:solidFill>
                          <a:latin typeface="Calibri"/>
                        </a:rPr>
                        <a:t>. ⚠ Debounce 300ms </a:t>
                      </a:r>
                      <a:r>
                        <a:rPr sz="750" b="0" err="1">
                          <a:solidFill>
                            <a:srgbClr val="555555"/>
                          </a:solidFill>
                          <a:latin typeface="Calibri"/>
                        </a:rPr>
                        <a:t>trước</a:t>
                      </a:r>
                      <a:r>
                        <a:rPr sz="750" b="0">
                          <a:solidFill>
                            <a:srgbClr val="555555"/>
                          </a:solidFill>
                          <a:latin typeface="Calibri"/>
                        </a:rPr>
                        <a:t> </a:t>
                      </a:r>
                      <a:r>
                        <a:rPr sz="750" b="0" err="1">
                          <a:solidFill>
                            <a:srgbClr val="555555"/>
                          </a:solidFill>
                          <a:latin typeface="Calibri"/>
                        </a:rPr>
                        <a:t>khi</a:t>
                      </a:r>
                      <a:r>
                        <a:rPr sz="750" b="0">
                          <a:solidFill>
                            <a:srgbClr val="555555"/>
                          </a:solidFill>
                          <a:latin typeface="Calibri"/>
                        </a:rPr>
                        <a:t> </a:t>
                      </a:r>
                      <a:r>
                        <a:rPr sz="750" b="0" err="1">
                          <a:solidFill>
                            <a:srgbClr val="555555"/>
                          </a:solidFill>
                          <a:latin typeface="Calibri"/>
                        </a:rPr>
                        <a:t>gọi</a:t>
                      </a:r>
                      <a:r>
                        <a:rPr sz="750" b="0">
                          <a:solidFill>
                            <a:srgbClr val="555555"/>
                          </a:solidFill>
                          <a:latin typeface="Calibri"/>
                        </a:rPr>
                        <a:t> API </a:t>
                      </a:r>
                      <a:r>
                        <a:rPr sz="750" b="0" err="1">
                          <a:solidFill>
                            <a:srgbClr val="555555"/>
                          </a:solidFill>
                          <a:latin typeface="Calibri"/>
                        </a:rPr>
                        <a:t>gợi</a:t>
                      </a:r>
                      <a:r>
                        <a:rPr sz="750" b="0">
                          <a:solidFill>
                            <a:srgbClr val="555555"/>
                          </a:solidFill>
                          <a:latin typeface="Calibri"/>
                        </a:rPr>
                        <a:t> ý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tránh</a:t>
                      </a:r>
                      <a:r>
                        <a:rPr sz="750" b="0">
                          <a:solidFill>
                            <a:srgbClr val="555555"/>
                          </a:solidFill>
                          <a:latin typeface="Calibri"/>
                        </a:rPr>
                        <a:t> spam request.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Dòng </a:t>
                      </a:r>
                      <a:r>
                        <a:rPr sz="800" b="1" err="1">
                          <a:solidFill>
                            <a:srgbClr val="222222"/>
                          </a:solidFill>
                          <a:latin typeface="Calibri"/>
                        </a:rPr>
                        <a:t>gợi</a:t>
                      </a:r>
                      <a:r>
                        <a:rPr sz="800" b="1">
                          <a:solidFill>
                            <a:srgbClr val="222222"/>
                          </a:solidFill>
                          <a:latin typeface="Calibri"/>
                        </a:rPr>
                        <a:t> ý</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Mỗi </a:t>
                      </a:r>
                      <a:r>
                        <a:rPr sz="750" b="0" err="1">
                          <a:solidFill>
                            <a:srgbClr val="555555"/>
                          </a:solidFill>
                          <a:latin typeface="Calibri"/>
                        </a:rPr>
                        <a:t>dòng</a:t>
                      </a:r>
                      <a:r>
                        <a:rPr sz="750" b="0">
                          <a:solidFill>
                            <a:srgbClr val="555555"/>
                          </a:solidFill>
                          <a:latin typeface="Calibri"/>
                        </a:rPr>
                        <a:t> </a:t>
                      </a:r>
                      <a:r>
                        <a:rPr sz="750" b="0" err="1">
                          <a:solidFill>
                            <a:srgbClr val="555555"/>
                          </a:solidFill>
                          <a:latin typeface="Calibri"/>
                        </a:rPr>
                        <a:t>là</a:t>
                      </a:r>
                      <a:r>
                        <a:rPr sz="750" b="0">
                          <a:solidFill>
                            <a:srgbClr val="555555"/>
                          </a:solidFill>
                          <a:latin typeface="Calibri"/>
                        </a:rPr>
                        <a:t> </a:t>
                      </a:r>
                      <a:r>
                        <a:rPr sz="750" b="0" err="1">
                          <a:solidFill>
                            <a:srgbClr val="555555"/>
                          </a:solidFill>
                          <a:latin typeface="Calibri"/>
                        </a:rPr>
                        <a:t>một</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nhiều</a:t>
                      </a:r>
                      <a:r>
                        <a:rPr sz="750" b="0">
                          <a:solidFill>
                            <a:srgbClr val="555555"/>
                          </a:solidFill>
                          <a:latin typeface="Calibri"/>
                        </a:rPr>
                        <a:t>, </a:t>
                      </a:r>
                      <a:r>
                        <a:rPr sz="750" b="0" err="1">
                          <a:solidFill>
                            <a:srgbClr val="555555"/>
                          </a:solidFill>
                          <a:latin typeface="Calibri"/>
                        </a:rPr>
                        <a:t>bắt</a:t>
                      </a:r>
                      <a:r>
                        <a:rPr sz="750" b="0">
                          <a:solidFill>
                            <a:srgbClr val="555555"/>
                          </a:solidFill>
                          <a:latin typeface="Calibri"/>
                        </a:rPr>
                        <a:t> </a:t>
                      </a:r>
                      <a:r>
                        <a:rPr sz="750" b="0" err="1">
                          <a:solidFill>
                            <a:srgbClr val="555555"/>
                          </a:solidFill>
                          <a:latin typeface="Calibri"/>
                        </a:rPr>
                        <a:t>đầu</a:t>
                      </a:r>
                      <a:r>
                        <a:rPr sz="750" b="0">
                          <a:solidFill>
                            <a:srgbClr val="555555"/>
                          </a:solidFill>
                          <a:latin typeface="Calibri"/>
                        </a:rPr>
                        <a:t> </a:t>
                      </a:r>
                      <a:r>
                        <a:rPr sz="750" b="0" err="1">
                          <a:solidFill>
                            <a:srgbClr val="555555"/>
                          </a:solidFill>
                          <a:latin typeface="Calibri"/>
                        </a:rPr>
                        <a:t>bằng</a:t>
                      </a:r>
                      <a:r>
                        <a:rPr sz="750" b="0">
                          <a:solidFill>
                            <a:srgbClr val="555555"/>
                          </a:solidFill>
                          <a:latin typeface="Calibri"/>
                        </a:rPr>
                        <a:t> </a:t>
                      </a:r>
                      <a:r>
                        <a:rPr sz="750" b="0" err="1">
                          <a:solidFill>
                            <a:srgbClr val="555555"/>
                          </a:solidFill>
                          <a:latin typeface="Calibri"/>
                        </a:rPr>
                        <a:t>hoặc</a:t>
                      </a:r>
                      <a:r>
                        <a:rPr sz="750" b="0">
                          <a:solidFill>
                            <a:srgbClr val="555555"/>
                          </a:solidFill>
                          <a:latin typeface="Calibri"/>
                        </a:rPr>
                        <a:t> </a:t>
                      </a:r>
                      <a:r>
                        <a:rPr sz="750" b="0" err="1">
                          <a:solidFill>
                            <a:srgbClr val="555555"/>
                          </a:solidFill>
                          <a:latin typeface="Calibri"/>
                        </a:rPr>
                        <a:t>có</a:t>
                      </a:r>
                      <a:r>
                        <a:rPr sz="750" b="0">
                          <a:solidFill>
                            <a:srgbClr val="555555"/>
                          </a:solidFill>
                          <a:latin typeface="Calibri"/>
                        </a:rPr>
                        <a:t> </a:t>
                      </a:r>
                      <a:r>
                        <a:rPr sz="750" b="0" err="1">
                          <a:solidFill>
                            <a:srgbClr val="555555"/>
                          </a:solidFill>
                          <a:latin typeface="Calibri"/>
                        </a:rPr>
                        <a:t>chứa</a:t>
                      </a:r>
                      <a:r>
                        <a:rPr sz="750" b="0">
                          <a:solidFill>
                            <a:srgbClr val="555555"/>
                          </a:solidFill>
                          <a:latin typeface="Calibri"/>
                        </a:rPr>
                        <a:t> </a:t>
                      </a:r>
                      <a:r>
                        <a:rPr sz="750" b="0" err="1">
                          <a:solidFill>
                            <a:srgbClr val="555555"/>
                          </a:solidFill>
                          <a:latin typeface="Calibri"/>
                        </a:rPr>
                        <a:t>chuỗi</a:t>
                      </a:r>
                      <a:r>
                        <a:rPr sz="750" b="0">
                          <a:solidFill>
                            <a:srgbClr val="555555"/>
                          </a:solidFill>
                          <a:latin typeface="Calibri"/>
                        </a:rPr>
                        <a:t> </a:t>
                      </a:r>
                      <a:r>
                        <a:rPr sz="750" b="0" err="1">
                          <a:solidFill>
                            <a:srgbClr val="555555"/>
                          </a:solidFill>
                          <a:latin typeface="Calibri"/>
                        </a:rPr>
                        <a:t>người</a:t>
                      </a:r>
                      <a:r>
                        <a:rPr sz="750" b="0">
                          <a:solidFill>
                            <a:srgbClr val="555555"/>
                          </a:solidFill>
                          <a:latin typeface="Calibri"/>
                        </a:rPr>
                        <a:t> </a:t>
                      </a:r>
                      <a:r>
                        <a:rPr sz="750" b="0" err="1">
                          <a:solidFill>
                            <a:srgbClr val="555555"/>
                          </a:solidFill>
                          <a:latin typeface="Calibri"/>
                        </a:rPr>
                        <a:t>dùng</a:t>
                      </a:r>
                      <a:r>
                        <a:rPr sz="750" b="0">
                          <a:solidFill>
                            <a:srgbClr val="555555"/>
                          </a:solidFill>
                          <a:latin typeface="Calibri"/>
                        </a:rPr>
                        <a:t>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gõ</a:t>
                      </a:r>
                      <a:r>
                        <a:rPr sz="750" b="0">
                          <a:solidFill>
                            <a:srgbClr val="555555"/>
                          </a:solidFill>
                          <a:latin typeface="Calibri"/>
                        </a:rPr>
                        <a:t> (</a:t>
                      </a:r>
                      <a:r>
                        <a:rPr sz="750" b="0" err="1">
                          <a:solidFill>
                            <a:srgbClr val="555555"/>
                          </a:solidFill>
                          <a:latin typeface="Calibri"/>
                        </a:rPr>
                        <a:t>ví</a:t>
                      </a:r>
                      <a:r>
                        <a:rPr sz="750" b="0">
                          <a:solidFill>
                            <a:srgbClr val="555555"/>
                          </a:solidFill>
                          <a:latin typeface="Calibri"/>
                        </a:rPr>
                        <a:t> </a:t>
                      </a:r>
                      <a:r>
                        <a:rPr sz="750" b="0" err="1">
                          <a:solidFill>
                            <a:srgbClr val="555555"/>
                          </a:solidFill>
                          <a:latin typeface="Calibri"/>
                        </a:rPr>
                        <a:t>dụ</a:t>
                      </a:r>
                      <a:r>
                        <a:rPr sz="750" b="0">
                          <a:solidFill>
                            <a:srgbClr val="555555"/>
                          </a:solidFill>
                          <a:latin typeface="Calibri"/>
                        </a:rPr>
                        <a:t> </a:t>
                      </a:r>
                      <a:r>
                        <a:rPr sz="750" b="0" err="1">
                          <a:solidFill>
                            <a:srgbClr val="555555"/>
                          </a:solidFill>
                          <a:latin typeface="Calibri"/>
                        </a:rPr>
                        <a:t>gõ</a:t>
                      </a:r>
                      <a:r>
                        <a:rPr sz="750" b="0">
                          <a:solidFill>
                            <a:srgbClr val="555555"/>
                          </a:solidFill>
                          <a:latin typeface="Calibri"/>
                        </a:rPr>
                        <a:t> "</a:t>
                      </a:r>
                      <a:r>
                        <a:rPr sz="750" b="0" err="1">
                          <a:solidFill>
                            <a:srgbClr val="555555"/>
                          </a:solidFill>
                          <a:latin typeface="Calibri"/>
                        </a:rPr>
                        <a:t>sữa</a:t>
                      </a:r>
                      <a:r>
                        <a:rPr sz="750" b="0">
                          <a:solidFill>
                            <a:srgbClr val="555555"/>
                          </a:solidFill>
                          <a:latin typeface="Calibri"/>
                        </a:rPr>
                        <a:t>" → "</a:t>
                      </a:r>
                      <a:r>
                        <a:rPr sz="750" b="0" err="1">
                          <a:solidFill>
                            <a:srgbClr val="555555"/>
                          </a:solidFill>
                          <a:latin typeface="Calibri"/>
                        </a:rPr>
                        <a:t>sữa</a:t>
                      </a:r>
                      <a:r>
                        <a:rPr sz="750" b="0">
                          <a:solidFill>
                            <a:srgbClr val="555555"/>
                          </a:solidFill>
                          <a:latin typeface="Calibri"/>
                        </a:rPr>
                        <a:t> </a:t>
                      </a:r>
                      <a:r>
                        <a:rPr sz="750" b="0" err="1">
                          <a:solidFill>
                            <a:srgbClr val="555555"/>
                          </a:solidFill>
                          <a:latin typeface="Calibri"/>
                        </a:rPr>
                        <a:t>tươi</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đường</a:t>
                      </a:r>
                      <a:r>
                        <a:rPr sz="750" b="0">
                          <a:solidFill>
                            <a:srgbClr val="555555"/>
                          </a:solidFill>
                          <a:latin typeface="Calibri"/>
                        </a:rPr>
                        <a:t>"). </a:t>
                      </a:r>
                      <a:r>
                        <a:rPr sz="750" b="0" err="1">
                          <a:solidFill>
                            <a:srgbClr val="555555"/>
                          </a:solidFill>
                          <a:latin typeface="Calibri"/>
                        </a:rPr>
                        <a:t>Sắp</a:t>
                      </a:r>
                      <a:r>
                        <a:rPr sz="750" b="0">
                          <a:solidFill>
                            <a:srgbClr val="555555"/>
                          </a:solidFill>
                          <a:latin typeface="Calibri"/>
                        </a:rPr>
                        <a:t> </a:t>
                      </a:r>
                      <a:r>
                        <a:rPr sz="750" b="0" err="1">
                          <a:solidFill>
                            <a:srgbClr val="555555"/>
                          </a:solidFill>
                          <a:latin typeface="Calibri"/>
                        </a:rPr>
                        <a:t>xếp</a:t>
                      </a:r>
                      <a:r>
                        <a:rPr sz="750" b="0">
                          <a:solidFill>
                            <a:srgbClr val="555555"/>
                          </a:solidFill>
                          <a:latin typeface="Calibri"/>
                        </a:rPr>
                        <a:t> </a:t>
                      </a:r>
                      <a:r>
                        <a:rPr sz="750" b="0" err="1">
                          <a:solidFill>
                            <a:srgbClr val="555555"/>
                          </a:solidFill>
                          <a:latin typeface="Calibri"/>
                        </a:rPr>
                        <a:t>theo</a:t>
                      </a:r>
                      <a:r>
                        <a:rPr sz="750" b="0">
                          <a:solidFill>
                            <a:srgbClr val="555555"/>
                          </a:solidFill>
                          <a:latin typeface="Calibri"/>
                        </a:rPr>
                        <a:t> search volume </a:t>
                      </a:r>
                      <a:r>
                        <a:rPr sz="750" b="0" err="1">
                          <a:solidFill>
                            <a:srgbClr val="555555"/>
                          </a:solidFill>
                          <a:latin typeface="Calibri"/>
                        </a:rPr>
                        <a:t>giảm</a:t>
                      </a:r>
                      <a:r>
                        <a:rPr sz="750" b="0">
                          <a:solidFill>
                            <a:srgbClr val="555555"/>
                          </a:solidFill>
                          <a:latin typeface="Calibri"/>
                        </a:rPr>
                        <a:t> </a:t>
                      </a:r>
                      <a:r>
                        <a:rPr sz="750" b="0" err="1">
                          <a:solidFill>
                            <a:srgbClr val="555555"/>
                          </a:solidFill>
                          <a:latin typeface="Calibri"/>
                        </a:rPr>
                        <a:t>dần</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Highlight </a:t>
                      </a:r>
                      <a:r>
                        <a:rPr sz="800" b="1" err="1">
                          <a:solidFill>
                            <a:srgbClr val="222222"/>
                          </a:solidFill>
                          <a:latin typeface="Calibri"/>
                        </a:rPr>
                        <a:t>phần</a:t>
                      </a:r>
                      <a:r>
                        <a:rPr sz="800" b="1">
                          <a:solidFill>
                            <a:srgbClr val="222222"/>
                          </a:solidFill>
                          <a:latin typeface="Calibri"/>
                        </a:rPr>
                        <a:t> </a:t>
                      </a:r>
                      <a:r>
                        <a:rPr sz="800" b="1" err="1">
                          <a:solidFill>
                            <a:srgbClr val="222222"/>
                          </a:solidFill>
                          <a:latin typeface="Calibri"/>
                        </a:rPr>
                        <a:t>khớp</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err="1">
                          <a:solidFill>
                            <a:srgbClr val="555555"/>
                          </a:solidFill>
                          <a:latin typeface="Calibri"/>
                        </a:rPr>
                        <a:t>Phần</a:t>
                      </a:r>
                      <a:r>
                        <a:rPr sz="750" b="0">
                          <a:solidFill>
                            <a:srgbClr val="555555"/>
                          </a:solidFill>
                          <a:latin typeface="Calibri"/>
                        </a:rPr>
                        <a:t> </a:t>
                      </a:r>
                      <a:r>
                        <a:rPr sz="750" b="0" err="1">
                          <a:solidFill>
                            <a:srgbClr val="555555"/>
                          </a:solidFill>
                          <a:latin typeface="Calibri"/>
                        </a:rPr>
                        <a:t>ký</a:t>
                      </a:r>
                      <a:r>
                        <a:rPr sz="750" b="0">
                          <a:solidFill>
                            <a:srgbClr val="555555"/>
                          </a:solidFill>
                          <a:latin typeface="Calibri"/>
                        </a:rPr>
                        <a:t> </a:t>
                      </a:r>
                      <a:r>
                        <a:rPr sz="750" b="0" err="1">
                          <a:solidFill>
                            <a:srgbClr val="555555"/>
                          </a:solidFill>
                          <a:latin typeface="Calibri"/>
                        </a:rPr>
                        <a:t>tự</a:t>
                      </a:r>
                      <a:r>
                        <a:rPr sz="750" b="0">
                          <a:solidFill>
                            <a:srgbClr val="555555"/>
                          </a:solidFill>
                          <a:latin typeface="Calibri"/>
                        </a:rPr>
                        <a:t> </a:t>
                      </a:r>
                      <a:r>
                        <a:rPr sz="750" b="0" err="1">
                          <a:solidFill>
                            <a:srgbClr val="555555"/>
                          </a:solidFill>
                          <a:latin typeface="Calibri"/>
                        </a:rPr>
                        <a:t>trùng</a:t>
                      </a:r>
                      <a:r>
                        <a:rPr sz="750" b="0">
                          <a:solidFill>
                            <a:srgbClr val="555555"/>
                          </a:solidFill>
                          <a:latin typeface="Calibri"/>
                        </a:rPr>
                        <a:t> </a:t>
                      </a:r>
                      <a:r>
                        <a:rPr sz="750" b="0" err="1">
                          <a:solidFill>
                            <a:srgbClr val="555555"/>
                          </a:solidFill>
                          <a:latin typeface="Calibri"/>
                        </a:rPr>
                        <a:t>với</a:t>
                      </a:r>
                      <a:r>
                        <a:rPr sz="750" b="0">
                          <a:solidFill>
                            <a:srgbClr val="555555"/>
                          </a:solidFill>
                          <a:latin typeface="Calibri"/>
                        </a:rPr>
                        <a:t> </a:t>
                      </a:r>
                      <a:r>
                        <a:rPr sz="750" b="0" err="1">
                          <a:solidFill>
                            <a:srgbClr val="555555"/>
                          </a:solidFill>
                          <a:latin typeface="Calibri"/>
                        </a:rPr>
                        <a:t>chuỗi</a:t>
                      </a:r>
                      <a:r>
                        <a:rPr sz="750" b="0">
                          <a:solidFill>
                            <a:srgbClr val="555555"/>
                          </a:solidFill>
                          <a:latin typeface="Calibri"/>
                        </a:rPr>
                        <a:t>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gõ</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in </a:t>
                      </a:r>
                      <a:r>
                        <a:rPr sz="750" b="0" err="1">
                          <a:solidFill>
                            <a:srgbClr val="555555"/>
                          </a:solidFill>
                          <a:latin typeface="Calibri"/>
                        </a:rPr>
                        <a:t>đậm</a:t>
                      </a:r>
                      <a:r>
                        <a:rPr sz="750" b="0">
                          <a:solidFill>
                            <a:srgbClr val="555555"/>
                          </a:solidFill>
                          <a:latin typeface="Calibri"/>
                        </a:rPr>
                        <a:t>/</a:t>
                      </a:r>
                      <a:r>
                        <a:rPr sz="750" b="0" err="1">
                          <a:solidFill>
                            <a:srgbClr val="555555"/>
                          </a:solidFill>
                          <a:latin typeface="Calibri"/>
                        </a:rPr>
                        <a:t>đổi</a:t>
                      </a:r>
                      <a:r>
                        <a:rPr sz="750" b="0">
                          <a:solidFill>
                            <a:srgbClr val="555555"/>
                          </a:solidFill>
                          <a:latin typeface="Calibri"/>
                        </a:rPr>
                        <a:t> </a:t>
                      </a:r>
                      <a:r>
                        <a:rPr sz="750" b="0" err="1">
                          <a:solidFill>
                            <a:srgbClr val="555555"/>
                          </a:solidFill>
                          <a:latin typeface="Calibri"/>
                        </a:rPr>
                        <a:t>màu</a:t>
                      </a:r>
                      <a:r>
                        <a:rPr sz="750" b="0">
                          <a:solidFill>
                            <a:srgbClr val="555555"/>
                          </a:solidFill>
                          <a:latin typeface="Calibri"/>
                        </a:rPr>
                        <a:t>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mắt</a:t>
                      </a:r>
                      <a:r>
                        <a:rPr sz="750" b="0">
                          <a:solidFill>
                            <a:srgbClr val="555555"/>
                          </a:solidFill>
                          <a:latin typeface="Calibri"/>
                        </a:rPr>
                        <a:t> </a:t>
                      </a:r>
                      <a:r>
                        <a:rPr sz="750" b="0" err="1">
                          <a:solidFill>
                            <a:srgbClr val="555555"/>
                          </a:solidFill>
                          <a:latin typeface="Calibri"/>
                        </a:rPr>
                        <a:t>bắt</a:t>
                      </a:r>
                      <a:r>
                        <a:rPr sz="750" b="0">
                          <a:solidFill>
                            <a:srgbClr val="555555"/>
                          </a:solidFill>
                          <a:latin typeface="Calibri"/>
                        </a:rPr>
                        <a:t> </a:t>
                      </a:r>
                      <a:r>
                        <a:rPr sz="750" b="0" err="1">
                          <a:solidFill>
                            <a:srgbClr val="555555"/>
                          </a:solidFill>
                          <a:latin typeface="Calibri"/>
                        </a:rPr>
                        <a:t>nhanh</a:t>
                      </a:r>
                      <a:r>
                        <a:rPr sz="750" b="0">
                          <a:solidFill>
                            <a:srgbClr val="555555"/>
                          </a:solidFill>
                          <a:latin typeface="Calibri"/>
                        </a:rPr>
                        <a:t>. </a:t>
                      </a:r>
                      <a:r>
                        <a:rPr sz="750" b="0" err="1">
                          <a:solidFill>
                            <a:srgbClr val="555555"/>
                          </a:solidFill>
                          <a:latin typeface="Calibri"/>
                        </a:rPr>
                        <a:t>Mục</a:t>
                      </a:r>
                      <a:r>
                        <a:rPr sz="750" b="0">
                          <a:solidFill>
                            <a:srgbClr val="555555"/>
                          </a:solidFill>
                          <a:latin typeface="Calibri"/>
                        </a:rPr>
                        <a:t> </a:t>
                      </a:r>
                      <a:r>
                        <a:rPr sz="750" b="0" err="1">
                          <a:solidFill>
                            <a:srgbClr val="555555"/>
                          </a:solidFill>
                          <a:latin typeface="Calibri"/>
                        </a:rPr>
                        <a:t>tiêu</a:t>
                      </a:r>
                      <a:r>
                        <a:rPr sz="750" b="0">
                          <a:solidFill>
                            <a:srgbClr val="555555"/>
                          </a:solidFill>
                          <a:latin typeface="Calibri"/>
                        </a:rPr>
                        <a:t>: </a:t>
                      </a:r>
                      <a:r>
                        <a:rPr sz="750" b="0" err="1">
                          <a:solidFill>
                            <a:srgbClr val="555555"/>
                          </a:solidFill>
                          <a:latin typeface="Calibri"/>
                        </a:rPr>
                        <a:t>giảm</a:t>
                      </a:r>
                      <a:r>
                        <a:rPr sz="750" b="0">
                          <a:solidFill>
                            <a:srgbClr val="555555"/>
                          </a:solidFill>
                          <a:latin typeface="Calibri"/>
                        </a:rPr>
                        <a:t> </a:t>
                      </a:r>
                      <a:r>
                        <a:rPr sz="750" b="0" err="1">
                          <a:solidFill>
                            <a:srgbClr val="555555"/>
                          </a:solidFill>
                          <a:latin typeface="Calibri"/>
                        </a:rPr>
                        <a:t>số</a:t>
                      </a:r>
                      <a:r>
                        <a:rPr sz="750" b="0">
                          <a:solidFill>
                            <a:srgbClr val="555555"/>
                          </a:solidFill>
                          <a:latin typeface="Calibri"/>
                        </a:rPr>
                        <a:t> </a:t>
                      </a:r>
                      <a:r>
                        <a:rPr sz="750" b="0" err="1">
                          <a:solidFill>
                            <a:srgbClr val="555555"/>
                          </a:solidFill>
                          <a:latin typeface="Calibri"/>
                        </a:rPr>
                        <a:t>ký</a:t>
                      </a:r>
                      <a:r>
                        <a:rPr sz="750" b="0">
                          <a:solidFill>
                            <a:srgbClr val="555555"/>
                          </a:solidFill>
                          <a:latin typeface="Calibri"/>
                        </a:rPr>
                        <a:t> </a:t>
                      </a:r>
                      <a:r>
                        <a:rPr sz="750" b="0" err="1">
                          <a:solidFill>
                            <a:srgbClr val="555555"/>
                          </a:solidFill>
                          <a:latin typeface="Calibri"/>
                        </a:rPr>
                        <a:t>tự</a:t>
                      </a:r>
                      <a:r>
                        <a:rPr sz="750" b="0">
                          <a:solidFill>
                            <a:srgbClr val="555555"/>
                          </a:solidFill>
                          <a:latin typeface="Calibri"/>
                        </a:rPr>
                        <a:t> </a:t>
                      </a:r>
                      <a:r>
                        <a:rPr sz="750" b="0" err="1">
                          <a:solidFill>
                            <a:srgbClr val="555555"/>
                          </a:solidFill>
                          <a:latin typeface="Calibri"/>
                        </a:rPr>
                        <a:t>phải</a:t>
                      </a:r>
                      <a:r>
                        <a:rPr sz="750" b="0">
                          <a:solidFill>
                            <a:srgbClr val="555555"/>
                          </a:solidFill>
                          <a:latin typeface="Calibri"/>
                        </a:rPr>
                        <a:t> </a:t>
                      </a:r>
                      <a:r>
                        <a:rPr sz="750" b="0" err="1">
                          <a:solidFill>
                            <a:srgbClr val="555555"/>
                          </a:solidFill>
                          <a:latin typeface="Calibri"/>
                        </a:rPr>
                        <a:t>gõ</a:t>
                      </a:r>
                      <a:r>
                        <a:rPr sz="750" b="0">
                          <a:solidFill>
                            <a:srgbClr val="555555"/>
                          </a:solidFill>
                          <a:latin typeface="Calibri"/>
                        </a:rPr>
                        <a:t>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giảm</a:t>
                      </a:r>
                      <a:r>
                        <a:rPr sz="750" b="0">
                          <a:solidFill>
                            <a:srgbClr val="555555"/>
                          </a:solidFill>
                          <a:latin typeface="Calibri"/>
                        </a:rPr>
                        <a:t> </a:t>
                      </a:r>
                      <a:r>
                        <a:rPr sz="750" b="0" err="1">
                          <a:solidFill>
                            <a:srgbClr val="555555"/>
                          </a:solidFill>
                          <a:latin typeface="Calibri"/>
                        </a:rPr>
                        <a:t>rủi</a:t>
                      </a:r>
                      <a:r>
                        <a:rPr sz="750" b="0">
                          <a:solidFill>
                            <a:srgbClr val="555555"/>
                          </a:solidFill>
                          <a:latin typeface="Calibri"/>
                        </a:rPr>
                        <a:t> </a:t>
                      </a:r>
                      <a:r>
                        <a:rPr sz="750" b="0" err="1">
                          <a:solidFill>
                            <a:srgbClr val="555555"/>
                          </a:solidFill>
                          <a:latin typeface="Calibri"/>
                        </a:rPr>
                        <a:t>ro</a:t>
                      </a:r>
                      <a:r>
                        <a:rPr sz="750" b="0">
                          <a:solidFill>
                            <a:srgbClr val="555555"/>
                          </a:solidFill>
                          <a:latin typeface="Calibri"/>
                        </a:rPr>
                        <a:t> </a:t>
                      </a:r>
                      <a:r>
                        <a:rPr sz="750" b="0" err="1">
                          <a:solidFill>
                            <a:srgbClr val="555555"/>
                          </a:solidFill>
                          <a:latin typeface="Calibri"/>
                        </a:rPr>
                        <a:t>sai</a:t>
                      </a:r>
                      <a:r>
                        <a:rPr sz="750" b="0">
                          <a:solidFill>
                            <a:srgbClr val="555555"/>
                          </a:solidFill>
                          <a:latin typeface="Calibri"/>
                        </a:rPr>
                        <a:t> </a:t>
                      </a:r>
                      <a:r>
                        <a:rPr sz="750" b="0" err="1">
                          <a:solidFill>
                            <a:srgbClr val="555555"/>
                          </a:solidFill>
                          <a:latin typeface="Calibri"/>
                        </a:rPr>
                        <a:t>chính</a:t>
                      </a:r>
                      <a:r>
                        <a:rPr sz="750" b="0">
                          <a:solidFill>
                            <a:srgbClr val="555555"/>
                          </a:solidFill>
                          <a:latin typeface="Calibri"/>
                        </a:rPr>
                        <a:t> </a:t>
                      </a:r>
                      <a:r>
                        <a:rPr sz="750" b="0" err="1">
                          <a:solidFill>
                            <a:srgbClr val="555555"/>
                          </a:solidFill>
                          <a:latin typeface="Calibri"/>
                        </a:rPr>
                        <a:t>tả</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Danh </a:t>
                      </a:r>
                      <a:r>
                        <a:rPr sz="800" b="1" err="1">
                          <a:solidFill>
                            <a:srgbClr val="222222"/>
                          </a:solidFill>
                          <a:latin typeface="Calibri"/>
                        </a:rPr>
                        <a:t>sách</a:t>
                      </a:r>
                      <a:r>
                        <a:rPr sz="800" b="1">
                          <a:solidFill>
                            <a:srgbClr val="222222"/>
                          </a:solidFill>
                          <a:latin typeface="Calibri"/>
                        </a:rPr>
                        <a:t> </a:t>
                      </a:r>
                      <a:r>
                        <a:rPr sz="800" b="1" err="1">
                          <a:solidFill>
                            <a:srgbClr val="222222"/>
                          </a:solidFill>
                          <a:latin typeface="Calibri"/>
                        </a:rPr>
                        <a:t>gợi</a:t>
                      </a:r>
                      <a:r>
                        <a:rPr sz="800" b="1">
                          <a:solidFill>
                            <a:srgbClr val="222222"/>
                          </a:solidFill>
                          <a:latin typeface="Calibri"/>
                        </a:rPr>
                        <a:t> ý</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err="1">
                          <a:solidFill>
                            <a:srgbClr val="555555"/>
                          </a:solidFill>
                          <a:latin typeface="Calibri"/>
                        </a:rPr>
                        <a:t>Tối</a:t>
                      </a:r>
                      <a:r>
                        <a:rPr sz="750" b="0">
                          <a:solidFill>
                            <a:srgbClr val="555555"/>
                          </a:solidFill>
                          <a:latin typeface="Calibri"/>
                        </a:rPr>
                        <a:t> </a:t>
                      </a:r>
                      <a:r>
                        <a:rPr sz="750" b="0" err="1">
                          <a:solidFill>
                            <a:srgbClr val="555555"/>
                          </a:solidFill>
                          <a:latin typeface="Calibri"/>
                        </a:rPr>
                        <a:t>đa</a:t>
                      </a:r>
                      <a:r>
                        <a:rPr sz="750" b="0">
                          <a:solidFill>
                            <a:srgbClr val="555555"/>
                          </a:solidFill>
                          <a:latin typeface="Calibri"/>
                        </a:rPr>
                        <a:t> 10 </a:t>
                      </a:r>
                      <a:r>
                        <a:rPr sz="750" b="0" err="1">
                          <a:solidFill>
                            <a:srgbClr val="555555"/>
                          </a:solidFill>
                          <a:latin typeface="Calibri"/>
                        </a:rPr>
                        <a:t>dòng</a:t>
                      </a:r>
                      <a:r>
                        <a:rPr sz="750" b="0">
                          <a:solidFill>
                            <a:srgbClr val="555555"/>
                          </a:solidFill>
                          <a:latin typeface="Calibri"/>
                        </a:rPr>
                        <a:t>, </a:t>
                      </a:r>
                      <a:r>
                        <a:rPr sz="750" b="0" err="1">
                          <a:solidFill>
                            <a:srgbClr val="555555"/>
                          </a:solidFill>
                          <a:latin typeface="Calibri"/>
                        </a:rPr>
                        <a:t>cuộn</a:t>
                      </a:r>
                      <a:r>
                        <a:rPr sz="750" b="0">
                          <a:solidFill>
                            <a:srgbClr val="555555"/>
                          </a:solidFill>
                          <a:latin typeface="Calibri"/>
                        </a:rPr>
                        <a:t> </a:t>
                      </a:r>
                      <a:r>
                        <a:rPr sz="750" b="0" err="1">
                          <a:solidFill>
                            <a:srgbClr val="555555"/>
                          </a:solidFill>
                          <a:latin typeface="Calibri"/>
                        </a:rPr>
                        <a:t>dọc</a:t>
                      </a:r>
                      <a:r>
                        <a:rPr sz="750" b="0">
                          <a:solidFill>
                            <a:srgbClr val="555555"/>
                          </a:solidFill>
                          <a:latin typeface="Calibri"/>
                        </a:rPr>
                        <a:t>. ⚠ </a:t>
                      </a:r>
                      <a:r>
                        <a:rPr sz="750" b="0" err="1">
                          <a:solidFill>
                            <a:srgbClr val="555555"/>
                          </a:solidFill>
                          <a:latin typeface="Calibri"/>
                        </a:rPr>
                        <a:t>Nếu</a:t>
                      </a:r>
                      <a:r>
                        <a:rPr sz="750" b="0">
                          <a:solidFill>
                            <a:srgbClr val="555555"/>
                          </a:solidFill>
                          <a:latin typeface="Calibri"/>
                        </a:rPr>
                        <a:t> API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trả</a:t>
                      </a:r>
                      <a:r>
                        <a:rPr sz="750" b="0">
                          <a:solidFill>
                            <a:srgbClr val="555555"/>
                          </a:solidFill>
                          <a:latin typeface="Calibri"/>
                        </a:rPr>
                        <a:t> </a:t>
                      </a:r>
                      <a:r>
                        <a:rPr sz="750" b="0" err="1">
                          <a:solidFill>
                            <a:srgbClr val="555555"/>
                          </a:solidFill>
                          <a:latin typeface="Calibri"/>
                        </a:rPr>
                        <a:t>gợi</a:t>
                      </a:r>
                      <a:r>
                        <a:rPr sz="750" b="0">
                          <a:solidFill>
                            <a:srgbClr val="555555"/>
                          </a:solidFill>
                          <a:latin typeface="Calibri"/>
                        </a:rPr>
                        <a:t> ý </a:t>
                      </a:r>
                      <a:r>
                        <a:rPr sz="750" b="0" err="1">
                          <a:solidFill>
                            <a:srgbClr val="555555"/>
                          </a:solidFill>
                          <a:latin typeface="Calibri"/>
                        </a:rPr>
                        <a:t>nào</a:t>
                      </a:r>
                      <a:r>
                        <a:rPr sz="750" b="0">
                          <a:solidFill>
                            <a:srgbClr val="555555"/>
                          </a:solidFill>
                          <a:latin typeface="Calibri"/>
                        </a:rPr>
                        <a:t> → </a:t>
                      </a:r>
                      <a:r>
                        <a:rPr sz="750" b="0" err="1">
                          <a:solidFill>
                            <a:srgbClr val="555555"/>
                          </a:solidFill>
                          <a:latin typeface="Calibri"/>
                        </a:rPr>
                        <a:t>ẩn</a:t>
                      </a:r>
                      <a:r>
                        <a:rPr sz="750" b="0">
                          <a:solidFill>
                            <a:srgbClr val="555555"/>
                          </a:solidFill>
                          <a:latin typeface="Calibri"/>
                        </a:rPr>
                        <a:t> </a:t>
                      </a:r>
                      <a:r>
                        <a:rPr sz="750" b="0" err="1">
                          <a:solidFill>
                            <a:srgbClr val="555555"/>
                          </a:solidFill>
                          <a:latin typeface="Calibri"/>
                        </a:rPr>
                        <a:t>danh</a:t>
                      </a:r>
                      <a:r>
                        <a:rPr sz="750" b="0">
                          <a:solidFill>
                            <a:srgbClr val="555555"/>
                          </a:solidFill>
                          <a:latin typeface="Calibri"/>
                        </a:rPr>
                        <a:t> </a:t>
                      </a:r>
                      <a:r>
                        <a:rPr sz="750" b="0" err="1">
                          <a:solidFill>
                            <a:srgbClr val="555555"/>
                          </a:solidFill>
                          <a:latin typeface="Calibri"/>
                        </a:rPr>
                        <a:t>sách</a:t>
                      </a:r>
                      <a:r>
                        <a:rPr sz="750" b="0">
                          <a:solidFill>
                            <a:srgbClr val="555555"/>
                          </a:solidFill>
                          <a:latin typeface="Calibri"/>
                        </a:rPr>
                        <a:t>, </a:t>
                      </a:r>
                      <a:r>
                        <a:rPr sz="750" b="0" err="1">
                          <a:solidFill>
                            <a:srgbClr val="555555"/>
                          </a:solidFill>
                          <a:latin typeface="Calibri"/>
                        </a:rPr>
                        <a:t>giữ</a:t>
                      </a:r>
                      <a:r>
                        <a:rPr sz="750" b="0">
                          <a:solidFill>
                            <a:srgbClr val="555555"/>
                          </a:solidFill>
                          <a:latin typeface="Calibri"/>
                        </a:rPr>
                        <a:t> </a:t>
                      </a:r>
                      <a:r>
                        <a:rPr sz="750" b="0" err="1">
                          <a:solidFill>
                            <a:srgbClr val="555555"/>
                          </a:solidFill>
                          <a:latin typeface="Calibri"/>
                        </a:rPr>
                        <a:t>nguyên</a:t>
                      </a:r>
                      <a:r>
                        <a:rPr sz="750" b="0">
                          <a:solidFill>
                            <a:srgbClr val="555555"/>
                          </a:solidFill>
                          <a:latin typeface="Calibri"/>
                        </a:rPr>
                        <a:t> </a:t>
                      </a:r>
                      <a:r>
                        <a:rPr sz="750" b="0" err="1">
                          <a:solidFill>
                            <a:srgbClr val="555555"/>
                          </a:solidFill>
                          <a:latin typeface="Calibri"/>
                        </a:rPr>
                        <a:t>màn</a:t>
                      </a:r>
                      <a:r>
                        <a:rPr sz="750" b="0">
                          <a:solidFill>
                            <a:srgbClr val="555555"/>
                          </a:solidFill>
                          <a:latin typeface="Calibri"/>
                        </a:rPr>
                        <a:t> </a:t>
                      </a:r>
                      <a:r>
                        <a:rPr sz="750" b="0" err="1">
                          <a:solidFill>
                            <a:srgbClr val="555555"/>
                          </a:solidFill>
                          <a:latin typeface="Calibri"/>
                        </a:rPr>
                        <a:t>hình</a:t>
                      </a:r>
                      <a:r>
                        <a:rPr sz="750" b="0">
                          <a:solidFill>
                            <a:srgbClr val="555555"/>
                          </a:solidFill>
                          <a:latin typeface="Calibri"/>
                        </a:rPr>
                        <a:t> Pre-search </a:t>
                      </a:r>
                      <a:r>
                        <a:rPr sz="750" b="0" err="1">
                          <a:solidFill>
                            <a:srgbClr val="555555"/>
                          </a:solidFill>
                          <a:latin typeface="Calibri"/>
                        </a:rPr>
                        <a:t>bên</a:t>
                      </a:r>
                      <a:r>
                        <a:rPr sz="750" b="0">
                          <a:solidFill>
                            <a:srgbClr val="555555"/>
                          </a:solidFill>
                          <a:latin typeface="Calibri"/>
                        </a:rPr>
                        <a:t> </a:t>
                      </a:r>
                      <a:r>
                        <a:rPr sz="750" b="0" err="1">
                          <a:solidFill>
                            <a:srgbClr val="555555"/>
                          </a:solidFill>
                          <a:latin typeface="Calibri"/>
                        </a:rPr>
                        <a:t>dưới</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hiển</a:t>
                      </a:r>
                      <a:r>
                        <a:rPr sz="750" b="0">
                          <a:solidFill>
                            <a:srgbClr val="555555"/>
                          </a:solidFill>
                          <a:latin typeface="Calibri"/>
                        </a:rPr>
                        <a:t>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trạng</a:t>
                      </a:r>
                      <a:r>
                        <a:rPr sz="750" b="0">
                          <a:solidFill>
                            <a:srgbClr val="555555"/>
                          </a:solidFill>
                          <a:latin typeface="Calibri"/>
                        </a:rPr>
                        <a:t> </a:t>
                      </a:r>
                      <a:r>
                        <a:rPr sz="750" b="0" err="1">
                          <a:solidFill>
                            <a:srgbClr val="555555"/>
                          </a:solidFill>
                          <a:latin typeface="Calibri"/>
                        </a:rPr>
                        <a:t>thái</a:t>
                      </a:r>
                      <a:r>
                        <a:rPr sz="750" b="0">
                          <a:solidFill>
                            <a:srgbClr val="555555"/>
                          </a:solidFill>
                          <a:latin typeface="Calibri"/>
                        </a:rPr>
                        <a:t> </a:t>
                      </a:r>
                      <a:r>
                        <a:rPr sz="750" b="0" err="1">
                          <a:solidFill>
                            <a:srgbClr val="555555"/>
                          </a:solidFill>
                          <a:latin typeface="Calibri"/>
                        </a:rPr>
                        <a:t>trống</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Hành vi </a:t>
                      </a:r>
                      <a:r>
                        <a:rPr sz="800" b="1" err="1">
                          <a:solidFill>
                            <a:srgbClr val="222222"/>
                          </a:solidFill>
                          <a:latin typeface="Calibri"/>
                        </a:rPr>
                        <a:t>chọn</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Tap </a:t>
                      </a:r>
                      <a:r>
                        <a:rPr sz="750" b="0" err="1">
                          <a:solidFill>
                            <a:srgbClr val="555555"/>
                          </a:solidFill>
                          <a:latin typeface="Calibri"/>
                        </a:rPr>
                        <a:t>một</a:t>
                      </a:r>
                      <a:r>
                        <a:rPr sz="750" b="0">
                          <a:solidFill>
                            <a:srgbClr val="555555"/>
                          </a:solidFill>
                          <a:latin typeface="Calibri"/>
                        </a:rPr>
                        <a:t> </a:t>
                      </a:r>
                      <a:r>
                        <a:rPr sz="750" b="0" err="1">
                          <a:solidFill>
                            <a:srgbClr val="555555"/>
                          </a:solidFill>
                          <a:latin typeface="Calibri"/>
                        </a:rPr>
                        <a:t>gợi</a:t>
                      </a:r>
                      <a:r>
                        <a:rPr sz="750" b="0">
                          <a:solidFill>
                            <a:srgbClr val="555555"/>
                          </a:solidFill>
                          <a:latin typeface="Calibri"/>
                        </a:rPr>
                        <a:t> ý: </a:t>
                      </a:r>
                      <a:r>
                        <a:rPr sz="750" b="0" err="1">
                          <a:solidFill>
                            <a:srgbClr val="555555"/>
                          </a:solidFill>
                          <a:latin typeface="Calibri"/>
                        </a:rPr>
                        <a:t>đổ</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vào</a:t>
                      </a:r>
                      <a:r>
                        <a:rPr sz="750" b="0">
                          <a:solidFill>
                            <a:srgbClr val="555555"/>
                          </a:solidFill>
                          <a:latin typeface="Calibri"/>
                        </a:rPr>
                        <a:t> ô </a:t>
                      </a:r>
                      <a:r>
                        <a:rPr sz="750" b="0" err="1">
                          <a:solidFill>
                            <a:srgbClr val="555555"/>
                          </a:solidFill>
                          <a:latin typeface="Calibri"/>
                        </a:rPr>
                        <a:t>nhập</a:t>
                      </a:r>
                      <a:r>
                        <a:rPr sz="750" b="0">
                          <a:solidFill>
                            <a:srgbClr val="555555"/>
                          </a:solidFill>
                          <a:latin typeface="Calibri"/>
                        </a:rPr>
                        <a:t>, </a:t>
                      </a:r>
                      <a:r>
                        <a:rPr sz="750" b="0" err="1">
                          <a:solidFill>
                            <a:srgbClr val="555555"/>
                          </a:solidFill>
                          <a:latin typeface="Calibri"/>
                        </a:rPr>
                        <a:t>đóng</a:t>
                      </a:r>
                      <a:r>
                        <a:rPr sz="750" b="0">
                          <a:solidFill>
                            <a:srgbClr val="555555"/>
                          </a:solidFill>
                          <a:latin typeface="Calibri"/>
                        </a:rPr>
                        <a:t> </a:t>
                      </a:r>
                      <a:r>
                        <a:rPr sz="750" b="0" err="1">
                          <a:solidFill>
                            <a:srgbClr val="555555"/>
                          </a:solidFill>
                          <a:latin typeface="Calibri"/>
                        </a:rPr>
                        <a:t>bàn</a:t>
                      </a:r>
                      <a:r>
                        <a:rPr sz="750" b="0">
                          <a:solidFill>
                            <a:srgbClr val="555555"/>
                          </a:solidFill>
                          <a:latin typeface="Calibri"/>
                        </a:rPr>
                        <a:t> </a:t>
                      </a:r>
                      <a:r>
                        <a:rPr sz="750" b="0" err="1">
                          <a:solidFill>
                            <a:srgbClr val="555555"/>
                          </a:solidFill>
                          <a:latin typeface="Calibri"/>
                        </a:rPr>
                        <a:t>phím</a:t>
                      </a:r>
                      <a:r>
                        <a:rPr sz="750" b="0">
                          <a:solidFill>
                            <a:srgbClr val="555555"/>
                          </a:solidFill>
                          <a:latin typeface="Calibri"/>
                        </a:rPr>
                        <a:t>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chạy</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kiếm</a:t>
                      </a:r>
                      <a:r>
                        <a:rPr sz="750" b="0">
                          <a:solidFill>
                            <a:srgbClr val="555555"/>
                          </a:solidFill>
                          <a:latin typeface="Calibri"/>
                        </a:rPr>
                        <a:t> (SS-SCR-004 → SS-SCR-005). </a:t>
                      </a:r>
                      <a:br>
                        <a:rPr lang="en-US"/>
                      </a:br>
                      <a:r>
                        <a:rPr sz="750" b="0">
                          <a:solidFill>
                            <a:srgbClr val="555555"/>
                          </a:solidFill>
                          <a:latin typeface="Calibri"/>
                        </a:rPr>
                        <a:t>→ </a:t>
                      </a:r>
                      <a:r>
                        <a:rPr sz="750" b="0" err="1">
                          <a:solidFill>
                            <a:srgbClr val="555555"/>
                          </a:solidFill>
                          <a:latin typeface="Calibri"/>
                        </a:rPr>
                        <a:t>Nhấn</a:t>
                      </a:r>
                      <a:r>
                        <a:rPr sz="750" b="0">
                          <a:solidFill>
                            <a:srgbClr val="555555"/>
                          </a:solidFill>
                          <a:latin typeface="Calibri"/>
                        </a:rPr>
                        <a:t> Enter </a:t>
                      </a:r>
                      <a:r>
                        <a:rPr sz="750" b="0" err="1">
                          <a:solidFill>
                            <a:srgbClr val="555555"/>
                          </a:solidFill>
                          <a:latin typeface="Calibri"/>
                        </a:rPr>
                        <a:t>trên</a:t>
                      </a:r>
                      <a:r>
                        <a:rPr sz="750" b="0">
                          <a:solidFill>
                            <a:srgbClr val="555555"/>
                          </a:solidFill>
                          <a:latin typeface="Calibri"/>
                        </a:rPr>
                        <a:t> </a:t>
                      </a:r>
                      <a:r>
                        <a:rPr sz="750" b="0" err="1">
                          <a:solidFill>
                            <a:srgbClr val="555555"/>
                          </a:solidFill>
                          <a:latin typeface="Calibri"/>
                        </a:rPr>
                        <a:t>bàn</a:t>
                      </a:r>
                      <a:r>
                        <a:rPr sz="750" b="0">
                          <a:solidFill>
                            <a:srgbClr val="555555"/>
                          </a:solidFill>
                          <a:latin typeface="Calibri"/>
                        </a:rPr>
                        <a:t> </a:t>
                      </a:r>
                      <a:r>
                        <a:rPr sz="750" b="0" err="1">
                          <a:solidFill>
                            <a:srgbClr val="555555"/>
                          </a:solidFill>
                          <a:latin typeface="Calibri"/>
                        </a:rPr>
                        <a:t>phím</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theo</a:t>
                      </a:r>
                      <a:r>
                        <a:rPr sz="750" b="0">
                          <a:solidFill>
                            <a:srgbClr val="555555"/>
                          </a:solidFill>
                          <a:latin typeface="Calibri"/>
                        </a:rPr>
                        <a:t> </a:t>
                      </a:r>
                      <a:r>
                        <a:rPr sz="750" b="0" err="1">
                          <a:solidFill>
                            <a:srgbClr val="555555"/>
                          </a:solidFill>
                          <a:latin typeface="Calibri"/>
                        </a:rPr>
                        <a:t>đúng</a:t>
                      </a:r>
                      <a:r>
                        <a:rPr sz="750" b="0">
                          <a:solidFill>
                            <a:srgbClr val="555555"/>
                          </a:solidFill>
                          <a:latin typeface="Calibri"/>
                        </a:rPr>
                        <a:t> </a:t>
                      </a:r>
                      <a:r>
                        <a:rPr sz="750" b="0" err="1">
                          <a:solidFill>
                            <a:srgbClr val="555555"/>
                          </a:solidFill>
                          <a:latin typeface="Calibri"/>
                        </a:rPr>
                        <a:t>chuỗi</a:t>
                      </a:r>
                      <a:r>
                        <a:rPr sz="750" b="0">
                          <a:solidFill>
                            <a:srgbClr val="555555"/>
                          </a:solidFill>
                          <a:latin typeface="Calibri"/>
                        </a:rPr>
                        <a:t>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gõ</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Vùng </a:t>
                      </a:r>
                      <a:r>
                        <a:rPr sz="800" b="1" err="1">
                          <a:solidFill>
                            <a:srgbClr val="222222"/>
                          </a:solidFill>
                          <a:latin typeface="Calibri"/>
                        </a:rPr>
                        <a:t>bàn</a:t>
                      </a:r>
                      <a:r>
                        <a:rPr sz="800" b="1">
                          <a:solidFill>
                            <a:srgbClr val="222222"/>
                          </a:solidFill>
                          <a:latin typeface="Calibri"/>
                        </a:rPr>
                        <a:t> </a:t>
                      </a:r>
                      <a:r>
                        <a:rPr sz="800" b="1" err="1">
                          <a:solidFill>
                            <a:srgbClr val="222222"/>
                          </a:solidFill>
                          <a:latin typeface="Calibri"/>
                        </a:rPr>
                        <a:t>phím</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err="1">
                          <a:solidFill>
                            <a:srgbClr val="555555"/>
                          </a:solidFill>
                          <a:latin typeface="Calibri"/>
                        </a:rPr>
                        <a:t>Bàn</a:t>
                      </a:r>
                      <a:r>
                        <a:rPr sz="750" b="0">
                          <a:solidFill>
                            <a:srgbClr val="555555"/>
                          </a:solidFill>
                          <a:latin typeface="Calibri"/>
                        </a:rPr>
                        <a:t> </a:t>
                      </a:r>
                      <a:r>
                        <a:rPr sz="750" b="0" err="1">
                          <a:solidFill>
                            <a:srgbClr val="555555"/>
                          </a:solidFill>
                          <a:latin typeface="Calibri"/>
                        </a:rPr>
                        <a:t>phím</a:t>
                      </a:r>
                      <a:r>
                        <a:rPr sz="750" b="0">
                          <a:solidFill>
                            <a:srgbClr val="555555"/>
                          </a:solidFill>
                          <a:latin typeface="Calibri"/>
                        </a:rPr>
                        <a:t> </a:t>
                      </a:r>
                      <a:r>
                        <a:rPr sz="750" b="0" err="1">
                          <a:solidFill>
                            <a:srgbClr val="555555"/>
                          </a:solidFill>
                          <a:latin typeface="Calibri"/>
                        </a:rPr>
                        <a:t>hệ</a:t>
                      </a:r>
                      <a:r>
                        <a:rPr sz="750" b="0">
                          <a:solidFill>
                            <a:srgbClr val="555555"/>
                          </a:solidFill>
                          <a:latin typeface="Calibri"/>
                        </a:rPr>
                        <a:t> </a:t>
                      </a:r>
                      <a:r>
                        <a:rPr sz="750" b="0" err="1">
                          <a:solidFill>
                            <a:srgbClr val="555555"/>
                          </a:solidFill>
                          <a:latin typeface="Calibri"/>
                        </a:rPr>
                        <a:t>thống</a:t>
                      </a:r>
                      <a:r>
                        <a:rPr sz="750" b="0">
                          <a:solidFill>
                            <a:srgbClr val="555555"/>
                          </a:solidFill>
                          <a:latin typeface="Calibri"/>
                        </a:rPr>
                        <a:t> auto-focus </a:t>
                      </a:r>
                      <a:r>
                        <a:rPr sz="750" b="0" err="1">
                          <a:solidFill>
                            <a:srgbClr val="555555"/>
                          </a:solidFill>
                          <a:latin typeface="Calibri"/>
                        </a:rPr>
                        <a:t>khi</a:t>
                      </a:r>
                      <a:r>
                        <a:rPr sz="750" b="0">
                          <a:solidFill>
                            <a:srgbClr val="555555"/>
                          </a:solidFill>
                          <a:latin typeface="Calibri"/>
                        </a:rPr>
                        <a:t> </a:t>
                      </a:r>
                      <a:r>
                        <a:rPr sz="750" b="0" err="1">
                          <a:solidFill>
                            <a:srgbClr val="555555"/>
                          </a:solidFill>
                          <a:latin typeface="Calibri"/>
                        </a:rPr>
                        <a:t>vào</a:t>
                      </a:r>
                      <a:r>
                        <a:rPr sz="750" b="0">
                          <a:solidFill>
                            <a:srgbClr val="555555"/>
                          </a:solidFill>
                          <a:latin typeface="Calibri"/>
                        </a:rPr>
                        <a:t> </a:t>
                      </a:r>
                      <a:r>
                        <a:rPr sz="750" b="0" err="1">
                          <a:solidFill>
                            <a:srgbClr val="555555"/>
                          </a:solidFill>
                          <a:latin typeface="Calibri"/>
                        </a:rPr>
                        <a:t>màn</a:t>
                      </a:r>
                      <a:r>
                        <a:rPr sz="750" b="0">
                          <a:solidFill>
                            <a:srgbClr val="555555"/>
                          </a:solidFill>
                          <a:latin typeface="Calibri"/>
                        </a:rPr>
                        <a:t> </a:t>
                      </a:r>
                      <a:r>
                        <a:rPr sz="750" b="0" err="1">
                          <a:solidFill>
                            <a:srgbClr val="555555"/>
                          </a:solidFill>
                          <a:latin typeface="Calibri"/>
                        </a:rPr>
                        <a:t>hình</a:t>
                      </a:r>
                      <a:r>
                        <a:rPr sz="750" b="0">
                          <a:solidFill>
                            <a:srgbClr val="555555"/>
                          </a:solidFill>
                          <a:latin typeface="Calibri"/>
                        </a:rPr>
                        <a:t>. Danh </a:t>
                      </a:r>
                      <a:r>
                        <a:rPr sz="750" b="0" err="1">
                          <a:solidFill>
                            <a:srgbClr val="555555"/>
                          </a:solidFill>
                          <a:latin typeface="Calibri"/>
                        </a:rPr>
                        <a:t>sách</a:t>
                      </a:r>
                      <a:r>
                        <a:rPr sz="750" b="0">
                          <a:solidFill>
                            <a:srgbClr val="555555"/>
                          </a:solidFill>
                          <a:latin typeface="Calibri"/>
                        </a:rPr>
                        <a:t> </a:t>
                      </a:r>
                      <a:r>
                        <a:rPr sz="750" b="0" err="1">
                          <a:solidFill>
                            <a:srgbClr val="555555"/>
                          </a:solidFill>
                          <a:latin typeface="Calibri"/>
                        </a:rPr>
                        <a:t>gợi</a:t>
                      </a:r>
                      <a:r>
                        <a:rPr sz="750" b="0">
                          <a:solidFill>
                            <a:srgbClr val="555555"/>
                          </a:solidFill>
                          <a:latin typeface="Calibri"/>
                        </a:rPr>
                        <a:t> ý </a:t>
                      </a:r>
                      <a:r>
                        <a:rPr sz="750" b="0" err="1">
                          <a:solidFill>
                            <a:srgbClr val="555555"/>
                          </a:solidFill>
                          <a:latin typeface="Calibri"/>
                        </a:rPr>
                        <a:t>phải</a:t>
                      </a:r>
                      <a:r>
                        <a:rPr sz="750" b="0">
                          <a:solidFill>
                            <a:srgbClr val="555555"/>
                          </a:solidFill>
                          <a:latin typeface="Calibri"/>
                        </a:rPr>
                        <a:t> </a:t>
                      </a:r>
                      <a:r>
                        <a:rPr sz="750" b="0" err="1">
                          <a:solidFill>
                            <a:srgbClr val="555555"/>
                          </a:solidFill>
                          <a:latin typeface="Calibri"/>
                        </a:rPr>
                        <a:t>nằm</a:t>
                      </a:r>
                      <a:r>
                        <a:rPr sz="750" b="0">
                          <a:solidFill>
                            <a:srgbClr val="555555"/>
                          </a:solidFill>
                          <a:latin typeface="Calibri"/>
                        </a:rPr>
                        <a:t> </a:t>
                      </a:r>
                      <a:r>
                        <a:rPr sz="750" b="0" err="1">
                          <a:solidFill>
                            <a:srgbClr val="555555"/>
                          </a:solidFill>
                          <a:latin typeface="Calibri"/>
                        </a:rPr>
                        <a:t>trọn</a:t>
                      </a:r>
                      <a:r>
                        <a:rPr sz="750" b="0">
                          <a:solidFill>
                            <a:srgbClr val="555555"/>
                          </a:solidFill>
                          <a:latin typeface="Calibri"/>
                        </a:rPr>
                        <a:t> </a:t>
                      </a:r>
                      <a:r>
                        <a:rPr sz="750" b="0" err="1">
                          <a:solidFill>
                            <a:srgbClr val="555555"/>
                          </a:solidFill>
                          <a:latin typeface="Calibri"/>
                        </a:rPr>
                        <a:t>trên</a:t>
                      </a:r>
                      <a:r>
                        <a:rPr sz="750" b="0">
                          <a:solidFill>
                            <a:srgbClr val="555555"/>
                          </a:solidFill>
                          <a:latin typeface="Calibri"/>
                        </a:rPr>
                        <a:t> </a:t>
                      </a:r>
                      <a:r>
                        <a:rPr sz="750" b="0" err="1">
                          <a:solidFill>
                            <a:srgbClr val="555555"/>
                          </a:solidFill>
                          <a:latin typeface="Calibri"/>
                        </a:rPr>
                        <a:t>bàn</a:t>
                      </a:r>
                      <a:r>
                        <a:rPr sz="750" b="0">
                          <a:solidFill>
                            <a:srgbClr val="555555"/>
                          </a:solidFill>
                          <a:latin typeface="Calibri"/>
                        </a:rPr>
                        <a:t> </a:t>
                      </a:r>
                      <a:r>
                        <a:rPr sz="750" b="0" err="1">
                          <a:solidFill>
                            <a:srgbClr val="555555"/>
                          </a:solidFill>
                          <a:latin typeface="Calibri"/>
                        </a:rPr>
                        <a:t>phím</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bị</a:t>
                      </a:r>
                      <a:r>
                        <a:rPr sz="750" b="0">
                          <a:solidFill>
                            <a:srgbClr val="555555"/>
                          </a:solidFill>
                          <a:latin typeface="Calibri"/>
                        </a:rPr>
                        <a:t> </a:t>
                      </a:r>
                      <a:r>
                        <a:rPr sz="750" b="0" err="1">
                          <a:solidFill>
                            <a:srgbClr val="555555"/>
                          </a:solidFill>
                          <a:latin typeface="Calibri"/>
                        </a:rPr>
                        <a:t>che</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r>
              <a:rPr sz="850" b="0">
                <a:solidFill>
                  <a:srgbClr val="6B6800"/>
                </a:solidFill>
                <a:latin typeface="Calibri"/>
              </a:rPr>
              <a:t>TD: </a:t>
            </a:r>
            <a:r>
              <a:rPr sz="850" b="0" err="1">
                <a:solidFill>
                  <a:srgbClr val="6B6800"/>
                </a:solidFill>
                <a:latin typeface="Calibri"/>
              </a:rPr>
              <a:t>nguồn</a:t>
            </a:r>
            <a:r>
              <a:rPr sz="850" b="0">
                <a:solidFill>
                  <a:srgbClr val="6B6800"/>
                </a:solidFill>
                <a:latin typeface="Calibri"/>
              </a:rPr>
              <a:t> </a:t>
            </a:r>
            <a:r>
              <a:rPr sz="850" b="0" err="1">
                <a:solidFill>
                  <a:srgbClr val="6B6800"/>
                </a:solidFill>
                <a:latin typeface="Calibri"/>
              </a:rPr>
              <a:t>gợi</a:t>
            </a:r>
            <a:r>
              <a:rPr sz="850" b="0">
                <a:solidFill>
                  <a:srgbClr val="6B6800"/>
                </a:solidFill>
                <a:latin typeface="Calibri"/>
              </a:rPr>
              <a:t> ý</a:t>
            </a:r>
            <a:r>
              <a:rPr lang="en-US" sz="850">
                <a:solidFill>
                  <a:srgbClr val="6B6800"/>
                </a:solidFill>
                <a:latin typeface="Calibri"/>
              </a:rPr>
              <a:t>  </a:t>
            </a:r>
            <a:r>
              <a:rPr lang="en-US" sz="850" err="1">
                <a:solidFill>
                  <a:srgbClr val="6B6800"/>
                </a:solidFill>
                <a:latin typeface="Calibri"/>
              </a:rPr>
              <a:t>dựa</a:t>
            </a:r>
            <a:r>
              <a:rPr lang="en-US" sz="850">
                <a:solidFill>
                  <a:srgbClr val="6B6800"/>
                </a:solidFill>
                <a:latin typeface="Calibri"/>
              </a:rPr>
              <a:t> </a:t>
            </a:r>
            <a:r>
              <a:rPr lang="en-US" sz="850" err="1">
                <a:solidFill>
                  <a:srgbClr val="6B6800"/>
                </a:solidFill>
                <a:latin typeface="Calibri"/>
              </a:rPr>
              <a:t>trên</a:t>
            </a:r>
            <a:r>
              <a:rPr lang="en-US" sz="850">
                <a:solidFill>
                  <a:srgbClr val="6B6800"/>
                </a:solidFill>
                <a:latin typeface="Calibri"/>
              </a:rPr>
              <a:t> </a:t>
            </a:r>
            <a:r>
              <a:rPr lang="en-US" sz="850" err="1">
                <a:solidFill>
                  <a:srgbClr val="6B6800"/>
                </a:solidFill>
                <a:latin typeface="Calibri"/>
              </a:rPr>
              <a:t>tên</a:t>
            </a:r>
            <a:r>
              <a:rPr lang="en-US" sz="850" b="0">
                <a:solidFill>
                  <a:srgbClr val="6B6800"/>
                </a:solidFill>
                <a:latin typeface="Calibri"/>
              </a:rPr>
              <a:t> </a:t>
            </a:r>
            <a:r>
              <a:rPr lang="en-US" sz="850" err="1">
                <a:solidFill>
                  <a:srgbClr val="6B6800"/>
                </a:solidFill>
                <a:latin typeface="Calibri"/>
              </a:rPr>
              <a:t>của</a:t>
            </a:r>
            <a:r>
              <a:rPr lang="en-US" sz="850">
                <a:solidFill>
                  <a:srgbClr val="6B6800"/>
                </a:solidFill>
                <a:latin typeface="Calibri"/>
              </a:rPr>
              <a:t> </a:t>
            </a:r>
            <a:r>
              <a:rPr lang="en-US" sz="850" err="1">
                <a:solidFill>
                  <a:srgbClr val="6B6800"/>
                </a:solidFill>
                <a:latin typeface="Calibri"/>
              </a:rPr>
              <a:t>các</a:t>
            </a:r>
            <a:r>
              <a:rPr lang="en-US" sz="850">
                <a:solidFill>
                  <a:srgbClr val="6B6800"/>
                </a:solidFill>
                <a:latin typeface="Calibri"/>
              </a:rPr>
              <a:t> </a:t>
            </a:r>
            <a:r>
              <a:rPr sz="850" b="0" err="1">
                <a:solidFill>
                  <a:srgbClr val="6B6800"/>
                </a:solidFill>
                <a:latin typeface="Calibri"/>
              </a:rPr>
              <a:t>sản</a:t>
            </a:r>
            <a:r>
              <a:rPr sz="850" b="0">
                <a:solidFill>
                  <a:srgbClr val="6B6800"/>
                </a:solidFill>
                <a:latin typeface="Calibri"/>
              </a:rPr>
              <a:t> </a:t>
            </a:r>
            <a:r>
              <a:rPr sz="850" b="0" err="1">
                <a:solidFill>
                  <a:srgbClr val="6B6800"/>
                </a:solidFill>
                <a:latin typeface="Calibri"/>
              </a:rPr>
              <a:t>phẩm</a:t>
            </a:r>
            <a:r>
              <a:rPr lang="en-US" sz="850">
                <a:solidFill>
                  <a:srgbClr val="6B6800"/>
                </a:solidFill>
                <a:latin typeface="Calibri"/>
              </a:rPr>
              <a:t>.</a:t>
            </a:r>
            <a:endParaRPr lang="en-US" sz="850">
              <a:solidFill>
                <a:srgbClr val="6B6800"/>
              </a:solidFill>
              <a:ea typeface="Calibri"/>
              <a:cs typeface="Calibri"/>
            </a:endParaRPr>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7</a:t>
            </a:r>
            <a:endParaRPr lang="en-US" sz="700"/>
          </a:p>
        </p:txBody>
      </p:sp>
      <p:pic>
        <p:nvPicPr>
          <p:cNvPr id="40" name="Picture 39" descr="SS-SCR-002.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FR-SP-03</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SS-SCR-003</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kiếm — Tự sửa lỗi chính tả</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307848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Ô nhập giữ nguyên input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Chuỗi người dùng gõ ("sua toui") được giữ nguyên trong ô nhập — hệ thống không tự ý ghi đè. Cho phép người dùng sửa tay.</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Banner gợi ý sửa</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Xuất hiện khi bộ so khớp mờ (fuzzy match) tìm được từ khoá hợp lệ có khoảng cách chỉnh sửa nhỏ. Nội dung: "Chúng tôi đã tìm từ khoá chính xác hơn cho bạn."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Liên kết từ khoá đã sửa</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Câu hỏi "Bạn muốn tìm “sữa tươi”?" — → Tap để chạy tìm kiếm theo từ khoá đã sửa (SS-SCR-005).</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Danh sách gợi ý theo từ đã sửa</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Bên dưới banner vẫn hiển thị autocomplete dựa trên từ khoá đã chuẩn hoá, giúp khách đi tiếp mà không phải gõ lại.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Nguyên tắc "không tự động thay thế"</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Hệ thống chỉ đề xuất, không tự động chuyển hướng. Tránh trường hợp khách thực sự muốn tìm đúng chuỗi đã gõ (tên nhãn hàng lạ, mã SKU).</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r>
              <a:rPr lang="en-US" sz="850">
                <a:solidFill>
                  <a:srgbClr val="6B6800"/>
                </a:solidFill>
                <a:ea typeface="Calibri"/>
                <a:cs typeface="Calibri"/>
              </a:rPr>
              <a:t>Ngưỡng fuzzy match (Levenshtein / phonetic tiếng Việt không dấu) cần chốt với TD. Đây là màn hình chặn sớm luồng Zero Result.</a:t>
            </a:r>
            <a:endParaRPr lang="en-US" sz="900">
              <a:solidFill>
                <a:srgbClr val="000000"/>
              </a:solidFill>
              <a:ea typeface="Calibri"/>
              <a:cs typeface="Calibri"/>
            </a:endParaRPr>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8</a:t>
            </a:r>
            <a:endParaRPr lang="en-US" sz="700"/>
          </a:p>
        </p:txBody>
      </p:sp>
      <p:pic>
        <p:nvPicPr>
          <p:cNvPr id="40" name="Picture 39" descr="SS-SCR-003.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NFR-SS-01</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SS-SCR-004</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kiếm — Đang xử lý (Loading)</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307848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Vòng loading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Ripple 3 lớp quanh icon kính lúp. Dùng cho cả 3 luồng: text, image (SS-SCR-012) và voice (SS-SCR-016) — một component dùng chung.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Thông điệp trạng thái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"Đang tìm kiếm cho bạn…" — ngôn ngữ chủ động, giữ khách ở lại trong lúc chờ index trả kết quả.</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Chip từ khoá</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Hiển thị lại từ khoá / kết quả nhận diện đang được xử lý để khách xác nhận hệ thống hiểu đúng ý mình.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Waveform</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Chỉ báo tiến trình mềm, tránh cảm giác đứng máy.</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Ngưỡng thời gian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Hiển thị màn hình này khi phản hồi &gt; 300ms. → Nếu &gt; 5s: chuyển sang thông báo lỗi mạng kèm nút "Thử lại". → Không bao giờ để màn hình trắng.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Component dùng chung cho cả 3 luồng — mọi thay đổi ở đây ảnh hưởng SS-SCR-012 và SS-SCR-016.</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9</a:t>
            </a:r>
            <a:endParaRPr lang="en-US" sz="700"/>
          </a:p>
        </p:txBody>
      </p:sp>
      <p:pic>
        <p:nvPicPr>
          <p:cNvPr id="40" name="Picture 39" descr="SS-SCR-004.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FR-PR-01 / FR-PR-02</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SS-SCR-005</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Kết quả tìm kiếm — Dạng lưới (Grid)</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3799392018"/>
              </p:ext>
            </p:extLst>
          </p:nvPr>
        </p:nvGraphicFramePr>
        <p:xfrm>
          <a:off x="7196328" y="886968"/>
          <a:ext cx="4544568" cy="417576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a:t>
                      </a:r>
                      <a:r>
                        <a:rPr sz="800" b="1" err="1">
                          <a:solidFill>
                            <a:srgbClr val="FFFFFF"/>
                          </a:solidFill>
                          <a:latin typeface="Calibri"/>
                        </a:rPr>
                        <a:t>phần</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err="1">
                          <a:solidFill>
                            <a:srgbClr val="FFFFFF"/>
                          </a:solidFill>
                          <a:latin typeface="Calibri"/>
                        </a:rPr>
                        <a:t>Mô</a:t>
                      </a:r>
                      <a:r>
                        <a:rPr sz="800" b="1">
                          <a:solidFill>
                            <a:srgbClr val="FFFFFF"/>
                          </a:solidFill>
                          <a:latin typeface="Calibri"/>
                        </a:rPr>
                        <a:t> </a:t>
                      </a:r>
                      <a:r>
                        <a:rPr sz="800" b="1" err="1">
                          <a:solidFill>
                            <a:srgbClr val="FFFFFF"/>
                          </a:solidFill>
                          <a:latin typeface="Calibri"/>
                        </a:rPr>
                        <a:t>tả</a:t>
                      </a:r>
                      <a:r>
                        <a:rPr sz="800" b="1">
                          <a:solidFill>
                            <a:srgbClr val="FFFFFF"/>
                          </a:solidFill>
                          <a:latin typeface="Calibri"/>
                        </a:rPr>
                        <a:t>  /  </a:t>
                      </a:r>
                      <a:r>
                        <a:rPr sz="800" b="1" err="1">
                          <a:solidFill>
                            <a:srgbClr val="FFFFFF"/>
                          </a:solidFill>
                          <a:latin typeface="Calibri"/>
                        </a:rPr>
                        <a:t>Hành</a:t>
                      </a:r>
                      <a:r>
                        <a:rPr sz="800" b="1">
                          <a:solidFill>
                            <a:srgbClr val="FFFFFF"/>
                          </a:solidFill>
                          <a:latin typeface="Calibri"/>
                        </a:rPr>
                        <a:t> vi  /  Quy </a:t>
                      </a:r>
                      <a:r>
                        <a:rPr sz="800" b="1" err="1">
                          <a:solidFill>
                            <a:srgbClr val="FFFFFF"/>
                          </a:solidFill>
                          <a:latin typeface="Calibri"/>
                        </a:rPr>
                        <a:t>tắc</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Search Bar (</a:t>
                      </a:r>
                      <a:r>
                        <a:rPr sz="800" b="1" err="1">
                          <a:solidFill>
                            <a:srgbClr val="222222"/>
                          </a:solidFill>
                          <a:latin typeface="Calibri"/>
                        </a:rPr>
                        <a:t>trạng</a:t>
                      </a:r>
                      <a:r>
                        <a:rPr sz="800" b="1">
                          <a:solidFill>
                            <a:srgbClr val="222222"/>
                          </a:solidFill>
                          <a:latin typeface="Calibri"/>
                        </a:rPr>
                        <a:t> </a:t>
                      </a:r>
                      <a:r>
                        <a:rPr sz="800" b="1" err="1">
                          <a:solidFill>
                            <a:srgbClr val="222222"/>
                          </a:solidFill>
                          <a:latin typeface="Calibri"/>
                        </a:rPr>
                        <a:t>thái</a:t>
                      </a:r>
                      <a:r>
                        <a:rPr sz="800" b="1">
                          <a:solidFill>
                            <a:srgbClr val="222222"/>
                          </a:solidFill>
                          <a:latin typeface="Calibri"/>
                        </a:rPr>
                        <a:t> </a:t>
                      </a:r>
                      <a:r>
                        <a:rPr sz="800" b="1" err="1">
                          <a:solidFill>
                            <a:srgbClr val="222222"/>
                          </a:solidFill>
                          <a:latin typeface="Calibri"/>
                        </a:rPr>
                        <a:t>kết</a:t>
                      </a:r>
                      <a:r>
                        <a:rPr sz="800" b="1">
                          <a:solidFill>
                            <a:srgbClr val="222222"/>
                          </a:solidFill>
                          <a:latin typeface="Calibri"/>
                        </a:rPr>
                        <a:t> </a:t>
                      </a:r>
                      <a:r>
                        <a:rPr sz="800" b="1" err="1">
                          <a:solidFill>
                            <a:srgbClr val="222222"/>
                          </a:solidFill>
                          <a:latin typeface="Calibri"/>
                        </a:rPr>
                        <a:t>quả</a:t>
                      </a:r>
                      <a:r>
                        <a:rPr sz="800" b="1">
                          <a:solidFill>
                            <a:srgbClr val="222222"/>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err="1">
                          <a:solidFill>
                            <a:srgbClr val="555555"/>
                          </a:solidFill>
                          <a:latin typeface="Calibri"/>
                        </a:rPr>
                        <a:t>Giữ</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có</a:t>
                      </a:r>
                      <a:r>
                        <a:rPr sz="750" b="0">
                          <a:solidFill>
                            <a:srgbClr val="555555"/>
                          </a:solidFill>
                          <a:latin typeface="Calibri"/>
                        </a:rPr>
                        <a:t> </a:t>
                      </a:r>
                      <a:r>
                        <a:rPr sz="750" b="0" err="1">
                          <a:solidFill>
                            <a:srgbClr val="555555"/>
                          </a:solidFill>
                          <a:latin typeface="Calibri"/>
                        </a:rPr>
                        <a:t>nút</a:t>
                      </a:r>
                      <a:r>
                        <a:rPr sz="750" b="0">
                          <a:solidFill>
                            <a:srgbClr val="555555"/>
                          </a:solidFill>
                          <a:latin typeface="Calibri"/>
                        </a:rPr>
                        <a:t> Back </a:t>
                      </a:r>
                      <a:r>
                        <a:rPr sz="750" b="0" err="1">
                          <a:solidFill>
                            <a:srgbClr val="555555"/>
                          </a:solidFill>
                          <a:latin typeface="Calibri"/>
                        </a:rPr>
                        <a:t>và</a:t>
                      </a:r>
                      <a:r>
                        <a:rPr sz="750" b="0">
                          <a:solidFill>
                            <a:srgbClr val="555555"/>
                          </a:solidFill>
                          <a:latin typeface="Calibri"/>
                        </a:rPr>
                        <a:t> (✕) </a:t>
                      </a:r>
                      <a:r>
                        <a:rPr sz="750" b="0" err="1">
                          <a:solidFill>
                            <a:srgbClr val="555555"/>
                          </a:solidFill>
                          <a:latin typeface="Calibri"/>
                        </a:rPr>
                        <a:t>xoá</a:t>
                      </a:r>
                      <a:r>
                        <a:rPr sz="750" b="0">
                          <a:solidFill>
                            <a:srgbClr val="555555"/>
                          </a:solidFill>
                          <a:latin typeface="Calibri"/>
                        </a:rPr>
                        <a:t>. </a:t>
                      </a:r>
                      <a:r>
                        <a:rPr sz="750" b="0" err="1">
                          <a:solidFill>
                            <a:srgbClr val="555555"/>
                          </a:solidFill>
                          <a:latin typeface="Calibri"/>
                        </a:rPr>
                        <a:t>Vẫn</a:t>
                      </a:r>
                      <a:r>
                        <a:rPr sz="750" b="0">
                          <a:solidFill>
                            <a:srgbClr val="555555"/>
                          </a:solidFill>
                          <a:latin typeface="Calibri"/>
                        </a:rPr>
                        <a:t> </a:t>
                      </a:r>
                      <a:r>
                        <a:rPr sz="750" b="0" err="1">
                          <a:solidFill>
                            <a:srgbClr val="555555"/>
                          </a:solidFill>
                          <a:latin typeface="Calibri"/>
                        </a:rPr>
                        <a:t>giữ</a:t>
                      </a:r>
                      <a:r>
                        <a:rPr sz="750" b="0">
                          <a:solidFill>
                            <a:srgbClr val="555555"/>
                          </a:solidFill>
                          <a:latin typeface="Calibri"/>
                        </a:rPr>
                        <a:t> Mic/Camera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đổi</a:t>
                      </a:r>
                      <a:r>
                        <a:rPr sz="750" b="0">
                          <a:solidFill>
                            <a:srgbClr val="555555"/>
                          </a:solidFill>
                          <a:latin typeface="Calibri"/>
                        </a:rPr>
                        <a:t> </a:t>
                      </a:r>
                      <a:r>
                        <a:rPr sz="750" b="0" err="1">
                          <a:solidFill>
                            <a:srgbClr val="555555"/>
                          </a:solidFill>
                          <a:latin typeface="Calibri"/>
                        </a:rPr>
                        <a:t>phương</a:t>
                      </a:r>
                      <a:r>
                        <a:rPr sz="750" b="0">
                          <a:solidFill>
                            <a:srgbClr val="555555"/>
                          </a:solidFill>
                          <a:latin typeface="Calibri"/>
                        </a:rPr>
                        <a:t> </a:t>
                      </a:r>
                      <a:r>
                        <a:rPr sz="750" b="0" err="1">
                          <a:solidFill>
                            <a:srgbClr val="555555"/>
                          </a:solidFill>
                          <a:latin typeface="Calibri"/>
                        </a:rPr>
                        <a:t>thức</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ngay</a:t>
                      </a:r>
                      <a:r>
                        <a:rPr sz="750" b="0">
                          <a:solidFill>
                            <a:srgbClr val="555555"/>
                          </a:solidFill>
                          <a:latin typeface="Calibri"/>
                        </a:rPr>
                        <a:t> </a:t>
                      </a:r>
                      <a:r>
                        <a:rPr sz="750" b="0" err="1">
                          <a:solidFill>
                            <a:srgbClr val="555555"/>
                          </a:solidFill>
                          <a:latin typeface="Calibri"/>
                        </a:rPr>
                        <a:t>trên</a:t>
                      </a:r>
                      <a:r>
                        <a:rPr sz="750" b="0">
                          <a:solidFill>
                            <a:srgbClr val="555555"/>
                          </a:solidFill>
                          <a:latin typeface="Calibri"/>
                        </a:rPr>
                        <a:t> </a:t>
                      </a:r>
                      <a:r>
                        <a:rPr sz="750" b="0" err="1">
                          <a:solidFill>
                            <a:srgbClr val="555555"/>
                          </a:solidFill>
                          <a:latin typeface="Calibri"/>
                        </a:rPr>
                        <a:t>trang</a:t>
                      </a:r>
                      <a:r>
                        <a:rPr sz="750" b="0">
                          <a:solidFill>
                            <a:srgbClr val="555555"/>
                          </a:solidFill>
                          <a:latin typeface="Calibri"/>
                        </a:rPr>
                        <a:t> </a:t>
                      </a:r>
                      <a:r>
                        <a:rPr sz="750" b="0" err="1">
                          <a:solidFill>
                            <a:srgbClr val="555555"/>
                          </a:solidFill>
                          <a:latin typeface="Calibri"/>
                        </a:rPr>
                        <a:t>kết</a:t>
                      </a:r>
                      <a:r>
                        <a:rPr sz="750" b="0">
                          <a:solidFill>
                            <a:srgbClr val="555555"/>
                          </a:solidFill>
                          <a:latin typeface="Calibri"/>
                        </a:rPr>
                        <a:t> </a:t>
                      </a:r>
                      <a:r>
                        <a:rPr sz="750" b="0" err="1">
                          <a:solidFill>
                            <a:srgbClr val="555555"/>
                          </a:solidFill>
                          <a:latin typeface="Calibri"/>
                        </a:rPr>
                        <a:t>quả</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Thanh </a:t>
                      </a:r>
                      <a:r>
                        <a:rPr sz="800" b="1" err="1">
                          <a:solidFill>
                            <a:srgbClr val="222222"/>
                          </a:solidFill>
                          <a:latin typeface="Calibri"/>
                        </a:rPr>
                        <a:t>Sắp</a:t>
                      </a:r>
                      <a:r>
                        <a:rPr sz="800" b="1">
                          <a:solidFill>
                            <a:srgbClr val="222222"/>
                          </a:solidFill>
                          <a:latin typeface="Calibri"/>
                        </a:rPr>
                        <a:t> </a:t>
                      </a:r>
                      <a:r>
                        <a:rPr sz="800" b="1" err="1">
                          <a:solidFill>
                            <a:srgbClr val="222222"/>
                          </a:solidFill>
                          <a:latin typeface="Calibri"/>
                        </a:rPr>
                        <a:t>xếp</a:t>
                      </a:r>
                      <a:r>
                        <a:rPr sz="800" b="1">
                          <a:solidFill>
                            <a:srgbClr val="222222"/>
                          </a:solidFill>
                          <a:latin typeface="Calibri"/>
                        </a:rPr>
                        <a:t> &amp; </a:t>
                      </a:r>
                      <a:r>
                        <a:rPr sz="800" b="1" err="1">
                          <a:solidFill>
                            <a:srgbClr val="222222"/>
                          </a:solidFill>
                          <a:latin typeface="Calibri"/>
                        </a:rPr>
                        <a:t>Bộ</a:t>
                      </a:r>
                      <a:r>
                        <a:rPr sz="800" b="1">
                          <a:solidFill>
                            <a:srgbClr val="222222"/>
                          </a:solidFill>
                          <a:latin typeface="Calibri"/>
                        </a:rPr>
                        <a:t> </a:t>
                      </a:r>
                      <a:r>
                        <a:rPr sz="800" b="1" err="1">
                          <a:solidFill>
                            <a:srgbClr val="222222"/>
                          </a:solidFill>
                          <a:latin typeface="Calibri"/>
                        </a:rPr>
                        <a:t>lọc</a:t>
                      </a:r>
                      <a:r>
                        <a:rPr sz="800" b="1">
                          <a:solidFill>
                            <a:srgbClr val="222222"/>
                          </a:solidFill>
                          <a:latin typeface="Calibri"/>
                        </a:rPr>
                        <a:t> (sticky)</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Dính </a:t>
                      </a:r>
                      <a:r>
                        <a:rPr sz="750" b="0" err="1">
                          <a:solidFill>
                            <a:srgbClr val="555555"/>
                          </a:solidFill>
                          <a:latin typeface="Calibri"/>
                        </a:rPr>
                        <a:t>khi</a:t>
                      </a:r>
                      <a:r>
                        <a:rPr sz="750" b="0">
                          <a:solidFill>
                            <a:srgbClr val="555555"/>
                          </a:solidFill>
                          <a:latin typeface="Calibri"/>
                        </a:rPr>
                        <a:t> </a:t>
                      </a:r>
                      <a:r>
                        <a:rPr sz="750" b="0" err="1">
                          <a:solidFill>
                            <a:srgbClr val="555555"/>
                          </a:solidFill>
                          <a:latin typeface="Calibri"/>
                        </a:rPr>
                        <a:t>cuộn</a:t>
                      </a:r>
                      <a:r>
                        <a:rPr sz="750" b="0">
                          <a:solidFill>
                            <a:srgbClr val="555555"/>
                          </a:solidFill>
                          <a:latin typeface="Calibri"/>
                        </a:rPr>
                        <a:t>. "Liên </a:t>
                      </a:r>
                      <a:r>
                        <a:rPr sz="750" b="0" err="1">
                          <a:solidFill>
                            <a:srgbClr val="555555"/>
                          </a:solidFill>
                          <a:latin typeface="Calibri"/>
                        </a:rPr>
                        <a:t>quan</a:t>
                      </a:r>
                      <a:r>
                        <a:rPr sz="750" b="0">
                          <a:solidFill>
                            <a:srgbClr val="555555"/>
                          </a:solidFill>
                          <a:latin typeface="Calibri"/>
                        </a:rPr>
                        <a:t> </a:t>
                      </a:r>
                      <a:r>
                        <a:rPr sz="750" b="0" err="1">
                          <a:solidFill>
                            <a:srgbClr val="555555"/>
                          </a:solidFill>
                          <a:latin typeface="Calibri"/>
                        </a:rPr>
                        <a:t>nhất</a:t>
                      </a:r>
                      <a:r>
                        <a:rPr sz="750" b="0">
                          <a:solidFill>
                            <a:srgbClr val="555555"/>
                          </a:solidFill>
                          <a:latin typeface="Calibri"/>
                        </a:rPr>
                        <a:t>" </a:t>
                      </a:r>
                      <a:r>
                        <a:rPr sz="750" b="0" err="1">
                          <a:solidFill>
                            <a:srgbClr val="555555"/>
                          </a:solidFill>
                          <a:latin typeface="Calibri"/>
                        </a:rPr>
                        <a:t>mở</a:t>
                      </a:r>
                      <a:r>
                        <a:rPr sz="750" b="0">
                          <a:solidFill>
                            <a:srgbClr val="555555"/>
                          </a:solidFill>
                          <a:latin typeface="Calibri"/>
                        </a:rPr>
                        <a:t> SS-SCR-007; "</a:t>
                      </a:r>
                      <a:r>
                        <a:rPr sz="750" b="0" err="1">
                          <a:solidFill>
                            <a:srgbClr val="555555"/>
                          </a:solidFill>
                          <a:latin typeface="Calibri"/>
                        </a:rPr>
                        <a:t>Bộ</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 </a:t>
                      </a:r>
                      <a:r>
                        <a:rPr sz="750" b="0" err="1">
                          <a:solidFill>
                            <a:srgbClr val="555555"/>
                          </a:solidFill>
                          <a:latin typeface="Calibri"/>
                        </a:rPr>
                        <a:t>mở</a:t>
                      </a:r>
                      <a:r>
                        <a:rPr sz="750" b="0">
                          <a:solidFill>
                            <a:srgbClr val="555555"/>
                          </a:solidFill>
                          <a:latin typeface="Calibri"/>
                        </a:rPr>
                        <a:t> SS-SCR-008. </a:t>
                      </a:r>
                      <a:r>
                        <a:rPr sz="750" b="0" err="1">
                          <a:solidFill>
                            <a:srgbClr val="555555"/>
                          </a:solidFill>
                          <a:latin typeface="Calibri"/>
                        </a:rPr>
                        <a:t>Luôn</a:t>
                      </a:r>
                      <a:r>
                        <a:rPr sz="750" b="0">
                          <a:solidFill>
                            <a:srgbClr val="555555"/>
                          </a:solidFill>
                          <a:latin typeface="Calibri"/>
                        </a:rPr>
                        <a:t> </a:t>
                      </a:r>
                      <a:r>
                        <a:rPr sz="750" b="0" err="1">
                          <a:solidFill>
                            <a:srgbClr val="555555"/>
                          </a:solidFill>
                          <a:latin typeface="Calibri"/>
                        </a:rPr>
                        <a:t>hiện</a:t>
                      </a:r>
                      <a:r>
                        <a:rPr sz="750" b="0">
                          <a:solidFill>
                            <a:srgbClr val="555555"/>
                          </a:solidFill>
                          <a:latin typeface="Calibri"/>
                        </a:rPr>
                        <a:t>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khách</a:t>
                      </a:r>
                      <a:r>
                        <a:rPr sz="750" b="0">
                          <a:solidFill>
                            <a:srgbClr val="555555"/>
                          </a:solidFill>
                          <a:latin typeface="Calibri"/>
                        </a:rPr>
                        <a:t> </a:t>
                      </a:r>
                      <a:r>
                        <a:rPr sz="750" b="0" err="1">
                          <a:solidFill>
                            <a:srgbClr val="555555"/>
                          </a:solidFill>
                          <a:latin typeface="Calibri"/>
                        </a:rPr>
                        <a:t>thu</a:t>
                      </a:r>
                      <a:r>
                        <a:rPr sz="750" b="0">
                          <a:solidFill>
                            <a:srgbClr val="555555"/>
                          </a:solidFill>
                          <a:latin typeface="Calibri"/>
                        </a:rPr>
                        <a:t> </a:t>
                      </a:r>
                      <a:r>
                        <a:rPr sz="750" b="0" err="1">
                          <a:solidFill>
                            <a:srgbClr val="555555"/>
                          </a:solidFill>
                          <a:latin typeface="Calibri"/>
                        </a:rPr>
                        <a:t>hẹp</a:t>
                      </a:r>
                      <a:r>
                        <a:rPr sz="750" b="0">
                          <a:solidFill>
                            <a:srgbClr val="555555"/>
                          </a:solidFill>
                          <a:latin typeface="Calibri"/>
                        </a:rPr>
                        <a:t> </a:t>
                      </a:r>
                      <a:r>
                        <a:rPr sz="750" b="0" err="1">
                          <a:solidFill>
                            <a:srgbClr val="555555"/>
                          </a:solidFill>
                          <a:latin typeface="Calibri"/>
                        </a:rPr>
                        <a:t>kết</a:t>
                      </a:r>
                      <a:r>
                        <a:rPr sz="750" b="0">
                          <a:solidFill>
                            <a:srgbClr val="555555"/>
                          </a:solidFill>
                          <a:latin typeface="Calibri"/>
                        </a:rPr>
                        <a:t> </a:t>
                      </a:r>
                      <a:r>
                        <a:rPr sz="750" b="0" err="1">
                          <a:solidFill>
                            <a:srgbClr val="555555"/>
                          </a:solidFill>
                          <a:latin typeface="Calibri"/>
                        </a:rPr>
                        <a:t>quả</a:t>
                      </a:r>
                      <a:r>
                        <a:rPr sz="750" b="0">
                          <a:solidFill>
                            <a:srgbClr val="555555"/>
                          </a:solidFill>
                          <a:latin typeface="Calibri"/>
                        </a:rPr>
                        <a:t> </a:t>
                      </a:r>
                      <a:r>
                        <a:rPr sz="750" b="0" err="1">
                          <a:solidFill>
                            <a:srgbClr val="555555"/>
                          </a:solidFill>
                          <a:latin typeface="Calibri"/>
                        </a:rPr>
                        <a:t>bất</a:t>
                      </a:r>
                      <a:r>
                        <a:rPr sz="750" b="0">
                          <a:solidFill>
                            <a:srgbClr val="555555"/>
                          </a:solidFill>
                          <a:latin typeface="Calibri"/>
                        </a:rPr>
                        <a:t> </a:t>
                      </a:r>
                      <a:r>
                        <a:rPr sz="750" b="0" err="1">
                          <a:solidFill>
                            <a:srgbClr val="555555"/>
                          </a:solidFill>
                          <a:latin typeface="Calibri"/>
                        </a:rPr>
                        <a:t>kỳ</a:t>
                      </a:r>
                      <a:r>
                        <a:rPr sz="750" b="0">
                          <a:solidFill>
                            <a:srgbClr val="555555"/>
                          </a:solidFill>
                          <a:latin typeface="Calibri"/>
                        </a:rPr>
                        <a:t> </a:t>
                      </a:r>
                      <a:r>
                        <a:rPr sz="750" b="0" err="1">
                          <a:solidFill>
                            <a:srgbClr val="555555"/>
                          </a:solidFill>
                          <a:latin typeface="Calibri"/>
                        </a:rPr>
                        <a:t>lúc</a:t>
                      </a:r>
                      <a:r>
                        <a:rPr sz="750" b="0">
                          <a:solidFill>
                            <a:srgbClr val="555555"/>
                          </a:solidFill>
                          <a:latin typeface="Calibri"/>
                        </a:rPr>
                        <a:t> </a:t>
                      </a:r>
                      <a:r>
                        <a:rPr sz="750" b="0" err="1">
                          <a:solidFill>
                            <a:srgbClr val="555555"/>
                          </a:solidFill>
                          <a:latin typeface="Calibri"/>
                        </a:rPr>
                        <a:t>nào</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Chuyển</a:t>
                      </a:r>
                      <a:r>
                        <a:rPr sz="800" b="1">
                          <a:solidFill>
                            <a:srgbClr val="222222"/>
                          </a:solidFill>
                          <a:latin typeface="Calibri"/>
                        </a:rPr>
                        <a:t> </a:t>
                      </a:r>
                      <a:r>
                        <a:rPr sz="800" b="1" err="1">
                          <a:solidFill>
                            <a:srgbClr val="222222"/>
                          </a:solidFill>
                          <a:latin typeface="Calibri"/>
                        </a:rPr>
                        <a:t>chế</a:t>
                      </a:r>
                      <a:r>
                        <a:rPr sz="800" b="1">
                          <a:solidFill>
                            <a:srgbClr val="222222"/>
                          </a:solidFill>
                          <a:latin typeface="Calibri"/>
                        </a:rPr>
                        <a:t> </a:t>
                      </a:r>
                      <a:r>
                        <a:rPr sz="800" b="1" err="1">
                          <a:solidFill>
                            <a:srgbClr val="222222"/>
                          </a:solidFill>
                          <a:latin typeface="Calibri"/>
                        </a:rPr>
                        <a:t>độ</a:t>
                      </a:r>
                      <a:r>
                        <a:rPr sz="800" b="1">
                          <a:solidFill>
                            <a:srgbClr val="222222"/>
                          </a:solidFill>
                          <a:latin typeface="Calibri"/>
                        </a:rPr>
                        <a:t> </a:t>
                      </a:r>
                      <a:r>
                        <a:rPr sz="800" b="1" err="1">
                          <a:solidFill>
                            <a:srgbClr val="222222"/>
                          </a:solidFill>
                          <a:latin typeface="Calibri"/>
                        </a:rPr>
                        <a:t>xem</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Toggle </a:t>
                      </a:r>
                      <a:r>
                        <a:rPr sz="750" b="0" err="1">
                          <a:solidFill>
                            <a:srgbClr val="555555"/>
                          </a:solidFill>
                          <a:latin typeface="Calibri"/>
                        </a:rPr>
                        <a:t>Lưới</a:t>
                      </a:r>
                      <a:r>
                        <a:rPr sz="750" b="0">
                          <a:solidFill>
                            <a:srgbClr val="555555"/>
                          </a:solidFill>
                          <a:latin typeface="Calibri"/>
                        </a:rPr>
                        <a:t> ⇄ Danh </a:t>
                      </a:r>
                      <a:r>
                        <a:rPr sz="750" b="0" err="1">
                          <a:solidFill>
                            <a:srgbClr val="555555"/>
                          </a:solidFill>
                          <a:latin typeface="Calibri"/>
                        </a:rPr>
                        <a:t>sách</a:t>
                      </a:r>
                      <a:r>
                        <a:rPr sz="750" b="0">
                          <a:solidFill>
                            <a:srgbClr val="555555"/>
                          </a:solidFill>
                          <a:latin typeface="Calibri"/>
                        </a:rPr>
                        <a:t>. → </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danh</a:t>
                      </a:r>
                      <a:r>
                        <a:rPr sz="750" b="0">
                          <a:solidFill>
                            <a:srgbClr val="555555"/>
                          </a:solidFill>
                          <a:latin typeface="Calibri"/>
                        </a:rPr>
                        <a:t> </a:t>
                      </a:r>
                      <a:r>
                        <a:rPr sz="750" b="0" err="1">
                          <a:solidFill>
                            <a:srgbClr val="555555"/>
                          </a:solidFill>
                          <a:latin typeface="Calibri"/>
                        </a:rPr>
                        <a:t>sách</a:t>
                      </a:r>
                      <a:r>
                        <a:rPr sz="750" b="0">
                          <a:solidFill>
                            <a:srgbClr val="555555"/>
                          </a:solidFill>
                          <a:latin typeface="Calibri"/>
                        </a:rPr>
                        <a:t> </a:t>
                      </a:r>
                      <a:r>
                        <a:rPr sz="750" b="0" err="1">
                          <a:solidFill>
                            <a:srgbClr val="555555"/>
                          </a:solidFill>
                          <a:latin typeface="Calibri"/>
                        </a:rPr>
                        <a:t>mở</a:t>
                      </a:r>
                      <a:r>
                        <a:rPr sz="750" b="0">
                          <a:solidFill>
                            <a:srgbClr val="555555"/>
                          </a:solidFill>
                          <a:latin typeface="Calibri"/>
                        </a:rPr>
                        <a:t> SS-SCR-006. ⚠ Lưu </a:t>
                      </a:r>
                      <a:r>
                        <a:rPr sz="750" b="0" err="1">
                          <a:solidFill>
                            <a:srgbClr val="555555"/>
                          </a:solidFill>
                          <a:latin typeface="Calibri"/>
                        </a:rPr>
                        <a:t>lựa</a:t>
                      </a:r>
                      <a:r>
                        <a:rPr sz="750" b="0">
                          <a:solidFill>
                            <a:srgbClr val="555555"/>
                          </a:solidFill>
                          <a:latin typeface="Calibri"/>
                        </a:rPr>
                        <a:t> </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theo</a:t>
                      </a:r>
                      <a:r>
                        <a:rPr sz="750" b="0">
                          <a:solidFill>
                            <a:srgbClr val="555555"/>
                          </a:solidFill>
                          <a:latin typeface="Calibri"/>
                        </a:rPr>
                        <a:t> </a:t>
                      </a:r>
                      <a:r>
                        <a:rPr sz="750" b="0" err="1">
                          <a:solidFill>
                            <a:srgbClr val="555555"/>
                          </a:solidFill>
                          <a:latin typeface="Calibri"/>
                        </a:rPr>
                        <a:t>phiên</a:t>
                      </a:r>
                      <a:r>
                        <a:rPr sz="750" b="0">
                          <a:solidFill>
                            <a:srgbClr val="555555"/>
                          </a:solidFill>
                          <a:latin typeface="Calibri"/>
                        </a:rPr>
                        <a:t>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phải</a:t>
                      </a:r>
                      <a:r>
                        <a:rPr sz="750" b="0">
                          <a:solidFill>
                            <a:srgbClr val="555555"/>
                          </a:solidFill>
                          <a:latin typeface="Calibri"/>
                        </a:rPr>
                        <a:t> </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lại</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Smart Filter Chips</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Chip </a:t>
                      </a:r>
                      <a:r>
                        <a:rPr sz="750" b="0" err="1">
                          <a:solidFill>
                            <a:srgbClr val="555555"/>
                          </a:solidFill>
                          <a:latin typeface="Calibri"/>
                        </a:rPr>
                        <a:t>lọc</a:t>
                      </a:r>
                      <a:r>
                        <a:rPr sz="750" b="0">
                          <a:solidFill>
                            <a:srgbClr val="555555"/>
                          </a:solidFill>
                          <a:latin typeface="Calibri"/>
                        </a:rPr>
                        <a:t> </a:t>
                      </a:r>
                      <a:r>
                        <a:rPr sz="750" b="0" err="1">
                          <a:solidFill>
                            <a:srgbClr val="555555"/>
                          </a:solidFill>
                          <a:latin typeface="Calibri"/>
                        </a:rPr>
                        <a:t>nhanh</a:t>
                      </a:r>
                      <a:r>
                        <a:rPr sz="750" b="0">
                          <a:solidFill>
                            <a:srgbClr val="555555"/>
                          </a:solidFill>
                          <a:latin typeface="Calibri"/>
                        </a:rPr>
                        <a:t> </a:t>
                      </a:r>
                      <a:r>
                        <a:rPr sz="750" b="0" err="1">
                          <a:solidFill>
                            <a:srgbClr val="555555"/>
                          </a:solidFill>
                          <a:latin typeface="Calibri"/>
                        </a:rPr>
                        <a:t>sinh</a:t>
                      </a:r>
                      <a:r>
                        <a:rPr sz="750" b="0">
                          <a:solidFill>
                            <a:srgbClr val="555555"/>
                          </a:solidFill>
                          <a:latin typeface="Calibri"/>
                        </a:rPr>
                        <a:t> </a:t>
                      </a:r>
                      <a:r>
                        <a:rPr sz="750" b="0" err="1">
                          <a:solidFill>
                            <a:srgbClr val="555555"/>
                          </a:solidFill>
                          <a:latin typeface="Calibri"/>
                        </a:rPr>
                        <a:t>động</a:t>
                      </a:r>
                      <a:r>
                        <a:rPr sz="750" b="0">
                          <a:solidFill>
                            <a:srgbClr val="555555"/>
                          </a:solidFill>
                          <a:latin typeface="Calibri"/>
                        </a:rPr>
                        <a:t> </a:t>
                      </a:r>
                      <a:r>
                        <a:rPr sz="750" b="0" err="1">
                          <a:solidFill>
                            <a:srgbClr val="555555"/>
                          </a:solidFill>
                          <a:latin typeface="Calibri"/>
                        </a:rPr>
                        <a:t>theo</a:t>
                      </a:r>
                      <a:r>
                        <a:rPr sz="750" b="0">
                          <a:solidFill>
                            <a:srgbClr val="555555"/>
                          </a:solidFill>
                          <a:latin typeface="Calibri"/>
                        </a:rPr>
                        <a:t> </a:t>
                      </a:r>
                      <a:r>
                        <a:rPr sz="750" b="0" err="1">
                          <a:solidFill>
                            <a:srgbClr val="555555"/>
                          </a:solidFill>
                          <a:latin typeface="Calibri"/>
                        </a:rPr>
                        <a:t>thuộc</a:t>
                      </a:r>
                      <a:r>
                        <a:rPr sz="750" b="0">
                          <a:solidFill>
                            <a:srgbClr val="555555"/>
                          </a:solidFill>
                          <a:latin typeface="Calibri"/>
                        </a:rPr>
                        <a:t> </a:t>
                      </a:r>
                      <a:r>
                        <a:rPr sz="750" b="0" err="1">
                          <a:solidFill>
                            <a:srgbClr val="555555"/>
                          </a:solidFill>
                          <a:latin typeface="Calibri"/>
                        </a:rPr>
                        <a:t>tính</a:t>
                      </a:r>
                      <a:r>
                        <a:rPr sz="750" b="0">
                          <a:solidFill>
                            <a:srgbClr val="555555"/>
                          </a:solidFill>
                          <a:latin typeface="Calibri"/>
                        </a:rPr>
                        <a:t> </a:t>
                      </a:r>
                      <a:r>
                        <a:rPr sz="750" b="0" err="1">
                          <a:solidFill>
                            <a:srgbClr val="555555"/>
                          </a:solidFill>
                          <a:latin typeface="Calibri"/>
                        </a:rPr>
                        <a:t>cốt</a:t>
                      </a:r>
                      <a:r>
                        <a:rPr sz="750" b="0">
                          <a:solidFill>
                            <a:srgbClr val="555555"/>
                          </a:solidFill>
                          <a:latin typeface="Calibri"/>
                        </a:rPr>
                        <a:t> </a:t>
                      </a:r>
                      <a:r>
                        <a:rPr sz="750" b="0" err="1">
                          <a:solidFill>
                            <a:srgbClr val="555555"/>
                          </a:solidFill>
                          <a:latin typeface="Calibri"/>
                        </a:rPr>
                        <a:t>lõi</a:t>
                      </a:r>
                      <a:r>
                        <a:rPr sz="750" b="0">
                          <a:solidFill>
                            <a:srgbClr val="555555"/>
                          </a:solidFill>
                          <a:latin typeface="Calibri"/>
                        </a:rPr>
                        <a:t> </a:t>
                      </a:r>
                      <a:r>
                        <a:rPr sz="750" b="0" err="1">
                          <a:solidFill>
                            <a:srgbClr val="555555"/>
                          </a:solidFill>
                          <a:latin typeface="Calibri"/>
                        </a:rPr>
                        <a:t>trích</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tập</a:t>
                      </a:r>
                      <a:r>
                        <a:rPr sz="750" b="0">
                          <a:solidFill>
                            <a:srgbClr val="555555"/>
                          </a:solidFill>
                          <a:latin typeface="Calibri"/>
                        </a:rPr>
                        <a:t> </a:t>
                      </a:r>
                      <a:r>
                        <a:rPr sz="750" b="0" err="1">
                          <a:solidFill>
                            <a:srgbClr val="555555"/>
                          </a:solidFill>
                          <a:latin typeface="Calibri"/>
                        </a:rPr>
                        <a:t>kết</a:t>
                      </a:r>
                      <a:r>
                        <a:rPr sz="750" b="0">
                          <a:solidFill>
                            <a:srgbClr val="555555"/>
                          </a:solidFill>
                          <a:latin typeface="Calibri"/>
                        </a:rPr>
                        <a:t> </a:t>
                      </a:r>
                      <a:r>
                        <a:rPr sz="750" b="0" err="1">
                          <a:solidFill>
                            <a:srgbClr val="555555"/>
                          </a:solidFill>
                          <a:latin typeface="Calibri"/>
                        </a:rPr>
                        <a:t>quả</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đường</a:t>
                      </a:r>
                      <a:r>
                        <a:rPr sz="750" b="0">
                          <a:solidFill>
                            <a:srgbClr val="555555"/>
                          </a:solidFill>
                          <a:latin typeface="Calibri"/>
                        </a:rPr>
                        <a:t> / </a:t>
                      </a:r>
                      <a:r>
                        <a:rPr sz="750" b="0" err="1">
                          <a:solidFill>
                            <a:srgbClr val="555555"/>
                          </a:solidFill>
                          <a:latin typeface="Calibri"/>
                        </a:rPr>
                        <a:t>Ít</a:t>
                      </a:r>
                      <a:r>
                        <a:rPr sz="750" b="0">
                          <a:solidFill>
                            <a:srgbClr val="555555"/>
                          </a:solidFill>
                          <a:latin typeface="Calibri"/>
                        </a:rPr>
                        <a:t> </a:t>
                      </a:r>
                      <a:r>
                        <a:rPr sz="750" b="0" err="1">
                          <a:solidFill>
                            <a:srgbClr val="555555"/>
                          </a:solidFill>
                          <a:latin typeface="Calibri"/>
                        </a:rPr>
                        <a:t>đường</a:t>
                      </a:r>
                      <a:r>
                        <a:rPr sz="750" b="0">
                          <a:solidFill>
                            <a:srgbClr val="555555"/>
                          </a:solidFill>
                          <a:latin typeface="Calibri"/>
                        </a:rPr>
                        <a:t> / Hữu </a:t>
                      </a:r>
                      <a:r>
                        <a:rPr sz="750" b="0" err="1">
                          <a:solidFill>
                            <a:srgbClr val="555555"/>
                          </a:solidFill>
                          <a:latin typeface="Calibri"/>
                        </a:rPr>
                        <a:t>cơ</a:t>
                      </a:r>
                      <a:r>
                        <a:rPr sz="750" b="0">
                          <a:solidFill>
                            <a:srgbClr val="555555"/>
                          </a:solidFill>
                          <a:latin typeface="Calibri"/>
                        </a:rPr>
                        <a:t> / </a:t>
                      </a:r>
                      <a:r>
                        <a:rPr sz="750" b="0" err="1">
                          <a:solidFill>
                            <a:srgbClr val="555555"/>
                          </a:solidFill>
                          <a:latin typeface="Calibri"/>
                        </a:rPr>
                        <a:t>Nhập</a:t>
                      </a:r>
                      <a:r>
                        <a:rPr sz="750" b="0">
                          <a:solidFill>
                            <a:srgbClr val="555555"/>
                          </a:solidFill>
                          <a:latin typeface="Calibri"/>
                        </a:rPr>
                        <a:t> </a:t>
                      </a:r>
                      <a:r>
                        <a:rPr sz="750" b="0" err="1">
                          <a:solidFill>
                            <a:srgbClr val="555555"/>
                          </a:solidFill>
                          <a:latin typeface="Calibri"/>
                        </a:rPr>
                        <a:t>khẩu</a:t>
                      </a:r>
                      <a:r>
                        <a:rPr sz="750" b="0">
                          <a:solidFill>
                            <a:srgbClr val="555555"/>
                          </a:solidFill>
                          <a:latin typeface="Calibri"/>
                        </a:rPr>
                        <a:t> / </a:t>
                      </a:r>
                      <a:r>
                        <a:rPr sz="750" b="0" err="1">
                          <a:solidFill>
                            <a:srgbClr val="555555"/>
                          </a:solidFill>
                          <a:latin typeface="Calibri"/>
                        </a:rPr>
                        <a:t>Còn</a:t>
                      </a:r>
                      <a:r>
                        <a:rPr sz="750" b="0">
                          <a:solidFill>
                            <a:srgbClr val="555555"/>
                          </a:solidFill>
                          <a:latin typeface="Calibri"/>
                        </a:rPr>
                        <a:t> </a:t>
                      </a:r>
                      <a:r>
                        <a:rPr sz="750" b="0" err="1">
                          <a:solidFill>
                            <a:srgbClr val="555555"/>
                          </a:solidFill>
                          <a:latin typeface="Calibri"/>
                        </a:rPr>
                        <a:t>hàng</a:t>
                      </a:r>
                      <a:r>
                        <a:rPr sz="750" b="0">
                          <a:solidFill>
                            <a:srgbClr val="555555"/>
                          </a:solidFill>
                          <a:latin typeface="Calibri"/>
                        </a:rPr>
                        <a:t>). </a:t>
                      </a:r>
                      <a:r>
                        <a:rPr sz="750" b="0" err="1">
                          <a:solidFill>
                            <a:srgbClr val="555555"/>
                          </a:solidFill>
                          <a:latin typeface="Calibri"/>
                        </a:rPr>
                        <a:t>Bản</a:t>
                      </a:r>
                      <a:r>
                        <a:rPr sz="750" b="0">
                          <a:solidFill>
                            <a:srgbClr val="555555"/>
                          </a:solidFill>
                          <a:latin typeface="Calibri"/>
                        </a:rPr>
                        <a:t> </a:t>
                      </a:r>
                      <a:r>
                        <a:rPr sz="750" b="0" err="1">
                          <a:solidFill>
                            <a:srgbClr val="555555"/>
                          </a:solidFill>
                          <a:latin typeface="Calibri"/>
                        </a:rPr>
                        <a:t>chất</a:t>
                      </a:r>
                      <a:r>
                        <a:rPr sz="750" b="0">
                          <a:solidFill>
                            <a:srgbClr val="555555"/>
                          </a:solidFill>
                          <a:latin typeface="Calibri"/>
                        </a:rPr>
                        <a:t>: Category </a:t>
                      </a:r>
                      <a:r>
                        <a:rPr sz="750" b="0" err="1">
                          <a:solidFill>
                            <a:srgbClr val="555555"/>
                          </a:solidFill>
                          <a:latin typeface="Calibri"/>
                        </a:rPr>
                        <a:t>là</a:t>
                      </a:r>
                      <a:r>
                        <a:rPr sz="750" b="0">
                          <a:solidFill>
                            <a:srgbClr val="555555"/>
                          </a:solidFill>
                          <a:latin typeface="Calibri"/>
                        </a:rPr>
                        <a:t> </a:t>
                      </a:r>
                      <a:r>
                        <a:rPr sz="750" b="0" err="1">
                          <a:solidFill>
                            <a:srgbClr val="555555"/>
                          </a:solidFill>
                          <a:latin typeface="Calibri"/>
                        </a:rPr>
                        <a:t>cây</a:t>
                      </a:r>
                      <a:r>
                        <a:rPr sz="750" b="0">
                          <a:solidFill>
                            <a:srgbClr val="555555"/>
                          </a:solidFill>
                          <a:latin typeface="Calibri"/>
                        </a:rPr>
                        <a:t> </a:t>
                      </a:r>
                      <a:r>
                        <a:rPr sz="750" b="0" err="1">
                          <a:solidFill>
                            <a:srgbClr val="555555"/>
                          </a:solidFill>
                          <a:latin typeface="Calibri"/>
                        </a:rPr>
                        <a:t>phân</a:t>
                      </a:r>
                      <a:r>
                        <a:rPr sz="750" b="0">
                          <a:solidFill>
                            <a:srgbClr val="555555"/>
                          </a:solidFill>
                          <a:latin typeface="Calibri"/>
                        </a:rPr>
                        <a:t> </a:t>
                      </a:r>
                      <a:r>
                        <a:rPr sz="750" b="0" err="1">
                          <a:solidFill>
                            <a:srgbClr val="555555"/>
                          </a:solidFill>
                          <a:latin typeface="Calibri"/>
                        </a:rPr>
                        <a:t>cấp</a:t>
                      </a:r>
                      <a:r>
                        <a:rPr sz="750" b="0">
                          <a:solidFill>
                            <a:srgbClr val="555555"/>
                          </a:solidFill>
                          <a:latin typeface="Calibri"/>
                        </a:rPr>
                        <a:t> </a:t>
                      </a:r>
                      <a:r>
                        <a:rPr sz="750" b="0" err="1">
                          <a:solidFill>
                            <a:srgbClr val="555555"/>
                          </a:solidFill>
                          <a:latin typeface="Calibri"/>
                        </a:rPr>
                        <a:t>độc</a:t>
                      </a:r>
                      <a:r>
                        <a:rPr sz="750" b="0">
                          <a:solidFill>
                            <a:srgbClr val="555555"/>
                          </a:solidFill>
                          <a:latin typeface="Calibri"/>
                        </a:rPr>
                        <a:t> </a:t>
                      </a:r>
                      <a:r>
                        <a:rPr sz="750" b="0" err="1">
                          <a:solidFill>
                            <a:srgbClr val="555555"/>
                          </a:solidFill>
                          <a:latin typeface="Calibri"/>
                        </a:rPr>
                        <a:t>quyền</a:t>
                      </a:r>
                      <a:r>
                        <a:rPr sz="750" b="0">
                          <a:solidFill>
                            <a:srgbClr val="555555"/>
                          </a:solidFill>
                          <a:latin typeface="Calibri"/>
                        </a:rPr>
                        <a:t>, Tag </a:t>
                      </a:r>
                      <a:r>
                        <a:rPr sz="750" b="0" err="1">
                          <a:solidFill>
                            <a:srgbClr val="555555"/>
                          </a:solidFill>
                          <a:latin typeface="Calibri"/>
                        </a:rPr>
                        <a:t>là</a:t>
                      </a:r>
                      <a:r>
                        <a:rPr sz="750" b="0">
                          <a:solidFill>
                            <a:srgbClr val="555555"/>
                          </a:solidFill>
                          <a:latin typeface="Calibri"/>
                        </a:rPr>
                        <a:t> </a:t>
                      </a:r>
                      <a:r>
                        <a:rPr sz="750" b="0" err="1">
                          <a:solidFill>
                            <a:srgbClr val="555555"/>
                          </a:solidFill>
                          <a:latin typeface="Calibri"/>
                        </a:rPr>
                        <a:t>danh</a:t>
                      </a:r>
                      <a:r>
                        <a:rPr sz="750" b="0">
                          <a:solidFill>
                            <a:srgbClr val="555555"/>
                          </a:solidFill>
                          <a:latin typeface="Calibri"/>
                        </a:rPr>
                        <a:t> </a:t>
                      </a:r>
                      <a:r>
                        <a:rPr sz="750" b="0" err="1">
                          <a:solidFill>
                            <a:srgbClr val="555555"/>
                          </a:solidFill>
                          <a:latin typeface="Calibri"/>
                        </a:rPr>
                        <a:t>sách</a:t>
                      </a:r>
                      <a:r>
                        <a:rPr sz="750" b="0">
                          <a:solidFill>
                            <a:srgbClr val="555555"/>
                          </a:solidFill>
                          <a:latin typeface="Calibri"/>
                        </a:rPr>
                        <a:t> </a:t>
                      </a:r>
                      <a:r>
                        <a:rPr sz="750" b="0" err="1">
                          <a:solidFill>
                            <a:srgbClr val="555555"/>
                          </a:solidFill>
                          <a:latin typeface="Calibri"/>
                        </a:rPr>
                        <a:t>phẳng</a:t>
                      </a:r>
                      <a:r>
                        <a:rPr sz="750" b="0">
                          <a:solidFill>
                            <a:srgbClr val="555555"/>
                          </a:solidFill>
                          <a:latin typeface="Calibri"/>
                        </a:rPr>
                        <a:t> </a:t>
                      </a:r>
                      <a:r>
                        <a:rPr sz="750" b="0" err="1">
                          <a:solidFill>
                            <a:srgbClr val="555555"/>
                          </a:solidFill>
                          <a:latin typeface="Calibri"/>
                        </a:rPr>
                        <a:t>nhiều-nhiều</a:t>
                      </a:r>
                      <a:r>
                        <a:rPr sz="750" b="0">
                          <a:solidFill>
                            <a:srgbClr val="555555"/>
                          </a:solidFill>
                          <a:latin typeface="Calibri"/>
                        </a:rPr>
                        <a:t> — chip </a:t>
                      </a:r>
                      <a:r>
                        <a:rPr sz="750" b="0" err="1">
                          <a:solidFill>
                            <a:srgbClr val="555555"/>
                          </a:solidFill>
                          <a:latin typeface="Calibri"/>
                        </a:rPr>
                        <a:t>lấy</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Tag. </a:t>
                      </a:r>
                      <a:r>
                        <a:rPr sz="750" b="0" err="1">
                          <a:solidFill>
                            <a:srgbClr val="555555"/>
                          </a:solidFill>
                          <a:latin typeface="Calibri"/>
                        </a:rPr>
                        <a:t>Tránh</a:t>
                      </a:r>
                      <a:r>
                        <a:rPr sz="750" b="0">
                          <a:solidFill>
                            <a:srgbClr val="555555"/>
                          </a:solidFill>
                          <a:latin typeface="Calibri"/>
                        </a:rPr>
                        <a:t> </a:t>
                      </a:r>
                      <a:r>
                        <a:rPr sz="750" b="0" err="1">
                          <a:solidFill>
                            <a:srgbClr val="555555"/>
                          </a:solidFill>
                          <a:latin typeface="Calibri"/>
                        </a:rPr>
                        <a:t>mở</a:t>
                      </a:r>
                      <a:r>
                        <a:rPr sz="750" b="0">
                          <a:solidFill>
                            <a:srgbClr val="555555"/>
                          </a:solidFill>
                          <a:latin typeface="Calibri"/>
                        </a:rPr>
                        <a:t> </a:t>
                      </a:r>
                      <a:r>
                        <a:rPr sz="750" b="0" err="1">
                          <a:solidFill>
                            <a:srgbClr val="555555"/>
                          </a:solidFill>
                          <a:latin typeface="Calibri"/>
                        </a:rPr>
                        <a:t>bảng</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 </a:t>
                      </a:r>
                      <a:r>
                        <a:rPr sz="750" b="0" err="1">
                          <a:solidFill>
                            <a:srgbClr val="555555"/>
                          </a:solidFill>
                          <a:latin typeface="Calibri"/>
                        </a:rPr>
                        <a:t>lớn</a:t>
                      </a:r>
                      <a:r>
                        <a:rPr sz="750" b="0">
                          <a:solidFill>
                            <a:srgbClr val="555555"/>
                          </a:solidFill>
                          <a:latin typeface="Calibri"/>
                        </a:rPr>
                        <a:t> </a:t>
                      </a:r>
                      <a:r>
                        <a:rPr sz="750" b="0" err="1">
                          <a:solidFill>
                            <a:srgbClr val="555555"/>
                          </a:solidFill>
                          <a:latin typeface="Calibri"/>
                        </a:rPr>
                        <a:t>che</a:t>
                      </a:r>
                      <a:r>
                        <a:rPr sz="750" b="0">
                          <a:solidFill>
                            <a:srgbClr val="555555"/>
                          </a:solidFill>
                          <a:latin typeface="Calibri"/>
                        </a:rPr>
                        <a:t> </a:t>
                      </a:r>
                      <a:r>
                        <a:rPr sz="750" b="0" err="1">
                          <a:solidFill>
                            <a:srgbClr val="555555"/>
                          </a:solidFill>
                          <a:latin typeface="Calibri"/>
                        </a:rPr>
                        <a:t>màn</a:t>
                      </a:r>
                      <a:r>
                        <a:rPr sz="750" b="0">
                          <a:solidFill>
                            <a:srgbClr val="555555"/>
                          </a:solidFill>
                          <a:latin typeface="Calibri"/>
                        </a:rPr>
                        <a:t> </a:t>
                      </a:r>
                      <a:r>
                        <a:rPr sz="750" b="0" err="1">
                          <a:solidFill>
                            <a:srgbClr val="555555"/>
                          </a:solidFill>
                          <a:latin typeface="Calibri"/>
                        </a:rPr>
                        <a:t>hình</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Tổng</a:t>
                      </a:r>
                      <a:r>
                        <a:rPr sz="800" b="1">
                          <a:solidFill>
                            <a:srgbClr val="222222"/>
                          </a:solidFill>
                          <a:latin typeface="Calibri"/>
                        </a:rPr>
                        <a:t> </a:t>
                      </a:r>
                      <a:r>
                        <a:rPr sz="800" b="1" err="1">
                          <a:solidFill>
                            <a:srgbClr val="222222"/>
                          </a:solidFill>
                          <a:latin typeface="Calibri"/>
                        </a:rPr>
                        <a:t>số</a:t>
                      </a:r>
                      <a:r>
                        <a:rPr sz="800" b="1">
                          <a:solidFill>
                            <a:srgbClr val="222222"/>
                          </a:solidFill>
                          <a:latin typeface="Calibri"/>
                        </a:rPr>
                        <a:t> </a:t>
                      </a:r>
                      <a:r>
                        <a:rPr sz="800" b="1" err="1">
                          <a:solidFill>
                            <a:srgbClr val="222222"/>
                          </a:solidFill>
                          <a:latin typeface="Calibri"/>
                        </a:rPr>
                        <a:t>kết</a:t>
                      </a:r>
                      <a:r>
                        <a:rPr sz="800" b="1">
                          <a:solidFill>
                            <a:srgbClr val="222222"/>
                          </a:solidFill>
                          <a:latin typeface="Calibri"/>
                        </a:rPr>
                        <a:t> </a:t>
                      </a:r>
                      <a:r>
                        <a:rPr sz="800" b="1" err="1">
                          <a:solidFill>
                            <a:srgbClr val="222222"/>
                          </a:solidFill>
                          <a:latin typeface="Calibri"/>
                        </a:rPr>
                        <a:t>quả</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"128 </a:t>
                      </a:r>
                      <a:r>
                        <a:rPr sz="750" b="0" err="1">
                          <a:solidFill>
                            <a:srgbClr val="555555"/>
                          </a:solidFill>
                          <a:latin typeface="Calibri"/>
                        </a:rPr>
                        <a:t>sản</a:t>
                      </a:r>
                      <a:r>
                        <a:rPr sz="750" b="0">
                          <a:solidFill>
                            <a:srgbClr val="555555"/>
                          </a:solidFill>
                          <a:latin typeface="Calibri"/>
                        </a:rPr>
                        <a:t> </a:t>
                      </a:r>
                      <a:r>
                        <a:rPr sz="750" b="0" err="1">
                          <a:solidFill>
                            <a:srgbClr val="555555"/>
                          </a:solidFill>
                          <a:latin typeface="Calibri"/>
                        </a:rPr>
                        <a:t>phẩm</a:t>
                      </a:r>
                      <a:r>
                        <a:rPr sz="750" b="0">
                          <a:solidFill>
                            <a:srgbClr val="555555"/>
                          </a:solidFill>
                          <a:latin typeface="Calibri"/>
                        </a:rPr>
                        <a:t>" — </a:t>
                      </a:r>
                      <a:r>
                        <a:rPr sz="750" b="0" err="1">
                          <a:solidFill>
                            <a:srgbClr val="555555"/>
                          </a:solidFill>
                          <a:latin typeface="Calibri"/>
                        </a:rPr>
                        <a:t>cập</a:t>
                      </a:r>
                      <a:r>
                        <a:rPr sz="750" b="0">
                          <a:solidFill>
                            <a:srgbClr val="555555"/>
                          </a:solidFill>
                          <a:latin typeface="Calibri"/>
                        </a:rPr>
                        <a:t> </a:t>
                      </a:r>
                      <a:r>
                        <a:rPr sz="750" b="0" err="1">
                          <a:solidFill>
                            <a:srgbClr val="555555"/>
                          </a:solidFill>
                          <a:latin typeface="Calibri"/>
                        </a:rPr>
                        <a:t>nhật</a:t>
                      </a:r>
                      <a:r>
                        <a:rPr sz="750" b="0">
                          <a:solidFill>
                            <a:srgbClr val="555555"/>
                          </a:solidFill>
                          <a:latin typeface="Calibri"/>
                        </a:rPr>
                        <a:t> </a:t>
                      </a:r>
                      <a:r>
                        <a:rPr sz="750" b="0" err="1">
                          <a:solidFill>
                            <a:srgbClr val="555555"/>
                          </a:solidFill>
                          <a:latin typeface="Calibri"/>
                        </a:rPr>
                        <a:t>realtime</a:t>
                      </a:r>
                      <a:r>
                        <a:rPr sz="750" b="0">
                          <a:solidFill>
                            <a:srgbClr val="555555"/>
                          </a:solidFill>
                          <a:latin typeface="Calibri"/>
                        </a:rPr>
                        <a:t> </a:t>
                      </a:r>
                      <a:r>
                        <a:rPr sz="750" b="0" err="1">
                          <a:solidFill>
                            <a:srgbClr val="555555"/>
                          </a:solidFill>
                          <a:latin typeface="Calibri"/>
                        </a:rPr>
                        <a:t>mỗi</a:t>
                      </a:r>
                      <a:r>
                        <a:rPr sz="750" b="0">
                          <a:solidFill>
                            <a:srgbClr val="555555"/>
                          </a:solidFill>
                          <a:latin typeface="Calibri"/>
                        </a:rPr>
                        <a:t> </a:t>
                      </a:r>
                      <a:r>
                        <a:rPr sz="750" b="0" err="1">
                          <a:solidFill>
                            <a:srgbClr val="555555"/>
                          </a:solidFill>
                          <a:latin typeface="Calibri"/>
                        </a:rPr>
                        <a:t>lần</a:t>
                      </a:r>
                      <a:r>
                        <a:rPr sz="750" b="0">
                          <a:solidFill>
                            <a:srgbClr val="555555"/>
                          </a:solidFill>
                          <a:latin typeface="Calibri"/>
                        </a:rPr>
                        <a:t> </a:t>
                      </a:r>
                      <a:r>
                        <a:rPr sz="750" b="0" err="1">
                          <a:solidFill>
                            <a:srgbClr val="555555"/>
                          </a:solidFill>
                          <a:latin typeface="Calibri"/>
                        </a:rPr>
                        <a:t>đổi</a:t>
                      </a:r>
                      <a:r>
                        <a:rPr sz="750" b="0">
                          <a:solidFill>
                            <a:srgbClr val="555555"/>
                          </a:solidFill>
                          <a:latin typeface="Calibri"/>
                        </a:rPr>
                        <a:t> </a:t>
                      </a:r>
                      <a:r>
                        <a:rPr sz="750" b="0" err="1">
                          <a:solidFill>
                            <a:srgbClr val="555555"/>
                          </a:solidFill>
                          <a:latin typeface="Calibri"/>
                        </a:rPr>
                        <a:t>bộ</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 </a:t>
                      </a:r>
                      <a:r>
                        <a:rPr sz="750" b="0" err="1">
                          <a:solidFill>
                            <a:srgbClr val="555555"/>
                          </a:solidFill>
                          <a:latin typeface="Calibri"/>
                        </a:rPr>
                        <a:t>giúp</a:t>
                      </a:r>
                      <a:r>
                        <a:rPr sz="750" b="0">
                          <a:solidFill>
                            <a:srgbClr val="555555"/>
                          </a:solidFill>
                          <a:latin typeface="Calibri"/>
                        </a:rPr>
                        <a:t> </a:t>
                      </a:r>
                      <a:r>
                        <a:rPr sz="750" b="0" err="1">
                          <a:solidFill>
                            <a:srgbClr val="555555"/>
                          </a:solidFill>
                          <a:latin typeface="Calibri"/>
                        </a:rPr>
                        <a:t>khách</a:t>
                      </a:r>
                      <a:r>
                        <a:rPr sz="750" b="0">
                          <a:solidFill>
                            <a:srgbClr val="555555"/>
                          </a:solidFill>
                          <a:latin typeface="Calibri"/>
                        </a:rPr>
                        <a:t> </a:t>
                      </a:r>
                      <a:r>
                        <a:rPr sz="750" b="0" err="1">
                          <a:solidFill>
                            <a:srgbClr val="555555"/>
                          </a:solidFill>
                          <a:latin typeface="Calibri"/>
                        </a:rPr>
                        <a:t>đo</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a:t>
                      </a:r>
                      <a:r>
                        <a:rPr sz="750" b="0" err="1">
                          <a:solidFill>
                            <a:srgbClr val="555555"/>
                          </a:solidFill>
                          <a:latin typeface="Calibri"/>
                        </a:rPr>
                        <a:t>tác</a:t>
                      </a:r>
                      <a:r>
                        <a:rPr sz="750" b="0">
                          <a:solidFill>
                            <a:srgbClr val="555555"/>
                          </a:solidFill>
                          <a:latin typeface="Calibri"/>
                        </a:rPr>
                        <a:t> </a:t>
                      </a:r>
                      <a:r>
                        <a:rPr sz="750" b="0" err="1">
                          <a:solidFill>
                            <a:srgbClr val="555555"/>
                          </a:solidFill>
                          <a:latin typeface="Calibri"/>
                        </a:rPr>
                        <a:t>dụng</a:t>
                      </a:r>
                      <a:r>
                        <a:rPr sz="750" b="0">
                          <a:solidFill>
                            <a:srgbClr val="555555"/>
                          </a:solidFill>
                          <a:latin typeface="Calibri"/>
                        </a:rPr>
                        <a:t> </a:t>
                      </a:r>
                      <a:r>
                        <a:rPr sz="750" b="0" err="1">
                          <a:solidFill>
                            <a:srgbClr val="555555"/>
                          </a:solidFill>
                          <a:latin typeface="Calibri"/>
                        </a:rPr>
                        <a:t>của</a:t>
                      </a:r>
                      <a:r>
                        <a:rPr sz="750" b="0">
                          <a:solidFill>
                            <a:srgbClr val="555555"/>
                          </a:solidFill>
                          <a:latin typeface="Calibri"/>
                        </a:rPr>
                        <a:t> </a:t>
                      </a:r>
                      <a:r>
                        <a:rPr sz="750" b="0" err="1">
                          <a:solidFill>
                            <a:srgbClr val="555555"/>
                          </a:solidFill>
                          <a:latin typeface="Calibri"/>
                        </a:rPr>
                        <a:t>thao</a:t>
                      </a:r>
                      <a:r>
                        <a:rPr sz="750" b="0">
                          <a:solidFill>
                            <a:srgbClr val="555555"/>
                          </a:solidFill>
                          <a:latin typeface="Calibri"/>
                        </a:rPr>
                        <a:t> </a:t>
                      </a:r>
                      <a:r>
                        <a:rPr sz="750" b="0" err="1">
                          <a:solidFill>
                            <a:srgbClr val="555555"/>
                          </a:solidFill>
                          <a:latin typeface="Calibri"/>
                        </a:rPr>
                        <a:t>tác</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Product Card — </a:t>
                      </a:r>
                      <a:r>
                        <a:rPr sz="800" b="1" err="1">
                          <a:solidFill>
                            <a:srgbClr val="222222"/>
                          </a:solidFill>
                          <a:latin typeface="Calibri"/>
                        </a:rPr>
                        <a:t>lưới</a:t>
                      </a:r>
                      <a:r>
                        <a:rPr sz="800" b="1">
                          <a:solidFill>
                            <a:srgbClr val="222222"/>
                          </a:solidFill>
                          <a:latin typeface="Calibri"/>
                        </a:rPr>
                        <a:t> 2 </a:t>
                      </a:r>
                      <a:r>
                        <a:rPr sz="800" b="1" err="1">
                          <a:solidFill>
                            <a:srgbClr val="222222"/>
                          </a:solidFill>
                          <a:latin typeface="Calibri"/>
                        </a:rPr>
                        <a:t>cột</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lvl="0" algn="l">
                        <a:lnSpc>
                          <a:spcPct val="100000"/>
                        </a:lnSpc>
                        <a:spcBef>
                          <a:spcPts val="0"/>
                        </a:spcBef>
                        <a:spcAft>
                          <a:spcPts val="0"/>
                        </a:spcAft>
                        <a:buNone/>
                      </a:pPr>
                      <a:r>
                        <a:rPr lang="vi-VN" sz="800" b="0" i="0" u="none" strike="noStrike" noProof="0">
                          <a:solidFill>
                            <a:srgbClr val="555555"/>
                          </a:solidFill>
                          <a:latin typeface="Calibri"/>
                          <a:ea typeface="Calibri"/>
                          <a:cs typeface="Calibri"/>
                        </a:rPr>
                        <a:t>Thông tin hiển thị chi tiết &amp; các trạng thái được định nghĩa ở tài liệu khác → Tap card mở PDP; tap (+) thêm 1 đơn vị và hiện toast (SS-SCR-010).</a:t>
                      </a:r>
                      <a:endParaRPr lang="en-US" sz="800" b="0" i="0" u="none" strike="noStrike" noProof="0">
                        <a:solidFill>
                          <a:srgbClr val="000000"/>
                        </a:solidFill>
                        <a:latin typeface="Calibri"/>
                        <a:ea typeface="Calibri"/>
                        <a:cs typeface="Calibri"/>
                      </a:endParaRPr>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Nhãn</a:t>
                      </a:r>
                      <a:r>
                        <a:rPr sz="800" b="1">
                          <a:solidFill>
                            <a:srgbClr val="222222"/>
                          </a:solidFill>
                          <a:latin typeface="Calibri"/>
                        </a:rPr>
                        <a:t> Sponsored</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err="1">
                          <a:solidFill>
                            <a:srgbClr val="555555"/>
                          </a:solidFill>
                          <a:latin typeface="Calibri"/>
                        </a:rPr>
                        <a:t>Sản</a:t>
                      </a:r>
                      <a:r>
                        <a:rPr sz="750" b="0">
                          <a:solidFill>
                            <a:srgbClr val="555555"/>
                          </a:solidFill>
                          <a:latin typeface="Calibri"/>
                        </a:rPr>
                        <a:t> </a:t>
                      </a:r>
                      <a:r>
                        <a:rPr sz="750" b="0" err="1">
                          <a:solidFill>
                            <a:srgbClr val="555555"/>
                          </a:solidFill>
                          <a:latin typeface="Calibri"/>
                        </a:rPr>
                        <a:t>phẩm</a:t>
                      </a:r>
                      <a:r>
                        <a:rPr sz="750" b="0">
                          <a:solidFill>
                            <a:srgbClr val="555555"/>
                          </a:solidFill>
                          <a:latin typeface="Calibri"/>
                        </a:rPr>
                        <a:t> </a:t>
                      </a:r>
                      <a:r>
                        <a:rPr sz="750" b="0" err="1">
                          <a:solidFill>
                            <a:srgbClr val="555555"/>
                          </a:solidFill>
                          <a:latin typeface="Calibri"/>
                        </a:rPr>
                        <a:t>tài</a:t>
                      </a:r>
                      <a:r>
                        <a:rPr sz="750" b="0">
                          <a:solidFill>
                            <a:srgbClr val="555555"/>
                          </a:solidFill>
                          <a:latin typeface="Calibri"/>
                        </a:rPr>
                        <a:t> </a:t>
                      </a:r>
                      <a:r>
                        <a:rPr sz="750" b="0" err="1">
                          <a:solidFill>
                            <a:srgbClr val="555555"/>
                          </a:solidFill>
                          <a:latin typeface="Calibri"/>
                        </a:rPr>
                        <a:t>trợ</a:t>
                      </a:r>
                      <a:r>
                        <a:rPr sz="750" b="0">
                          <a:solidFill>
                            <a:srgbClr val="555555"/>
                          </a:solidFill>
                          <a:latin typeface="Calibri"/>
                        </a:rPr>
                        <a:t> </a:t>
                      </a:r>
                      <a:r>
                        <a:rPr sz="750" b="0" err="1">
                          <a:solidFill>
                            <a:srgbClr val="555555"/>
                          </a:solidFill>
                          <a:latin typeface="Calibri"/>
                        </a:rPr>
                        <a:t>gắn</a:t>
                      </a:r>
                      <a:r>
                        <a:rPr sz="750" b="0">
                          <a:solidFill>
                            <a:srgbClr val="555555"/>
                          </a:solidFill>
                          <a:latin typeface="Calibri"/>
                        </a:rPr>
                        <a:t> tag "Sponsored" ở </a:t>
                      </a:r>
                      <a:r>
                        <a:rPr sz="750" b="0" err="1">
                          <a:solidFill>
                            <a:srgbClr val="555555"/>
                          </a:solidFill>
                          <a:latin typeface="Calibri"/>
                        </a:rPr>
                        <a:t>góc</a:t>
                      </a:r>
                      <a:r>
                        <a:rPr sz="750" b="0">
                          <a:solidFill>
                            <a:srgbClr val="555555"/>
                          </a:solidFill>
                          <a:latin typeface="Calibri"/>
                        </a:rPr>
                        <a:t> card. ⚠ </a:t>
                      </a:r>
                      <a:r>
                        <a:rPr sz="750" b="0" err="1">
                          <a:solidFill>
                            <a:srgbClr val="555555"/>
                          </a:solidFill>
                          <a:latin typeface="Calibri"/>
                        </a:rPr>
                        <a:t>Bắt</a:t>
                      </a:r>
                      <a:r>
                        <a:rPr sz="750" b="0">
                          <a:solidFill>
                            <a:srgbClr val="555555"/>
                          </a:solidFill>
                          <a:latin typeface="Calibri"/>
                        </a:rPr>
                        <a:t> </a:t>
                      </a:r>
                      <a:r>
                        <a:rPr sz="750" b="0" err="1">
                          <a:solidFill>
                            <a:srgbClr val="555555"/>
                          </a:solidFill>
                          <a:latin typeface="Calibri"/>
                        </a:rPr>
                        <a:t>buộc</a:t>
                      </a:r>
                      <a:r>
                        <a:rPr sz="750" b="0">
                          <a:solidFill>
                            <a:srgbClr val="555555"/>
                          </a:solidFill>
                          <a:latin typeface="Calibri"/>
                        </a:rPr>
                        <a:t> </a:t>
                      </a:r>
                      <a:r>
                        <a:rPr sz="750" b="0" err="1">
                          <a:solidFill>
                            <a:srgbClr val="555555"/>
                          </a:solidFill>
                          <a:latin typeface="Calibri"/>
                        </a:rPr>
                        <a:t>theo</a:t>
                      </a:r>
                      <a:r>
                        <a:rPr sz="750" b="0">
                          <a:solidFill>
                            <a:srgbClr val="555555"/>
                          </a:solidFill>
                          <a:latin typeface="Calibri"/>
                        </a:rPr>
                        <a:t> </a:t>
                      </a:r>
                      <a:r>
                        <a:rPr sz="750" b="0" err="1">
                          <a:solidFill>
                            <a:srgbClr val="555555"/>
                          </a:solidFill>
                          <a:latin typeface="Calibri"/>
                        </a:rPr>
                        <a:t>yêu</a:t>
                      </a:r>
                      <a:r>
                        <a:rPr sz="750" b="0">
                          <a:solidFill>
                            <a:srgbClr val="555555"/>
                          </a:solidFill>
                          <a:latin typeface="Calibri"/>
                        </a:rPr>
                        <a:t> </a:t>
                      </a:r>
                      <a:r>
                        <a:rPr sz="750" b="0" err="1">
                          <a:solidFill>
                            <a:srgbClr val="555555"/>
                          </a:solidFill>
                          <a:latin typeface="Calibri"/>
                        </a:rPr>
                        <a:t>cầu</a:t>
                      </a:r>
                      <a:r>
                        <a:rPr sz="750" b="0">
                          <a:solidFill>
                            <a:srgbClr val="555555"/>
                          </a:solidFill>
                          <a:latin typeface="Calibri"/>
                        </a:rPr>
                        <a:t> </a:t>
                      </a:r>
                      <a:r>
                        <a:rPr sz="750" b="0" err="1">
                          <a:solidFill>
                            <a:srgbClr val="555555"/>
                          </a:solidFill>
                          <a:latin typeface="Calibri"/>
                        </a:rPr>
                        <a:t>minh</a:t>
                      </a:r>
                      <a:r>
                        <a:rPr sz="750" b="0">
                          <a:solidFill>
                            <a:srgbClr val="555555"/>
                          </a:solidFill>
                          <a:latin typeface="Calibri"/>
                        </a:rPr>
                        <a:t> </a:t>
                      </a:r>
                      <a:r>
                        <a:rPr sz="750" b="0" err="1">
                          <a:solidFill>
                            <a:srgbClr val="555555"/>
                          </a:solidFill>
                          <a:latin typeface="Calibri"/>
                        </a:rPr>
                        <a:t>bạch</a:t>
                      </a:r>
                      <a:r>
                        <a:rPr sz="750" b="0">
                          <a:solidFill>
                            <a:srgbClr val="555555"/>
                          </a:solidFill>
                          <a:latin typeface="Calibri"/>
                        </a:rPr>
                        <a:t> </a:t>
                      </a:r>
                      <a:r>
                        <a:rPr sz="750" b="0" err="1">
                          <a:solidFill>
                            <a:srgbClr val="555555"/>
                          </a:solidFill>
                          <a:latin typeface="Calibri"/>
                        </a:rPr>
                        <a:t>quảng</a:t>
                      </a:r>
                      <a:r>
                        <a:rPr sz="750" b="0">
                          <a:solidFill>
                            <a:srgbClr val="555555"/>
                          </a:solidFill>
                          <a:latin typeface="Calibri"/>
                        </a:rPr>
                        <a:t> </a:t>
                      </a:r>
                      <a:r>
                        <a:rPr sz="750" b="0" err="1">
                          <a:solidFill>
                            <a:srgbClr val="555555"/>
                          </a:solidFill>
                          <a:latin typeface="Calibri"/>
                        </a:rPr>
                        <a:t>cáo</a:t>
                      </a:r>
                      <a:r>
                        <a:rPr sz="750" b="0">
                          <a:solidFill>
                            <a:srgbClr val="555555"/>
                          </a:solidFill>
                          <a:latin typeface="Calibri"/>
                        </a:rPr>
                        <a:t> —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a:t>
                      </a:r>
                      <a:r>
                        <a:rPr sz="750" b="0" err="1">
                          <a:solidFill>
                            <a:srgbClr val="555555"/>
                          </a:solidFill>
                          <a:latin typeface="Calibri"/>
                        </a:rPr>
                        <a:t>ẩn</a:t>
                      </a:r>
                      <a:r>
                        <a:rPr sz="750" b="0">
                          <a:solidFill>
                            <a:srgbClr val="555555"/>
                          </a:solidFill>
                          <a:latin typeface="Calibri"/>
                        </a:rPr>
                        <a:t> </a:t>
                      </a:r>
                      <a:r>
                        <a:rPr sz="750" b="0" err="1">
                          <a:solidFill>
                            <a:srgbClr val="555555"/>
                          </a:solidFill>
                          <a:latin typeface="Calibri"/>
                        </a:rPr>
                        <a:t>hoặc</a:t>
                      </a:r>
                      <a:r>
                        <a:rPr sz="750" b="0">
                          <a:solidFill>
                            <a:srgbClr val="555555"/>
                          </a:solidFill>
                          <a:latin typeface="Calibri"/>
                        </a:rPr>
                        <a:t> </a:t>
                      </a:r>
                      <a:r>
                        <a:rPr sz="750" b="0" err="1">
                          <a:solidFill>
                            <a:srgbClr val="555555"/>
                          </a:solidFill>
                          <a:latin typeface="Calibri"/>
                        </a:rPr>
                        <a:t>làm</a:t>
                      </a:r>
                      <a:r>
                        <a:rPr sz="750" b="0">
                          <a:solidFill>
                            <a:srgbClr val="555555"/>
                          </a:solidFill>
                          <a:latin typeface="Calibri"/>
                        </a:rPr>
                        <a:t> </a:t>
                      </a:r>
                      <a:r>
                        <a:rPr sz="750" b="0" err="1">
                          <a:solidFill>
                            <a:srgbClr val="555555"/>
                          </a:solidFill>
                          <a:latin typeface="Calibri"/>
                        </a:rPr>
                        <a:t>mờ</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Thứ tự xếp hạng mặc định = "Liên quan nhất". Vị trí chèn sản phẩm Sponsored trong lưới (slot cố định hay theo đấu giá) cần chốt với đội Retail Media.</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10</a:t>
            </a:r>
            <a:endParaRPr lang="en-US" sz="700"/>
          </a:p>
        </p:txBody>
      </p:sp>
      <p:pic>
        <p:nvPicPr>
          <p:cNvPr id="40" name="Picture 39" descr="SS-SCR-005.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FR-PR-01</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SS-SCR-006</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Kết quả tìm kiếm — Dạng danh sách (List)</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417576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Chế độ danh sách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Toggle đang ở trạng thái List. Danh sách phù hợp khi khách so sánh giá và dung tích; lưới phù hợp khi khách duyệt theo hình ảnh. → Quay lại lưới: SS-SCR-005.</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Số kết quả &amp; bộ lọc giữ nguyên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Đổi chế độ xem không reset bộ lọc, sắp xếp hay vị trí cuộn.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Ảnh sản phẩm</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Ô ảnh vuông 88×88 bên trái, giữ tỉ lệ, nền nhạt.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Vùng thông tin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Một hàng cho tên đầy đủ (không cắt 2 dòng như lưới), rating, giá bán / giá gạch và %-giảm — mật độ thông tin cao hơn lưới.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Nút (+) thêm nhanh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Tap thêm 1 đơn vị vào giỏ và hiện toast xác nhận (SS-SCR-010), không rời trang kết quả.</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Nhãn Sponsored</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Vẫn hiển thị ở góc phải card danh sách — yêu cầu minh bạch áp dụng cho mọi chế độ xem.</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Tải thêm kết quả</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Cuộn vô hạn theo lô. ⚠ Chốt kích thước lô (20/40 SKU) và hành vi khi mất mạng giữa chừng.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r>
              <a:rPr lang="en-US" sz="850" err="1">
                <a:solidFill>
                  <a:srgbClr val="6B6800"/>
                </a:solidFill>
                <a:ea typeface="Calibri"/>
                <a:cs typeface="Calibri"/>
              </a:rPr>
              <a:t>Chế</a:t>
            </a:r>
            <a:r>
              <a:rPr lang="en-US" sz="850">
                <a:solidFill>
                  <a:srgbClr val="6B6800"/>
                </a:solidFill>
                <a:ea typeface="Calibri"/>
                <a:cs typeface="Calibri"/>
              </a:rPr>
              <a:t> </a:t>
            </a:r>
            <a:r>
              <a:rPr lang="en-US" sz="850" err="1">
                <a:solidFill>
                  <a:srgbClr val="6B6800"/>
                </a:solidFill>
                <a:ea typeface="Calibri"/>
                <a:cs typeface="Calibri"/>
              </a:rPr>
              <a:t>độ</a:t>
            </a:r>
            <a:r>
              <a:rPr lang="en-US" sz="850">
                <a:solidFill>
                  <a:srgbClr val="6B6800"/>
                </a:solidFill>
                <a:ea typeface="Calibri"/>
                <a:cs typeface="Calibri"/>
              </a:rPr>
              <a:t> Lưới (Grid) </a:t>
            </a:r>
            <a:r>
              <a:rPr lang="en-US" sz="850" err="1">
                <a:solidFill>
                  <a:srgbClr val="6B6800"/>
                </a:solidFill>
                <a:ea typeface="Calibri"/>
                <a:cs typeface="Calibri"/>
              </a:rPr>
              <a:t>hiện</a:t>
            </a:r>
            <a:r>
              <a:rPr lang="en-US" sz="850">
                <a:solidFill>
                  <a:srgbClr val="6B6800"/>
                </a:solidFill>
                <a:ea typeface="Calibri"/>
                <a:cs typeface="Calibri"/>
              </a:rPr>
              <a:t> </a:t>
            </a:r>
            <a:r>
              <a:rPr lang="en-US" sz="850" err="1">
                <a:solidFill>
                  <a:srgbClr val="6B6800"/>
                </a:solidFill>
                <a:ea typeface="Calibri"/>
                <a:cs typeface="Calibri"/>
              </a:rPr>
              <a:t>tại</a:t>
            </a:r>
            <a:r>
              <a:rPr lang="en-US" sz="850">
                <a:solidFill>
                  <a:srgbClr val="6B6800"/>
                </a:solidFill>
                <a:ea typeface="Calibri"/>
                <a:cs typeface="Calibri"/>
              </a:rPr>
              <a:t> </a:t>
            </a:r>
            <a:r>
              <a:rPr lang="en-US" sz="850" err="1">
                <a:solidFill>
                  <a:srgbClr val="6B6800"/>
                </a:solidFill>
                <a:ea typeface="Calibri"/>
                <a:cs typeface="Calibri"/>
              </a:rPr>
              <a:t>là</a:t>
            </a:r>
            <a:r>
              <a:rPr lang="en-US" sz="850">
                <a:solidFill>
                  <a:srgbClr val="6B6800"/>
                </a:solidFill>
                <a:ea typeface="Calibri"/>
                <a:cs typeface="Calibri"/>
              </a:rPr>
              <a:t> </a:t>
            </a:r>
            <a:r>
              <a:rPr lang="en-US" sz="850" err="1">
                <a:solidFill>
                  <a:srgbClr val="6B6800"/>
                </a:solidFill>
                <a:ea typeface="Calibri"/>
                <a:cs typeface="Calibri"/>
              </a:rPr>
              <a:t>mặc</a:t>
            </a:r>
            <a:r>
              <a:rPr lang="en-US" sz="850">
                <a:solidFill>
                  <a:srgbClr val="6B6800"/>
                </a:solidFill>
                <a:ea typeface="Calibri"/>
                <a:cs typeface="Calibri"/>
              </a:rPr>
              <a:t> </a:t>
            </a:r>
            <a:r>
              <a:rPr lang="en-US" sz="850" err="1">
                <a:solidFill>
                  <a:srgbClr val="6B6800"/>
                </a:solidFill>
                <a:ea typeface="Calibri"/>
                <a:cs typeface="Calibri"/>
              </a:rPr>
              <a:t>định</a:t>
            </a:r>
            <a:r>
              <a:rPr lang="en-US" sz="850">
                <a:solidFill>
                  <a:srgbClr val="6B6800"/>
                </a:solidFill>
                <a:ea typeface="Calibri"/>
                <a:cs typeface="Calibri"/>
              </a:rPr>
              <a:t> ban </a:t>
            </a:r>
            <a:r>
              <a:rPr lang="en-US" sz="850" err="1">
                <a:solidFill>
                  <a:srgbClr val="6B6800"/>
                </a:solidFill>
                <a:ea typeface="Calibri"/>
                <a:cs typeface="Calibri"/>
              </a:rPr>
              <a:t>đầu</a:t>
            </a:r>
            <a:r>
              <a:rPr lang="en-US" sz="850">
                <a:solidFill>
                  <a:srgbClr val="6B6800"/>
                </a:solidFill>
                <a:ea typeface="Calibri"/>
                <a:cs typeface="Calibri"/>
              </a:rPr>
              <a:t>, </a:t>
            </a:r>
            <a:r>
              <a:rPr lang="en-US" sz="850" err="1">
                <a:solidFill>
                  <a:srgbClr val="6B6800"/>
                </a:solidFill>
                <a:ea typeface="Calibri"/>
                <a:cs typeface="Calibri"/>
              </a:rPr>
              <a:t>người</a:t>
            </a:r>
            <a:r>
              <a:rPr lang="en-US" sz="850">
                <a:solidFill>
                  <a:srgbClr val="6B6800"/>
                </a:solidFill>
                <a:ea typeface="Calibri"/>
                <a:cs typeface="Calibri"/>
              </a:rPr>
              <a:t> </a:t>
            </a:r>
            <a:r>
              <a:rPr lang="en-US" sz="850" err="1">
                <a:solidFill>
                  <a:srgbClr val="6B6800"/>
                </a:solidFill>
                <a:ea typeface="Calibri"/>
                <a:cs typeface="Calibri"/>
              </a:rPr>
              <a:t>dùng</a:t>
            </a:r>
            <a:r>
              <a:rPr lang="en-US" sz="850">
                <a:solidFill>
                  <a:srgbClr val="6B6800"/>
                </a:solidFill>
                <a:ea typeface="Calibri"/>
                <a:cs typeface="Calibri"/>
              </a:rPr>
              <a:t> </a:t>
            </a:r>
            <a:r>
              <a:rPr lang="en-US" sz="850" err="1">
                <a:solidFill>
                  <a:srgbClr val="6B6800"/>
                </a:solidFill>
                <a:ea typeface="Calibri"/>
                <a:cs typeface="Calibri"/>
              </a:rPr>
              <a:t>có</a:t>
            </a:r>
            <a:r>
              <a:rPr lang="en-US" sz="850">
                <a:solidFill>
                  <a:srgbClr val="6B6800"/>
                </a:solidFill>
                <a:ea typeface="Calibri"/>
                <a:cs typeface="Calibri"/>
              </a:rPr>
              <a:t> </a:t>
            </a:r>
            <a:r>
              <a:rPr lang="en-US" sz="850" err="1">
                <a:solidFill>
                  <a:srgbClr val="6B6800"/>
                </a:solidFill>
                <a:ea typeface="Calibri"/>
                <a:cs typeface="Calibri"/>
              </a:rPr>
              <a:t>thể</a:t>
            </a:r>
            <a:r>
              <a:rPr lang="en-US" sz="850">
                <a:solidFill>
                  <a:srgbClr val="6B6800"/>
                </a:solidFill>
                <a:ea typeface="Calibri"/>
                <a:cs typeface="Calibri"/>
              </a:rPr>
              <a:t> </a:t>
            </a:r>
            <a:r>
              <a:rPr lang="en-US" sz="850" err="1">
                <a:solidFill>
                  <a:srgbClr val="6B6800"/>
                </a:solidFill>
                <a:ea typeface="Calibri"/>
                <a:cs typeface="Calibri"/>
              </a:rPr>
              <a:t>đổi</a:t>
            </a:r>
            <a:r>
              <a:rPr lang="en-US" sz="850">
                <a:solidFill>
                  <a:srgbClr val="6B6800"/>
                </a:solidFill>
                <a:ea typeface="Calibri"/>
                <a:cs typeface="Calibri"/>
              </a:rPr>
              <a:t> sang </a:t>
            </a:r>
            <a:r>
              <a:rPr lang="en-US" sz="850" err="1">
                <a:solidFill>
                  <a:srgbClr val="6B6800"/>
                </a:solidFill>
                <a:ea typeface="Calibri"/>
                <a:cs typeface="Calibri"/>
              </a:rPr>
              <a:t>dạng</a:t>
            </a:r>
            <a:r>
              <a:rPr lang="en-US" sz="850">
                <a:solidFill>
                  <a:srgbClr val="6B6800"/>
                </a:solidFill>
                <a:ea typeface="Calibri"/>
                <a:cs typeface="Calibri"/>
              </a:rPr>
              <a:t> Danh </a:t>
            </a:r>
            <a:r>
              <a:rPr lang="en-US" sz="850" err="1">
                <a:solidFill>
                  <a:srgbClr val="6B6800"/>
                </a:solidFill>
                <a:ea typeface="Calibri"/>
                <a:cs typeface="Calibri"/>
              </a:rPr>
              <a:t>sách</a:t>
            </a:r>
            <a:r>
              <a:rPr lang="en-US" sz="850">
                <a:solidFill>
                  <a:srgbClr val="6B6800"/>
                </a:solidFill>
                <a:ea typeface="Calibri"/>
                <a:cs typeface="Calibri"/>
              </a:rPr>
              <a:t> (List). Mỗi </a:t>
            </a:r>
            <a:r>
              <a:rPr lang="en-US" sz="850" err="1">
                <a:solidFill>
                  <a:srgbClr val="6B6800"/>
                </a:solidFill>
                <a:ea typeface="Calibri"/>
                <a:cs typeface="Calibri"/>
              </a:rPr>
              <a:t>khi</a:t>
            </a:r>
            <a:r>
              <a:rPr lang="en-US" sz="850">
                <a:solidFill>
                  <a:srgbClr val="6B6800"/>
                </a:solidFill>
                <a:ea typeface="Calibri"/>
                <a:cs typeface="Calibri"/>
              </a:rPr>
              <a:t> </a:t>
            </a:r>
            <a:r>
              <a:rPr lang="en-US" sz="850" err="1">
                <a:solidFill>
                  <a:srgbClr val="6B6800"/>
                </a:solidFill>
                <a:ea typeface="Calibri"/>
                <a:cs typeface="Calibri"/>
              </a:rPr>
              <a:t>truy</a:t>
            </a:r>
            <a:r>
              <a:rPr lang="en-US" sz="850">
                <a:solidFill>
                  <a:srgbClr val="6B6800"/>
                </a:solidFill>
                <a:ea typeface="Calibri"/>
                <a:cs typeface="Calibri"/>
              </a:rPr>
              <a:t> </a:t>
            </a:r>
            <a:r>
              <a:rPr lang="en-US" sz="850" err="1">
                <a:solidFill>
                  <a:srgbClr val="6B6800"/>
                </a:solidFill>
                <a:ea typeface="Calibri"/>
                <a:cs typeface="Calibri"/>
              </a:rPr>
              <a:t>cập</a:t>
            </a:r>
            <a:r>
              <a:rPr lang="en-US" sz="850">
                <a:solidFill>
                  <a:srgbClr val="6B6800"/>
                </a:solidFill>
                <a:ea typeface="Calibri"/>
                <a:cs typeface="Calibri"/>
              </a:rPr>
              <a:t> </a:t>
            </a:r>
            <a:r>
              <a:rPr lang="en-US" sz="850" err="1">
                <a:solidFill>
                  <a:srgbClr val="6B6800"/>
                </a:solidFill>
                <a:ea typeface="Calibri"/>
                <a:cs typeface="Calibri"/>
              </a:rPr>
              <a:t>vào</a:t>
            </a:r>
            <a:r>
              <a:rPr lang="en-US" sz="850">
                <a:solidFill>
                  <a:srgbClr val="6B6800"/>
                </a:solidFill>
                <a:ea typeface="Calibri"/>
                <a:cs typeface="Calibri"/>
              </a:rPr>
              <a:t> </a:t>
            </a:r>
            <a:r>
              <a:rPr lang="en-US" sz="850" err="1">
                <a:solidFill>
                  <a:srgbClr val="6B6800"/>
                </a:solidFill>
                <a:ea typeface="Calibri"/>
                <a:cs typeface="Calibri"/>
              </a:rPr>
              <a:t>trang</a:t>
            </a:r>
            <a:r>
              <a:rPr lang="en-US" sz="850">
                <a:solidFill>
                  <a:srgbClr val="6B6800"/>
                </a:solidFill>
                <a:ea typeface="Calibri"/>
                <a:cs typeface="Calibri"/>
              </a:rPr>
              <a:t> </a:t>
            </a:r>
            <a:r>
              <a:rPr lang="en-US" sz="850" err="1">
                <a:solidFill>
                  <a:srgbClr val="6B6800"/>
                </a:solidFill>
                <a:ea typeface="Calibri"/>
                <a:cs typeface="Calibri"/>
              </a:rPr>
              <a:t>kết</a:t>
            </a:r>
            <a:r>
              <a:rPr lang="en-US" sz="850">
                <a:solidFill>
                  <a:srgbClr val="6B6800"/>
                </a:solidFill>
                <a:ea typeface="Calibri"/>
                <a:cs typeface="Calibri"/>
              </a:rPr>
              <a:t> </a:t>
            </a:r>
            <a:r>
              <a:rPr lang="en-US" sz="850" err="1">
                <a:solidFill>
                  <a:srgbClr val="6B6800"/>
                </a:solidFill>
                <a:ea typeface="Calibri"/>
                <a:cs typeface="Calibri"/>
              </a:rPr>
              <a:t>quả</a:t>
            </a:r>
            <a:r>
              <a:rPr lang="en-US" sz="850">
                <a:solidFill>
                  <a:srgbClr val="6B6800"/>
                </a:solidFill>
                <a:ea typeface="Calibri"/>
                <a:cs typeface="Calibri"/>
              </a:rPr>
              <a:t>, </a:t>
            </a:r>
            <a:r>
              <a:rPr lang="en-US" sz="850" err="1">
                <a:solidFill>
                  <a:srgbClr val="6B6800"/>
                </a:solidFill>
                <a:ea typeface="Calibri"/>
                <a:cs typeface="Calibri"/>
              </a:rPr>
              <a:t>hệ</a:t>
            </a:r>
            <a:r>
              <a:rPr lang="en-US" sz="850">
                <a:solidFill>
                  <a:srgbClr val="6B6800"/>
                </a:solidFill>
                <a:ea typeface="Calibri"/>
                <a:cs typeface="Calibri"/>
              </a:rPr>
              <a:t> </a:t>
            </a:r>
            <a:r>
              <a:rPr lang="en-US" sz="850" err="1">
                <a:solidFill>
                  <a:srgbClr val="6B6800"/>
                </a:solidFill>
                <a:ea typeface="Calibri"/>
                <a:cs typeface="Calibri"/>
              </a:rPr>
              <a:t>thống</a:t>
            </a:r>
            <a:r>
              <a:rPr lang="en-US" sz="850">
                <a:solidFill>
                  <a:srgbClr val="6B6800"/>
                </a:solidFill>
                <a:ea typeface="Calibri"/>
                <a:cs typeface="Calibri"/>
              </a:rPr>
              <a:t> </a:t>
            </a:r>
            <a:r>
              <a:rPr lang="en-US" sz="850" err="1">
                <a:solidFill>
                  <a:srgbClr val="6B6800"/>
                </a:solidFill>
                <a:ea typeface="Calibri"/>
                <a:cs typeface="Calibri"/>
              </a:rPr>
              <a:t>sẽ</a:t>
            </a:r>
            <a:r>
              <a:rPr lang="en-US" sz="850">
                <a:solidFill>
                  <a:srgbClr val="6B6800"/>
                </a:solidFill>
                <a:ea typeface="Calibri"/>
                <a:cs typeface="Calibri"/>
              </a:rPr>
              <a:t> </a:t>
            </a:r>
            <a:r>
              <a:rPr lang="en-US" sz="850" err="1">
                <a:solidFill>
                  <a:srgbClr val="6B6800"/>
                </a:solidFill>
                <a:ea typeface="Calibri"/>
                <a:cs typeface="Calibri"/>
              </a:rPr>
              <a:t>hiển</a:t>
            </a:r>
            <a:r>
              <a:rPr lang="en-US" sz="850">
                <a:solidFill>
                  <a:srgbClr val="6B6800"/>
                </a:solidFill>
                <a:ea typeface="Calibri"/>
                <a:cs typeface="Calibri"/>
              </a:rPr>
              <a:t> </a:t>
            </a:r>
            <a:r>
              <a:rPr lang="en-US" sz="850" err="1">
                <a:solidFill>
                  <a:srgbClr val="6B6800"/>
                </a:solidFill>
                <a:ea typeface="Calibri"/>
                <a:cs typeface="Calibri"/>
              </a:rPr>
              <a:t>thị</a:t>
            </a:r>
            <a:r>
              <a:rPr lang="en-US" sz="850">
                <a:solidFill>
                  <a:srgbClr val="6B6800"/>
                </a:solidFill>
                <a:ea typeface="Calibri"/>
                <a:cs typeface="Calibri"/>
              </a:rPr>
              <a:t> </a:t>
            </a:r>
            <a:r>
              <a:rPr lang="en-US" sz="850" err="1">
                <a:solidFill>
                  <a:srgbClr val="6B6800"/>
                </a:solidFill>
                <a:ea typeface="Calibri"/>
                <a:cs typeface="Calibri"/>
              </a:rPr>
              <a:t>dạng</a:t>
            </a:r>
            <a:r>
              <a:rPr lang="en-US" sz="850">
                <a:solidFill>
                  <a:srgbClr val="6B6800"/>
                </a:solidFill>
                <a:ea typeface="Calibri"/>
                <a:cs typeface="Calibri"/>
              </a:rPr>
              <a:t> </a:t>
            </a:r>
            <a:r>
              <a:rPr lang="en-US" sz="850" err="1">
                <a:solidFill>
                  <a:srgbClr val="6B6800"/>
                </a:solidFill>
                <a:ea typeface="Calibri"/>
                <a:cs typeface="Calibri"/>
              </a:rPr>
              <a:t>mà</a:t>
            </a:r>
            <a:r>
              <a:rPr lang="en-US" sz="850">
                <a:solidFill>
                  <a:srgbClr val="6B6800"/>
                </a:solidFill>
                <a:ea typeface="Calibri"/>
                <a:cs typeface="Calibri"/>
              </a:rPr>
              <a:t> </a:t>
            </a:r>
            <a:r>
              <a:rPr lang="en-US" sz="850" err="1">
                <a:solidFill>
                  <a:srgbClr val="6B6800"/>
                </a:solidFill>
                <a:ea typeface="Calibri"/>
                <a:cs typeface="Calibri"/>
              </a:rPr>
              <a:t>lần</a:t>
            </a:r>
            <a:r>
              <a:rPr lang="en-US" sz="850">
                <a:solidFill>
                  <a:srgbClr val="6B6800"/>
                </a:solidFill>
                <a:ea typeface="Calibri"/>
                <a:cs typeface="Calibri"/>
              </a:rPr>
              <a:t> </a:t>
            </a:r>
            <a:r>
              <a:rPr lang="en-US" sz="850" err="1">
                <a:solidFill>
                  <a:srgbClr val="6B6800"/>
                </a:solidFill>
                <a:ea typeface="Calibri"/>
                <a:cs typeface="Calibri"/>
              </a:rPr>
              <a:t>gần</a:t>
            </a:r>
            <a:r>
              <a:rPr lang="en-US" sz="850">
                <a:solidFill>
                  <a:srgbClr val="6B6800"/>
                </a:solidFill>
                <a:ea typeface="Calibri"/>
                <a:cs typeface="Calibri"/>
              </a:rPr>
              <a:t> </a:t>
            </a:r>
            <a:r>
              <a:rPr lang="en-US" sz="850" err="1">
                <a:solidFill>
                  <a:srgbClr val="6B6800"/>
                </a:solidFill>
                <a:ea typeface="Calibri"/>
                <a:cs typeface="Calibri"/>
              </a:rPr>
              <a:t>nhất</a:t>
            </a:r>
            <a:r>
              <a:rPr lang="en-US" sz="850">
                <a:solidFill>
                  <a:srgbClr val="6B6800"/>
                </a:solidFill>
                <a:ea typeface="Calibri"/>
                <a:cs typeface="Calibri"/>
              </a:rPr>
              <a:t> </a:t>
            </a:r>
            <a:r>
              <a:rPr lang="en-US" sz="850" err="1">
                <a:solidFill>
                  <a:srgbClr val="6B6800"/>
                </a:solidFill>
                <a:ea typeface="Calibri"/>
                <a:cs typeface="Calibri"/>
              </a:rPr>
              <a:t>người</a:t>
            </a:r>
            <a:r>
              <a:rPr lang="en-US" sz="850">
                <a:solidFill>
                  <a:srgbClr val="6B6800"/>
                </a:solidFill>
                <a:ea typeface="Calibri"/>
                <a:cs typeface="Calibri"/>
              </a:rPr>
              <a:t> </a:t>
            </a:r>
            <a:r>
              <a:rPr lang="en-US" sz="850" err="1">
                <a:solidFill>
                  <a:srgbClr val="6B6800"/>
                </a:solidFill>
                <a:ea typeface="Calibri"/>
                <a:cs typeface="Calibri"/>
              </a:rPr>
              <a:t>dùng</a:t>
            </a:r>
            <a:r>
              <a:rPr lang="en-US" sz="850">
                <a:solidFill>
                  <a:srgbClr val="6B6800"/>
                </a:solidFill>
                <a:ea typeface="Calibri"/>
                <a:cs typeface="Calibri"/>
              </a:rPr>
              <a:t> </a:t>
            </a:r>
            <a:r>
              <a:rPr lang="en-US" sz="850" err="1">
                <a:solidFill>
                  <a:srgbClr val="6B6800"/>
                </a:solidFill>
                <a:ea typeface="Calibri"/>
                <a:cs typeface="Calibri"/>
              </a:rPr>
              <a:t>đã</a:t>
            </a:r>
            <a:r>
              <a:rPr lang="en-US" sz="850">
                <a:solidFill>
                  <a:srgbClr val="6B6800"/>
                </a:solidFill>
                <a:ea typeface="Calibri"/>
                <a:cs typeface="Calibri"/>
              </a:rPr>
              <a:t>  </a:t>
            </a:r>
            <a:r>
              <a:rPr lang="en-US" sz="850" err="1">
                <a:solidFill>
                  <a:srgbClr val="6B6800"/>
                </a:solidFill>
                <a:ea typeface="Calibri"/>
                <a:cs typeface="Calibri"/>
              </a:rPr>
              <a:t>chọn</a:t>
            </a:r>
            <a:r>
              <a:rPr lang="en-US" sz="850">
                <a:solidFill>
                  <a:srgbClr val="6B6800"/>
                </a:solidFill>
                <a:ea typeface="Calibri"/>
                <a:cs typeface="Calibri"/>
              </a:rPr>
              <a:t>.</a:t>
            </a:r>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11</a:t>
            </a:r>
            <a:endParaRPr lang="en-US" sz="700"/>
          </a:p>
        </p:txBody>
      </p:sp>
      <p:pic>
        <p:nvPicPr>
          <p:cNvPr id="40" name="Picture 39" descr="SS-SCR-006.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FR-SF-02</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SS-SCR-008</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Kết quả — Bảng Sắp xếp (Sort)</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417576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Điểm mở</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Tap "Liên quan nhất" trên thanh sticky (SS-SCR-005 khối 2) mở bottom sheet này.</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Lớp phủ</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Nền tối 48% phủ trang kết quả. → Tap ra ngoài đóng sheet, giữ nguyên lựa chọn cũ.</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Tiêu đề &amp; nút đóng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"Sắp xếp theo" + nút (✕). Chiều cao sheet cố định, có thanh kéo (grabber) ở mép trên.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Tiêu chí đang chọn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Hàng được chọn có nền nhạt, icon màu thương hiệu và dấu ✓ bên phải. Mặc định = "Liên quan nhất" (khớp tốt nhất với từ khoá).</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Danh sách tiêu chí</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Liên quan nhất · Bán chạy nhất · Xem nhiều nhất · Giảm giá nhiều nhất · Đánh giá cao nhất · Giá từ thấp đến cao · Giá từ cao đến thấp · Tên sản phẩm (A–Z). ⚠ Danh sách phải khớp với các sort hiện có trên lottemart.vn.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Mô tả phụ</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Mỗi tiêu chí kèm một dòng giải thích ("Lượt mua cao nhất", "% khuyến mãi cao nhất") — giảm hiểu nhầm giữa các tiêu chí gần nghĩa.</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Hành vi áp dụng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Chọn tiêu chí: đóng sheet, chạy lại truy vấn, cuộn danh sách về đầu và cập nhật nhãn trên thanh sticky. Không có nút "Áp dụng" riêng.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Chỉ chọn được một tiêu chí (single-select). Bộ lọc đang áp dụng phải được giữ nguyên khi đổi cách sắp xếp.</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13</a:t>
            </a:r>
            <a:endParaRPr lang="en-US" sz="700"/>
          </a:p>
        </p:txBody>
      </p:sp>
      <p:pic>
        <p:nvPicPr>
          <p:cNvPr id="40" name="Picture 39" descr="SS-SCR-008.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FR-SF-01</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SS-SCR-009</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Kết quả — Bảng Bộ lọc (Filter)</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260892704"/>
              </p:ext>
            </p:extLst>
          </p:nvPr>
        </p:nvGraphicFramePr>
        <p:xfrm>
          <a:off x="7196328" y="886968"/>
          <a:ext cx="4544568" cy="417576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a:t>
                      </a:r>
                      <a:r>
                        <a:rPr sz="800" b="1" err="1">
                          <a:solidFill>
                            <a:srgbClr val="FFFFFF"/>
                          </a:solidFill>
                          <a:latin typeface="Calibri"/>
                        </a:rPr>
                        <a:t>phần</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err="1">
                          <a:solidFill>
                            <a:srgbClr val="FFFFFF"/>
                          </a:solidFill>
                          <a:latin typeface="Calibri"/>
                        </a:rPr>
                        <a:t>Mô</a:t>
                      </a:r>
                      <a:r>
                        <a:rPr sz="800" b="1">
                          <a:solidFill>
                            <a:srgbClr val="FFFFFF"/>
                          </a:solidFill>
                          <a:latin typeface="Calibri"/>
                        </a:rPr>
                        <a:t> </a:t>
                      </a:r>
                      <a:r>
                        <a:rPr sz="800" b="1" err="1">
                          <a:solidFill>
                            <a:srgbClr val="FFFFFF"/>
                          </a:solidFill>
                          <a:latin typeface="Calibri"/>
                        </a:rPr>
                        <a:t>tả</a:t>
                      </a:r>
                      <a:r>
                        <a:rPr sz="800" b="1">
                          <a:solidFill>
                            <a:srgbClr val="FFFFFF"/>
                          </a:solidFill>
                          <a:latin typeface="Calibri"/>
                        </a:rPr>
                        <a:t>  /  </a:t>
                      </a:r>
                      <a:r>
                        <a:rPr sz="800" b="1" err="1">
                          <a:solidFill>
                            <a:srgbClr val="FFFFFF"/>
                          </a:solidFill>
                          <a:latin typeface="Calibri"/>
                        </a:rPr>
                        <a:t>Hành</a:t>
                      </a:r>
                      <a:r>
                        <a:rPr sz="800" b="1">
                          <a:solidFill>
                            <a:srgbClr val="FFFFFF"/>
                          </a:solidFill>
                          <a:latin typeface="Calibri"/>
                        </a:rPr>
                        <a:t> vi  /  Quy </a:t>
                      </a:r>
                      <a:r>
                        <a:rPr sz="800" b="1" err="1">
                          <a:solidFill>
                            <a:srgbClr val="FFFFFF"/>
                          </a:solidFill>
                          <a:latin typeface="Calibri"/>
                        </a:rPr>
                        <a:t>tắc</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Điểm</a:t>
                      </a:r>
                      <a:r>
                        <a:rPr sz="800" b="1">
                          <a:solidFill>
                            <a:srgbClr val="222222"/>
                          </a:solidFill>
                          <a:latin typeface="Calibri"/>
                        </a:rPr>
                        <a:t> </a:t>
                      </a:r>
                      <a:r>
                        <a:rPr sz="800" b="1" err="1">
                          <a:solidFill>
                            <a:srgbClr val="222222"/>
                          </a:solidFill>
                          <a:latin typeface="Calibri"/>
                        </a:rPr>
                        <a:t>mở</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Tap "</a:t>
                      </a:r>
                      <a:r>
                        <a:rPr sz="750" b="0" err="1">
                          <a:solidFill>
                            <a:srgbClr val="555555"/>
                          </a:solidFill>
                          <a:latin typeface="Calibri"/>
                        </a:rPr>
                        <a:t>Bộ</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 </a:t>
                      </a:r>
                      <a:r>
                        <a:rPr sz="750" b="0" err="1">
                          <a:solidFill>
                            <a:srgbClr val="555555"/>
                          </a:solidFill>
                          <a:latin typeface="Calibri"/>
                        </a:rPr>
                        <a:t>trên</a:t>
                      </a:r>
                      <a:r>
                        <a:rPr sz="750" b="0">
                          <a:solidFill>
                            <a:srgbClr val="555555"/>
                          </a:solidFill>
                          <a:latin typeface="Calibri"/>
                        </a:rPr>
                        <a:t> </a:t>
                      </a:r>
                      <a:r>
                        <a:rPr sz="750" b="0" err="1">
                          <a:solidFill>
                            <a:srgbClr val="555555"/>
                          </a:solidFill>
                          <a:latin typeface="Calibri"/>
                        </a:rPr>
                        <a:t>thanh</a:t>
                      </a:r>
                      <a:r>
                        <a:rPr sz="750" b="0">
                          <a:solidFill>
                            <a:srgbClr val="555555"/>
                          </a:solidFill>
                          <a:latin typeface="Calibri"/>
                        </a:rPr>
                        <a:t> sticky </a:t>
                      </a:r>
                      <a:r>
                        <a:rPr sz="750" b="0" err="1">
                          <a:solidFill>
                            <a:srgbClr val="555555"/>
                          </a:solidFill>
                          <a:latin typeface="Calibri"/>
                        </a:rPr>
                        <a:t>mở</a:t>
                      </a:r>
                      <a:r>
                        <a:rPr sz="750" b="0">
                          <a:solidFill>
                            <a:srgbClr val="555555"/>
                          </a:solidFill>
                          <a:latin typeface="Calibri"/>
                        </a:rPr>
                        <a:t> </a:t>
                      </a:r>
                      <a:r>
                        <a:rPr sz="750" b="0" err="1">
                          <a:solidFill>
                            <a:srgbClr val="555555"/>
                          </a:solidFill>
                          <a:latin typeface="Calibri"/>
                        </a:rPr>
                        <a:t>bảng</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 </a:t>
                      </a:r>
                      <a:r>
                        <a:rPr sz="750" b="0" err="1">
                          <a:solidFill>
                            <a:srgbClr val="555555"/>
                          </a:solidFill>
                          <a:latin typeface="Calibri"/>
                        </a:rPr>
                        <a:t>đầy</a:t>
                      </a:r>
                      <a:r>
                        <a:rPr sz="750" b="0">
                          <a:solidFill>
                            <a:srgbClr val="555555"/>
                          </a:solidFill>
                          <a:latin typeface="Calibri"/>
                        </a:rPr>
                        <a:t> </a:t>
                      </a:r>
                      <a:r>
                        <a:rPr sz="750" b="0" err="1">
                          <a:solidFill>
                            <a:srgbClr val="555555"/>
                          </a:solidFill>
                          <a:latin typeface="Calibri"/>
                        </a:rPr>
                        <a:t>đủ</a:t>
                      </a:r>
                      <a:r>
                        <a:rPr sz="750" b="0">
                          <a:solidFill>
                            <a:srgbClr val="555555"/>
                          </a:solidFill>
                          <a:latin typeface="Calibri"/>
                        </a:rPr>
                        <a:t> </a:t>
                      </a:r>
                      <a:r>
                        <a:rPr sz="750" b="0" err="1">
                          <a:solidFill>
                            <a:srgbClr val="555555"/>
                          </a:solidFill>
                          <a:latin typeface="Calibri"/>
                        </a:rPr>
                        <a:t>này</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err="1">
                          <a:solidFill>
                            <a:srgbClr val="222222"/>
                          </a:solidFill>
                          <a:latin typeface="Calibri"/>
                        </a:rPr>
                        <a:t>Tiêu</a:t>
                      </a:r>
                      <a:r>
                        <a:rPr sz="800" b="1">
                          <a:solidFill>
                            <a:srgbClr val="222222"/>
                          </a:solidFill>
                          <a:latin typeface="Calibri"/>
                        </a:rPr>
                        <a:t> </a:t>
                      </a:r>
                      <a:r>
                        <a:rPr sz="800" b="1" err="1">
                          <a:solidFill>
                            <a:srgbClr val="222222"/>
                          </a:solidFill>
                          <a:latin typeface="Calibri"/>
                        </a:rPr>
                        <a:t>đề</a:t>
                      </a:r>
                      <a:r>
                        <a:rPr sz="800" b="1">
                          <a:solidFill>
                            <a:srgbClr val="222222"/>
                          </a:solidFill>
                          <a:latin typeface="Calibri"/>
                        </a:rPr>
                        <a:t> &amp; </a:t>
                      </a:r>
                      <a:r>
                        <a:rPr sz="800" b="1" err="1">
                          <a:solidFill>
                            <a:srgbClr val="222222"/>
                          </a:solidFill>
                          <a:latin typeface="Calibri"/>
                        </a:rPr>
                        <a:t>đóng</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a:t>
                      </a:r>
                      <a:r>
                        <a:rPr sz="750" b="0" err="1">
                          <a:solidFill>
                            <a:srgbClr val="555555"/>
                          </a:solidFill>
                          <a:latin typeface="Calibri"/>
                        </a:rPr>
                        <a:t>Bộ</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 + </a:t>
                      </a:r>
                      <a:r>
                        <a:rPr sz="750" b="0" err="1">
                          <a:solidFill>
                            <a:srgbClr val="555555"/>
                          </a:solidFill>
                          <a:latin typeface="Calibri"/>
                        </a:rPr>
                        <a:t>nút</a:t>
                      </a:r>
                      <a:r>
                        <a:rPr sz="750" b="0">
                          <a:solidFill>
                            <a:srgbClr val="555555"/>
                          </a:solidFill>
                          <a:latin typeface="Calibri"/>
                        </a:rPr>
                        <a:t> (✕). → </a:t>
                      </a:r>
                      <a:r>
                        <a:rPr sz="750" b="0" err="1">
                          <a:solidFill>
                            <a:srgbClr val="555555"/>
                          </a:solidFill>
                          <a:latin typeface="Calibri"/>
                        </a:rPr>
                        <a:t>Đóng</a:t>
                      </a:r>
                      <a:r>
                        <a:rPr sz="750" b="0">
                          <a:solidFill>
                            <a:srgbClr val="555555"/>
                          </a:solidFill>
                          <a:latin typeface="Calibri"/>
                        </a:rPr>
                        <a:t> </a:t>
                      </a:r>
                      <a:r>
                        <a:rPr sz="750" b="0" err="1">
                          <a:solidFill>
                            <a:srgbClr val="555555"/>
                          </a:solidFill>
                          <a:latin typeface="Calibri"/>
                        </a:rPr>
                        <a:t>mà</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áp</a:t>
                      </a:r>
                      <a:r>
                        <a:rPr sz="750" b="0">
                          <a:solidFill>
                            <a:srgbClr val="555555"/>
                          </a:solidFill>
                          <a:latin typeface="Calibri"/>
                        </a:rPr>
                        <a:t> </a:t>
                      </a:r>
                      <a:r>
                        <a:rPr sz="750" b="0" err="1">
                          <a:solidFill>
                            <a:srgbClr val="555555"/>
                          </a:solidFill>
                          <a:latin typeface="Calibri"/>
                        </a:rPr>
                        <a:t>dụng</a:t>
                      </a:r>
                      <a:r>
                        <a:rPr sz="750" b="0">
                          <a:solidFill>
                            <a:srgbClr val="555555"/>
                          </a:solidFill>
                          <a:latin typeface="Calibri"/>
                        </a:rPr>
                        <a:t> </a:t>
                      </a:r>
                      <a:r>
                        <a:rPr sz="750" b="0" err="1">
                          <a:solidFill>
                            <a:srgbClr val="555555"/>
                          </a:solidFill>
                          <a:latin typeface="Calibri"/>
                        </a:rPr>
                        <a:t>sẽ</a:t>
                      </a:r>
                      <a:r>
                        <a:rPr sz="750" b="0">
                          <a:solidFill>
                            <a:srgbClr val="555555"/>
                          </a:solidFill>
                          <a:latin typeface="Calibri"/>
                        </a:rPr>
                        <a:t> </a:t>
                      </a:r>
                      <a:r>
                        <a:rPr sz="750" b="0" err="1">
                          <a:solidFill>
                            <a:srgbClr val="555555"/>
                          </a:solidFill>
                          <a:latin typeface="Calibri"/>
                        </a:rPr>
                        <a:t>khôi</a:t>
                      </a:r>
                      <a:r>
                        <a:rPr sz="750" b="0">
                          <a:solidFill>
                            <a:srgbClr val="555555"/>
                          </a:solidFill>
                          <a:latin typeface="Calibri"/>
                        </a:rPr>
                        <a:t> </a:t>
                      </a:r>
                      <a:r>
                        <a:rPr sz="750" b="0" err="1">
                          <a:solidFill>
                            <a:srgbClr val="555555"/>
                          </a:solidFill>
                          <a:latin typeface="Calibri"/>
                        </a:rPr>
                        <a:t>phục</a:t>
                      </a:r>
                      <a:r>
                        <a:rPr sz="750" b="0">
                          <a:solidFill>
                            <a:srgbClr val="555555"/>
                          </a:solidFill>
                          <a:latin typeface="Calibri"/>
                        </a:rPr>
                        <a:t> </a:t>
                      </a:r>
                      <a:r>
                        <a:rPr sz="750" b="0" err="1">
                          <a:solidFill>
                            <a:srgbClr val="555555"/>
                          </a:solidFill>
                          <a:latin typeface="Calibri"/>
                        </a:rPr>
                        <a:t>trạng</a:t>
                      </a:r>
                      <a:r>
                        <a:rPr sz="750" b="0">
                          <a:solidFill>
                            <a:srgbClr val="555555"/>
                          </a:solidFill>
                          <a:latin typeface="Calibri"/>
                        </a:rPr>
                        <a:t> </a:t>
                      </a:r>
                      <a:r>
                        <a:rPr sz="750" b="0" err="1">
                          <a:solidFill>
                            <a:srgbClr val="555555"/>
                          </a:solidFill>
                          <a:latin typeface="Calibri"/>
                        </a:rPr>
                        <a:t>thái</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 </a:t>
                      </a:r>
                      <a:r>
                        <a:rPr sz="750" b="0" err="1">
                          <a:solidFill>
                            <a:srgbClr val="555555"/>
                          </a:solidFill>
                          <a:latin typeface="Calibri"/>
                        </a:rPr>
                        <a:t>trước</a:t>
                      </a:r>
                      <a:r>
                        <a:rPr sz="750" b="0">
                          <a:solidFill>
                            <a:srgbClr val="555555"/>
                          </a:solidFill>
                          <a:latin typeface="Calibri"/>
                        </a:rPr>
                        <a:t> </a:t>
                      </a:r>
                      <a:r>
                        <a:rPr sz="750" b="0" err="1">
                          <a:solidFill>
                            <a:srgbClr val="555555"/>
                          </a:solidFill>
                          <a:latin typeface="Calibri"/>
                        </a:rPr>
                        <a:t>đó</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Tab </a:t>
                      </a:r>
                      <a:r>
                        <a:rPr sz="800" b="1" err="1">
                          <a:solidFill>
                            <a:srgbClr val="222222"/>
                          </a:solidFill>
                          <a:latin typeface="Calibri"/>
                        </a:rPr>
                        <a:t>nhóm</a:t>
                      </a:r>
                      <a:r>
                        <a:rPr sz="800" b="1">
                          <a:solidFill>
                            <a:srgbClr val="222222"/>
                          </a:solidFill>
                          <a:latin typeface="Calibri"/>
                        </a:rPr>
                        <a:t> </a:t>
                      </a:r>
                      <a:r>
                        <a:rPr sz="800" b="1" err="1">
                          <a:solidFill>
                            <a:srgbClr val="222222"/>
                          </a:solidFill>
                          <a:latin typeface="Calibri"/>
                        </a:rPr>
                        <a:t>điều</a:t>
                      </a:r>
                      <a:r>
                        <a:rPr sz="800" b="1">
                          <a:solidFill>
                            <a:srgbClr val="222222"/>
                          </a:solidFill>
                          <a:latin typeface="Calibri"/>
                        </a:rPr>
                        <a:t> </a:t>
                      </a:r>
                      <a:r>
                        <a:rPr sz="800" b="1" err="1">
                          <a:solidFill>
                            <a:srgbClr val="222222"/>
                          </a:solidFill>
                          <a:latin typeface="Calibri"/>
                        </a:rPr>
                        <a:t>kiện</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err="1">
                          <a:solidFill>
                            <a:srgbClr val="555555"/>
                          </a:solidFill>
                          <a:latin typeface="Calibri"/>
                        </a:rPr>
                        <a:t>Cột</a:t>
                      </a:r>
                      <a:r>
                        <a:rPr sz="750" b="0">
                          <a:solidFill>
                            <a:srgbClr val="555555"/>
                          </a:solidFill>
                          <a:latin typeface="Calibri"/>
                        </a:rPr>
                        <a:t> </a:t>
                      </a:r>
                      <a:r>
                        <a:rPr sz="750" b="0" err="1">
                          <a:solidFill>
                            <a:srgbClr val="555555"/>
                          </a:solidFill>
                          <a:latin typeface="Calibri"/>
                        </a:rPr>
                        <a:t>trái</a:t>
                      </a:r>
                      <a:r>
                        <a:rPr sz="750" b="0">
                          <a:solidFill>
                            <a:srgbClr val="555555"/>
                          </a:solidFill>
                          <a:latin typeface="Calibri"/>
                        </a:rPr>
                        <a:t>: Danh </a:t>
                      </a:r>
                      <a:r>
                        <a:rPr sz="750" b="0" err="1">
                          <a:solidFill>
                            <a:srgbClr val="555555"/>
                          </a:solidFill>
                          <a:latin typeface="Calibri"/>
                        </a:rPr>
                        <a:t>mục</a:t>
                      </a:r>
                      <a:r>
                        <a:rPr sz="750" b="0">
                          <a:solidFill>
                            <a:srgbClr val="555555"/>
                          </a:solidFill>
                          <a:latin typeface="Calibri"/>
                        </a:rPr>
                        <a:t> · </a:t>
                      </a:r>
                      <a:r>
                        <a:rPr sz="750" b="0" err="1">
                          <a:solidFill>
                            <a:srgbClr val="555555"/>
                          </a:solidFill>
                          <a:latin typeface="Calibri"/>
                        </a:rPr>
                        <a:t>Nhãn</a:t>
                      </a:r>
                      <a:r>
                        <a:rPr sz="750" b="0">
                          <a:solidFill>
                            <a:srgbClr val="555555"/>
                          </a:solidFill>
                          <a:latin typeface="Calibri"/>
                        </a:rPr>
                        <a:t> · Giao </a:t>
                      </a:r>
                      <a:r>
                        <a:rPr sz="750" b="0" err="1">
                          <a:solidFill>
                            <a:srgbClr val="555555"/>
                          </a:solidFill>
                          <a:latin typeface="Calibri"/>
                        </a:rPr>
                        <a:t>hàng</a:t>
                      </a:r>
                      <a:r>
                        <a:rPr sz="750" b="0">
                          <a:solidFill>
                            <a:srgbClr val="555555"/>
                          </a:solidFill>
                          <a:latin typeface="Calibri"/>
                        </a:rPr>
                        <a:t> · </a:t>
                      </a:r>
                      <a:r>
                        <a:rPr sz="750" b="0" err="1">
                          <a:solidFill>
                            <a:srgbClr val="555555"/>
                          </a:solidFill>
                          <a:latin typeface="Calibri"/>
                        </a:rPr>
                        <a:t>Đánh</a:t>
                      </a:r>
                      <a:r>
                        <a:rPr sz="750" b="0">
                          <a:solidFill>
                            <a:srgbClr val="555555"/>
                          </a:solidFill>
                          <a:latin typeface="Calibri"/>
                        </a:rPr>
                        <a:t> </a:t>
                      </a:r>
                      <a:r>
                        <a:rPr sz="750" b="0" err="1">
                          <a:solidFill>
                            <a:srgbClr val="555555"/>
                          </a:solidFill>
                          <a:latin typeface="Calibri"/>
                        </a:rPr>
                        <a:t>giá</a:t>
                      </a:r>
                      <a:r>
                        <a:rPr sz="750" b="0">
                          <a:solidFill>
                            <a:srgbClr val="555555"/>
                          </a:solidFill>
                          <a:latin typeface="Calibri"/>
                        </a:rPr>
                        <a:t> · </a:t>
                      </a:r>
                      <a:r>
                        <a:rPr sz="750" b="0" err="1">
                          <a:solidFill>
                            <a:srgbClr val="555555"/>
                          </a:solidFill>
                          <a:latin typeface="Calibri"/>
                        </a:rPr>
                        <a:t>Giá</a:t>
                      </a:r>
                      <a:r>
                        <a:rPr sz="750" b="0">
                          <a:solidFill>
                            <a:srgbClr val="555555"/>
                          </a:solidFill>
                          <a:latin typeface="Calibri"/>
                        </a:rPr>
                        <a:t>. Tab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có</a:t>
                      </a:r>
                      <a:r>
                        <a:rPr sz="750" b="0">
                          <a:solidFill>
                            <a:srgbClr val="555555"/>
                          </a:solidFill>
                          <a:latin typeface="Calibri"/>
                        </a:rPr>
                        <a:t> </a:t>
                      </a:r>
                      <a:r>
                        <a:rPr sz="750" b="0" err="1">
                          <a:solidFill>
                            <a:srgbClr val="555555"/>
                          </a:solidFill>
                          <a:latin typeface="Calibri"/>
                        </a:rPr>
                        <a:t>gạch</a:t>
                      </a:r>
                      <a:r>
                        <a:rPr sz="750" b="0">
                          <a:solidFill>
                            <a:srgbClr val="555555"/>
                          </a:solidFill>
                          <a:latin typeface="Calibri"/>
                        </a:rPr>
                        <a:t> </a:t>
                      </a:r>
                      <a:r>
                        <a:rPr sz="750" b="0" err="1">
                          <a:solidFill>
                            <a:srgbClr val="555555"/>
                          </a:solidFill>
                          <a:latin typeface="Calibri"/>
                        </a:rPr>
                        <a:t>đỏ</a:t>
                      </a:r>
                      <a:r>
                        <a:rPr sz="750" b="0">
                          <a:solidFill>
                            <a:srgbClr val="555555"/>
                          </a:solidFill>
                          <a:latin typeface="Calibri"/>
                        </a:rPr>
                        <a:t> </a:t>
                      </a:r>
                      <a:r>
                        <a:rPr sz="750" b="0" err="1">
                          <a:solidFill>
                            <a:srgbClr val="555555"/>
                          </a:solidFill>
                          <a:latin typeface="Calibri"/>
                        </a:rPr>
                        <a:t>bên</a:t>
                      </a:r>
                      <a:r>
                        <a:rPr sz="750" b="0">
                          <a:solidFill>
                            <a:srgbClr val="555555"/>
                          </a:solidFill>
                          <a:latin typeface="Calibri"/>
                        </a:rPr>
                        <a:t> </a:t>
                      </a:r>
                      <a:r>
                        <a:rPr sz="750" b="0" err="1">
                          <a:solidFill>
                            <a:srgbClr val="555555"/>
                          </a:solidFill>
                          <a:latin typeface="Calibri"/>
                        </a:rPr>
                        <a:t>trái</a:t>
                      </a:r>
                      <a:r>
                        <a:rPr sz="750" b="0">
                          <a:solidFill>
                            <a:srgbClr val="555555"/>
                          </a:solidFill>
                          <a:latin typeface="Calibri"/>
                        </a:rPr>
                        <a:t>. ⚠ </a:t>
                      </a:r>
                      <a:r>
                        <a:rPr sz="750" b="0" err="1">
                          <a:solidFill>
                            <a:srgbClr val="555555"/>
                          </a:solidFill>
                          <a:latin typeface="Calibri"/>
                        </a:rPr>
                        <a:t>Nhóm</a:t>
                      </a:r>
                      <a:r>
                        <a:rPr sz="750" b="0">
                          <a:solidFill>
                            <a:srgbClr val="555555"/>
                          </a:solidFill>
                          <a:latin typeface="Calibri"/>
                        </a:rPr>
                        <a:t> </a:t>
                      </a:r>
                      <a:r>
                        <a:rPr sz="750" b="0" err="1">
                          <a:solidFill>
                            <a:srgbClr val="555555"/>
                          </a:solidFill>
                          <a:latin typeface="Calibri"/>
                        </a:rPr>
                        <a:t>nào</a:t>
                      </a:r>
                      <a:r>
                        <a:rPr sz="750" b="0">
                          <a:solidFill>
                            <a:srgbClr val="555555"/>
                          </a:solidFill>
                          <a:latin typeface="Calibri"/>
                        </a:rPr>
                        <a:t>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có</a:t>
                      </a:r>
                      <a:r>
                        <a:rPr sz="750" b="0">
                          <a:solidFill>
                            <a:srgbClr val="555555"/>
                          </a:solidFill>
                          <a:latin typeface="Calibri"/>
                        </a:rPr>
                        <a:t> </a:t>
                      </a:r>
                      <a:r>
                        <a:rPr sz="750" b="0" err="1">
                          <a:solidFill>
                            <a:srgbClr val="555555"/>
                          </a:solidFill>
                          <a:latin typeface="Calibri"/>
                        </a:rPr>
                        <a:t>điều</a:t>
                      </a:r>
                      <a:r>
                        <a:rPr sz="750" b="0">
                          <a:solidFill>
                            <a:srgbClr val="555555"/>
                          </a:solidFill>
                          <a:latin typeface="Calibri"/>
                        </a:rPr>
                        <a:t> </a:t>
                      </a:r>
                      <a:r>
                        <a:rPr sz="750" b="0" err="1">
                          <a:solidFill>
                            <a:srgbClr val="555555"/>
                          </a:solidFill>
                          <a:latin typeface="Calibri"/>
                        </a:rPr>
                        <a:t>kiện</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thì</a:t>
                      </a:r>
                      <a:r>
                        <a:rPr sz="750" b="0">
                          <a:solidFill>
                            <a:srgbClr val="555555"/>
                          </a:solidFill>
                          <a:latin typeface="Calibri"/>
                        </a:rPr>
                        <a:t> </a:t>
                      </a:r>
                      <a:r>
                        <a:rPr sz="750" b="0" err="1">
                          <a:solidFill>
                            <a:srgbClr val="555555"/>
                          </a:solidFill>
                          <a:latin typeface="Calibri"/>
                        </a:rPr>
                        <a:t>hiển</a:t>
                      </a:r>
                      <a:r>
                        <a:rPr sz="750" b="0">
                          <a:solidFill>
                            <a:srgbClr val="555555"/>
                          </a:solidFill>
                          <a:latin typeface="Calibri"/>
                        </a:rPr>
                        <a:t>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chấm</a:t>
                      </a:r>
                      <a:r>
                        <a:rPr sz="750" b="0">
                          <a:solidFill>
                            <a:srgbClr val="555555"/>
                          </a:solidFill>
                          <a:latin typeface="Calibri"/>
                        </a:rPr>
                        <a:t> </a:t>
                      </a:r>
                      <a:r>
                        <a:rPr sz="750" b="0" err="1">
                          <a:solidFill>
                            <a:srgbClr val="555555"/>
                          </a:solidFill>
                          <a:latin typeface="Calibri"/>
                        </a:rPr>
                        <a:t>chỉ</a:t>
                      </a:r>
                      <a:r>
                        <a:rPr sz="750" b="0">
                          <a:solidFill>
                            <a:srgbClr val="555555"/>
                          </a:solidFill>
                          <a:latin typeface="Calibri"/>
                        </a:rPr>
                        <a:t> </a:t>
                      </a:r>
                      <a:r>
                        <a:rPr sz="750" b="0" err="1">
                          <a:solidFill>
                            <a:srgbClr val="555555"/>
                          </a:solidFill>
                          <a:latin typeface="Calibri"/>
                        </a:rPr>
                        <a:t>báo</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Danh </a:t>
                      </a:r>
                      <a:r>
                        <a:rPr sz="800" b="1" err="1">
                          <a:solidFill>
                            <a:srgbClr val="222222"/>
                          </a:solidFill>
                          <a:latin typeface="Calibri"/>
                        </a:rPr>
                        <a:t>mục</a:t>
                      </a:r>
                      <a:r>
                        <a:rPr sz="800" b="1">
                          <a:solidFill>
                            <a:srgbClr val="222222"/>
                          </a:solidFill>
                          <a:latin typeface="Calibri"/>
                        </a:rPr>
                        <a:t> (Category)</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err="1">
                          <a:solidFill>
                            <a:srgbClr val="555555"/>
                          </a:solidFill>
                          <a:latin typeface="Calibri"/>
                        </a:rPr>
                        <a:t>Cấu</a:t>
                      </a:r>
                      <a:r>
                        <a:rPr sz="750" b="0">
                          <a:solidFill>
                            <a:srgbClr val="555555"/>
                          </a:solidFill>
                          <a:latin typeface="Calibri"/>
                        </a:rPr>
                        <a:t> </a:t>
                      </a:r>
                      <a:r>
                        <a:rPr sz="750" b="0" err="1">
                          <a:solidFill>
                            <a:srgbClr val="555555"/>
                          </a:solidFill>
                          <a:latin typeface="Calibri"/>
                        </a:rPr>
                        <a:t>trúc</a:t>
                      </a:r>
                      <a:r>
                        <a:rPr sz="750" b="0">
                          <a:solidFill>
                            <a:srgbClr val="555555"/>
                          </a:solidFill>
                          <a:latin typeface="Calibri"/>
                        </a:rPr>
                        <a:t> </a:t>
                      </a:r>
                      <a:r>
                        <a:rPr sz="750" b="0" err="1">
                          <a:solidFill>
                            <a:srgbClr val="555555"/>
                          </a:solidFill>
                          <a:latin typeface="Calibri"/>
                        </a:rPr>
                        <a:t>cây</a:t>
                      </a:r>
                      <a:r>
                        <a:rPr sz="750" b="0">
                          <a:solidFill>
                            <a:srgbClr val="555555"/>
                          </a:solidFill>
                          <a:latin typeface="Calibri"/>
                        </a:rPr>
                        <a:t> </a:t>
                      </a:r>
                      <a:r>
                        <a:rPr sz="750" b="0" err="1">
                          <a:solidFill>
                            <a:srgbClr val="555555"/>
                          </a:solidFill>
                          <a:latin typeface="Calibri"/>
                        </a:rPr>
                        <a:t>phân</a:t>
                      </a:r>
                      <a:r>
                        <a:rPr sz="750" b="0">
                          <a:solidFill>
                            <a:srgbClr val="555555"/>
                          </a:solidFill>
                          <a:latin typeface="Calibri"/>
                        </a:rPr>
                        <a:t> </a:t>
                      </a:r>
                      <a:r>
                        <a:rPr sz="750" b="0" err="1">
                          <a:solidFill>
                            <a:srgbClr val="555555"/>
                          </a:solidFill>
                          <a:latin typeface="Calibri"/>
                        </a:rPr>
                        <a:t>cấp</a:t>
                      </a:r>
                      <a:r>
                        <a:rPr sz="750" b="0">
                          <a:solidFill>
                            <a:srgbClr val="555555"/>
                          </a:solidFill>
                          <a:latin typeface="Calibri"/>
                        </a:rPr>
                        <a:t>, </a:t>
                      </a:r>
                      <a:r>
                        <a:rPr sz="750" b="0" err="1">
                          <a:solidFill>
                            <a:srgbClr val="555555"/>
                          </a:solidFill>
                          <a:latin typeface="Calibri"/>
                        </a:rPr>
                        <a:t>độc</a:t>
                      </a:r>
                      <a:r>
                        <a:rPr sz="750" b="0">
                          <a:solidFill>
                            <a:srgbClr val="555555"/>
                          </a:solidFill>
                          <a:latin typeface="Calibri"/>
                        </a:rPr>
                        <a:t> </a:t>
                      </a:r>
                      <a:r>
                        <a:rPr sz="750" b="0" err="1">
                          <a:solidFill>
                            <a:srgbClr val="555555"/>
                          </a:solidFill>
                          <a:latin typeface="Calibri"/>
                        </a:rPr>
                        <a:t>quyền</a:t>
                      </a:r>
                      <a:r>
                        <a:rPr sz="750" b="0">
                          <a:solidFill>
                            <a:srgbClr val="555555"/>
                          </a:solidFill>
                          <a:latin typeface="Calibri"/>
                        </a:rPr>
                        <a:t> (</a:t>
                      </a:r>
                      <a:r>
                        <a:rPr sz="750" b="0" err="1">
                          <a:solidFill>
                            <a:srgbClr val="555555"/>
                          </a:solidFill>
                          <a:latin typeface="Calibri"/>
                        </a:rPr>
                        <a:t>một</a:t>
                      </a:r>
                      <a:r>
                        <a:rPr sz="750" b="0">
                          <a:solidFill>
                            <a:srgbClr val="555555"/>
                          </a:solidFill>
                          <a:latin typeface="Calibri"/>
                        </a:rPr>
                        <a:t> </a:t>
                      </a:r>
                      <a:r>
                        <a:rPr sz="750" b="0" err="1">
                          <a:solidFill>
                            <a:srgbClr val="555555"/>
                          </a:solidFill>
                          <a:latin typeface="Calibri"/>
                        </a:rPr>
                        <a:t>sản</a:t>
                      </a:r>
                      <a:r>
                        <a:rPr sz="750" b="0">
                          <a:solidFill>
                            <a:srgbClr val="555555"/>
                          </a:solidFill>
                          <a:latin typeface="Calibri"/>
                        </a:rPr>
                        <a:t> </a:t>
                      </a:r>
                      <a:r>
                        <a:rPr sz="750" b="0" err="1">
                          <a:solidFill>
                            <a:srgbClr val="555555"/>
                          </a:solidFill>
                          <a:latin typeface="Calibri"/>
                        </a:rPr>
                        <a:t>phẩm</a:t>
                      </a:r>
                      <a:r>
                        <a:rPr sz="750" b="0">
                          <a:solidFill>
                            <a:srgbClr val="555555"/>
                          </a:solidFill>
                          <a:latin typeface="Calibri"/>
                        </a:rPr>
                        <a:t> </a:t>
                      </a:r>
                      <a:r>
                        <a:rPr sz="750" b="0" err="1">
                          <a:solidFill>
                            <a:srgbClr val="555555"/>
                          </a:solidFill>
                          <a:latin typeface="Calibri"/>
                        </a:rPr>
                        <a:t>thuộc</a:t>
                      </a:r>
                      <a:r>
                        <a:rPr sz="750" b="0">
                          <a:solidFill>
                            <a:srgbClr val="555555"/>
                          </a:solidFill>
                          <a:latin typeface="Calibri"/>
                        </a:rPr>
                        <a:t> </a:t>
                      </a:r>
                      <a:r>
                        <a:rPr sz="750" b="0" err="1">
                          <a:solidFill>
                            <a:srgbClr val="555555"/>
                          </a:solidFill>
                          <a:latin typeface="Calibri"/>
                        </a:rPr>
                        <a:t>một</a:t>
                      </a:r>
                      <a:r>
                        <a:rPr sz="750" b="0">
                          <a:solidFill>
                            <a:srgbClr val="555555"/>
                          </a:solidFill>
                          <a:latin typeface="Calibri"/>
                        </a:rPr>
                        <a:t> </a:t>
                      </a:r>
                      <a:r>
                        <a:rPr sz="750" b="0" err="1">
                          <a:solidFill>
                            <a:srgbClr val="555555"/>
                          </a:solidFill>
                          <a:latin typeface="Calibri"/>
                        </a:rPr>
                        <a:t>nhánh</a:t>
                      </a:r>
                      <a:r>
                        <a:rPr sz="750" b="0">
                          <a:solidFill>
                            <a:srgbClr val="555555"/>
                          </a:solidFill>
                          <a:latin typeface="Calibri"/>
                        </a:rPr>
                        <a:t>). Hiển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mũi</a:t>
                      </a:r>
                      <a:r>
                        <a:rPr sz="750" b="0">
                          <a:solidFill>
                            <a:srgbClr val="555555"/>
                          </a:solidFill>
                          <a:latin typeface="Calibri"/>
                        </a:rPr>
                        <a:t> </a:t>
                      </a:r>
                      <a:r>
                        <a:rPr sz="750" b="0" err="1">
                          <a:solidFill>
                            <a:srgbClr val="555555"/>
                          </a:solidFill>
                          <a:latin typeface="Calibri"/>
                        </a:rPr>
                        <a:t>tên</a:t>
                      </a:r>
                      <a:r>
                        <a:rPr sz="750" b="0">
                          <a:solidFill>
                            <a:srgbClr val="555555"/>
                          </a:solidFill>
                          <a:latin typeface="Calibri"/>
                        </a:rPr>
                        <a:t> (›)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mở</a:t>
                      </a:r>
                      <a:r>
                        <a:rPr sz="750" b="0">
                          <a:solidFill>
                            <a:srgbClr val="555555"/>
                          </a:solidFill>
                          <a:latin typeface="Calibri"/>
                        </a:rPr>
                        <a:t> </a:t>
                      </a:r>
                      <a:r>
                        <a:rPr sz="750" b="0" err="1">
                          <a:solidFill>
                            <a:srgbClr val="555555"/>
                          </a:solidFill>
                          <a:latin typeface="Calibri"/>
                        </a:rPr>
                        <a:t>cấp</a:t>
                      </a:r>
                      <a:r>
                        <a:rPr sz="750" b="0">
                          <a:solidFill>
                            <a:srgbClr val="555555"/>
                          </a:solidFill>
                          <a:latin typeface="Calibri"/>
                        </a:rPr>
                        <a:t> con: </a:t>
                      </a:r>
                      <a:r>
                        <a:rPr sz="750" b="0" err="1">
                          <a:solidFill>
                            <a:srgbClr val="555555"/>
                          </a:solidFill>
                          <a:latin typeface="Calibri"/>
                        </a:rPr>
                        <a:t>Thực</a:t>
                      </a:r>
                      <a:r>
                        <a:rPr sz="750" b="0">
                          <a:solidFill>
                            <a:srgbClr val="555555"/>
                          </a:solidFill>
                          <a:latin typeface="Calibri"/>
                        </a:rPr>
                        <a:t> </a:t>
                      </a:r>
                      <a:r>
                        <a:rPr sz="750" b="0" err="1">
                          <a:solidFill>
                            <a:srgbClr val="555555"/>
                          </a:solidFill>
                          <a:latin typeface="Calibri"/>
                        </a:rPr>
                        <a:t>phẩm</a:t>
                      </a:r>
                      <a:r>
                        <a:rPr sz="750" b="0">
                          <a:solidFill>
                            <a:srgbClr val="555555"/>
                          </a:solidFill>
                          <a:latin typeface="Calibri"/>
                        </a:rPr>
                        <a:t> &amp; </a:t>
                      </a:r>
                      <a:r>
                        <a:rPr sz="750" b="0" err="1">
                          <a:solidFill>
                            <a:srgbClr val="555555"/>
                          </a:solidFill>
                          <a:latin typeface="Calibri"/>
                        </a:rPr>
                        <a:t>Đồ</a:t>
                      </a:r>
                      <a:r>
                        <a:rPr sz="750" b="0">
                          <a:solidFill>
                            <a:srgbClr val="555555"/>
                          </a:solidFill>
                          <a:latin typeface="Calibri"/>
                        </a:rPr>
                        <a:t> </a:t>
                      </a:r>
                      <a:r>
                        <a:rPr sz="750" b="0" err="1">
                          <a:solidFill>
                            <a:srgbClr val="555555"/>
                          </a:solidFill>
                          <a:latin typeface="Calibri"/>
                        </a:rPr>
                        <a:t>uống</a:t>
                      </a:r>
                      <a:r>
                        <a:rPr sz="750" b="0">
                          <a:solidFill>
                            <a:srgbClr val="555555"/>
                          </a:solidFill>
                          <a:latin typeface="Calibri"/>
                        </a:rPr>
                        <a:t> · </a:t>
                      </a:r>
                      <a:r>
                        <a:rPr sz="750" b="0" err="1">
                          <a:solidFill>
                            <a:srgbClr val="555555"/>
                          </a:solidFill>
                          <a:latin typeface="Calibri"/>
                        </a:rPr>
                        <a:t>Mẹ</a:t>
                      </a:r>
                      <a:r>
                        <a:rPr sz="750" b="0">
                          <a:solidFill>
                            <a:srgbClr val="555555"/>
                          </a:solidFill>
                          <a:latin typeface="Calibri"/>
                        </a:rPr>
                        <a:t> &amp; </a:t>
                      </a:r>
                      <a:r>
                        <a:rPr sz="750" b="0" err="1">
                          <a:solidFill>
                            <a:srgbClr val="555555"/>
                          </a:solidFill>
                          <a:latin typeface="Calibri"/>
                        </a:rPr>
                        <a:t>Bé</a:t>
                      </a:r>
                      <a:r>
                        <a:rPr sz="750" b="0">
                          <a:solidFill>
                            <a:srgbClr val="555555"/>
                          </a:solidFill>
                          <a:latin typeface="Calibri"/>
                        </a:rPr>
                        <a:t> · Tươi </a:t>
                      </a:r>
                      <a:r>
                        <a:rPr sz="750" b="0" err="1">
                          <a:solidFill>
                            <a:srgbClr val="555555"/>
                          </a:solidFill>
                          <a:latin typeface="Calibri"/>
                        </a:rPr>
                        <a:t>sống</a:t>
                      </a:r>
                      <a:r>
                        <a:rPr sz="750" b="0">
                          <a:solidFill>
                            <a:srgbClr val="555555"/>
                          </a:solidFill>
                          <a:latin typeface="Calibri"/>
                        </a:rPr>
                        <a:t> · Gia </a:t>
                      </a:r>
                      <a:r>
                        <a:rPr sz="750" b="0" err="1">
                          <a:solidFill>
                            <a:srgbClr val="555555"/>
                          </a:solidFill>
                          <a:latin typeface="Calibri"/>
                        </a:rPr>
                        <a:t>dụng</a:t>
                      </a:r>
                      <a:r>
                        <a:rPr sz="750" b="0">
                          <a:solidFill>
                            <a:srgbClr val="555555"/>
                          </a:solidFill>
                          <a:latin typeface="Calibri"/>
                        </a:rPr>
                        <a:t> &amp; </a:t>
                      </a:r>
                      <a:r>
                        <a:rPr sz="750" b="0" err="1">
                          <a:solidFill>
                            <a:srgbClr val="555555"/>
                          </a:solidFill>
                          <a:latin typeface="Calibri"/>
                        </a:rPr>
                        <a:t>Tẩy</a:t>
                      </a:r>
                      <a:r>
                        <a:rPr sz="750" b="0">
                          <a:solidFill>
                            <a:srgbClr val="555555"/>
                          </a:solidFill>
                          <a:latin typeface="Calibri"/>
                        </a:rPr>
                        <a:t> </a:t>
                      </a:r>
                      <a:r>
                        <a:rPr sz="750" b="0" err="1">
                          <a:solidFill>
                            <a:srgbClr val="555555"/>
                          </a:solidFill>
                          <a:latin typeface="Calibri"/>
                        </a:rPr>
                        <a:t>rửa</a:t>
                      </a:r>
                      <a:r>
                        <a:rPr sz="750" b="0">
                          <a:solidFill>
                            <a:srgbClr val="555555"/>
                          </a:solidFill>
                          <a:latin typeface="Calibri"/>
                        </a:rPr>
                        <a:t> · Chăm </a:t>
                      </a:r>
                      <a:r>
                        <a:rPr sz="750" b="0" err="1">
                          <a:solidFill>
                            <a:srgbClr val="555555"/>
                          </a:solidFill>
                          <a:latin typeface="Calibri"/>
                        </a:rPr>
                        <a:t>sóc</a:t>
                      </a:r>
                      <a:r>
                        <a:rPr sz="750" b="0">
                          <a:solidFill>
                            <a:srgbClr val="555555"/>
                          </a:solidFill>
                          <a:latin typeface="Calibri"/>
                        </a:rPr>
                        <a:t> </a:t>
                      </a:r>
                      <a:r>
                        <a:rPr sz="750" b="0" err="1">
                          <a:solidFill>
                            <a:srgbClr val="555555"/>
                          </a:solidFill>
                          <a:latin typeface="Calibri"/>
                        </a:rPr>
                        <a:t>cá</a:t>
                      </a:r>
                      <a:r>
                        <a:rPr sz="750" b="0">
                          <a:solidFill>
                            <a:srgbClr val="555555"/>
                          </a:solidFill>
                          <a:latin typeface="Calibri"/>
                        </a:rPr>
                        <a:t> </a:t>
                      </a:r>
                      <a:r>
                        <a:rPr sz="750" b="0" err="1">
                          <a:solidFill>
                            <a:srgbClr val="555555"/>
                          </a:solidFill>
                          <a:latin typeface="Calibri"/>
                        </a:rPr>
                        <a:t>nhân</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Nhãn (Tag)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err="1">
                          <a:solidFill>
                            <a:srgbClr val="555555"/>
                          </a:solidFill>
                          <a:latin typeface="Calibri"/>
                        </a:rPr>
                        <a:t>Cấu</a:t>
                      </a:r>
                      <a:r>
                        <a:rPr sz="750" b="0">
                          <a:solidFill>
                            <a:srgbClr val="555555"/>
                          </a:solidFill>
                          <a:latin typeface="Calibri"/>
                        </a:rPr>
                        <a:t> </a:t>
                      </a:r>
                      <a:r>
                        <a:rPr sz="750" b="0" err="1">
                          <a:solidFill>
                            <a:srgbClr val="555555"/>
                          </a:solidFill>
                          <a:latin typeface="Calibri"/>
                        </a:rPr>
                        <a:t>trúc</a:t>
                      </a:r>
                      <a:r>
                        <a:rPr sz="750" b="0">
                          <a:solidFill>
                            <a:srgbClr val="555555"/>
                          </a:solidFill>
                          <a:latin typeface="Calibri"/>
                        </a:rPr>
                        <a:t> </a:t>
                      </a:r>
                      <a:r>
                        <a:rPr sz="750" b="0" err="1">
                          <a:solidFill>
                            <a:srgbClr val="555555"/>
                          </a:solidFill>
                          <a:latin typeface="Calibri"/>
                        </a:rPr>
                        <a:t>phẳng</a:t>
                      </a:r>
                      <a:r>
                        <a:rPr sz="750" b="0">
                          <a:solidFill>
                            <a:srgbClr val="555555"/>
                          </a:solidFill>
                          <a:latin typeface="Calibri"/>
                        </a:rPr>
                        <a:t>, </a:t>
                      </a:r>
                      <a:r>
                        <a:rPr sz="750" b="0" err="1">
                          <a:solidFill>
                            <a:srgbClr val="555555"/>
                          </a:solidFill>
                          <a:latin typeface="Calibri"/>
                        </a:rPr>
                        <a:t>nhiều-nhiều</a:t>
                      </a:r>
                      <a:r>
                        <a:rPr sz="750" b="0">
                          <a:solidFill>
                            <a:srgbClr val="555555"/>
                          </a:solidFill>
                          <a:latin typeface="Calibri"/>
                        </a:rPr>
                        <a:t> — </a:t>
                      </a:r>
                      <a:r>
                        <a:rPr sz="750" b="0" err="1">
                          <a:solidFill>
                            <a:srgbClr val="555555"/>
                          </a:solidFill>
                          <a:latin typeface="Calibri"/>
                        </a:rPr>
                        <a:t>một</a:t>
                      </a:r>
                      <a:r>
                        <a:rPr sz="750" b="0">
                          <a:solidFill>
                            <a:srgbClr val="555555"/>
                          </a:solidFill>
                          <a:latin typeface="Calibri"/>
                        </a:rPr>
                        <a:t> </a:t>
                      </a:r>
                      <a:r>
                        <a:rPr sz="750" b="0" err="1">
                          <a:solidFill>
                            <a:srgbClr val="555555"/>
                          </a:solidFill>
                          <a:latin typeface="Calibri"/>
                        </a:rPr>
                        <a:t>sản</a:t>
                      </a:r>
                      <a:r>
                        <a:rPr sz="750" b="0">
                          <a:solidFill>
                            <a:srgbClr val="555555"/>
                          </a:solidFill>
                          <a:latin typeface="Calibri"/>
                        </a:rPr>
                        <a:t> </a:t>
                      </a:r>
                      <a:r>
                        <a:rPr sz="750" b="0" err="1">
                          <a:solidFill>
                            <a:srgbClr val="555555"/>
                          </a:solidFill>
                          <a:latin typeface="Calibri"/>
                        </a:rPr>
                        <a:t>phẩm</a:t>
                      </a:r>
                      <a:r>
                        <a:rPr sz="750" b="0">
                          <a:solidFill>
                            <a:srgbClr val="555555"/>
                          </a:solidFill>
                          <a:latin typeface="Calibri"/>
                        </a:rPr>
                        <a:t> </a:t>
                      </a:r>
                      <a:r>
                        <a:rPr sz="750" b="0" err="1">
                          <a:solidFill>
                            <a:srgbClr val="555555"/>
                          </a:solidFill>
                          <a:latin typeface="Calibri"/>
                        </a:rPr>
                        <a:t>có</a:t>
                      </a:r>
                      <a:r>
                        <a:rPr sz="750" b="0">
                          <a:solidFill>
                            <a:srgbClr val="555555"/>
                          </a:solidFill>
                          <a:latin typeface="Calibri"/>
                        </a:rPr>
                        <a:t> 0..N tag. Chip </a:t>
                      </a:r>
                      <a:r>
                        <a:rPr sz="750" b="0" err="1">
                          <a:solidFill>
                            <a:srgbClr val="555555"/>
                          </a:solidFill>
                          <a:latin typeface="Calibri"/>
                        </a:rPr>
                        <a:t>đa</a:t>
                      </a:r>
                      <a:r>
                        <a:rPr sz="750" b="0">
                          <a:solidFill>
                            <a:srgbClr val="555555"/>
                          </a:solidFill>
                          <a:latin typeface="Calibri"/>
                        </a:rPr>
                        <a:t> </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đường</a:t>
                      </a:r>
                      <a:r>
                        <a:rPr sz="750" b="0">
                          <a:solidFill>
                            <a:srgbClr val="555555"/>
                          </a:solidFill>
                          <a:latin typeface="Calibri"/>
                        </a:rPr>
                        <a:t> · </a:t>
                      </a:r>
                      <a:r>
                        <a:rPr sz="750" b="0" err="1">
                          <a:solidFill>
                            <a:srgbClr val="555555"/>
                          </a:solidFill>
                          <a:latin typeface="Calibri"/>
                        </a:rPr>
                        <a:t>Ít</a:t>
                      </a:r>
                      <a:r>
                        <a:rPr sz="750" b="0">
                          <a:solidFill>
                            <a:srgbClr val="555555"/>
                          </a:solidFill>
                          <a:latin typeface="Calibri"/>
                        </a:rPr>
                        <a:t> </a:t>
                      </a:r>
                      <a:r>
                        <a:rPr sz="750" b="0" err="1">
                          <a:solidFill>
                            <a:srgbClr val="555555"/>
                          </a:solidFill>
                          <a:latin typeface="Calibri"/>
                        </a:rPr>
                        <a:t>đường</a:t>
                      </a:r>
                      <a:r>
                        <a:rPr sz="750" b="0">
                          <a:solidFill>
                            <a:srgbClr val="555555"/>
                          </a:solidFill>
                          <a:latin typeface="Calibri"/>
                        </a:rPr>
                        <a:t> · Hữu </a:t>
                      </a:r>
                      <a:r>
                        <a:rPr sz="750" b="0" err="1">
                          <a:solidFill>
                            <a:srgbClr val="555555"/>
                          </a:solidFill>
                          <a:latin typeface="Calibri"/>
                        </a:rPr>
                        <a:t>cơ</a:t>
                      </a:r>
                      <a:r>
                        <a:rPr sz="750" b="0">
                          <a:solidFill>
                            <a:srgbClr val="555555"/>
                          </a:solidFill>
                          <a:latin typeface="Calibri"/>
                        </a:rPr>
                        <a:t> · </a:t>
                      </a:r>
                      <a:r>
                        <a:rPr sz="750" b="0" err="1">
                          <a:solidFill>
                            <a:srgbClr val="555555"/>
                          </a:solidFill>
                          <a:latin typeface="Calibri"/>
                        </a:rPr>
                        <a:t>Nhập</a:t>
                      </a:r>
                      <a:r>
                        <a:rPr sz="750" b="0">
                          <a:solidFill>
                            <a:srgbClr val="555555"/>
                          </a:solidFill>
                          <a:latin typeface="Calibri"/>
                        </a:rPr>
                        <a:t> </a:t>
                      </a:r>
                      <a:r>
                        <a:rPr sz="750" b="0" err="1">
                          <a:solidFill>
                            <a:srgbClr val="555555"/>
                          </a:solidFill>
                          <a:latin typeface="Calibri"/>
                        </a:rPr>
                        <a:t>khẩu</a:t>
                      </a:r>
                      <a:r>
                        <a:rPr sz="750" b="0">
                          <a:solidFill>
                            <a:srgbClr val="555555"/>
                          </a:solidFill>
                          <a:latin typeface="Calibri"/>
                        </a:rPr>
                        <a:t> · Tiệt </a:t>
                      </a:r>
                      <a:r>
                        <a:rPr sz="750" b="0" err="1">
                          <a:solidFill>
                            <a:srgbClr val="555555"/>
                          </a:solidFill>
                          <a:latin typeface="Calibri"/>
                        </a:rPr>
                        <a:t>trùng</a:t>
                      </a:r>
                      <a:r>
                        <a:rPr sz="750" b="0">
                          <a:solidFill>
                            <a:srgbClr val="555555"/>
                          </a:solidFill>
                          <a:latin typeface="Calibri"/>
                        </a:rPr>
                        <a:t> · Thanh </a:t>
                      </a:r>
                      <a:r>
                        <a:rPr sz="750" b="0" err="1">
                          <a:solidFill>
                            <a:srgbClr val="555555"/>
                          </a:solidFill>
                          <a:latin typeface="Calibri"/>
                        </a:rPr>
                        <a:t>trùng</a:t>
                      </a:r>
                      <a:r>
                        <a:rPr sz="750" b="0">
                          <a:solidFill>
                            <a:srgbClr val="555555"/>
                          </a:solidFill>
                          <a:latin typeface="Calibri"/>
                        </a:rPr>
                        <a:t> · Sắp </a:t>
                      </a:r>
                      <a:r>
                        <a:rPr sz="750" b="0" err="1">
                          <a:solidFill>
                            <a:srgbClr val="555555"/>
                          </a:solidFill>
                          <a:latin typeface="Calibri"/>
                        </a:rPr>
                        <a:t>hết</a:t>
                      </a:r>
                      <a:r>
                        <a:rPr sz="750" b="0">
                          <a:solidFill>
                            <a:srgbClr val="555555"/>
                          </a:solidFill>
                          <a:latin typeface="Calibri"/>
                        </a:rPr>
                        <a:t> </a:t>
                      </a:r>
                      <a:r>
                        <a:rPr sz="750" b="0" err="1">
                          <a:solidFill>
                            <a:srgbClr val="555555"/>
                          </a:solidFill>
                          <a:latin typeface="Calibri"/>
                        </a:rPr>
                        <a:t>hàng</a:t>
                      </a:r>
                      <a:r>
                        <a:rPr sz="750" b="0">
                          <a:solidFill>
                            <a:srgbClr val="555555"/>
                          </a:solidFill>
                          <a:latin typeface="Calibri"/>
                        </a:rPr>
                        <a:t> · Flash sale · Tặng </a:t>
                      </a:r>
                      <a:r>
                        <a:rPr sz="750" b="0" err="1">
                          <a:solidFill>
                            <a:srgbClr val="555555"/>
                          </a:solidFill>
                          <a:latin typeface="Calibri"/>
                        </a:rPr>
                        <a:t>kèm</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Giao </a:t>
                      </a:r>
                      <a:r>
                        <a:rPr sz="800" b="1" err="1">
                          <a:solidFill>
                            <a:srgbClr val="222222"/>
                          </a:solidFill>
                          <a:latin typeface="Calibri"/>
                        </a:rPr>
                        <a:t>hàng</a:t>
                      </a:r>
                      <a:r>
                        <a:rPr sz="800" b="1">
                          <a:solidFill>
                            <a:srgbClr val="222222"/>
                          </a:solidFill>
                          <a:latin typeface="Calibri"/>
                        </a:rPr>
                        <a:t> &amp; </a:t>
                      </a:r>
                      <a:r>
                        <a:rPr sz="800" b="1" err="1">
                          <a:solidFill>
                            <a:srgbClr val="222222"/>
                          </a:solidFill>
                          <a:latin typeface="Calibri"/>
                        </a:rPr>
                        <a:t>các</a:t>
                      </a:r>
                      <a:r>
                        <a:rPr sz="800" b="1">
                          <a:solidFill>
                            <a:srgbClr val="222222"/>
                          </a:solidFill>
                          <a:latin typeface="Calibri"/>
                        </a:rPr>
                        <a:t> </a:t>
                      </a:r>
                      <a:r>
                        <a:rPr sz="800" b="1" err="1">
                          <a:solidFill>
                            <a:srgbClr val="222222"/>
                          </a:solidFill>
                          <a:latin typeface="Calibri"/>
                        </a:rPr>
                        <a:t>nhóm</a:t>
                      </a:r>
                      <a:r>
                        <a:rPr sz="800" b="1">
                          <a:solidFill>
                            <a:srgbClr val="222222"/>
                          </a:solidFill>
                          <a:latin typeface="Calibri"/>
                        </a:rPr>
                        <a:t> </a:t>
                      </a:r>
                      <a:r>
                        <a:rPr sz="800" b="1" err="1">
                          <a:solidFill>
                            <a:srgbClr val="222222"/>
                          </a:solidFill>
                          <a:latin typeface="Calibri"/>
                        </a:rPr>
                        <a:t>khác</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Checkbox "Giao </a:t>
                      </a:r>
                      <a:r>
                        <a:rPr sz="750" b="0" err="1">
                          <a:solidFill>
                            <a:srgbClr val="555555"/>
                          </a:solidFill>
                          <a:latin typeface="Calibri"/>
                        </a:rPr>
                        <a:t>hàng</a:t>
                      </a:r>
                      <a:r>
                        <a:rPr sz="750" b="0">
                          <a:solidFill>
                            <a:srgbClr val="555555"/>
                          </a:solidFill>
                          <a:latin typeface="Calibri"/>
                        </a:rPr>
                        <a:t> </a:t>
                      </a:r>
                      <a:r>
                        <a:rPr sz="750" b="0" err="1">
                          <a:solidFill>
                            <a:srgbClr val="555555"/>
                          </a:solidFill>
                          <a:latin typeface="Calibri"/>
                        </a:rPr>
                        <a:t>tiêu</a:t>
                      </a:r>
                      <a:r>
                        <a:rPr sz="750" b="0">
                          <a:solidFill>
                            <a:srgbClr val="555555"/>
                          </a:solidFill>
                          <a:latin typeface="Calibri"/>
                        </a:rPr>
                        <a:t> </a:t>
                      </a:r>
                      <a:r>
                        <a:rPr sz="750" b="0" err="1">
                          <a:solidFill>
                            <a:srgbClr val="555555"/>
                          </a:solidFill>
                          <a:latin typeface="Calibri"/>
                        </a:rPr>
                        <a:t>chuẩn</a:t>
                      </a:r>
                      <a:r>
                        <a:rPr sz="750" b="0">
                          <a:solidFill>
                            <a:srgbClr val="555555"/>
                          </a:solidFill>
                          <a:latin typeface="Calibri"/>
                        </a:rPr>
                        <a:t>"; </a:t>
                      </a:r>
                      <a:r>
                        <a:rPr sz="750" b="0" err="1">
                          <a:solidFill>
                            <a:srgbClr val="555555"/>
                          </a:solidFill>
                          <a:latin typeface="Calibri"/>
                        </a:rPr>
                        <a:t>các</a:t>
                      </a:r>
                      <a:r>
                        <a:rPr sz="750" b="0">
                          <a:solidFill>
                            <a:srgbClr val="555555"/>
                          </a:solidFill>
                          <a:latin typeface="Calibri"/>
                        </a:rPr>
                        <a:t> </a:t>
                      </a:r>
                      <a:r>
                        <a:rPr sz="750" b="0" err="1">
                          <a:solidFill>
                            <a:srgbClr val="555555"/>
                          </a:solidFill>
                          <a:latin typeface="Calibri"/>
                        </a:rPr>
                        <a:t>nhóm</a:t>
                      </a:r>
                      <a:r>
                        <a:rPr sz="750" b="0">
                          <a:solidFill>
                            <a:srgbClr val="555555"/>
                          </a:solidFill>
                          <a:latin typeface="Calibri"/>
                        </a:rPr>
                        <a:t> Đánh </a:t>
                      </a:r>
                      <a:r>
                        <a:rPr sz="750" b="0" err="1">
                          <a:solidFill>
                            <a:srgbClr val="555555"/>
                          </a:solidFill>
                          <a:latin typeface="Calibri"/>
                        </a:rPr>
                        <a:t>giá</a:t>
                      </a:r>
                      <a:r>
                        <a:rPr sz="750" b="0">
                          <a:solidFill>
                            <a:srgbClr val="555555"/>
                          </a:solidFill>
                          <a:latin typeface="Calibri"/>
                        </a:rPr>
                        <a:t> </a:t>
                      </a:r>
                      <a:r>
                        <a:rPr sz="750" b="0" err="1">
                          <a:solidFill>
                            <a:srgbClr val="555555"/>
                          </a:solidFill>
                          <a:latin typeface="Calibri"/>
                        </a:rPr>
                        <a:t>và</a:t>
                      </a:r>
                      <a:r>
                        <a:rPr sz="750" b="0">
                          <a:solidFill>
                            <a:srgbClr val="555555"/>
                          </a:solidFill>
                          <a:latin typeface="Calibri"/>
                        </a:rPr>
                        <a:t> Giá </a:t>
                      </a:r>
                      <a:r>
                        <a:rPr sz="750" b="0" err="1">
                          <a:solidFill>
                            <a:srgbClr val="555555"/>
                          </a:solidFill>
                          <a:latin typeface="Calibri"/>
                        </a:rPr>
                        <a:t>dùng</a:t>
                      </a:r>
                      <a:r>
                        <a:rPr sz="750" b="0">
                          <a:solidFill>
                            <a:srgbClr val="555555"/>
                          </a:solidFill>
                          <a:latin typeface="Calibri"/>
                        </a:rPr>
                        <a:t> </a:t>
                      </a:r>
                      <a:r>
                        <a:rPr sz="750" b="0" err="1">
                          <a:solidFill>
                            <a:srgbClr val="555555"/>
                          </a:solidFill>
                          <a:latin typeface="Calibri"/>
                        </a:rPr>
                        <a:t>lần</a:t>
                      </a:r>
                      <a:r>
                        <a:rPr sz="750" b="0">
                          <a:solidFill>
                            <a:srgbClr val="555555"/>
                          </a:solidFill>
                          <a:latin typeface="Calibri"/>
                        </a:rPr>
                        <a:t> </a:t>
                      </a:r>
                      <a:r>
                        <a:rPr sz="750" b="0" err="1">
                          <a:solidFill>
                            <a:srgbClr val="555555"/>
                          </a:solidFill>
                          <a:latin typeface="Calibri"/>
                        </a:rPr>
                        <a:t>lượt</a:t>
                      </a:r>
                      <a:r>
                        <a:rPr sz="750" b="0">
                          <a:solidFill>
                            <a:srgbClr val="555555"/>
                          </a:solidFill>
                          <a:latin typeface="Calibri"/>
                        </a:rPr>
                        <a:t> thang </a:t>
                      </a:r>
                      <a:r>
                        <a:rPr sz="750" b="0" err="1">
                          <a:solidFill>
                            <a:srgbClr val="555555"/>
                          </a:solidFill>
                          <a:latin typeface="Calibri"/>
                        </a:rPr>
                        <a:t>sao</a:t>
                      </a:r>
                      <a:r>
                        <a:rPr sz="750" b="0">
                          <a:solidFill>
                            <a:srgbClr val="555555"/>
                          </a:solidFill>
                          <a:latin typeface="Calibri"/>
                        </a:rPr>
                        <a:t>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khoảng</a:t>
                      </a:r>
                      <a:r>
                        <a:rPr sz="750" b="0">
                          <a:solidFill>
                            <a:srgbClr val="555555"/>
                          </a:solidFill>
                          <a:latin typeface="Calibri"/>
                        </a:rPr>
                        <a:t> </a:t>
                      </a:r>
                      <a:r>
                        <a:rPr sz="750" b="0" err="1">
                          <a:solidFill>
                            <a:srgbClr val="555555"/>
                          </a:solidFill>
                          <a:latin typeface="Calibri"/>
                        </a:rPr>
                        <a:t>giá</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Hành</a:t>
                      </a:r>
                      <a:r>
                        <a:rPr sz="800" b="1">
                          <a:solidFill>
                            <a:srgbClr val="222222"/>
                          </a:solidFill>
                          <a:latin typeface="Calibri"/>
                        </a:rPr>
                        <a:t> </a:t>
                      </a:r>
                      <a:r>
                        <a:rPr sz="800" b="1" err="1">
                          <a:solidFill>
                            <a:srgbClr val="222222"/>
                          </a:solidFill>
                          <a:latin typeface="Calibri"/>
                        </a:rPr>
                        <a:t>động</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750" b="0" err="1">
                          <a:solidFill>
                            <a:srgbClr val="555555"/>
                          </a:solidFill>
                          <a:latin typeface="Calibri"/>
                        </a:rPr>
                        <a:t>Nút</a:t>
                      </a:r>
                      <a:r>
                        <a:rPr sz="750" b="0">
                          <a:solidFill>
                            <a:srgbClr val="555555"/>
                          </a:solidFill>
                          <a:latin typeface="Calibri"/>
                        </a:rPr>
                        <a:t> "</a:t>
                      </a:r>
                      <a:r>
                        <a:rPr sz="750" b="0" err="1">
                          <a:solidFill>
                            <a:srgbClr val="555555"/>
                          </a:solidFill>
                          <a:latin typeface="Calibri"/>
                        </a:rPr>
                        <a:t>Xoá</a:t>
                      </a:r>
                      <a:r>
                        <a:rPr sz="750" b="0">
                          <a:solidFill>
                            <a:srgbClr val="555555"/>
                          </a:solidFill>
                          <a:latin typeface="Calibri"/>
                        </a:rPr>
                        <a:t> </a:t>
                      </a:r>
                      <a:r>
                        <a:rPr sz="750" b="0" err="1">
                          <a:solidFill>
                            <a:srgbClr val="555555"/>
                          </a:solidFill>
                          <a:latin typeface="Calibri"/>
                        </a:rPr>
                        <a:t>tất</a:t>
                      </a:r>
                      <a:r>
                        <a:rPr sz="750" b="0">
                          <a:solidFill>
                            <a:srgbClr val="555555"/>
                          </a:solidFill>
                          <a:latin typeface="Calibri"/>
                        </a:rPr>
                        <a:t> </a:t>
                      </a:r>
                      <a:r>
                        <a:rPr sz="750" b="0" err="1">
                          <a:solidFill>
                            <a:srgbClr val="555555"/>
                          </a:solidFill>
                          <a:latin typeface="Calibri"/>
                        </a:rPr>
                        <a:t>cả</a:t>
                      </a:r>
                      <a:r>
                        <a:rPr sz="750" b="0">
                          <a:solidFill>
                            <a:srgbClr val="555555"/>
                          </a:solidFill>
                          <a:latin typeface="Calibri"/>
                        </a:rPr>
                        <a:t>"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Áp</a:t>
                      </a:r>
                      <a:r>
                        <a:rPr sz="750" b="0">
                          <a:solidFill>
                            <a:srgbClr val="555555"/>
                          </a:solidFill>
                          <a:latin typeface="Calibri"/>
                        </a:rPr>
                        <a:t> </a:t>
                      </a:r>
                      <a:r>
                        <a:rPr sz="750" b="0" err="1">
                          <a:solidFill>
                            <a:srgbClr val="555555"/>
                          </a:solidFill>
                          <a:latin typeface="Calibri"/>
                        </a:rPr>
                        <a:t>dụng</a:t>
                      </a:r>
                      <a:r>
                        <a:rPr sz="750" b="0">
                          <a:solidFill>
                            <a:srgbClr val="555555"/>
                          </a:solidFill>
                          <a:latin typeface="Calibri"/>
                        </a:rPr>
                        <a:t> (n)" </a:t>
                      </a:r>
                      <a:r>
                        <a:rPr sz="750" b="0" err="1">
                          <a:solidFill>
                            <a:srgbClr val="555555"/>
                          </a:solidFill>
                          <a:latin typeface="Calibri"/>
                        </a:rPr>
                        <a:t>cố</a:t>
                      </a:r>
                      <a:r>
                        <a:rPr sz="750" b="0">
                          <a:solidFill>
                            <a:srgbClr val="555555"/>
                          </a:solidFill>
                          <a:latin typeface="Calibri"/>
                        </a:rPr>
                        <a:t> </a:t>
                      </a:r>
                      <a:r>
                        <a:rPr sz="750" b="0" err="1">
                          <a:solidFill>
                            <a:srgbClr val="555555"/>
                          </a:solidFill>
                          <a:latin typeface="Calibri"/>
                        </a:rPr>
                        <a:t>định</a:t>
                      </a:r>
                      <a:r>
                        <a:rPr sz="750" b="0">
                          <a:solidFill>
                            <a:srgbClr val="555555"/>
                          </a:solidFill>
                          <a:latin typeface="Calibri"/>
                        </a:rPr>
                        <a:t> ở </a:t>
                      </a:r>
                      <a:r>
                        <a:rPr sz="750" b="0" err="1">
                          <a:solidFill>
                            <a:srgbClr val="555555"/>
                          </a:solidFill>
                          <a:latin typeface="Calibri"/>
                        </a:rPr>
                        <a:t>đáy</a:t>
                      </a:r>
                      <a:r>
                        <a:rPr sz="750" b="0">
                          <a:solidFill>
                            <a:srgbClr val="555555"/>
                          </a:solidFill>
                          <a:latin typeface="Calibri"/>
                        </a:rPr>
                        <a:t> sheet → </a:t>
                      </a:r>
                      <a:r>
                        <a:rPr sz="750" b="0" err="1">
                          <a:solidFill>
                            <a:srgbClr val="555555"/>
                          </a:solidFill>
                          <a:latin typeface="Calibri"/>
                        </a:rPr>
                        <a:t>Áp</a:t>
                      </a:r>
                      <a:r>
                        <a:rPr sz="750" b="0">
                          <a:solidFill>
                            <a:srgbClr val="555555"/>
                          </a:solidFill>
                          <a:latin typeface="Calibri"/>
                        </a:rPr>
                        <a:t> </a:t>
                      </a:r>
                      <a:r>
                        <a:rPr sz="750" b="0" err="1">
                          <a:solidFill>
                            <a:srgbClr val="555555"/>
                          </a:solidFill>
                          <a:latin typeface="Calibri"/>
                        </a:rPr>
                        <a:t>dụng</a:t>
                      </a:r>
                      <a:r>
                        <a:rPr sz="750" b="0">
                          <a:solidFill>
                            <a:srgbClr val="555555"/>
                          </a:solidFill>
                          <a:latin typeface="Calibri"/>
                        </a:rPr>
                        <a:t>: </a:t>
                      </a:r>
                      <a:r>
                        <a:rPr sz="750" b="0" err="1">
                          <a:solidFill>
                            <a:srgbClr val="555555"/>
                          </a:solidFill>
                          <a:latin typeface="Calibri"/>
                        </a:rPr>
                        <a:t>đóng</a:t>
                      </a:r>
                      <a:r>
                        <a:rPr sz="750" b="0">
                          <a:solidFill>
                            <a:srgbClr val="555555"/>
                          </a:solidFill>
                          <a:latin typeface="Calibri"/>
                        </a:rPr>
                        <a:t> sheet, </a:t>
                      </a:r>
                      <a:r>
                        <a:rPr sz="750" b="0" err="1">
                          <a:solidFill>
                            <a:srgbClr val="555555"/>
                          </a:solidFill>
                          <a:latin typeface="Calibri"/>
                        </a:rPr>
                        <a:t>chạy</a:t>
                      </a:r>
                      <a:r>
                        <a:rPr sz="750" b="0">
                          <a:solidFill>
                            <a:srgbClr val="555555"/>
                          </a:solidFill>
                          <a:latin typeface="Calibri"/>
                        </a:rPr>
                        <a:t> </a:t>
                      </a:r>
                      <a:r>
                        <a:rPr sz="750" b="0" err="1">
                          <a:solidFill>
                            <a:srgbClr val="555555"/>
                          </a:solidFill>
                          <a:latin typeface="Calibri"/>
                        </a:rPr>
                        <a:t>lại</a:t>
                      </a:r>
                      <a:r>
                        <a:rPr sz="750" b="0">
                          <a:solidFill>
                            <a:srgbClr val="555555"/>
                          </a:solidFill>
                          <a:latin typeface="Calibri"/>
                        </a:rPr>
                        <a:t> </a:t>
                      </a:r>
                      <a:r>
                        <a:rPr sz="750" b="0" err="1">
                          <a:solidFill>
                            <a:srgbClr val="555555"/>
                          </a:solidFill>
                          <a:latin typeface="Calibri"/>
                        </a:rPr>
                        <a:t>truy</a:t>
                      </a:r>
                      <a:r>
                        <a:rPr sz="750" b="0">
                          <a:solidFill>
                            <a:srgbClr val="555555"/>
                          </a:solidFill>
                          <a:latin typeface="Calibri"/>
                        </a:rPr>
                        <a:t> </a:t>
                      </a:r>
                      <a:r>
                        <a:rPr sz="750" b="0" err="1">
                          <a:solidFill>
                            <a:srgbClr val="555555"/>
                          </a:solidFill>
                          <a:latin typeface="Calibri"/>
                        </a:rPr>
                        <a:t>vấn</a:t>
                      </a:r>
                      <a:r>
                        <a:rPr sz="750" b="0">
                          <a:solidFill>
                            <a:srgbClr val="555555"/>
                          </a:solidFill>
                          <a:latin typeface="Calibri"/>
                        </a:rPr>
                        <a:t>, </a:t>
                      </a:r>
                      <a:r>
                        <a:rPr sz="750" b="0" err="1">
                          <a:solidFill>
                            <a:srgbClr val="555555"/>
                          </a:solidFill>
                          <a:latin typeface="Calibri"/>
                        </a:rPr>
                        <a:t>cập</a:t>
                      </a:r>
                      <a:r>
                        <a:rPr sz="750" b="0">
                          <a:solidFill>
                            <a:srgbClr val="555555"/>
                          </a:solidFill>
                          <a:latin typeface="Calibri"/>
                        </a:rPr>
                        <a:t> </a:t>
                      </a:r>
                      <a:r>
                        <a:rPr sz="750" b="0" err="1">
                          <a:solidFill>
                            <a:srgbClr val="555555"/>
                          </a:solidFill>
                          <a:latin typeface="Calibri"/>
                        </a:rPr>
                        <a:t>nhật</a:t>
                      </a:r>
                      <a:r>
                        <a:rPr sz="750" b="0">
                          <a:solidFill>
                            <a:srgbClr val="555555"/>
                          </a:solidFill>
                          <a:latin typeface="Calibri"/>
                        </a:rPr>
                        <a:t> badge </a:t>
                      </a:r>
                      <a:r>
                        <a:rPr sz="750" b="0" err="1">
                          <a:solidFill>
                            <a:srgbClr val="555555"/>
                          </a:solidFill>
                          <a:latin typeface="Calibri"/>
                        </a:rPr>
                        <a:t>số</a:t>
                      </a:r>
                      <a:r>
                        <a:rPr sz="750" b="0">
                          <a:solidFill>
                            <a:srgbClr val="555555"/>
                          </a:solidFill>
                          <a:latin typeface="Calibri"/>
                        </a:rPr>
                        <a:t> </a:t>
                      </a:r>
                      <a:r>
                        <a:rPr sz="750" b="0" err="1">
                          <a:solidFill>
                            <a:srgbClr val="555555"/>
                          </a:solidFill>
                          <a:latin typeface="Calibri"/>
                        </a:rPr>
                        <a:t>bộ</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 (SS-SCR-010).</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Gap thiết kế: thiếu thanh hành động cố định ở đáy bảng lọc. Cần bổ sung trước khi chuyển sang bản UI.</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14</a:t>
            </a:r>
            <a:endParaRPr lang="en-US" sz="700"/>
          </a:p>
        </p:txBody>
      </p:sp>
      <p:pic>
        <p:nvPicPr>
          <p:cNvPr id="40" name="Picture 39" descr="SS-SCR-009.png"/>
          <p:cNvPicPr>
            <a:picLocks noChangeAspect="1"/>
          </p:cNvPicPr>
          <p:nvPr/>
        </p:nvPicPr>
        <p:blipFill>
          <a:blip r:embed="rId3"/>
          <a:stretch>
            <a:fillRect/>
          </a:stretch>
        </p:blipFill>
        <p:spPr>
          <a:xfrm>
            <a:off x="1125154" y="602920"/>
            <a:ext cx="4845436" cy="4737760"/>
          </a:xfrm>
          <a:prstGeom prst="rect">
            <a:avLst/>
          </a:prstGeom>
        </p:spPr>
      </p:pic>
    </p:spTree>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FR-SF-03</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SS-SCR-010</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Kết quả — Sau khi áp dụng bộ lọc</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307848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Badge số bộ lọc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Nút "Bộ lọc" hiển thị badge đỏ với số điều kiện đang áp dụng (ví dụ 7). Cho khách biết kết quả đang bị thu hẹp bởi bao nhiêu điều kiện.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Chip lọc đang bật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Chip đã chọn đổi sang nền đỏ, chữ trắng. → Tap lại để bỏ chọn và chạy lại truy vấn ngay.</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Số kết quả cập nhật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"128 sản phẩm" được tính lại sau mỗi thay đổi bộ lọc — phản hồi tức thì cho thao tác lọc.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Danh sách đã lọc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Giữ nguyên cấu trúc card. Vị trí cuộn được đưa về đầu danh sách sau khi áp dụng.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Trường hợp 0 kết quả sau lọc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Khác với Zero Result do từ khoá: hiển thị thông điệp "Không có sản phẩm nào khớp bộ lọc" kèm nút "Xoá bộ lọc" — không đưa khách sang SS-SCR-011.</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Cần chốt: bộ lọc có được giữ lại khi khách đổi từ khoá tìm kiếm mới hay tự động xoá.</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15</a:t>
            </a:r>
            <a:endParaRPr lang="en-US" sz="700"/>
          </a:p>
        </p:txBody>
      </p:sp>
      <p:pic>
        <p:nvPicPr>
          <p:cNvPr id="40" name="Picture 39" descr="SS-SCR-010.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FR-AC-01</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SS-SCR-011</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Kết quả — Thêm vào giỏ hàng</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307848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Badge giỏ hàng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Số lượng trên icon giỏ tăng ngay khi thêm thành công (optimistic update). ⚠ Nếu API thất bại phải rollback badge và hiện thông báo lỗi.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Nút (+) trên card</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Thêm 1 đơn vị mà không rời trang kết quả. → Tap lần nữa tăng tiếp số lượng. ⚠ Vô hiệu khi sản phẩm hết hàng hoặc vượt giới hạn mua.</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Toast xác nhận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Thanh đen nổi ở đáy: ảnh + "Đã thêm vào giỏ hàng" + tên sản phẩm. Tự ẩn sau 3 giây. Không chặn thao tác cuộn.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Giá sản phẩm</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Hiển thị giá đơn vị vừa thêm để khách xác nhận đúng biến thể/dung tích.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Nút "Đóng"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Tap để ẩn toast ngay. Cân nhắc đổi thành "Xem giỏ" để rút ngắn đường tới checkout — cần chốt.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Đây là điểm chuyển đổi chính của toàn tính năng: mọi thao tác thêm giỏ phải đo được (event add_to_cart kèm nguồn = search_result).</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16</a:t>
            </a:r>
            <a:endParaRPr lang="en-US" sz="700"/>
          </a:p>
        </p:txBody>
      </p:sp>
      <p:pic>
        <p:nvPicPr>
          <p:cNvPr id="40" name="Picture 39" descr="SS-SCR-011.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FR-ZR-01 / FR-ZR-02</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SS-SCR-012</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Không có kết quả (Zero Result)</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417576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Search Bar</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Giữ nguyên từ khoá đã tìm để khách sửa tay thay vì gõ lại từ đầu. Nút (✕) xoá nhanh.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Icon trạng thái rỗng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Minh hoạ trung tính, không dùng hình ảnh tiêu cực. Tuyệt đối không để trang trắng.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Tiêu đề</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"Không tìm thấy kết quả" — nêu sự thật ngắn gọn, không đổ lỗi cho người dùng.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Thông điệp</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"Không có sản phẩm nào khớp với “xịt muỗi Tesla”. Thử từ khoá khác nhé." — nhắc lại đúng chuỗi đã tìm để khách nhận ra lỗi gõ.</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Có thể bạn sẽ thích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Tầng cứu luồng. ⚠ Nguyên tắc: tuyệt đối không có trang trắng — luôn phải có sản phẩm để khách đi tiếp.</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Sản phẩm thay thế (Substitute)</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API tính độ tương đồng Vector/Category: tìm "Bia Corona" hết hàng → gợi ý "Bia Tiger". Kết hợp Basket Analysis cho bán kèm (tìm bia → gợi ý mồi nhậu).</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Fallback bán chạy</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Tầng fallback sâu nhất: nếu không tìm được sản phẩm liên quan nào → hiển thị hàng bán chạy nhất của LOTTE Mart.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endParaRPr lang="en-US" sz="850">
              <a:solidFill>
                <a:srgbClr val="6B6800"/>
              </a:solidFill>
              <a:ea typeface="Calibri"/>
              <a:cs typeface="Calibri"/>
            </a:endParaRPr>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17</a:t>
            </a:r>
            <a:endParaRPr lang="en-US" sz="700"/>
          </a:p>
        </p:txBody>
      </p:sp>
      <p:pic>
        <p:nvPicPr>
          <p:cNvPr id="40" name="Picture 39" descr="SS-SCR-012.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ảnh</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FR-IS-01</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SS-SCR-013</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bằng ảnh — Chụp ảnh</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362712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Đóng camera</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Quay lại màn hình trước (Pre-search SS-SCR-001). ⚠ Không mất từ khoá / trạng thái đang có.</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Nhãn camera &amp; flash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Hiển thị camera đang dùng ("Camera sau") và nút bật/tắt đèn flash — cần thiết khi chụp sản phẩm trong kệ siêu thị thiếu sáng.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Khung ngắm</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Toàn màn hình, không crop. ⚠ Cần bổ sung khung hướng dẫn đặt sản phẩm vào giữa để tăng tỉ lệ nhận diện — hiện chưa có trong wireframe.</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Thư viện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 Mở khay chọn ảnh có sẵn (SS-SCR-014). Yêu cầu quyền truy cập thư viện; nếu bị từ chối, hiện hướng dẫn mở lại trong Cài đặt.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Chụp</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Chụp và chuyển sang màn hình xử lý (SS-SCR-004) rồi tới kết quả (SS-SCR-015).</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Xoay camera</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Đổi giữa camera trước/sau. Trạng thái được nhớ cho lần mở kế tiếp.</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r>
              <a:rPr lang="en-US" sz="850" err="1">
                <a:solidFill>
                  <a:srgbClr val="6B6800"/>
                </a:solidFill>
                <a:ea typeface="+mn-lt"/>
                <a:cs typeface="+mn-lt"/>
              </a:rPr>
              <a:t>Có</a:t>
            </a:r>
            <a:r>
              <a:rPr lang="en-US" sz="850">
                <a:solidFill>
                  <a:srgbClr val="6B6800"/>
                </a:solidFill>
                <a:ea typeface="+mn-lt"/>
                <a:cs typeface="+mn-lt"/>
              </a:rPr>
              <a:t> </a:t>
            </a:r>
            <a:r>
              <a:rPr lang="en-US" sz="850" err="1">
                <a:solidFill>
                  <a:srgbClr val="6B6800"/>
                </a:solidFill>
                <a:ea typeface="+mn-lt"/>
                <a:cs typeface="+mn-lt"/>
              </a:rPr>
              <a:t>cần</a:t>
            </a:r>
            <a:r>
              <a:rPr lang="en-US" sz="850" b="0">
                <a:solidFill>
                  <a:srgbClr val="6B6800"/>
                </a:solidFill>
                <a:ea typeface="+mn-lt"/>
                <a:cs typeface="+mn-lt"/>
              </a:rPr>
              <a:t> </a:t>
            </a:r>
            <a:r>
              <a:rPr lang="en-US" sz="850" err="1">
                <a:solidFill>
                  <a:srgbClr val="6B6800"/>
                </a:solidFill>
                <a:ea typeface="+mn-lt"/>
                <a:cs typeface="+mn-lt"/>
              </a:rPr>
              <a:t>bổ</a:t>
            </a:r>
            <a:r>
              <a:rPr lang="en-US" sz="850">
                <a:solidFill>
                  <a:srgbClr val="6B6800"/>
                </a:solidFill>
                <a:ea typeface="+mn-lt"/>
                <a:cs typeface="+mn-lt"/>
              </a:rPr>
              <a:t> sung </a:t>
            </a:r>
            <a:r>
              <a:rPr lang="en-US" sz="850" err="1">
                <a:solidFill>
                  <a:srgbClr val="6B6800"/>
                </a:solidFill>
                <a:ea typeface="+mn-lt"/>
                <a:cs typeface="+mn-lt"/>
              </a:rPr>
              <a:t>khung</a:t>
            </a:r>
            <a:r>
              <a:rPr lang="en-US" sz="850">
                <a:solidFill>
                  <a:srgbClr val="6B6800"/>
                </a:solidFill>
                <a:ea typeface="+mn-lt"/>
                <a:cs typeface="+mn-lt"/>
              </a:rPr>
              <a:t> </a:t>
            </a:r>
            <a:r>
              <a:rPr lang="en-US" sz="850" err="1">
                <a:solidFill>
                  <a:srgbClr val="6B6800"/>
                </a:solidFill>
                <a:ea typeface="+mn-lt"/>
                <a:cs typeface="+mn-lt"/>
              </a:rPr>
              <a:t>hướng</a:t>
            </a:r>
            <a:r>
              <a:rPr lang="en-US" sz="850">
                <a:solidFill>
                  <a:srgbClr val="6B6800"/>
                </a:solidFill>
                <a:ea typeface="+mn-lt"/>
                <a:cs typeface="+mn-lt"/>
              </a:rPr>
              <a:t> </a:t>
            </a:r>
            <a:r>
              <a:rPr lang="en-US" sz="850" err="1">
                <a:solidFill>
                  <a:srgbClr val="6B6800"/>
                </a:solidFill>
                <a:ea typeface="+mn-lt"/>
                <a:cs typeface="+mn-lt"/>
              </a:rPr>
              <a:t>dẫn</a:t>
            </a:r>
            <a:r>
              <a:rPr lang="en-US" sz="850">
                <a:solidFill>
                  <a:srgbClr val="6B6800"/>
                </a:solidFill>
                <a:ea typeface="+mn-lt"/>
                <a:cs typeface="+mn-lt"/>
              </a:rPr>
              <a:t> </a:t>
            </a:r>
            <a:r>
              <a:rPr lang="en-US" sz="850" err="1">
                <a:solidFill>
                  <a:srgbClr val="6B6800"/>
                </a:solidFill>
                <a:ea typeface="+mn-lt"/>
                <a:cs typeface="+mn-lt"/>
              </a:rPr>
              <a:t>đặt</a:t>
            </a:r>
            <a:r>
              <a:rPr lang="en-US" sz="850">
                <a:solidFill>
                  <a:srgbClr val="6B6800"/>
                </a:solidFill>
                <a:ea typeface="+mn-lt"/>
                <a:cs typeface="+mn-lt"/>
              </a:rPr>
              <a:t> </a:t>
            </a:r>
            <a:r>
              <a:rPr lang="en-US" sz="850" err="1">
                <a:solidFill>
                  <a:srgbClr val="6B6800"/>
                </a:solidFill>
                <a:ea typeface="+mn-lt"/>
                <a:cs typeface="+mn-lt"/>
              </a:rPr>
              <a:t>sản</a:t>
            </a:r>
            <a:r>
              <a:rPr lang="en-US" sz="850">
                <a:solidFill>
                  <a:srgbClr val="6B6800"/>
                </a:solidFill>
                <a:ea typeface="+mn-lt"/>
                <a:cs typeface="+mn-lt"/>
              </a:rPr>
              <a:t> </a:t>
            </a:r>
            <a:r>
              <a:rPr lang="en-US" sz="850" err="1">
                <a:solidFill>
                  <a:srgbClr val="6B6800"/>
                </a:solidFill>
                <a:ea typeface="+mn-lt"/>
                <a:cs typeface="+mn-lt"/>
              </a:rPr>
              <a:t>phẩm</a:t>
            </a:r>
            <a:r>
              <a:rPr lang="en-US" sz="850">
                <a:solidFill>
                  <a:srgbClr val="6B6800"/>
                </a:solidFill>
                <a:ea typeface="+mn-lt"/>
                <a:cs typeface="+mn-lt"/>
              </a:rPr>
              <a:t> </a:t>
            </a:r>
            <a:r>
              <a:rPr lang="en-US" sz="850" err="1">
                <a:solidFill>
                  <a:srgbClr val="6B6800"/>
                </a:solidFill>
                <a:ea typeface="+mn-lt"/>
                <a:cs typeface="+mn-lt"/>
              </a:rPr>
              <a:t>vào</a:t>
            </a:r>
            <a:r>
              <a:rPr lang="en-US" sz="850">
                <a:solidFill>
                  <a:srgbClr val="6B6800"/>
                </a:solidFill>
                <a:ea typeface="+mn-lt"/>
                <a:cs typeface="+mn-lt"/>
              </a:rPr>
              <a:t> </a:t>
            </a:r>
            <a:r>
              <a:rPr lang="en-US" sz="850" err="1">
                <a:solidFill>
                  <a:srgbClr val="6B6800"/>
                </a:solidFill>
                <a:ea typeface="+mn-lt"/>
                <a:cs typeface="+mn-lt"/>
              </a:rPr>
              <a:t>giữa</a:t>
            </a:r>
            <a:r>
              <a:rPr lang="en-US" sz="850">
                <a:solidFill>
                  <a:srgbClr val="6B6800"/>
                </a:solidFill>
                <a:ea typeface="+mn-lt"/>
                <a:cs typeface="+mn-lt"/>
              </a:rPr>
              <a:t> </a:t>
            </a:r>
            <a:r>
              <a:rPr lang="en-US" sz="850" err="1">
                <a:solidFill>
                  <a:srgbClr val="6B6800"/>
                </a:solidFill>
                <a:ea typeface="+mn-lt"/>
                <a:cs typeface="+mn-lt"/>
              </a:rPr>
              <a:t>để</a:t>
            </a:r>
            <a:r>
              <a:rPr lang="en-US" sz="850">
                <a:solidFill>
                  <a:srgbClr val="6B6800"/>
                </a:solidFill>
                <a:ea typeface="+mn-lt"/>
                <a:cs typeface="+mn-lt"/>
              </a:rPr>
              <a:t> </a:t>
            </a:r>
            <a:r>
              <a:rPr lang="en-US" sz="850" err="1">
                <a:solidFill>
                  <a:srgbClr val="6B6800"/>
                </a:solidFill>
                <a:ea typeface="+mn-lt"/>
                <a:cs typeface="+mn-lt"/>
              </a:rPr>
              <a:t>tăng</a:t>
            </a:r>
            <a:r>
              <a:rPr lang="en-US" sz="850">
                <a:solidFill>
                  <a:srgbClr val="6B6800"/>
                </a:solidFill>
                <a:ea typeface="+mn-lt"/>
                <a:cs typeface="+mn-lt"/>
              </a:rPr>
              <a:t> </a:t>
            </a:r>
            <a:r>
              <a:rPr lang="en-US" sz="850" err="1">
                <a:solidFill>
                  <a:srgbClr val="6B6800"/>
                </a:solidFill>
                <a:ea typeface="+mn-lt"/>
                <a:cs typeface="+mn-lt"/>
              </a:rPr>
              <a:t>tỉ</a:t>
            </a:r>
            <a:r>
              <a:rPr lang="en-US" sz="850">
                <a:solidFill>
                  <a:srgbClr val="6B6800"/>
                </a:solidFill>
                <a:ea typeface="+mn-lt"/>
                <a:cs typeface="+mn-lt"/>
              </a:rPr>
              <a:t> </a:t>
            </a:r>
            <a:r>
              <a:rPr lang="en-US" sz="850" err="1">
                <a:solidFill>
                  <a:srgbClr val="6B6800"/>
                </a:solidFill>
                <a:ea typeface="+mn-lt"/>
                <a:cs typeface="+mn-lt"/>
              </a:rPr>
              <a:t>lệ</a:t>
            </a:r>
            <a:r>
              <a:rPr lang="en-US" sz="850">
                <a:solidFill>
                  <a:srgbClr val="6B6800"/>
                </a:solidFill>
                <a:ea typeface="+mn-lt"/>
                <a:cs typeface="+mn-lt"/>
              </a:rPr>
              <a:t> </a:t>
            </a:r>
            <a:r>
              <a:rPr lang="en-US" sz="850" b="0" err="1">
                <a:solidFill>
                  <a:srgbClr val="6B6800"/>
                </a:solidFill>
                <a:ea typeface="+mn-lt"/>
                <a:cs typeface="+mn-lt"/>
              </a:rPr>
              <a:t>nhận</a:t>
            </a:r>
            <a:r>
              <a:rPr lang="en-US" sz="850" b="0">
                <a:solidFill>
                  <a:srgbClr val="6B6800"/>
                </a:solidFill>
                <a:ea typeface="+mn-lt"/>
                <a:cs typeface="+mn-lt"/>
              </a:rPr>
              <a:t> </a:t>
            </a:r>
            <a:r>
              <a:rPr lang="en-US" sz="850" b="0" err="1">
                <a:solidFill>
                  <a:srgbClr val="6B6800"/>
                </a:solidFill>
                <a:ea typeface="+mn-lt"/>
                <a:cs typeface="+mn-lt"/>
              </a:rPr>
              <a:t>diện</a:t>
            </a:r>
            <a:r>
              <a:rPr lang="en-US" sz="850" b="0">
                <a:solidFill>
                  <a:srgbClr val="6B6800"/>
                </a:solidFill>
                <a:ea typeface="+mn-lt"/>
                <a:cs typeface="+mn-lt"/>
              </a:rPr>
              <a:t> </a:t>
            </a:r>
            <a:r>
              <a:rPr lang="en-US" sz="850" err="1">
                <a:solidFill>
                  <a:srgbClr val="6B6800"/>
                </a:solidFill>
                <a:ea typeface="+mn-lt"/>
                <a:cs typeface="+mn-lt"/>
              </a:rPr>
              <a:t>không</a:t>
            </a:r>
            <a:r>
              <a:rPr lang="en-US" sz="850">
                <a:solidFill>
                  <a:srgbClr val="6B6800"/>
                </a:solidFill>
                <a:ea typeface="+mn-lt"/>
                <a:cs typeface="+mn-lt"/>
              </a:rPr>
              <a:t>?</a:t>
            </a:r>
            <a:endParaRPr lang="en-US"/>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18</a:t>
            </a:r>
            <a:endParaRPr lang="en-US" sz="700"/>
          </a:p>
        </p:txBody>
      </p:sp>
      <p:pic>
        <p:nvPicPr>
          <p:cNvPr id="40" name="Picture 39" descr="SS-SCR-013.png"/>
          <p:cNvPicPr>
            <a:picLocks noChangeAspect="1"/>
          </p:cNvPicPr>
          <p:nvPr/>
        </p:nvPicPr>
        <p:blipFill>
          <a:blip r:embed="rId2"/>
          <a:stretch>
            <a:fillRect/>
          </a:stretch>
        </p:blipFill>
        <p:spPr>
          <a:xfrm>
            <a:off x="1054314" y="602920"/>
            <a:ext cx="4987115" cy="47377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ảnh</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FR-IS-02</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SS-SCR-014</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bằng ảnh — Chọn ảnh từ thư viện</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362712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Nền camera</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Khay ảnh trượt lên đè trên màn hình camera; camera vẫn chạy nền để khách quay lại chụp ngay.</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Tiêu đề khay</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"Ảnh gần đây" — chỉ lấy ảnh mới nhất trong thư viện, sắp xếp giảm dần theo thời gian.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Đóng khay</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Trở lại màn hình chụp (SS-SCR-013) mà không chọn ảnh nào.</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Dòng hướng dẫn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"Chọn ảnh sản phẩm để tìm kiếm" — nêu rõ hệ thống cần ảnh sản phẩm, không phải ảnh bất kỳ.</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Lưới ảnh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Lưới 3 cột, cuộn dọc. → Chọn một ảnh chuyển thẳng sang màn hình xử lý (SS-SCR-004). ⚠ Chỉ cho chọn một ảnh ở phiên bản v1.</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Nhãn phân loại trên ảnh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Mỗi ô ảnh gợi ý nhóm sản phẩm nhận diện được (Sữa · Rau cải · Trứng · Thịt · Táo · Cá…). ⚠ Chỉ là gợi ý phân loại sơ bộ — kết quả chính thức vẫn do API nhận diện quyết định ở SS-SCR-015.</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Khay này là lớp phủ trên SS-SCR-013, không phải màn hình độc lập — cần thể hiện đúng khi làm prototype tương tác.</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19</a:t>
            </a:r>
            <a:endParaRPr lang="en-US" sz="700"/>
          </a:p>
        </p:txBody>
      </p:sp>
      <p:pic>
        <p:nvPicPr>
          <p:cNvPr id="40" name="Picture 39" descr="SS-SCR-014.png"/>
          <p:cNvPicPr>
            <a:picLocks noChangeAspect="1"/>
          </p:cNvPicPr>
          <p:nvPr/>
        </p:nvPicPr>
        <p:blipFill>
          <a:blip r:embed="rId3"/>
          <a:stretch>
            <a:fillRect/>
          </a:stretch>
        </p:blipFill>
        <p:spPr>
          <a:xfrm>
            <a:off x="1125154" y="602920"/>
            <a:ext cx="4845436" cy="4737760"/>
          </a:xfrm>
          <a:prstGeom prst="rect">
            <a:avLst/>
          </a:prstGeom>
        </p:spPr>
      </p:pic>
    </p:spTree>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ảnh</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FR-IS-03</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SS-SCR-015</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bằng ảnh — Kết quả nhận diện</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676438531"/>
              </p:ext>
            </p:extLst>
          </p:nvPr>
        </p:nvGraphicFramePr>
        <p:xfrm>
          <a:off x="7196328" y="886968"/>
          <a:ext cx="4544568" cy="417576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a:t>
                      </a:r>
                      <a:r>
                        <a:rPr sz="800" b="1" err="1">
                          <a:solidFill>
                            <a:srgbClr val="FFFFFF"/>
                          </a:solidFill>
                          <a:latin typeface="Calibri"/>
                        </a:rPr>
                        <a:t>phần</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err="1">
                          <a:solidFill>
                            <a:srgbClr val="FFFFFF"/>
                          </a:solidFill>
                          <a:latin typeface="Calibri"/>
                        </a:rPr>
                        <a:t>Mô</a:t>
                      </a:r>
                      <a:r>
                        <a:rPr sz="800" b="1">
                          <a:solidFill>
                            <a:srgbClr val="FFFFFF"/>
                          </a:solidFill>
                          <a:latin typeface="Calibri"/>
                        </a:rPr>
                        <a:t> </a:t>
                      </a:r>
                      <a:r>
                        <a:rPr sz="800" b="1" err="1">
                          <a:solidFill>
                            <a:srgbClr val="FFFFFF"/>
                          </a:solidFill>
                          <a:latin typeface="Calibri"/>
                        </a:rPr>
                        <a:t>tả</a:t>
                      </a:r>
                      <a:r>
                        <a:rPr sz="800" b="1">
                          <a:solidFill>
                            <a:srgbClr val="FFFFFF"/>
                          </a:solidFill>
                          <a:latin typeface="Calibri"/>
                        </a:rPr>
                        <a:t>  /  </a:t>
                      </a:r>
                      <a:r>
                        <a:rPr sz="800" b="1" err="1">
                          <a:solidFill>
                            <a:srgbClr val="FFFFFF"/>
                          </a:solidFill>
                          <a:latin typeface="Calibri"/>
                        </a:rPr>
                        <a:t>Hành</a:t>
                      </a:r>
                      <a:r>
                        <a:rPr sz="800" b="1">
                          <a:solidFill>
                            <a:srgbClr val="FFFFFF"/>
                          </a:solidFill>
                          <a:latin typeface="Calibri"/>
                        </a:rPr>
                        <a:t> vi  /  Quy </a:t>
                      </a:r>
                      <a:r>
                        <a:rPr sz="800" b="1" err="1">
                          <a:solidFill>
                            <a:srgbClr val="FFFFFF"/>
                          </a:solidFill>
                          <a:latin typeface="Calibri"/>
                        </a:rPr>
                        <a:t>tắc</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Ảnh</a:t>
                      </a:r>
                      <a:r>
                        <a:rPr sz="800" b="1">
                          <a:solidFill>
                            <a:srgbClr val="222222"/>
                          </a:solidFill>
                          <a:latin typeface="Calibri"/>
                        </a:rPr>
                        <a:t> </a:t>
                      </a:r>
                      <a:r>
                        <a:rPr sz="800" b="1" err="1">
                          <a:solidFill>
                            <a:srgbClr val="222222"/>
                          </a:solidFill>
                          <a:latin typeface="Calibri"/>
                        </a:rPr>
                        <a:t>trong</a:t>
                      </a:r>
                      <a:r>
                        <a:rPr sz="800" b="1">
                          <a:solidFill>
                            <a:srgbClr val="222222"/>
                          </a:solidFill>
                          <a:latin typeface="Calibri"/>
                        </a:rPr>
                        <a:t> ô </a:t>
                      </a:r>
                      <a:r>
                        <a:rPr sz="800" b="1" err="1">
                          <a:solidFill>
                            <a:srgbClr val="222222"/>
                          </a:solidFill>
                          <a:latin typeface="Calibri"/>
                        </a:rPr>
                        <a:t>tìm</a:t>
                      </a:r>
                      <a:r>
                        <a:rPr sz="800" b="1">
                          <a:solidFill>
                            <a:srgbClr val="222222"/>
                          </a:solidFill>
                          <a:latin typeface="Calibri"/>
                        </a:rPr>
                        <a:t> </a:t>
                      </a:r>
                      <a:r>
                        <a:rPr sz="800" b="1" err="1">
                          <a:solidFill>
                            <a:srgbClr val="222222"/>
                          </a:solidFill>
                          <a:latin typeface="Calibri"/>
                        </a:rPr>
                        <a:t>kiếm</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Thumbnail </a:t>
                      </a:r>
                      <a:r>
                        <a:rPr sz="750" b="0" err="1">
                          <a:solidFill>
                            <a:srgbClr val="555555"/>
                          </a:solidFill>
                          <a:latin typeface="Calibri"/>
                        </a:rPr>
                        <a:t>ảnh</a:t>
                      </a:r>
                      <a:r>
                        <a:rPr sz="750" b="0">
                          <a:solidFill>
                            <a:srgbClr val="555555"/>
                          </a:solidFill>
                          <a:latin typeface="Calibri"/>
                        </a:rPr>
                        <a:t> </a:t>
                      </a:r>
                      <a:r>
                        <a:rPr sz="750" b="0" err="1">
                          <a:solidFill>
                            <a:srgbClr val="555555"/>
                          </a:solidFill>
                          <a:latin typeface="Calibri"/>
                        </a:rPr>
                        <a:t>vừa</a:t>
                      </a:r>
                      <a:r>
                        <a:rPr sz="750" b="0">
                          <a:solidFill>
                            <a:srgbClr val="555555"/>
                          </a:solidFill>
                          <a:latin typeface="Calibri"/>
                        </a:rPr>
                        <a:t> </a:t>
                      </a:r>
                      <a:r>
                        <a:rPr sz="750" b="0" err="1">
                          <a:solidFill>
                            <a:srgbClr val="555555"/>
                          </a:solidFill>
                          <a:latin typeface="Calibri"/>
                        </a:rPr>
                        <a:t>chụp</a:t>
                      </a:r>
                      <a:r>
                        <a:rPr sz="750" b="0">
                          <a:solidFill>
                            <a:srgbClr val="555555"/>
                          </a:solidFill>
                          <a:latin typeface="Calibri"/>
                        </a:rPr>
                        <a:t>/</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thay</a:t>
                      </a:r>
                      <a:r>
                        <a:rPr sz="750" b="0">
                          <a:solidFill>
                            <a:srgbClr val="555555"/>
                          </a:solidFill>
                          <a:latin typeface="Calibri"/>
                        </a:rPr>
                        <a:t> </a:t>
                      </a:r>
                      <a:r>
                        <a:rPr sz="750" b="0" err="1">
                          <a:solidFill>
                            <a:srgbClr val="555555"/>
                          </a:solidFill>
                          <a:latin typeface="Calibri"/>
                        </a:rPr>
                        <a:t>cho</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 </a:t>
                      </a:r>
                      <a:r>
                        <a:rPr sz="750" b="0" err="1">
                          <a:solidFill>
                            <a:srgbClr val="555555"/>
                          </a:solidFill>
                          <a:latin typeface="Calibri"/>
                        </a:rPr>
                        <a:t>cho</a:t>
                      </a:r>
                      <a:r>
                        <a:rPr sz="750" b="0">
                          <a:solidFill>
                            <a:srgbClr val="555555"/>
                          </a:solidFill>
                          <a:latin typeface="Calibri"/>
                        </a:rPr>
                        <a:t> </a:t>
                      </a:r>
                      <a:r>
                        <a:rPr sz="750" b="0" err="1">
                          <a:solidFill>
                            <a:srgbClr val="555555"/>
                          </a:solidFill>
                          <a:latin typeface="Calibri"/>
                        </a:rPr>
                        <a:t>khách</a:t>
                      </a:r>
                      <a:r>
                        <a:rPr sz="750" b="0">
                          <a:solidFill>
                            <a:srgbClr val="555555"/>
                          </a:solidFill>
                          <a:latin typeface="Calibri"/>
                        </a:rPr>
                        <a:t> </a:t>
                      </a:r>
                      <a:r>
                        <a:rPr sz="750" b="0" err="1">
                          <a:solidFill>
                            <a:srgbClr val="555555"/>
                          </a:solidFill>
                          <a:latin typeface="Calibri"/>
                        </a:rPr>
                        <a:t>biết</a:t>
                      </a:r>
                      <a:r>
                        <a:rPr sz="750" b="0">
                          <a:solidFill>
                            <a:srgbClr val="555555"/>
                          </a:solidFill>
                          <a:latin typeface="Calibri"/>
                        </a:rPr>
                        <a:t> </a:t>
                      </a:r>
                      <a:r>
                        <a:rPr sz="750" b="0" err="1">
                          <a:solidFill>
                            <a:srgbClr val="555555"/>
                          </a:solidFill>
                          <a:latin typeface="Calibri"/>
                        </a:rPr>
                        <a:t>kết</a:t>
                      </a:r>
                      <a:r>
                        <a:rPr sz="750" b="0">
                          <a:solidFill>
                            <a:srgbClr val="555555"/>
                          </a:solidFill>
                          <a:latin typeface="Calibri"/>
                        </a:rPr>
                        <a:t> </a:t>
                      </a:r>
                      <a:r>
                        <a:rPr sz="750" b="0" err="1">
                          <a:solidFill>
                            <a:srgbClr val="555555"/>
                          </a:solidFill>
                          <a:latin typeface="Calibri"/>
                        </a:rPr>
                        <a:t>quả</a:t>
                      </a:r>
                      <a:r>
                        <a:rPr sz="750" b="0">
                          <a:solidFill>
                            <a:srgbClr val="555555"/>
                          </a:solidFill>
                          <a:latin typeface="Calibri"/>
                        </a:rPr>
                        <a:t>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dựa</a:t>
                      </a:r>
                      <a:r>
                        <a:rPr sz="750" b="0">
                          <a:solidFill>
                            <a:srgbClr val="555555"/>
                          </a:solidFill>
                          <a:latin typeface="Calibri"/>
                        </a:rPr>
                        <a:t> </a:t>
                      </a:r>
                      <a:r>
                        <a:rPr sz="750" b="0" err="1">
                          <a:solidFill>
                            <a:srgbClr val="555555"/>
                          </a:solidFill>
                          <a:latin typeface="Calibri"/>
                        </a:rPr>
                        <a:t>trên</a:t>
                      </a:r>
                      <a:r>
                        <a:rPr sz="750" b="0">
                          <a:solidFill>
                            <a:srgbClr val="555555"/>
                          </a:solidFill>
                          <a:latin typeface="Calibri"/>
                        </a:rPr>
                        <a:t> </a:t>
                      </a:r>
                      <a:r>
                        <a:rPr sz="750" b="0" err="1">
                          <a:solidFill>
                            <a:srgbClr val="555555"/>
                          </a:solidFill>
                          <a:latin typeface="Calibri"/>
                        </a:rPr>
                        <a:t>ảnh</a:t>
                      </a:r>
                      <a:r>
                        <a:rPr sz="750" b="0">
                          <a:solidFill>
                            <a:srgbClr val="555555"/>
                          </a:solidFill>
                          <a:latin typeface="Calibri"/>
                        </a:rPr>
                        <a:t> </a:t>
                      </a:r>
                      <a:r>
                        <a:rPr sz="750" b="0" err="1">
                          <a:solidFill>
                            <a:srgbClr val="555555"/>
                          </a:solidFill>
                          <a:latin typeface="Calibri"/>
                        </a:rPr>
                        <a:t>nào</a:t>
                      </a:r>
                      <a:r>
                        <a:rPr sz="750" b="0">
                          <a:solidFill>
                            <a:srgbClr val="555555"/>
                          </a:solidFill>
                          <a:latin typeface="Calibri"/>
                        </a:rPr>
                        <a:t>. → Tap (✕)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bỏ</a:t>
                      </a:r>
                      <a:r>
                        <a:rPr sz="750" b="0">
                          <a:solidFill>
                            <a:srgbClr val="555555"/>
                          </a:solidFill>
                          <a:latin typeface="Calibri"/>
                        </a:rPr>
                        <a:t> </a:t>
                      </a:r>
                      <a:r>
                        <a:rPr sz="750" b="0" err="1">
                          <a:solidFill>
                            <a:srgbClr val="555555"/>
                          </a:solidFill>
                          <a:latin typeface="Calibri"/>
                        </a:rPr>
                        <a:t>ảnh</a:t>
                      </a:r>
                      <a:r>
                        <a:rPr sz="750" b="0">
                          <a:solidFill>
                            <a:srgbClr val="555555"/>
                          </a:solidFill>
                          <a:latin typeface="Calibri"/>
                        </a:rPr>
                        <a:t> </a:t>
                      </a:r>
                      <a:r>
                        <a:rPr sz="750" b="0" err="1">
                          <a:solidFill>
                            <a:srgbClr val="555555"/>
                          </a:solidFill>
                          <a:latin typeface="Calibri"/>
                        </a:rPr>
                        <a:t>và</a:t>
                      </a:r>
                      <a:r>
                        <a:rPr sz="750" b="0">
                          <a:solidFill>
                            <a:srgbClr val="555555"/>
                          </a:solidFill>
                          <a:latin typeface="Calibri"/>
                        </a:rPr>
                        <a:t> quay </a:t>
                      </a:r>
                      <a:r>
                        <a:rPr sz="750" b="0" err="1">
                          <a:solidFill>
                            <a:srgbClr val="555555"/>
                          </a:solidFill>
                          <a:latin typeface="Calibri"/>
                        </a:rPr>
                        <a:t>về</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bằng</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err="1">
                          <a:solidFill>
                            <a:srgbClr val="222222"/>
                          </a:solidFill>
                          <a:latin typeface="Calibri"/>
                        </a:rPr>
                        <a:t>Đổi</a:t>
                      </a:r>
                      <a:r>
                        <a:rPr sz="800" b="1">
                          <a:solidFill>
                            <a:srgbClr val="222222"/>
                          </a:solidFill>
                          <a:latin typeface="Calibri"/>
                        </a:rPr>
                        <a:t> </a:t>
                      </a:r>
                      <a:r>
                        <a:rPr sz="800" b="1" err="1">
                          <a:solidFill>
                            <a:srgbClr val="222222"/>
                          </a:solidFill>
                          <a:latin typeface="Calibri"/>
                        </a:rPr>
                        <a:t>phương</a:t>
                      </a:r>
                      <a:r>
                        <a:rPr sz="800" b="1">
                          <a:solidFill>
                            <a:srgbClr val="222222"/>
                          </a:solidFill>
                          <a:latin typeface="Calibri"/>
                        </a:rPr>
                        <a:t> </a:t>
                      </a:r>
                      <a:r>
                        <a:rPr sz="800" b="1" err="1">
                          <a:solidFill>
                            <a:srgbClr val="222222"/>
                          </a:solidFill>
                          <a:latin typeface="Calibri"/>
                        </a:rPr>
                        <a:t>thức</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Icon Mic/Camera </a:t>
                      </a:r>
                      <a:r>
                        <a:rPr sz="750" b="0" err="1">
                          <a:solidFill>
                            <a:srgbClr val="555555"/>
                          </a:solidFill>
                          <a:latin typeface="Calibri"/>
                        </a:rPr>
                        <a:t>vẫn</a:t>
                      </a:r>
                      <a:r>
                        <a:rPr sz="750" b="0">
                          <a:solidFill>
                            <a:srgbClr val="555555"/>
                          </a:solidFill>
                          <a:latin typeface="Calibri"/>
                        </a:rPr>
                        <a:t> </a:t>
                      </a:r>
                      <a:r>
                        <a:rPr sz="750" b="0" err="1">
                          <a:solidFill>
                            <a:srgbClr val="555555"/>
                          </a:solidFill>
                          <a:latin typeface="Calibri"/>
                        </a:rPr>
                        <a:t>hiển</a:t>
                      </a:r>
                      <a:r>
                        <a:rPr sz="750" b="0">
                          <a:solidFill>
                            <a:srgbClr val="555555"/>
                          </a:solidFill>
                          <a:latin typeface="Calibri"/>
                        </a:rPr>
                        <a:t>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đổi</a:t>
                      </a:r>
                      <a:r>
                        <a:rPr sz="750" b="0">
                          <a:solidFill>
                            <a:srgbClr val="555555"/>
                          </a:solidFill>
                          <a:latin typeface="Calibri"/>
                        </a:rPr>
                        <a:t> </a:t>
                      </a:r>
                      <a:r>
                        <a:rPr sz="750" b="0" err="1">
                          <a:solidFill>
                            <a:srgbClr val="555555"/>
                          </a:solidFill>
                          <a:latin typeface="Calibri"/>
                        </a:rPr>
                        <a:t>phương</a:t>
                      </a:r>
                      <a:r>
                        <a:rPr sz="750" b="0">
                          <a:solidFill>
                            <a:srgbClr val="555555"/>
                          </a:solidFill>
                          <a:latin typeface="Calibri"/>
                        </a:rPr>
                        <a:t> </a:t>
                      </a:r>
                      <a:r>
                        <a:rPr sz="750" b="0" err="1">
                          <a:solidFill>
                            <a:srgbClr val="555555"/>
                          </a:solidFill>
                          <a:latin typeface="Calibri"/>
                        </a:rPr>
                        <a:t>thức</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mà</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phải</a:t>
                      </a:r>
                      <a:r>
                        <a:rPr sz="750" b="0">
                          <a:solidFill>
                            <a:srgbClr val="555555"/>
                          </a:solidFill>
                          <a:latin typeface="Calibri"/>
                        </a:rPr>
                        <a:t> quay </a:t>
                      </a:r>
                      <a:r>
                        <a:rPr sz="750" b="0" err="1">
                          <a:solidFill>
                            <a:srgbClr val="555555"/>
                          </a:solidFill>
                          <a:latin typeface="Calibri"/>
                        </a:rPr>
                        <a:t>lại</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đầu</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Sắp</a:t>
                      </a:r>
                      <a:r>
                        <a:rPr sz="800" b="1">
                          <a:solidFill>
                            <a:srgbClr val="222222"/>
                          </a:solidFill>
                          <a:latin typeface="Calibri"/>
                        </a:rPr>
                        <a:t> </a:t>
                      </a:r>
                      <a:r>
                        <a:rPr sz="800" b="1" err="1">
                          <a:solidFill>
                            <a:srgbClr val="222222"/>
                          </a:solidFill>
                          <a:latin typeface="Calibri"/>
                        </a:rPr>
                        <a:t>xếp</a:t>
                      </a:r>
                      <a:r>
                        <a:rPr sz="800" b="1">
                          <a:solidFill>
                            <a:srgbClr val="222222"/>
                          </a:solidFill>
                          <a:latin typeface="Calibri"/>
                        </a:rPr>
                        <a:t> &amp; </a:t>
                      </a:r>
                      <a:r>
                        <a:rPr sz="800" b="1" err="1">
                          <a:solidFill>
                            <a:srgbClr val="222222"/>
                          </a:solidFill>
                          <a:latin typeface="Calibri"/>
                        </a:rPr>
                        <a:t>Bộ</a:t>
                      </a:r>
                      <a:r>
                        <a:rPr sz="800" b="1">
                          <a:solidFill>
                            <a:srgbClr val="222222"/>
                          </a:solidFill>
                          <a:latin typeface="Calibri"/>
                        </a:rPr>
                        <a:t> </a:t>
                      </a:r>
                      <a:r>
                        <a:rPr sz="800" b="1" err="1">
                          <a:solidFill>
                            <a:srgbClr val="222222"/>
                          </a:solidFill>
                          <a:latin typeface="Calibri"/>
                        </a:rPr>
                        <a:t>lọc</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Dùng </a:t>
                      </a:r>
                      <a:r>
                        <a:rPr sz="750" b="0" err="1">
                          <a:solidFill>
                            <a:srgbClr val="555555"/>
                          </a:solidFill>
                          <a:latin typeface="Calibri"/>
                        </a:rPr>
                        <a:t>lại</a:t>
                      </a:r>
                      <a:r>
                        <a:rPr sz="750" b="0">
                          <a:solidFill>
                            <a:srgbClr val="555555"/>
                          </a:solidFill>
                          <a:latin typeface="Calibri"/>
                        </a:rPr>
                        <a:t> </a:t>
                      </a:r>
                      <a:r>
                        <a:rPr sz="750" b="0" err="1">
                          <a:solidFill>
                            <a:srgbClr val="555555"/>
                          </a:solidFill>
                          <a:latin typeface="Calibri"/>
                        </a:rPr>
                        <a:t>đúng</a:t>
                      </a:r>
                      <a:r>
                        <a:rPr sz="750" b="0">
                          <a:solidFill>
                            <a:srgbClr val="555555"/>
                          </a:solidFill>
                          <a:latin typeface="Calibri"/>
                        </a:rPr>
                        <a:t> component </a:t>
                      </a:r>
                      <a:r>
                        <a:rPr sz="750" b="0" err="1">
                          <a:solidFill>
                            <a:srgbClr val="555555"/>
                          </a:solidFill>
                          <a:latin typeface="Calibri"/>
                        </a:rPr>
                        <a:t>của</a:t>
                      </a:r>
                      <a:r>
                        <a:rPr sz="750" b="0">
                          <a:solidFill>
                            <a:srgbClr val="555555"/>
                          </a:solidFill>
                          <a:latin typeface="Calibri"/>
                        </a:rPr>
                        <a:t> </a:t>
                      </a:r>
                      <a:r>
                        <a:rPr sz="750" b="0" err="1">
                          <a:solidFill>
                            <a:srgbClr val="555555"/>
                          </a:solidFill>
                          <a:latin typeface="Calibri"/>
                        </a:rPr>
                        <a:t>luồng</a:t>
                      </a:r>
                      <a:r>
                        <a:rPr sz="750" b="0">
                          <a:solidFill>
                            <a:srgbClr val="555555"/>
                          </a:solidFill>
                          <a:latin typeface="Calibri"/>
                        </a:rPr>
                        <a:t> text (SS-SCR-007, SS-SCR-008) — </a:t>
                      </a:r>
                      <a:r>
                        <a:rPr sz="750" b="0" err="1">
                          <a:solidFill>
                            <a:srgbClr val="555555"/>
                          </a:solidFill>
                          <a:latin typeface="Calibri"/>
                        </a:rPr>
                        <a:t>hành</a:t>
                      </a:r>
                      <a:r>
                        <a:rPr sz="750" b="0">
                          <a:solidFill>
                            <a:srgbClr val="555555"/>
                          </a:solidFill>
                          <a:latin typeface="Calibri"/>
                        </a:rPr>
                        <a:t> vi </a:t>
                      </a:r>
                      <a:r>
                        <a:rPr sz="750" b="0" err="1">
                          <a:solidFill>
                            <a:srgbClr val="555555"/>
                          </a:solidFill>
                          <a:latin typeface="Calibri"/>
                        </a:rPr>
                        <a:t>đồng</a:t>
                      </a:r>
                      <a:r>
                        <a:rPr sz="750" b="0">
                          <a:solidFill>
                            <a:srgbClr val="555555"/>
                          </a:solidFill>
                          <a:latin typeface="Calibri"/>
                        </a:rPr>
                        <a:t> </a:t>
                      </a:r>
                      <a:r>
                        <a:rPr sz="750" b="0" err="1">
                          <a:solidFill>
                            <a:srgbClr val="555555"/>
                          </a:solidFill>
                          <a:latin typeface="Calibri"/>
                        </a:rPr>
                        <a:t>nhất</a:t>
                      </a:r>
                      <a:r>
                        <a:rPr sz="750" b="0">
                          <a:solidFill>
                            <a:srgbClr val="555555"/>
                          </a:solidFill>
                          <a:latin typeface="Calibri"/>
                        </a:rPr>
                        <a:t> </a:t>
                      </a:r>
                      <a:r>
                        <a:rPr sz="750" b="0" err="1">
                          <a:solidFill>
                            <a:srgbClr val="555555"/>
                          </a:solidFill>
                          <a:latin typeface="Calibri"/>
                        </a:rPr>
                        <a:t>giữa</a:t>
                      </a:r>
                      <a:r>
                        <a:rPr sz="750" b="0">
                          <a:solidFill>
                            <a:srgbClr val="555555"/>
                          </a:solidFill>
                          <a:latin typeface="Calibri"/>
                        </a:rPr>
                        <a:t> 3 </a:t>
                      </a:r>
                      <a:r>
                        <a:rPr sz="750" b="0" err="1">
                          <a:solidFill>
                            <a:srgbClr val="555555"/>
                          </a:solidFill>
                          <a:latin typeface="Calibri"/>
                        </a:rPr>
                        <a:t>phương</a:t>
                      </a:r>
                      <a:r>
                        <a:rPr sz="750" b="0">
                          <a:solidFill>
                            <a:srgbClr val="555555"/>
                          </a:solidFill>
                          <a:latin typeface="Calibri"/>
                        </a:rPr>
                        <a:t> </a:t>
                      </a:r>
                      <a:r>
                        <a:rPr sz="750" b="0" err="1">
                          <a:solidFill>
                            <a:srgbClr val="555555"/>
                          </a:solidFill>
                          <a:latin typeface="Calibri"/>
                        </a:rPr>
                        <a:t>thức</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Chip </a:t>
                      </a:r>
                      <a:r>
                        <a:rPr lang="en-US" sz="800" b="1" err="1">
                          <a:solidFill>
                            <a:srgbClr val="222222"/>
                          </a:solidFill>
                          <a:latin typeface="Calibri"/>
                        </a:rPr>
                        <a:t>lọc</a:t>
                      </a:r>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lvl="0" indent="0">
                        <a:buNone/>
                      </a:pPr>
                      <a:r>
                        <a:rPr lang="en-US" sz="750" b="0" i="0" u="none" strike="noStrike" noProof="0">
                          <a:solidFill>
                            <a:srgbClr val="555555"/>
                          </a:solidFill>
                        </a:rPr>
                        <a:t>Chip </a:t>
                      </a:r>
                      <a:r>
                        <a:rPr lang="en-US" sz="750" b="0" i="0" u="none" strike="noStrike" noProof="0" err="1">
                          <a:solidFill>
                            <a:srgbClr val="555555"/>
                          </a:solidFill>
                        </a:rPr>
                        <a:t>đã</a:t>
                      </a:r>
                      <a:r>
                        <a:rPr lang="en-US" sz="750" b="0" i="0" u="none" strike="noStrike" noProof="0">
                          <a:solidFill>
                            <a:srgbClr val="555555"/>
                          </a:solidFill>
                        </a:rPr>
                        <a:t> </a:t>
                      </a:r>
                      <a:r>
                        <a:rPr lang="en-US" sz="750" b="0" i="0" u="none" strike="noStrike" noProof="0" err="1">
                          <a:solidFill>
                            <a:srgbClr val="555555"/>
                          </a:solidFill>
                        </a:rPr>
                        <a:t>chọn</a:t>
                      </a:r>
                      <a:r>
                        <a:rPr lang="en-US" sz="750" b="0" i="0" u="none" strike="noStrike" noProof="0">
                          <a:solidFill>
                            <a:srgbClr val="555555"/>
                          </a:solidFill>
                        </a:rPr>
                        <a:t> </a:t>
                      </a:r>
                      <a:r>
                        <a:rPr lang="en-US" sz="750" b="0" i="0" u="none" strike="noStrike" noProof="0" err="1">
                          <a:solidFill>
                            <a:srgbClr val="555555"/>
                          </a:solidFill>
                        </a:rPr>
                        <a:t>đổi</a:t>
                      </a:r>
                      <a:r>
                        <a:rPr lang="en-US" sz="750" b="0" i="0" u="none" strike="noStrike" noProof="0">
                          <a:solidFill>
                            <a:srgbClr val="555555"/>
                          </a:solidFill>
                        </a:rPr>
                        <a:t> sang </a:t>
                      </a:r>
                      <a:r>
                        <a:rPr lang="en-US" sz="750" b="0" i="0" u="none" strike="noStrike" noProof="0" err="1">
                          <a:solidFill>
                            <a:srgbClr val="555555"/>
                          </a:solidFill>
                        </a:rPr>
                        <a:t>nền</a:t>
                      </a:r>
                      <a:r>
                        <a:rPr lang="en-US" sz="750" b="0" i="0" u="none" strike="noStrike" noProof="0">
                          <a:solidFill>
                            <a:srgbClr val="555555"/>
                          </a:solidFill>
                        </a:rPr>
                        <a:t> </a:t>
                      </a:r>
                      <a:r>
                        <a:rPr lang="en-US" sz="750" b="0" i="0" u="none" strike="noStrike" noProof="0" err="1">
                          <a:solidFill>
                            <a:srgbClr val="555555"/>
                          </a:solidFill>
                        </a:rPr>
                        <a:t>đỏ</a:t>
                      </a:r>
                      <a:r>
                        <a:rPr lang="en-US" sz="750" b="0" i="0" u="none" strike="noStrike" noProof="0">
                          <a:solidFill>
                            <a:srgbClr val="555555"/>
                          </a:solidFill>
                        </a:rPr>
                        <a:t>, </a:t>
                      </a:r>
                      <a:r>
                        <a:rPr lang="en-US" sz="750" b="0" i="0" u="none" strike="noStrike" noProof="0" err="1">
                          <a:solidFill>
                            <a:srgbClr val="555555"/>
                          </a:solidFill>
                        </a:rPr>
                        <a:t>chữ</a:t>
                      </a:r>
                      <a:r>
                        <a:rPr lang="en-US" sz="750" b="0" i="0" u="none" strike="noStrike" noProof="0">
                          <a:solidFill>
                            <a:srgbClr val="555555"/>
                          </a:solidFill>
                        </a:rPr>
                        <a:t> </a:t>
                      </a:r>
                      <a:r>
                        <a:rPr lang="en-US" sz="750" b="0" i="0" u="none" strike="noStrike" noProof="0" err="1">
                          <a:solidFill>
                            <a:srgbClr val="555555"/>
                          </a:solidFill>
                        </a:rPr>
                        <a:t>trắng</a:t>
                      </a:r>
                      <a:r>
                        <a:rPr lang="en-US" sz="750" b="0" i="0" u="none" strike="noStrike" noProof="0">
                          <a:solidFill>
                            <a:srgbClr val="555555"/>
                          </a:solidFill>
                        </a:rPr>
                        <a:t>. → Tap </a:t>
                      </a:r>
                      <a:r>
                        <a:rPr lang="en-US" sz="750" b="0" i="0" u="none" strike="noStrike" noProof="0" err="1">
                          <a:solidFill>
                            <a:srgbClr val="555555"/>
                          </a:solidFill>
                        </a:rPr>
                        <a:t>lại</a:t>
                      </a:r>
                      <a:r>
                        <a:rPr lang="en-US" sz="750" b="0" i="0" u="none" strike="noStrike" noProof="0">
                          <a:solidFill>
                            <a:srgbClr val="555555"/>
                          </a:solidFill>
                        </a:rPr>
                        <a:t> </a:t>
                      </a:r>
                      <a:r>
                        <a:rPr lang="en-US" sz="750" b="0" i="0" u="none" strike="noStrike" noProof="0" err="1">
                          <a:solidFill>
                            <a:srgbClr val="555555"/>
                          </a:solidFill>
                        </a:rPr>
                        <a:t>để</a:t>
                      </a:r>
                      <a:r>
                        <a:rPr lang="en-US" sz="750" b="0" i="0" u="none" strike="noStrike" noProof="0">
                          <a:solidFill>
                            <a:srgbClr val="555555"/>
                          </a:solidFill>
                        </a:rPr>
                        <a:t> </a:t>
                      </a:r>
                      <a:r>
                        <a:rPr lang="en-US" sz="750" b="0" i="0" u="none" strike="noStrike" noProof="0" err="1">
                          <a:solidFill>
                            <a:srgbClr val="555555"/>
                          </a:solidFill>
                        </a:rPr>
                        <a:t>bỏ</a:t>
                      </a:r>
                      <a:r>
                        <a:rPr lang="en-US" sz="750" b="0" i="0" u="none" strike="noStrike" noProof="0">
                          <a:solidFill>
                            <a:srgbClr val="555555"/>
                          </a:solidFill>
                        </a:rPr>
                        <a:t> </a:t>
                      </a:r>
                      <a:r>
                        <a:rPr lang="en-US" sz="750" b="0" i="0" u="none" strike="noStrike" noProof="0" err="1">
                          <a:solidFill>
                            <a:srgbClr val="555555"/>
                          </a:solidFill>
                        </a:rPr>
                        <a:t>chọn</a:t>
                      </a:r>
                      <a:r>
                        <a:rPr lang="en-US" sz="750" b="0" i="0" u="none" strike="noStrike" noProof="0">
                          <a:solidFill>
                            <a:srgbClr val="555555"/>
                          </a:solidFill>
                        </a:rPr>
                        <a:t> </a:t>
                      </a:r>
                      <a:r>
                        <a:rPr lang="en-US" sz="750" b="0" i="0" u="none" strike="noStrike" noProof="0" err="1">
                          <a:solidFill>
                            <a:srgbClr val="555555"/>
                          </a:solidFill>
                        </a:rPr>
                        <a:t>và</a:t>
                      </a:r>
                      <a:r>
                        <a:rPr lang="en-US" sz="750" b="0" i="0" u="none" strike="noStrike" noProof="0">
                          <a:solidFill>
                            <a:srgbClr val="555555"/>
                          </a:solidFill>
                        </a:rPr>
                        <a:t> </a:t>
                      </a:r>
                      <a:r>
                        <a:rPr lang="en-US" sz="750" b="0" i="0" u="none" strike="noStrike" noProof="0" err="1">
                          <a:solidFill>
                            <a:srgbClr val="555555"/>
                          </a:solidFill>
                        </a:rPr>
                        <a:t>chạy</a:t>
                      </a:r>
                      <a:r>
                        <a:rPr lang="en-US" sz="750" b="0" i="0" u="none" strike="noStrike" noProof="0">
                          <a:solidFill>
                            <a:srgbClr val="555555"/>
                          </a:solidFill>
                        </a:rPr>
                        <a:t> </a:t>
                      </a:r>
                      <a:r>
                        <a:rPr lang="en-US" sz="750" b="0" i="0" u="none" strike="noStrike" noProof="0" err="1">
                          <a:solidFill>
                            <a:srgbClr val="555555"/>
                          </a:solidFill>
                        </a:rPr>
                        <a:t>lại</a:t>
                      </a:r>
                      <a:r>
                        <a:rPr lang="en-US" sz="750" b="0" i="0" u="none" strike="noStrike" noProof="0">
                          <a:solidFill>
                            <a:srgbClr val="555555"/>
                          </a:solidFill>
                        </a:rPr>
                        <a:t> </a:t>
                      </a:r>
                      <a:r>
                        <a:rPr lang="en-US" sz="750" b="0" i="0" u="none" strike="noStrike" noProof="0" err="1">
                          <a:solidFill>
                            <a:srgbClr val="555555"/>
                          </a:solidFill>
                        </a:rPr>
                        <a:t>truy</a:t>
                      </a:r>
                      <a:r>
                        <a:rPr lang="en-US" sz="750" b="0" i="0" u="none" strike="noStrike" noProof="0">
                          <a:solidFill>
                            <a:srgbClr val="555555"/>
                          </a:solidFill>
                        </a:rPr>
                        <a:t> </a:t>
                      </a:r>
                      <a:r>
                        <a:rPr lang="en-US" sz="750" b="0" i="0" u="none" strike="noStrike" noProof="0" err="1">
                          <a:solidFill>
                            <a:srgbClr val="555555"/>
                          </a:solidFill>
                        </a:rPr>
                        <a:t>vấn</a:t>
                      </a:r>
                      <a:r>
                        <a:rPr lang="en-US" sz="750" b="0" i="0" u="none" strike="noStrike" noProof="0">
                          <a:solidFill>
                            <a:srgbClr val="555555"/>
                          </a:solidFill>
                        </a:rPr>
                        <a:t> </a:t>
                      </a:r>
                      <a:r>
                        <a:rPr lang="en-US" sz="750" b="0" i="0" u="none" strike="noStrike" noProof="0" err="1">
                          <a:solidFill>
                            <a:srgbClr val="555555"/>
                          </a:solidFill>
                        </a:rPr>
                        <a:t>ngay</a:t>
                      </a:r>
                      <a:r>
                        <a:rPr lang="en-US" sz="750" b="0" i="0" u="none" strike="noStrike" noProof="0">
                          <a:solidFill>
                            <a:srgbClr val="555555"/>
                          </a:solidFill>
                        </a:rPr>
                        <a:t>. </a:t>
                      </a:r>
                      <a:endParaRPr lang="en-US"/>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Số</a:t>
                      </a:r>
                      <a:r>
                        <a:rPr sz="800" b="1">
                          <a:solidFill>
                            <a:srgbClr val="222222"/>
                          </a:solidFill>
                          <a:latin typeface="Calibri"/>
                        </a:rPr>
                        <a:t> </a:t>
                      </a:r>
                      <a:r>
                        <a:rPr sz="800" b="1" err="1">
                          <a:solidFill>
                            <a:srgbClr val="222222"/>
                          </a:solidFill>
                          <a:latin typeface="Calibri"/>
                        </a:rPr>
                        <a:t>kết</a:t>
                      </a:r>
                      <a:r>
                        <a:rPr sz="800" b="1">
                          <a:solidFill>
                            <a:srgbClr val="222222"/>
                          </a:solidFill>
                          <a:latin typeface="Calibri"/>
                        </a:rPr>
                        <a:t> </a:t>
                      </a:r>
                      <a:r>
                        <a:rPr sz="800" b="1" err="1">
                          <a:solidFill>
                            <a:srgbClr val="222222"/>
                          </a:solidFill>
                          <a:latin typeface="Calibri"/>
                        </a:rPr>
                        <a:t>quả</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err="1">
                          <a:solidFill>
                            <a:srgbClr val="555555"/>
                          </a:solidFill>
                          <a:latin typeface="Calibri"/>
                        </a:rPr>
                        <a:t>Tổng</a:t>
                      </a:r>
                      <a:r>
                        <a:rPr sz="750" b="0">
                          <a:solidFill>
                            <a:srgbClr val="555555"/>
                          </a:solidFill>
                          <a:latin typeface="Calibri"/>
                        </a:rPr>
                        <a:t> SKU </a:t>
                      </a:r>
                      <a:r>
                        <a:rPr sz="750" b="0" err="1">
                          <a:solidFill>
                            <a:srgbClr val="555555"/>
                          </a:solidFill>
                          <a:latin typeface="Calibri"/>
                        </a:rPr>
                        <a:t>khớp</a:t>
                      </a:r>
                      <a:r>
                        <a:rPr sz="750" b="0">
                          <a:solidFill>
                            <a:srgbClr val="555555"/>
                          </a:solidFill>
                          <a:latin typeface="Calibri"/>
                        </a:rPr>
                        <a:t> </a:t>
                      </a:r>
                      <a:r>
                        <a:rPr sz="750" b="0" err="1">
                          <a:solidFill>
                            <a:srgbClr val="555555"/>
                          </a:solidFill>
                          <a:latin typeface="Calibri"/>
                        </a:rPr>
                        <a:t>với</a:t>
                      </a:r>
                      <a:r>
                        <a:rPr sz="750" b="0">
                          <a:solidFill>
                            <a:srgbClr val="555555"/>
                          </a:solidFill>
                          <a:latin typeface="Calibri"/>
                        </a:rPr>
                        <a:t> </a:t>
                      </a:r>
                      <a:r>
                        <a:rPr sz="750" b="0" err="1">
                          <a:solidFill>
                            <a:srgbClr val="555555"/>
                          </a:solidFill>
                          <a:latin typeface="Calibri"/>
                        </a:rPr>
                        <a:t>ảnh</a:t>
                      </a:r>
                      <a:r>
                        <a:rPr sz="750" b="0">
                          <a:solidFill>
                            <a:srgbClr val="555555"/>
                          </a:solidFill>
                          <a:latin typeface="Calibri"/>
                        </a:rPr>
                        <a:t>. </a:t>
                      </a:r>
                      <a:r>
                        <a:rPr lang="en-US" sz="750" b="0" err="1">
                          <a:solidFill>
                            <a:srgbClr val="555555"/>
                          </a:solidFill>
                          <a:latin typeface="Calibri"/>
                        </a:rPr>
                        <a:t>Số</a:t>
                      </a:r>
                      <a:r>
                        <a:rPr lang="en-US" sz="750" b="0">
                          <a:solidFill>
                            <a:srgbClr val="555555"/>
                          </a:solidFill>
                          <a:latin typeface="Calibri"/>
                        </a:rPr>
                        <a:t> này </a:t>
                      </a:r>
                      <a:r>
                        <a:rPr lang="en-US" sz="750" b="0" i="0" u="none" strike="noStrike" noProof="0">
                          <a:solidFill>
                            <a:srgbClr val="555555"/>
                          </a:solidFill>
                        </a:rPr>
                        <a:t>được tính lại sau mỗi thay đổi bộ lọc — phản hồi tức thì cho thao tác lọc.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Lưới </a:t>
                      </a:r>
                      <a:r>
                        <a:rPr sz="800" b="1" err="1">
                          <a:solidFill>
                            <a:srgbClr val="222222"/>
                          </a:solidFill>
                          <a:latin typeface="Calibri"/>
                        </a:rPr>
                        <a:t>kết</a:t>
                      </a:r>
                      <a:r>
                        <a:rPr sz="800" b="1">
                          <a:solidFill>
                            <a:srgbClr val="222222"/>
                          </a:solidFill>
                          <a:latin typeface="Calibri"/>
                        </a:rPr>
                        <a:t> </a:t>
                      </a:r>
                      <a:r>
                        <a:rPr sz="800" b="1" err="1">
                          <a:solidFill>
                            <a:srgbClr val="222222"/>
                          </a:solidFill>
                          <a:latin typeface="Calibri"/>
                        </a:rPr>
                        <a:t>quả</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err="1">
                          <a:solidFill>
                            <a:srgbClr val="555555"/>
                          </a:solidFill>
                          <a:latin typeface="Calibri"/>
                        </a:rPr>
                        <a:t>Cấu</a:t>
                      </a:r>
                      <a:r>
                        <a:rPr sz="750" b="0">
                          <a:solidFill>
                            <a:srgbClr val="555555"/>
                          </a:solidFill>
                          <a:latin typeface="Calibri"/>
                        </a:rPr>
                        <a:t> </a:t>
                      </a:r>
                      <a:r>
                        <a:rPr sz="750" b="0" err="1">
                          <a:solidFill>
                            <a:srgbClr val="555555"/>
                          </a:solidFill>
                          <a:latin typeface="Calibri"/>
                        </a:rPr>
                        <a:t>trúc</a:t>
                      </a:r>
                      <a:r>
                        <a:rPr sz="750" b="0">
                          <a:solidFill>
                            <a:srgbClr val="555555"/>
                          </a:solidFill>
                          <a:latin typeface="Calibri"/>
                        </a:rPr>
                        <a:t> card </a:t>
                      </a:r>
                      <a:r>
                        <a:rPr sz="750" b="0" err="1">
                          <a:solidFill>
                            <a:srgbClr val="555555"/>
                          </a:solidFill>
                          <a:latin typeface="Calibri"/>
                        </a:rPr>
                        <a:t>giống</a:t>
                      </a:r>
                      <a:r>
                        <a:rPr sz="750" b="0">
                          <a:solidFill>
                            <a:srgbClr val="555555"/>
                          </a:solidFill>
                          <a:latin typeface="Calibri"/>
                        </a:rPr>
                        <a:t> SS-SCR-005 — </a:t>
                      </a:r>
                      <a:r>
                        <a:rPr sz="750" b="0" err="1">
                          <a:solidFill>
                            <a:srgbClr val="555555"/>
                          </a:solidFill>
                          <a:latin typeface="Calibri"/>
                        </a:rPr>
                        <a:t>khách</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phải</a:t>
                      </a:r>
                      <a:r>
                        <a:rPr sz="750" b="0">
                          <a:solidFill>
                            <a:srgbClr val="555555"/>
                          </a:solidFill>
                          <a:latin typeface="Calibri"/>
                        </a:rPr>
                        <a:t> </a:t>
                      </a:r>
                      <a:r>
                        <a:rPr sz="750" b="0" err="1">
                          <a:solidFill>
                            <a:srgbClr val="555555"/>
                          </a:solidFill>
                          <a:latin typeface="Calibri"/>
                        </a:rPr>
                        <a:t>học</a:t>
                      </a:r>
                      <a:r>
                        <a:rPr sz="750" b="0">
                          <a:solidFill>
                            <a:srgbClr val="555555"/>
                          </a:solidFill>
                          <a:latin typeface="Calibri"/>
                        </a:rPr>
                        <a:t> </a:t>
                      </a:r>
                      <a:r>
                        <a:rPr sz="750" b="0" err="1">
                          <a:solidFill>
                            <a:srgbClr val="555555"/>
                          </a:solidFill>
                          <a:latin typeface="Calibri"/>
                        </a:rPr>
                        <a:t>lại</a:t>
                      </a:r>
                      <a:r>
                        <a:rPr sz="750" b="0">
                          <a:solidFill>
                            <a:srgbClr val="555555"/>
                          </a:solidFill>
                          <a:latin typeface="Calibri"/>
                        </a:rPr>
                        <a:t> </a:t>
                      </a:r>
                      <a:r>
                        <a:rPr sz="750" b="0" err="1">
                          <a:solidFill>
                            <a:srgbClr val="555555"/>
                          </a:solidFill>
                          <a:latin typeface="Calibri"/>
                        </a:rPr>
                        <a:t>giao</a:t>
                      </a:r>
                      <a:r>
                        <a:rPr sz="750" b="0">
                          <a:solidFill>
                            <a:srgbClr val="555555"/>
                          </a:solidFill>
                          <a:latin typeface="Calibri"/>
                        </a:rPr>
                        <a:t> </a:t>
                      </a:r>
                      <a:r>
                        <a:rPr sz="750" b="0" err="1">
                          <a:solidFill>
                            <a:srgbClr val="555555"/>
                          </a:solidFill>
                          <a:latin typeface="Calibri"/>
                        </a:rPr>
                        <a:t>diện</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Độ</a:t>
                      </a:r>
                      <a:r>
                        <a:rPr sz="800" b="1">
                          <a:solidFill>
                            <a:srgbClr val="222222"/>
                          </a:solidFill>
                          <a:latin typeface="Calibri"/>
                        </a:rPr>
                        <a:t> tin </a:t>
                      </a:r>
                      <a:r>
                        <a:rPr sz="800" b="1" err="1">
                          <a:solidFill>
                            <a:srgbClr val="222222"/>
                          </a:solidFill>
                          <a:latin typeface="Calibri"/>
                        </a:rPr>
                        <a:t>cậy</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a:t>
                      </a:r>
                      <a:r>
                        <a:rPr sz="750" b="0" err="1">
                          <a:solidFill>
                            <a:srgbClr val="555555"/>
                          </a:solidFill>
                          <a:latin typeface="Calibri"/>
                        </a:rPr>
                        <a:t>Cần</a:t>
                      </a:r>
                      <a:r>
                        <a:rPr sz="750" b="0">
                          <a:solidFill>
                            <a:srgbClr val="555555"/>
                          </a:solidFill>
                          <a:latin typeface="Calibri"/>
                        </a:rPr>
                        <a:t> </a:t>
                      </a:r>
                      <a:r>
                        <a:rPr sz="750" b="0" err="1">
                          <a:solidFill>
                            <a:srgbClr val="555555"/>
                          </a:solidFill>
                          <a:latin typeface="Calibri"/>
                        </a:rPr>
                        <a:t>chốt</a:t>
                      </a:r>
                      <a:r>
                        <a:rPr sz="750" b="0">
                          <a:solidFill>
                            <a:srgbClr val="555555"/>
                          </a:solidFill>
                          <a:latin typeface="Calibri"/>
                        </a:rPr>
                        <a:t> </a:t>
                      </a:r>
                      <a:r>
                        <a:rPr sz="750" b="0" err="1">
                          <a:solidFill>
                            <a:srgbClr val="555555"/>
                          </a:solidFill>
                          <a:latin typeface="Calibri"/>
                        </a:rPr>
                        <a:t>ngưỡng</a:t>
                      </a:r>
                      <a:r>
                        <a:rPr sz="750" b="0">
                          <a:solidFill>
                            <a:srgbClr val="555555"/>
                          </a:solidFill>
                          <a:latin typeface="Calibri"/>
                        </a:rPr>
                        <a:t> confidence: </a:t>
                      </a:r>
                      <a:r>
                        <a:rPr sz="750" b="0" err="1">
                          <a:solidFill>
                            <a:srgbClr val="555555"/>
                          </a:solidFill>
                          <a:latin typeface="Calibri"/>
                        </a:rPr>
                        <a:t>dưới</a:t>
                      </a:r>
                      <a:r>
                        <a:rPr sz="750" b="0">
                          <a:solidFill>
                            <a:srgbClr val="555555"/>
                          </a:solidFill>
                          <a:latin typeface="Calibri"/>
                        </a:rPr>
                        <a:t> </a:t>
                      </a:r>
                      <a:r>
                        <a:rPr sz="750" b="0" err="1">
                          <a:solidFill>
                            <a:srgbClr val="555555"/>
                          </a:solidFill>
                          <a:latin typeface="Calibri"/>
                        </a:rPr>
                        <a:t>ngưỡng</a:t>
                      </a:r>
                      <a:r>
                        <a:rPr sz="750" b="0">
                          <a:solidFill>
                            <a:srgbClr val="555555"/>
                          </a:solidFill>
                          <a:latin typeface="Calibri"/>
                        </a:rPr>
                        <a:t> </a:t>
                      </a:r>
                      <a:r>
                        <a:rPr sz="750" b="0" err="1">
                          <a:solidFill>
                            <a:srgbClr val="555555"/>
                          </a:solidFill>
                          <a:latin typeface="Calibri"/>
                        </a:rPr>
                        <a:t>thì</a:t>
                      </a:r>
                      <a:r>
                        <a:rPr sz="750" b="0">
                          <a:solidFill>
                            <a:srgbClr val="555555"/>
                          </a:solidFill>
                          <a:latin typeface="Calibri"/>
                        </a:rPr>
                        <a:t> </a:t>
                      </a:r>
                      <a:r>
                        <a:rPr sz="750" b="0" err="1">
                          <a:solidFill>
                            <a:srgbClr val="555555"/>
                          </a:solidFill>
                          <a:latin typeface="Calibri"/>
                        </a:rPr>
                        <a:t>chuyển</a:t>
                      </a:r>
                      <a:r>
                        <a:rPr sz="750" b="0">
                          <a:solidFill>
                            <a:srgbClr val="555555"/>
                          </a:solidFill>
                          <a:latin typeface="Calibri"/>
                        </a:rPr>
                        <a:t> sang </a:t>
                      </a:r>
                      <a:r>
                        <a:rPr sz="750" b="0" err="1">
                          <a:solidFill>
                            <a:srgbClr val="555555"/>
                          </a:solidFill>
                          <a:latin typeface="Calibri"/>
                        </a:rPr>
                        <a:t>màn</a:t>
                      </a:r>
                      <a:r>
                        <a:rPr sz="750" b="0">
                          <a:solidFill>
                            <a:srgbClr val="555555"/>
                          </a:solidFill>
                          <a:latin typeface="Calibri"/>
                        </a:rPr>
                        <a:t> </a:t>
                      </a:r>
                      <a:r>
                        <a:rPr sz="750" b="0" err="1">
                          <a:solidFill>
                            <a:srgbClr val="555555"/>
                          </a:solidFill>
                          <a:latin typeface="Calibri"/>
                        </a:rPr>
                        <a:t>hình</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nhận</a:t>
                      </a:r>
                      <a:r>
                        <a:rPr sz="750" b="0">
                          <a:solidFill>
                            <a:srgbClr val="555555"/>
                          </a:solidFill>
                          <a:latin typeface="Calibri"/>
                        </a:rPr>
                        <a:t> </a:t>
                      </a:r>
                      <a:r>
                        <a:rPr sz="750" b="0" err="1">
                          <a:solidFill>
                            <a:srgbClr val="555555"/>
                          </a:solidFill>
                          <a:latin typeface="Calibri"/>
                        </a:rPr>
                        <a:t>diện</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(SS-SCR-016) </a:t>
                      </a:r>
                      <a:r>
                        <a:rPr sz="750" b="0" err="1">
                          <a:solidFill>
                            <a:srgbClr val="555555"/>
                          </a:solidFill>
                          <a:latin typeface="Calibri"/>
                        </a:rPr>
                        <a:t>thay</a:t>
                      </a:r>
                      <a:r>
                        <a:rPr sz="750" b="0">
                          <a:solidFill>
                            <a:srgbClr val="555555"/>
                          </a:solidFill>
                          <a:latin typeface="Calibri"/>
                        </a:rPr>
                        <a:t> </a:t>
                      </a:r>
                      <a:r>
                        <a:rPr sz="750" b="0" err="1">
                          <a:solidFill>
                            <a:srgbClr val="555555"/>
                          </a:solidFill>
                          <a:latin typeface="Calibri"/>
                        </a:rPr>
                        <a:t>vì</a:t>
                      </a:r>
                      <a:r>
                        <a:rPr sz="750" b="0">
                          <a:solidFill>
                            <a:srgbClr val="555555"/>
                          </a:solidFill>
                          <a:latin typeface="Calibri"/>
                        </a:rPr>
                        <a:t> </a:t>
                      </a:r>
                      <a:r>
                        <a:rPr sz="750" b="0" err="1">
                          <a:solidFill>
                            <a:srgbClr val="555555"/>
                          </a:solidFill>
                          <a:latin typeface="Calibri"/>
                        </a:rPr>
                        <a:t>trả</a:t>
                      </a:r>
                      <a:r>
                        <a:rPr sz="750" b="0">
                          <a:solidFill>
                            <a:srgbClr val="555555"/>
                          </a:solidFill>
                          <a:latin typeface="Calibri"/>
                        </a:rPr>
                        <a:t> </a:t>
                      </a:r>
                      <a:r>
                        <a:rPr sz="750" b="0" err="1">
                          <a:solidFill>
                            <a:srgbClr val="555555"/>
                          </a:solidFill>
                          <a:latin typeface="Calibri"/>
                        </a:rPr>
                        <a:t>kết</a:t>
                      </a:r>
                      <a:r>
                        <a:rPr sz="750" b="0">
                          <a:solidFill>
                            <a:srgbClr val="555555"/>
                          </a:solidFill>
                          <a:latin typeface="Calibri"/>
                        </a:rPr>
                        <a:t> </a:t>
                      </a:r>
                      <a:r>
                        <a:rPr sz="750" b="0" err="1">
                          <a:solidFill>
                            <a:srgbClr val="555555"/>
                          </a:solidFill>
                          <a:latin typeface="Calibri"/>
                        </a:rPr>
                        <a:t>quả</a:t>
                      </a:r>
                      <a:r>
                        <a:rPr sz="750" b="0">
                          <a:solidFill>
                            <a:srgbClr val="555555"/>
                          </a:solidFill>
                          <a:latin typeface="Calibri"/>
                        </a:rPr>
                        <a:t> </a:t>
                      </a:r>
                      <a:r>
                        <a:rPr sz="750" b="0" err="1">
                          <a:solidFill>
                            <a:srgbClr val="555555"/>
                          </a:solidFill>
                          <a:latin typeface="Calibri"/>
                        </a:rPr>
                        <a:t>sai</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Kết quả tìm bằng ảnh dùng chung trang kết quả với tìm bằng chữ — chỉ khác nguồn truy vấn. Đây là điểm tiết kiệm effort lớn nhất của thiết kế.</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20</a:t>
            </a:r>
            <a:endParaRPr lang="en-US" sz="700"/>
          </a:p>
        </p:txBody>
      </p:sp>
      <p:pic>
        <p:nvPicPr>
          <p:cNvPr id="40" name="Picture 39" descr="SS-SCR-015.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ảnh</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FR-IS-04</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SS-SCR-016</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bằng ảnh — Không nhận diện được</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362712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Header luồng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Tiêu đề "Tìm bằng ảnh" + nút Back — khách luôn biết mình đang ở luồng nào.</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Icon trạng thái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Icon camera trong khung tròn nhạt — báo lỗi mềm, không dùng biểu tượng cảnh báo gay gắt.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Tiêu đề lỗi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"Không nhận diện được" — nêu đúng vấn đề, không dùng mã lỗi kỹ thuật.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Hướng dẫn khắc phục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"Hình ảnh mờ hoặc không có sản phẩm rõ ràng. Vui lòng thử lại với ảnh chụp thẳng, đủ sáng." — chỉ ra hành động cụ thể khách cần làm.</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Thử lại (CTA chính)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Quay lại màn hình chụp (SS-SCR-013), giữ nguyên chế độ camera trước đó.</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Tìm bằng từ khoá (CTA phụ)</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 Chuyển sang màn hình Pre-search (SS-SCR-001). ⚠ Luôn phải có đường thoát sang phương thức khác — không để khách vào ngõ cụt.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Cấu trúc màn hình lỗi này dùng chung với luồng giọng nói (SS-SCR-019) — chỉ khác icon và nội dung chữ.</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21</a:t>
            </a:r>
            <a:endParaRPr lang="en-US" sz="700"/>
          </a:p>
        </p:txBody>
      </p:sp>
      <p:pic>
        <p:nvPicPr>
          <p:cNvPr id="40" name="Picture 39" descr="SS-SCR-016.png"/>
          <p:cNvPicPr>
            <a:picLocks noChangeAspect="1"/>
          </p:cNvPicPr>
          <p:nvPr/>
        </p:nvPicPr>
        <p:blipFill>
          <a:blip r:embed="rId2"/>
          <a:stretch>
            <a:fillRect/>
          </a:stretch>
        </p:blipFill>
        <p:spPr>
          <a:xfrm>
            <a:off x="1119635" y="602920"/>
            <a:ext cx="4856473" cy="47377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giọng nói</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FR-VS-01</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SS-SCR-017</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bằng giọng nói — Đang lắng nghe</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2459996822"/>
              </p:ext>
            </p:extLst>
          </p:nvPr>
        </p:nvGraphicFramePr>
        <p:xfrm>
          <a:off x="7196328" y="886968"/>
          <a:ext cx="4544568" cy="417576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a:t>
                      </a:r>
                      <a:r>
                        <a:rPr sz="800" b="1" err="1">
                          <a:solidFill>
                            <a:srgbClr val="FFFFFF"/>
                          </a:solidFill>
                          <a:latin typeface="Calibri"/>
                        </a:rPr>
                        <a:t>phần</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err="1">
                          <a:solidFill>
                            <a:srgbClr val="FFFFFF"/>
                          </a:solidFill>
                          <a:latin typeface="Calibri"/>
                        </a:rPr>
                        <a:t>Mô</a:t>
                      </a:r>
                      <a:r>
                        <a:rPr sz="800" b="1">
                          <a:solidFill>
                            <a:srgbClr val="FFFFFF"/>
                          </a:solidFill>
                          <a:latin typeface="Calibri"/>
                        </a:rPr>
                        <a:t> </a:t>
                      </a:r>
                      <a:r>
                        <a:rPr sz="800" b="1" err="1">
                          <a:solidFill>
                            <a:srgbClr val="FFFFFF"/>
                          </a:solidFill>
                          <a:latin typeface="Calibri"/>
                        </a:rPr>
                        <a:t>tả</a:t>
                      </a:r>
                      <a:r>
                        <a:rPr sz="800" b="1">
                          <a:solidFill>
                            <a:srgbClr val="FFFFFF"/>
                          </a:solidFill>
                          <a:latin typeface="Calibri"/>
                        </a:rPr>
                        <a:t>  /  </a:t>
                      </a:r>
                      <a:r>
                        <a:rPr sz="800" b="1" err="1">
                          <a:solidFill>
                            <a:srgbClr val="FFFFFF"/>
                          </a:solidFill>
                          <a:latin typeface="Calibri"/>
                        </a:rPr>
                        <a:t>Hành</a:t>
                      </a:r>
                      <a:r>
                        <a:rPr sz="800" b="1">
                          <a:solidFill>
                            <a:srgbClr val="FFFFFF"/>
                          </a:solidFill>
                          <a:latin typeface="Calibri"/>
                        </a:rPr>
                        <a:t> vi  /  Quy </a:t>
                      </a:r>
                      <a:r>
                        <a:rPr sz="800" b="1" err="1">
                          <a:solidFill>
                            <a:srgbClr val="FFFFFF"/>
                          </a:solidFill>
                          <a:latin typeface="Calibri"/>
                        </a:rPr>
                        <a:t>tắc</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Điểm</a:t>
                      </a:r>
                      <a:r>
                        <a:rPr sz="800" b="1">
                          <a:solidFill>
                            <a:srgbClr val="222222"/>
                          </a:solidFill>
                          <a:latin typeface="Calibri"/>
                        </a:rPr>
                        <a:t> </a:t>
                      </a:r>
                      <a:r>
                        <a:rPr sz="800" b="1" err="1">
                          <a:solidFill>
                            <a:srgbClr val="222222"/>
                          </a:solidFill>
                          <a:latin typeface="Calibri"/>
                        </a:rPr>
                        <a:t>mở</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Tap icon Mic </a:t>
                      </a:r>
                      <a:r>
                        <a:rPr sz="750" b="0" err="1">
                          <a:solidFill>
                            <a:srgbClr val="555555"/>
                          </a:solidFill>
                          <a:latin typeface="Calibri"/>
                        </a:rPr>
                        <a:t>trên</a:t>
                      </a:r>
                      <a:r>
                        <a:rPr sz="750" b="0">
                          <a:solidFill>
                            <a:srgbClr val="555555"/>
                          </a:solidFill>
                          <a:latin typeface="Calibri"/>
                        </a:rPr>
                        <a:t> </a:t>
                      </a:r>
                      <a:r>
                        <a:rPr sz="750" b="0" err="1">
                          <a:solidFill>
                            <a:srgbClr val="555555"/>
                          </a:solidFill>
                          <a:latin typeface="Calibri"/>
                        </a:rPr>
                        <a:t>thanh</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kiếm</a:t>
                      </a:r>
                      <a:r>
                        <a:rPr sz="750" b="0">
                          <a:solidFill>
                            <a:srgbClr val="555555"/>
                          </a:solidFill>
                          <a:latin typeface="Calibri"/>
                        </a:rPr>
                        <a:t> (SS-SCR-001) </a:t>
                      </a:r>
                      <a:r>
                        <a:rPr sz="750" b="0" err="1">
                          <a:solidFill>
                            <a:srgbClr val="555555"/>
                          </a:solidFill>
                          <a:latin typeface="Calibri"/>
                        </a:rPr>
                        <a:t>mở</a:t>
                      </a:r>
                      <a:r>
                        <a:rPr sz="750" b="0">
                          <a:solidFill>
                            <a:srgbClr val="555555"/>
                          </a:solidFill>
                          <a:latin typeface="Calibri"/>
                        </a:rPr>
                        <a:t> </a:t>
                      </a:r>
                      <a:r>
                        <a:rPr sz="750" b="0" err="1">
                          <a:solidFill>
                            <a:srgbClr val="555555"/>
                          </a:solidFill>
                          <a:latin typeface="Calibri"/>
                        </a:rPr>
                        <a:t>lớp</a:t>
                      </a:r>
                      <a:r>
                        <a:rPr sz="750" b="0">
                          <a:solidFill>
                            <a:srgbClr val="555555"/>
                          </a:solidFill>
                          <a:latin typeface="Calibri"/>
                        </a:rPr>
                        <a:t> </a:t>
                      </a:r>
                      <a:r>
                        <a:rPr sz="750" b="0" err="1">
                          <a:solidFill>
                            <a:srgbClr val="555555"/>
                          </a:solidFill>
                          <a:latin typeface="Calibri"/>
                        </a:rPr>
                        <a:t>thu</a:t>
                      </a:r>
                      <a:r>
                        <a:rPr sz="750" b="0">
                          <a:solidFill>
                            <a:srgbClr val="555555"/>
                          </a:solidFill>
                          <a:latin typeface="Calibri"/>
                        </a:rPr>
                        <a:t> </a:t>
                      </a:r>
                      <a:r>
                        <a:rPr sz="750" b="0" err="1">
                          <a:solidFill>
                            <a:srgbClr val="555555"/>
                          </a:solidFill>
                          <a:latin typeface="Calibri"/>
                        </a:rPr>
                        <a:t>âm</a:t>
                      </a:r>
                      <a:r>
                        <a:rPr sz="750" b="0">
                          <a:solidFill>
                            <a:srgbClr val="555555"/>
                          </a:solidFill>
                          <a:latin typeface="Calibri"/>
                        </a:rPr>
                        <a:t> </a:t>
                      </a:r>
                      <a:r>
                        <a:rPr sz="750" b="0" err="1">
                          <a:solidFill>
                            <a:srgbClr val="555555"/>
                          </a:solidFill>
                          <a:latin typeface="Calibri"/>
                        </a:rPr>
                        <a:t>này</a:t>
                      </a:r>
                      <a:r>
                        <a:rPr sz="750" b="0">
                          <a:solidFill>
                            <a:srgbClr val="555555"/>
                          </a:solidFill>
                          <a:latin typeface="Calibri"/>
                        </a:rPr>
                        <a:t>. Yêu </a:t>
                      </a:r>
                      <a:r>
                        <a:rPr sz="750" b="0" err="1">
                          <a:solidFill>
                            <a:srgbClr val="555555"/>
                          </a:solidFill>
                          <a:latin typeface="Calibri"/>
                        </a:rPr>
                        <a:t>cầu</a:t>
                      </a:r>
                      <a:r>
                        <a:rPr sz="750" b="0">
                          <a:solidFill>
                            <a:srgbClr val="555555"/>
                          </a:solidFill>
                          <a:latin typeface="Calibri"/>
                        </a:rPr>
                        <a:t> </a:t>
                      </a:r>
                      <a:r>
                        <a:rPr sz="750" b="0" err="1">
                          <a:solidFill>
                            <a:srgbClr val="555555"/>
                          </a:solidFill>
                          <a:latin typeface="Calibri"/>
                        </a:rPr>
                        <a:t>quyền</a:t>
                      </a:r>
                      <a:r>
                        <a:rPr sz="750" b="0">
                          <a:solidFill>
                            <a:srgbClr val="555555"/>
                          </a:solidFill>
                          <a:latin typeface="Calibri"/>
                        </a:rPr>
                        <a:t> micro ở </a:t>
                      </a:r>
                      <a:r>
                        <a:rPr sz="750" b="0" err="1">
                          <a:solidFill>
                            <a:srgbClr val="555555"/>
                          </a:solidFill>
                          <a:latin typeface="Calibri"/>
                        </a:rPr>
                        <a:t>lần</a:t>
                      </a:r>
                      <a:r>
                        <a:rPr sz="750" b="0">
                          <a:solidFill>
                            <a:srgbClr val="555555"/>
                          </a:solidFill>
                          <a:latin typeface="Calibri"/>
                        </a:rPr>
                        <a:t> </a:t>
                      </a:r>
                      <a:r>
                        <a:rPr sz="750" b="0" err="1">
                          <a:solidFill>
                            <a:srgbClr val="555555"/>
                          </a:solidFill>
                          <a:latin typeface="Calibri"/>
                        </a:rPr>
                        <a:t>đầu</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Nền </a:t>
                      </a:r>
                      <a:r>
                        <a:rPr sz="800" b="1" err="1">
                          <a:solidFill>
                            <a:srgbClr val="222222"/>
                          </a:solidFill>
                          <a:latin typeface="Calibri"/>
                        </a:rPr>
                        <a:t>làm</a:t>
                      </a:r>
                      <a:r>
                        <a:rPr sz="800" b="1">
                          <a:solidFill>
                            <a:srgbClr val="222222"/>
                          </a:solidFill>
                          <a:latin typeface="Calibri"/>
                        </a:rPr>
                        <a:t> </a:t>
                      </a:r>
                      <a:r>
                        <a:rPr sz="800" b="1" err="1">
                          <a:solidFill>
                            <a:srgbClr val="222222"/>
                          </a:solidFill>
                          <a:latin typeface="Calibri"/>
                        </a:rPr>
                        <a:t>mờ</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Trang </a:t>
                      </a:r>
                      <a:r>
                        <a:rPr sz="750" b="0" err="1">
                          <a:solidFill>
                            <a:srgbClr val="555555"/>
                          </a:solidFill>
                          <a:latin typeface="Calibri"/>
                        </a:rPr>
                        <a:t>bên</a:t>
                      </a:r>
                      <a:r>
                        <a:rPr sz="750" b="0">
                          <a:solidFill>
                            <a:srgbClr val="555555"/>
                          </a:solidFill>
                          <a:latin typeface="Calibri"/>
                        </a:rPr>
                        <a:t> </a:t>
                      </a:r>
                      <a:r>
                        <a:rPr sz="750" b="0" err="1">
                          <a:solidFill>
                            <a:srgbClr val="555555"/>
                          </a:solidFill>
                          <a:latin typeface="Calibri"/>
                        </a:rPr>
                        <a:t>dưới</a:t>
                      </a:r>
                      <a:r>
                        <a:rPr sz="750" b="0">
                          <a:solidFill>
                            <a:srgbClr val="555555"/>
                          </a:solidFill>
                          <a:latin typeface="Calibri"/>
                        </a:rPr>
                        <a:t> </a:t>
                      </a:r>
                      <a:r>
                        <a:rPr sz="750" b="0" err="1">
                          <a:solidFill>
                            <a:srgbClr val="555555"/>
                          </a:solidFill>
                          <a:latin typeface="Calibri"/>
                        </a:rPr>
                        <a:t>bị</a:t>
                      </a:r>
                      <a:r>
                        <a:rPr sz="750" b="0">
                          <a:solidFill>
                            <a:srgbClr val="555555"/>
                          </a:solidFill>
                          <a:latin typeface="Calibri"/>
                        </a:rPr>
                        <a:t> </a:t>
                      </a:r>
                      <a:r>
                        <a:rPr sz="750" b="0" err="1">
                          <a:solidFill>
                            <a:srgbClr val="555555"/>
                          </a:solidFill>
                          <a:latin typeface="Calibri"/>
                        </a:rPr>
                        <a:t>phủ</a:t>
                      </a:r>
                      <a:r>
                        <a:rPr sz="750" b="0">
                          <a:solidFill>
                            <a:srgbClr val="555555"/>
                          </a:solidFill>
                          <a:latin typeface="Calibri"/>
                        </a:rPr>
                        <a:t> </a:t>
                      </a:r>
                      <a:r>
                        <a:rPr sz="750" b="0" err="1">
                          <a:solidFill>
                            <a:srgbClr val="555555"/>
                          </a:solidFill>
                          <a:latin typeface="Calibri"/>
                        </a:rPr>
                        <a:t>mờ</a:t>
                      </a:r>
                      <a:r>
                        <a:rPr sz="750" b="0">
                          <a:solidFill>
                            <a:srgbClr val="555555"/>
                          </a:solidFill>
                          <a:latin typeface="Calibri"/>
                        </a:rPr>
                        <a:t>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tập</a:t>
                      </a:r>
                      <a:r>
                        <a:rPr sz="750" b="0">
                          <a:solidFill>
                            <a:srgbClr val="555555"/>
                          </a:solidFill>
                          <a:latin typeface="Calibri"/>
                        </a:rPr>
                        <a:t> </a:t>
                      </a:r>
                      <a:r>
                        <a:rPr sz="750" b="0" err="1">
                          <a:solidFill>
                            <a:srgbClr val="555555"/>
                          </a:solidFill>
                          <a:latin typeface="Calibri"/>
                        </a:rPr>
                        <a:t>trung</a:t>
                      </a:r>
                      <a:r>
                        <a:rPr sz="750" b="0">
                          <a:solidFill>
                            <a:srgbClr val="555555"/>
                          </a:solidFill>
                          <a:latin typeface="Calibri"/>
                        </a:rPr>
                        <a:t> </a:t>
                      </a:r>
                      <a:r>
                        <a:rPr sz="750" b="0" err="1">
                          <a:solidFill>
                            <a:srgbClr val="555555"/>
                          </a:solidFill>
                          <a:latin typeface="Calibri"/>
                        </a:rPr>
                        <a:t>sự</a:t>
                      </a:r>
                      <a:r>
                        <a:rPr sz="750" b="0">
                          <a:solidFill>
                            <a:srgbClr val="555555"/>
                          </a:solidFill>
                          <a:latin typeface="Calibri"/>
                        </a:rPr>
                        <a:t> </a:t>
                      </a:r>
                      <a:r>
                        <a:rPr sz="750" b="0" err="1">
                          <a:solidFill>
                            <a:srgbClr val="555555"/>
                          </a:solidFill>
                          <a:latin typeface="Calibri"/>
                        </a:rPr>
                        <a:t>chú</a:t>
                      </a:r>
                      <a:r>
                        <a:rPr sz="750" b="0">
                          <a:solidFill>
                            <a:srgbClr val="555555"/>
                          </a:solidFill>
                          <a:latin typeface="Calibri"/>
                        </a:rPr>
                        <a:t> ý </a:t>
                      </a:r>
                      <a:r>
                        <a:rPr sz="750" b="0" err="1">
                          <a:solidFill>
                            <a:srgbClr val="555555"/>
                          </a:solidFill>
                          <a:latin typeface="Calibri"/>
                        </a:rPr>
                        <a:t>vào</a:t>
                      </a:r>
                      <a:r>
                        <a:rPr sz="750" b="0">
                          <a:solidFill>
                            <a:srgbClr val="555555"/>
                          </a:solidFill>
                          <a:latin typeface="Calibri"/>
                        </a:rPr>
                        <a:t> </a:t>
                      </a:r>
                      <a:r>
                        <a:rPr sz="750" b="0" err="1">
                          <a:solidFill>
                            <a:srgbClr val="555555"/>
                          </a:solidFill>
                          <a:latin typeface="Calibri"/>
                        </a:rPr>
                        <a:t>lớp</a:t>
                      </a:r>
                      <a:r>
                        <a:rPr sz="750" b="0">
                          <a:solidFill>
                            <a:srgbClr val="555555"/>
                          </a:solidFill>
                          <a:latin typeface="Calibri"/>
                        </a:rPr>
                        <a:t> </a:t>
                      </a:r>
                      <a:r>
                        <a:rPr sz="750" b="0" err="1">
                          <a:solidFill>
                            <a:srgbClr val="555555"/>
                          </a:solidFill>
                          <a:latin typeface="Calibri"/>
                        </a:rPr>
                        <a:t>thu</a:t>
                      </a:r>
                      <a:r>
                        <a:rPr sz="750" b="0">
                          <a:solidFill>
                            <a:srgbClr val="555555"/>
                          </a:solidFill>
                          <a:latin typeface="Calibri"/>
                        </a:rPr>
                        <a:t> </a:t>
                      </a:r>
                      <a:r>
                        <a:rPr sz="750" b="0" err="1">
                          <a:solidFill>
                            <a:srgbClr val="555555"/>
                          </a:solidFill>
                          <a:latin typeface="Calibri"/>
                        </a:rPr>
                        <a:t>âm</a:t>
                      </a:r>
                      <a:r>
                        <a:rPr sz="750" b="0">
                          <a:solidFill>
                            <a:srgbClr val="555555"/>
                          </a:solidFill>
                          <a:latin typeface="Calibri"/>
                        </a:rPr>
                        <a:t>, </a:t>
                      </a:r>
                      <a:r>
                        <a:rPr sz="750" b="0" err="1">
                          <a:solidFill>
                            <a:srgbClr val="555555"/>
                          </a:solidFill>
                          <a:latin typeface="Calibri"/>
                        </a:rPr>
                        <a:t>nhưng</a:t>
                      </a:r>
                      <a:r>
                        <a:rPr sz="750" b="0">
                          <a:solidFill>
                            <a:srgbClr val="555555"/>
                          </a:solidFill>
                          <a:latin typeface="Calibri"/>
                        </a:rPr>
                        <a:t> </a:t>
                      </a:r>
                      <a:r>
                        <a:rPr sz="750" b="0" err="1">
                          <a:solidFill>
                            <a:srgbClr val="555555"/>
                          </a:solidFill>
                          <a:latin typeface="Calibri"/>
                        </a:rPr>
                        <a:t>vẫn</a:t>
                      </a:r>
                      <a:r>
                        <a:rPr sz="750" b="0">
                          <a:solidFill>
                            <a:srgbClr val="555555"/>
                          </a:solidFill>
                          <a:latin typeface="Calibri"/>
                        </a:rPr>
                        <a:t> </a:t>
                      </a:r>
                      <a:r>
                        <a:rPr sz="750" b="0" err="1">
                          <a:solidFill>
                            <a:srgbClr val="555555"/>
                          </a:solidFill>
                          <a:latin typeface="Calibri"/>
                        </a:rPr>
                        <a:t>cho</a:t>
                      </a:r>
                      <a:r>
                        <a:rPr sz="750" b="0">
                          <a:solidFill>
                            <a:srgbClr val="555555"/>
                          </a:solidFill>
                          <a:latin typeface="Calibri"/>
                        </a:rPr>
                        <a:t> </a:t>
                      </a:r>
                      <a:r>
                        <a:rPr sz="750" b="0" err="1">
                          <a:solidFill>
                            <a:srgbClr val="555555"/>
                          </a:solidFill>
                          <a:latin typeface="Calibri"/>
                        </a:rPr>
                        <a:t>thấy</a:t>
                      </a:r>
                      <a:r>
                        <a:rPr sz="750" b="0">
                          <a:solidFill>
                            <a:srgbClr val="555555"/>
                          </a:solidFill>
                          <a:latin typeface="Calibri"/>
                        </a:rPr>
                        <a:t> </a:t>
                      </a:r>
                      <a:r>
                        <a:rPr sz="750" b="0" err="1">
                          <a:solidFill>
                            <a:srgbClr val="555555"/>
                          </a:solidFill>
                          <a:latin typeface="Calibri"/>
                        </a:rPr>
                        <a:t>ngữ</a:t>
                      </a:r>
                      <a:r>
                        <a:rPr sz="750" b="0">
                          <a:solidFill>
                            <a:srgbClr val="555555"/>
                          </a:solidFill>
                          <a:latin typeface="Calibri"/>
                        </a:rPr>
                        <a:t> </a:t>
                      </a:r>
                      <a:r>
                        <a:rPr sz="750" b="0" err="1">
                          <a:solidFill>
                            <a:srgbClr val="555555"/>
                          </a:solidFill>
                          <a:latin typeface="Calibri"/>
                        </a:rPr>
                        <a:t>cảnh</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Thẻ</a:t>
                      </a:r>
                      <a:r>
                        <a:rPr sz="800" b="1">
                          <a:solidFill>
                            <a:srgbClr val="222222"/>
                          </a:solidFill>
                          <a:latin typeface="Calibri"/>
                        </a:rPr>
                        <a:t> "Đang </a:t>
                      </a:r>
                      <a:r>
                        <a:rPr sz="800" b="1" err="1">
                          <a:solidFill>
                            <a:srgbClr val="222222"/>
                          </a:solidFill>
                          <a:latin typeface="Calibri"/>
                        </a:rPr>
                        <a:t>nhận</a:t>
                      </a:r>
                      <a:r>
                        <a:rPr sz="800" b="1">
                          <a:solidFill>
                            <a:srgbClr val="222222"/>
                          </a:solidFill>
                          <a:latin typeface="Calibri"/>
                        </a:rPr>
                        <a:t> </a:t>
                      </a:r>
                      <a:r>
                        <a:rPr sz="800" b="1" err="1">
                          <a:solidFill>
                            <a:srgbClr val="222222"/>
                          </a:solidFill>
                          <a:latin typeface="Calibri"/>
                        </a:rPr>
                        <a:t>diện</a:t>
                      </a:r>
                      <a:r>
                        <a:rPr sz="800" b="1">
                          <a:solidFill>
                            <a:srgbClr val="222222"/>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Hiển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ngay</a:t>
                      </a:r>
                      <a:r>
                        <a:rPr sz="750" b="0">
                          <a:solidFill>
                            <a:srgbClr val="555555"/>
                          </a:solidFill>
                          <a:latin typeface="Calibri"/>
                        </a:rPr>
                        <a:t> </a:t>
                      </a:r>
                      <a:r>
                        <a:rPr sz="750" b="0" err="1">
                          <a:solidFill>
                            <a:srgbClr val="555555"/>
                          </a:solidFill>
                          <a:latin typeface="Calibri"/>
                        </a:rPr>
                        <a:t>khi</a:t>
                      </a:r>
                      <a:r>
                        <a:rPr sz="750" b="0">
                          <a:solidFill>
                            <a:srgbClr val="555555"/>
                          </a:solidFill>
                          <a:latin typeface="Calibri"/>
                        </a:rPr>
                        <a:t> </a:t>
                      </a:r>
                      <a:r>
                        <a:rPr sz="750" b="0" err="1">
                          <a:solidFill>
                            <a:srgbClr val="555555"/>
                          </a:solidFill>
                          <a:latin typeface="Calibri"/>
                        </a:rPr>
                        <a:t>bắt</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a:t>
                      </a:r>
                      <a:r>
                        <a:rPr sz="750" b="0" err="1">
                          <a:solidFill>
                            <a:srgbClr val="555555"/>
                          </a:solidFill>
                          <a:latin typeface="Calibri"/>
                        </a:rPr>
                        <a:t>tín</a:t>
                      </a:r>
                      <a:r>
                        <a:rPr sz="750" b="0">
                          <a:solidFill>
                            <a:srgbClr val="555555"/>
                          </a:solidFill>
                          <a:latin typeface="Calibri"/>
                        </a:rPr>
                        <a:t> </a:t>
                      </a:r>
                      <a:r>
                        <a:rPr sz="750" b="0" err="1">
                          <a:solidFill>
                            <a:srgbClr val="555555"/>
                          </a:solidFill>
                          <a:latin typeface="Calibri"/>
                        </a:rPr>
                        <a:t>hiệu</a:t>
                      </a:r>
                      <a:r>
                        <a:rPr sz="750" b="0">
                          <a:solidFill>
                            <a:srgbClr val="555555"/>
                          </a:solidFill>
                          <a:latin typeface="Calibri"/>
                        </a:rPr>
                        <a:t> </a:t>
                      </a:r>
                      <a:r>
                        <a:rPr sz="750" b="0" err="1">
                          <a:solidFill>
                            <a:srgbClr val="555555"/>
                          </a:solidFill>
                          <a:latin typeface="Calibri"/>
                        </a:rPr>
                        <a:t>giọng</a:t>
                      </a:r>
                      <a:r>
                        <a:rPr sz="750" b="0">
                          <a:solidFill>
                            <a:srgbClr val="555555"/>
                          </a:solidFill>
                          <a:latin typeface="Calibri"/>
                        </a:rPr>
                        <a:t> </a:t>
                      </a:r>
                      <a:r>
                        <a:rPr sz="750" b="0" err="1">
                          <a:solidFill>
                            <a:srgbClr val="555555"/>
                          </a:solidFill>
                          <a:latin typeface="Calibri"/>
                        </a:rPr>
                        <a:t>nói</a:t>
                      </a:r>
                      <a:r>
                        <a:rPr sz="750" b="0">
                          <a:solidFill>
                            <a:srgbClr val="555555"/>
                          </a:solidFill>
                          <a:latin typeface="Calibri"/>
                        </a:rPr>
                        <a:t> </a:t>
                      </a:r>
                      <a:r>
                        <a:rPr sz="750" b="0" err="1">
                          <a:solidFill>
                            <a:srgbClr val="555555"/>
                          </a:solidFill>
                          <a:latin typeface="Calibri"/>
                        </a:rPr>
                        <a:t>đầu</a:t>
                      </a:r>
                      <a:r>
                        <a:rPr sz="750" b="0">
                          <a:solidFill>
                            <a:srgbClr val="555555"/>
                          </a:solidFill>
                          <a:latin typeface="Calibri"/>
                        </a:rPr>
                        <a:t> </a:t>
                      </a:r>
                      <a:r>
                        <a:rPr sz="750" b="0" err="1">
                          <a:solidFill>
                            <a:srgbClr val="555555"/>
                          </a:solidFill>
                          <a:latin typeface="Calibri"/>
                        </a:rPr>
                        <a:t>tiên</a:t>
                      </a:r>
                      <a:r>
                        <a:rPr sz="750" b="0">
                          <a:solidFill>
                            <a:srgbClr val="555555"/>
                          </a:solidFill>
                          <a:latin typeface="Calibri"/>
                        </a:rPr>
                        <a:t> — </a:t>
                      </a:r>
                      <a:r>
                        <a:rPr sz="750" b="0" err="1">
                          <a:solidFill>
                            <a:srgbClr val="555555"/>
                          </a:solidFill>
                          <a:latin typeface="Calibri"/>
                        </a:rPr>
                        <a:t>xác</a:t>
                      </a:r>
                      <a:r>
                        <a:rPr sz="750" b="0">
                          <a:solidFill>
                            <a:srgbClr val="555555"/>
                          </a:solidFill>
                          <a:latin typeface="Calibri"/>
                        </a:rPr>
                        <a:t> </a:t>
                      </a:r>
                      <a:r>
                        <a:rPr sz="750" b="0" err="1">
                          <a:solidFill>
                            <a:srgbClr val="555555"/>
                          </a:solidFill>
                          <a:latin typeface="Calibri"/>
                        </a:rPr>
                        <a:t>nhận</a:t>
                      </a:r>
                      <a:r>
                        <a:rPr sz="750" b="0">
                          <a:solidFill>
                            <a:srgbClr val="555555"/>
                          </a:solidFill>
                          <a:latin typeface="Calibri"/>
                        </a:rPr>
                        <a:t> micro </a:t>
                      </a:r>
                      <a:r>
                        <a:rPr sz="750" b="0" err="1">
                          <a:solidFill>
                            <a:srgbClr val="555555"/>
                          </a:solidFill>
                          <a:latin typeface="Calibri"/>
                        </a:rPr>
                        <a:t>hoạt</a:t>
                      </a:r>
                      <a:r>
                        <a:rPr sz="750" b="0">
                          <a:solidFill>
                            <a:srgbClr val="555555"/>
                          </a:solidFill>
                          <a:latin typeface="Calibri"/>
                        </a:rPr>
                        <a:t> </a:t>
                      </a:r>
                      <a:r>
                        <a:rPr sz="750" b="0" err="1">
                          <a:solidFill>
                            <a:srgbClr val="555555"/>
                          </a:solidFill>
                          <a:latin typeface="Calibri"/>
                        </a:rPr>
                        <a:t>động</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Văn </a:t>
                      </a:r>
                      <a:r>
                        <a:rPr sz="800" b="1" err="1">
                          <a:solidFill>
                            <a:srgbClr val="222222"/>
                          </a:solidFill>
                          <a:latin typeface="Calibri"/>
                        </a:rPr>
                        <a:t>bản</a:t>
                      </a:r>
                      <a:r>
                        <a:rPr sz="800" b="1">
                          <a:solidFill>
                            <a:srgbClr val="222222"/>
                          </a:solidFill>
                          <a:latin typeface="Calibri"/>
                        </a:rPr>
                        <a:t> </a:t>
                      </a:r>
                      <a:r>
                        <a:rPr sz="800" b="1" err="1">
                          <a:solidFill>
                            <a:srgbClr val="222222"/>
                          </a:solidFill>
                          <a:latin typeface="Calibri"/>
                        </a:rPr>
                        <a:t>nhận</a:t>
                      </a:r>
                      <a:r>
                        <a:rPr sz="800" b="1">
                          <a:solidFill>
                            <a:srgbClr val="222222"/>
                          </a:solidFill>
                          <a:latin typeface="Calibri"/>
                        </a:rPr>
                        <a:t> </a:t>
                      </a:r>
                      <a:r>
                        <a:rPr sz="800" b="1" err="1">
                          <a:solidFill>
                            <a:srgbClr val="222222"/>
                          </a:solidFill>
                          <a:latin typeface="Calibri"/>
                        </a:rPr>
                        <a:t>diện</a:t>
                      </a:r>
                      <a:r>
                        <a:rPr sz="800" b="1">
                          <a:solidFill>
                            <a:srgbClr val="222222"/>
                          </a:solidFill>
                          <a:latin typeface="Calibri"/>
                        </a:rPr>
                        <a:t> </a:t>
                      </a:r>
                      <a:r>
                        <a:rPr sz="800" b="1" err="1">
                          <a:solidFill>
                            <a:srgbClr val="222222"/>
                          </a:solidFill>
                          <a:latin typeface="Calibri"/>
                        </a:rPr>
                        <a:t>realtime</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err="1">
                          <a:solidFill>
                            <a:srgbClr val="555555"/>
                          </a:solidFill>
                          <a:latin typeface="Calibri"/>
                        </a:rPr>
                        <a:t>Chuỗi</a:t>
                      </a:r>
                      <a:r>
                        <a:rPr sz="750" b="0">
                          <a:solidFill>
                            <a:srgbClr val="555555"/>
                          </a:solidFill>
                          <a:latin typeface="Calibri"/>
                        </a:rPr>
                        <a:t> speech-to-text </a:t>
                      </a:r>
                      <a:r>
                        <a:rPr sz="750" b="0" err="1">
                          <a:solidFill>
                            <a:srgbClr val="555555"/>
                          </a:solidFill>
                          <a:latin typeface="Calibri"/>
                        </a:rPr>
                        <a:t>cập</a:t>
                      </a:r>
                      <a:r>
                        <a:rPr sz="750" b="0">
                          <a:solidFill>
                            <a:srgbClr val="555555"/>
                          </a:solidFill>
                          <a:latin typeface="Calibri"/>
                        </a:rPr>
                        <a:t> </a:t>
                      </a:r>
                      <a:r>
                        <a:rPr sz="750" b="0" err="1">
                          <a:solidFill>
                            <a:srgbClr val="555555"/>
                          </a:solidFill>
                          <a:latin typeface="Calibri"/>
                        </a:rPr>
                        <a:t>nhật</a:t>
                      </a:r>
                      <a:r>
                        <a:rPr sz="750" b="0">
                          <a:solidFill>
                            <a:srgbClr val="555555"/>
                          </a:solidFill>
                          <a:latin typeface="Calibri"/>
                        </a:rPr>
                        <a:t> </a:t>
                      </a:r>
                      <a:r>
                        <a:rPr sz="750" b="0" err="1">
                          <a:solidFill>
                            <a:srgbClr val="555555"/>
                          </a:solidFill>
                          <a:latin typeface="Calibri"/>
                        </a:rPr>
                        <a:t>liên</a:t>
                      </a:r>
                      <a:r>
                        <a:rPr sz="750" b="0">
                          <a:solidFill>
                            <a:srgbClr val="555555"/>
                          </a:solidFill>
                          <a:latin typeface="Calibri"/>
                        </a:rPr>
                        <a:t> </a:t>
                      </a:r>
                      <a:r>
                        <a:rPr sz="750" b="0" err="1">
                          <a:solidFill>
                            <a:srgbClr val="555555"/>
                          </a:solidFill>
                          <a:latin typeface="Calibri"/>
                        </a:rPr>
                        <a:t>tục</a:t>
                      </a:r>
                      <a:r>
                        <a:rPr sz="750" b="0">
                          <a:solidFill>
                            <a:srgbClr val="555555"/>
                          </a:solidFill>
                          <a:latin typeface="Calibri"/>
                        </a:rPr>
                        <a:t> ("Ba </a:t>
                      </a:r>
                      <a:r>
                        <a:rPr sz="750" b="0" err="1">
                          <a:solidFill>
                            <a:srgbClr val="555555"/>
                          </a:solidFill>
                          <a:latin typeface="Calibri"/>
                        </a:rPr>
                        <a:t>quả</a:t>
                      </a:r>
                      <a:r>
                        <a:rPr sz="750" b="0">
                          <a:solidFill>
                            <a:srgbClr val="555555"/>
                          </a:solidFill>
                          <a:latin typeface="Calibri"/>
                        </a:rPr>
                        <a:t> </a:t>
                      </a:r>
                      <a:r>
                        <a:rPr sz="750" b="0" err="1">
                          <a:solidFill>
                            <a:srgbClr val="555555"/>
                          </a:solidFill>
                          <a:latin typeface="Calibri"/>
                        </a:rPr>
                        <a:t>chuối</a:t>
                      </a:r>
                      <a:r>
                        <a:rPr sz="750" b="0">
                          <a:solidFill>
                            <a:srgbClr val="555555"/>
                          </a:solidFill>
                          <a:latin typeface="Calibri"/>
                        </a:rPr>
                        <a:t> 60.000"). ⚠ </a:t>
                      </a:r>
                      <a:r>
                        <a:rPr sz="750" b="0" err="1">
                          <a:solidFill>
                            <a:srgbClr val="555555"/>
                          </a:solidFill>
                          <a:latin typeface="Calibri"/>
                        </a:rPr>
                        <a:t>Khách</a:t>
                      </a:r>
                      <a:r>
                        <a:rPr sz="750" b="0">
                          <a:solidFill>
                            <a:srgbClr val="555555"/>
                          </a:solidFill>
                          <a:latin typeface="Calibri"/>
                        </a:rPr>
                        <a:t> </a:t>
                      </a:r>
                      <a:r>
                        <a:rPr sz="750" b="0" err="1">
                          <a:solidFill>
                            <a:srgbClr val="555555"/>
                          </a:solidFill>
                          <a:latin typeface="Calibri"/>
                        </a:rPr>
                        <a:t>phải</a:t>
                      </a:r>
                      <a:r>
                        <a:rPr sz="750" b="0">
                          <a:solidFill>
                            <a:srgbClr val="555555"/>
                          </a:solidFill>
                          <a:latin typeface="Calibri"/>
                        </a:rPr>
                        <a:t> </a:t>
                      </a:r>
                      <a:r>
                        <a:rPr sz="750" b="0" err="1">
                          <a:solidFill>
                            <a:srgbClr val="555555"/>
                          </a:solidFill>
                          <a:latin typeface="Calibri"/>
                        </a:rPr>
                        <a:t>nhìn</a:t>
                      </a:r>
                      <a:r>
                        <a:rPr sz="750" b="0">
                          <a:solidFill>
                            <a:srgbClr val="555555"/>
                          </a:solidFill>
                          <a:latin typeface="Calibri"/>
                        </a:rPr>
                        <a:t> </a:t>
                      </a:r>
                      <a:r>
                        <a:rPr sz="750" b="0" err="1">
                          <a:solidFill>
                            <a:srgbClr val="555555"/>
                          </a:solidFill>
                          <a:latin typeface="Calibri"/>
                        </a:rPr>
                        <a:t>thấy</a:t>
                      </a:r>
                      <a:r>
                        <a:rPr sz="750" b="0">
                          <a:solidFill>
                            <a:srgbClr val="555555"/>
                          </a:solidFill>
                          <a:latin typeface="Calibri"/>
                        </a:rPr>
                        <a:t> </a:t>
                      </a:r>
                      <a:r>
                        <a:rPr sz="750" b="0" err="1">
                          <a:solidFill>
                            <a:srgbClr val="555555"/>
                          </a:solidFill>
                          <a:latin typeface="Calibri"/>
                        </a:rPr>
                        <a:t>hệ</a:t>
                      </a:r>
                      <a:r>
                        <a:rPr sz="750" b="0">
                          <a:solidFill>
                            <a:srgbClr val="555555"/>
                          </a:solidFill>
                          <a:latin typeface="Calibri"/>
                        </a:rPr>
                        <a:t> </a:t>
                      </a:r>
                      <a:r>
                        <a:rPr sz="750" b="0" err="1">
                          <a:solidFill>
                            <a:srgbClr val="555555"/>
                          </a:solidFill>
                          <a:latin typeface="Calibri"/>
                        </a:rPr>
                        <a:t>thống</a:t>
                      </a:r>
                      <a:r>
                        <a:rPr sz="750" b="0">
                          <a:solidFill>
                            <a:srgbClr val="555555"/>
                          </a:solidFill>
                          <a:latin typeface="Calibri"/>
                        </a:rPr>
                        <a:t>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hiểu</a:t>
                      </a:r>
                      <a:r>
                        <a:rPr sz="750" b="0">
                          <a:solidFill>
                            <a:srgbClr val="555555"/>
                          </a:solidFill>
                          <a:latin typeface="Calibri"/>
                        </a:rPr>
                        <a:t> </a:t>
                      </a:r>
                      <a:r>
                        <a:rPr sz="750" b="0" err="1">
                          <a:solidFill>
                            <a:srgbClr val="555555"/>
                          </a:solidFill>
                          <a:latin typeface="Calibri"/>
                        </a:rPr>
                        <a:t>gì</a:t>
                      </a:r>
                      <a:r>
                        <a:rPr sz="750" b="0">
                          <a:solidFill>
                            <a:srgbClr val="555555"/>
                          </a:solidFill>
                          <a:latin typeface="Calibri"/>
                        </a:rPr>
                        <a:t>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biết</a:t>
                      </a:r>
                      <a:r>
                        <a:rPr sz="750" b="0">
                          <a:solidFill>
                            <a:srgbClr val="555555"/>
                          </a:solidFill>
                          <a:latin typeface="Calibri"/>
                        </a:rPr>
                        <a:t> </a:t>
                      </a:r>
                      <a:r>
                        <a:rPr sz="750" b="0" err="1">
                          <a:solidFill>
                            <a:srgbClr val="555555"/>
                          </a:solidFill>
                          <a:latin typeface="Calibri"/>
                        </a:rPr>
                        <a:t>khi</a:t>
                      </a:r>
                      <a:r>
                        <a:rPr sz="750" b="0">
                          <a:solidFill>
                            <a:srgbClr val="555555"/>
                          </a:solidFill>
                          <a:latin typeface="Calibri"/>
                        </a:rPr>
                        <a:t> </a:t>
                      </a:r>
                      <a:r>
                        <a:rPr sz="750" b="0" err="1">
                          <a:solidFill>
                            <a:srgbClr val="555555"/>
                          </a:solidFill>
                          <a:latin typeface="Calibri"/>
                        </a:rPr>
                        <a:t>nào</a:t>
                      </a:r>
                      <a:r>
                        <a:rPr sz="750" b="0">
                          <a:solidFill>
                            <a:srgbClr val="555555"/>
                          </a:solidFill>
                          <a:latin typeface="Calibri"/>
                        </a:rPr>
                        <a:t> </a:t>
                      </a:r>
                      <a:r>
                        <a:rPr sz="750" b="0" err="1">
                          <a:solidFill>
                            <a:srgbClr val="555555"/>
                          </a:solidFill>
                          <a:latin typeface="Calibri"/>
                        </a:rPr>
                        <a:t>cần</a:t>
                      </a:r>
                      <a:r>
                        <a:rPr sz="750" b="0">
                          <a:solidFill>
                            <a:srgbClr val="555555"/>
                          </a:solidFill>
                          <a:latin typeface="Calibri"/>
                        </a:rPr>
                        <a:t> </a:t>
                      </a:r>
                      <a:r>
                        <a:rPr sz="750" b="0" err="1">
                          <a:solidFill>
                            <a:srgbClr val="555555"/>
                          </a:solidFill>
                          <a:latin typeface="Calibri"/>
                        </a:rPr>
                        <a:t>nói</a:t>
                      </a:r>
                      <a:r>
                        <a:rPr sz="750" b="0">
                          <a:solidFill>
                            <a:srgbClr val="555555"/>
                          </a:solidFill>
                          <a:latin typeface="Calibri"/>
                        </a:rPr>
                        <a:t> </a:t>
                      </a:r>
                      <a:r>
                        <a:rPr sz="750" b="0" err="1">
                          <a:solidFill>
                            <a:srgbClr val="555555"/>
                          </a:solidFill>
                          <a:latin typeface="Calibri"/>
                        </a:rPr>
                        <a:t>lại</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Chỉ</a:t>
                      </a:r>
                      <a:r>
                        <a:rPr sz="800" b="1">
                          <a:solidFill>
                            <a:srgbClr val="222222"/>
                          </a:solidFill>
                          <a:latin typeface="Calibri"/>
                        </a:rPr>
                        <a:t> </a:t>
                      </a:r>
                      <a:r>
                        <a:rPr sz="800" b="1" err="1">
                          <a:solidFill>
                            <a:srgbClr val="222222"/>
                          </a:solidFill>
                          <a:latin typeface="Calibri"/>
                        </a:rPr>
                        <a:t>báo</a:t>
                      </a:r>
                      <a:r>
                        <a:rPr sz="800" b="1">
                          <a:solidFill>
                            <a:srgbClr val="222222"/>
                          </a:solidFill>
                          <a:latin typeface="Calibri"/>
                        </a:rPr>
                        <a:t> "</a:t>
                      </a:r>
                      <a:r>
                        <a:rPr sz="800" b="1" err="1">
                          <a:solidFill>
                            <a:srgbClr val="222222"/>
                          </a:solidFill>
                          <a:latin typeface="Calibri"/>
                        </a:rPr>
                        <a:t>Đang</a:t>
                      </a:r>
                      <a:r>
                        <a:rPr sz="800" b="1">
                          <a:solidFill>
                            <a:srgbClr val="222222"/>
                          </a:solidFill>
                          <a:latin typeface="Calibri"/>
                        </a:rPr>
                        <a:t> </a:t>
                      </a:r>
                      <a:r>
                        <a:rPr sz="800" b="1" err="1">
                          <a:solidFill>
                            <a:srgbClr val="222222"/>
                          </a:solidFill>
                          <a:latin typeface="Calibri"/>
                        </a:rPr>
                        <a:t>lắng</a:t>
                      </a:r>
                      <a:r>
                        <a:rPr sz="800" b="1">
                          <a:solidFill>
                            <a:srgbClr val="222222"/>
                          </a:solidFill>
                          <a:latin typeface="Calibri"/>
                        </a:rPr>
                        <a:t> </a:t>
                      </a:r>
                      <a:r>
                        <a:rPr sz="800" b="1" err="1">
                          <a:solidFill>
                            <a:srgbClr val="222222"/>
                          </a:solidFill>
                          <a:latin typeface="Calibri"/>
                        </a:rPr>
                        <a:t>nghe</a:t>
                      </a:r>
                      <a:r>
                        <a:rPr sz="800" b="1">
                          <a:solidFill>
                            <a:srgbClr val="222222"/>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Waveform </a:t>
                      </a:r>
                      <a:r>
                        <a:rPr sz="750" b="0" err="1">
                          <a:solidFill>
                            <a:srgbClr val="555555"/>
                          </a:solidFill>
                          <a:latin typeface="Calibri"/>
                        </a:rPr>
                        <a:t>động</a:t>
                      </a:r>
                      <a:r>
                        <a:rPr sz="750" b="0">
                          <a:solidFill>
                            <a:srgbClr val="555555"/>
                          </a:solidFill>
                          <a:latin typeface="Calibri"/>
                        </a:rPr>
                        <a:t> + </a:t>
                      </a:r>
                      <a:r>
                        <a:rPr sz="750" b="0" err="1">
                          <a:solidFill>
                            <a:srgbClr val="555555"/>
                          </a:solidFill>
                          <a:latin typeface="Calibri"/>
                        </a:rPr>
                        <a:t>nhãn</a:t>
                      </a:r>
                      <a:r>
                        <a:rPr sz="750" b="0">
                          <a:solidFill>
                            <a:srgbClr val="555555"/>
                          </a:solidFill>
                          <a:latin typeface="Calibri"/>
                        </a:rPr>
                        <a:t> </a:t>
                      </a:r>
                      <a:r>
                        <a:rPr sz="750" b="0" err="1">
                          <a:solidFill>
                            <a:srgbClr val="555555"/>
                          </a:solidFill>
                          <a:latin typeface="Calibri"/>
                        </a:rPr>
                        <a:t>trạng</a:t>
                      </a:r>
                      <a:r>
                        <a:rPr sz="750" b="0">
                          <a:solidFill>
                            <a:srgbClr val="555555"/>
                          </a:solidFill>
                          <a:latin typeface="Calibri"/>
                        </a:rPr>
                        <a:t> </a:t>
                      </a:r>
                      <a:r>
                        <a:rPr sz="750" b="0" err="1">
                          <a:solidFill>
                            <a:srgbClr val="555555"/>
                          </a:solidFill>
                          <a:latin typeface="Calibri"/>
                        </a:rPr>
                        <a:t>thái</a:t>
                      </a:r>
                      <a:r>
                        <a:rPr sz="750" b="0">
                          <a:solidFill>
                            <a:srgbClr val="555555"/>
                          </a:solidFill>
                          <a:latin typeface="Calibri"/>
                        </a:rPr>
                        <a:t>. ⚠ </a:t>
                      </a:r>
                      <a:r>
                        <a:rPr sz="750" b="0" err="1">
                          <a:solidFill>
                            <a:srgbClr val="555555"/>
                          </a:solidFill>
                          <a:latin typeface="Calibri"/>
                        </a:rPr>
                        <a:t>Tự</a:t>
                      </a:r>
                      <a:r>
                        <a:rPr sz="750" b="0">
                          <a:solidFill>
                            <a:srgbClr val="555555"/>
                          </a:solidFill>
                          <a:latin typeface="Calibri"/>
                        </a:rPr>
                        <a:t> </a:t>
                      </a:r>
                      <a:r>
                        <a:rPr sz="750" b="0" err="1">
                          <a:solidFill>
                            <a:srgbClr val="555555"/>
                          </a:solidFill>
                          <a:latin typeface="Calibri"/>
                        </a:rPr>
                        <a:t>động</a:t>
                      </a:r>
                      <a:r>
                        <a:rPr sz="750" b="0">
                          <a:solidFill>
                            <a:srgbClr val="555555"/>
                          </a:solidFill>
                          <a:latin typeface="Calibri"/>
                        </a:rPr>
                        <a:t> </a:t>
                      </a:r>
                      <a:r>
                        <a:rPr sz="750" b="0" err="1">
                          <a:solidFill>
                            <a:srgbClr val="555555"/>
                          </a:solidFill>
                          <a:latin typeface="Calibri"/>
                        </a:rPr>
                        <a:t>dừng</a:t>
                      </a:r>
                      <a:r>
                        <a:rPr sz="750" b="0">
                          <a:solidFill>
                            <a:srgbClr val="555555"/>
                          </a:solidFill>
                          <a:latin typeface="Calibri"/>
                        </a:rPr>
                        <a:t> </a:t>
                      </a:r>
                      <a:r>
                        <a:rPr sz="750" b="0" err="1">
                          <a:solidFill>
                            <a:srgbClr val="555555"/>
                          </a:solidFill>
                          <a:latin typeface="Calibri"/>
                        </a:rPr>
                        <a:t>sau</a:t>
                      </a:r>
                      <a:r>
                        <a:rPr sz="750" b="0">
                          <a:solidFill>
                            <a:srgbClr val="555555"/>
                          </a:solidFill>
                          <a:latin typeface="Calibri"/>
                        </a:rPr>
                        <a:t> </a:t>
                      </a:r>
                      <a:r>
                        <a:rPr lang="en-US" sz="750" b="0">
                          <a:solidFill>
                            <a:srgbClr val="555555"/>
                          </a:solidFill>
                          <a:latin typeface="Calibri"/>
                        </a:rPr>
                        <a:t>6 </a:t>
                      </a:r>
                      <a:r>
                        <a:rPr sz="750" b="0">
                          <a:solidFill>
                            <a:srgbClr val="555555"/>
                          </a:solidFill>
                          <a:latin typeface="Calibri"/>
                        </a:rPr>
                        <a:t>giây</a:t>
                      </a:r>
                      <a:r>
                        <a:rPr lang="en-US" sz="750" b="0">
                          <a:solidFill>
                            <a:srgbClr val="555555"/>
                          </a:solidFill>
                          <a:latin typeface="Calibri"/>
                        </a:rPr>
                        <a:t>.</a:t>
                      </a:r>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err="1">
                          <a:solidFill>
                            <a:srgbClr val="222222"/>
                          </a:solidFill>
                          <a:latin typeface="Calibri"/>
                        </a:rPr>
                        <a:t>Bộ</a:t>
                      </a:r>
                      <a:r>
                        <a:rPr sz="800" b="1">
                          <a:solidFill>
                            <a:srgbClr val="222222"/>
                          </a:solidFill>
                          <a:latin typeface="Calibri"/>
                        </a:rPr>
                        <a:t> </a:t>
                      </a:r>
                      <a:r>
                        <a:rPr sz="800" b="1" err="1">
                          <a:solidFill>
                            <a:srgbClr val="222222"/>
                          </a:solidFill>
                          <a:latin typeface="Calibri"/>
                        </a:rPr>
                        <a:t>đếm</a:t>
                      </a:r>
                      <a:r>
                        <a:rPr sz="800" b="1">
                          <a:solidFill>
                            <a:srgbClr val="222222"/>
                          </a:solidFill>
                          <a:latin typeface="Calibri"/>
                        </a:rPr>
                        <a:t> </a:t>
                      </a:r>
                      <a:r>
                        <a:rPr sz="800" b="1" err="1">
                          <a:solidFill>
                            <a:srgbClr val="222222"/>
                          </a:solidFill>
                          <a:latin typeface="Calibri"/>
                        </a:rPr>
                        <a:t>thời</a:t>
                      </a:r>
                      <a:r>
                        <a:rPr sz="800" b="1">
                          <a:solidFill>
                            <a:srgbClr val="222222"/>
                          </a:solidFill>
                          <a:latin typeface="Calibri"/>
                        </a:rPr>
                        <a:t> </a:t>
                      </a:r>
                      <a:r>
                        <a:rPr sz="800" b="1" err="1">
                          <a:solidFill>
                            <a:srgbClr val="222222"/>
                          </a:solidFill>
                          <a:latin typeface="Calibri"/>
                        </a:rPr>
                        <a:t>gian</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err="1">
                          <a:solidFill>
                            <a:srgbClr val="555555"/>
                          </a:solidFill>
                          <a:latin typeface="Calibri"/>
                        </a:rPr>
                        <a:t>Đếm</a:t>
                      </a:r>
                      <a:r>
                        <a:rPr sz="750" b="0">
                          <a:solidFill>
                            <a:srgbClr val="555555"/>
                          </a:solidFill>
                          <a:latin typeface="Calibri"/>
                        </a:rPr>
                        <a:t> </a:t>
                      </a:r>
                      <a:r>
                        <a:rPr sz="750" b="0" err="1">
                          <a:solidFill>
                            <a:srgbClr val="555555"/>
                          </a:solidFill>
                          <a:latin typeface="Calibri"/>
                        </a:rPr>
                        <a:t>tiến</a:t>
                      </a:r>
                      <a:r>
                        <a:rPr sz="750" b="0">
                          <a:solidFill>
                            <a:srgbClr val="555555"/>
                          </a:solidFill>
                          <a:latin typeface="Calibri"/>
                        </a:rPr>
                        <a:t> (0:05) </a:t>
                      </a:r>
                      <a:r>
                        <a:rPr sz="750" b="0" err="1">
                          <a:solidFill>
                            <a:srgbClr val="555555"/>
                          </a:solidFill>
                          <a:latin typeface="Calibri"/>
                        </a:rPr>
                        <a:t>cho</a:t>
                      </a:r>
                      <a:r>
                        <a:rPr sz="750" b="0">
                          <a:solidFill>
                            <a:srgbClr val="555555"/>
                          </a:solidFill>
                          <a:latin typeface="Calibri"/>
                        </a:rPr>
                        <a:t> </a:t>
                      </a:r>
                      <a:r>
                        <a:rPr sz="750" b="0" err="1">
                          <a:solidFill>
                            <a:srgbClr val="555555"/>
                          </a:solidFill>
                          <a:latin typeface="Calibri"/>
                        </a:rPr>
                        <a:t>khách</a:t>
                      </a:r>
                      <a:r>
                        <a:rPr sz="750" b="0">
                          <a:solidFill>
                            <a:srgbClr val="555555"/>
                          </a:solidFill>
                          <a:latin typeface="Calibri"/>
                        </a:rPr>
                        <a:t> </a:t>
                      </a:r>
                      <a:r>
                        <a:rPr sz="750" b="0" err="1">
                          <a:solidFill>
                            <a:srgbClr val="555555"/>
                          </a:solidFill>
                          <a:latin typeface="Calibri"/>
                        </a:rPr>
                        <a:t>biết</a:t>
                      </a:r>
                      <a:r>
                        <a:rPr sz="750" b="0">
                          <a:solidFill>
                            <a:srgbClr val="555555"/>
                          </a:solidFill>
                          <a:latin typeface="Calibri"/>
                        </a:rPr>
                        <a:t> </a:t>
                      </a:r>
                      <a:r>
                        <a:rPr sz="750" b="0" err="1">
                          <a:solidFill>
                            <a:srgbClr val="555555"/>
                          </a:solidFill>
                          <a:latin typeface="Calibri"/>
                        </a:rPr>
                        <a:t>đã</a:t>
                      </a:r>
                      <a:r>
                        <a:rPr sz="750" b="0">
                          <a:solidFill>
                            <a:srgbClr val="555555"/>
                          </a:solidFill>
                          <a:latin typeface="Calibri"/>
                        </a:rPr>
                        <a:t> </a:t>
                      </a:r>
                      <a:r>
                        <a:rPr sz="750" b="0" err="1">
                          <a:solidFill>
                            <a:srgbClr val="555555"/>
                          </a:solidFill>
                          <a:latin typeface="Calibri"/>
                        </a:rPr>
                        <a:t>thu</a:t>
                      </a:r>
                      <a:r>
                        <a:rPr sz="750" b="0">
                          <a:solidFill>
                            <a:srgbClr val="555555"/>
                          </a:solidFill>
                          <a:latin typeface="Calibri"/>
                        </a:rPr>
                        <a:t> bao </a:t>
                      </a:r>
                      <a:r>
                        <a:rPr sz="750" b="0" err="1">
                          <a:solidFill>
                            <a:srgbClr val="555555"/>
                          </a:solidFill>
                          <a:latin typeface="Calibri"/>
                        </a:rPr>
                        <a:t>lâu</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Nút</a:t>
                      </a:r>
                      <a:r>
                        <a:rPr sz="800" b="1">
                          <a:solidFill>
                            <a:srgbClr val="222222"/>
                          </a:solidFill>
                          <a:latin typeface="Calibri"/>
                        </a:rPr>
                        <a:t> </a:t>
                      </a:r>
                      <a:r>
                        <a:rPr sz="800" b="1" err="1">
                          <a:solidFill>
                            <a:srgbClr val="222222"/>
                          </a:solidFill>
                          <a:latin typeface="Calibri"/>
                        </a:rPr>
                        <a:t>dừng</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Tap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chủ</a:t>
                      </a:r>
                      <a:r>
                        <a:rPr sz="750" b="0">
                          <a:solidFill>
                            <a:srgbClr val="555555"/>
                          </a:solidFill>
                          <a:latin typeface="Calibri"/>
                        </a:rPr>
                        <a:t> </a:t>
                      </a:r>
                      <a:r>
                        <a:rPr sz="750" b="0" err="1">
                          <a:solidFill>
                            <a:srgbClr val="555555"/>
                          </a:solidFill>
                          <a:latin typeface="Calibri"/>
                        </a:rPr>
                        <a:t>động</a:t>
                      </a:r>
                      <a:r>
                        <a:rPr sz="750" b="0">
                          <a:solidFill>
                            <a:srgbClr val="555555"/>
                          </a:solidFill>
                          <a:latin typeface="Calibri"/>
                        </a:rPr>
                        <a:t> </a:t>
                      </a:r>
                      <a:r>
                        <a:rPr sz="750" b="0" err="1">
                          <a:solidFill>
                            <a:srgbClr val="555555"/>
                          </a:solidFill>
                          <a:latin typeface="Calibri"/>
                        </a:rPr>
                        <a:t>dừng</a:t>
                      </a:r>
                      <a:r>
                        <a:rPr sz="750" b="0">
                          <a:solidFill>
                            <a:srgbClr val="555555"/>
                          </a:solidFill>
                          <a:latin typeface="Calibri"/>
                        </a:rPr>
                        <a:t> </a:t>
                      </a:r>
                      <a:r>
                        <a:rPr sz="750" b="0" err="1">
                          <a:solidFill>
                            <a:srgbClr val="555555"/>
                          </a:solidFill>
                          <a:latin typeface="Calibri"/>
                        </a:rPr>
                        <a:t>thu</a:t>
                      </a:r>
                      <a:r>
                        <a:rPr sz="750" b="0">
                          <a:solidFill>
                            <a:srgbClr val="555555"/>
                          </a:solidFill>
                          <a:latin typeface="Calibri"/>
                        </a:rPr>
                        <a:t>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chuyển</a:t>
                      </a:r>
                      <a:r>
                        <a:rPr sz="750" b="0">
                          <a:solidFill>
                            <a:srgbClr val="555555"/>
                          </a:solidFill>
                          <a:latin typeface="Calibri"/>
                        </a:rPr>
                        <a:t> sang </a:t>
                      </a:r>
                      <a:r>
                        <a:rPr sz="750" b="0" err="1">
                          <a:solidFill>
                            <a:srgbClr val="555555"/>
                          </a:solidFill>
                          <a:latin typeface="Calibri"/>
                        </a:rPr>
                        <a:t>xử</a:t>
                      </a:r>
                      <a:r>
                        <a:rPr sz="750" b="0">
                          <a:solidFill>
                            <a:srgbClr val="555555"/>
                          </a:solidFill>
                          <a:latin typeface="Calibri"/>
                        </a:rPr>
                        <a:t> </a:t>
                      </a:r>
                      <a:r>
                        <a:rPr sz="750" b="0" err="1">
                          <a:solidFill>
                            <a:srgbClr val="555555"/>
                          </a:solidFill>
                          <a:latin typeface="Calibri"/>
                        </a:rPr>
                        <a:t>lý</a:t>
                      </a:r>
                      <a:r>
                        <a:rPr sz="750" b="0">
                          <a:solidFill>
                            <a:srgbClr val="555555"/>
                          </a:solidFill>
                          <a:latin typeface="Calibri"/>
                        </a:rPr>
                        <a:t> (SS-SCR-004). Người </a:t>
                      </a:r>
                      <a:r>
                        <a:rPr sz="750" b="0" err="1">
                          <a:solidFill>
                            <a:srgbClr val="555555"/>
                          </a:solidFill>
                          <a:latin typeface="Calibri"/>
                        </a:rPr>
                        <a:t>dùng</a:t>
                      </a:r>
                      <a:r>
                        <a:rPr sz="750" b="0">
                          <a:solidFill>
                            <a:srgbClr val="555555"/>
                          </a:solidFill>
                          <a:latin typeface="Calibri"/>
                        </a:rPr>
                        <a:t> </a:t>
                      </a:r>
                      <a:r>
                        <a:rPr sz="750" b="0" err="1">
                          <a:solidFill>
                            <a:srgbClr val="555555"/>
                          </a:solidFill>
                          <a:latin typeface="Calibri"/>
                        </a:rPr>
                        <a:t>luôn</a:t>
                      </a:r>
                      <a:r>
                        <a:rPr sz="750" b="0">
                          <a:solidFill>
                            <a:srgbClr val="555555"/>
                          </a:solidFill>
                          <a:latin typeface="Calibri"/>
                        </a:rPr>
                        <a:t> </a:t>
                      </a:r>
                      <a:r>
                        <a:rPr sz="750" b="0" err="1">
                          <a:solidFill>
                            <a:srgbClr val="555555"/>
                          </a:solidFill>
                          <a:latin typeface="Calibri"/>
                        </a:rPr>
                        <a:t>kiểm</a:t>
                      </a:r>
                      <a:r>
                        <a:rPr sz="750" b="0">
                          <a:solidFill>
                            <a:srgbClr val="555555"/>
                          </a:solidFill>
                          <a:latin typeface="Calibri"/>
                        </a:rPr>
                        <a:t> </a:t>
                      </a:r>
                      <a:r>
                        <a:rPr sz="750" b="0" err="1">
                          <a:solidFill>
                            <a:srgbClr val="555555"/>
                          </a:solidFill>
                          <a:latin typeface="Calibri"/>
                        </a:rPr>
                        <a:t>soát</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phải</a:t>
                      </a:r>
                      <a:r>
                        <a:rPr sz="750" b="0">
                          <a:solidFill>
                            <a:srgbClr val="555555"/>
                          </a:solidFill>
                          <a:latin typeface="Calibri"/>
                        </a:rPr>
                        <a:t> </a:t>
                      </a:r>
                      <a:r>
                        <a:rPr sz="750" b="0" err="1">
                          <a:solidFill>
                            <a:srgbClr val="555555"/>
                          </a:solidFill>
                          <a:latin typeface="Calibri"/>
                        </a:rPr>
                        <a:t>chờ</a:t>
                      </a:r>
                      <a:r>
                        <a:rPr sz="750" b="0">
                          <a:solidFill>
                            <a:srgbClr val="555555"/>
                          </a:solidFill>
                          <a:latin typeface="Calibri"/>
                        </a:rPr>
                        <a:t> auto-stop.</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Ngôn ngữ nhận diện: tiếng Việt. Cần chốt xử lý số đếm và đơn vị ("hai lít", "500 gram") trước khi đưa vào tìm kiếm.</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22</a:t>
            </a:r>
            <a:endParaRPr lang="en-US" sz="700"/>
          </a:p>
        </p:txBody>
      </p:sp>
      <p:pic>
        <p:nvPicPr>
          <p:cNvPr id="40" name="Picture 39" descr="SS-SCR-017.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giọng nói</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FR-VS-02</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SS-SCR-018</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bằng giọng nói — Kết quả</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417576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Từ khoá từ giọng nói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Văn bản nhận diện được đổ vào ô tìm kiếm như một từ khoá bình thường. Khách xác nhận được hệ thống nghe đúng.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Sửa lại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 Tap ô nhập cho phép sửa text; tap (✕) xoá và nói lại. ⚠ Bắt buộc có — tỉ lệ nhận diện sai với tên thương hiệu tiếng Việt còn cao.</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Sắp xếp &amp; Bộ lọc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Dùng lại component chung (SS-SCR-007 / SS-SCR-008).</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Chip lọc nhanh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Sinh theo tập kết quả, giống luồng text.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Số kết quả</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Cập nhật realtime theo bộ lọc.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Lưới kết quả</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Trang kết quả dùng chung cho cả 3 phương thức tìm — đảm bảo trải nghiệm nhất quán và giảm chi phí phát triển.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Nhận diện sai một phần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Nếu độ tin cậy trung bình thấp, hiển thị banner "Bạn có muốn tìm …?" tương tự SS-SCR-003 thay vì trả kết quả sai.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Sau bước này luồng giọng nói hoà hoàn toàn vào luồng text — mọi hành vi lọc, sắp xếp, thêm giỏ đều giống nhau.</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23</a:t>
            </a:r>
            <a:endParaRPr lang="en-US" sz="700"/>
          </a:p>
        </p:txBody>
      </p:sp>
      <p:pic>
        <p:nvPicPr>
          <p:cNvPr id="40" name="Picture 39" descr="SS-SCR-018.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giọng nói</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FR-VS-03</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SS-SCR-019</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bằng giọng nói — Không nhận diện được</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85631030"/>
              </p:ext>
            </p:extLst>
          </p:nvPr>
        </p:nvGraphicFramePr>
        <p:xfrm>
          <a:off x="7196328" y="886968"/>
          <a:ext cx="4544568" cy="362712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Header luồng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Tiêu đề "Tìm bằng giọng nói" + nút Back.</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Icon trạng thái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Icon micro trong khung tròn nhạt — cùng mẫu với màn hình lỗi của luồng ảnh (SS-SCR-016).</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Tiêu đề lỗi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"Không nhận diện được".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Hướng dẫn khắc phục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"Giọng </a:t>
                      </a:r>
                      <a:r>
                        <a:rPr sz="750" b="0" err="1">
                          <a:solidFill>
                            <a:srgbClr val="555555"/>
                          </a:solidFill>
                          <a:latin typeface="Calibri"/>
                        </a:rPr>
                        <a:t>nói</a:t>
                      </a:r>
                      <a:r>
                        <a:rPr sz="750" b="0">
                          <a:solidFill>
                            <a:srgbClr val="555555"/>
                          </a:solidFill>
                          <a:latin typeface="Calibri"/>
                        </a:rPr>
                        <a:t> </a:t>
                      </a:r>
                      <a:r>
                        <a:rPr sz="750" b="0" err="1">
                          <a:solidFill>
                            <a:srgbClr val="555555"/>
                          </a:solidFill>
                          <a:latin typeface="Calibri"/>
                        </a:rPr>
                        <a:t>chưa</a:t>
                      </a:r>
                      <a:r>
                        <a:rPr sz="750" b="0">
                          <a:solidFill>
                            <a:srgbClr val="555555"/>
                          </a:solidFill>
                          <a:latin typeface="Calibri"/>
                        </a:rPr>
                        <a:t> </a:t>
                      </a:r>
                      <a:r>
                        <a:rPr sz="750" b="0" err="1">
                          <a:solidFill>
                            <a:srgbClr val="555555"/>
                          </a:solidFill>
                          <a:latin typeface="Calibri"/>
                        </a:rPr>
                        <a:t>rõ</a:t>
                      </a:r>
                      <a:r>
                        <a:rPr sz="750" b="0">
                          <a:solidFill>
                            <a:srgbClr val="555555"/>
                          </a:solidFill>
                          <a:latin typeface="Calibri"/>
                        </a:rPr>
                        <a:t> </a:t>
                      </a:r>
                      <a:r>
                        <a:rPr sz="750" b="0" err="1">
                          <a:solidFill>
                            <a:srgbClr val="555555"/>
                          </a:solidFill>
                          <a:latin typeface="Calibri"/>
                        </a:rPr>
                        <a:t>ràng</a:t>
                      </a:r>
                      <a:r>
                        <a:rPr sz="750" b="0">
                          <a:solidFill>
                            <a:srgbClr val="555555"/>
                          </a:solidFill>
                          <a:latin typeface="Calibri"/>
                        </a:rPr>
                        <a:t>. Vui </a:t>
                      </a:r>
                      <a:r>
                        <a:rPr sz="750" b="0" err="1">
                          <a:solidFill>
                            <a:srgbClr val="555555"/>
                          </a:solidFill>
                          <a:latin typeface="Calibri"/>
                        </a:rPr>
                        <a:t>lòng</a:t>
                      </a:r>
                      <a:r>
                        <a:rPr sz="750" b="0">
                          <a:solidFill>
                            <a:srgbClr val="555555"/>
                          </a:solidFill>
                          <a:latin typeface="Calibri"/>
                        </a:rPr>
                        <a:t> </a:t>
                      </a:r>
                      <a:r>
                        <a:rPr sz="750" b="0" err="1">
                          <a:solidFill>
                            <a:srgbClr val="555555"/>
                          </a:solidFill>
                          <a:latin typeface="Calibri"/>
                        </a:rPr>
                        <a:t>thử</a:t>
                      </a:r>
                      <a:r>
                        <a:rPr sz="750" b="0">
                          <a:solidFill>
                            <a:srgbClr val="555555"/>
                          </a:solidFill>
                          <a:latin typeface="Calibri"/>
                        </a:rPr>
                        <a:t> </a:t>
                      </a:r>
                      <a:r>
                        <a:rPr sz="750" b="0" err="1">
                          <a:solidFill>
                            <a:srgbClr val="555555"/>
                          </a:solidFill>
                          <a:latin typeface="Calibri"/>
                        </a:rPr>
                        <a:t>lại</a:t>
                      </a:r>
                      <a:r>
                        <a:rPr sz="750" b="0">
                          <a:solidFill>
                            <a:srgbClr val="555555"/>
                          </a:solidFill>
                          <a:latin typeface="Calibri"/>
                        </a:rPr>
                        <a:t> </a:t>
                      </a:r>
                      <a:r>
                        <a:rPr sz="750" b="0" err="1">
                          <a:solidFill>
                            <a:srgbClr val="555555"/>
                          </a:solidFill>
                          <a:latin typeface="Calibri"/>
                        </a:rPr>
                        <a:t>bằng</a:t>
                      </a:r>
                      <a:r>
                        <a:rPr sz="750" b="0">
                          <a:solidFill>
                            <a:srgbClr val="555555"/>
                          </a:solidFill>
                          <a:latin typeface="Calibri"/>
                        </a:rPr>
                        <a:t> </a:t>
                      </a:r>
                      <a:r>
                        <a:rPr sz="750" b="0" err="1">
                          <a:solidFill>
                            <a:srgbClr val="555555"/>
                          </a:solidFill>
                          <a:latin typeface="Calibri"/>
                        </a:rPr>
                        <a:t>cách</a:t>
                      </a:r>
                      <a:r>
                        <a:rPr sz="750" b="0">
                          <a:solidFill>
                            <a:srgbClr val="555555"/>
                          </a:solidFill>
                          <a:latin typeface="Calibri"/>
                        </a:rPr>
                        <a:t> </a:t>
                      </a:r>
                      <a:r>
                        <a:rPr sz="750" b="0" err="1">
                          <a:solidFill>
                            <a:srgbClr val="555555"/>
                          </a:solidFill>
                          <a:latin typeface="Calibri"/>
                        </a:rPr>
                        <a:t>nói</a:t>
                      </a:r>
                      <a:r>
                        <a:rPr sz="750" b="0">
                          <a:solidFill>
                            <a:srgbClr val="555555"/>
                          </a:solidFill>
                          <a:latin typeface="Calibri"/>
                        </a:rPr>
                        <a:t> to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rõ</a:t>
                      </a:r>
                      <a:r>
                        <a:rPr sz="750" b="0">
                          <a:solidFill>
                            <a:srgbClr val="555555"/>
                          </a:solidFill>
                          <a:latin typeface="Calibri"/>
                        </a:rPr>
                        <a:t> hơn."</a:t>
                      </a:r>
                      <a:endParaRPr lang="en-US" sz="750" b="0">
                        <a:solidFill>
                          <a:srgbClr val="555555"/>
                        </a:solidFill>
                        <a:latin typeface="Calibri"/>
                      </a:endParaRPr>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Thử lại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Mở lại lớp thu âm (SS-SCR-017).</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Tìm bằng từ khoá</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 Chuyển sang Pre-search (SS-SCR-001). Luôn có đường thoát.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Ba trạng thái lỗi (ảnh, giọng nói, mất mạng) dùng chung một template — cần đưa vào Design System như component "Empty/Error State".</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24</a:t>
            </a:r>
            <a:endParaRPr lang="en-US" sz="700"/>
          </a:p>
        </p:txBody>
      </p:sp>
      <p:pic>
        <p:nvPicPr>
          <p:cNvPr id="40" name="Picture 39" descr="SS-SCR-019.png"/>
          <p:cNvPicPr>
            <a:picLocks noChangeAspect="1"/>
          </p:cNvPicPr>
          <p:nvPr/>
        </p:nvPicPr>
        <p:blipFill>
          <a:blip r:embed="rId2"/>
          <a:stretch>
            <a:fillRect/>
          </a:stretch>
        </p:blipFill>
        <p:spPr>
          <a:xfrm>
            <a:off x="1119635" y="602920"/>
            <a:ext cx="4856473" cy="47377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54864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201168" y="0"/>
            <a:ext cx="10058400" cy="548640"/>
          </a:xfrm>
          <a:prstGeom prst="rect">
            <a:avLst/>
          </a:prstGeom>
          <a:noFill/>
          <a:ln/>
        </p:spPr>
        <p:txBody>
          <a:bodyPr wrap="square" lIns="0" tIns="0" rIns="0" bIns="0" rtlCol="0" anchor="ctr"/>
          <a:lstStyle/>
          <a:p>
            <a:pPr marL="0" indent="0">
              <a:buNone/>
            </a:pPr>
            <a:r>
              <a:rPr sz="2200" b="1">
                <a:solidFill>
                  <a:srgbClr val="FFFFFF"/>
                </a:solidFill>
                <a:latin typeface="Calibri"/>
              </a:rPr>
              <a:t>4. Trang demo (prototype) &amp; hướng dẫn trình diễn</a:t>
            </a:r>
            <a:endParaRPr lang="en-US" sz="1700"/>
          </a:p>
        </p:txBody>
      </p:sp>
      <p:sp>
        <p:nvSpPr>
          <p:cNvPr id="28" name="Shape 2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29" name="Text 2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0" name="Text 2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25</a:t>
            </a:r>
            <a:endParaRPr lang="en-US" sz="700"/>
          </a:p>
        </p:txBody>
      </p:sp>
      <p:sp>
        <p:nvSpPr>
          <p:cNvPr id="31" name="TextBox 30"/>
          <p:cNvSpPr txBox="1"/>
          <p:nvPr/>
        </p:nvSpPr>
        <p:spPr>
          <a:xfrm>
            <a:off x="274320" y="621792"/>
            <a:ext cx="11612880" cy="256032"/>
          </a:xfrm>
          <a:prstGeom prst="rect">
            <a:avLst/>
          </a:prstGeom>
          <a:noFill/>
        </p:spPr>
        <p:txBody>
          <a:bodyPr wrap="square" lIns="0" tIns="0" rIns="0" bIns="0" anchor="t">
            <a:spAutoFit/>
          </a:bodyPr>
          <a:lstStyle/>
          <a:p>
            <a:pPr algn="l"/>
            <a:r>
              <a:rPr sz="1000" b="0">
                <a:solidFill>
                  <a:srgbClr val="555555"/>
                </a:solidFill>
                <a:latin typeface="Calibri"/>
              </a:rPr>
              <a:t>Bản prototype đi kèm cho phép trình diễn trực tiếp 3 kịch bản trên máy, không cần build ứng dụng.</a:t>
            </a:r>
          </a:p>
        </p:txBody>
      </p:sp>
      <p:sp>
        <p:nvSpPr>
          <p:cNvPr id="32" name="Rectangle 31"/>
          <p:cNvSpPr/>
          <p:nvPr/>
        </p:nvSpPr>
        <p:spPr>
          <a:xfrm>
            <a:off x="274320" y="1000000"/>
            <a:ext cx="5600000" cy="4200000"/>
          </a:xfrm>
          <a:prstGeom prst="rect">
            <a:avLst/>
          </a:prstGeom>
          <a:solidFill>
            <a:srgbClr val="FAFAFA"/>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3" name="TextBox 32"/>
          <p:cNvSpPr txBox="1"/>
          <p:nvPr/>
        </p:nvSpPr>
        <p:spPr>
          <a:xfrm>
            <a:off x="420000" y="1120000"/>
            <a:ext cx="5300000" cy="240000"/>
          </a:xfrm>
          <a:prstGeom prst="rect">
            <a:avLst/>
          </a:prstGeom>
          <a:noFill/>
        </p:spPr>
        <p:txBody>
          <a:bodyPr wrap="square" lIns="0" tIns="0" rIns="0" bIns="0" anchor="t">
            <a:spAutoFit/>
          </a:bodyPr>
          <a:lstStyle/>
          <a:p>
            <a:pPr algn="l"/>
            <a:r>
              <a:rPr sz="1100" b="1">
                <a:solidFill>
                  <a:srgbClr val="222222"/>
                </a:solidFill>
                <a:latin typeface="Calibri"/>
              </a:rPr>
              <a:t>Thanh điều hướng demo (DemoNav)</a:t>
            </a:r>
          </a:p>
        </p:txBody>
      </p:sp>
      <p:sp>
        <p:nvSpPr>
          <p:cNvPr id="34" name="TextBox 33"/>
          <p:cNvSpPr txBox="1"/>
          <p:nvPr/>
        </p:nvSpPr>
        <p:spPr>
          <a:xfrm>
            <a:off x="420000" y="1420000"/>
            <a:ext cx="5300000" cy="2600000"/>
          </a:xfrm>
          <a:prstGeom prst="rect">
            <a:avLst/>
          </a:prstGeom>
          <a:noFill/>
        </p:spPr>
        <p:txBody>
          <a:bodyPr wrap="square" lIns="0" tIns="0" rIns="0" bIns="0" anchor="t">
            <a:spAutoFit/>
          </a:bodyPr>
          <a:lstStyle/>
          <a:p>
            <a:pPr algn="l"/>
            <a:r>
              <a:rPr sz="900" b="0">
                <a:solidFill>
                  <a:srgbClr val="555555"/>
                </a:solidFill>
                <a:latin typeface="Calibri"/>
              </a:rPr>
              <a:t>Trong file Figma, khung prototype có một thanh điều hướng phụ ở đáy màn hình gồm 4 nút:</a:t>
            </a:r>
          </a:p>
          <a:p>
            <a:pPr algn="l"/>
            <a:r>
              <a:rPr sz="1000" b="1">
                <a:solidFill>
                  <a:srgbClr val="C8102E"/>
                </a:solidFill>
                <a:latin typeface="Calibri"/>
              </a:rPr>
              <a:t>Pre-search  ·  Typing  ·  Results  ·  Zero</a:t>
            </a:r>
          </a:p>
          <a:p>
            <a:pPr algn="l"/>
            <a:r>
              <a:rPr sz="900" b="0">
                <a:solidFill>
                  <a:srgbClr val="555555"/>
                </a:solidFill>
                <a:latin typeface="Calibri"/>
              </a:rPr>
              <a:t>Thanh này chỉ tồn tại để nhảy nhanh giữa 4 trạng thái chính khi demo trước khách hàng — cho phép trình bày cả luồng thành công lẫn luồng Zero Result mà không phải gõ liệu thật.</a:t>
            </a:r>
          </a:p>
          <a:p>
            <a:pPr algn="l"/>
            <a:r>
              <a:rPr sz="900" b="1">
                <a:solidFill>
                  <a:srgbClr val="8A8000"/>
                </a:solidFill>
                <a:latin typeface="Calibri"/>
              </a:rPr>
              <a:t>⚠  Bắt buộc loại bỏ DemoNav khỏi bản build thật. Đây là thành phần trình diễn, không phải yêu cầu chức năng.</a:t>
            </a:r>
          </a:p>
        </p:txBody>
      </p:sp>
      <p:sp>
        <p:nvSpPr>
          <p:cNvPr id="35" name="Rectangle 34"/>
          <p:cNvSpPr/>
          <p:nvPr/>
        </p:nvSpPr>
        <p:spPr>
          <a:xfrm>
            <a:off x="6100000" y="1071120"/>
            <a:ext cx="5787200" cy="420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6" name="TextBox 35"/>
          <p:cNvSpPr txBox="1"/>
          <p:nvPr/>
        </p:nvSpPr>
        <p:spPr>
          <a:xfrm>
            <a:off x="6240000" y="1120000"/>
            <a:ext cx="5500000" cy="240000"/>
          </a:xfrm>
          <a:prstGeom prst="rect">
            <a:avLst/>
          </a:prstGeom>
          <a:noFill/>
        </p:spPr>
        <p:txBody>
          <a:bodyPr wrap="square" lIns="0" tIns="0" rIns="0" bIns="0" anchor="t">
            <a:spAutoFit/>
          </a:bodyPr>
          <a:lstStyle/>
          <a:p>
            <a:pPr algn="l"/>
            <a:r>
              <a:rPr sz="1100" b="1">
                <a:solidFill>
                  <a:srgbClr val="222222"/>
                </a:solidFill>
                <a:latin typeface="Calibri"/>
              </a:rPr>
              <a:t>Kịch bản trình diễn đề xuất (8 phút)</a:t>
            </a:r>
          </a:p>
        </p:txBody>
      </p:sp>
      <p:sp>
        <p:nvSpPr>
          <p:cNvPr id="37" name="TextBox 36"/>
          <p:cNvSpPr txBox="1"/>
          <p:nvPr/>
        </p:nvSpPr>
        <p:spPr>
          <a:xfrm>
            <a:off x="6240000" y="1420000"/>
            <a:ext cx="900000" cy="130805"/>
          </a:xfrm>
          <a:prstGeom prst="rect">
            <a:avLst/>
          </a:prstGeom>
          <a:noFill/>
        </p:spPr>
        <p:txBody>
          <a:bodyPr wrap="square" lIns="0" tIns="0" rIns="0" bIns="0" anchor="t">
            <a:spAutoFit/>
          </a:bodyPr>
          <a:lstStyle/>
          <a:p>
            <a:pPr algn="l"/>
            <a:r>
              <a:rPr lang="en-US" sz="850" b="1">
                <a:solidFill>
                  <a:srgbClr val="C8102E"/>
                </a:solidFill>
                <a:latin typeface="Calibri"/>
              </a:rPr>
              <a:t>0:00–1:30</a:t>
            </a:r>
            <a:endParaRPr lang="en-US"/>
          </a:p>
        </p:txBody>
      </p:sp>
      <p:sp>
        <p:nvSpPr>
          <p:cNvPr id="38" name="TextBox 37"/>
          <p:cNvSpPr txBox="1"/>
          <p:nvPr/>
        </p:nvSpPr>
        <p:spPr>
          <a:xfrm>
            <a:off x="7200000" y="1420000"/>
            <a:ext cx="4550000" cy="269304"/>
          </a:xfrm>
          <a:prstGeom prst="rect">
            <a:avLst/>
          </a:prstGeom>
          <a:noFill/>
        </p:spPr>
        <p:txBody>
          <a:bodyPr wrap="square" lIns="0" tIns="0" rIns="0" bIns="0" anchor="t">
            <a:spAutoFit/>
          </a:bodyPr>
          <a:lstStyle/>
          <a:p>
            <a:r>
              <a:rPr sz="850" b="0" err="1">
                <a:solidFill>
                  <a:srgbClr val="555555"/>
                </a:solidFill>
                <a:latin typeface="Calibri"/>
              </a:rPr>
              <a:t>Mở</a:t>
            </a:r>
            <a:r>
              <a:rPr sz="850" b="0">
                <a:solidFill>
                  <a:srgbClr val="555555"/>
                </a:solidFill>
                <a:latin typeface="Calibri"/>
              </a:rPr>
              <a:t> app →</a:t>
            </a:r>
            <a:r>
              <a:rPr lang="en-US" sz="850">
                <a:solidFill>
                  <a:srgbClr val="555555"/>
                </a:solidFill>
                <a:latin typeface="Calibri"/>
              </a:rPr>
              <a:t> </a:t>
            </a:r>
            <a:r>
              <a:rPr lang="en-US" sz="850" err="1">
                <a:solidFill>
                  <a:srgbClr val="555555"/>
                </a:solidFill>
                <a:latin typeface="Calibri"/>
              </a:rPr>
              <a:t>Nhấn</a:t>
            </a:r>
            <a:r>
              <a:rPr lang="en-US" sz="850">
                <a:solidFill>
                  <a:srgbClr val="555555"/>
                </a:solidFill>
                <a:latin typeface="Calibri"/>
              </a:rPr>
              <a:t> </a:t>
            </a:r>
            <a:r>
              <a:rPr lang="en-US" sz="850" err="1">
                <a:solidFill>
                  <a:srgbClr val="555555"/>
                </a:solidFill>
                <a:latin typeface="Calibri"/>
              </a:rPr>
              <a:t>vào</a:t>
            </a:r>
            <a:r>
              <a:rPr sz="850" b="0">
                <a:solidFill>
                  <a:srgbClr val="555555"/>
                </a:solidFill>
                <a:latin typeface="Calibri"/>
              </a:rPr>
              <a:t> </a:t>
            </a:r>
            <a:r>
              <a:rPr lang="en-US" sz="850" err="1">
                <a:solidFill>
                  <a:srgbClr val="555555"/>
                </a:solidFill>
                <a:latin typeface="Calibri"/>
              </a:rPr>
              <a:t>thanh</a:t>
            </a:r>
            <a:r>
              <a:rPr lang="en-US" sz="850">
                <a:solidFill>
                  <a:srgbClr val="555555"/>
                </a:solidFill>
                <a:latin typeface="Calibri"/>
              </a:rPr>
              <a:t> search </a:t>
            </a:r>
            <a:r>
              <a:rPr lang="en-US" sz="900">
                <a:solidFill>
                  <a:srgbClr val="555555"/>
                </a:solidFill>
                <a:latin typeface="Calibri"/>
              </a:rPr>
              <a:t>→</a:t>
            </a:r>
            <a:r>
              <a:rPr lang="en-US" sz="850">
                <a:solidFill>
                  <a:srgbClr val="555555"/>
                </a:solidFill>
                <a:latin typeface="Calibri"/>
              </a:rPr>
              <a:t> </a:t>
            </a:r>
            <a:r>
              <a:rPr sz="850" b="0">
                <a:solidFill>
                  <a:srgbClr val="555555"/>
                </a:solidFill>
                <a:latin typeface="Calibri"/>
              </a:rPr>
              <a:t>Pre-search. Nói </a:t>
            </a:r>
            <a:r>
              <a:rPr sz="850" b="0" err="1">
                <a:solidFill>
                  <a:srgbClr val="555555"/>
                </a:solidFill>
                <a:latin typeface="Calibri"/>
              </a:rPr>
              <a:t>về</a:t>
            </a:r>
            <a:r>
              <a:rPr sz="850" b="0">
                <a:solidFill>
                  <a:srgbClr val="555555"/>
                </a:solidFill>
                <a:latin typeface="Calibri"/>
              </a:rPr>
              <a:t> “Thường </a:t>
            </a:r>
            <a:r>
              <a:rPr sz="850" b="0" err="1">
                <a:solidFill>
                  <a:srgbClr val="555555"/>
                </a:solidFill>
                <a:latin typeface="Calibri"/>
              </a:rPr>
              <a:t>mua</a:t>
            </a:r>
            <a:r>
              <a:rPr sz="850" b="0">
                <a:solidFill>
                  <a:srgbClr val="555555"/>
                </a:solidFill>
                <a:latin typeface="Calibri"/>
              </a:rPr>
              <a:t>” </a:t>
            </a:r>
            <a:r>
              <a:rPr sz="850" b="0" err="1">
                <a:solidFill>
                  <a:srgbClr val="555555"/>
                </a:solidFill>
                <a:latin typeface="Calibri"/>
              </a:rPr>
              <a:t>và</a:t>
            </a:r>
            <a:r>
              <a:rPr sz="850" b="0">
                <a:solidFill>
                  <a:srgbClr val="555555"/>
                </a:solidFill>
                <a:latin typeface="Calibri"/>
              </a:rPr>
              <a:t> “Xu </a:t>
            </a:r>
            <a:r>
              <a:rPr sz="850" b="0" err="1">
                <a:solidFill>
                  <a:srgbClr val="555555"/>
                </a:solidFill>
                <a:latin typeface="Calibri"/>
              </a:rPr>
              <a:t>hướng</a:t>
            </a:r>
            <a:r>
              <a:rPr sz="850" b="0">
                <a:solidFill>
                  <a:srgbClr val="555555"/>
                </a:solidFill>
                <a:latin typeface="Calibri"/>
              </a:rPr>
              <a:t> </a:t>
            </a:r>
            <a:r>
              <a:rPr sz="850" b="0" err="1">
                <a:solidFill>
                  <a:srgbClr val="555555"/>
                </a:solidFill>
                <a:latin typeface="Calibri"/>
              </a:rPr>
              <a:t>tìm</a:t>
            </a:r>
            <a:r>
              <a:rPr sz="850" b="0">
                <a:solidFill>
                  <a:srgbClr val="555555"/>
                </a:solidFill>
                <a:latin typeface="Calibri"/>
              </a:rPr>
              <a:t> </a:t>
            </a:r>
            <a:r>
              <a:rPr sz="850" b="0" err="1">
                <a:solidFill>
                  <a:srgbClr val="555555"/>
                </a:solidFill>
                <a:latin typeface="Calibri"/>
              </a:rPr>
              <a:t>kiếm</a:t>
            </a:r>
            <a:r>
              <a:rPr sz="850" b="0">
                <a:solidFill>
                  <a:srgbClr val="555555"/>
                </a:solidFill>
                <a:latin typeface="Calibri"/>
              </a:rPr>
              <a:t>”: </a:t>
            </a:r>
            <a:r>
              <a:rPr sz="850" b="0" err="1">
                <a:solidFill>
                  <a:srgbClr val="555555"/>
                </a:solidFill>
                <a:latin typeface="Calibri"/>
              </a:rPr>
              <a:t>khách</a:t>
            </a:r>
            <a:r>
              <a:rPr sz="850" b="0">
                <a:solidFill>
                  <a:srgbClr val="555555"/>
                </a:solidFill>
                <a:latin typeface="Calibri"/>
              </a:rPr>
              <a:t> </a:t>
            </a:r>
            <a:r>
              <a:rPr sz="850" b="0" err="1">
                <a:solidFill>
                  <a:srgbClr val="555555"/>
                </a:solidFill>
                <a:latin typeface="Calibri"/>
              </a:rPr>
              <a:t>mua</a:t>
            </a:r>
            <a:r>
              <a:rPr sz="850" b="0">
                <a:solidFill>
                  <a:srgbClr val="555555"/>
                </a:solidFill>
                <a:latin typeface="Calibri"/>
              </a:rPr>
              <a:t> </a:t>
            </a:r>
            <a:r>
              <a:rPr sz="850" b="0" err="1">
                <a:solidFill>
                  <a:srgbClr val="555555"/>
                </a:solidFill>
                <a:latin typeface="Calibri"/>
              </a:rPr>
              <a:t>lại</a:t>
            </a:r>
            <a:r>
              <a:rPr sz="850" b="0">
                <a:solidFill>
                  <a:srgbClr val="555555"/>
                </a:solidFill>
                <a:latin typeface="Calibri"/>
              </a:rPr>
              <a:t> </a:t>
            </a:r>
            <a:r>
              <a:rPr sz="850" b="0" err="1">
                <a:solidFill>
                  <a:srgbClr val="555555"/>
                </a:solidFill>
                <a:latin typeface="Calibri"/>
              </a:rPr>
              <a:t>nhu</a:t>
            </a:r>
            <a:r>
              <a:rPr sz="850" b="0">
                <a:solidFill>
                  <a:srgbClr val="555555"/>
                </a:solidFill>
                <a:latin typeface="Calibri"/>
              </a:rPr>
              <a:t> </a:t>
            </a:r>
            <a:r>
              <a:rPr sz="850" b="0" err="1">
                <a:solidFill>
                  <a:srgbClr val="555555"/>
                </a:solidFill>
                <a:latin typeface="Calibri"/>
              </a:rPr>
              <a:t>yếu</a:t>
            </a:r>
            <a:r>
              <a:rPr sz="850" b="0">
                <a:solidFill>
                  <a:srgbClr val="555555"/>
                </a:solidFill>
                <a:latin typeface="Calibri"/>
              </a:rPr>
              <a:t> </a:t>
            </a:r>
            <a:r>
              <a:rPr sz="850" b="0" err="1">
                <a:solidFill>
                  <a:srgbClr val="555555"/>
                </a:solidFill>
                <a:latin typeface="Calibri"/>
              </a:rPr>
              <a:t>phẩm</a:t>
            </a:r>
            <a:r>
              <a:rPr sz="850" b="0">
                <a:solidFill>
                  <a:srgbClr val="555555"/>
                </a:solidFill>
                <a:latin typeface="Calibri"/>
              </a:rPr>
              <a:t> </a:t>
            </a:r>
            <a:r>
              <a:rPr sz="850" b="0" err="1">
                <a:solidFill>
                  <a:srgbClr val="555555"/>
                </a:solidFill>
                <a:latin typeface="Calibri"/>
              </a:rPr>
              <a:t>mà</a:t>
            </a:r>
            <a:r>
              <a:rPr sz="850" b="0">
                <a:solidFill>
                  <a:srgbClr val="555555"/>
                </a:solidFill>
                <a:latin typeface="Calibri"/>
              </a:rPr>
              <a:t> </a:t>
            </a:r>
            <a:r>
              <a:rPr sz="850" b="0" err="1">
                <a:solidFill>
                  <a:srgbClr val="555555"/>
                </a:solidFill>
                <a:latin typeface="Calibri"/>
              </a:rPr>
              <a:t>không</a:t>
            </a:r>
            <a:r>
              <a:rPr sz="850" b="0">
                <a:solidFill>
                  <a:srgbClr val="555555"/>
                </a:solidFill>
                <a:latin typeface="Calibri"/>
              </a:rPr>
              <a:t> </a:t>
            </a:r>
            <a:r>
              <a:rPr sz="850" b="0" err="1">
                <a:solidFill>
                  <a:srgbClr val="555555"/>
                </a:solidFill>
                <a:latin typeface="Calibri"/>
              </a:rPr>
              <a:t>cần</a:t>
            </a:r>
            <a:r>
              <a:rPr sz="850" b="0">
                <a:solidFill>
                  <a:srgbClr val="555555"/>
                </a:solidFill>
                <a:latin typeface="Calibri"/>
              </a:rPr>
              <a:t> </a:t>
            </a:r>
            <a:r>
              <a:rPr sz="850" b="0" err="1">
                <a:solidFill>
                  <a:srgbClr val="555555"/>
                </a:solidFill>
                <a:latin typeface="Calibri"/>
              </a:rPr>
              <a:t>gõ</a:t>
            </a:r>
            <a:r>
              <a:rPr sz="850" b="0">
                <a:solidFill>
                  <a:srgbClr val="555555"/>
                </a:solidFill>
                <a:latin typeface="Calibri"/>
              </a:rPr>
              <a:t>.</a:t>
            </a:r>
          </a:p>
        </p:txBody>
      </p:sp>
      <p:sp>
        <p:nvSpPr>
          <p:cNvPr id="39" name="TextBox 38"/>
          <p:cNvSpPr txBox="1"/>
          <p:nvPr/>
        </p:nvSpPr>
        <p:spPr>
          <a:xfrm>
            <a:off x="6240000" y="2020000"/>
            <a:ext cx="900000" cy="130805"/>
          </a:xfrm>
          <a:prstGeom prst="rect">
            <a:avLst/>
          </a:prstGeom>
          <a:noFill/>
        </p:spPr>
        <p:txBody>
          <a:bodyPr wrap="square" lIns="0" tIns="0" rIns="0" bIns="0" anchor="t">
            <a:spAutoFit/>
          </a:bodyPr>
          <a:lstStyle/>
          <a:p>
            <a:pPr algn="l"/>
            <a:r>
              <a:rPr lang="en-US" sz="850" b="1">
                <a:solidFill>
                  <a:srgbClr val="C8102E"/>
                </a:solidFill>
                <a:latin typeface="Calibri"/>
              </a:rPr>
              <a:t>1:30–3:00</a:t>
            </a:r>
            <a:endParaRPr lang="en-US"/>
          </a:p>
        </p:txBody>
      </p:sp>
      <p:sp>
        <p:nvSpPr>
          <p:cNvPr id="40" name="TextBox 39"/>
          <p:cNvSpPr txBox="1"/>
          <p:nvPr/>
        </p:nvSpPr>
        <p:spPr>
          <a:xfrm>
            <a:off x="7200000" y="2020000"/>
            <a:ext cx="4550000" cy="130805"/>
          </a:xfrm>
          <a:prstGeom prst="rect">
            <a:avLst/>
          </a:prstGeom>
          <a:noFill/>
        </p:spPr>
        <p:txBody>
          <a:bodyPr wrap="square" lIns="0" tIns="0" rIns="0" bIns="0" anchor="t">
            <a:spAutoFit/>
          </a:bodyPr>
          <a:lstStyle/>
          <a:p>
            <a:r>
              <a:rPr lang="en-US" sz="850" err="1">
                <a:solidFill>
                  <a:srgbClr val="555555"/>
                </a:solidFill>
                <a:ea typeface="Calibri"/>
                <a:cs typeface="Calibri"/>
              </a:rPr>
              <a:t>Gõ</a:t>
            </a:r>
            <a:r>
              <a:rPr lang="en-US" sz="850">
                <a:solidFill>
                  <a:srgbClr val="555555"/>
                </a:solidFill>
                <a:ea typeface="Calibri"/>
                <a:cs typeface="Calibri"/>
              </a:rPr>
              <a:t> “</a:t>
            </a:r>
            <a:r>
              <a:rPr lang="en-US" sz="850" err="1">
                <a:solidFill>
                  <a:srgbClr val="555555"/>
                </a:solidFill>
                <a:ea typeface="Calibri"/>
                <a:cs typeface="Calibri"/>
              </a:rPr>
              <a:t>sữa</a:t>
            </a:r>
            <a:r>
              <a:rPr lang="en-US" sz="850">
                <a:solidFill>
                  <a:srgbClr val="555555"/>
                </a:solidFill>
                <a:ea typeface="Calibri"/>
                <a:cs typeface="Calibri"/>
              </a:rPr>
              <a:t>” → autocomplete → </a:t>
            </a:r>
            <a:r>
              <a:rPr lang="en-US" sz="850" err="1">
                <a:solidFill>
                  <a:srgbClr val="555555"/>
                </a:solidFill>
                <a:ea typeface="Calibri"/>
                <a:cs typeface="Calibri"/>
              </a:rPr>
              <a:t>chọn</a:t>
            </a:r>
            <a:r>
              <a:rPr lang="en-US" sz="850">
                <a:solidFill>
                  <a:srgbClr val="555555"/>
                </a:solidFill>
                <a:ea typeface="Calibri"/>
                <a:cs typeface="Calibri"/>
              </a:rPr>
              <a:t> </a:t>
            </a:r>
            <a:r>
              <a:rPr lang="en-US" sz="850" err="1">
                <a:solidFill>
                  <a:srgbClr val="555555"/>
                </a:solidFill>
                <a:ea typeface="Calibri"/>
                <a:cs typeface="Calibri"/>
              </a:rPr>
              <a:t>gợi</a:t>
            </a:r>
            <a:r>
              <a:rPr lang="en-US" sz="850">
                <a:solidFill>
                  <a:srgbClr val="555555"/>
                </a:solidFill>
                <a:ea typeface="Calibri"/>
                <a:cs typeface="Calibri"/>
              </a:rPr>
              <a:t> ý </a:t>
            </a:r>
            <a:r>
              <a:rPr lang="en-US" sz="850" err="1">
                <a:solidFill>
                  <a:srgbClr val="555555"/>
                </a:solidFill>
                <a:ea typeface="Calibri"/>
                <a:cs typeface="Calibri"/>
              </a:rPr>
              <a:t>hoặc</a:t>
            </a:r>
            <a:r>
              <a:rPr lang="en-US" sz="850">
                <a:solidFill>
                  <a:srgbClr val="555555"/>
                </a:solidFill>
                <a:ea typeface="Calibri"/>
                <a:cs typeface="Calibri"/>
              </a:rPr>
              <a:t> </a:t>
            </a:r>
            <a:r>
              <a:rPr lang="en-US" sz="850" err="1">
                <a:solidFill>
                  <a:srgbClr val="555555"/>
                </a:solidFill>
                <a:ea typeface="Calibri"/>
                <a:cs typeface="Calibri"/>
              </a:rPr>
              <a:t>nhấn</a:t>
            </a:r>
            <a:r>
              <a:rPr lang="en-US" sz="850">
                <a:solidFill>
                  <a:srgbClr val="555555"/>
                </a:solidFill>
                <a:ea typeface="Calibri"/>
                <a:cs typeface="Calibri"/>
              </a:rPr>
              <a:t> enter → </a:t>
            </a:r>
            <a:r>
              <a:rPr lang="en-US" sz="850" err="1">
                <a:solidFill>
                  <a:srgbClr val="555555"/>
                </a:solidFill>
                <a:ea typeface="Calibri"/>
                <a:cs typeface="Calibri"/>
              </a:rPr>
              <a:t>trang</a:t>
            </a:r>
            <a:r>
              <a:rPr lang="en-US" sz="850">
                <a:solidFill>
                  <a:srgbClr val="555555"/>
                </a:solidFill>
                <a:ea typeface="Calibri"/>
                <a:cs typeface="Calibri"/>
              </a:rPr>
              <a:t> </a:t>
            </a:r>
            <a:r>
              <a:rPr lang="en-US" sz="850" err="1">
                <a:solidFill>
                  <a:srgbClr val="555555"/>
                </a:solidFill>
                <a:ea typeface="Calibri"/>
                <a:cs typeface="Calibri"/>
              </a:rPr>
              <a:t>kết</a:t>
            </a:r>
            <a:r>
              <a:rPr lang="en-US" sz="850">
                <a:solidFill>
                  <a:srgbClr val="555555"/>
                </a:solidFill>
                <a:ea typeface="Calibri"/>
                <a:cs typeface="Calibri"/>
              </a:rPr>
              <a:t> </a:t>
            </a:r>
            <a:r>
              <a:rPr lang="en-US" sz="850" err="1">
                <a:solidFill>
                  <a:srgbClr val="555555"/>
                </a:solidFill>
                <a:ea typeface="Calibri"/>
                <a:cs typeface="Calibri"/>
              </a:rPr>
              <a:t>quả</a:t>
            </a:r>
            <a:r>
              <a:rPr lang="en-US" sz="850">
                <a:solidFill>
                  <a:srgbClr val="555555"/>
                </a:solidFill>
                <a:ea typeface="Calibri"/>
                <a:cs typeface="Calibri"/>
              </a:rPr>
              <a:t>.</a:t>
            </a:r>
          </a:p>
        </p:txBody>
      </p:sp>
      <p:sp>
        <p:nvSpPr>
          <p:cNvPr id="41" name="TextBox 40"/>
          <p:cNvSpPr txBox="1"/>
          <p:nvPr/>
        </p:nvSpPr>
        <p:spPr>
          <a:xfrm>
            <a:off x="6240000" y="2620000"/>
            <a:ext cx="900000" cy="240000"/>
          </a:xfrm>
          <a:prstGeom prst="rect">
            <a:avLst/>
          </a:prstGeom>
          <a:noFill/>
        </p:spPr>
        <p:txBody>
          <a:bodyPr wrap="square" lIns="0" tIns="0" rIns="0" bIns="0" anchor="t">
            <a:spAutoFit/>
          </a:bodyPr>
          <a:lstStyle/>
          <a:p>
            <a:pPr algn="l"/>
            <a:r>
              <a:rPr sz="850" b="1">
                <a:solidFill>
                  <a:srgbClr val="C8102E"/>
                </a:solidFill>
                <a:latin typeface="Calibri"/>
              </a:rPr>
              <a:t>3:00–4:00</a:t>
            </a:r>
          </a:p>
        </p:txBody>
      </p:sp>
      <p:sp>
        <p:nvSpPr>
          <p:cNvPr id="42" name="TextBox 41"/>
          <p:cNvSpPr txBox="1"/>
          <p:nvPr/>
        </p:nvSpPr>
        <p:spPr>
          <a:xfrm>
            <a:off x="7200000" y="2620000"/>
            <a:ext cx="4550000" cy="560000"/>
          </a:xfrm>
          <a:prstGeom prst="rect">
            <a:avLst/>
          </a:prstGeom>
          <a:noFill/>
        </p:spPr>
        <p:txBody>
          <a:bodyPr wrap="square" lIns="0" tIns="0" rIns="0" bIns="0" anchor="t">
            <a:spAutoFit/>
          </a:bodyPr>
          <a:lstStyle/>
          <a:p>
            <a:pPr algn="l"/>
            <a:r>
              <a:rPr sz="850" b="0">
                <a:solidFill>
                  <a:srgbClr val="555555"/>
                </a:solidFill>
                <a:latin typeface="Calibri"/>
              </a:rPr>
              <a:t>Mở Bộ lọc, chọn 2–3 điều kiện → số kết quả cập nhật → thêm 1 sản phẩm vào giỏ (toast).</a:t>
            </a:r>
          </a:p>
        </p:txBody>
      </p:sp>
      <p:sp>
        <p:nvSpPr>
          <p:cNvPr id="43" name="TextBox 42"/>
          <p:cNvSpPr txBox="1"/>
          <p:nvPr/>
        </p:nvSpPr>
        <p:spPr>
          <a:xfrm>
            <a:off x="6240000" y="3220000"/>
            <a:ext cx="900000" cy="240000"/>
          </a:xfrm>
          <a:prstGeom prst="rect">
            <a:avLst/>
          </a:prstGeom>
          <a:noFill/>
        </p:spPr>
        <p:txBody>
          <a:bodyPr wrap="square" lIns="0" tIns="0" rIns="0" bIns="0" anchor="t">
            <a:spAutoFit/>
          </a:bodyPr>
          <a:lstStyle/>
          <a:p>
            <a:pPr algn="l"/>
            <a:r>
              <a:rPr sz="850" b="1">
                <a:solidFill>
                  <a:srgbClr val="C8102E"/>
                </a:solidFill>
                <a:latin typeface="Calibri"/>
              </a:rPr>
              <a:t>4:00–5:00</a:t>
            </a:r>
          </a:p>
        </p:txBody>
      </p:sp>
      <p:sp>
        <p:nvSpPr>
          <p:cNvPr id="44" name="TextBox 43"/>
          <p:cNvSpPr txBox="1"/>
          <p:nvPr/>
        </p:nvSpPr>
        <p:spPr>
          <a:xfrm>
            <a:off x="7210160" y="3220000"/>
            <a:ext cx="4550000" cy="276999"/>
          </a:xfrm>
          <a:prstGeom prst="rect">
            <a:avLst/>
          </a:prstGeom>
          <a:noFill/>
        </p:spPr>
        <p:txBody>
          <a:bodyPr wrap="square" lIns="0" tIns="0" rIns="0" bIns="0" anchor="t">
            <a:spAutoFit/>
          </a:bodyPr>
          <a:lstStyle/>
          <a:p>
            <a:r>
              <a:rPr sz="850" b="0" err="1">
                <a:solidFill>
                  <a:srgbClr val="555555"/>
                </a:solidFill>
                <a:latin typeface="Calibri"/>
              </a:rPr>
              <a:t>Gõ</a:t>
            </a:r>
            <a:r>
              <a:rPr sz="850" b="0">
                <a:solidFill>
                  <a:srgbClr val="555555"/>
                </a:solidFill>
                <a:latin typeface="Calibri"/>
              </a:rPr>
              <a:t> </a:t>
            </a:r>
            <a:r>
              <a:rPr sz="850" b="0" err="1">
                <a:solidFill>
                  <a:srgbClr val="555555"/>
                </a:solidFill>
                <a:latin typeface="Calibri"/>
              </a:rPr>
              <a:t>sai</a:t>
            </a:r>
            <a:r>
              <a:rPr sz="850" b="0">
                <a:solidFill>
                  <a:srgbClr val="555555"/>
                </a:solidFill>
                <a:latin typeface="Calibri"/>
              </a:rPr>
              <a:t> “</a:t>
            </a:r>
            <a:r>
              <a:rPr sz="850" b="0" err="1">
                <a:solidFill>
                  <a:srgbClr val="555555"/>
                </a:solidFill>
                <a:latin typeface="Calibri"/>
              </a:rPr>
              <a:t>sua</a:t>
            </a:r>
            <a:r>
              <a:rPr sz="850" b="0">
                <a:solidFill>
                  <a:srgbClr val="555555"/>
                </a:solidFill>
                <a:latin typeface="Calibri"/>
              </a:rPr>
              <a:t> </a:t>
            </a:r>
            <a:r>
              <a:rPr sz="850" b="0" err="1">
                <a:solidFill>
                  <a:srgbClr val="555555"/>
                </a:solidFill>
                <a:latin typeface="Calibri"/>
              </a:rPr>
              <a:t>toui</a:t>
            </a:r>
            <a:r>
              <a:rPr sz="850" b="0">
                <a:solidFill>
                  <a:srgbClr val="555555"/>
                </a:solidFill>
                <a:latin typeface="Calibri"/>
              </a:rPr>
              <a:t>” → banner </a:t>
            </a:r>
            <a:r>
              <a:rPr sz="850" b="0" err="1">
                <a:solidFill>
                  <a:srgbClr val="555555"/>
                </a:solidFill>
                <a:latin typeface="Calibri"/>
              </a:rPr>
              <a:t>tự</a:t>
            </a:r>
            <a:r>
              <a:rPr sz="850" b="0">
                <a:solidFill>
                  <a:srgbClr val="555555"/>
                </a:solidFill>
                <a:latin typeface="Calibri"/>
              </a:rPr>
              <a:t> </a:t>
            </a:r>
            <a:r>
              <a:rPr sz="850" b="0" err="1">
                <a:solidFill>
                  <a:srgbClr val="555555"/>
                </a:solidFill>
                <a:latin typeface="Calibri"/>
              </a:rPr>
              <a:t>sửa</a:t>
            </a:r>
            <a:r>
              <a:rPr sz="850" b="0">
                <a:solidFill>
                  <a:srgbClr val="555555"/>
                </a:solidFill>
                <a:latin typeface="Calibri"/>
              </a:rPr>
              <a:t> </a:t>
            </a:r>
            <a:r>
              <a:rPr sz="850" b="0" err="1">
                <a:solidFill>
                  <a:srgbClr val="555555"/>
                </a:solidFill>
                <a:latin typeface="Calibri"/>
              </a:rPr>
              <a:t>chính</a:t>
            </a:r>
            <a:r>
              <a:rPr sz="850" b="0">
                <a:solidFill>
                  <a:srgbClr val="555555"/>
                </a:solidFill>
                <a:latin typeface="Calibri"/>
              </a:rPr>
              <a:t> </a:t>
            </a:r>
            <a:r>
              <a:rPr sz="850" b="0" err="1">
                <a:solidFill>
                  <a:srgbClr val="555555"/>
                </a:solidFill>
                <a:latin typeface="Calibri"/>
              </a:rPr>
              <a:t>tả</a:t>
            </a:r>
            <a:r>
              <a:rPr lang="en-US" sz="850">
                <a:solidFill>
                  <a:srgbClr val="555555"/>
                </a:solidFill>
                <a:latin typeface="Calibri"/>
              </a:rPr>
              <a:t> </a:t>
            </a:r>
            <a:r>
              <a:rPr lang="en-US" sz="900">
                <a:solidFill>
                  <a:srgbClr val="555555"/>
                </a:solidFill>
                <a:latin typeface="Calibri"/>
              </a:rPr>
              <a:t>→ </a:t>
            </a:r>
            <a:r>
              <a:rPr lang="en-US" sz="900" err="1">
                <a:solidFill>
                  <a:srgbClr val="555555"/>
                </a:solidFill>
                <a:latin typeface="Calibri"/>
              </a:rPr>
              <a:t>nhấn</a:t>
            </a:r>
            <a:r>
              <a:rPr lang="en-US" sz="900">
                <a:solidFill>
                  <a:srgbClr val="555555"/>
                </a:solidFill>
                <a:latin typeface="Calibri"/>
              </a:rPr>
              <a:t> </a:t>
            </a:r>
            <a:r>
              <a:rPr lang="en-US" sz="900" err="1">
                <a:solidFill>
                  <a:srgbClr val="555555"/>
                </a:solidFill>
                <a:latin typeface="Calibri"/>
              </a:rPr>
              <a:t>vào</a:t>
            </a:r>
            <a:r>
              <a:rPr lang="en-US" sz="900">
                <a:solidFill>
                  <a:srgbClr val="555555"/>
                </a:solidFill>
                <a:latin typeface="Calibri"/>
              </a:rPr>
              <a:t> </a:t>
            </a:r>
            <a:r>
              <a:rPr lang="en-US" sz="900" err="1">
                <a:solidFill>
                  <a:srgbClr val="555555"/>
                </a:solidFill>
                <a:latin typeface="Calibri"/>
              </a:rPr>
              <a:t>từ</a:t>
            </a:r>
            <a:r>
              <a:rPr lang="en-US" sz="900">
                <a:solidFill>
                  <a:srgbClr val="555555"/>
                </a:solidFill>
                <a:latin typeface="Calibri"/>
              </a:rPr>
              <a:t> </a:t>
            </a:r>
            <a:r>
              <a:rPr lang="en-US" sz="900" err="1">
                <a:solidFill>
                  <a:srgbClr val="555555"/>
                </a:solidFill>
                <a:latin typeface="Calibri"/>
              </a:rPr>
              <a:t>khóa</a:t>
            </a:r>
            <a:r>
              <a:rPr lang="en-US" sz="900">
                <a:solidFill>
                  <a:srgbClr val="555555"/>
                </a:solidFill>
                <a:latin typeface="Calibri"/>
              </a:rPr>
              <a:t> </a:t>
            </a:r>
            <a:r>
              <a:rPr lang="en-US" sz="900" err="1">
                <a:solidFill>
                  <a:srgbClr val="555555"/>
                </a:solidFill>
                <a:latin typeface="Calibri"/>
              </a:rPr>
              <a:t>đã</a:t>
            </a:r>
            <a:r>
              <a:rPr lang="en-US" sz="900">
                <a:solidFill>
                  <a:srgbClr val="555555"/>
                </a:solidFill>
                <a:latin typeface="Calibri"/>
              </a:rPr>
              <a:t> </a:t>
            </a:r>
            <a:r>
              <a:rPr lang="en-US" sz="900" err="1">
                <a:solidFill>
                  <a:srgbClr val="555555"/>
                </a:solidFill>
                <a:latin typeface="Calibri"/>
              </a:rPr>
              <a:t>được</a:t>
            </a:r>
            <a:r>
              <a:rPr lang="en-US" sz="900">
                <a:solidFill>
                  <a:srgbClr val="555555"/>
                </a:solidFill>
                <a:latin typeface="Calibri"/>
              </a:rPr>
              <a:t> </a:t>
            </a:r>
            <a:r>
              <a:rPr lang="en-US" sz="900" err="1">
                <a:solidFill>
                  <a:srgbClr val="555555"/>
                </a:solidFill>
                <a:latin typeface="Calibri"/>
              </a:rPr>
              <a:t>sửa</a:t>
            </a:r>
            <a:r>
              <a:rPr lang="en-US" sz="900">
                <a:solidFill>
                  <a:srgbClr val="555555"/>
                </a:solidFill>
                <a:latin typeface="Calibri"/>
              </a:rPr>
              <a:t> </a:t>
            </a:r>
            <a:r>
              <a:rPr lang="en-US" sz="900" err="1">
                <a:solidFill>
                  <a:srgbClr val="555555"/>
                </a:solidFill>
                <a:latin typeface="Calibri"/>
              </a:rPr>
              <a:t>chính</a:t>
            </a:r>
            <a:r>
              <a:rPr lang="en-US" sz="900">
                <a:solidFill>
                  <a:srgbClr val="555555"/>
                </a:solidFill>
                <a:latin typeface="Calibri"/>
              </a:rPr>
              <a:t> </a:t>
            </a:r>
            <a:r>
              <a:rPr lang="en-US" sz="900" err="1">
                <a:solidFill>
                  <a:srgbClr val="555555"/>
                </a:solidFill>
                <a:latin typeface="Calibri"/>
              </a:rPr>
              <a:t>tả</a:t>
            </a:r>
            <a:r>
              <a:rPr lang="en-US" sz="900">
                <a:solidFill>
                  <a:srgbClr val="555555"/>
                </a:solidFill>
                <a:latin typeface="Calibri"/>
              </a:rPr>
              <a:t> → </a:t>
            </a:r>
            <a:r>
              <a:rPr lang="en-US" sz="900" err="1">
                <a:solidFill>
                  <a:srgbClr val="555555"/>
                </a:solidFill>
                <a:latin typeface="Calibri"/>
              </a:rPr>
              <a:t>trang</a:t>
            </a:r>
            <a:r>
              <a:rPr lang="en-US" sz="900">
                <a:solidFill>
                  <a:srgbClr val="555555"/>
                </a:solidFill>
                <a:latin typeface="Calibri"/>
              </a:rPr>
              <a:t> </a:t>
            </a:r>
            <a:r>
              <a:rPr lang="en-US" sz="900" err="1">
                <a:solidFill>
                  <a:srgbClr val="555555"/>
                </a:solidFill>
                <a:latin typeface="Calibri"/>
              </a:rPr>
              <a:t>kết</a:t>
            </a:r>
            <a:r>
              <a:rPr lang="en-US" sz="900">
                <a:solidFill>
                  <a:srgbClr val="555555"/>
                </a:solidFill>
                <a:latin typeface="Calibri"/>
              </a:rPr>
              <a:t> </a:t>
            </a:r>
            <a:r>
              <a:rPr lang="en-US" sz="900" err="1">
                <a:solidFill>
                  <a:srgbClr val="555555"/>
                </a:solidFill>
                <a:latin typeface="Calibri"/>
              </a:rPr>
              <a:t>quả</a:t>
            </a:r>
            <a:endParaRPr lang="en-US" sz="850" b="0" err="1">
              <a:solidFill>
                <a:srgbClr val="555555"/>
              </a:solidFill>
              <a:latin typeface="Calibri"/>
              <a:ea typeface="Calibri"/>
              <a:cs typeface="Calibri"/>
            </a:endParaRPr>
          </a:p>
        </p:txBody>
      </p:sp>
      <p:sp>
        <p:nvSpPr>
          <p:cNvPr id="45" name="TextBox 44"/>
          <p:cNvSpPr txBox="1"/>
          <p:nvPr/>
        </p:nvSpPr>
        <p:spPr>
          <a:xfrm>
            <a:off x="6240000" y="3820000"/>
            <a:ext cx="900000" cy="240000"/>
          </a:xfrm>
          <a:prstGeom prst="rect">
            <a:avLst/>
          </a:prstGeom>
          <a:noFill/>
        </p:spPr>
        <p:txBody>
          <a:bodyPr wrap="square" lIns="0" tIns="0" rIns="0" bIns="0" anchor="t">
            <a:spAutoFit/>
          </a:bodyPr>
          <a:lstStyle/>
          <a:p>
            <a:pPr algn="l"/>
            <a:r>
              <a:rPr sz="850" b="1">
                <a:solidFill>
                  <a:srgbClr val="C8102E"/>
                </a:solidFill>
                <a:latin typeface="Calibri"/>
              </a:rPr>
              <a:t>5:00–6:30</a:t>
            </a:r>
          </a:p>
        </p:txBody>
      </p:sp>
      <p:sp>
        <p:nvSpPr>
          <p:cNvPr id="46" name="TextBox 45"/>
          <p:cNvSpPr txBox="1"/>
          <p:nvPr/>
        </p:nvSpPr>
        <p:spPr>
          <a:xfrm>
            <a:off x="7200000" y="3820000"/>
            <a:ext cx="4550000" cy="560000"/>
          </a:xfrm>
          <a:prstGeom prst="rect">
            <a:avLst/>
          </a:prstGeom>
          <a:noFill/>
        </p:spPr>
        <p:txBody>
          <a:bodyPr wrap="square" lIns="0" tIns="0" rIns="0" bIns="0" anchor="t">
            <a:spAutoFit/>
          </a:bodyPr>
          <a:lstStyle/>
          <a:p>
            <a:pPr algn="l"/>
            <a:r>
              <a:rPr sz="850" b="0">
                <a:solidFill>
                  <a:srgbClr val="555555"/>
                </a:solidFill>
                <a:latin typeface="Calibri"/>
              </a:rPr>
              <a:t>Quay lại, chạm icon Camera → chụp → kết quả nhận diện. Chạm Mic → “đang lắng nghe” → kết quả.</a:t>
            </a:r>
          </a:p>
        </p:txBody>
      </p:sp>
      <p:sp>
        <p:nvSpPr>
          <p:cNvPr id="47" name="TextBox 46"/>
          <p:cNvSpPr txBox="1"/>
          <p:nvPr/>
        </p:nvSpPr>
        <p:spPr>
          <a:xfrm>
            <a:off x="6240000" y="4420000"/>
            <a:ext cx="900000" cy="240000"/>
          </a:xfrm>
          <a:prstGeom prst="rect">
            <a:avLst/>
          </a:prstGeom>
          <a:noFill/>
        </p:spPr>
        <p:txBody>
          <a:bodyPr wrap="square" lIns="0" tIns="0" rIns="0" bIns="0" anchor="t">
            <a:spAutoFit/>
          </a:bodyPr>
          <a:lstStyle/>
          <a:p>
            <a:pPr algn="l"/>
            <a:r>
              <a:rPr sz="850" b="1">
                <a:solidFill>
                  <a:srgbClr val="C8102E"/>
                </a:solidFill>
                <a:latin typeface="Calibri"/>
              </a:rPr>
              <a:t>6:30–8:00</a:t>
            </a:r>
          </a:p>
        </p:txBody>
      </p:sp>
      <p:sp>
        <p:nvSpPr>
          <p:cNvPr id="48" name="TextBox 47"/>
          <p:cNvSpPr txBox="1"/>
          <p:nvPr/>
        </p:nvSpPr>
        <p:spPr>
          <a:xfrm>
            <a:off x="7200000" y="4420000"/>
            <a:ext cx="4550000" cy="560000"/>
          </a:xfrm>
          <a:prstGeom prst="rect">
            <a:avLst/>
          </a:prstGeom>
          <a:noFill/>
        </p:spPr>
        <p:txBody>
          <a:bodyPr wrap="square" lIns="0" tIns="0" rIns="0" bIns="0" anchor="t">
            <a:spAutoFit/>
          </a:bodyPr>
          <a:lstStyle/>
          <a:p>
            <a:pPr algn="l"/>
            <a:r>
              <a:rPr sz="850" b="0">
                <a:solidFill>
                  <a:srgbClr val="555555"/>
                </a:solidFill>
                <a:latin typeface="Calibri"/>
              </a:rPr>
              <a:t>Kết: cùng một trang kết quả cho cả 3 phương thức. Chốt các mục còn mở ở slide cuối.</a:t>
            </a:r>
          </a:p>
        </p:txBody>
      </p:sp>
    </p:spTree>
  </p:cSld>
  <p:clrMapOvr>
    <a:masterClrMapping/>
  </p:clrMapOvr>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54864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201168" y="0"/>
            <a:ext cx="10058400" cy="548640"/>
          </a:xfrm>
          <a:prstGeom prst="rect">
            <a:avLst/>
          </a:prstGeom>
          <a:noFill/>
          <a:ln/>
        </p:spPr>
        <p:txBody>
          <a:bodyPr wrap="square" lIns="0" tIns="0" rIns="0" bIns="0" rtlCol="0" anchor="ctr"/>
          <a:lstStyle/>
          <a:p>
            <a:pPr marL="0" indent="0">
              <a:buNone/>
            </a:pPr>
            <a:r>
              <a:rPr sz="2200" b="1">
                <a:solidFill>
                  <a:srgbClr val="FFFFFF"/>
                </a:solidFill>
                <a:latin typeface="Calibri"/>
              </a:rPr>
              <a:t>5. Mục cần chốt trước khi chuyển sang bản UI</a:t>
            </a:r>
            <a:endParaRPr lang="en-US" sz="1700"/>
          </a:p>
        </p:txBody>
      </p:sp>
      <p:sp>
        <p:nvSpPr>
          <p:cNvPr id="28" name="Shape 2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29" name="Text 2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0" name="Text 2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26</a:t>
            </a:r>
            <a:endParaRPr lang="en-US" sz="700"/>
          </a:p>
        </p:txBody>
      </p:sp>
      <p:sp>
        <p:nvSpPr>
          <p:cNvPr id="31" name="TextBox 30"/>
          <p:cNvSpPr txBox="1"/>
          <p:nvPr/>
        </p:nvSpPr>
        <p:spPr>
          <a:xfrm>
            <a:off x="274320" y="621792"/>
            <a:ext cx="11612880" cy="256032"/>
          </a:xfrm>
          <a:prstGeom prst="rect">
            <a:avLst/>
          </a:prstGeom>
          <a:noFill/>
        </p:spPr>
        <p:txBody>
          <a:bodyPr wrap="square" lIns="0" tIns="0" rIns="0" bIns="0" anchor="t">
            <a:spAutoFit/>
          </a:bodyPr>
          <a:lstStyle/>
          <a:p>
            <a:pPr algn="l"/>
            <a:r>
              <a:rPr sz="1000" b="0">
                <a:solidFill>
                  <a:srgbClr val="555555"/>
                </a:solidFill>
                <a:latin typeface="Calibri"/>
              </a:rPr>
              <a:t>Những điểm storyboard đã nêu nhưng chưa có quyết định. Đề nghị chốt trong buổi review để đội thiết kế UI và TD triển khai tiếp.</a:t>
            </a:r>
          </a:p>
        </p:txBody>
      </p:sp>
      <p:sp>
        <p:nvSpPr>
          <p:cNvPr id="32" name="Rectangle 31"/>
          <p:cNvSpPr/>
          <p:nvPr/>
        </p:nvSpPr>
        <p:spPr>
          <a:xfrm>
            <a:off x="274320" y="1000000"/>
            <a:ext cx="520000" cy="30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1">
                <a:solidFill>
                  <a:srgbClr val="FFFFFF"/>
                </a:solidFill>
                <a:latin typeface="Calibri"/>
              </a:rPr>
              <a:t>STT</a:t>
            </a:r>
          </a:p>
        </p:txBody>
      </p:sp>
      <p:sp>
        <p:nvSpPr>
          <p:cNvPr id="33" name="Rectangle 32"/>
          <p:cNvSpPr/>
          <p:nvPr/>
        </p:nvSpPr>
        <p:spPr>
          <a:xfrm>
            <a:off x="794320" y="1000000"/>
            <a:ext cx="2600000" cy="30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1">
                <a:solidFill>
                  <a:srgbClr val="FFFFFF"/>
                </a:solidFill>
                <a:latin typeface="Calibri"/>
              </a:rPr>
              <a:t>Nội dung cần chốt</a:t>
            </a:r>
          </a:p>
        </p:txBody>
      </p:sp>
      <p:sp>
        <p:nvSpPr>
          <p:cNvPr id="34" name="Rectangle 33"/>
          <p:cNvSpPr/>
          <p:nvPr/>
        </p:nvSpPr>
        <p:spPr>
          <a:xfrm>
            <a:off x="3394320" y="1000000"/>
            <a:ext cx="5300000" cy="30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1">
                <a:solidFill>
                  <a:srgbClr val="FFFFFF"/>
                </a:solidFill>
                <a:latin typeface="Calibri"/>
              </a:rPr>
              <a:t>Diễn giải</a:t>
            </a:r>
          </a:p>
        </p:txBody>
      </p:sp>
      <p:sp>
        <p:nvSpPr>
          <p:cNvPr id="35" name="Rectangle 34"/>
          <p:cNvSpPr/>
          <p:nvPr/>
        </p:nvSpPr>
        <p:spPr>
          <a:xfrm>
            <a:off x="8694320" y="1000000"/>
            <a:ext cx="1300000" cy="30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1">
                <a:solidFill>
                  <a:srgbClr val="FFFFFF"/>
                </a:solidFill>
                <a:latin typeface="Calibri"/>
              </a:rPr>
              <a:t>Người chốt</a:t>
            </a:r>
          </a:p>
        </p:txBody>
      </p:sp>
      <p:sp>
        <p:nvSpPr>
          <p:cNvPr id="36" name="Rectangle 35"/>
          <p:cNvSpPr/>
          <p:nvPr/>
        </p:nvSpPr>
        <p:spPr>
          <a:xfrm>
            <a:off x="9994320" y="1000000"/>
            <a:ext cx="1892880" cy="30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1">
                <a:solidFill>
                  <a:srgbClr val="FFFFFF"/>
                </a:solidFill>
                <a:latin typeface="Calibri"/>
              </a:rPr>
              <a:t>Màn hình liên quan</a:t>
            </a:r>
          </a:p>
        </p:txBody>
      </p:sp>
      <p:sp>
        <p:nvSpPr>
          <p:cNvPr id="37" name="Rectangle 36"/>
          <p:cNvSpPr/>
          <p:nvPr/>
        </p:nvSpPr>
        <p:spPr>
          <a:xfrm>
            <a:off x="274320" y="1300000"/>
            <a:ext cx="52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1</a:t>
            </a:r>
          </a:p>
        </p:txBody>
      </p:sp>
      <p:sp>
        <p:nvSpPr>
          <p:cNvPr id="38" name="Rectangle 37"/>
          <p:cNvSpPr/>
          <p:nvPr/>
        </p:nvSpPr>
        <p:spPr>
          <a:xfrm>
            <a:off x="794320" y="1300000"/>
            <a:ext cx="26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800" b="1">
                <a:solidFill>
                  <a:srgbClr val="222222"/>
                </a:solidFill>
                <a:latin typeface="Calibri"/>
              </a:rPr>
              <a:t>Mã yêu cầu (REQ ID)</a:t>
            </a:r>
          </a:p>
        </p:txBody>
      </p:sp>
      <p:sp>
        <p:nvSpPr>
          <p:cNvPr id="39" name="Rectangle 38"/>
          <p:cNvSpPr/>
          <p:nvPr/>
        </p:nvSpPr>
        <p:spPr>
          <a:xfrm>
            <a:off x="3394320" y="1300000"/>
            <a:ext cx="5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750" b="0">
                <a:solidFill>
                  <a:srgbClr val="555555"/>
                </a:solidFill>
                <a:latin typeface="Calibri"/>
              </a:rPr>
              <a:t>Các mã FR-SP-01/02, FR-SF-01, FR-PR-01/02/05, FR-ZR-02 lấy từ section Logic trong file Figma. Các mã FR-SP-03, FR-PR-03, FR-SF-02/03, FR-AC-01, FR-IS-01…04, FR-VS-01…03 do tài liệu này đặt thêm cho các màn hình chưa có mã.</a:t>
            </a:r>
          </a:p>
        </p:txBody>
      </p:sp>
      <p:sp>
        <p:nvSpPr>
          <p:cNvPr id="40" name="Rectangle 39"/>
          <p:cNvSpPr/>
          <p:nvPr/>
        </p:nvSpPr>
        <p:spPr>
          <a:xfrm>
            <a:off x="8694320" y="1300000"/>
            <a:ext cx="1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BA</a:t>
            </a:r>
          </a:p>
        </p:txBody>
      </p:sp>
      <p:sp>
        <p:nvSpPr>
          <p:cNvPr id="41" name="Rectangle 40"/>
          <p:cNvSpPr/>
          <p:nvPr/>
        </p:nvSpPr>
        <p:spPr>
          <a:xfrm>
            <a:off x="9994320" y="1300000"/>
            <a:ext cx="189288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800" b="0">
                <a:solidFill>
                  <a:srgbClr val="555555"/>
                </a:solidFill>
                <a:latin typeface="Calibri"/>
              </a:rPr>
              <a:t>Cần đối chiếu với BRD Smart Search</a:t>
            </a:r>
          </a:p>
        </p:txBody>
      </p:sp>
      <p:sp>
        <p:nvSpPr>
          <p:cNvPr id="42" name="Rectangle 41"/>
          <p:cNvSpPr/>
          <p:nvPr/>
        </p:nvSpPr>
        <p:spPr>
          <a:xfrm>
            <a:off x="274320" y="1820000"/>
            <a:ext cx="52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2</a:t>
            </a:r>
          </a:p>
        </p:txBody>
      </p:sp>
      <p:sp>
        <p:nvSpPr>
          <p:cNvPr id="43" name="Rectangle 42"/>
          <p:cNvSpPr/>
          <p:nvPr/>
        </p:nvSpPr>
        <p:spPr>
          <a:xfrm>
            <a:off x="794320" y="1820000"/>
            <a:ext cx="26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800" b="1">
                <a:solidFill>
                  <a:srgbClr val="222222"/>
                </a:solidFill>
                <a:latin typeface="Calibri"/>
              </a:rPr>
              <a:t>“Thường mua” cho khách chưa đăng nhập</a:t>
            </a:r>
          </a:p>
        </p:txBody>
      </p:sp>
      <p:sp>
        <p:nvSpPr>
          <p:cNvPr id="44" name="Rectangle 43"/>
          <p:cNvSpPr/>
          <p:nvPr/>
        </p:nvSpPr>
        <p:spPr>
          <a:xfrm>
            <a:off x="3394320" y="1820000"/>
            <a:ext cx="5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750" b="0">
                <a:solidFill>
                  <a:srgbClr val="555555"/>
                </a:solidFill>
                <a:latin typeface="Calibri"/>
              </a:rPr>
              <a:t>Ẩn hoàn toàn khối, hay thay bằng “Bán chạy tại LOTTE Mart”?</a:t>
            </a:r>
          </a:p>
        </p:txBody>
      </p:sp>
      <p:sp>
        <p:nvSpPr>
          <p:cNvPr id="45" name="Rectangle 44"/>
          <p:cNvSpPr/>
          <p:nvPr/>
        </p:nvSpPr>
        <p:spPr>
          <a:xfrm>
            <a:off x="8694320" y="1820000"/>
            <a:ext cx="1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BA / UX</a:t>
            </a:r>
          </a:p>
        </p:txBody>
      </p:sp>
      <p:sp>
        <p:nvSpPr>
          <p:cNvPr id="46" name="Rectangle 45"/>
          <p:cNvSpPr/>
          <p:nvPr/>
        </p:nvSpPr>
        <p:spPr>
          <a:xfrm>
            <a:off x="9994320" y="1820000"/>
            <a:ext cx="189288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800" b="0">
                <a:solidFill>
                  <a:srgbClr val="555555"/>
                </a:solidFill>
                <a:latin typeface="Calibri"/>
              </a:rPr>
              <a:t>SS-SCR-001</a:t>
            </a:r>
          </a:p>
        </p:txBody>
      </p:sp>
      <p:sp>
        <p:nvSpPr>
          <p:cNvPr id="47" name="Rectangle 46"/>
          <p:cNvSpPr/>
          <p:nvPr/>
        </p:nvSpPr>
        <p:spPr>
          <a:xfrm>
            <a:off x="274320" y="2340000"/>
            <a:ext cx="52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3</a:t>
            </a:r>
          </a:p>
        </p:txBody>
      </p:sp>
      <p:sp>
        <p:nvSpPr>
          <p:cNvPr id="48" name="Rectangle 47"/>
          <p:cNvSpPr/>
          <p:nvPr/>
        </p:nvSpPr>
        <p:spPr>
          <a:xfrm>
            <a:off x="794320" y="2340000"/>
            <a:ext cx="26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800" b="1">
                <a:solidFill>
                  <a:srgbClr val="222222"/>
                </a:solidFill>
                <a:latin typeface="Calibri"/>
              </a:rPr>
              <a:t>Thanh hành động của bảng Bộ lọc</a:t>
            </a:r>
          </a:p>
        </p:txBody>
      </p:sp>
      <p:sp>
        <p:nvSpPr>
          <p:cNvPr id="49" name="Rectangle 48"/>
          <p:cNvSpPr/>
          <p:nvPr/>
        </p:nvSpPr>
        <p:spPr>
          <a:xfrm>
            <a:off x="3394320" y="2340000"/>
            <a:ext cx="5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750" b="0">
                <a:solidFill>
                  <a:srgbClr val="555555"/>
                </a:solidFill>
                <a:latin typeface="Calibri"/>
              </a:rPr>
              <a:t>Wireframe chưa có nút “Xoá tất cả” và “Áp dụng (n)” cố định ở đáy sheet.</a:t>
            </a:r>
          </a:p>
        </p:txBody>
      </p:sp>
      <p:sp>
        <p:nvSpPr>
          <p:cNvPr id="50" name="Rectangle 49"/>
          <p:cNvSpPr/>
          <p:nvPr/>
        </p:nvSpPr>
        <p:spPr>
          <a:xfrm>
            <a:off x="8694320" y="2340000"/>
            <a:ext cx="1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UX</a:t>
            </a:r>
          </a:p>
        </p:txBody>
      </p:sp>
      <p:sp>
        <p:nvSpPr>
          <p:cNvPr id="51" name="Rectangle 50"/>
          <p:cNvSpPr/>
          <p:nvPr/>
        </p:nvSpPr>
        <p:spPr>
          <a:xfrm>
            <a:off x="9994320" y="2340000"/>
            <a:ext cx="189288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800" b="0">
                <a:solidFill>
                  <a:srgbClr val="555555"/>
                </a:solidFill>
                <a:latin typeface="Calibri"/>
              </a:rPr>
              <a:t>SS-SCR-009 — gap thiết kế</a:t>
            </a:r>
          </a:p>
        </p:txBody>
      </p:sp>
      <p:sp>
        <p:nvSpPr>
          <p:cNvPr id="52" name="Rectangle 51"/>
          <p:cNvSpPr/>
          <p:nvPr/>
        </p:nvSpPr>
        <p:spPr>
          <a:xfrm>
            <a:off x="274320" y="2860000"/>
            <a:ext cx="52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4</a:t>
            </a:r>
          </a:p>
        </p:txBody>
      </p:sp>
      <p:sp>
        <p:nvSpPr>
          <p:cNvPr id="53" name="Rectangle 52"/>
          <p:cNvSpPr/>
          <p:nvPr/>
        </p:nvSpPr>
        <p:spPr>
          <a:xfrm>
            <a:off x="794320" y="2860000"/>
            <a:ext cx="26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800" b="1">
                <a:solidFill>
                  <a:srgbClr val="222222"/>
                </a:solidFill>
                <a:latin typeface="Calibri"/>
              </a:rPr>
              <a:t>Hai khối ẩn ở màn Zero Result</a:t>
            </a:r>
          </a:p>
        </p:txBody>
      </p:sp>
      <p:sp>
        <p:nvSpPr>
          <p:cNvPr id="54" name="Rectangle 53"/>
          <p:cNvSpPr/>
          <p:nvPr/>
        </p:nvSpPr>
        <p:spPr>
          <a:xfrm>
            <a:off x="3394320" y="2860000"/>
            <a:ext cx="5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750" b="0">
                <a:solidFill>
                  <a:srgbClr val="555555"/>
                </a:solidFill>
                <a:latin typeface="Calibri"/>
              </a:rPr>
              <a:t>“Từ khoá tương tự” và “Bạn có thể cần?” đã thiết kế nhưng đang tắt. Bật ở v1 hay để pha sau?</a:t>
            </a:r>
          </a:p>
        </p:txBody>
      </p:sp>
      <p:sp>
        <p:nvSpPr>
          <p:cNvPr id="55" name="Rectangle 54"/>
          <p:cNvSpPr/>
          <p:nvPr/>
        </p:nvSpPr>
        <p:spPr>
          <a:xfrm>
            <a:off x="8694320" y="2860000"/>
            <a:ext cx="1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BA / PO</a:t>
            </a:r>
          </a:p>
        </p:txBody>
      </p:sp>
      <p:sp>
        <p:nvSpPr>
          <p:cNvPr id="56" name="Rectangle 55"/>
          <p:cNvSpPr/>
          <p:nvPr/>
        </p:nvSpPr>
        <p:spPr>
          <a:xfrm>
            <a:off x="9994320" y="2860000"/>
            <a:ext cx="189288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800" b="0">
                <a:solidFill>
                  <a:srgbClr val="555555"/>
                </a:solidFill>
                <a:latin typeface="Calibri"/>
              </a:rPr>
              <a:t>SS-SCR-012</a:t>
            </a:r>
          </a:p>
        </p:txBody>
      </p:sp>
      <p:sp>
        <p:nvSpPr>
          <p:cNvPr id="57" name="Rectangle 56"/>
          <p:cNvSpPr/>
          <p:nvPr/>
        </p:nvSpPr>
        <p:spPr>
          <a:xfrm>
            <a:off x="274320" y="3380000"/>
            <a:ext cx="52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5</a:t>
            </a:r>
          </a:p>
        </p:txBody>
      </p:sp>
      <p:sp>
        <p:nvSpPr>
          <p:cNvPr id="58" name="Rectangle 57"/>
          <p:cNvSpPr/>
          <p:nvPr/>
        </p:nvSpPr>
        <p:spPr>
          <a:xfrm>
            <a:off x="794320" y="3380000"/>
            <a:ext cx="26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800" b="1">
                <a:solidFill>
                  <a:srgbClr val="222222"/>
                </a:solidFill>
                <a:latin typeface="Calibri"/>
              </a:rPr>
              <a:t>Ngưỡng kỹ thuật</a:t>
            </a:r>
          </a:p>
        </p:txBody>
      </p:sp>
      <p:sp>
        <p:nvSpPr>
          <p:cNvPr id="59" name="Rectangle 58"/>
          <p:cNvSpPr/>
          <p:nvPr/>
        </p:nvSpPr>
        <p:spPr>
          <a:xfrm>
            <a:off x="3394320" y="3380000"/>
            <a:ext cx="5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750" b="0">
                <a:solidFill>
                  <a:srgbClr val="555555"/>
                </a:solidFill>
                <a:latin typeface="Calibri"/>
              </a:rPr>
              <a:t>Debounce autocomplete (đề xuất 300ms), ngưỡng fuzzy match sửa chính tả, ngưỡng confidence nhận diện ảnh, thời gian auto-stop thu âm (đề xuất 2s im lặng / tối đa 15s).</a:t>
            </a:r>
          </a:p>
        </p:txBody>
      </p:sp>
      <p:sp>
        <p:nvSpPr>
          <p:cNvPr id="60" name="Rectangle 59"/>
          <p:cNvSpPr/>
          <p:nvPr/>
        </p:nvSpPr>
        <p:spPr>
          <a:xfrm>
            <a:off x="8694320" y="3380000"/>
            <a:ext cx="1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TD</a:t>
            </a:r>
          </a:p>
        </p:txBody>
      </p:sp>
      <p:sp>
        <p:nvSpPr>
          <p:cNvPr id="61" name="Rectangle 60"/>
          <p:cNvSpPr/>
          <p:nvPr/>
        </p:nvSpPr>
        <p:spPr>
          <a:xfrm>
            <a:off x="9994320" y="3380000"/>
            <a:ext cx="189288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800" b="0">
                <a:solidFill>
                  <a:srgbClr val="555555"/>
                </a:solidFill>
                <a:latin typeface="Calibri"/>
              </a:rPr>
              <a:t>SS-SCR-002, 003, 015, 017</a:t>
            </a:r>
          </a:p>
        </p:txBody>
      </p:sp>
      <p:sp>
        <p:nvSpPr>
          <p:cNvPr id="62" name="Rectangle 61"/>
          <p:cNvSpPr/>
          <p:nvPr/>
        </p:nvSpPr>
        <p:spPr>
          <a:xfrm>
            <a:off x="274320" y="3900000"/>
            <a:ext cx="52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6</a:t>
            </a:r>
          </a:p>
        </p:txBody>
      </p:sp>
      <p:sp>
        <p:nvSpPr>
          <p:cNvPr id="63" name="Rectangle 62"/>
          <p:cNvSpPr/>
          <p:nvPr/>
        </p:nvSpPr>
        <p:spPr>
          <a:xfrm>
            <a:off x="794320" y="3900000"/>
            <a:ext cx="26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800" b="1">
                <a:solidFill>
                  <a:srgbClr val="222222"/>
                </a:solidFill>
                <a:latin typeface="Calibri"/>
              </a:rPr>
              <a:t>Bộ lọc khi đổi từ khoá</a:t>
            </a:r>
          </a:p>
        </p:txBody>
      </p:sp>
      <p:sp>
        <p:nvSpPr>
          <p:cNvPr id="64" name="Rectangle 63"/>
          <p:cNvSpPr/>
          <p:nvPr/>
        </p:nvSpPr>
        <p:spPr>
          <a:xfrm>
            <a:off x="3394320" y="3900000"/>
            <a:ext cx="5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750" b="0">
                <a:solidFill>
                  <a:srgbClr val="555555"/>
                </a:solidFill>
                <a:latin typeface="Calibri"/>
              </a:rPr>
              <a:t>Giữ nguyên bộ lọc đang áp dụng hay tự động xoá khi khách tìm từ khoá mới?</a:t>
            </a:r>
          </a:p>
        </p:txBody>
      </p:sp>
      <p:sp>
        <p:nvSpPr>
          <p:cNvPr id="65" name="Rectangle 64"/>
          <p:cNvSpPr/>
          <p:nvPr/>
        </p:nvSpPr>
        <p:spPr>
          <a:xfrm>
            <a:off x="8694320" y="3900000"/>
            <a:ext cx="1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BA</a:t>
            </a:r>
          </a:p>
        </p:txBody>
      </p:sp>
      <p:sp>
        <p:nvSpPr>
          <p:cNvPr id="66" name="Rectangle 65"/>
          <p:cNvSpPr/>
          <p:nvPr/>
        </p:nvSpPr>
        <p:spPr>
          <a:xfrm>
            <a:off x="9994320" y="3900000"/>
            <a:ext cx="189288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800" b="0">
                <a:solidFill>
                  <a:srgbClr val="555555"/>
                </a:solidFill>
                <a:latin typeface="Calibri"/>
              </a:rPr>
              <a:t>SS-SCR-010</a:t>
            </a:r>
          </a:p>
        </p:txBody>
      </p:sp>
      <p:sp>
        <p:nvSpPr>
          <p:cNvPr id="67" name="Rectangle 66"/>
          <p:cNvSpPr/>
          <p:nvPr/>
        </p:nvSpPr>
        <p:spPr>
          <a:xfrm>
            <a:off x="274320" y="4420000"/>
            <a:ext cx="52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7</a:t>
            </a:r>
          </a:p>
        </p:txBody>
      </p:sp>
      <p:sp>
        <p:nvSpPr>
          <p:cNvPr id="68" name="Rectangle 67"/>
          <p:cNvSpPr/>
          <p:nvPr/>
        </p:nvSpPr>
        <p:spPr>
          <a:xfrm>
            <a:off x="794320" y="4420000"/>
            <a:ext cx="26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800" b="1">
                <a:solidFill>
                  <a:srgbClr val="222222"/>
                </a:solidFill>
                <a:latin typeface="Calibri"/>
              </a:rPr>
              <a:t>Vị trí chèn sản phẩm Sponsored</a:t>
            </a:r>
          </a:p>
        </p:txBody>
      </p:sp>
      <p:sp>
        <p:nvSpPr>
          <p:cNvPr id="69" name="Rectangle 68"/>
          <p:cNvSpPr/>
          <p:nvPr/>
        </p:nvSpPr>
        <p:spPr>
          <a:xfrm>
            <a:off x="3394320" y="4420000"/>
            <a:ext cx="5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750" b="0">
                <a:solidFill>
                  <a:srgbClr val="555555"/>
                </a:solidFill>
                <a:latin typeface="Calibri"/>
              </a:rPr>
              <a:t>Slot cố định trong lưới hay theo đấu giá Retail Media?</a:t>
            </a:r>
          </a:p>
        </p:txBody>
      </p:sp>
      <p:sp>
        <p:nvSpPr>
          <p:cNvPr id="70" name="Rectangle 69"/>
          <p:cNvSpPr/>
          <p:nvPr/>
        </p:nvSpPr>
        <p:spPr>
          <a:xfrm>
            <a:off x="8694320" y="4420000"/>
            <a:ext cx="1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PO / Retail Media</a:t>
            </a:r>
          </a:p>
        </p:txBody>
      </p:sp>
      <p:sp>
        <p:nvSpPr>
          <p:cNvPr id="71" name="Rectangle 70"/>
          <p:cNvSpPr/>
          <p:nvPr/>
        </p:nvSpPr>
        <p:spPr>
          <a:xfrm>
            <a:off x="9994320" y="4420000"/>
            <a:ext cx="189288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800" b="0">
                <a:solidFill>
                  <a:srgbClr val="555555"/>
                </a:solidFill>
                <a:latin typeface="Calibri"/>
              </a:rPr>
              <a:t>SS-SCR-005</a:t>
            </a:r>
          </a:p>
        </p:txBody>
      </p:sp>
      <p:sp>
        <p:nvSpPr>
          <p:cNvPr id="72" name="Rectangle 71"/>
          <p:cNvSpPr/>
          <p:nvPr/>
        </p:nvSpPr>
        <p:spPr>
          <a:xfrm>
            <a:off x="274320" y="4940000"/>
            <a:ext cx="52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8</a:t>
            </a:r>
          </a:p>
        </p:txBody>
      </p:sp>
      <p:sp>
        <p:nvSpPr>
          <p:cNvPr id="73" name="Rectangle 72"/>
          <p:cNvSpPr/>
          <p:nvPr/>
        </p:nvSpPr>
        <p:spPr>
          <a:xfrm>
            <a:off x="794320" y="4940000"/>
            <a:ext cx="26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800" b="1">
                <a:solidFill>
                  <a:srgbClr val="222222"/>
                </a:solidFill>
                <a:latin typeface="Calibri"/>
              </a:rPr>
              <a:t>Nút trên toast thêm giỏ</a:t>
            </a:r>
          </a:p>
        </p:txBody>
      </p:sp>
      <p:sp>
        <p:nvSpPr>
          <p:cNvPr id="74" name="Rectangle 73"/>
          <p:cNvSpPr/>
          <p:nvPr/>
        </p:nvSpPr>
        <p:spPr>
          <a:xfrm>
            <a:off x="3394320" y="4940000"/>
            <a:ext cx="5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750" b="0">
                <a:solidFill>
                  <a:srgbClr val="555555"/>
                </a:solidFill>
                <a:latin typeface="Calibri"/>
              </a:rPr>
              <a:t>Giữ “Đóng” hay đổi thành “Xem giỏ” để rút ngắn đường tới checkout?</a:t>
            </a:r>
          </a:p>
        </p:txBody>
      </p:sp>
      <p:sp>
        <p:nvSpPr>
          <p:cNvPr id="75" name="Rectangle 74"/>
          <p:cNvSpPr/>
          <p:nvPr/>
        </p:nvSpPr>
        <p:spPr>
          <a:xfrm>
            <a:off x="8694320" y="4940000"/>
            <a:ext cx="1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UX</a:t>
            </a:r>
          </a:p>
        </p:txBody>
      </p:sp>
      <p:sp>
        <p:nvSpPr>
          <p:cNvPr id="76" name="Rectangle 75"/>
          <p:cNvSpPr/>
          <p:nvPr/>
        </p:nvSpPr>
        <p:spPr>
          <a:xfrm>
            <a:off x="9994320" y="4940000"/>
            <a:ext cx="189288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800" b="0">
                <a:solidFill>
                  <a:srgbClr val="555555"/>
                </a:solidFill>
                <a:latin typeface="Calibri"/>
              </a:rPr>
              <a:t>SS-SCR-011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aa87b936-37ee-4552-b509-06d907961ce7" xsi:nil="true"/>
    <FILEDESC_x002e_ xmlns="e99529cc-6d7e-4058-8f98-0e7609fd4346" xsi:nil="true"/>
    <lcf76f155ced4ddcb4097134ff3c332f xmlns="e99529cc-6d7e-4058-8f98-0e7609fd4346">
      <Terms xmlns="http://schemas.microsoft.com/office/infopath/2007/PartnerControls"/>
    </lcf76f155ced4ddcb4097134ff3c332f>
    <Remarks xmlns="e99529cc-6d7e-4058-8f98-0e7609fd434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F5A2C89985331439B3265BA35E4D9E3" ma:contentTypeVersion="12" ma:contentTypeDescription="Create a new document." ma:contentTypeScope="" ma:versionID="f8d86c73e1cccb21a214d61933f493bc">
  <xsd:schema xmlns:xsd="http://www.w3.org/2001/XMLSchema" xmlns:xs="http://www.w3.org/2001/XMLSchema" xmlns:p="http://schemas.microsoft.com/office/2006/metadata/properties" xmlns:ns2="e99529cc-6d7e-4058-8f98-0e7609fd4346" xmlns:ns3="aa87b936-37ee-4552-b509-06d907961ce7" targetNamespace="http://schemas.microsoft.com/office/2006/metadata/properties" ma:root="true" ma:fieldsID="6503256ccc74950290225ad479ddaecc" ns2:_="" ns3:_="">
    <xsd:import namespace="e99529cc-6d7e-4058-8f98-0e7609fd4346"/>
    <xsd:import namespace="aa87b936-37ee-4552-b509-06d907961ce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Remarks" minOccurs="0"/>
                <xsd:element ref="ns2:FILEDESC_x002e_"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9529cc-6d7e-4058-8f98-0e7609fd43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Remarks" ma:index="11" nillable="true" ma:displayName="Remarks" ma:format="Dropdown" ma:internalName="Remarks">
      <xsd:simpleType>
        <xsd:restriction base="dms:Text">
          <xsd:maxLength value="255"/>
        </xsd:restriction>
      </xsd:simpleType>
    </xsd:element>
    <xsd:element name="FILEDESC_x002e_" ma:index="12" nillable="true" ma:displayName="FILE DESC." ma:format="Dropdown" ma:internalName="FILEDESC_x002e_">
      <xsd:simpleType>
        <xsd:restriction base="dms:Text">
          <xsd:maxLength value="255"/>
        </xsd:restriction>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9953d7f-7f22-4129-9e61-024c9966a045"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a87b936-37ee-4552-b509-06d907961ce7"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488fd90a-cbda-438a-99a0-ebbf021c8ff5}" ma:internalName="TaxCatchAll" ma:showField="CatchAllData" ma:web="aa87b936-37ee-4552-b509-06d907961c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9DBFA4A-F7D7-4320-BCC0-FE59FEFD69AA}">
  <ds:schemaRefs>
    <ds:schemaRef ds:uri="http://schemas.microsoft.com/sharepoint/v3/contenttype/forms"/>
  </ds:schemaRefs>
</ds:datastoreItem>
</file>

<file path=customXml/itemProps2.xml><?xml version="1.0" encoding="utf-8"?>
<ds:datastoreItem xmlns:ds="http://schemas.openxmlformats.org/officeDocument/2006/customXml" ds:itemID="{1F468780-9A93-4E12-9374-63848EEB20BC}">
  <ds:schemaRefs>
    <ds:schemaRef ds:uri="aa87b936-37ee-4552-b509-06d907961ce7"/>
    <ds:schemaRef ds:uri="e99529cc-6d7e-4058-8f98-0e7609fd4346"/>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2DCC6A8-CFEB-41B6-A359-7310B03F7C7D}">
  <ds:schemaRefs>
    <ds:schemaRef ds:uri="aa87b936-37ee-4552-b509-06d907961ce7"/>
    <ds:schemaRef ds:uri="e99529cc-6d7e-4058-8f98-0e7609fd434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26</Slides>
  <Notes>3</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GEMS Screen Storyboard — System Management</dc:title>
  <dc:subject>GEMS-EPA-SB-SYS v0.0.1</dc:subject>
  <dc:creator>GEMS Business Analysis Team</dc:creator>
  <cp:revision>2</cp:revision>
  <dcterms:created xsi:type="dcterms:W3CDTF">2026-05-21T11:57:52Z</dcterms:created>
  <dcterms:modified xsi:type="dcterms:W3CDTF">2026-08-17T08:49:02Z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0x0101007F5A2C89985331439B3265BA35E4D9E3</vt:lpwstr>
  </property>
</Properties>
</file>